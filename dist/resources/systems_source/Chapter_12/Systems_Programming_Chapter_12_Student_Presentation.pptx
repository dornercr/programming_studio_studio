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Chapter 12 — Instruction Set Architecture</a:t>
            </a:r>
          </a:p>
          <a:p/>
          <a:p>
            <a:r>
              <a:t>LECTURE NARRATION</a:t>
            </a:r>
          </a:p>
          <a:p>
            <a:r>
              <a:t>The instruction set is the boundary between software’s requested operations and a processor’s implementation. It describes registers, instructions, address calculations, and architectural effects. It does not specify that every instruction takes one cycle or that internal work occurs in source order. Reading assembly well requires keeping the architectural result separate from the microarchitectural method.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instruction set is the boundary between software’s requested operations and a processor’s implementation.</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What This Chapter Builds</a:t>
            </a:r>
          </a:p>
          <a:p/>
          <a:p>
            <a:r>
              <a:t>LECTURE NARRATION</a:t>
            </a:r>
          </a:p>
          <a:p>
            <a:r>
              <a:t>The instruction set is the boundary between software’s requested operations and a processor’s implementation. It describes registers, instructions, address calculations, and architectural effects. It does not specify that every instruction takes one cycle or that internal work occurs in source order. Reading assembly well requires keeping the architectural result separate from the microarchitectural method.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instruction set is the boundary between software’s requested operations and a processor’s implementation.</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Chapter Roadmap</a:t>
            </a:r>
          </a:p>
          <a:p/>
          <a:p>
            <a:r>
              <a:t>LECTURE NARRATION</a:t>
            </a:r>
          </a:p>
          <a:p>
            <a:r>
              <a:t>12.1 Machine instructions 12.2 Registers 12.3 Memory 12.4 Program counter ...plus 6 additional source topics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12.1 Machine instructions 12.2 Registers 12.3 Memory 12.4 Program counter ...plus 6 additional source topics</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12.1 Machine instructions</a:t>
            </a:r>
          </a:p>
          <a:p/>
          <a:p>
            <a:r>
              <a:t>LECTURE NARRATION</a:t>
            </a:r>
          </a:p>
          <a:p>
            <a:r>
              <a:t>A machine instruction is an encoded operation the processor recognizes. It identifies an operation and, explicitly or implicitly, its operands. Instructions can move data, perform arithmetic, change control flow, or request privileged behavior. On x86-64, instructions have variable-length encodings rather than one fixed size. The visible instruction sequence is not necessarily the processor’s internal execution sequence. A processor may decode instructions into smaller operations, overlap independent work, and speculate past branches. Architectural rules determine what results may become visible. An assembly listing is therefore a semantic description and an input to performance analysis, not a cycle-by-cycle hardware trace.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machine instruction is an encoded operation the processor recognizes.</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12.1 Machine instructions — Deep Dive</a:t>
            </a:r>
          </a:p>
          <a:p/>
          <a:p>
            <a:r>
              <a:t>LECTURE NARRATION</a:t>
            </a:r>
          </a:p>
          <a:p>
            <a:r>
              <a:t>A machine instruction is an encoded operation the processor recognizes. It identifies an operation and, explicitly or implicitly, its operands. Instructions can move data, perform arithmetic, change control flow, or request privileged behavior. On x86-64, instructions have variable-length encodings rather than one fixed size. The visible instruction sequence is not necessarily the processor’s internal execution sequence. A processor may decode instructions into smaller operations, overlap independent work, and speculate past branches. Architectural rules determine what results may become visible. An assembly listing is therefore a semantic description and an input to performance analysis, not a cycle-by-cycle hardware trace.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machine instruction is an encoded operation the processor recognizes.</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12.2 Registers</a:t>
            </a:r>
          </a:p>
          <a:p/>
          <a:p>
            <a:r>
              <a:t>LECTURE NARRATION</a:t>
            </a:r>
          </a:p>
          <a:p>
            <a:r>
              <a:t>Registers are named architectural storage locations used directly by instructions. General-purpose registers hold integer values and addresses. Other register classes support vector, floating-point, control, and status operations. Keeping a value in a register can avoid a memory access, but the number and use of registers are constrained by the ISA and ABI. Architectural register names need not correspond one-to-one with fixed physical storage inside a modern processor. Register renaming can map successive architectural values to different physical registers. This helps remove false dependencies while preserving the program’s required register behavior. Source-level programmers normally need the architectural model first and the renaming model only for deeper performance work.</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registers are named architectural storage locations used directly by instructions.</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12.2 Registers — Deep Dive</a:t>
            </a:r>
          </a:p>
          <a:p/>
          <a:p>
            <a:r>
              <a:t>LECTURE NARRATION</a:t>
            </a:r>
          </a:p>
          <a:p>
            <a:r>
              <a:t>Registers are named architectural storage locations used directly by instructions. General-purpose registers hold integer values and addresses. Other register classes support vector, floating-point, control, and status operations. Keeping a value in a register can avoid a memory access, but the number and use of registers are constrained by the ISA and ABI. Architectural register names need not correspond one-to-one with fixed physical storage inside a modern processor. Register renaming can map successive architectural values to different physical registers. This helps remove false dependencies while preserving the program’s required register behavior. Source-level programmers normally need the architectural model first and the renaming model only for deeper performance work.</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registers are named architectural storage locations used directly by instructions.</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12.3 Memory</a:t>
            </a:r>
          </a:p>
          <a:p/>
          <a:p>
            <a:r>
              <a:t>LECTURE NARRATION</a:t>
            </a:r>
          </a:p>
          <a:p>
            <a:r>
              <a:t>Instructions access memory through effective addresses computed from available operands. A load brings a value into a register or another destination; a store writes a value to memory. Some x86 instructions combine memory access with arithmetic, but that does not eliminate the underlying data movement. A memory operand can involve address translation, cache lookup, coherence, and fault checks. Two instructions with similar arithmetic can have very different costs if one waits for a cache miss. Count memory traffic and dependencies, not just mnemonics, when estimating performance.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instructions access memory through effective addresses computed from available operands.</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12.3 Memory — Deep Dive</a:t>
            </a:r>
          </a:p>
          <a:p/>
          <a:p>
            <a:r>
              <a:t>LECTURE NARRATION</a:t>
            </a:r>
          </a:p>
          <a:p>
            <a:r>
              <a:t>Instructions access memory through effective addresses computed from available operands. A load brings a value into a register or another destination; a store writes a value to memory. Some x86 instructions combine memory access with arithmetic, but that does not eliminate the underlying data movement. A memory operand can involve address translation, cache lookup, coherence, and fault checks. Two instructions with similar arithmetic can have very different costs if one waits for a cache miss. Count memory traffic and dependencies, not just mnemonics, when estimating performance.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instructions access memory through effective addresses computed from available operands.</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12.4 Program counter</a:t>
            </a:r>
          </a:p>
          <a:p/>
          <a:p>
            <a:r>
              <a:t>LECTURE NARRATION</a:t>
            </a:r>
          </a:p>
          <a:p>
            <a:r>
              <a:t>The program counter identifies the instruction position used for control flow. On x86-64 the architectural instruction pointer is %rip . Sequential execution advances to the next instruction; branches, calls, returns, and exceptions change the flow according to their rules. For RIP-relative addressing, the displacement is interpreted relative to the next instruction’s address. This detail matters when manually calculating a target from disassembly. The value displayed beside an instruction is usually its own starting address, not necessarily the base used in that instruction’s relative-address computation.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program counter identifies the instruction position used for control flow.</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12.4 Program counter — Deep Dive</a:t>
            </a:r>
          </a:p>
          <a:p/>
          <a:p>
            <a:r>
              <a:t>LECTURE NARRATION</a:t>
            </a:r>
          </a:p>
          <a:p>
            <a:r>
              <a:t>The program counter identifies the instruction position used for control flow. On x86-64 the architectural instruction pointer is %rip . Sequential execution advances to the next instruction; branches, calls, returns, and exceptions change the flow according to their rules. For RIP-relative addressing, the displacement is interpreted relative to the next instruction’s address. This detail matters when manually calculating a target from disassembly. The value displayed beside an instruction is usually its own starting address, not necessarily the base used in that instruction’s relative-address computation.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program counter identifies the instruction position used for control flow.</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12.5 Processor state</a:t>
            </a:r>
          </a:p>
          <a:p/>
          <a:p>
            <a:r>
              <a:t>LECTURE NARRATION</a:t>
            </a:r>
          </a:p>
          <a:p>
            <a:r>
              <a:t>Processor state includes more than general-purpose registers. It can include condition flags, vector registers, floating-point control state, stack state, privilege state, and address-translation configuration. The exact state relevant to an operation depends on the architecture and execution context. A context switch must preserve enough state for a thread to resume as though its execution had been paused. A normal function call has a narrower contract: the calling convention specifies which registers the caller or callee must preserve. Confusing a context switch with a function call leads to incorrect assumptions about who saves what.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processor state includes more than general-purpose registers.</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12.5 Processor state — Deep Dive</a:t>
            </a:r>
          </a:p>
          <a:p/>
          <a:p>
            <a:r>
              <a:t>LECTURE NARRATION</a:t>
            </a:r>
          </a:p>
          <a:p>
            <a:r>
              <a:t>Processor state includes more than general-purpose registers. It can include condition flags, vector registers, floating-point control state, stack state, privilege state, and address-translation configuration. The exact state relevant to an operation depends on the architecture and execution context. A context switch must preserve enough state for a thread to resume as though its execution had been paused. A normal function call has a narrower contract: the calling convention specifies which registers the caller or callee must preserve. Confusing a context switch with a function call leads to incorrect assumptions about who saves what.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processor state includes more than general-purpose registers.</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12.6 ISA versus microarchitecture</a:t>
            </a:r>
          </a:p>
          <a:p/>
          <a:p>
            <a:r>
              <a:t>LECTURE NARRATION</a:t>
            </a:r>
          </a:p>
          <a:p>
            <a:r>
              <a:t>The ISA specifies architectural behavior. The microarchitecture is the implementation: pipelines, execution units, caches, predictors, queues, and scheduling logic. Different processors can execute the same binary while exhibiting different latency, throughput, and energy behavior. An optimization based on a particular instruction cost may not transfer to another processor implementing the same ISA. The portable part of the reasoning is the algorithm and architectural semantics; the measured part belongs to a specific machine and workload. The Intel architecture manuals separate instruction behavior from implementation-oriented performance guidance. [ R3 ]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ISA specifies architectural behavior.</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12.6 ISA versus microarchitecture — Deep Dive</a:t>
            </a:r>
          </a:p>
          <a:p/>
          <a:p>
            <a:r>
              <a:t>LECTURE NARRATION</a:t>
            </a:r>
          </a:p>
          <a:p>
            <a:r>
              <a:t>The ISA specifies architectural behavior. The microarchitecture is the implementation: pipelines, execution units, caches, predictors, queues, and scheduling logic. Different processors can execute the same binary while exhibiting different latency, throughput, and energy behavior. An optimization based on a particular instruction cost may not transfer to another processor implementing the same ISA. The portable part of the reasoning is the algorithm and architectural semantics; the measured part belongs to a specific machine and workload. The Intel architecture manuals separate instruction behavior from implementation-oriented performance guidance. [ R3 ]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ISA specifies architectural behavior.</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Worked example — Tracing a tiny abstract machine</a:t>
            </a:r>
          </a:p>
          <a:p/>
          <a:p>
            <a:r>
              <a:t>LECTURE NARRATION</a:t>
            </a:r>
          </a:p>
          <a:p>
            <a:r>
              <a:t>Use a deliberately simplified machine with one accumulator, a program counter, and four instructions: load immediate, add immediate, multiply immediate, and halt. This is a teaching model, not x86 assembly. Companion listing: ch12/machine.py The trace is (1,6) , (2,10) , and (3,30) . Each pair records the next instruction index and accumulator after one operation. The halt instruction leaves the final pair unchanged. The model makes control and data state explicit, but it intentionally omits fixed-width overflow, memory, interrupts, and timing. Now imagine an implementation that computes the addition and multiplication through several internal steps. As long as the architectural result at each required boundary is preserved, those internal steps need not resemble this simple interpreter. That is the distinction between an ISA-level explanation and an implementation-level explanation.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use a deliberately simplified machine with one accumulator, a program counter, and four instructions: load immediate, add immediate, multiply immediate, and halt.</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Worked example — Tracing a tiny abstract machine — Deep Dive</a:t>
            </a:r>
          </a:p>
          <a:p/>
          <a:p>
            <a:r>
              <a:t>LECTURE NARRATION</a:t>
            </a:r>
          </a:p>
          <a:p>
            <a:r>
              <a:t>Use a deliberately simplified machine with one accumulator, a program counter, and four instructions: load immediate, add immediate, multiply immediate, and halt. This is a teaching model, not x86 assembly. Companion listing: ch12/machine.py The trace is (1,6) , (2,10) , and (3,30) . Each pair records the next instruction index and accumulator after one operation. The halt instruction leaves the final pair unchanged. The model makes control and data state explicit, but it intentionally omits fixed-width overflow, memory, interrupts, and timing. Now imagine an implementation that computes the addition and multiplication through several internal steps. As long as the architectural result at each required boundary is preserved, those internal steps need not resemble this simple interpreter. That is the distinction between an ISA-level explanation and an implementation-level explanation.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use a deliberately simplified machine with one accumulator, a program counter, and four instructions: load immediate, add immediate, multiply immediate, and halt.</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Worked example — Separating ISA from implementation</a:t>
            </a:r>
          </a:p>
          <a:p/>
          <a:p>
            <a:r>
              <a:t>LECTURE NARRATION</a:t>
            </a:r>
          </a:p>
          <a:p>
            <a:r>
              <a:t>Two processors can both implement x86-64 and execute the same architectural instruction stream while using different pipelines, cache sizes, branch predictors, and execution widths internally. The ISA specifies programmer-visible behavior; the microarchitecture determines how a particular implementation achieves it. Performance differences therefore do not imply different source-level semantics.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two processors can both implement x86-64 and execute the same architectural instruction stream while using different pipelines, cache sizes, branch predictors, and execution widths internally.</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Worked example — Separating ISA from implementation — Deep Dive</a:t>
            </a:r>
          </a:p>
          <a:p/>
          <a:p>
            <a:r>
              <a:t>LECTURE NARRATION</a:t>
            </a:r>
          </a:p>
          <a:p>
            <a:r>
              <a:t>Two processors can both implement x86-64 and execute the same architectural instruction stream while using different pipelines, cache sizes, branch predictors, and execution widths internally. The ISA specifies programmer-visible behavior; the microarchitecture determines how a particular implementation achieves it. Performance differences therefore do not imply different source-level semantics.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two processors can both implement x86-64 and execute the same architectural instruction stream while using different pipelines, cache sizes, branch predictors, and execution widths internally.</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Worked example — Updating architectural state</a:t>
            </a:r>
          </a:p>
          <a:p/>
          <a:p>
            <a:r>
              <a:t>LECTURE NARRATION</a:t>
            </a:r>
          </a:p>
          <a:p>
            <a:r>
              <a:t>For an instruction conceptually equivalent to RAX = RAX + RBX , the visible result is a new RAX and updated condition flags according to the instruction definition. Internally the processor may rename registers and execute out of order, but retirement preserves the architectural effect as though the instruction completed in program order, subject to the machine’s defined memory model.</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for an instruction conceptually equivalent to RAX = RAX + RBX , the visible result is a new RAX and updated condition flags according to the instruction definition.</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Worked example — Updating architectural state — Deep Dive</a:t>
            </a:r>
          </a:p>
          <a:p/>
          <a:p>
            <a:r>
              <a:t>LECTURE NARRATION</a:t>
            </a:r>
          </a:p>
          <a:p>
            <a:r>
              <a:t>For an instruction conceptually equivalent to RAX = RAX + RBX , the visible result is a new RAX and updated condition flags according to the instruction definition. Internally the processor may rename registers and execute out of order, but retirement preserves the architectural effect as though the instruction completed in program order, subject to the machine’s defined memory model.</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for an instruction conceptually equivalent to RAX = RAX + RBX , the visible result is a new RAX and updated condition flags according to the instruction definition.</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Guided lab and review</a:t>
            </a:r>
          </a:p>
          <a:p/>
          <a:p>
            <a:r>
              <a:t>LECTURE NARRATION</a:t>
            </a:r>
          </a:p>
          <a:p>
            <a:r>
              <a:t>Lab 12. Extend the model with a conditional branch and a bounded instruction-step limit. Use it to sum integers from one through five. Record the accumulator and program counter after every executed instruction. Review 1. Why can two processors run the same executable at different speeds? Review 2. Why is a function-call save convention smaller than the full processor state?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12.</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Guided lab and review — Deep Dive</a:t>
            </a:r>
          </a:p>
          <a:p/>
          <a:p>
            <a:r>
              <a:t>LECTURE NARRATION</a:t>
            </a:r>
          </a:p>
          <a:p>
            <a:r>
              <a:t>Lab 12. Extend the model with a conditional branch and a bounded instruction-step limit. Use it to sum integers from one through five. Record the accumulator and program counter after every executed instruction. Review 1. Why can two processors run the same executable at different speeds? Review 2. Why is a function-call save convention smaller than the full processor state?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12.</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Chapter Synthesis</a:t>
            </a:r>
          </a:p>
          <a:p/>
          <a:p>
            <a:r>
              <a:t>LECTURE NARRATION</a:t>
            </a:r>
          </a:p>
          <a:p>
            <a:r>
              <a:t>The chapter's central subject is instruction set architecture. Correct reasoning requires explicit assumptions, bounds, ownership, and interface contracts. Observed behavior is evidence about a run; it is not automatically a language or system guarantee. Use the worked examples and lab to test whether the model transfers to new cases.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chapter's central subject is instruction set architecture.</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Review and Transition</a:t>
            </a:r>
          </a:p>
          <a:p/>
          <a:p>
            <a:r>
              <a:t>LECTURE NARRATION</a:t>
            </a:r>
          </a:p>
          <a:p>
            <a:r>
              <a:t>Explain one mechanism from the chapter without relying on vocabulary alone. Identify one failure mode and the violated contract or invariant. State what evidence would support your diagnosis and what it would not prove. Next: x86-64 Registers.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explain one mechanism from the chapter without relying on vocabulary alone.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12 — Instruction Set Architecture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GRADUATE LECTURE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instruction set is the boundary between software’s requested operations and a processor’s implementation.</a:t>
            </a:r>
          </a:p>
          <a:p>
            <a:pPr>
              <a:spcAft>
                <a:spcPts val="1100"/>
              </a:spcAft>
              <a:defRPr sz="1900">
                <a:solidFill>
                  <a:srgbClr val="F2F5F8"/>
                </a:solidFill>
              </a:defRPr>
            </a:pPr>
            <a:r>
              <a:t>• It describes registers, instructions, address calculations, and architectural effects.</a:t>
            </a:r>
          </a:p>
          <a:p>
            <a:pPr>
              <a:spcAft>
                <a:spcPts val="1100"/>
              </a:spcAft>
              <a:defRPr sz="1900">
                <a:solidFill>
                  <a:srgbClr val="F2F5F8"/>
                </a:solidFill>
              </a:defRPr>
            </a:pPr>
            <a:r>
              <a:t>• It does not specify that every instruction takes one cycle or that internal work occurs in source order.</a:t>
            </a:r>
          </a:p>
          <a:p>
            <a:pPr>
              <a:spcAft>
                <a:spcPts val="1100"/>
              </a:spcAft>
              <a:defRPr sz="1900">
                <a:solidFill>
                  <a:srgbClr val="F2F5F8"/>
                </a:solidFill>
              </a:defRPr>
            </a:pPr>
            <a:r>
              <a:t>• Reading assembly well requires keeping the architectural result separate from the microarchitectural method.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12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What This Chapter Builds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LEARNING OBJECTIVES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the mechanisms and contracts in Instruction Set Architecture.</a:t>
            </a:r>
          </a:p>
          <a:p>
            <a:pPr>
              <a:spcAft>
                <a:spcPts val="1100"/>
              </a:spcAft>
              <a:defRPr sz="1900">
                <a:solidFill>
                  <a:srgbClr val="F2F5F8"/>
                </a:solidFill>
              </a:defRPr>
            </a:pPr>
            <a:r>
              <a:t>• Trace the chapter's important state, representation, and resource transitions.</a:t>
            </a:r>
          </a:p>
          <a:p>
            <a:pPr>
              <a:spcAft>
                <a:spcPts val="1100"/>
              </a:spcAft>
              <a:defRPr sz="1900">
                <a:solidFill>
                  <a:srgbClr val="F2F5F8"/>
                </a:solidFill>
              </a:defRPr>
            </a:pPr>
            <a:r>
              <a:t>• Identify failure modes, assumptions, and evidence required for correctness.</a:t>
            </a:r>
          </a:p>
          <a:p>
            <a:pPr>
              <a:spcAft>
                <a:spcPts val="1100"/>
              </a:spcAft>
              <a:defRPr sz="1900">
                <a:solidFill>
                  <a:srgbClr val="F2F5F8"/>
                </a:solidFill>
              </a:defRPr>
            </a:pPr>
            <a:r>
              <a:t>• Apply the chapter model to the worked examples and guided lab.</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12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Roadmap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SOURCE-ALIGNED COVERAGE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12.1 Machine instructions</a:t>
            </a:r>
          </a:p>
          <a:p>
            <a:pPr>
              <a:spcAft>
                <a:spcPts val="1100"/>
              </a:spcAft>
              <a:defRPr sz="1900">
                <a:solidFill>
                  <a:srgbClr val="F2F5F8"/>
                </a:solidFill>
              </a:defRPr>
            </a:pPr>
            <a:r>
              <a:t>• 12.2 Registers</a:t>
            </a:r>
          </a:p>
          <a:p>
            <a:pPr>
              <a:spcAft>
                <a:spcPts val="1100"/>
              </a:spcAft>
              <a:defRPr sz="1900">
                <a:solidFill>
                  <a:srgbClr val="F2F5F8"/>
                </a:solidFill>
              </a:defRPr>
            </a:pPr>
            <a:r>
              <a:t>• 12.3 Memory</a:t>
            </a:r>
          </a:p>
          <a:p>
            <a:pPr>
              <a:spcAft>
                <a:spcPts val="1100"/>
              </a:spcAft>
              <a:defRPr sz="1900">
                <a:solidFill>
                  <a:srgbClr val="F2F5F8"/>
                </a:solidFill>
              </a:defRPr>
            </a:pPr>
            <a:r>
              <a:t>• 12.4 Program counter</a:t>
            </a:r>
          </a:p>
          <a:p>
            <a:pPr>
              <a:spcAft>
                <a:spcPts val="1100"/>
              </a:spcAft>
              <a:defRPr sz="1900">
                <a:solidFill>
                  <a:srgbClr val="F2F5F8"/>
                </a:solidFill>
              </a:defRPr>
            </a:pPr>
            <a:r>
              <a:t>• ...plus 6 additional source topics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12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12.1 Machine instructions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machine instruction is an encoded operation the processor recognizes.</a:t>
            </a:r>
          </a:p>
          <a:p>
            <a:pPr>
              <a:spcAft>
                <a:spcPts val="1100"/>
              </a:spcAft>
              <a:defRPr sz="1900">
                <a:solidFill>
                  <a:srgbClr val="F2F5F8"/>
                </a:solidFill>
              </a:defRPr>
            </a:pPr>
            <a:r>
              <a:t>• It identifies an operation and, explicitly or implicitly, its operands.</a:t>
            </a:r>
          </a:p>
          <a:p>
            <a:pPr>
              <a:spcAft>
                <a:spcPts val="1100"/>
              </a:spcAft>
              <a:defRPr sz="1900">
                <a:solidFill>
                  <a:srgbClr val="F2F5F8"/>
                </a:solidFill>
              </a:defRPr>
            </a:pPr>
            <a:r>
              <a:t>• Instructions can move data, perform arithmetic, change control flow, or request privileged behavior.</a:t>
            </a:r>
          </a:p>
          <a:p>
            <a:pPr>
              <a:spcAft>
                <a:spcPts val="1100"/>
              </a:spcAft>
              <a:defRPr sz="1900">
                <a:solidFill>
                  <a:srgbClr val="F2F5F8"/>
                </a:solidFill>
              </a:defRPr>
            </a:pPr>
            <a:r>
              <a:t>• On x86-64, instructions have variable-length encodings rather than one fixed size.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12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12.1 Machine instructions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visible instruction sequence is not necessarily the processor’s internal execution sequence.</a:t>
            </a:r>
          </a:p>
          <a:p>
            <a:pPr>
              <a:spcAft>
                <a:spcPts val="1100"/>
              </a:spcAft>
              <a:defRPr sz="1900">
                <a:solidFill>
                  <a:srgbClr val="F2F5F8"/>
                </a:solidFill>
              </a:defRPr>
            </a:pPr>
            <a:r>
              <a:t>• A processor may decode instructions into smaller operations, overlap independent work, and speculate past branches.</a:t>
            </a:r>
          </a:p>
          <a:p>
            <a:pPr>
              <a:spcAft>
                <a:spcPts val="1100"/>
              </a:spcAft>
              <a:defRPr sz="1900">
                <a:solidFill>
                  <a:srgbClr val="F2F5F8"/>
                </a:solidFill>
              </a:defRPr>
            </a:pPr>
            <a:r>
              <a:t>• Architectural rules determine what results may become visible.</a:t>
            </a:r>
          </a:p>
          <a:p>
            <a:pPr>
              <a:spcAft>
                <a:spcPts val="1100"/>
              </a:spcAft>
              <a:defRPr sz="1700">
                <a:solidFill>
                  <a:srgbClr val="F2F5F8"/>
                </a:solidFill>
              </a:defRPr>
            </a:pPr>
            <a:r>
              <a:t>• An assembly listing is therefore a semantic description and an input to performance analysis, not a cycle-by-cycle hardware trace.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12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12.2 Registers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Registers are named architectural storage locations used directly by instructions.</a:t>
            </a:r>
          </a:p>
          <a:p>
            <a:pPr>
              <a:spcAft>
                <a:spcPts val="1100"/>
              </a:spcAft>
              <a:defRPr sz="1900">
                <a:solidFill>
                  <a:srgbClr val="F2F5F8"/>
                </a:solidFill>
              </a:defRPr>
            </a:pPr>
            <a:r>
              <a:t>• General-purpose registers hold integer values and addresses.</a:t>
            </a:r>
          </a:p>
          <a:p>
            <a:pPr>
              <a:spcAft>
                <a:spcPts val="1100"/>
              </a:spcAft>
              <a:defRPr sz="1900">
                <a:solidFill>
                  <a:srgbClr val="F2F5F8"/>
                </a:solidFill>
              </a:defRPr>
            </a:pPr>
            <a:r>
              <a:t>• Other register classes support vector, floating-point, control, and status operations.</a:t>
            </a:r>
          </a:p>
          <a:p>
            <a:pPr>
              <a:spcAft>
                <a:spcPts val="1100"/>
              </a:spcAft>
              <a:defRPr sz="1700">
                <a:solidFill>
                  <a:srgbClr val="F2F5F8"/>
                </a:solidFill>
              </a:defRPr>
            </a:pPr>
            <a:r>
              <a:t>• Keeping a value in a register can avoid a memory access, but the number and use of registers are constrained by the ISA and ABI.</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12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12.2 Registers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Architectural register names need not correspond one-to-one with fixed physical storage inside a modern processor.</a:t>
            </a:r>
          </a:p>
          <a:p>
            <a:pPr>
              <a:spcAft>
                <a:spcPts val="1100"/>
              </a:spcAft>
              <a:defRPr sz="1900">
                <a:solidFill>
                  <a:srgbClr val="F2F5F8"/>
                </a:solidFill>
              </a:defRPr>
            </a:pPr>
            <a:r>
              <a:t>• Register renaming can map successive architectural values to different physical registers.</a:t>
            </a:r>
          </a:p>
          <a:p>
            <a:pPr>
              <a:spcAft>
                <a:spcPts val="1100"/>
              </a:spcAft>
              <a:defRPr sz="1900">
                <a:solidFill>
                  <a:srgbClr val="F2F5F8"/>
                </a:solidFill>
              </a:defRPr>
            </a:pPr>
            <a:r>
              <a:t>• This helps remove false dependencies while preserving the program’s required register behavior.</a:t>
            </a:r>
          </a:p>
          <a:p>
            <a:pPr>
              <a:spcAft>
                <a:spcPts val="1100"/>
              </a:spcAft>
              <a:defRPr sz="1700">
                <a:solidFill>
                  <a:srgbClr val="F2F5F8"/>
                </a:solidFill>
              </a:defRPr>
            </a:pPr>
            <a:r>
              <a:t>• Source-level programmers normally need the architectural model first and the renaming model only for deeper performance work.</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12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12.3 Memory</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Instructions access memory through effective addresses computed from available operands.</a:t>
            </a:r>
          </a:p>
          <a:p>
            <a:pPr>
              <a:spcAft>
                <a:spcPts val="1100"/>
              </a:spcAft>
              <a:defRPr sz="1900">
                <a:solidFill>
                  <a:srgbClr val="F2F5F8"/>
                </a:solidFill>
              </a:defRPr>
            </a:pPr>
            <a:r>
              <a:t>• A load brings a value into a register or another destination; a store writes a value to memory.</a:t>
            </a:r>
          </a:p>
          <a:p>
            <a:pPr>
              <a:spcAft>
                <a:spcPts val="1100"/>
              </a:spcAft>
              <a:defRPr sz="1900">
                <a:solidFill>
                  <a:srgbClr val="F2F5F8"/>
                </a:solidFill>
              </a:defRPr>
            </a:pPr>
            <a:r>
              <a:t>• Some x86 instructions combine memory access with arithmetic, but that does not eliminate the underlying data movement.</a:t>
            </a:r>
          </a:p>
          <a:p>
            <a:pPr>
              <a:spcAft>
                <a:spcPts val="1100"/>
              </a:spcAft>
              <a:defRPr sz="1900">
                <a:solidFill>
                  <a:srgbClr val="F2F5F8"/>
                </a:solidFill>
              </a:defRPr>
            </a:pPr>
            <a:r>
              <a:t>• A memory operand can involve address translation, cache lookup, coherence, and fault checks.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12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12.3 Memory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memory operand can involve address translation, cache lookup, coherence, and fault checks.</a:t>
            </a:r>
          </a:p>
          <a:p>
            <a:pPr>
              <a:spcAft>
                <a:spcPts val="1100"/>
              </a:spcAft>
              <a:defRPr sz="1900">
                <a:solidFill>
                  <a:srgbClr val="F2F5F8"/>
                </a:solidFill>
              </a:defRPr>
            </a:pPr>
            <a:r>
              <a:t>• Two instructions with similar arithmetic can have very different costs if one waits for a cache miss.</a:t>
            </a:r>
          </a:p>
          <a:p>
            <a:pPr>
              <a:spcAft>
                <a:spcPts val="1100"/>
              </a:spcAft>
              <a:defRPr sz="1900">
                <a:solidFill>
                  <a:srgbClr val="F2F5F8"/>
                </a:solidFill>
              </a:defRPr>
            </a:pPr>
            <a:r>
              <a:t>• Count memory traffic and dependencies, not just mnemonics, when estimating performance.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12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12.4 Program counter</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program counter identifies the instruction position used for control flow.</a:t>
            </a:r>
          </a:p>
          <a:p>
            <a:pPr>
              <a:spcAft>
                <a:spcPts val="1100"/>
              </a:spcAft>
              <a:defRPr sz="1900">
                <a:solidFill>
                  <a:srgbClr val="F2F5F8"/>
                </a:solidFill>
              </a:defRPr>
            </a:pPr>
            <a:r>
              <a:t>• On x86-64 the architectural instruction pointer is %rip .</a:t>
            </a:r>
          </a:p>
          <a:p>
            <a:pPr>
              <a:spcAft>
                <a:spcPts val="1100"/>
              </a:spcAft>
              <a:defRPr sz="1700">
                <a:solidFill>
                  <a:srgbClr val="F2F5F8"/>
                </a:solidFill>
              </a:defRPr>
            </a:pPr>
            <a:r>
              <a:t>• Sequential execution advances to the next instruction; branches, calls, returns, and exceptions change the flow according to their rules.</a:t>
            </a:r>
          </a:p>
          <a:p>
            <a:pPr>
              <a:spcAft>
                <a:spcPts val="1100"/>
              </a:spcAft>
              <a:defRPr sz="1900">
                <a:solidFill>
                  <a:srgbClr val="F2F5F8"/>
                </a:solidFill>
              </a:defRPr>
            </a:pPr>
            <a:r>
              <a:t>• For RIP-relative addressing, the displacement is interpreted relative to the next instruction’s address.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12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12.4 Program counter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For RIP-relative addressing, the displacement is interpreted relative to the next instruction’s address.</a:t>
            </a:r>
          </a:p>
          <a:p>
            <a:pPr>
              <a:spcAft>
                <a:spcPts val="1100"/>
              </a:spcAft>
              <a:defRPr sz="1900">
                <a:solidFill>
                  <a:srgbClr val="F2F5F8"/>
                </a:solidFill>
              </a:defRPr>
            </a:pPr>
            <a:r>
              <a:t>• This detail matters when manually calculating a target from disassembly.</a:t>
            </a:r>
          </a:p>
          <a:p>
            <a:pPr>
              <a:spcAft>
                <a:spcPts val="1100"/>
              </a:spcAft>
              <a:defRPr sz="1700">
                <a:solidFill>
                  <a:srgbClr val="F2F5F8"/>
                </a:solidFill>
              </a:defRPr>
            </a:pPr>
            <a:r>
              <a:t>• The value displayed beside an instruction is usually its own starting address, not necessarily the base used in that instruction’s relative-address computation.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12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12.5 Processor state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Processor state includes more than general-purpose registers.</a:t>
            </a:r>
          </a:p>
          <a:p>
            <a:pPr>
              <a:spcAft>
                <a:spcPts val="1100"/>
              </a:spcAft>
              <a:defRPr sz="1700">
                <a:solidFill>
                  <a:srgbClr val="F2F5F8"/>
                </a:solidFill>
              </a:defRPr>
            </a:pPr>
            <a:r>
              <a:t>• It can include condition flags, vector registers, floating-point control state, stack state, privilege state, and address-translation configuration.</a:t>
            </a:r>
          </a:p>
          <a:p>
            <a:pPr>
              <a:spcAft>
                <a:spcPts val="1100"/>
              </a:spcAft>
              <a:defRPr sz="1900">
                <a:solidFill>
                  <a:srgbClr val="F2F5F8"/>
                </a:solidFill>
              </a:defRPr>
            </a:pPr>
            <a:r>
              <a:t>• The exact state relevant to an operation depends on the architecture and execution context.</a:t>
            </a:r>
          </a:p>
          <a:p>
            <a:pPr>
              <a:spcAft>
                <a:spcPts val="1100"/>
              </a:spcAft>
              <a:defRPr sz="1900">
                <a:solidFill>
                  <a:srgbClr val="F2F5F8"/>
                </a:solidFill>
              </a:defRPr>
            </a:pPr>
            <a:r>
              <a:t>• A context switch must preserve enough state for a thread to resume as though its execution had been paused.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12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12.5 Processor state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context switch must preserve enough state for a thread to resume as though its execution had been paused.</a:t>
            </a:r>
          </a:p>
          <a:p>
            <a:pPr>
              <a:spcAft>
                <a:spcPts val="1100"/>
              </a:spcAft>
              <a:defRPr sz="1700">
                <a:solidFill>
                  <a:srgbClr val="F2F5F8"/>
                </a:solidFill>
              </a:defRPr>
            </a:pPr>
            <a:r>
              <a:t>• A normal function call has a narrower contract: the calling convention specifies which registers the caller or callee must preserve.</a:t>
            </a:r>
          </a:p>
          <a:p>
            <a:pPr>
              <a:spcAft>
                <a:spcPts val="1100"/>
              </a:spcAft>
              <a:defRPr sz="1900">
                <a:solidFill>
                  <a:srgbClr val="F2F5F8"/>
                </a:solidFill>
              </a:defRPr>
            </a:pPr>
            <a:r>
              <a:t>• Confusing a context switch with a function call leads to incorrect assumptions about who saves what.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12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12.6 ISA versus microarchitecture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ISA specifies architectural behavior.</a:t>
            </a:r>
          </a:p>
          <a:p>
            <a:pPr>
              <a:spcAft>
                <a:spcPts val="1100"/>
              </a:spcAft>
              <a:defRPr sz="1700">
                <a:solidFill>
                  <a:srgbClr val="F2F5F8"/>
                </a:solidFill>
              </a:defRPr>
            </a:pPr>
            <a:r>
              <a:t>• The microarchitecture is the implementation: pipelines, execution units, caches, predictors, queues, and scheduling logic.</a:t>
            </a:r>
          </a:p>
          <a:p>
            <a:pPr>
              <a:spcAft>
                <a:spcPts val="1100"/>
              </a:spcAft>
              <a:defRPr sz="1900">
                <a:solidFill>
                  <a:srgbClr val="F2F5F8"/>
                </a:solidFill>
              </a:defRPr>
            </a:pPr>
            <a:r>
              <a:t>• Different processors can execute the same binary while exhibiting different latency, throughput, and energy behavior.</a:t>
            </a:r>
          </a:p>
          <a:p>
            <a:pPr>
              <a:spcAft>
                <a:spcPts val="1100"/>
              </a:spcAft>
              <a:defRPr sz="1900">
                <a:solidFill>
                  <a:srgbClr val="F2F5F8"/>
                </a:solidFill>
              </a:defRPr>
            </a:pPr>
            <a:r>
              <a:t>• An optimization based on a particular instruction cost may not transfer to another processor implementing the same ISA.</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12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12.6 ISA versus microarchitecture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An optimization based on a particular instruction cost may not transfer to another processor implementing the same ISA.</a:t>
            </a:r>
          </a:p>
          <a:p>
            <a:pPr>
              <a:spcAft>
                <a:spcPts val="1100"/>
              </a:spcAft>
              <a:defRPr sz="1700">
                <a:solidFill>
                  <a:srgbClr val="F2F5F8"/>
                </a:solidFill>
              </a:defRPr>
            </a:pPr>
            <a:r>
              <a:t>• The portable part of the reasoning is the algorithm and architectural semantics; the measured part belongs to a specific machine and workload.</a:t>
            </a:r>
          </a:p>
          <a:p>
            <a:pPr>
              <a:spcAft>
                <a:spcPts val="1100"/>
              </a:spcAft>
              <a:defRPr sz="1900">
                <a:solidFill>
                  <a:srgbClr val="F2F5F8"/>
                </a:solidFill>
              </a:defRPr>
            </a:pPr>
            <a:r>
              <a:t>• The Intel architecture manuals separate instruction behavior from implementation-oriented performance guidance. [ R3 ]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12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Tracing a tiny abstract machine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Use a deliberately simplified machine with one accumulator, a program counter, and four instructions: load immediate, add immediate, multiply immediate, and halt.</a:t>
            </a:r>
          </a:p>
          <a:p>
            <a:pPr>
              <a:spcAft>
                <a:spcPts val="1100"/>
              </a:spcAft>
              <a:defRPr sz="1900">
                <a:solidFill>
                  <a:srgbClr val="F2F5F8"/>
                </a:solidFill>
              </a:defRPr>
            </a:pPr>
            <a:r>
              <a:t>• This is a teaching model, not x86 assembly.</a:t>
            </a:r>
          </a:p>
          <a:p>
            <a:pPr>
              <a:spcAft>
                <a:spcPts val="1100"/>
              </a:spcAft>
              <a:defRPr sz="1900">
                <a:solidFill>
                  <a:srgbClr val="F2F5F8"/>
                </a:solidFill>
              </a:defRPr>
            </a:pPr>
            <a:r>
              <a:t>• Companion listing: ch12/machine.py</a:t>
            </a:r>
          </a:p>
          <a:p>
            <a:pPr>
              <a:spcAft>
                <a:spcPts val="1100"/>
              </a:spcAft>
              <a:defRPr sz="1900">
                <a:solidFill>
                  <a:srgbClr val="F2F5F8"/>
                </a:solidFill>
              </a:defRPr>
            </a:pPr>
            <a:r>
              <a:t>• The trace is (1,6) , (2,10) , and (3,30)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12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Tracing a tiny abstract machine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Companion listing: ch12/machine.py</a:t>
            </a:r>
          </a:p>
          <a:p>
            <a:pPr>
              <a:spcAft>
                <a:spcPts val="1100"/>
              </a:spcAft>
              <a:defRPr sz="1900">
                <a:solidFill>
                  <a:srgbClr val="F2F5F8"/>
                </a:solidFill>
              </a:defRPr>
            </a:pPr>
            <a:r>
              <a:t>• The trace is (1,6) , (2,10) , and (3,30) .</a:t>
            </a:r>
          </a:p>
          <a:p>
            <a:pPr>
              <a:spcAft>
                <a:spcPts val="1100"/>
              </a:spcAft>
              <a:defRPr sz="1900">
                <a:solidFill>
                  <a:srgbClr val="F2F5F8"/>
                </a:solidFill>
              </a:defRPr>
            </a:pPr>
            <a:r>
              <a:t>• Each pair records the next instruction index and accumulator after one operation.</a:t>
            </a:r>
          </a:p>
          <a:p>
            <a:pPr>
              <a:spcAft>
                <a:spcPts val="1100"/>
              </a:spcAft>
              <a:defRPr sz="1900">
                <a:solidFill>
                  <a:srgbClr val="F2F5F8"/>
                </a:solidFill>
              </a:defRPr>
            </a:pPr>
            <a:r>
              <a:t>• The halt instruction leaves the final pair unchanged.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12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Separating ISA from implementation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Two processors can both implement x86-64 and execute the same architectural instruction stream while using different pipelines, cache sizes, branch predictors, and execution...</a:t>
            </a:r>
          </a:p>
          <a:p>
            <a:pPr>
              <a:spcAft>
                <a:spcPts val="1100"/>
              </a:spcAft>
              <a:defRPr sz="1700">
                <a:solidFill>
                  <a:srgbClr val="F2F5F8"/>
                </a:solidFill>
              </a:defRPr>
            </a:pPr>
            <a:r>
              <a:t>• The ISA specifies programmer-visible behavior; the microarchitecture determines how a particular implementation achieves it.</a:t>
            </a:r>
          </a:p>
          <a:p>
            <a:pPr>
              <a:spcAft>
                <a:spcPts val="1100"/>
              </a:spcAft>
              <a:defRPr sz="1900">
                <a:solidFill>
                  <a:srgbClr val="F2F5F8"/>
                </a:solidFill>
              </a:defRPr>
            </a:pPr>
            <a:r>
              <a:t>• Performance differences therefore do not imply different source-level semantics.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12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Separating ISA from implementation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Two processors can both implement x86-64 and execute the same architectural instruction stream while using different pipelines, cache sizes, branch predictors, and...</a:t>
            </a:r>
          </a:p>
          <a:p>
            <a:pPr>
              <a:spcAft>
                <a:spcPts val="1100"/>
              </a:spcAft>
              <a:defRPr sz="1700">
                <a:solidFill>
                  <a:srgbClr val="F2F5F8"/>
                </a:solidFill>
              </a:defRPr>
            </a:pPr>
            <a:r>
              <a:t>• The ISA specifies programmer-visible behavior; the microarchitecture determines how a particular implementation achieves it.</a:t>
            </a:r>
          </a:p>
          <a:p>
            <a:pPr>
              <a:spcAft>
                <a:spcPts val="1100"/>
              </a:spcAft>
              <a:defRPr sz="1900">
                <a:solidFill>
                  <a:srgbClr val="F2F5F8"/>
                </a:solidFill>
              </a:defRPr>
            </a:pPr>
            <a:r>
              <a:t>• Performance differences therefore do not imply different source-level semantics.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12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Updating architectural state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For an instruction conceptually equivalent to RAX = RAX + RBX , the visible result is a new RAX and updated condition flags according to the instruction definition.</a:t>
            </a:r>
          </a:p>
          <a:p>
            <a:pPr>
              <a:spcAft>
                <a:spcPts val="1100"/>
              </a:spcAft>
              <a:defRPr sz="1700">
                <a:solidFill>
                  <a:srgbClr val="F2F5F8"/>
                </a:solidFill>
              </a:defRPr>
            </a:pPr>
            <a:r>
              <a:t>• Internally the processor may rename registers and execute out of order, but retirement preserves the architectural effect as though the instruction completed in program order,...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12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Updating architectural state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For an instruction conceptually equivalent to RAX = RAX + RBX , the visible result is a new RAX and updated condition flags according to the instruction definition.</a:t>
            </a:r>
          </a:p>
          <a:p>
            <a:pPr>
              <a:spcAft>
                <a:spcPts val="1100"/>
              </a:spcAft>
              <a:defRPr sz="1700">
                <a:solidFill>
                  <a:srgbClr val="F2F5F8"/>
                </a:solidFill>
              </a:defRPr>
            </a:pPr>
            <a:r>
              <a:t>• Internally the processor may rename registers and execute out of order, but retirement preserves the architectural effect as though the instruction completed in program...</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12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Lab 12.</a:t>
            </a:r>
          </a:p>
          <a:p>
            <a:pPr>
              <a:spcAft>
                <a:spcPts val="1100"/>
              </a:spcAft>
              <a:defRPr sz="1900">
                <a:solidFill>
                  <a:srgbClr val="F2F5F8"/>
                </a:solidFill>
              </a:defRPr>
            </a:pPr>
            <a:r>
              <a:t>• Extend the model with a conditional branch and a bounded instruction-step limit.</a:t>
            </a:r>
          </a:p>
          <a:p>
            <a:pPr>
              <a:spcAft>
                <a:spcPts val="1100"/>
              </a:spcAft>
              <a:defRPr sz="1900">
                <a:solidFill>
                  <a:srgbClr val="F2F5F8"/>
                </a:solidFill>
              </a:defRPr>
            </a:pPr>
            <a:r>
              <a:t>• Use it to sum integers from one through five.</a:t>
            </a:r>
          </a:p>
          <a:p>
            <a:pPr>
              <a:spcAft>
                <a:spcPts val="1100"/>
              </a:spcAft>
              <a:defRPr sz="1900">
                <a:solidFill>
                  <a:srgbClr val="F2F5F8"/>
                </a:solidFill>
              </a:defRPr>
            </a:pPr>
            <a:r>
              <a:t>• Record the accumulator and program counter after every executed instruction.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12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LAB, REVIEW &amp; ACCEPTANCE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Review 1.</a:t>
            </a:r>
          </a:p>
          <a:p>
            <a:pPr>
              <a:spcAft>
                <a:spcPts val="1100"/>
              </a:spcAft>
              <a:defRPr sz="1900">
                <a:solidFill>
                  <a:srgbClr val="F2F5F8"/>
                </a:solidFill>
              </a:defRPr>
            </a:pPr>
            <a:r>
              <a:t>• Why can two processors run the same executable at different speeds?</a:t>
            </a:r>
          </a:p>
          <a:p>
            <a:pPr>
              <a:spcAft>
                <a:spcPts val="1100"/>
              </a:spcAft>
              <a:defRPr sz="1900">
                <a:solidFill>
                  <a:srgbClr val="F2F5F8"/>
                </a:solidFill>
              </a:defRPr>
            </a:pPr>
            <a:r>
              <a:t>• Review 2.</a:t>
            </a:r>
          </a:p>
          <a:p>
            <a:pPr>
              <a:spcAft>
                <a:spcPts val="1100"/>
              </a:spcAft>
              <a:defRPr sz="1900">
                <a:solidFill>
                  <a:srgbClr val="F2F5F8"/>
                </a:solidFill>
              </a:defRPr>
            </a:pPr>
            <a:r>
              <a:t>• Why is a function-call save convention smaller than the full processor state?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12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Synthesis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KEY TAKEAWAYS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chapter's central subject is instruction set architecture.</a:t>
            </a:r>
          </a:p>
          <a:p>
            <a:pPr>
              <a:spcAft>
                <a:spcPts val="1100"/>
              </a:spcAft>
              <a:defRPr sz="1900">
                <a:solidFill>
                  <a:srgbClr val="F2F5F8"/>
                </a:solidFill>
              </a:defRPr>
            </a:pPr>
            <a:r>
              <a:t>• Correct reasoning requires explicit assumptions, bounds, ownership, and interface contracts.</a:t>
            </a:r>
          </a:p>
          <a:p>
            <a:pPr>
              <a:spcAft>
                <a:spcPts val="1100"/>
              </a:spcAft>
              <a:defRPr sz="1900">
                <a:solidFill>
                  <a:srgbClr val="F2F5F8"/>
                </a:solidFill>
              </a:defRPr>
            </a:pPr>
            <a:r>
              <a:t>• Observed behavior is evidence about a run; it is not automatically a language or system guarantee.</a:t>
            </a:r>
          </a:p>
          <a:p>
            <a:pPr>
              <a:spcAft>
                <a:spcPts val="1100"/>
              </a:spcAft>
              <a:defRPr sz="1900">
                <a:solidFill>
                  <a:srgbClr val="F2F5F8"/>
                </a:solidFill>
              </a:defRPr>
            </a:pPr>
            <a:r>
              <a:t>• Use the worked examples and lab to test whether the model transfers to new cases.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12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Review and Transition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CHECK YOUR MODEL</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one mechanism from the chapter without relying on vocabulary alone.</a:t>
            </a:r>
          </a:p>
          <a:p>
            <a:pPr>
              <a:spcAft>
                <a:spcPts val="1100"/>
              </a:spcAft>
              <a:defRPr sz="1900">
                <a:solidFill>
                  <a:srgbClr val="F2F5F8"/>
                </a:solidFill>
              </a:defRPr>
            </a:pPr>
            <a:r>
              <a:t>• Identify one failure mode and the violated contract or invariant.</a:t>
            </a:r>
          </a:p>
          <a:p>
            <a:pPr>
              <a:spcAft>
                <a:spcPts val="1100"/>
              </a:spcAft>
              <a:defRPr sz="1900">
                <a:solidFill>
                  <a:srgbClr val="F2F5F8"/>
                </a:solidFill>
              </a:defRPr>
            </a:pPr>
            <a:r>
              <a:t>• State what evidence would support your diagnosis and what it would not prove.</a:t>
            </a:r>
          </a:p>
          <a:p>
            <a:pPr>
              <a:spcAft>
                <a:spcPts val="1100"/>
              </a:spcAft>
              <a:defRPr sz="1900">
                <a:solidFill>
                  <a:srgbClr val="F2F5F8"/>
                </a:solidFill>
              </a:defRPr>
            </a:pPr>
            <a:r>
              <a:t>• Next: x86-64 Registers.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12     |     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