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45 — Race Conditions</a:t>
            </a:r>
          </a:p>
          <a:p/>
          <a:p>
            <a:r>
              <a:t>LECTURE NARRATION</a:t>
            </a:r>
          </a:p>
          <a:p>
            <a:r>
              <a:t>A race condition is a logical dependence on timing that violates the intended result. A data race has a specific C++ memory-model meaning involving conflicting accesses without the required ordering, with at least one access non-atomic. Data races cause undefined behavior; logical races can also occur in programs that use atomics and contain no data race. [ R22 ]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race condition is a logical dependence on timing that violates the intended result.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race condition is a logical dependence on timing that violates the intended result. A data race has a specific C++ memory-model meaning involving conflicting accesses without the required ordering, with at least one access non-atomic. Data races cause undefined behavior; logical races can also occur in programs that use atomics and contain no data race. [ R22 ]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race condition is a logical dependence on timing that violates the intended result.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45.1 Shared state 45.2 Conflicting accesses 45.3 Race conditions 45.4 Data races ...plus 6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45.1 Shared state 45.2 Conflicting accesses 45.3 Race conditions 45.4 Data races ...plus 6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45.1 Shared state</a:t>
            </a:r>
          </a:p>
          <a:p/>
          <a:p>
            <a:r>
              <a:t>LECTURE NARRATION</a:t>
            </a:r>
          </a:p>
          <a:p>
            <a:r>
              <a:t>Shared state is information accessible to multiple activities. Mutable shared state requires a policy: one owner, a lock, atomic operations, or another proven protocol. The policy should cover related fields together when their relationship forms an invariant. A common design improvement is to reduce sharing. Give each worker a private accumulator, use immutable messages, or transfer ownership through a queue. Eliminating a shared write is often simpler than coordinating it correctly.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shared state is information accessible to multiple activities.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45.1 Shared state — Deep Dive</a:t>
            </a:r>
          </a:p>
          <a:p/>
          <a:p>
            <a:r>
              <a:t>LECTURE NARRATION</a:t>
            </a:r>
          </a:p>
          <a:p>
            <a:r>
              <a:t>Shared state is information accessible to multiple activities. Mutable shared state requires a policy: one owner, a lock, atomic operations, or another proven protocol. The policy should cover related fields together when their relationship forms an invariant. A common design improvement is to reduce sharing. Give each worker a private accumulator, use immutable messages, or transfer ownership through a queue. Eliminating a shared write is often simpler than coordinating it correctly.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shared state is information accessible to multiple activities.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45.2 Conflicting accesses</a:t>
            </a:r>
          </a:p>
          <a:p/>
          <a:p>
            <a:r>
              <a:t>LECTURE NARRATION</a:t>
            </a:r>
          </a:p>
          <a:p>
            <a:r>
              <a:t>Two accesses conflict when they target overlapping memory in a way relevant to the language rules and at least one modifies state or affects object lifetime. Two ordinary reads can coexist when the object is safely initialized and remains alive. Different source-level variables can still interact through aliasing or overlapping storage. Conversely, distinct non-bit-field array elements are separate memory locations for ordinary concurrent-access reasoning. Hardware cache-line sharing is a performance concern distinct from language-level location identity.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accesses conflict when they target overlapping memory in a way relevant to the language rules and at least one modifies state or affects object lifetime.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45.2 Conflicting accesses — Deep Dive</a:t>
            </a:r>
          </a:p>
          <a:p/>
          <a:p>
            <a:r>
              <a:t>LECTURE NARRATION</a:t>
            </a:r>
          </a:p>
          <a:p>
            <a:r>
              <a:t>Two accesses conflict when they target overlapping memory in a way relevant to the language rules and at least one modifies state or affects object lifetime. Two ordinary reads can coexist when the object is safely initialized and remains alive. Different source-level variables can still interact through aliasing or overlapping storage. Conversely, distinct non-bit-field array elements are separate memory locations for ordinary concurrent-access reasoning. Hardware cache-line sharing is a performance concern distinct from language-level location identity.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accesses conflict when they target overlapping memory in a way relevant to the language rules and at least one modifies state or affects object lifetime.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45.3 Race conditions</a:t>
            </a:r>
          </a:p>
          <a:p/>
          <a:p>
            <a:r>
              <a:t>LECTURE NARRATION</a:t>
            </a:r>
          </a:p>
          <a:p>
            <a:r>
              <a:t>A check-then-act sequence can race even when each individual check and update is atomic. Two customers may both observe the last item as available and each reserve it unless the combined transaction is coordinated. Define the intended indivisible operation. Is it one counter increment, a transfer between two accounts, or removal of one queue item together with count adjustment? Synchronization must protect that semantic unit, not merely surround an arbitrary convenient statement.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45.3 Race conditions — Deep Dive</a:t>
            </a:r>
          </a:p>
          <a:p/>
          <a:p>
            <a:r>
              <a:t>LECTURE NARRATION</a:t>
            </a:r>
          </a:p>
          <a:p>
            <a:r>
              <a:t>A check-then-act sequence can race even when each individual check and update is atomic. Two customers may both observe the last item as available and each reserve it unless the combined transaction is coordinated. Define the intended indivisible operation. Is it one counter increment, a transfer between two accounts, or removal of one queue item together with count adjustment? Synchronization must protect that semantic unit, not merely surround an arbitrary convenient statement.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45.4 Data races</a:t>
            </a:r>
          </a:p>
          <a:p/>
          <a:p>
            <a:r>
              <a:t>LECTURE NARRATION</a:t>
            </a:r>
          </a:p>
          <a:p>
            <a:r>
              <a:t>In C++, conflicting accesses in different threads require the appropriate happens-before relationship unless the accesses are covered by the atomic rules. A non-atomic shared counter increment without synchronization is not merely allowed to lose updates; the program has undefined behavior. Do not use a run that “usually prints the expected number” as evidence of correctness. Compiler transformations and hardware execution are constrained by the language’s defined programs, not by a programmer’s preferred interleaving of an undefined one. ThreadSanitizer can help detect observed races but cannot prove their absence on every path. [ R6 ]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45.4 Data races — Deep Dive</a:t>
            </a:r>
          </a:p>
          <a:p/>
          <a:p>
            <a:r>
              <a:t>LECTURE NARRATION</a:t>
            </a:r>
          </a:p>
          <a:p>
            <a:r>
              <a:t>In C++, conflicting accesses in different threads require the appropriate happens-before relationship unless the accesses are covered by the atomic rules. A non-atomic shared counter increment without synchronization is not merely allowed to lose updates; the program has undefined behavior. Do not use a run that “usually prints the expected number” as evidence of correctness. Compiler transformations and hardware execution are constrained by the language’s defined programs, not by a programmer’s preferred interleaving of an undefined one. ThreadSanitizer can help detect observed races but cannot prove their absence on every path. [ R6 ]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45.5 Atomicity</a:t>
            </a:r>
          </a:p>
          <a:p/>
          <a:p>
            <a:r>
              <a:t>LECTURE NARRATION</a:t>
            </a:r>
          </a:p>
          <a:p>
            <a:r>
              <a:t>Atomicity means that an operation is indivisible with respect to the relevant observers and model. An atomic load and an atomic store are individually indivisible, but the pair is not automatically one atomic read-modify-write transaction. Atomicity also has scope. An atomic integer operation does not make a neighboring ordinary structure update safe. A transaction spanning several objects generally needs a broader synchronization protocol or carefully designed multi-object algorithm.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45.5 Atomicity — Deep Dive</a:t>
            </a:r>
          </a:p>
          <a:p/>
          <a:p>
            <a:r>
              <a:t>LECTURE NARRATION</a:t>
            </a:r>
          </a:p>
          <a:p>
            <a:r>
              <a:t>Atomicity means that an operation is indivisible with respect to the relevant observers and model. An atomic load and an atomic store are individually indivisible, but the pair is not automatically one atomic read-modify-write transaction. Atomicity also has scope. An atomic integer operation does not make a neighboring ordinary structure update safe. A transaction spanning several objects generally needs a broader synchronization protocol or carefully designed multi-object algorithm.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45.6 Critical sections</a:t>
            </a:r>
          </a:p>
          <a:p/>
          <a:p>
            <a:r>
              <a:t>LECTURE NARRATION</a:t>
            </a:r>
          </a:p>
          <a:p>
            <a:r>
              <a:t>A critical section is code that accesses state under an exclusion or coordination rule. Its boundaries should preserve the state invariant: acquire the protection, inspect and update related fields, restore a consistent state, then release. Keep blocking I/O and unknown callbacks outside a lock when possible, but do not shorten the section by moving required validation outside and reintroducing a race. Performance changes must preserve the same indivisible logical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critical section is code that accesses state under an exclusion or coordination rule.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45.6 Critical sections — Deep Dive</a:t>
            </a:r>
          </a:p>
          <a:p/>
          <a:p>
            <a:r>
              <a:t>LECTURE NARRATION</a:t>
            </a:r>
          </a:p>
          <a:p>
            <a:r>
              <a:t>A critical section is code that accesses state under an exclusion or coordination rule. Its boundaries should preserve the state invariant: acquire the protection, inspect and update related fields, restore a consistent state, then release. Keep blocking I/O and unknown callbacks outside a lock when possible, but do not shorten the section by moving required validation outside and reintroducing a race. Performance changes must preserve the same indivisible logical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critical section is code that accesses state under an exclusion or coordination rule.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A data-race-free lost update</a:t>
            </a:r>
          </a:p>
          <a:p/>
          <a:p>
            <a:r>
              <a:t>LECTURE NARRATION</a:t>
            </a:r>
          </a:p>
          <a:p>
            <a:r>
              <a:t>The first phase below deliberately separates atomic load and store. A barrier ensures that both participants read zero before either stores one. The second phase uses fetch_add , which performs one atomic read-modify-write per increment. Companion listing: ch45/logical_race.cpp The expected output is load/store=1 fetch_add=2 . Every counter access is atomic, so the first phase has no C++ data race. It is still the wrong implementation of “count two increments.” Strong default memory ordering does not combine separate operations into a transaction. The barrier makes the failure deterministic and inspectable. This is preferable to a demonstration that runs undefined code repeatedly and hopes to display a surprising number.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A data-race-free lost update — Deep Dive</a:t>
            </a:r>
          </a:p>
          <a:p/>
          <a:p>
            <a:r>
              <a:t>LECTURE NARRATION</a:t>
            </a:r>
          </a:p>
          <a:p>
            <a:r>
              <a:t>The first phase below deliberately separates atomic load and store. A barrier ensures that both participants read zero before either stores one. The second phase uses fetch_add , which performs one atomic read-modify-write per increment. Companion listing: ch45/logical_race.cpp The expected output is load/store=1 fetch_add=2 . Every counter access is atomic, so the first phase has no C++ data race. It is still the wrong implementation of “count two increments.” Strong default memory ordering does not combine separate operations into a transaction. The barrier makes the failure deterministic and inspectable. This is preferable to a demonstration that runs undefined code repeatedly and hopes to display a surprising number.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Lost update race</a:t>
            </a:r>
          </a:p>
          <a:p/>
          <a:p>
            <a:r>
              <a:t>LECTURE NARRATION</a:t>
            </a:r>
          </a:p>
          <a:p>
            <a:r>
              <a:t>Two threads both execute counter++ on an ordinary shared integer initially zero. Each increment conceptually reads, adds one, and writes. If both read zero before either writes, both can store one, so the final value is one rather than two. The operation is not atomic merely because it appears as one source expression.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Lost update race — Deep Dive</a:t>
            </a:r>
          </a:p>
          <a:p/>
          <a:p>
            <a:r>
              <a:t>LECTURE NARRATION</a:t>
            </a:r>
          </a:p>
          <a:p>
            <a:r>
              <a:t>Two threads both execute counter++ on an ordinary shared integer initially zero. Each increment conceptually reads, adds one, and writes. If both read zero before either writes, both can store one, so the final value is one rather than two. The operation is not atomic merely because it appears as one source expression.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Critical-section repair</a:t>
            </a:r>
          </a:p>
          <a:p/>
          <a:p>
            <a:r>
              <a:t>LECTURE NARRATION</a:t>
            </a:r>
          </a:p>
          <a:p>
            <a:r>
              <a:t>Protecting the increment with the same mutex makes the read-modify-write sequence mutually exclusive. Thread A locks, reads zero, stores one, unlocks; only then can thread B enter and produce two. The lock protects the invariant that no two threads update the counter simultaneously.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protecting the increment with the same mutex makes the read-modify-write sequence mutually exclusive.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Critical-section repair — Deep Dive</a:t>
            </a:r>
          </a:p>
          <a:p/>
          <a:p>
            <a:r>
              <a:t>LECTURE NARRATION</a:t>
            </a:r>
          </a:p>
          <a:p>
            <a:r>
              <a:t>Protecting the increment with the same mutex makes the read-modify-write sequence mutually exclusive. Thread A locks, reads zero, stores one, unlocks; only then can thread B enter and produce two. The lock protects the invariant that no two threads update the counter simultaneously.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protecting the increment with the same mutex makes the read-modify-write sequence mutually exclusive.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Guided lab and review</a:t>
            </a:r>
          </a:p>
          <a:p/>
          <a:p>
            <a:r>
              <a:t>LECTURE NARRATION</a:t>
            </a:r>
          </a:p>
          <a:p>
            <a:r>
              <a:t>Lab 45. Replace the first phase’s separate load/store with fetch_add while retaining a barrier before the operation. Verify the final value remains 2 regardless of which participant performs its increment first. Review 1. Can a program contain a race condition without a data race? Review 2. Why does sequential consistency not turn two separate atomic operations into one transaction?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45.</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Guided lab and review — Deep Dive</a:t>
            </a:r>
          </a:p>
          <a:p/>
          <a:p>
            <a:r>
              <a:t>LECTURE NARRATION</a:t>
            </a:r>
          </a:p>
          <a:p>
            <a:r>
              <a:t>Lab 45. Replace the first phase’s separate load/store with fetch_add while retaining a barrier before the operation. Verify the final value remains 2 regardless of which participant performs its increment first. Review 1. Can a program contain a race condition without a data race? Review 2. Why does sequential consistency not turn two separate atomic operations into one transaction?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45.</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Chapter Synthesis</a:t>
            </a:r>
          </a:p>
          <a:p/>
          <a:p>
            <a:r>
              <a:t>LECTURE NARRATION</a:t>
            </a:r>
          </a:p>
          <a:p>
            <a:r>
              <a:t>The chapter's central subject is race conditions.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race conditions.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Atomic Operations.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45 — Race Conditions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race condition is a logical dependence on timing that violates the intended result.</a:t>
            </a:r>
          </a:p>
          <a:p>
            <a:pPr>
              <a:spcAft>
                <a:spcPts val="1100"/>
              </a:spcAft>
              <a:defRPr sz="1700">
                <a:solidFill>
                  <a:srgbClr val="F2F5F8"/>
                </a:solidFill>
              </a:defRPr>
            </a:pPr>
            <a:r>
              <a:t>• A data race has a specific C++ memory-model meaning involving conflicting accesses without the required ordering, with at least one access non-atomic.</a:t>
            </a:r>
          </a:p>
          <a:p>
            <a:pPr>
              <a:spcAft>
                <a:spcPts val="1100"/>
              </a:spcAft>
              <a:defRPr sz="1700">
                <a:solidFill>
                  <a:srgbClr val="F2F5F8"/>
                </a:solidFill>
              </a:defRPr>
            </a:pPr>
            <a:r>
              <a:t>• Data races cause undefined behavior; logical races can also occur in programs that use atomics and contain no data race. [ R22 ]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Race Conditions.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45.1 Shared state</a:t>
            </a:r>
          </a:p>
          <a:p>
            <a:pPr>
              <a:spcAft>
                <a:spcPts val="1100"/>
              </a:spcAft>
              <a:defRPr sz="1900">
                <a:solidFill>
                  <a:srgbClr val="F2F5F8"/>
                </a:solidFill>
              </a:defRPr>
            </a:pPr>
            <a:r>
              <a:t>• 45.2 Conflicting accesses</a:t>
            </a:r>
          </a:p>
          <a:p>
            <a:pPr>
              <a:spcAft>
                <a:spcPts val="1100"/>
              </a:spcAft>
              <a:defRPr sz="1900">
                <a:solidFill>
                  <a:srgbClr val="F2F5F8"/>
                </a:solidFill>
              </a:defRPr>
            </a:pPr>
            <a:r>
              <a:t>• 45.3 Race conditions</a:t>
            </a:r>
          </a:p>
          <a:p>
            <a:pPr>
              <a:spcAft>
                <a:spcPts val="1100"/>
              </a:spcAft>
              <a:defRPr sz="1900">
                <a:solidFill>
                  <a:srgbClr val="F2F5F8"/>
                </a:solidFill>
              </a:defRPr>
            </a:pPr>
            <a:r>
              <a:t>• 45.4 Data races</a:t>
            </a:r>
          </a:p>
          <a:p>
            <a:pPr>
              <a:spcAft>
                <a:spcPts val="1100"/>
              </a:spcAft>
              <a:defRPr sz="1900">
                <a:solidFill>
                  <a:srgbClr val="F2F5F8"/>
                </a:solidFill>
              </a:defRPr>
            </a:pPr>
            <a:r>
              <a:t>• ...plus 6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45.1 Shared state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Shared state is information accessible to multiple activities.</a:t>
            </a:r>
          </a:p>
          <a:p>
            <a:pPr>
              <a:spcAft>
                <a:spcPts val="1100"/>
              </a:spcAft>
              <a:defRPr sz="1900">
                <a:solidFill>
                  <a:srgbClr val="F2F5F8"/>
                </a:solidFill>
              </a:defRPr>
            </a:pPr>
            <a:r>
              <a:t>• Mutable shared state requires a policy: one owner, a lock, atomic operations, or another proven protocol.</a:t>
            </a:r>
          </a:p>
          <a:p>
            <a:pPr>
              <a:spcAft>
                <a:spcPts val="1100"/>
              </a:spcAft>
              <a:defRPr sz="1900">
                <a:solidFill>
                  <a:srgbClr val="F2F5F8"/>
                </a:solidFill>
              </a:defRPr>
            </a:pPr>
            <a:r>
              <a:t>• The policy should cover related fields together when their relationship forms an invariant.</a:t>
            </a:r>
          </a:p>
          <a:p>
            <a:pPr>
              <a:spcAft>
                <a:spcPts val="1100"/>
              </a:spcAft>
              <a:defRPr sz="1900">
                <a:solidFill>
                  <a:srgbClr val="F2F5F8"/>
                </a:solidFill>
              </a:defRPr>
            </a:pPr>
            <a:r>
              <a:t>• A common design improvement is to reduce sharing.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45.1 Shared state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common design improvement is to reduce sharing.</a:t>
            </a:r>
          </a:p>
          <a:p>
            <a:pPr>
              <a:spcAft>
                <a:spcPts val="1100"/>
              </a:spcAft>
              <a:defRPr sz="1900">
                <a:solidFill>
                  <a:srgbClr val="F2F5F8"/>
                </a:solidFill>
              </a:defRPr>
            </a:pPr>
            <a:r>
              <a:t>• Give each worker a private accumulator, use immutable messages, or transfer ownership through a queue.</a:t>
            </a:r>
          </a:p>
          <a:p>
            <a:pPr>
              <a:spcAft>
                <a:spcPts val="1100"/>
              </a:spcAft>
              <a:defRPr sz="1900">
                <a:solidFill>
                  <a:srgbClr val="F2F5F8"/>
                </a:solidFill>
              </a:defRPr>
            </a:pPr>
            <a:r>
              <a:t>• Eliminating a shared write is often simpler than coordinating it correctly.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45.2 Conflicting accesses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Two accesses conflict when they target overlapping memory in a way relevant to the language rules and at least one modifies state or affects object lifetime.</a:t>
            </a:r>
          </a:p>
          <a:p>
            <a:pPr>
              <a:spcAft>
                <a:spcPts val="1100"/>
              </a:spcAft>
              <a:defRPr sz="1900">
                <a:solidFill>
                  <a:srgbClr val="F2F5F8"/>
                </a:solidFill>
              </a:defRPr>
            </a:pPr>
            <a:r>
              <a:t>• Two ordinary reads can coexist when the object is safely initialized and remains alive.</a:t>
            </a:r>
          </a:p>
          <a:p>
            <a:pPr>
              <a:spcAft>
                <a:spcPts val="1100"/>
              </a:spcAft>
              <a:defRPr sz="1900">
                <a:solidFill>
                  <a:srgbClr val="F2F5F8"/>
                </a:solidFill>
              </a:defRPr>
            </a:pPr>
            <a:r>
              <a:t>• Different source-level variables can still interact through aliasing or overlapping storage.</a:t>
            </a:r>
          </a:p>
          <a:p>
            <a:pPr>
              <a:spcAft>
                <a:spcPts val="1100"/>
              </a:spcAft>
              <a:defRPr sz="1700">
                <a:solidFill>
                  <a:srgbClr val="F2F5F8"/>
                </a:solidFill>
              </a:defRPr>
            </a:pPr>
            <a:r>
              <a:t>• Conversely, distinct non-bit-field array elements are separate memory locations for ordinary concurrent-access reasoning.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45.2 Conflicting accesses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Different source-level variables can still interact through aliasing or overlapping storage.</a:t>
            </a:r>
          </a:p>
          <a:p>
            <a:pPr>
              <a:spcAft>
                <a:spcPts val="1100"/>
              </a:spcAft>
              <a:defRPr sz="1700">
                <a:solidFill>
                  <a:srgbClr val="F2F5F8"/>
                </a:solidFill>
              </a:defRPr>
            </a:pPr>
            <a:r>
              <a:t>• Conversely, distinct non-bit-field array elements are separate memory locations for ordinary concurrent-access reasoning.</a:t>
            </a:r>
          </a:p>
          <a:p>
            <a:pPr>
              <a:spcAft>
                <a:spcPts val="1100"/>
              </a:spcAft>
              <a:defRPr sz="1900">
                <a:solidFill>
                  <a:srgbClr val="F2F5F8"/>
                </a:solidFill>
              </a:defRPr>
            </a:pPr>
            <a:r>
              <a:t>• Hardware cache-line sharing is a performance concern distinct from language-level location identity.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45.3 Race conditions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check-then-act sequence can race even when each individual check and update is atomic.</a:t>
            </a:r>
          </a:p>
          <a:p>
            <a:pPr>
              <a:spcAft>
                <a:spcPts val="1100"/>
              </a:spcAft>
              <a:defRPr sz="1700">
                <a:solidFill>
                  <a:srgbClr val="F2F5F8"/>
                </a:solidFill>
              </a:defRPr>
            </a:pPr>
            <a:r>
              <a:t>• Two customers may both observe the last item as available and each reserve it unless the combined transaction is coordinated.</a:t>
            </a:r>
          </a:p>
          <a:p>
            <a:pPr>
              <a:spcAft>
                <a:spcPts val="1100"/>
              </a:spcAft>
              <a:defRPr sz="1900">
                <a:solidFill>
                  <a:srgbClr val="F2F5F8"/>
                </a:solidFill>
              </a:defRPr>
            </a:pPr>
            <a:r>
              <a:t>• Define the intended indivisible operation.</a:t>
            </a:r>
          </a:p>
          <a:p>
            <a:pPr>
              <a:spcAft>
                <a:spcPts val="1100"/>
              </a:spcAft>
              <a:defRPr sz="1700">
                <a:solidFill>
                  <a:srgbClr val="F2F5F8"/>
                </a:solidFill>
              </a:defRPr>
            </a:pPr>
            <a:r>
              <a:t>• Is it one counter increment, a transfer between two accounts, or removal of one queue item together with count adjustment?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45.3 Race conditions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Define the intended indivisible operation.</a:t>
            </a:r>
          </a:p>
          <a:p>
            <a:pPr>
              <a:spcAft>
                <a:spcPts val="1100"/>
              </a:spcAft>
              <a:defRPr sz="1700">
                <a:solidFill>
                  <a:srgbClr val="F2F5F8"/>
                </a:solidFill>
              </a:defRPr>
            </a:pPr>
            <a:r>
              <a:t>• Is it one counter increment, a transfer between two accounts, or removal of one queue item together with count adjustment?</a:t>
            </a:r>
          </a:p>
          <a:p>
            <a:pPr>
              <a:spcAft>
                <a:spcPts val="1100"/>
              </a:spcAft>
              <a:defRPr sz="1900">
                <a:solidFill>
                  <a:srgbClr val="F2F5F8"/>
                </a:solidFill>
              </a:defRPr>
            </a:pPr>
            <a:r>
              <a:t>• Synchronization must protect that semantic unit, not merely surround an arbitrary convenient statement.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45.4 Data races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In C++, conflicting accesses in different threads require the appropriate happens-before relationship unless the accesses are covered by the atomic rules.</a:t>
            </a:r>
          </a:p>
          <a:p>
            <a:pPr>
              <a:spcAft>
                <a:spcPts val="1100"/>
              </a:spcAft>
              <a:defRPr sz="1700">
                <a:solidFill>
                  <a:srgbClr val="F2F5F8"/>
                </a:solidFill>
              </a:defRPr>
            </a:pPr>
            <a:r>
              <a:t>• A non-atomic shared counter increment without synchronization is not merely allowed to lose updates; the program has undefined behavior.</a:t>
            </a:r>
          </a:p>
          <a:p>
            <a:pPr>
              <a:spcAft>
                <a:spcPts val="1100"/>
              </a:spcAft>
              <a:defRPr sz="1900">
                <a:solidFill>
                  <a:srgbClr val="F2F5F8"/>
                </a:solidFill>
              </a:defRPr>
            </a:pPr>
            <a:r>
              <a:t>• Do not use a run that “usually prints the expected number” as evidence of correctness.</a:t>
            </a:r>
          </a:p>
          <a:p>
            <a:pPr>
              <a:spcAft>
                <a:spcPts val="1100"/>
              </a:spcAft>
              <a:defRPr sz="1700">
                <a:solidFill>
                  <a:srgbClr val="F2F5F8"/>
                </a:solidFill>
              </a:defRPr>
            </a:pPr>
            <a:r>
              <a:t>• Compiler transformations and hardware execution are constrained by the language’s defined programs, not by a programmer’s preferred interleaving of an undefined one.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45.4 Data races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use a run that “usually prints the expected number” as evidence of correctness.</a:t>
            </a:r>
          </a:p>
          <a:p>
            <a:pPr>
              <a:spcAft>
                <a:spcPts val="1100"/>
              </a:spcAft>
              <a:defRPr sz="1700">
                <a:solidFill>
                  <a:srgbClr val="F2F5F8"/>
                </a:solidFill>
              </a:defRPr>
            </a:pPr>
            <a:r>
              <a:t>• Compiler transformations and hardware execution are constrained by the language’s defined programs, not by a programmer’s preferred interleaving of an undefined one.</a:t>
            </a:r>
          </a:p>
          <a:p>
            <a:pPr>
              <a:spcAft>
                <a:spcPts val="1100"/>
              </a:spcAft>
              <a:defRPr sz="1900">
                <a:solidFill>
                  <a:srgbClr val="F2F5F8"/>
                </a:solidFill>
              </a:defRPr>
            </a:pPr>
            <a:r>
              <a:t>• ThreadSanitizer can help detect observed races but cannot prove their absence on every path. [ R6 ]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45.5 Atomicity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Atomicity means that an operation is indivisible with respect to the relevant observers and model.</a:t>
            </a:r>
          </a:p>
          <a:p>
            <a:pPr>
              <a:spcAft>
                <a:spcPts val="1100"/>
              </a:spcAft>
              <a:defRPr sz="1700">
                <a:solidFill>
                  <a:srgbClr val="F2F5F8"/>
                </a:solidFill>
              </a:defRPr>
            </a:pPr>
            <a:r>
              <a:t>• An atomic load and an atomic store are individually indivisible, but the pair is not automatically one atomic read-modify-write transaction.</a:t>
            </a:r>
          </a:p>
          <a:p>
            <a:pPr>
              <a:spcAft>
                <a:spcPts val="1100"/>
              </a:spcAft>
              <a:defRPr sz="1900">
                <a:solidFill>
                  <a:srgbClr val="F2F5F8"/>
                </a:solidFill>
              </a:defRPr>
            </a:pPr>
            <a:r>
              <a:t>• Atomicity also has scope.</a:t>
            </a:r>
          </a:p>
          <a:p>
            <a:pPr>
              <a:spcAft>
                <a:spcPts val="1100"/>
              </a:spcAft>
              <a:defRPr sz="1900">
                <a:solidFill>
                  <a:srgbClr val="F2F5F8"/>
                </a:solidFill>
              </a:defRPr>
            </a:pPr>
            <a:r>
              <a:t>• An atomic integer operation does not make a neighboring ordinary structure update 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45.5 Atomicity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Atomicity also has scope.</a:t>
            </a:r>
          </a:p>
          <a:p>
            <a:pPr>
              <a:spcAft>
                <a:spcPts val="1100"/>
              </a:spcAft>
              <a:defRPr sz="1900">
                <a:solidFill>
                  <a:srgbClr val="F2F5F8"/>
                </a:solidFill>
              </a:defRPr>
            </a:pPr>
            <a:r>
              <a:t>• An atomic integer operation does not make a neighboring ordinary structure update safe.</a:t>
            </a:r>
          </a:p>
          <a:p>
            <a:pPr>
              <a:spcAft>
                <a:spcPts val="1100"/>
              </a:spcAft>
              <a:defRPr sz="1700">
                <a:solidFill>
                  <a:srgbClr val="F2F5F8"/>
                </a:solidFill>
              </a:defRPr>
            </a:pPr>
            <a:r>
              <a:t>• A transaction spanning several objects generally needs a broader synchronization protocol or carefully designed multi-object algorithm.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45.6 Critical sections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critical section is code that accesses state under an exclusion or coordination rule.</a:t>
            </a:r>
          </a:p>
          <a:p>
            <a:pPr>
              <a:spcAft>
                <a:spcPts val="1100"/>
              </a:spcAft>
              <a:defRPr sz="1700">
                <a:solidFill>
                  <a:srgbClr val="F2F5F8"/>
                </a:solidFill>
              </a:defRPr>
            </a:pPr>
            <a:r>
              <a:t>• Its boundaries should preserve the state invariant: acquire the protection, inspect and update related fields, restore a consistent state, then release.</a:t>
            </a:r>
          </a:p>
          <a:p>
            <a:pPr>
              <a:spcAft>
                <a:spcPts val="1100"/>
              </a:spcAft>
              <a:defRPr sz="1700">
                <a:solidFill>
                  <a:srgbClr val="F2F5F8"/>
                </a:solidFill>
              </a:defRPr>
            </a:pPr>
            <a:r>
              <a:t>• Keep blocking I/O and unknown callbacks outside a lock when possible, but do not shorten the section by moving required validation outside and reintroducing a race.</a:t>
            </a:r>
          </a:p>
          <a:p>
            <a:pPr>
              <a:spcAft>
                <a:spcPts val="1100"/>
              </a:spcAft>
              <a:defRPr sz="1900">
                <a:solidFill>
                  <a:srgbClr val="F2F5F8"/>
                </a:solidFill>
              </a:defRPr>
            </a:pPr>
            <a:r>
              <a:t>• Performance changes must preserve the same indivisible logical operation.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45.6 Critical sections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Keep blocking I/O and unknown callbacks outside a lock when possible, but do not shorten the section by moving required validation outside and reintroducing a race.</a:t>
            </a:r>
          </a:p>
          <a:p>
            <a:pPr>
              <a:spcAft>
                <a:spcPts val="1100"/>
              </a:spcAft>
              <a:defRPr sz="1900">
                <a:solidFill>
                  <a:srgbClr val="F2F5F8"/>
                </a:solidFill>
              </a:defRPr>
            </a:pPr>
            <a:r>
              <a:t>• Performance changes must preserve the same indivisible logical operation.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 data-race-free lost update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first phase below deliberately separates atomic load and store.</a:t>
            </a:r>
          </a:p>
          <a:p>
            <a:pPr>
              <a:spcAft>
                <a:spcPts val="1100"/>
              </a:spcAft>
              <a:defRPr sz="1900">
                <a:solidFill>
                  <a:srgbClr val="F2F5F8"/>
                </a:solidFill>
              </a:defRPr>
            </a:pPr>
            <a:r>
              <a:t>• A barrier ensures that both participants read zero before either stores one.</a:t>
            </a:r>
          </a:p>
          <a:p>
            <a:pPr>
              <a:spcAft>
                <a:spcPts val="1100"/>
              </a:spcAft>
              <a:defRPr sz="1900">
                <a:solidFill>
                  <a:srgbClr val="F2F5F8"/>
                </a:solidFill>
              </a:defRPr>
            </a:pPr>
            <a:r>
              <a:t>• The second phase uses fetch_add , which performs one atomic read-modify-write per increment.</a:t>
            </a:r>
          </a:p>
          <a:p>
            <a:pPr>
              <a:spcAft>
                <a:spcPts val="1100"/>
              </a:spcAft>
              <a:defRPr sz="1900">
                <a:solidFill>
                  <a:srgbClr val="F2F5F8"/>
                </a:solidFill>
              </a:defRPr>
            </a:pPr>
            <a:r>
              <a:t>• Companion listing: ch45/logical_race.cpp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data-race-free lost update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ch45/logical_race.cpp</a:t>
            </a:r>
          </a:p>
          <a:p>
            <a:pPr>
              <a:spcAft>
                <a:spcPts val="1100"/>
              </a:spcAft>
              <a:defRPr sz="1900">
                <a:solidFill>
                  <a:srgbClr val="F2F5F8"/>
                </a:solidFill>
              </a:defRPr>
            </a:pPr>
            <a:r>
              <a:t>• The expected output is load/store=1 fetch_add=2 .</a:t>
            </a:r>
          </a:p>
          <a:p>
            <a:pPr>
              <a:spcAft>
                <a:spcPts val="1100"/>
              </a:spcAft>
              <a:defRPr sz="1900">
                <a:solidFill>
                  <a:srgbClr val="F2F5F8"/>
                </a:solidFill>
              </a:defRPr>
            </a:pPr>
            <a:r>
              <a:t>• Every counter access is atomic, so the first phase has no C++ data race.</a:t>
            </a:r>
          </a:p>
          <a:p>
            <a:pPr>
              <a:spcAft>
                <a:spcPts val="1100"/>
              </a:spcAft>
              <a:defRPr sz="1700">
                <a:solidFill>
                  <a:srgbClr val="F2F5F8"/>
                </a:solidFill>
              </a:defRPr>
            </a:pPr>
            <a:r>
              <a:t>• It is still the wrong implementation of “count two increments.” Strong default memory ordering does not combine separate operations into a transaction.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Lost update race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Two threads both execute counter++ on an ordinary shared integer initially zero.</a:t>
            </a:r>
          </a:p>
          <a:p>
            <a:pPr>
              <a:spcAft>
                <a:spcPts val="1100"/>
              </a:spcAft>
              <a:defRPr sz="1900">
                <a:solidFill>
                  <a:srgbClr val="F2F5F8"/>
                </a:solidFill>
              </a:defRPr>
            </a:pPr>
            <a:r>
              <a:t>• Each increment conceptually reads, adds one, and writes.</a:t>
            </a:r>
          </a:p>
          <a:p>
            <a:pPr>
              <a:spcAft>
                <a:spcPts val="1100"/>
              </a:spcAft>
              <a:defRPr sz="1900">
                <a:solidFill>
                  <a:srgbClr val="F2F5F8"/>
                </a:solidFill>
              </a:defRPr>
            </a:pPr>
            <a:r>
              <a:t>• If both read zero before either writes, both can store one, so the final value is one rather than two.</a:t>
            </a:r>
          </a:p>
          <a:p>
            <a:pPr>
              <a:spcAft>
                <a:spcPts val="1100"/>
              </a:spcAft>
              <a:defRPr sz="1900">
                <a:solidFill>
                  <a:srgbClr val="F2F5F8"/>
                </a:solidFill>
              </a:defRPr>
            </a:pPr>
            <a:r>
              <a:t>• The operation is not atomic merely because it appears as one source expression.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Lost update race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Two threads both execute counter++ on an ordinary shared integer initially zero.</a:t>
            </a:r>
          </a:p>
          <a:p>
            <a:pPr>
              <a:spcAft>
                <a:spcPts val="1100"/>
              </a:spcAft>
              <a:defRPr sz="1900">
                <a:solidFill>
                  <a:srgbClr val="F2F5F8"/>
                </a:solidFill>
              </a:defRPr>
            </a:pPr>
            <a:r>
              <a:t>• Each increment conceptually reads, adds one, and writes.</a:t>
            </a:r>
          </a:p>
          <a:p>
            <a:pPr>
              <a:spcAft>
                <a:spcPts val="1100"/>
              </a:spcAft>
              <a:defRPr sz="1900">
                <a:solidFill>
                  <a:srgbClr val="F2F5F8"/>
                </a:solidFill>
              </a:defRPr>
            </a:pPr>
            <a:r>
              <a:t>• If both read zero before either writes, both can store one, so the final value is one rather than two.</a:t>
            </a:r>
          </a:p>
          <a:p>
            <a:pPr>
              <a:spcAft>
                <a:spcPts val="1100"/>
              </a:spcAft>
              <a:defRPr sz="1900">
                <a:solidFill>
                  <a:srgbClr val="F2F5F8"/>
                </a:solidFill>
              </a:defRPr>
            </a:pPr>
            <a:r>
              <a:t>• The operation is not atomic merely because it appears as one source expression.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Critical-section repair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Protecting the increment with the same mutex makes the read-modify-write sequence mutually exclusive.</a:t>
            </a:r>
          </a:p>
          <a:p>
            <a:pPr>
              <a:spcAft>
                <a:spcPts val="1100"/>
              </a:spcAft>
              <a:defRPr sz="1900">
                <a:solidFill>
                  <a:srgbClr val="F2F5F8"/>
                </a:solidFill>
              </a:defRPr>
            </a:pPr>
            <a:r>
              <a:t>• Thread A locks, reads zero, stores one, unlocks; only then can thread B enter and produce two.</a:t>
            </a:r>
          </a:p>
          <a:p>
            <a:pPr>
              <a:spcAft>
                <a:spcPts val="1100"/>
              </a:spcAft>
              <a:defRPr sz="1900">
                <a:solidFill>
                  <a:srgbClr val="F2F5F8"/>
                </a:solidFill>
              </a:defRPr>
            </a:pPr>
            <a:r>
              <a:t>• The lock protects the invariant that no two threads update the counter simultaneously.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Critical-section repair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Protecting the increment with the same mutex makes the read-modify-write sequence mutually exclusive.</a:t>
            </a:r>
          </a:p>
          <a:p>
            <a:pPr>
              <a:spcAft>
                <a:spcPts val="1100"/>
              </a:spcAft>
              <a:defRPr sz="1900">
                <a:solidFill>
                  <a:srgbClr val="F2F5F8"/>
                </a:solidFill>
              </a:defRPr>
            </a:pPr>
            <a:r>
              <a:t>• Thread A locks, reads zero, stores one, unlocks; only then can thread B enter and produce two.</a:t>
            </a:r>
          </a:p>
          <a:p>
            <a:pPr>
              <a:spcAft>
                <a:spcPts val="1100"/>
              </a:spcAft>
              <a:defRPr sz="1900">
                <a:solidFill>
                  <a:srgbClr val="F2F5F8"/>
                </a:solidFill>
              </a:defRPr>
            </a:pPr>
            <a:r>
              <a:t>• The lock protects the invariant that no two threads update the counter simultaneously.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45.</a:t>
            </a:r>
          </a:p>
          <a:p>
            <a:pPr>
              <a:spcAft>
                <a:spcPts val="1100"/>
              </a:spcAft>
              <a:defRPr sz="1900">
                <a:solidFill>
                  <a:srgbClr val="F2F5F8"/>
                </a:solidFill>
              </a:defRPr>
            </a:pPr>
            <a:r>
              <a:t>• Replace the first phase’s separate load/store with fetch_add while retaining a barrier before the operation.</a:t>
            </a:r>
          </a:p>
          <a:p>
            <a:pPr>
              <a:spcAft>
                <a:spcPts val="1100"/>
              </a:spcAft>
              <a:defRPr sz="1900">
                <a:solidFill>
                  <a:srgbClr val="F2F5F8"/>
                </a:solidFill>
              </a:defRPr>
            </a:pPr>
            <a:r>
              <a:t>• Verify the final value remains 2 regardless of which participant performs its increment first.</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Can a program contain a race condition without a data race?</a:t>
            </a:r>
          </a:p>
          <a:p>
            <a:pPr>
              <a:spcAft>
                <a:spcPts val="1100"/>
              </a:spcAft>
              <a:defRPr sz="1900">
                <a:solidFill>
                  <a:srgbClr val="F2F5F8"/>
                </a:solidFill>
              </a:defRPr>
            </a:pPr>
            <a:r>
              <a:t>• Review 2.</a:t>
            </a:r>
          </a:p>
          <a:p>
            <a:pPr>
              <a:spcAft>
                <a:spcPts val="1100"/>
              </a:spcAft>
              <a:defRPr sz="1900">
                <a:solidFill>
                  <a:srgbClr val="F2F5F8"/>
                </a:solidFill>
              </a:defRPr>
            </a:pPr>
            <a:r>
              <a:t>• Why does sequential consistency not turn two separate atomic operations into one transaction?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race conditions.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Atomic Operations.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