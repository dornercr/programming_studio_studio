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61 — Putting the System Together</a:t>
            </a:r>
          </a:p>
          <a:p/>
          <a:p>
            <a:r>
              <a:t>LECTURE NARRATION</a:t>
            </a:r>
          </a:p>
          <a:p>
            <a:r>
              <a:t>A systems program is correct only when its layers agree. The parser’s length must match the memory operation’s extent. The ownership model must match thread lifetime. The compiler’s numeric assumptions must match the algorithm. The kernel-facing error handling must match the interface. Performance changes must preserve those relationships rather than optimize one layer by violating another. This final chapter develops a bounded concurrent version of the byte-summary utility. It reuses the integer queue from Chapter 49 as an ownership-transfer channel for a fixed set of buffer slots. The program is a batch-processing capstone, not a production service or an asynchronous cancellation framework.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systems program is correct only when its layers agree.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systems program is correct only when its layers agree. The parser’s length must match the memory operation’s extent. The ownership model must match thread lifetime. The compiler’s numeric assumptions must match the algorithm. The kernel-facing error handling must match the interface. Performance changes must preserve those relationships rather than optimize one layer by violating another. This final chapter develops a bounded concurrent version of the byte-summary utility. It reuses the integer queue from Chapter 49 as an ownership-transfer channel for a fixed set of buffer slots. The program is a batch-processing capstone, not a production service or an asynchronous cancellation framework.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systems program is correct only when its layers agree.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61.1 Data Representation → Machine Instructions 61.2 Machine Instructions → Processor Execution 61.3 Processor Execution → Memory Hierarchy 61.4 Virtual Memory → Process Isolation ...plus 12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61.1 Data Representation → Machine Instructions 61.2 Machine Instructions → Processor Execution 61.3 Processor Execution → Memory Hierarchy 61.4 Virtual Memory → Process Isolation ...plus 12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61.1 Data Representation → Machine Instructions</a:t>
            </a:r>
          </a:p>
          <a:p/>
          <a:p>
            <a:r>
              <a:t>LECTURE NARRATION</a:t>
            </a:r>
          </a:p>
          <a:p>
            <a:r>
              <a:t>The input is an uninterpreted sequence of bytes. Each byte contributes a value from 0 through 255 to an unsigned 64-bit sum. The count is separately checked against overflow. These representation choices make the required operations explicit and avoid accidental sign extension of char values. Unsigned modular addition is associative, so partial sums can be combined in any worker-completion order. A floating-point reduction or an order-sensitive hash would require a different argument. Choosing a simple additive checksum is what makes the parallel combination straightforward; it is not evidence of cryptographic strength.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input is an uninterpreted sequence of bytes.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61.1 Data Representation → Machine Instructions — Deep Dive</a:t>
            </a:r>
          </a:p>
          <a:p/>
          <a:p>
            <a:r>
              <a:t>LECTURE NARRATION</a:t>
            </a:r>
          </a:p>
          <a:p>
            <a:r>
              <a:t>The input is an uninterpreted sequence of bytes. Each byte contributes a value from 0 through 255 to an unsigned 64-bit sum. The count is separately checked against overflow. These representation choices make the required operations explicit and avoid accidental sign extension of char values. Unsigned modular addition is associative, so partial sums can be combined in any worker-completion order. A floating-point reduction or an order-sensitive hash would require a different argument. Choosing a simple additive checksum is what makes the parallel combination straightforward; it is not evidence of cryptographic strength.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input is an uninterpreted sequence of bytes.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61.2 Machine Instructions → Processor Execution</a:t>
            </a:r>
          </a:p>
          <a:p/>
          <a:p>
            <a:r>
              <a:t>LECTURE NARRATION</a:t>
            </a:r>
          </a:p>
          <a:p>
            <a:r>
              <a:t>Each worker repeatedly loads valid bytes and updates a private accumulator. The compiler can choose scalar or vector instructions consistent with the source semantics. Independent workers can execute on different cores when scheduling and hardware permit. The program does not assume simultaneous execution. It remains correct if one core interleaves every worker. Parallel hardware affects possible performance, while the ownership and synchronization rules establish correctness across all permitted schedules.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each worker repeatedly loads valid bytes and updates a private accumulator.</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61.2 Machine Instructions → Processor Execution — Deep Dive</a:t>
            </a:r>
          </a:p>
          <a:p/>
          <a:p>
            <a:r>
              <a:t>LECTURE NARRATION</a:t>
            </a:r>
          </a:p>
          <a:p>
            <a:r>
              <a:t>Each worker repeatedly loads valid bytes and updates a private accumulator. The compiler can choose scalar or vector instructions consistent with the source semantics. Independent workers can execute on different cores when scheduling and hardware permit. The program does not assume simultaneous execution. It remains correct if one core interleaves every worker. Parallel hardware affects possible performance, while the ownership and synchronization rules establish correctness across all permitted schedules.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each worker repeatedly loads valid bytes and updates a private accumulator.</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61.3 Processor Execution → Memory Hierarchy</a:t>
            </a:r>
          </a:p>
          <a:p/>
          <a:p>
            <a:r>
              <a:t>LECTURE NARRATION</a:t>
            </a:r>
          </a:p>
          <a:p>
            <a:r>
              <a:t>Fixed-size sequential buffers provide spatial locality. Reusing eight slots bounds the payload working set to 32 KiB of byte storage, excluding metadata, stacks, queues, and other runtime state. This is a concrete budget, not a claim that the entire program fits in one cache. Worker-private results reduce shared updates. Adjacent result objects can still share a cache line, so a performance extension might investigate padding or batching result publication. Such changes should follow measurement and preserve the same ownership rules.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fixed-size sequential buffers provide spatial locality.</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61.3 Processor Execution → Memory Hierarchy — Deep Dive</a:t>
            </a:r>
          </a:p>
          <a:p/>
          <a:p>
            <a:r>
              <a:t>LECTURE NARRATION</a:t>
            </a:r>
          </a:p>
          <a:p>
            <a:r>
              <a:t>Fixed-size sequential buffers provide spatial locality. Reusing eight slots bounds the payload working set to 32 KiB of byte storage, excluding metadata, stacks, queues, and other runtime state. This is a concrete budget, not a claim that the entire program fits in one cache. Worker-private results reduce shared updates. Adjacent result objects can still share a cache line, so a performance extension might investigate padding or batching result publication. Such changes should follow measurement and preserve the same ownership rules.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fixed-size sequential buffers provide spatial locality.</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61.4 Virtual Memory → Process Isolation</a:t>
            </a:r>
          </a:p>
          <a:p/>
          <a:p>
            <a:r>
              <a:t>LECTURE NARRATION</a:t>
            </a:r>
          </a:p>
          <a:p>
            <a:r>
              <a:t>All threads run inside one process and share its virtual address space. Page permissions protect the process from unrelated private mappings, but they do not prevent one worker from accidentally indexing another slot incorrectly. The queue carries validated slot indexes, and the program creates those indexes internally from a fixed bounded range. No untrusted input becomes a pointer or slot identifier. This shows how process isolation and object-level validation work together rather than substitute for one another.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61.4 Virtual Memory → Process Isolation — Deep Dive</a:t>
            </a:r>
          </a:p>
          <a:p/>
          <a:p>
            <a:r>
              <a:t>LECTURE NARRATION</a:t>
            </a:r>
          </a:p>
          <a:p>
            <a:r>
              <a:t>All threads run inside one process and share its virtual address space. Page permissions protect the process from unrelated private mappings, but they do not prevent one worker from accidentally indexing another slot incorrectly. The queue carries validated slot indexes, and the program creates those indexes internally from a fixed bounded range. No untrusted input becomes a pointer or slot identifier. This shows how process isolation and object-level validation work together rather than substitute for one another.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61.5 Processes → Files and I/O</a:t>
            </a:r>
          </a:p>
          <a:p/>
          <a:p>
            <a:r>
              <a:t>LECTURE NARRATION</a:t>
            </a:r>
          </a:p>
          <a:p>
            <a:r>
              <a:t>The producer reads from standard input using the descriptor interface. It checks the returned extent and publishes only the bytes actually obtained. Input can come from a file or finite pipeline without changing the processing logic. The example uses blocking input. Queue closure cannot forcibly interrupt a producer already blocked in an external read. A production application needing responsive asynchronous cancellation would integrate readiness waiting and a cancellation event or use another explicitly cancellable I/O design. This limitation is part of the capstone’s stated scope.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61.5 Processes → Files and I/O — Deep Dive</a:t>
            </a:r>
          </a:p>
          <a:p/>
          <a:p>
            <a:r>
              <a:t>LECTURE NARRATION</a:t>
            </a:r>
          </a:p>
          <a:p>
            <a:r>
              <a:t>The producer reads from standard input using the descriptor interface. It checks the returned extent and publishes only the bytes actually obtained. Input can come from a file or finite pipeline without changing the processing logic. The example uses blocking input. Queue closure cannot forcibly interrupt a producer already blocked in an external read. A production application needing responsive asynchronous cancellation would integrate readiness waiting and a cancellation event or use another explicitly cancellable I/O design. This limitation is part of the capstone’s stated scope.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61.6 Processes → Interprocess Communication</a:t>
            </a:r>
          </a:p>
          <a:p/>
          <a:p>
            <a:r>
              <a:t>LECTURE NARRATION</a:t>
            </a:r>
          </a:p>
          <a:p>
            <a:r>
              <a:t>A shell pipeline can feed data into the capstone through a pipe, creating communication between processes. Inside the capstone, queues coordinate threads through shared memory. These are different mechanisms with different ownership and failure boundaries. The external producer must eventually close its pipe write references for the capstone to observe EOF. An accidentally retained writer can make a correct internal worker system wait indefinitely for input completion. End-to-end diagnosis must include the upstream process graph.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shell pipeline can feed data into the capstone through a pipe, creating communication between processes.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61.6 Processes → Interprocess Communication — Deep Dive</a:t>
            </a:r>
          </a:p>
          <a:p/>
          <a:p>
            <a:r>
              <a:t>LECTURE NARRATION</a:t>
            </a:r>
          </a:p>
          <a:p>
            <a:r>
              <a:t>A shell pipeline can feed data into the capstone through a pipe, creating communication between processes. Inside the capstone, queues coordinate threads through shared memory. These are different mechanisms with different ownership and failure boundaries. The external producer must eventually close its pipe write references for the capstone to observe EOF. An accidentally retained writer can make a correct internal worker system wait indefinitely for input completion. End-to-end diagnosis must include the upstream process graph.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shell pipeline can feed data into the capstone through a pipe, creating communication between processes.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61.7 Threads → Shared Memory</a:t>
            </a:r>
          </a:p>
          <a:p/>
          <a:p>
            <a:r>
              <a:t>LECTURE NARRATION</a:t>
            </a:r>
          </a:p>
          <a:p>
            <a:r>
              <a:t>The fixed slot array is shared, but access ownership changes over time. A slot is either free, owned by the producer, queued as ready, or owned by one worker. It must never occupy two of those states simultaneously. The producer does not overwrite a slot until a worker returns its index to the free queue. The worker does not read a slot before obtaining its index from the ready queue. This protocol eliminates simultaneous producer writes and worker reads of the same slot.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61.7 Threads → Shared Memory — Deep Dive</a:t>
            </a:r>
          </a:p>
          <a:p/>
          <a:p>
            <a:r>
              <a:t>LECTURE NARRATION</a:t>
            </a:r>
          </a:p>
          <a:p>
            <a:r>
              <a:t>The fixed slot array is shared, but access ownership changes over time. A slot is either free, owned by the producer, queued as ready, or owned by one worker. It must never occupy two of those states simultaneously. The producer does not overwrite a slot until a worker returns its index to the free queue. The worker does not read a slot before obtaining its index from the ready queue. This protocol eliminates simultaneous producer writes and worker reads of the same slot.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61.8 Shared Memory → Synchronization</a:t>
            </a:r>
          </a:p>
          <a:p/>
          <a:p>
            <a:r>
              <a:t>LECTURE NARRATION</a:t>
            </a:r>
          </a:p>
          <a:p>
            <a:r>
              <a:t>Queue push and pop operations use mutexes and condition variables. The producer’s byte writes occur before publication into the ready queue; the worker’s successful dequeue establishes the visibility needed before reading those bytes. The reverse handoff through the free queue ensures that the producer reuses a slot only after the previous worker has finished with it. No extra atomic flag is needed per slot because the queue handoff supplies the ordering and exclusive ownership relationship.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queue push and pop operations use mutexes and condition variables.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61.8 Shared Memory → Synchronization — Deep Dive</a:t>
            </a:r>
          </a:p>
          <a:p/>
          <a:p>
            <a:r>
              <a:t>LECTURE NARRATION</a:t>
            </a:r>
          </a:p>
          <a:p>
            <a:r>
              <a:t>Queue push and pop operations use mutexes and condition variables. The producer’s byte writes occur before publication into the ready queue; the worker’s successful dequeue establishes the visibility needed before reading those bytes. The reverse handoff through the free queue ensures that the producer reuses a slot only after the previous worker has finished with it. No extra atomic flag is needed per slot because the queue handoff supplies the ordering and exclusive ownership relationship.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queue push and pop operations use mutexes and condition variables.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61.9 Synchronization → Correct Concurrent Programs</a:t>
            </a:r>
          </a:p>
          <a:p/>
          <a:p>
            <a:r>
              <a:t>LECTURE NARRATION</a:t>
            </a:r>
          </a:p>
          <a:p>
            <a:r>
              <a:t>Correct synchronization includes completion and failure. Normal EOF closes the ready queue, allowing workers to drain and finish. Failure records an exception and closes both queues so queue waiters can stop. Every created thread is joined before the slots and queue objects are destroyed. The failure flag is only a stop hint; protected exception storage and joins govern access to the actual failure object. A relaxed atomic is sufficient for that hint because it does not publish the slot data or exception contents. Those use separate synchronization relationships.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61.9 Synchronization → Correct Concurrent Programs — Deep Dive</a:t>
            </a:r>
          </a:p>
          <a:p/>
          <a:p>
            <a:r>
              <a:t>LECTURE NARRATION</a:t>
            </a:r>
          </a:p>
          <a:p>
            <a:r>
              <a:t>Correct synchronization includes completion and failure. Normal EOF closes the ready queue, allowing workers to drain and finish. Failure records an exception and closes both queues so queue waiters can stop. Every created thread is joined before the slots and queue objects are destroyed. The failure flag is only a stop hint; protected exception storage and joins govern access to the actual failure object. A relaxed atomic is sufficient for that hint because it does not publish the slot data or exception contents. Those use separate synchronization relationships.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61.10 Architecture → Performance</a:t>
            </a:r>
          </a:p>
          <a:p/>
          <a:p>
            <a:r>
              <a:t>LECTURE NARRATION</a:t>
            </a:r>
          </a:p>
          <a:p>
            <a:r>
              <a:t>The architecture separates one input producer from several compute workers. It can overlap input handling and checksum work, but the checksum is so lightweight that queue and thread overhead may exceed any benefit. A correct concurrent design is not automatically a faster design. Compare against Chapter 60 on representative files and finite streams. Measure end-to-end time, CPU time, and scaling. Varying slot size, slot count, and worker count changes locality, buffering, and synchronization costs; change one parameter at a time and retain the sequential reference result.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61.10 Architecture → Performance — Deep Dive</a:t>
            </a:r>
          </a:p>
          <a:p/>
          <a:p>
            <a:r>
              <a:t>LECTURE NARRATION</a:t>
            </a:r>
          </a:p>
          <a:p>
            <a:r>
              <a:t>The architecture separates one input producer from several compute workers. It can overlap input handling and checksum work, but the checksum is so lightweight that queue and thread overhead may exceed any benefit. A correct concurrent design is not automatically a faster design. Compare against Chapter 60 on representative files and finite streams. Measure end-to-end time, CPU time, and scaling. Varying slot size, slot count, and worker count changes locality, buffering, and synchronization costs; change one parameter at a time and retain the sequential reference result.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61.11 Operating System → Resource Management</a:t>
            </a:r>
          </a:p>
          <a:p/>
          <a:p>
            <a:r>
              <a:t>LECTURE NARRATION</a:t>
            </a:r>
          </a:p>
          <a:p>
            <a:r>
              <a:t>The operating system supplies threads, virtual memory, descriptors, scheduling, and I/O. The application adds its own budgets: four workers, eight buffers, and bounded queue capacity. These limits make resource demand explicit rather than allowing input size to determine allocation growth. Operating-system allocation or thread-creation failure can still occur. The setup path tracks already-created threads and closes queues before joining them on failure. Resource limits reduce risk but do not eliminate the need to handle unavailable resources.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operating system supplies threads, virtual memory, descriptors, scheduling, and I/O.</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61.11 Operating System → Resource Management — Deep Dive</a:t>
            </a:r>
          </a:p>
          <a:p/>
          <a:p>
            <a:r>
              <a:t>LECTURE NARRATION</a:t>
            </a:r>
          </a:p>
          <a:p>
            <a:r>
              <a:t>The operating system supplies threads, virtual memory, descriptors, scheduling, and I/O. The application adds its own budgets: four workers, eight buffers, and bounded queue capacity. These limits make resource demand explicit rather than allowing input size to determine allocation growth. Operating-system allocation or thread-creation failure can still occur. The setup path tracks already-created threads and closes queues before joining them on failure. Resource limits reduce risk but do not eliminate the need to handle unavailable resources.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operating system supplies threads, virtual memory, descriptors, scheduling, and I/O.</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61.12 Correctness + Performance + Security + Robustness</a:t>
            </a:r>
          </a:p>
          <a:p/>
          <a:p>
            <a:r>
              <a:t>LECTURE NARRATION</a:t>
            </a:r>
          </a:p>
          <a:p>
            <a:r>
              <a:t>The capstone combines four requirements. Correctness preserves byte counts, modular sums, and exactly-once ownership transfer. Performance is measured against a sequential baseline. Security keeps untrusted bytes separate from lengths, indexes, and authority. Robustness handles partial reads, setup failures, and cleanup within the stated batch-processing scope. These requirements constrain one another. Removing bounds checks can make a microbenchmark faster while violating the input contract. Unbounded buffering can increase short-term throughput while exhausting memory. A sound systems design treats the requirements as one specification rather than four optional features added in sequence.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61.12 Correctness + Performance + Security + Robustness — Deep Dive</a:t>
            </a:r>
          </a:p>
          <a:p/>
          <a:p>
            <a:r>
              <a:t>LECTURE NARRATION</a:t>
            </a:r>
          </a:p>
          <a:p>
            <a:r>
              <a:t>The capstone combines four requirements. Correctness preserves byte counts, modular sums, and exactly-once ownership transfer. Performance is measured against a sequential baseline. Security keeps untrusted bytes separate from lengths, indexes, and authority. Robustness handles partial reads, setup failures, and cleanup within the stated batch-processing scope. These requirements constrain one another. Removing bounds checks can make a microbenchmark faster while violating the input contract. Unbounded buffering can increase short-term throughput while exhausting memory. A sound systems design treats the requirements as one specification rather than four optional features added in sequence.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First make the program correct, then measure where time is really being spent before trying to make it faster.</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Worked example — A bounded concurrent byte-summary pipeline</a:t>
            </a:r>
          </a:p>
          <a:p/>
          <a:p>
            <a:r>
              <a:t>LECTURE NARRATION</a:t>
            </a:r>
          </a:p>
          <a:p>
            <a:r>
              <a:t>The capstone imports the Chapter 49 queue rather than duplicating its synchronization implementation. Eight slot indexes circulate through a free queue and a ready queue. Each worker owns one private result element, combined only after joining. Companion listing: ch61/pipeline.cpp For ABC\n , the result is bytes=4 sum=208 workers=4 . For 100,000 generated bytes where byte i is i mod 256 , the result is bytes=100000 sum=12742320 workers=4 . The worker assignments can differ between runs while these totals remain fixed. The ownership invariant also explains why returning a slot to the free queue cannot block forever during normal completion. There are exactly eight slot identities. A worker holding one identity implies that at most seven others can already be in the free queue. The return therefore has room, assuming no identity was duplicated or lost. This is a progress proof derived from the resource model, not a timing assumption. On failure, no successful summary is printed. Some work may already have been processed, but the operation reports failure instead of presenting a partial aggregate as complete. The program does not implement a resumable checkpoint, input authentication, cryptographic hashing, or cancellation of a currently blocked external read. Those would be separate extensions with new contracts and tests.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Worked example — A bounded concurrent byte-summary pipeline — Deep Dive</a:t>
            </a:r>
          </a:p>
          <a:p/>
          <a:p>
            <a:r>
              <a:t>LECTURE NARRATION</a:t>
            </a:r>
          </a:p>
          <a:p>
            <a:r>
              <a:t>The capstone imports the Chapter 49 queue rather than duplicating its synchronization implementation. Eight slot indexes circulate through a free queue and a ready queue. Each worker owns one private result element, combined only after joining. Companion listing: ch61/pipeline.cpp For ABC\n , the result is bytes=4 sum=208 workers=4 . For 100,000 generated bytes where byte i is i mod 256 , the result is bytes=100000 sum=12742320 workers=4 . The worker assignments can differ between runs while these totals remain fixed. The ownership invariant also explains why returning a slot to the free queue cannot block forever during normal completion. There are exactly eight slot identities. A worker holding one identity implies that at most seven others can already be in the free queue. The return therefore has room, assuming no identity was duplicated or lost. This is a progress proof derived from the resource model, not a timing assumption. On failure, no successful summary is printed. Some work may already have been processed, but the operation reports failure instead of presenting a partial aggregate as complete. The program does not implement a resumable checkpoint, input authentication, cryptographic hashing, or cancellation of a currently blocked external read. Those would be separate extensions with new contracts and tests.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Worked example — End-to-end array sum</a:t>
            </a:r>
          </a:p>
          <a:p/>
          <a:p>
            <a:r>
              <a:t>LECTURE NARRATION</a:t>
            </a:r>
          </a:p>
          <a:p>
            <a:r>
              <a:t>A C++ loop sums an integer array. Integer representation defines each element’s bits; compiler translation produces load/add/control instructions; virtual memory translates addresses; caches exploit sequential locality; the scheduler gives the thread CPU time; and the OS originally supplied the process’s mappings. Correct bounds and integer rules establish validity, while cache behavior and compilation determine performance.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 loop sums an integer array.</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Worked example — End-to-end array sum — Deep Dive</a:t>
            </a:r>
          </a:p>
          <a:p/>
          <a:p>
            <a:r>
              <a:t>LECTURE NARRATION</a:t>
            </a:r>
          </a:p>
          <a:p>
            <a:r>
              <a:t>A C++ loop sums an integer array. Integer representation defines each element’s bits; compiler translation produces load/add/control instructions; virtual memory translates addresses; caches exploit sequential locality; the scheduler gives the thread CPU time; and the OS originally supplied the process’s mappings. Correct bounds and integer rules establish validity, while cache behavior and compilation determine performance.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 loop sums an integer array.</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Worked example — End-to-end concurrent server request</a:t>
            </a:r>
          </a:p>
          <a:p/>
          <a:p>
            <a:r>
              <a:t>LECTURE NARRATION</a:t>
            </a:r>
          </a:p>
          <a:p>
            <a:r>
              <a:t>A TCP packet ultimately contributes bytes to a socket buffer; the kernel wakes or marks readiness for the server; an event loop or worker reads framed application data; shared state is protected by synchronization; memory accesses pass through virtual memory and caches; and output returns through system calls and networking. Correctness depends on framing, ownership, synchronization, error handling, and resource limits simultaneously.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Worked example — End-to-end concurrent server request — Deep Dive</a:t>
            </a:r>
          </a:p>
          <a:p/>
          <a:p>
            <a:r>
              <a:t>LECTURE NARRATION</a:t>
            </a:r>
          </a:p>
          <a:p>
            <a:r>
              <a:t>A TCP packet ultimately contributes bytes to a socket buffer; the kernel wakes or marks readiness for the server; an event loop or worker reads framed application data; shared state is protected by synchronization; memory accesses pass through virtual memory and caches; and output returns through system calls and networking. Correctness depends on framing, ownership, synchronization, error handling, and resource limits simultaneously.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Guided lab and review</a:t>
            </a:r>
          </a:p>
          <a:p/>
          <a:p>
            <a:r>
              <a:t>LECTURE NARRATION</a:t>
            </a:r>
          </a:p>
          <a:p>
            <a:r>
              <a:t>Lab 61. Compare sequential and concurrent results on empty input, one byte, exactly 4096 bytes, 4097 bytes, 100,000 bytes, and a larger finite binary fixture. Test a closed standard-input descriptor as an error path. Then measure both implementations without claiming that parallelism must win. Extend the design in stages: make worker count a bounded validated argument; add per-worker item counts; add a whole-job cancellation policy using nonblocking input and an explicit wakeup source; and replace the additive checksum only after defining an order-correct parallel combination rule for the new algorithm. Review 1. Which queue handoff publishes filled buffer bytes, and which handoff permits reuse? Review 2. Why is the failure flag allowed to use relaxed ordering here while the Chapter 46 publication flag needed release/acquire? Review 3. What additional proof would an order-sensitive hash require?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61.</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Guided lab and review — Deep Dive</a:t>
            </a:r>
          </a:p>
          <a:p/>
          <a:p>
            <a:r>
              <a:t>LECTURE NARRATION</a:t>
            </a:r>
          </a:p>
          <a:p>
            <a:r>
              <a:t>Lab 61. Compare sequential and concurrent results on empty input, one byte, exactly 4096 bytes, 4097 bytes, 100,000 bytes, and a larger finite binary fixture. Test a closed standard-input descriptor as an error path. Then measure both implementations without claiming that parallelism must win. Extend the design in stages: make worker count a bounded validated argument; add per-worker item counts; add a whole-job cancellation policy using nonblocking input and an explicit wakeup source; and replace the additive checksum only after defining an order-correct parallel combination rule for the new algorithm. Review 1. Which queue handoff publishes filled buffer bytes, and which handoff permits reuse? Review 2. Why is the failure flag allowed to use relaxed ordering here while the Chapter 46 publication flag needed release/acquire? Review 3. What additional proof would an order-sensitive hash require?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61.</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Chapter Synthesis</a:t>
            </a:r>
          </a:p>
          <a:p/>
          <a:p>
            <a:r>
              <a:t>LECTURE NARRATION</a:t>
            </a:r>
          </a:p>
          <a:p>
            <a:r>
              <a:t>The chapter's central subject is putting the system together.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putting the system together.</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Integrated course review.</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61 — Putting the System Together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systems program is correct only when its layers agree.</a:t>
            </a:r>
          </a:p>
          <a:p>
            <a:pPr>
              <a:spcAft>
                <a:spcPts val="1100"/>
              </a:spcAft>
              <a:defRPr sz="1900">
                <a:solidFill>
                  <a:srgbClr val="F2F5F8"/>
                </a:solidFill>
              </a:defRPr>
            </a:pPr>
            <a:r>
              <a:t>• The parser’s length must match the memory operation’s extent.</a:t>
            </a:r>
          </a:p>
          <a:p>
            <a:pPr>
              <a:spcAft>
                <a:spcPts val="1100"/>
              </a:spcAft>
              <a:defRPr sz="1900">
                <a:solidFill>
                  <a:srgbClr val="F2F5F8"/>
                </a:solidFill>
              </a:defRPr>
            </a:pPr>
            <a:r>
              <a:t>• The ownership model must match thread lifetime.</a:t>
            </a:r>
          </a:p>
          <a:p>
            <a:pPr>
              <a:spcAft>
                <a:spcPts val="1100"/>
              </a:spcAft>
              <a:defRPr sz="1900">
                <a:solidFill>
                  <a:srgbClr val="F2F5F8"/>
                </a:solidFill>
              </a:defRPr>
            </a:pPr>
            <a:r>
              <a:t>• The compiler’s numeric assumptions must match the algorithm.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Putting the System Together.</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61.1 Data Representation → Machine Instructions</a:t>
            </a:r>
          </a:p>
          <a:p>
            <a:pPr>
              <a:spcAft>
                <a:spcPts val="1100"/>
              </a:spcAft>
              <a:defRPr sz="1900">
                <a:solidFill>
                  <a:srgbClr val="F2F5F8"/>
                </a:solidFill>
              </a:defRPr>
            </a:pPr>
            <a:r>
              <a:t>• 61.2 Machine Instructions → Processor Execution</a:t>
            </a:r>
          </a:p>
          <a:p>
            <a:pPr>
              <a:spcAft>
                <a:spcPts val="1100"/>
              </a:spcAft>
              <a:defRPr sz="1900">
                <a:solidFill>
                  <a:srgbClr val="F2F5F8"/>
                </a:solidFill>
              </a:defRPr>
            </a:pPr>
            <a:r>
              <a:t>• 61.3 Processor Execution → Memory Hierarchy</a:t>
            </a:r>
          </a:p>
          <a:p>
            <a:pPr>
              <a:spcAft>
                <a:spcPts val="1100"/>
              </a:spcAft>
              <a:defRPr sz="1900">
                <a:solidFill>
                  <a:srgbClr val="F2F5F8"/>
                </a:solidFill>
              </a:defRPr>
            </a:pPr>
            <a:r>
              <a:t>• 61.4 Virtual Memory → Process Isolation</a:t>
            </a:r>
          </a:p>
          <a:p>
            <a:pPr>
              <a:spcAft>
                <a:spcPts val="1100"/>
              </a:spcAft>
              <a:defRPr sz="1900">
                <a:solidFill>
                  <a:srgbClr val="F2F5F8"/>
                </a:solidFill>
              </a:defRPr>
            </a:pPr>
            <a:r>
              <a:t>• ...plus 12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61.1 Data Representation → Machine Instructions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input is an uninterpreted sequence of bytes.</a:t>
            </a:r>
          </a:p>
          <a:p>
            <a:pPr>
              <a:spcAft>
                <a:spcPts val="1100"/>
              </a:spcAft>
              <a:defRPr sz="1900">
                <a:solidFill>
                  <a:srgbClr val="F2F5F8"/>
                </a:solidFill>
              </a:defRPr>
            </a:pPr>
            <a:r>
              <a:t>• Each byte contributes a value from 0 through 255 to an unsigned 64-bit sum.</a:t>
            </a:r>
          </a:p>
          <a:p>
            <a:pPr>
              <a:spcAft>
                <a:spcPts val="1100"/>
              </a:spcAft>
              <a:defRPr sz="1900">
                <a:solidFill>
                  <a:srgbClr val="F2F5F8"/>
                </a:solidFill>
              </a:defRPr>
            </a:pPr>
            <a:r>
              <a:t>• The count is separately checked against overflow.</a:t>
            </a:r>
          </a:p>
          <a:p>
            <a:pPr>
              <a:spcAft>
                <a:spcPts val="1100"/>
              </a:spcAft>
              <a:defRPr sz="1900">
                <a:solidFill>
                  <a:srgbClr val="F2F5F8"/>
                </a:solidFill>
              </a:defRPr>
            </a:pPr>
            <a:r>
              <a:t>• These representation choices make the required operations explicit and avoid accidental sign extension of char values.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61.1 Data Representation → Machine Instructions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Unsigned modular addition is associative, so partial sums can be combined in any worker-completion order.</a:t>
            </a:r>
          </a:p>
          <a:p>
            <a:pPr>
              <a:spcAft>
                <a:spcPts val="1100"/>
              </a:spcAft>
              <a:defRPr sz="1900">
                <a:solidFill>
                  <a:srgbClr val="F2F5F8"/>
                </a:solidFill>
              </a:defRPr>
            </a:pPr>
            <a:r>
              <a:t>• A floating-point reduction or an order-sensitive hash would require a different argument.</a:t>
            </a:r>
          </a:p>
          <a:p>
            <a:pPr>
              <a:spcAft>
                <a:spcPts val="1100"/>
              </a:spcAft>
              <a:defRPr sz="1700">
                <a:solidFill>
                  <a:srgbClr val="F2F5F8"/>
                </a:solidFill>
              </a:defRPr>
            </a:pPr>
            <a:r>
              <a:t>• Choosing a simple additive checksum is what makes the parallel combination straightforward; it is not evidence of cryptographic strength.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61.2 Machine Instructions → Processor Execution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Each worker repeatedly loads valid bytes and updates a private accumulator.</a:t>
            </a:r>
          </a:p>
          <a:p>
            <a:pPr>
              <a:spcAft>
                <a:spcPts val="1100"/>
              </a:spcAft>
              <a:defRPr sz="1900">
                <a:solidFill>
                  <a:srgbClr val="F2F5F8"/>
                </a:solidFill>
              </a:defRPr>
            </a:pPr>
            <a:r>
              <a:t>• The compiler can choose scalar or vector instructions consistent with the source semantics.</a:t>
            </a:r>
          </a:p>
          <a:p>
            <a:pPr>
              <a:spcAft>
                <a:spcPts val="1100"/>
              </a:spcAft>
              <a:defRPr sz="1900">
                <a:solidFill>
                  <a:srgbClr val="F2F5F8"/>
                </a:solidFill>
              </a:defRPr>
            </a:pPr>
            <a:r>
              <a:t>• Independent workers can execute on different cores when scheduling and hardware permit.</a:t>
            </a:r>
          </a:p>
          <a:p>
            <a:pPr>
              <a:spcAft>
                <a:spcPts val="1100"/>
              </a:spcAft>
              <a:defRPr sz="1900">
                <a:solidFill>
                  <a:srgbClr val="F2F5F8"/>
                </a:solidFill>
              </a:defRPr>
            </a:pPr>
            <a:r>
              <a:t>• The program does not assume simultaneous execution.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61.2 Machine Instructions → Processor Execution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program does not assume simultaneous execution.</a:t>
            </a:r>
          </a:p>
          <a:p>
            <a:pPr>
              <a:spcAft>
                <a:spcPts val="1100"/>
              </a:spcAft>
              <a:defRPr sz="1900">
                <a:solidFill>
                  <a:srgbClr val="F2F5F8"/>
                </a:solidFill>
              </a:defRPr>
            </a:pPr>
            <a:r>
              <a:t>• It remains correct if one core interleaves every worker.</a:t>
            </a:r>
          </a:p>
          <a:p>
            <a:pPr>
              <a:spcAft>
                <a:spcPts val="1100"/>
              </a:spcAft>
              <a:defRPr sz="1700">
                <a:solidFill>
                  <a:srgbClr val="F2F5F8"/>
                </a:solidFill>
              </a:defRPr>
            </a:pPr>
            <a:r>
              <a:t>• Parallel hardware affects possible performance, while the ownership and synchronization rules establish correctness across all permitted schedules.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61.3 Processor Execution → Memory Hierarchy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Fixed-size sequential buffers provide spatial locality.</a:t>
            </a:r>
          </a:p>
          <a:p>
            <a:pPr>
              <a:spcAft>
                <a:spcPts val="1100"/>
              </a:spcAft>
              <a:defRPr sz="1700">
                <a:solidFill>
                  <a:srgbClr val="F2F5F8"/>
                </a:solidFill>
              </a:defRPr>
            </a:pPr>
            <a:r>
              <a:t>• Reusing eight slots bounds the payload working set to 32 KiB of byte storage, excluding metadata, stacks, queues, and other runtime state.</a:t>
            </a:r>
          </a:p>
          <a:p>
            <a:pPr>
              <a:spcAft>
                <a:spcPts val="1100"/>
              </a:spcAft>
              <a:defRPr sz="1900">
                <a:solidFill>
                  <a:srgbClr val="F2F5F8"/>
                </a:solidFill>
              </a:defRPr>
            </a:pPr>
            <a:r>
              <a:t>• This is a concrete budget, not a claim that the entire program fits in one cache.</a:t>
            </a:r>
          </a:p>
          <a:p>
            <a:pPr>
              <a:spcAft>
                <a:spcPts val="1100"/>
              </a:spcAft>
              <a:defRPr sz="1900">
                <a:solidFill>
                  <a:srgbClr val="F2F5F8"/>
                </a:solidFill>
              </a:defRPr>
            </a:pPr>
            <a:r>
              <a:t>• Worker-private results reduce shared updates.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61.3 Processor Execution → Memory Hierarchy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Worker-private results reduce shared updates.</a:t>
            </a:r>
          </a:p>
          <a:p>
            <a:pPr>
              <a:spcAft>
                <a:spcPts val="1100"/>
              </a:spcAft>
              <a:defRPr sz="1700">
                <a:solidFill>
                  <a:srgbClr val="F2F5F8"/>
                </a:solidFill>
              </a:defRPr>
            </a:pPr>
            <a:r>
              <a:t>• Adjacent result objects can still share a cache line, so a performance extension might investigate padding or batching result publication.</a:t>
            </a:r>
          </a:p>
          <a:p>
            <a:pPr>
              <a:spcAft>
                <a:spcPts val="1100"/>
              </a:spcAft>
              <a:defRPr sz="1900">
                <a:solidFill>
                  <a:srgbClr val="F2F5F8"/>
                </a:solidFill>
              </a:defRPr>
            </a:pPr>
            <a:r>
              <a:t>• Such changes should follow measurement and preserve the same ownership rules.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61.4 Virtual Memory → Process Isolation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All threads run inside one process and share its virtual address space.</a:t>
            </a:r>
          </a:p>
          <a:p>
            <a:pPr>
              <a:spcAft>
                <a:spcPts val="1100"/>
              </a:spcAft>
              <a:defRPr sz="1700">
                <a:solidFill>
                  <a:srgbClr val="F2F5F8"/>
                </a:solidFill>
              </a:defRPr>
            </a:pPr>
            <a:r>
              <a:t>• Page permissions protect the process from unrelated private mappings, but they do not prevent one worker from accidentally indexing another slot incorrectly.</a:t>
            </a:r>
          </a:p>
          <a:p>
            <a:pPr>
              <a:spcAft>
                <a:spcPts val="1100"/>
              </a:spcAft>
              <a:defRPr sz="1900">
                <a:solidFill>
                  <a:srgbClr val="F2F5F8"/>
                </a:solidFill>
              </a:defRPr>
            </a:pPr>
            <a:r>
              <a:t>• The queue carries validated slot indexes, and the program creates those indexes internally from a fixed bounded range.</a:t>
            </a:r>
          </a:p>
          <a:p>
            <a:pPr>
              <a:spcAft>
                <a:spcPts val="1100"/>
              </a:spcAft>
              <a:defRPr sz="1900">
                <a:solidFill>
                  <a:srgbClr val="F2F5F8"/>
                </a:solidFill>
              </a:defRPr>
            </a:pPr>
            <a:r>
              <a:t>• No untrusted input becomes a pointer or slot identifier.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61.4 Virtual Memory → Process Isolation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queue carries validated slot indexes, and the program creates those indexes internally from a fixed bounded range.</a:t>
            </a:r>
          </a:p>
          <a:p>
            <a:pPr>
              <a:spcAft>
                <a:spcPts val="1100"/>
              </a:spcAft>
              <a:defRPr sz="1900">
                <a:solidFill>
                  <a:srgbClr val="F2F5F8"/>
                </a:solidFill>
              </a:defRPr>
            </a:pPr>
            <a:r>
              <a:t>• No untrusted input becomes a pointer or slot identifier.</a:t>
            </a:r>
          </a:p>
          <a:p>
            <a:pPr>
              <a:spcAft>
                <a:spcPts val="1100"/>
              </a:spcAft>
              <a:defRPr sz="1900">
                <a:solidFill>
                  <a:srgbClr val="F2F5F8"/>
                </a:solidFill>
              </a:defRPr>
            </a:pPr>
            <a:r>
              <a:t>• This shows how process isolation and object-level validation work together rather than substitute for one another.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61.5 Processes → Files and I/O</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producer reads from standard input using the descriptor interface.</a:t>
            </a:r>
          </a:p>
          <a:p>
            <a:pPr>
              <a:spcAft>
                <a:spcPts val="1100"/>
              </a:spcAft>
              <a:defRPr sz="1900">
                <a:solidFill>
                  <a:srgbClr val="F2F5F8"/>
                </a:solidFill>
              </a:defRPr>
            </a:pPr>
            <a:r>
              <a:t>• It checks the returned extent and publishes only the bytes actually obtained.</a:t>
            </a:r>
          </a:p>
          <a:p>
            <a:pPr>
              <a:spcAft>
                <a:spcPts val="1100"/>
              </a:spcAft>
              <a:defRPr sz="1900">
                <a:solidFill>
                  <a:srgbClr val="F2F5F8"/>
                </a:solidFill>
              </a:defRPr>
            </a:pPr>
            <a:r>
              <a:t>• Input can come from a file or finite pipeline without changing the processing logic.</a:t>
            </a:r>
          </a:p>
          <a:p>
            <a:pPr>
              <a:spcAft>
                <a:spcPts val="1100"/>
              </a:spcAft>
              <a:defRPr sz="1900">
                <a:solidFill>
                  <a:srgbClr val="F2F5F8"/>
                </a:solidFill>
              </a:defRPr>
            </a:pPr>
            <a:r>
              <a:t>• The example uses blocking input.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61.5 Processes → Files and I/O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example uses blocking input.</a:t>
            </a:r>
          </a:p>
          <a:p>
            <a:pPr>
              <a:spcAft>
                <a:spcPts val="1100"/>
              </a:spcAft>
              <a:defRPr sz="1900">
                <a:solidFill>
                  <a:srgbClr val="F2F5F8"/>
                </a:solidFill>
              </a:defRPr>
            </a:pPr>
            <a:r>
              <a:t>• Queue closure cannot forcibly interrupt a producer already blocked in an external read.</a:t>
            </a:r>
          </a:p>
          <a:p>
            <a:pPr>
              <a:spcAft>
                <a:spcPts val="1100"/>
              </a:spcAft>
              <a:defRPr sz="1700">
                <a:solidFill>
                  <a:srgbClr val="F2F5F8"/>
                </a:solidFill>
              </a:defRPr>
            </a:pPr>
            <a:r>
              <a:t>• A production application needing responsive asynchronous cancellation would integrate readiness waiting and a cancellation event or use another explicitly cancellable I/O...</a:t>
            </a:r>
          </a:p>
          <a:p>
            <a:pPr>
              <a:spcAft>
                <a:spcPts val="1100"/>
              </a:spcAft>
              <a:defRPr sz="1900">
                <a:solidFill>
                  <a:srgbClr val="F2F5F8"/>
                </a:solidFill>
              </a:defRPr>
            </a:pPr>
            <a:r>
              <a:t>• This limitation is part of the capstone’s stated scope.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61.6 Processes → Interprocess Communication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shell pipeline can feed data into the capstone through a pipe, creating communication between processes.</a:t>
            </a:r>
          </a:p>
          <a:p>
            <a:pPr>
              <a:spcAft>
                <a:spcPts val="1100"/>
              </a:spcAft>
              <a:defRPr sz="1900">
                <a:solidFill>
                  <a:srgbClr val="F2F5F8"/>
                </a:solidFill>
              </a:defRPr>
            </a:pPr>
            <a:r>
              <a:t>• Inside the capstone, queues coordinate threads through shared memory.</a:t>
            </a:r>
          </a:p>
          <a:p>
            <a:pPr>
              <a:spcAft>
                <a:spcPts val="1100"/>
              </a:spcAft>
              <a:defRPr sz="1900">
                <a:solidFill>
                  <a:srgbClr val="F2F5F8"/>
                </a:solidFill>
              </a:defRPr>
            </a:pPr>
            <a:r>
              <a:t>• These are different mechanisms with different ownership and failure boundaries.</a:t>
            </a:r>
          </a:p>
          <a:p>
            <a:pPr>
              <a:spcAft>
                <a:spcPts val="1100"/>
              </a:spcAft>
              <a:defRPr sz="1900">
                <a:solidFill>
                  <a:srgbClr val="F2F5F8"/>
                </a:solidFill>
              </a:defRPr>
            </a:pPr>
            <a:r>
              <a:t>• The external producer must eventually close its pipe write references for the capstone to observe EOF.</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61.6 Processes → Interprocess Communication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external producer must eventually close its pipe write references for the capstone to observe EOF.</a:t>
            </a:r>
          </a:p>
          <a:p>
            <a:pPr>
              <a:spcAft>
                <a:spcPts val="1100"/>
              </a:spcAft>
              <a:defRPr sz="1900">
                <a:solidFill>
                  <a:srgbClr val="F2F5F8"/>
                </a:solidFill>
              </a:defRPr>
            </a:pPr>
            <a:r>
              <a:t>• An accidentally retained writer can make a correct internal worker system wait indefinitely for input completion.</a:t>
            </a:r>
          </a:p>
          <a:p>
            <a:pPr>
              <a:spcAft>
                <a:spcPts val="1100"/>
              </a:spcAft>
              <a:defRPr sz="1900">
                <a:solidFill>
                  <a:srgbClr val="F2F5F8"/>
                </a:solidFill>
              </a:defRPr>
            </a:pPr>
            <a:r>
              <a:t>• End-to-end diagnosis must include the upstream process graph.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61.7 Threads → Shared Memory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fixed slot array is shared, but access ownership changes over time.</a:t>
            </a:r>
          </a:p>
          <a:p>
            <a:pPr>
              <a:spcAft>
                <a:spcPts val="1100"/>
              </a:spcAft>
              <a:defRPr sz="1900">
                <a:solidFill>
                  <a:srgbClr val="F2F5F8"/>
                </a:solidFill>
              </a:defRPr>
            </a:pPr>
            <a:r>
              <a:t>• A slot is either free, owned by the producer, queued as ready, or owned by one worker.</a:t>
            </a:r>
          </a:p>
          <a:p>
            <a:pPr>
              <a:spcAft>
                <a:spcPts val="1100"/>
              </a:spcAft>
              <a:defRPr sz="1900">
                <a:solidFill>
                  <a:srgbClr val="F2F5F8"/>
                </a:solidFill>
              </a:defRPr>
            </a:pPr>
            <a:r>
              <a:t>• It must never occupy two of those states simultaneously.</a:t>
            </a:r>
          </a:p>
          <a:p>
            <a:pPr>
              <a:spcAft>
                <a:spcPts val="1100"/>
              </a:spcAft>
              <a:defRPr sz="1900">
                <a:solidFill>
                  <a:srgbClr val="F2F5F8"/>
                </a:solidFill>
              </a:defRPr>
            </a:pPr>
            <a:r>
              <a:t>• The producer does not overwrite a slot until a worker returns its index to the free queue.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61.7 Threads → Shared Memory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producer does not overwrite a slot until a worker returns its index to the free queue.</a:t>
            </a:r>
          </a:p>
          <a:p>
            <a:pPr>
              <a:spcAft>
                <a:spcPts val="1100"/>
              </a:spcAft>
              <a:defRPr sz="1900">
                <a:solidFill>
                  <a:srgbClr val="F2F5F8"/>
                </a:solidFill>
              </a:defRPr>
            </a:pPr>
            <a:r>
              <a:t>• The worker does not read a slot before obtaining its index from the ready queue.</a:t>
            </a:r>
          </a:p>
          <a:p>
            <a:pPr>
              <a:spcAft>
                <a:spcPts val="1100"/>
              </a:spcAft>
              <a:defRPr sz="1900">
                <a:solidFill>
                  <a:srgbClr val="F2F5F8"/>
                </a:solidFill>
              </a:defRPr>
            </a:pPr>
            <a:r>
              <a:t>• This protocol eliminates simultaneous producer writes and worker reads of the same slot.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61.8 Shared Memory → Synchronization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Queue push and pop operations use mutexes and condition variables.</a:t>
            </a:r>
          </a:p>
          <a:p>
            <a:pPr>
              <a:spcAft>
                <a:spcPts val="1100"/>
              </a:spcAft>
              <a:defRPr sz="1700">
                <a:solidFill>
                  <a:srgbClr val="F2F5F8"/>
                </a:solidFill>
              </a:defRPr>
            </a:pPr>
            <a:r>
              <a:t>• The producer’s byte writes occur before publication into the ready queue; the worker’s successful dequeue establishes the visibility needed before reading those bytes.</a:t>
            </a:r>
          </a:p>
          <a:p>
            <a:pPr>
              <a:spcAft>
                <a:spcPts val="1100"/>
              </a:spcAft>
              <a:defRPr sz="1700">
                <a:solidFill>
                  <a:srgbClr val="F2F5F8"/>
                </a:solidFill>
              </a:defRPr>
            </a:pPr>
            <a:r>
              <a:t>• The reverse handoff through the free queue ensures that the producer reuses a slot only after the previous worker has finished with it.</a:t>
            </a:r>
          </a:p>
          <a:p>
            <a:pPr>
              <a:spcAft>
                <a:spcPts val="1100"/>
              </a:spcAft>
              <a:defRPr sz="1700">
                <a:solidFill>
                  <a:srgbClr val="F2F5F8"/>
                </a:solidFill>
              </a:defRPr>
            </a:pPr>
            <a:r>
              <a:t>• No extra atomic flag is needed per slot because the queue handoff supplies the ordering and exclusive ownership relationship.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61.8 Shared Memory → Synchronization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reverse handoff through the free queue ensures that the producer reuses a slot only after the previous worker has finished with it.</a:t>
            </a:r>
          </a:p>
          <a:p>
            <a:pPr>
              <a:spcAft>
                <a:spcPts val="1100"/>
              </a:spcAft>
              <a:defRPr sz="1700">
                <a:solidFill>
                  <a:srgbClr val="F2F5F8"/>
                </a:solidFill>
              </a:defRPr>
            </a:pPr>
            <a:r>
              <a:t>• No extra atomic flag is needed per slot because the queue handoff supplies the ordering and exclusive ownership relationship.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61.9 Synchronization → Correct Concurrent Programs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Correct synchronization includes completion and failure.</a:t>
            </a:r>
          </a:p>
          <a:p>
            <a:pPr>
              <a:spcAft>
                <a:spcPts val="1100"/>
              </a:spcAft>
              <a:defRPr sz="1900">
                <a:solidFill>
                  <a:srgbClr val="F2F5F8"/>
                </a:solidFill>
              </a:defRPr>
            </a:pPr>
            <a:r>
              <a:t>• Normal EOF closes the ready queue, allowing workers to drain and finish.</a:t>
            </a:r>
          </a:p>
          <a:p>
            <a:pPr>
              <a:spcAft>
                <a:spcPts val="1100"/>
              </a:spcAft>
              <a:defRPr sz="1900">
                <a:solidFill>
                  <a:srgbClr val="F2F5F8"/>
                </a:solidFill>
              </a:defRPr>
            </a:pPr>
            <a:r>
              <a:t>• Failure records an exception and closes both queues so queue waiters can stop.</a:t>
            </a:r>
          </a:p>
          <a:p>
            <a:pPr>
              <a:spcAft>
                <a:spcPts val="1100"/>
              </a:spcAft>
              <a:defRPr sz="1900">
                <a:solidFill>
                  <a:srgbClr val="F2F5F8"/>
                </a:solidFill>
              </a:defRPr>
            </a:pPr>
            <a:r>
              <a:t>• Every created thread is joined before the slots and queue objects are destroyed.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61.9 Synchronization → Correct Concurrent Programs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failure flag is only a stop hint; protected exception storage and joins govern access to the actual failure object.</a:t>
            </a:r>
          </a:p>
          <a:p>
            <a:pPr>
              <a:spcAft>
                <a:spcPts val="1100"/>
              </a:spcAft>
              <a:defRPr sz="1900">
                <a:solidFill>
                  <a:srgbClr val="F2F5F8"/>
                </a:solidFill>
              </a:defRPr>
            </a:pPr>
            <a:r>
              <a:t>• A relaxed atomic is sufficient for that hint because it does not publish the slot data or exception contents.</a:t>
            </a:r>
          </a:p>
          <a:p>
            <a:pPr>
              <a:spcAft>
                <a:spcPts val="1100"/>
              </a:spcAft>
              <a:defRPr sz="1900">
                <a:solidFill>
                  <a:srgbClr val="F2F5F8"/>
                </a:solidFill>
              </a:defRPr>
            </a:pPr>
            <a:r>
              <a:t>• Those use separate synchronization relationships.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61.10 Architecture → Performance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architecture separates one input producer from several compute workers.</a:t>
            </a:r>
          </a:p>
          <a:p>
            <a:pPr>
              <a:spcAft>
                <a:spcPts val="1100"/>
              </a:spcAft>
              <a:defRPr sz="1700">
                <a:solidFill>
                  <a:srgbClr val="F2F5F8"/>
                </a:solidFill>
              </a:defRPr>
            </a:pPr>
            <a:r>
              <a:t>• It can overlap input handling and checksum work, but the checksum is so lightweight that queue and thread overhead may exceed any benefit.</a:t>
            </a:r>
          </a:p>
          <a:p>
            <a:pPr>
              <a:spcAft>
                <a:spcPts val="1100"/>
              </a:spcAft>
              <a:defRPr sz="1900">
                <a:solidFill>
                  <a:srgbClr val="F2F5F8"/>
                </a:solidFill>
              </a:defRPr>
            </a:pPr>
            <a:r>
              <a:t>• A correct concurrent design is not automatically a faster design.</a:t>
            </a:r>
          </a:p>
          <a:p>
            <a:pPr>
              <a:spcAft>
                <a:spcPts val="1100"/>
              </a:spcAft>
              <a:defRPr sz="1900">
                <a:solidFill>
                  <a:srgbClr val="F2F5F8"/>
                </a:solidFill>
              </a:defRPr>
            </a:pPr>
            <a:r>
              <a:t>• Compare against Chapter 60 on representative files and finite streams.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61.10 Architecture → Performance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Compare against Chapter 60 on representative files and finite streams.</a:t>
            </a:r>
          </a:p>
          <a:p>
            <a:pPr>
              <a:spcAft>
                <a:spcPts val="1100"/>
              </a:spcAft>
              <a:defRPr sz="1900">
                <a:solidFill>
                  <a:srgbClr val="F2F5F8"/>
                </a:solidFill>
              </a:defRPr>
            </a:pPr>
            <a:r>
              <a:t>• Measure end-to-end time, CPU time, and scaling.</a:t>
            </a:r>
          </a:p>
          <a:p>
            <a:pPr>
              <a:spcAft>
                <a:spcPts val="1100"/>
              </a:spcAft>
              <a:defRPr sz="1700">
                <a:solidFill>
                  <a:srgbClr val="F2F5F8"/>
                </a:solidFill>
              </a:defRPr>
            </a:pPr>
            <a:r>
              <a:t>• Varying slot size, slot count, and worker count changes locality, buffering, and synchronization costs; change one parameter at a time and retain the sequential reference...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61.11 Operating System → Resource Management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operating system supplies threads, virtual memory, descriptors, scheduling, and I/O.</a:t>
            </a:r>
          </a:p>
          <a:p>
            <a:pPr>
              <a:spcAft>
                <a:spcPts val="1100"/>
              </a:spcAft>
              <a:defRPr sz="1900">
                <a:solidFill>
                  <a:srgbClr val="F2F5F8"/>
                </a:solidFill>
              </a:defRPr>
            </a:pPr>
            <a:r>
              <a:t>• The application adds its own budgets: four workers, eight buffers, and bounded queue capacity.</a:t>
            </a:r>
          </a:p>
          <a:p>
            <a:pPr>
              <a:spcAft>
                <a:spcPts val="1100"/>
              </a:spcAft>
              <a:defRPr sz="1900">
                <a:solidFill>
                  <a:srgbClr val="F2F5F8"/>
                </a:solidFill>
              </a:defRPr>
            </a:pPr>
            <a:r>
              <a:t>• These limits make resource demand explicit rather than allowing input size to determine allocation growth.</a:t>
            </a:r>
          </a:p>
          <a:p>
            <a:pPr>
              <a:spcAft>
                <a:spcPts val="1100"/>
              </a:spcAft>
              <a:defRPr sz="1900">
                <a:solidFill>
                  <a:srgbClr val="F2F5F8"/>
                </a:solidFill>
              </a:defRPr>
            </a:pPr>
            <a:r>
              <a:t>• Operating-system allocation or thread-creation failure can still occur.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61.11 Operating System → Resource Management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Operating-system allocation or thread-creation failure can still occur.</a:t>
            </a:r>
          </a:p>
          <a:p>
            <a:pPr>
              <a:spcAft>
                <a:spcPts val="1100"/>
              </a:spcAft>
              <a:defRPr sz="1900">
                <a:solidFill>
                  <a:srgbClr val="F2F5F8"/>
                </a:solidFill>
              </a:defRPr>
            </a:pPr>
            <a:r>
              <a:t>• The setup path tracks already-created threads and closes queues before joining them on failure.</a:t>
            </a:r>
          </a:p>
          <a:p>
            <a:pPr>
              <a:spcAft>
                <a:spcPts val="1100"/>
              </a:spcAft>
              <a:defRPr sz="1900">
                <a:solidFill>
                  <a:srgbClr val="F2F5F8"/>
                </a:solidFill>
              </a:defRPr>
            </a:pPr>
            <a:r>
              <a:t>• Resource limits reduce risk but do not eliminate the need to handle unavailable resources.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61.12 Correctness + Performance + Security + Robustness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capstone combines four requirements.</a:t>
            </a:r>
          </a:p>
          <a:p>
            <a:pPr>
              <a:spcAft>
                <a:spcPts val="1100"/>
              </a:spcAft>
              <a:defRPr sz="1900">
                <a:solidFill>
                  <a:srgbClr val="F2F5F8"/>
                </a:solidFill>
              </a:defRPr>
            </a:pPr>
            <a:r>
              <a:t>• Correctness preserves byte counts, modular sums, and exactly-once ownership transfer.</a:t>
            </a:r>
          </a:p>
          <a:p>
            <a:pPr>
              <a:spcAft>
                <a:spcPts val="1100"/>
              </a:spcAft>
              <a:defRPr sz="1900">
                <a:solidFill>
                  <a:srgbClr val="F2F5F8"/>
                </a:solidFill>
              </a:defRPr>
            </a:pPr>
            <a:r>
              <a:t>• Performance is measured against a sequential baseline.</a:t>
            </a:r>
          </a:p>
          <a:p>
            <a:pPr>
              <a:spcAft>
                <a:spcPts val="1100"/>
              </a:spcAft>
              <a:defRPr sz="1900">
                <a:solidFill>
                  <a:srgbClr val="F2F5F8"/>
                </a:solidFill>
              </a:defRPr>
            </a:pPr>
            <a:r>
              <a:t>• Security keeps untrusted bytes separate from lengths, indexes, and authority.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61.12 Correctness + Performance + Security + Robustness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These requirements constrain one another.</a:t>
            </a:r>
          </a:p>
          <a:p>
            <a:pPr>
              <a:spcAft>
                <a:spcPts val="1100"/>
              </a:spcAft>
              <a:defRPr sz="1900">
                <a:solidFill>
                  <a:srgbClr val="F2F5F8"/>
                </a:solidFill>
              </a:defRPr>
            </a:pPr>
            <a:r>
              <a:t>• Removing bounds checks can make a microbenchmark faster while violating the input contract.</a:t>
            </a:r>
          </a:p>
          <a:p>
            <a:pPr>
              <a:spcAft>
                <a:spcPts val="1100"/>
              </a:spcAft>
              <a:defRPr sz="1900">
                <a:solidFill>
                  <a:srgbClr val="F2F5F8"/>
                </a:solidFill>
              </a:defRPr>
            </a:pPr>
            <a:r>
              <a:t>• Unbounded buffering can increase short-term throughput while exhausting memory.</a:t>
            </a:r>
          </a:p>
          <a:p>
            <a:pPr>
              <a:spcAft>
                <a:spcPts val="1100"/>
              </a:spcAft>
              <a:defRPr sz="1700">
                <a:solidFill>
                  <a:srgbClr val="F2F5F8"/>
                </a:solidFill>
              </a:defRPr>
            </a:pPr>
            <a:r>
              <a:t>• A sound systems design treats the requirements as one specification rather than four optional features added in sequence.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bounded concurrent byte-summary pipeline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capstone imports the Chapter 49 queue rather than duplicating its synchronization implementation.</a:t>
            </a:r>
          </a:p>
          <a:p>
            <a:pPr>
              <a:spcAft>
                <a:spcPts val="1100"/>
              </a:spcAft>
              <a:defRPr sz="1900">
                <a:solidFill>
                  <a:srgbClr val="F2F5F8"/>
                </a:solidFill>
              </a:defRPr>
            </a:pPr>
            <a:r>
              <a:t>• Eight slot indexes circulate through a free queue and a ready queue.</a:t>
            </a:r>
          </a:p>
          <a:p>
            <a:pPr>
              <a:spcAft>
                <a:spcPts val="1100"/>
              </a:spcAft>
              <a:defRPr sz="1900">
                <a:solidFill>
                  <a:srgbClr val="F2F5F8"/>
                </a:solidFill>
              </a:defRPr>
            </a:pPr>
            <a:r>
              <a:t>• Each worker owns one private result element, combined only after joining.</a:t>
            </a:r>
          </a:p>
          <a:p>
            <a:pPr>
              <a:spcAft>
                <a:spcPts val="1100"/>
              </a:spcAft>
              <a:defRPr sz="1900">
                <a:solidFill>
                  <a:srgbClr val="F2F5F8"/>
                </a:solidFill>
              </a:defRPr>
            </a:pPr>
            <a:r>
              <a:t>• Companion listing: ch61/pipeline.cpp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bounded concurrent byte-summary pipeline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ch61/pipeline.cpp</a:t>
            </a:r>
          </a:p>
          <a:p>
            <a:pPr>
              <a:spcAft>
                <a:spcPts val="1100"/>
              </a:spcAft>
              <a:defRPr sz="1900">
                <a:solidFill>
                  <a:srgbClr val="F2F5F8"/>
                </a:solidFill>
              </a:defRPr>
            </a:pPr>
            <a:r>
              <a:t>• For ABC\n , the result is bytes=4 sum=208 workers=4 .</a:t>
            </a:r>
          </a:p>
          <a:p>
            <a:pPr>
              <a:spcAft>
                <a:spcPts val="1100"/>
              </a:spcAft>
              <a:defRPr sz="1900">
                <a:solidFill>
                  <a:srgbClr val="F2F5F8"/>
                </a:solidFill>
              </a:defRPr>
            </a:pPr>
            <a:r>
              <a:t>• For 100,000 generated bytes where byte i is i mod 256 , the result is bytes=100000 sum=12742320 workers=4 .</a:t>
            </a:r>
          </a:p>
          <a:p>
            <a:pPr>
              <a:spcAft>
                <a:spcPts val="1100"/>
              </a:spcAft>
              <a:defRPr sz="1900">
                <a:solidFill>
                  <a:srgbClr val="F2F5F8"/>
                </a:solidFill>
              </a:defRPr>
            </a:pPr>
            <a:r>
              <a:t>• The worker assignments can differ between runs while these totals remain fixed.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End-to-end array sum</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 loop sums an integer array.</a:t>
            </a:r>
          </a:p>
          <a:p>
            <a:pPr>
              <a:spcAft>
                <a:spcPts val="1100"/>
              </a:spcAft>
              <a:defRPr sz="1700">
                <a:solidFill>
                  <a:srgbClr val="F2F5F8"/>
                </a:solidFill>
              </a:defRPr>
            </a:pPr>
            <a:r>
              <a:t>• Integer representation defines each element’s bits; compiler translation produces load/add/control instructions; virtual memory translates addresses; caches exploit sequential...</a:t>
            </a:r>
          </a:p>
          <a:p>
            <a:pPr>
              <a:spcAft>
                <a:spcPts val="1100"/>
              </a:spcAft>
              <a:defRPr sz="1900">
                <a:solidFill>
                  <a:srgbClr val="F2F5F8"/>
                </a:solidFill>
              </a:defRPr>
            </a:pPr>
            <a:r>
              <a:t>• Correct bounds and integer rules establish validity, while cache behavior and compilation determine performance.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End-to-end array sum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 loop sums an integer array.</a:t>
            </a:r>
          </a:p>
          <a:p>
            <a:pPr>
              <a:spcAft>
                <a:spcPts val="1100"/>
              </a:spcAft>
              <a:defRPr sz="1700">
                <a:solidFill>
                  <a:srgbClr val="F2F5F8"/>
                </a:solidFill>
              </a:defRPr>
            </a:pPr>
            <a:r>
              <a:t>• Integer representation defines each element’s bits; compiler translation produces load/add/control instructions; virtual memory translates addresses; caches exploit...</a:t>
            </a:r>
          </a:p>
          <a:p>
            <a:pPr>
              <a:spcAft>
                <a:spcPts val="1100"/>
              </a:spcAft>
              <a:defRPr sz="1900">
                <a:solidFill>
                  <a:srgbClr val="F2F5F8"/>
                </a:solidFill>
              </a:defRPr>
            </a:pPr>
            <a:r>
              <a:t>• Correct bounds and integer rules establish validity, while cache behavior and compilation determine performance.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End-to-end concurrent server request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TCP packet ultimately contributes bytes to a socket buffer; the kernel wakes or marks readiness for the server; an event loop or worker reads framed application data; shared...</a:t>
            </a:r>
          </a:p>
          <a:p>
            <a:pPr>
              <a:spcAft>
                <a:spcPts val="1100"/>
              </a:spcAft>
              <a:defRPr sz="1900">
                <a:solidFill>
                  <a:srgbClr val="F2F5F8"/>
                </a:solidFill>
              </a:defRPr>
            </a:pPr>
            <a:r>
              <a:t>• Correctness depends on framing, ownership, synchronization, error handling, and resource limits simultaneously.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End-to-end concurrent server request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TCP packet ultimately contributes bytes to a socket buffer; the kernel wakes or marks readiness for the server; an event loop or worker reads framed application data;...</a:t>
            </a:r>
          </a:p>
          <a:p>
            <a:pPr>
              <a:spcAft>
                <a:spcPts val="1100"/>
              </a:spcAft>
              <a:defRPr sz="1900">
                <a:solidFill>
                  <a:srgbClr val="F2F5F8"/>
                </a:solidFill>
              </a:defRPr>
            </a:pPr>
            <a:r>
              <a:t>• Correctness depends on framing, ownership, synchronization, error handling, and resource limits simultaneously.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61.</a:t>
            </a:r>
          </a:p>
          <a:p>
            <a:pPr>
              <a:spcAft>
                <a:spcPts val="1100"/>
              </a:spcAft>
              <a:defRPr sz="1700">
                <a:solidFill>
                  <a:srgbClr val="F2F5F8"/>
                </a:solidFill>
              </a:defRPr>
            </a:pPr>
            <a:r>
              <a:t>• Compare sequential and concurrent results on empty input, one byte, exactly 4096 bytes, 4097 bytes, 100,000 bytes, and a larger finite binary fixture.</a:t>
            </a:r>
          </a:p>
          <a:p>
            <a:pPr>
              <a:spcAft>
                <a:spcPts val="1100"/>
              </a:spcAft>
              <a:defRPr sz="1900">
                <a:solidFill>
                  <a:srgbClr val="F2F5F8"/>
                </a:solidFill>
              </a:defRPr>
            </a:pPr>
            <a:r>
              <a:t>• Test a closed standard-input descriptor as an error path.</a:t>
            </a:r>
          </a:p>
          <a:p>
            <a:pPr>
              <a:spcAft>
                <a:spcPts val="1100"/>
              </a:spcAft>
              <a:defRPr sz="1900">
                <a:solidFill>
                  <a:srgbClr val="F2F5F8"/>
                </a:solidFill>
              </a:defRPr>
            </a:pPr>
            <a:r>
              <a:t>• Then measure both implementations without claiming that parallelism must win.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Extend the design in stages: make worker count a bounded validated argument; add per-worker item counts; add a whole-job cancellation policy using nonblocking input and an...</a:t>
            </a:r>
          </a:p>
          <a:p>
            <a:pPr>
              <a:spcAft>
                <a:spcPts val="1100"/>
              </a:spcAft>
              <a:defRPr sz="1900">
                <a:solidFill>
                  <a:srgbClr val="F2F5F8"/>
                </a:solidFill>
              </a:defRPr>
            </a:pPr>
            <a:r>
              <a:t>• Review 1.</a:t>
            </a:r>
          </a:p>
          <a:p>
            <a:pPr>
              <a:spcAft>
                <a:spcPts val="1100"/>
              </a:spcAft>
              <a:defRPr sz="1900">
                <a:solidFill>
                  <a:srgbClr val="F2F5F8"/>
                </a:solidFill>
              </a:defRPr>
            </a:pPr>
            <a:r>
              <a:t>• Which queue handoff publishes filled buffer bytes, and which handoff permits reuse?</a:t>
            </a:r>
          </a:p>
          <a:p>
            <a:pPr>
              <a:spcAft>
                <a:spcPts val="1100"/>
              </a:spcAft>
              <a:defRPr sz="1900">
                <a:solidFill>
                  <a:srgbClr val="F2F5F8"/>
                </a:solidFill>
              </a:defRPr>
            </a:pPr>
            <a:r>
              <a:t>• Review 2.</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putting the system together.</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Integrated course review.</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61     |     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