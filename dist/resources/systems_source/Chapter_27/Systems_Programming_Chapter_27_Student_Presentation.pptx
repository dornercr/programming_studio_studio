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27 — Memory Hierarchy</a:t>
            </a:r>
          </a:p>
          <a:p/>
          <a:p>
            <a:r>
              <a:t>LECTURE NARRATION</a:t>
            </a:r>
          </a:p>
          <a:p>
            <a:r>
              <a:t>A computer does not store every useful byte in one uniformly fast place. It uses a hierarchy of storage technologies and structures with different capacities, access costs, and management rules. Programs perform well when frequently needed information remains in the levels that can serve it efficiently. This chapter uses qualitative relationships rather than a table of supposedly universal nanosecond values. Actual latency and bandwidth depend on the processor, memory configuration, access pattern, contention, power state, and measurement method. Treat hardware specifications and local measurements as evidence for a particular machine, not as constants of the language. [ R3 , R30 ]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computer does not store every useful byte in one uniformly fast place.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computer does not store every useful byte in one uniformly fast place. It uses a hierarchy of storage technologies and structures with different capacities, access costs, and management rules. Programs perform well when frequently needed information remains in the levels that can serve it efficiently. This chapter uses qualitative relationships rather than a table of supposedly universal nanosecond values. Actual latency and bandwidth depend on the processor, memory configuration, access pattern, contention, power state, and measurement method. Treat hardware specifications and local measurements as evidence for a particular machine, not as constants of the language. [ R3 , R30 ]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computer does not store every useful byte in one uniformly fast place.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27.1 Registers 27.2 L1 cache 27.3 L2 cache 27.4 L3 cache ...plus 11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27.1 Registers 27.2 L1 cache 27.3 L2 cache 27.4 L3 cache ...plus 11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27.1 Registers</a:t>
            </a:r>
          </a:p>
          <a:p/>
          <a:p>
            <a:r>
              <a:t>LECTURE NARRATION</a:t>
            </a:r>
          </a:p>
          <a:p>
            <a:r>
              <a:t>Registers hold operands and execution state directly used by instructions. The compiler allocates many frequently used values to registers, subject to instruction constraints and calling conventions. Values that cannot remain in registers may be spilled to memory. A source-level local variable is not automatically a stack slot. It can live in a register, be folded into another expression, or disappear when it has no observable effect. Looking at generated assembly is the appropriate way to investigate a particular compiled implementation.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registers hold operands and execution state directly used by instructions.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27.1 Registers — Deep Dive</a:t>
            </a:r>
          </a:p>
          <a:p/>
          <a:p>
            <a:r>
              <a:t>LECTURE NARRATION</a:t>
            </a:r>
          </a:p>
          <a:p>
            <a:r>
              <a:t>Registers hold operands and execution state directly used by instructions. The compiler allocates many frequently used values to registers, subject to instruction constraints and calling conventions. Values that cannot remain in registers may be spilled to memory. A source-level local variable is not automatically a stack slot. It can live in a register, be folded into another expression, or disappear when it has no observable effect. Looking at generated assembly is the appropriate way to investigate a particular compiled implementation.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registers hold operands and execution state directly used by instructions.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27.2 L1 cache</a:t>
            </a:r>
          </a:p>
          <a:p/>
          <a:p>
            <a:r>
              <a:t>LECTURE NARRATION</a:t>
            </a:r>
          </a:p>
          <a:p>
            <a:r>
              <a:t>An L1 cache is a small, fast cache close to an execution core. Processors commonly distinguish instruction and data L1 caches, although exact organizations vary. Its limited capacity favors compact working sets and repeated access to nearby data. The cost of an L1 hit is not simply the cost of a complete source statement. Dependencies, execution ports, translation, and instruction scheduling also affect progress. A chain of dependent loads behaves differently from many independent loads that hardware can overlap.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27.2 L1 cache — Deep Dive</a:t>
            </a:r>
          </a:p>
          <a:p/>
          <a:p>
            <a:r>
              <a:t>LECTURE NARRATION</a:t>
            </a:r>
          </a:p>
          <a:p>
            <a:r>
              <a:t>An L1 cache is a small, fast cache close to an execution core. Processors commonly distinguish instruction and data L1 caches, although exact organizations vary. Its limited capacity favors compact working sets and repeated access to nearby data. The cost of an L1 hit is not simply the cost of a complete source statement. Dependencies, execution ports, translation, and instruction scheduling also affect progress. A chain of dependent loads behaves differently from many independent loads that hardware can overlap.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27.3 L2 cache</a:t>
            </a:r>
          </a:p>
          <a:p/>
          <a:p>
            <a:r>
              <a:t>LECTURE NARRATION</a:t>
            </a:r>
          </a:p>
          <a:p>
            <a:r>
              <a:t>L2 provides additional capacity beyond L1 at a different access cost. It can satisfy requests for lines absent from L1 without requiring a trip to main memory. Whether an L2 is private to a core or shared is a hardware design choice. A working set too large for L1 can still perform well when it fits in L2 and has predictable access. Performance often changes gradually or in steps as working-set size crosses hierarchy boundaries, rather than following a single universal “memory access” time.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27.3 L2 cache — Deep Dive</a:t>
            </a:r>
          </a:p>
          <a:p/>
          <a:p>
            <a:r>
              <a:t>LECTURE NARRATION</a:t>
            </a:r>
          </a:p>
          <a:p>
            <a:r>
              <a:t>L2 provides additional capacity beyond L1 at a different access cost. It can satisfy requests for lines absent from L1 without requiring a trip to main memory. Whether an L2 is private to a core or shared is a hardware design choice. A working set too large for L1 can still perform well when it fits in L2 and has predictable access. Performance often changes gradually or in steps as working-set size crosses hierarchy boundaries, rather than following a single universal “memory access” time.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27.4 L3 cache</a:t>
            </a:r>
          </a:p>
          <a:p/>
          <a:p>
            <a:r>
              <a:t>LECTURE NARRATION</a:t>
            </a:r>
          </a:p>
          <a:p>
            <a:r>
              <a:t>An L3 or last-level cache often provides larger shared capacity, but names and sharing arrangements are not universal. Shared caches allow data to serve multiple cores while also creating competition for capacity and bandwidth. Cache inclusion policies vary. Do not assume that every line in a private cache must also exist in the last-level cache, or that evicting a line has identical consequences on all processors. For application design, focus first on working-set size, sharing patterns, and measured behavior.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27.4 L3 cache — Deep Dive</a:t>
            </a:r>
          </a:p>
          <a:p/>
          <a:p>
            <a:r>
              <a:t>LECTURE NARRATION</a:t>
            </a:r>
          </a:p>
          <a:p>
            <a:r>
              <a:t>An L3 or last-level cache often provides larger shared capacity, but names and sharing arrangements are not universal. Shared caches allow data to serve multiple cores while also creating competition for capacity and bandwidth. Cache inclusion policies vary. Do not assume that every line in a private cache must also exist in the last-level cache, or that evicting a line has identical consequences on all processors. For application design, focus first on working-set size, sharing patterns, and measured behavior.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27.5 DRAM</a:t>
            </a:r>
          </a:p>
          <a:p/>
          <a:p>
            <a:r>
              <a:t>LECTURE NARRATION</a:t>
            </a:r>
          </a:p>
          <a:p>
            <a:r>
              <a:t>DRAM supplies main-memory capacity beyond the processor caches. Access cost depends on more than a single chip latency: memory controllers, channels, banks, row state, access concurrency, and NUMA placement can all matter. Bandwidth and latency limits are distinct. A workload with many independent sequential accesses may approach a bandwidth limit, while a dependent pointer-chasing workload may be limited by the latency of each next address. The same number of bytes can therefore take different times under different dependency patterns.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dRAM supplies main-memory capacity beyond the processor caches.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27.5 DRAM — Deep Dive</a:t>
            </a:r>
          </a:p>
          <a:p/>
          <a:p>
            <a:r>
              <a:t>LECTURE NARRATION</a:t>
            </a:r>
          </a:p>
          <a:p>
            <a:r>
              <a:t>DRAM supplies main-memory capacity beyond the processor caches. Access cost depends on more than a single chip latency: memory controllers, channels, banks, row state, access concurrency, and NUMA placement can all matter. Bandwidth and latency limits are distinct. A workload with many independent sequential accesses may approach a bandwidth limit, while a dependent pointer-chasing workload may be limited by the latency of each next address. The same number of bytes can therefore take different times under different dependency patterns.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dRAM supplies main-memory capacity beyond the processor caches.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27.6 SSD</a:t>
            </a:r>
          </a:p>
          <a:p/>
          <a:p>
            <a:r>
              <a:t>LECTURE NARRATION</a:t>
            </a:r>
          </a:p>
          <a:p>
            <a:r>
              <a:t>An SSD is persistent storage accessed through a device and operating-system stack rather than as ordinary CPU cacheable DRAM. Its behavior depends on request size, queue depth, write patterns, device state, and filesystem policy. A file read that returns quickly may have been served from the operating system’s page cache without reaching the SSD. Distinguish cached file-access measurements from device measurements. Similarly, successful buffered writes do not by themselves prove that data has reached durable media.</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SSD is persistent storage accessed through a device and operating-system stack rather than as ordinary CPU cacheable DRAM.</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27.6 SSD — Deep Dive</a:t>
            </a:r>
          </a:p>
          <a:p/>
          <a:p>
            <a:r>
              <a:t>LECTURE NARRATION</a:t>
            </a:r>
          </a:p>
          <a:p>
            <a:r>
              <a:t>An SSD is persistent storage accessed through a device and operating-system stack rather than as ordinary CPU cacheable DRAM. Its behavior depends on request size, queue depth, write patterns, device state, and filesystem policy. A file read that returns quickly may have been served from the operating system’s page cache without reaching the SSD. Distinguish cached file-access measurements from device measurements. Similarly, successful buffered writes do not by themselves prove that data has reached durable media.</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SSD is persistent storage accessed through a device and operating-system stack rather than as ordinary CPU cacheable DRAM.</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27.7 Persistent storage</a:t>
            </a:r>
          </a:p>
          <a:p/>
          <a:p>
            <a:r>
              <a:t>LECTURE NARRATION</a:t>
            </a:r>
          </a:p>
          <a:p>
            <a:r>
              <a:t>Persistent storage is intended to retain data across power loss or restart under specified guarantees. The complete durability story involves hardware behavior, filesystem semantics, and explicit synchronization operations. Persistence is a property to request and verify at the appropriate layer, not a synonym for “the write function returned.” A robust design distinguishes data in an application buffer, data accepted by the kernel, and data committed according to the required durability contract. Chapters 35 and 59 revisit this distinction when discussing buffering and recovery. [ R33 ]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persistent storage is intended to retain data across power loss or restart under specified guarantees.</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27.7 Persistent storage — Deep Dive</a:t>
            </a:r>
          </a:p>
          <a:p/>
          <a:p>
            <a:r>
              <a:t>LECTURE NARRATION</a:t>
            </a:r>
          </a:p>
          <a:p>
            <a:r>
              <a:t>Persistent storage is intended to retain data across power loss or restart under specified guarantees. The complete durability story involves hardware behavior, filesystem semantics, and explicit synchronization operations. Persistence is a property to request and verify at the appropriate layer, not a synonym for “the write function returned.” A robust design distinguishes data in an application buffer, data accepted by the kernel, and data committed according to the required durability contract. Chapters 35 and 59 revisit this distinction when discussing buffering and recovery. [ R33 ]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persistent storage is intended to retain data across power loss or restart under specified guarantees.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27.8 Latency</a:t>
            </a:r>
          </a:p>
          <a:p/>
          <a:p>
            <a:r>
              <a:t>LECTURE NARRATION</a:t>
            </a:r>
          </a:p>
          <a:p>
            <a:r>
              <a:t>Latency is the time required for one operation or dependency to complete. A dependent chain exposes latency because later work cannot begin until earlier results are available. For example, following linked-list pointers often prevents the next address from being known in advance. Report the operation being measured. Cache-hit load latency, end-to-end request latency, and storage-read latency describe different boundaries. A number without its start event, end event, and conditions is difficult to interpret.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latency is the time required for one operation or dependency to complete.</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27.8 Latency — Deep Dive</a:t>
            </a:r>
          </a:p>
          <a:p/>
          <a:p>
            <a:r>
              <a:t>LECTURE NARRATION</a:t>
            </a:r>
          </a:p>
          <a:p>
            <a:r>
              <a:t>Latency is the time required for one operation or dependency to complete. A dependent chain exposes latency because later work cannot begin until earlier results are available. For example, following linked-list pointers often prevents the next address from being known in advance. Report the operation being measured. Cache-hit load latency, end-to-end request latency, and storage-read latency describe different boundaries. A number without its start event, end event, and conditions is difficult to interpret.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latency is the time required for one operation or dependency to complete.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27.9 Throughput</a:t>
            </a:r>
          </a:p>
          <a:p/>
          <a:p>
            <a:r>
              <a:t>LECTURE NARRATION</a:t>
            </a:r>
          </a:p>
          <a:p>
            <a:r>
              <a:t>Throughput is completed work per unit time. A system can have high throughput while individual requests experience substantial latency, especially when many operations overlap. Conversely, a fast isolated operation can yield poor aggregate throughput when shared resources serialize it. Useful units include bytes per second, records per second, and requests per second. Choose a unit tied to completed useful work, not merely to internal activity. Counting retries or duplicated work as successful throughput can conceal a broken design.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throughput is completed work per unit time.</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27.9 Throughput — Deep Dive</a:t>
            </a:r>
          </a:p>
          <a:p/>
          <a:p>
            <a:r>
              <a:t>LECTURE NARRATION</a:t>
            </a:r>
          </a:p>
          <a:p>
            <a:r>
              <a:t>Throughput is completed work per unit time. A system can have high throughput while individual requests experience substantial latency, especially when many operations overlap. Conversely, a fast isolated operation can yield poor aggregate throughput when shared resources serialize it. Useful units include bytes per second, records per second, and requests per second. Choose a unit tied to completed useful work, not merely to internal activity. Counting retries or duplicated work as successful throughput can conceal a broken design.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throughput is completed work per unit time.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27.10 Capacity</a:t>
            </a:r>
          </a:p>
          <a:p/>
          <a:p>
            <a:r>
              <a:t>LECTURE NARRATION</a:t>
            </a:r>
          </a:p>
          <a:p>
            <a:r>
              <a:t>Capacity is the amount of information a level can hold. Larger capacity can reduce misses, but only for data that remains useful before eviction. A cache filled with streaming data that will never be reused may displace a smaller, more valuable working set. Working-set analysis asks how much data is actively needed over a relevant interval. Total dataset size alone does not answer that question. A terabyte dataset processed in small independent tiles can have a modest active working set.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capacity is the amount of information a level can hold.</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27.10 Capacity — Deep Dive</a:t>
            </a:r>
          </a:p>
          <a:p/>
          <a:p>
            <a:r>
              <a:t>LECTURE NARRATION</a:t>
            </a:r>
          </a:p>
          <a:p>
            <a:r>
              <a:t>Capacity is the amount of information a level can hold. Larger capacity can reduce misses, but only for data that remains useful before eviction. A cache filled with streaming data that will never be reused may displace a smaller, more valuable working set. Working-set analysis asks how much data is actively needed over a relevant interval. Total dataset size alone does not answer that question. A terabyte dataset processed in small independent tiles can have a modest active working set.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capacity is the amount of information a level can hold.</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27.11 Cost</a:t>
            </a:r>
          </a:p>
          <a:p/>
          <a:p>
            <a:r>
              <a:t>LECTURE NARRATION</a:t>
            </a:r>
          </a:p>
          <a:p>
            <a:r>
              <a:t>Cost includes hardware expense, energy, area, management overhead, and opportunity cost. Faster storage structures are constrained by more than purchase price. A design that used the fastest possible storage for every byte would face physical and economic limitations. The hierarchy is therefore a resource-allocation strategy. Software participates by making reuse visible, avoiding unnecessary movement, and organizing work so that scarce fast capacity holds valuable information. Optimization is often about moving fewer bytes rather than executing a cleverer arithmetic instruction.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cost includes hardware expense, energy, area, management overhead, and opportunity cost.</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27.11 Cost — Deep Dive</a:t>
            </a:r>
          </a:p>
          <a:p/>
          <a:p>
            <a:r>
              <a:t>LECTURE NARRATION</a:t>
            </a:r>
          </a:p>
          <a:p>
            <a:r>
              <a:t>Cost includes hardware expense, energy, area, management overhead, and opportunity cost. Faster storage structures are constrained by more than purchase price. A design that used the fastest possible storage for every byte would face physical and economic limitations. The hierarchy is therefore a resource-allocation strategy. Software participates by making reuse visible, avoiding unnecessary movement, and organizing work so that scarce fast capacity holds valuable information. Optimization is often about moving fewer bytes rather than executing a cleverer arithmetic instruction.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cost includes hardware expense, energy, area, management overhead, and opportunity cost.</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Worked example — Latency versus bandwidth</a:t>
            </a:r>
          </a:p>
          <a:p/>
          <a:p>
            <a:r>
              <a:t>LECTURE NARRATION</a:t>
            </a:r>
          </a:p>
          <a:p>
            <a:r>
              <a:t>Assume a hypothetical memory service with 100-nanosecond latency per independent 64-byte transfer and a maximum sustained bandwidth of 20 GB/s, using decimal gigabytes. A fully dependent chain that permits only one outstanding transfer has a latency-limited rate of: To sustain 20 GB/s with 100-nanosecond average service time, the simple steady-state model requires about: Thus roughly 32 concurrent transfers are needed in this idealized calculation. The hardware may have other bottlenecks, and not every workload can expose that much independence. The result explains why reducing dependencies or batching independent work can improve throughput without changing the latency of one transfer.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assume a hypothetical memory service with 100-nanosecond latency per independent 64-byte transfer and a maximum sustained bandwidth of 20 GB/s, using decimal gigabytes.</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Worked example — Latency versus bandwidth — Deep Dive</a:t>
            </a:r>
          </a:p>
          <a:p/>
          <a:p>
            <a:r>
              <a:t>LECTURE NARRATION</a:t>
            </a:r>
          </a:p>
          <a:p>
            <a:r>
              <a:t>Assume a hypothetical memory service with 100-nanosecond latency per independent 64-byte transfer and a maximum sustained bandwidth of 20 GB/s, using decimal gigabytes. A fully dependent chain that permits only one outstanding transfer has a latency-limited rate of: To sustain 20 GB/s with 100-nanosecond average service time, the simple steady-state model requires about: Thus roughly 32 concurrent transfers are needed in this idealized calculation. The hardware may have other bottlenecks, and not every workload can expose that much independence. The result explains why reducing dependencies or batching independent work can improve throughput without changing the latency of one transfer.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assume a hypothetical memory service with 100-nanosecond latency per independent 64-byte transfer and a maximum sustained bandwidth of 20 GB/s, using decimal gigabytes.</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Worked example — Comparing access times</a:t>
            </a:r>
          </a:p>
          <a:p/>
          <a:p>
            <a:r>
              <a:t>LECTURE NARRATION</a:t>
            </a:r>
          </a:p>
          <a:p>
            <a:r>
              <a:t>Assume an illustrative L1 hit takes 1 ns, DRAM 80 ns, and SSD access 100 microseconds. One SSD access is roughly 1,250 times slower than the DRAM access and 100,000 times slower than the L1 hit. The exact numbers vary by platform, but the orders of magnitude explain why locality and batching dominate systems performance.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assume an illustrative L1 hit takes 1 ns, DRAM 80 ns, and SSD access 100 microseconds.</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Worked example — Comparing access times — Deep Dive</a:t>
            </a:r>
          </a:p>
          <a:p/>
          <a:p>
            <a:r>
              <a:t>LECTURE NARRATION</a:t>
            </a:r>
          </a:p>
          <a:p>
            <a:r>
              <a:t>Assume an illustrative L1 hit takes 1 ns, DRAM 80 ns, and SSD access 100 microseconds. One SSD access is roughly 1,250 times slower than the DRAM access and 100,000 times slower than the L1 hit. The exact numbers vary by platform, but the orders of magnitude explain why locality and batching dominate systems performance.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assume an illustrative L1 hit takes 1 ns, DRAM 80 ns, and SSD access 100 microseconds.</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Worked example — Why capacity increases down the hierarchy</a:t>
            </a:r>
          </a:p>
          <a:p/>
          <a:p>
            <a:r>
              <a:t>LECTURE NARRATION</a:t>
            </a:r>
          </a:p>
          <a:p>
            <a:r>
              <a:t>Registers are fastest but scarce; caches are larger and slower; DRAM is much larger; persistent storage is larger again. If every byte could economically have register latency and SSD capacity, a hierarchy would be unnecessary. Engineering trades latency, cost, power, and capacity at each level.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registers are fastest but scarce; caches are larger and slower; DRAM is much larger; persistent storage is larger again.</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Worked example — Why capacity increases down the hierarchy — Deep Dive</a:t>
            </a:r>
          </a:p>
          <a:p/>
          <a:p>
            <a:r>
              <a:t>LECTURE NARRATION</a:t>
            </a:r>
          </a:p>
          <a:p>
            <a:r>
              <a:t>Registers are fastest but scarce; caches are larger and slower; DRAM is much larger; persistent storage is larger again. If every byte could economically have register latency and SSD capacity, a hierarchy would be unnecessary. Engineering trades latency, cost, power, and capacity at each level.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registers are fastest but scarce; caches are larger and slower; DRAM is much larger; persistent storage is larger again.</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Guided lab and review</a:t>
            </a:r>
          </a:p>
          <a:p/>
          <a:p>
            <a:r>
              <a:t>LECTURE NARRATION</a:t>
            </a:r>
          </a:p>
          <a:p>
            <a:r>
              <a:t>Lab 27. Repeat the calculation for 80-nanosecond latency and 40 GB/s bandwidth. Explain why a linked structure can fail to reach the calculated bandwidth even when its total size is large. Review 1. Does a fast file read prove that the SSD is fast? Review 2. Why is capacity alone insufficient to predict cache usefulness?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27.</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Guided lab and review — Deep Dive</a:t>
            </a:r>
          </a:p>
          <a:p/>
          <a:p>
            <a:r>
              <a:t>LECTURE NARRATION</a:t>
            </a:r>
          </a:p>
          <a:p>
            <a:r>
              <a:t>Lab 27. Repeat the calculation for 80-nanosecond latency and 40 GB/s bandwidth. Explain why a linked structure can fail to reach the calculated bandwidth even when its total size is large. Review 1. Does a fast file read prove that the SSD is fast? Review 2. Why is capacity alone insufficient to predict cache usefulness?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27.</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Chapter Synthesis</a:t>
            </a:r>
          </a:p>
          <a:p/>
          <a:p>
            <a:r>
              <a:t>LECTURE NARRATION</a:t>
            </a:r>
          </a:p>
          <a:p>
            <a:r>
              <a:t>The chapter's central subject is memory hierarchy.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memory hierarchy.</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Locality.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27 — Memory Hierarchy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computer does not store every useful byte in one uniformly fast place.</a:t>
            </a:r>
          </a:p>
          <a:p>
            <a:pPr>
              <a:spcAft>
                <a:spcPts val="1100"/>
              </a:spcAft>
              <a:defRPr sz="1700">
                <a:solidFill>
                  <a:srgbClr val="F2F5F8"/>
                </a:solidFill>
              </a:defRPr>
            </a:pPr>
            <a:r>
              <a:t>• It uses a hierarchy of storage technologies and structures with different capacities, access costs, and management rules.</a:t>
            </a:r>
          </a:p>
          <a:p>
            <a:pPr>
              <a:spcAft>
                <a:spcPts val="1100"/>
              </a:spcAft>
              <a:defRPr sz="1900">
                <a:solidFill>
                  <a:srgbClr val="F2F5F8"/>
                </a:solidFill>
              </a:defRPr>
            </a:pPr>
            <a:r>
              <a:t>• Programs perform well when frequently needed information remains in the levels that can serve it efficiently.</a:t>
            </a:r>
          </a:p>
          <a:p>
            <a:pPr>
              <a:spcAft>
                <a:spcPts val="1100"/>
              </a:spcAft>
              <a:defRPr sz="1900">
                <a:solidFill>
                  <a:srgbClr val="F2F5F8"/>
                </a:solidFill>
              </a:defRPr>
            </a:pPr>
            <a:r>
              <a:t>• This chapter uses qualitative relationships rather than a table of supposedly universal nanosecond values.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Memory Hierarchy.</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27.1 Registers</a:t>
            </a:r>
          </a:p>
          <a:p>
            <a:pPr>
              <a:spcAft>
                <a:spcPts val="1100"/>
              </a:spcAft>
              <a:defRPr sz="1900">
                <a:solidFill>
                  <a:srgbClr val="F2F5F8"/>
                </a:solidFill>
              </a:defRPr>
            </a:pPr>
            <a:r>
              <a:t>• 27.2 L1 cache</a:t>
            </a:r>
          </a:p>
          <a:p>
            <a:pPr>
              <a:spcAft>
                <a:spcPts val="1100"/>
              </a:spcAft>
              <a:defRPr sz="1900">
                <a:solidFill>
                  <a:srgbClr val="F2F5F8"/>
                </a:solidFill>
              </a:defRPr>
            </a:pPr>
            <a:r>
              <a:t>• 27.3 L2 cache</a:t>
            </a:r>
          </a:p>
          <a:p>
            <a:pPr>
              <a:spcAft>
                <a:spcPts val="1100"/>
              </a:spcAft>
              <a:defRPr sz="1900">
                <a:solidFill>
                  <a:srgbClr val="F2F5F8"/>
                </a:solidFill>
              </a:defRPr>
            </a:pPr>
            <a:r>
              <a:t>• 27.4 L3 cache</a:t>
            </a:r>
          </a:p>
          <a:p>
            <a:pPr>
              <a:spcAft>
                <a:spcPts val="1100"/>
              </a:spcAft>
              <a:defRPr sz="1900">
                <a:solidFill>
                  <a:srgbClr val="F2F5F8"/>
                </a:solidFill>
              </a:defRPr>
            </a:pPr>
            <a:r>
              <a:t>• ...plus 11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27.1 Registers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Registers hold operands and execution state directly used by instructions.</a:t>
            </a:r>
          </a:p>
          <a:p>
            <a:pPr>
              <a:spcAft>
                <a:spcPts val="1100"/>
              </a:spcAft>
              <a:defRPr sz="1700">
                <a:solidFill>
                  <a:srgbClr val="F2F5F8"/>
                </a:solidFill>
              </a:defRPr>
            </a:pPr>
            <a:r>
              <a:t>• The compiler allocates many frequently used values to registers, subject to instruction constraints and calling conventions.</a:t>
            </a:r>
          </a:p>
          <a:p>
            <a:pPr>
              <a:spcAft>
                <a:spcPts val="1100"/>
              </a:spcAft>
              <a:defRPr sz="1900">
                <a:solidFill>
                  <a:srgbClr val="F2F5F8"/>
                </a:solidFill>
              </a:defRPr>
            </a:pPr>
            <a:r>
              <a:t>• Values that cannot remain in registers may be spilled to memory.</a:t>
            </a:r>
          </a:p>
          <a:p>
            <a:pPr>
              <a:spcAft>
                <a:spcPts val="1100"/>
              </a:spcAft>
              <a:defRPr sz="1900">
                <a:solidFill>
                  <a:srgbClr val="F2F5F8"/>
                </a:solidFill>
              </a:defRPr>
            </a:pPr>
            <a:r>
              <a:t>• A source-level local variable is not automatically a stack slot.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27.1 Registers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source-level local variable is not automatically a stack slot.</a:t>
            </a:r>
          </a:p>
          <a:p>
            <a:pPr>
              <a:spcAft>
                <a:spcPts val="1100"/>
              </a:spcAft>
              <a:defRPr sz="1900">
                <a:solidFill>
                  <a:srgbClr val="F2F5F8"/>
                </a:solidFill>
              </a:defRPr>
            </a:pPr>
            <a:r>
              <a:t>• It can live in a register, be folded into another expression, or disappear when it has no observable effect.</a:t>
            </a:r>
          </a:p>
          <a:p>
            <a:pPr>
              <a:spcAft>
                <a:spcPts val="1100"/>
              </a:spcAft>
              <a:defRPr sz="1900">
                <a:solidFill>
                  <a:srgbClr val="F2F5F8"/>
                </a:solidFill>
              </a:defRPr>
            </a:pPr>
            <a:r>
              <a:t>• Looking at generated assembly is the appropriate way to investigate a particular compiled implementation.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27.2 L1 cache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L1 cache is a small, fast cache close to an execution core.</a:t>
            </a:r>
          </a:p>
          <a:p>
            <a:pPr>
              <a:spcAft>
                <a:spcPts val="1100"/>
              </a:spcAft>
              <a:defRPr sz="1900">
                <a:solidFill>
                  <a:srgbClr val="F2F5F8"/>
                </a:solidFill>
              </a:defRPr>
            </a:pPr>
            <a:r>
              <a:t>• Processors commonly distinguish instruction and data L1 caches, although exact organizations vary.</a:t>
            </a:r>
          </a:p>
          <a:p>
            <a:pPr>
              <a:spcAft>
                <a:spcPts val="1100"/>
              </a:spcAft>
              <a:defRPr sz="1900">
                <a:solidFill>
                  <a:srgbClr val="F2F5F8"/>
                </a:solidFill>
              </a:defRPr>
            </a:pPr>
            <a:r>
              <a:t>• Its limited capacity favors compact working sets and repeated access to nearby data.</a:t>
            </a:r>
          </a:p>
          <a:p>
            <a:pPr>
              <a:spcAft>
                <a:spcPts val="1100"/>
              </a:spcAft>
              <a:defRPr sz="1900">
                <a:solidFill>
                  <a:srgbClr val="F2F5F8"/>
                </a:solidFill>
              </a:defRPr>
            </a:pPr>
            <a:r>
              <a:t>• The cost of an L1 hit is not simply the cost of a complete source statement.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27.2 L1 cache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cost of an L1 hit is not simply the cost of a complete source statement.</a:t>
            </a:r>
          </a:p>
          <a:p>
            <a:pPr>
              <a:spcAft>
                <a:spcPts val="1100"/>
              </a:spcAft>
              <a:defRPr sz="1900">
                <a:solidFill>
                  <a:srgbClr val="F2F5F8"/>
                </a:solidFill>
              </a:defRPr>
            </a:pPr>
            <a:r>
              <a:t>• Dependencies, execution ports, translation, and instruction scheduling also affect progress.</a:t>
            </a:r>
          </a:p>
          <a:p>
            <a:pPr>
              <a:spcAft>
                <a:spcPts val="1100"/>
              </a:spcAft>
              <a:defRPr sz="1900">
                <a:solidFill>
                  <a:srgbClr val="F2F5F8"/>
                </a:solidFill>
              </a:defRPr>
            </a:pPr>
            <a:r>
              <a:t>• A chain of dependent loads behaves differently from many independent loads that hardware can overlap.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27.3 L2 cache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L2 provides additional capacity beyond L1 at a different access cost.</a:t>
            </a:r>
          </a:p>
          <a:p>
            <a:pPr>
              <a:spcAft>
                <a:spcPts val="1100"/>
              </a:spcAft>
              <a:defRPr sz="1900">
                <a:solidFill>
                  <a:srgbClr val="F2F5F8"/>
                </a:solidFill>
              </a:defRPr>
            </a:pPr>
            <a:r>
              <a:t>• It can satisfy requests for lines absent from L1 without requiring a trip to main memory.</a:t>
            </a:r>
          </a:p>
          <a:p>
            <a:pPr>
              <a:spcAft>
                <a:spcPts val="1100"/>
              </a:spcAft>
              <a:defRPr sz="1900">
                <a:solidFill>
                  <a:srgbClr val="F2F5F8"/>
                </a:solidFill>
              </a:defRPr>
            </a:pPr>
            <a:r>
              <a:t>• Whether an L2 is private to a core or shared is a hardware design choice.</a:t>
            </a:r>
          </a:p>
          <a:p>
            <a:pPr>
              <a:spcAft>
                <a:spcPts val="1100"/>
              </a:spcAft>
              <a:defRPr sz="1900">
                <a:solidFill>
                  <a:srgbClr val="F2F5F8"/>
                </a:solidFill>
              </a:defRPr>
            </a:pPr>
            <a:r>
              <a:t>• A working set too large for L1 can still perform well when it fits in L2 and has predictable access.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27.3 L2 cache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working set too large for L1 can still perform well when it fits in L2 and has predictable access.</a:t>
            </a:r>
          </a:p>
          <a:p>
            <a:pPr>
              <a:spcAft>
                <a:spcPts val="1100"/>
              </a:spcAft>
              <a:defRPr sz="1700">
                <a:solidFill>
                  <a:srgbClr val="F2F5F8"/>
                </a:solidFill>
              </a:defRPr>
            </a:pPr>
            <a:r>
              <a:t>• Performance often changes gradually or in steps as working-set size crosses hierarchy boundaries, rather than following a single universal “memory access” time.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27.4 L3 cache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L3 or last-level cache often provides larger shared capacity, but names and sharing arrangements are not universal.</a:t>
            </a:r>
          </a:p>
          <a:p>
            <a:pPr>
              <a:spcAft>
                <a:spcPts val="1100"/>
              </a:spcAft>
              <a:defRPr sz="1900">
                <a:solidFill>
                  <a:srgbClr val="F2F5F8"/>
                </a:solidFill>
              </a:defRPr>
            </a:pPr>
            <a:r>
              <a:t>• Shared caches allow data to serve multiple cores while also creating competition for capacity and bandwidth.</a:t>
            </a:r>
          </a:p>
          <a:p>
            <a:pPr>
              <a:spcAft>
                <a:spcPts val="1100"/>
              </a:spcAft>
              <a:defRPr sz="1900">
                <a:solidFill>
                  <a:srgbClr val="F2F5F8"/>
                </a:solidFill>
              </a:defRPr>
            </a:pPr>
            <a:r>
              <a:t>• Cache inclusion policies vary.</a:t>
            </a:r>
          </a:p>
          <a:p>
            <a:pPr>
              <a:spcAft>
                <a:spcPts val="1100"/>
              </a:spcAft>
              <a:defRPr sz="1700">
                <a:solidFill>
                  <a:srgbClr val="F2F5F8"/>
                </a:solidFill>
              </a:defRPr>
            </a:pPr>
            <a:r>
              <a:t>• Do not assume that every line in a private cache must also exist in the last-level cache, or that evicting a line has identical consequences on all processors.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27.4 L3 cache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Cache inclusion policies vary.</a:t>
            </a:r>
          </a:p>
          <a:p>
            <a:pPr>
              <a:spcAft>
                <a:spcPts val="1100"/>
              </a:spcAft>
              <a:defRPr sz="1700">
                <a:solidFill>
                  <a:srgbClr val="F2F5F8"/>
                </a:solidFill>
              </a:defRPr>
            </a:pPr>
            <a:r>
              <a:t>• Do not assume that every line in a private cache must also exist in the last-level cache, or that evicting a line has identical consequences on all processors.</a:t>
            </a:r>
          </a:p>
          <a:p>
            <a:pPr>
              <a:spcAft>
                <a:spcPts val="1100"/>
              </a:spcAft>
              <a:defRPr sz="1900">
                <a:solidFill>
                  <a:srgbClr val="F2F5F8"/>
                </a:solidFill>
              </a:defRPr>
            </a:pPr>
            <a:r>
              <a:t>• For application design, focus first on working-set size, sharing patterns, and measured behavior.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27.5 DRAM</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DRAM supplies main-memory capacity beyond the processor caches.</a:t>
            </a:r>
          </a:p>
          <a:p>
            <a:pPr>
              <a:spcAft>
                <a:spcPts val="1100"/>
              </a:spcAft>
              <a:defRPr sz="1700">
                <a:solidFill>
                  <a:srgbClr val="F2F5F8"/>
                </a:solidFill>
              </a:defRPr>
            </a:pPr>
            <a:r>
              <a:t>• Access cost depends on more than a single chip latency: memory controllers, channels, banks, row state, access concurrency, and NUMA placement can all matter.</a:t>
            </a:r>
          </a:p>
          <a:p>
            <a:pPr>
              <a:spcAft>
                <a:spcPts val="1100"/>
              </a:spcAft>
              <a:defRPr sz="1900">
                <a:solidFill>
                  <a:srgbClr val="F2F5F8"/>
                </a:solidFill>
              </a:defRPr>
            </a:pPr>
            <a:r>
              <a:t>• Bandwidth and latency limits are distinct.</a:t>
            </a:r>
          </a:p>
          <a:p>
            <a:pPr>
              <a:spcAft>
                <a:spcPts val="1100"/>
              </a:spcAft>
              <a:defRPr sz="1700">
                <a:solidFill>
                  <a:srgbClr val="F2F5F8"/>
                </a:solidFill>
              </a:defRPr>
            </a:pPr>
            <a:r>
              <a:t>• A workload with many independent sequential accesses may approach a bandwidth limit, while a dependent pointer-chasing workload may be limited by the latency of each next address.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27.5 DRAM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Bandwidth and latency limits are distinct.</a:t>
            </a:r>
          </a:p>
          <a:p>
            <a:pPr>
              <a:spcAft>
                <a:spcPts val="1100"/>
              </a:spcAft>
              <a:defRPr sz="1700">
                <a:solidFill>
                  <a:srgbClr val="F2F5F8"/>
                </a:solidFill>
              </a:defRPr>
            </a:pPr>
            <a:r>
              <a:t>• A workload with many independent sequential accesses may approach a bandwidth limit, while a dependent pointer-chasing workload may be limited by the latency of each next...</a:t>
            </a:r>
          </a:p>
          <a:p>
            <a:pPr>
              <a:spcAft>
                <a:spcPts val="1100"/>
              </a:spcAft>
              <a:defRPr sz="1900">
                <a:solidFill>
                  <a:srgbClr val="F2F5F8"/>
                </a:solidFill>
              </a:defRPr>
            </a:pPr>
            <a:r>
              <a:t>• The same number of bytes can therefore take different times under different dependency patterns.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27.6 SSD</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An SSD is persistent storage accessed through a device and operating-system stack rather than as ordinary CPU cacheable DRAM.</a:t>
            </a:r>
          </a:p>
          <a:p>
            <a:pPr>
              <a:spcAft>
                <a:spcPts val="1100"/>
              </a:spcAft>
              <a:defRPr sz="1900">
                <a:solidFill>
                  <a:srgbClr val="F2F5F8"/>
                </a:solidFill>
              </a:defRPr>
            </a:pPr>
            <a:r>
              <a:t>• Its behavior depends on request size, queue depth, write patterns, device state, and filesystem policy.</a:t>
            </a:r>
          </a:p>
          <a:p>
            <a:pPr>
              <a:spcAft>
                <a:spcPts val="1100"/>
              </a:spcAft>
              <a:defRPr sz="1900">
                <a:solidFill>
                  <a:srgbClr val="F2F5F8"/>
                </a:solidFill>
              </a:defRPr>
            </a:pPr>
            <a:r>
              <a:t>• A file read that returns quickly may have been served from the operating system’s page cache without reaching the SSD.</a:t>
            </a:r>
          </a:p>
          <a:p>
            <a:pPr>
              <a:spcAft>
                <a:spcPts val="1100"/>
              </a:spcAft>
              <a:defRPr sz="1900">
                <a:solidFill>
                  <a:srgbClr val="F2F5F8"/>
                </a:solidFill>
              </a:defRPr>
            </a:pPr>
            <a:r>
              <a:t>• Distinguish cached file-access measurements from device measurements.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27.6 SSD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file read that returns quickly may have been served from the operating system’s page cache without reaching the SSD.</a:t>
            </a:r>
          </a:p>
          <a:p>
            <a:pPr>
              <a:spcAft>
                <a:spcPts val="1100"/>
              </a:spcAft>
              <a:defRPr sz="1900">
                <a:solidFill>
                  <a:srgbClr val="F2F5F8"/>
                </a:solidFill>
              </a:defRPr>
            </a:pPr>
            <a:r>
              <a:t>• Distinguish cached file-access measurements from device measurements.</a:t>
            </a:r>
          </a:p>
          <a:p>
            <a:pPr>
              <a:spcAft>
                <a:spcPts val="1100"/>
              </a:spcAft>
              <a:defRPr sz="1900">
                <a:solidFill>
                  <a:srgbClr val="F2F5F8"/>
                </a:solidFill>
              </a:defRPr>
            </a:pPr>
            <a:r>
              <a:t>• Similarly, successful buffered writes do not by themselves prove that data has reached durable media.</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27.7 Persistent storage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Persistent storage is intended to retain data across power loss or restart under specified guarantees.</a:t>
            </a:r>
          </a:p>
          <a:p>
            <a:pPr>
              <a:spcAft>
                <a:spcPts val="1100"/>
              </a:spcAft>
              <a:defRPr sz="1700">
                <a:solidFill>
                  <a:srgbClr val="F2F5F8"/>
                </a:solidFill>
              </a:defRPr>
            </a:pPr>
            <a:r>
              <a:t>• The complete durability story involves hardware behavior, filesystem semantics, and explicit synchronization operations.</a:t>
            </a:r>
          </a:p>
          <a:p>
            <a:pPr>
              <a:spcAft>
                <a:spcPts val="1100"/>
              </a:spcAft>
              <a:defRPr sz="1700">
                <a:solidFill>
                  <a:srgbClr val="F2F5F8"/>
                </a:solidFill>
              </a:defRPr>
            </a:pPr>
            <a:r>
              <a:t>• Persistence is a property to request and verify at the appropriate layer, not a synonym for “the write function returned.”</a:t>
            </a:r>
          </a:p>
          <a:p>
            <a:pPr>
              <a:spcAft>
                <a:spcPts val="1100"/>
              </a:spcAft>
              <a:defRPr sz="1700">
                <a:solidFill>
                  <a:srgbClr val="F2F5F8"/>
                </a:solidFill>
              </a:defRPr>
            </a:pPr>
            <a:r>
              <a:t>• A robust design distinguishes data in an application buffer, data accepted by the kernel, and data committed according to the required durability contract.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27.7 Persistent storage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robust design distinguishes data in an application buffer, data accepted by the kernel, and data committed according to the required durability contract.</a:t>
            </a:r>
          </a:p>
          <a:p>
            <a:pPr>
              <a:spcAft>
                <a:spcPts val="1100"/>
              </a:spcAft>
              <a:defRPr sz="1900">
                <a:solidFill>
                  <a:srgbClr val="F2F5F8"/>
                </a:solidFill>
              </a:defRPr>
            </a:pPr>
            <a:r>
              <a:t>• Chapters 35 and 59 revisit this distinction when discussing buffering and recovery. [ R33 ]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27.8 Latency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Latency is the time required for one operation or dependency to complete.</a:t>
            </a:r>
          </a:p>
          <a:p>
            <a:pPr>
              <a:spcAft>
                <a:spcPts val="1100"/>
              </a:spcAft>
              <a:defRPr sz="1900">
                <a:solidFill>
                  <a:srgbClr val="F2F5F8"/>
                </a:solidFill>
              </a:defRPr>
            </a:pPr>
            <a:r>
              <a:t>• A dependent chain exposes latency because later work cannot begin until earlier results are available.</a:t>
            </a:r>
          </a:p>
          <a:p>
            <a:pPr>
              <a:spcAft>
                <a:spcPts val="1100"/>
              </a:spcAft>
              <a:defRPr sz="1900">
                <a:solidFill>
                  <a:srgbClr val="F2F5F8"/>
                </a:solidFill>
              </a:defRPr>
            </a:pPr>
            <a:r>
              <a:t>• For example, following linked-list pointers often prevents the next address from being known in advance.</a:t>
            </a:r>
          </a:p>
          <a:p>
            <a:pPr>
              <a:spcAft>
                <a:spcPts val="1100"/>
              </a:spcAft>
              <a:defRPr sz="1900">
                <a:solidFill>
                  <a:srgbClr val="F2F5F8"/>
                </a:solidFill>
              </a:defRPr>
            </a:pPr>
            <a:r>
              <a:t>• Report the operation being measured.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27.8 Latency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Report the operation being measured.</a:t>
            </a:r>
          </a:p>
          <a:p>
            <a:pPr>
              <a:spcAft>
                <a:spcPts val="1100"/>
              </a:spcAft>
              <a:defRPr sz="1900">
                <a:solidFill>
                  <a:srgbClr val="F2F5F8"/>
                </a:solidFill>
              </a:defRPr>
            </a:pPr>
            <a:r>
              <a:t>• Cache-hit load latency, end-to-end request latency, and storage-read latency describe different boundaries.</a:t>
            </a:r>
          </a:p>
          <a:p>
            <a:pPr>
              <a:spcAft>
                <a:spcPts val="1100"/>
              </a:spcAft>
              <a:defRPr sz="1900">
                <a:solidFill>
                  <a:srgbClr val="F2F5F8"/>
                </a:solidFill>
              </a:defRPr>
            </a:pPr>
            <a:r>
              <a:t>• A number without its start event, end event, and conditions is difficult to interpret.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27.9 Throughput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Throughput is completed work per unit time.</a:t>
            </a:r>
          </a:p>
          <a:p>
            <a:pPr>
              <a:spcAft>
                <a:spcPts val="1100"/>
              </a:spcAft>
              <a:defRPr sz="1700">
                <a:solidFill>
                  <a:srgbClr val="F2F5F8"/>
                </a:solidFill>
              </a:defRPr>
            </a:pPr>
            <a:r>
              <a:t>• A system can have high throughput while individual requests experience substantial latency, especially when many operations overlap.</a:t>
            </a:r>
          </a:p>
          <a:p>
            <a:pPr>
              <a:spcAft>
                <a:spcPts val="1100"/>
              </a:spcAft>
              <a:defRPr sz="1900">
                <a:solidFill>
                  <a:srgbClr val="F2F5F8"/>
                </a:solidFill>
              </a:defRPr>
            </a:pPr>
            <a:r>
              <a:t>• Conversely, a fast isolated operation can yield poor aggregate throughput when shared resources serialize it.</a:t>
            </a:r>
          </a:p>
          <a:p>
            <a:pPr>
              <a:spcAft>
                <a:spcPts val="1100"/>
              </a:spcAft>
              <a:defRPr sz="1900">
                <a:solidFill>
                  <a:srgbClr val="F2F5F8"/>
                </a:solidFill>
              </a:defRPr>
            </a:pPr>
            <a:r>
              <a:t>• Useful units include bytes per second, records per second, and requests per second.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27.9 Throughput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Useful units include bytes per second, records per second, and requests per second.</a:t>
            </a:r>
          </a:p>
          <a:p>
            <a:pPr>
              <a:spcAft>
                <a:spcPts val="1100"/>
              </a:spcAft>
              <a:defRPr sz="1900">
                <a:solidFill>
                  <a:srgbClr val="F2F5F8"/>
                </a:solidFill>
              </a:defRPr>
            </a:pPr>
            <a:r>
              <a:t>• Choose a unit tied to completed useful work, not merely to internal activity.</a:t>
            </a:r>
          </a:p>
          <a:p>
            <a:pPr>
              <a:spcAft>
                <a:spcPts val="1100"/>
              </a:spcAft>
              <a:defRPr sz="1900">
                <a:solidFill>
                  <a:srgbClr val="F2F5F8"/>
                </a:solidFill>
              </a:defRPr>
            </a:pPr>
            <a:r>
              <a:t>• Counting retries or duplicated work as successful throughput can conceal a broken design.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27.10 Capacity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Capacity is the amount of information a level can hold.</a:t>
            </a:r>
          </a:p>
          <a:p>
            <a:pPr>
              <a:spcAft>
                <a:spcPts val="1100"/>
              </a:spcAft>
              <a:defRPr sz="1900">
                <a:solidFill>
                  <a:srgbClr val="F2F5F8"/>
                </a:solidFill>
              </a:defRPr>
            </a:pPr>
            <a:r>
              <a:t>• Larger capacity can reduce misses, but only for data that remains useful before eviction.</a:t>
            </a:r>
          </a:p>
          <a:p>
            <a:pPr>
              <a:spcAft>
                <a:spcPts val="1100"/>
              </a:spcAft>
              <a:defRPr sz="1900">
                <a:solidFill>
                  <a:srgbClr val="F2F5F8"/>
                </a:solidFill>
              </a:defRPr>
            </a:pPr>
            <a:r>
              <a:t>• A cache filled with streaming data that will never be reused may displace a smaller, more valuable working set.</a:t>
            </a:r>
          </a:p>
          <a:p>
            <a:pPr>
              <a:spcAft>
                <a:spcPts val="1100"/>
              </a:spcAft>
              <a:defRPr sz="1900">
                <a:solidFill>
                  <a:srgbClr val="F2F5F8"/>
                </a:solidFill>
              </a:defRPr>
            </a:pPr>
            <a:r>
              <a:t>• Working-set analysis asks how much data is actively needed over a relevant interval.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27.10 Capacity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Working-set analysis asks how much data is actively needed over a relevant interval.</a:t>
            </a:r>
          </a:p>
          <a:p>
            <a:pPr>
              <a:spcAft>
                <a:spcPts val="1100"/>
              </a:spcAft>
              <a:defRPr sz="1900">
                <a:solidFill>
                  <a:srgbClr val="F2F5F8"/>
                </a:solidFill>
              </a:defRPr>
            </a:pPr>
            <a:r>
              <a:t>• Total dataset size alone does not answer that question.</a:t>
            </a:r>
          </a:p>
          <a:p>
            <a:pPr>
              <a:spcAft>
                <a:spcPts val="1100"/>
              </a:spcAft>
              <a:defRPr sz="1900">
                <a:solidFill>
                  <a:srgbClr val="F2F5F8"/>
                </a:solidFill>
              </a:defRPr>
            </a:pPr>
            <a:r>
              <a:t>• A terabyte dataset processed in small independent tiles can have a modest active working set.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27.11 Cost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Cost includes hardware expense, energy, area, management overhead, and opportunity cost.</a:t>
            </a:r>
          </a:p>
          <a:p>
            <a:pPr>
              <a:spcAft>
                <a:spcPts val="1100"/>
              </a:spcAft>
              <a:defRPr sz="1900">
                <a:solidFill>
                  <a:srgbClr val="F2F5F8"/>
                </a:solidFill>
              </a:defRPr>
            </a:pPr>
            <a:r>
              <a:t>• Faster storage structures are constrained by more than purchase price.</a:t>
            </a:r>
          </a:p>
          <a:p>
            <a:pPr>
              <a:spcAft>
                <a:spcPts val="1100"/>
              </a:spcAft>
              <a:defRPr sz="1900">
                <a:solidFill>
                  <a:srgbClr val="F2F5F8"/>
                </a:solidFill>
              </a:defRPr>
            </a:pPr>
            <a:r>
              <a:t>• A design that used the fastest possible storage for every byte would face physical and economic limitations.</a:t>
            </a:r>
          </a:p>
          <a:p>
            <a:pPr>
              <a:spcAft>
                <a:spcPts val="1100"/>
              </a:spcAft>
              <a:defRPr sz="1900">
                <a:solidFill>
                  <a:srgbClr val="F2F5F8"/>
                </a:solidFill>
              </a:defRPr>
            </a:pPr>
            <a:r>
              <a:t>• The hierarchy is therefore a resource-allocation strategy.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27.11 Cost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hierarchy is therefore a resource-allocation strategy.</a:t>
            </a:r>
          </a:p>
          <a:p>
            <a:pPr>
              <a:spcAft>
                <a:spcPts val="1100"/>
              </a:spcAft>
              <a:defRPr sz="1700">
                <a:solidFill>
                  <a:srgbClr val="F2F5F8"/>
                </a:solidFill>
              </a:defRPr>
            </a:pPr>
            <a:r>
              <a:t>• Software participates by making reuse visible, avoiding unnecessary movement, and organizing work so that scarce fast capacity holds valuable information.</a:t>
            </a:r>
          </a:p>
          <a:p>
            <a:pPr>
              <a:spcAft>
                <a:spcPts val="1100"/>
              </a:spcAft>
              <a:defRPr sz="1900">
                <a:solidFill>
                  <a:srgbClr val="F2F5F8"/>
                </a:solidFill>
              </a:defRPr>
            </a:pPr>
            <a:r>
              <a:t>• Optimization is often about moving fewer bytes rather than executing a cleverer arithmetic instruction.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Latency versus bandwidth</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Assume a hypothetical memory service with 100-nanosecond latency per independent 64-byte transfer and a maximum sustained bandwidth of 20 GB/s, using decimal gigabytes.</a:t>
            </a:r>
          </a:p>
          <a:p>
            <a:pPr>
              <a:spcAft>
                <a:spcPts val="1100"/>
              </a:spcAft>
              <a:defRPr sz="1900">
                <a:solidFill>
                  <a:srgbClr val="F2F5F8"/>
                </a:solidFill>
              </a:defRPr>
            </a:pPr>
            <a:r>
              <a:t>• A fully dependent chain that permits only one outstanding transfer has a latency-limited rate of:</a:t>
            </a:r>
          </a:p>
          <a:p>
            <a:pPr>
              <a:spcAft>
                <a:spcPts val="1100"/>
              </a:spcAft>
              <a:defRPr sz="1900">
                <a:solidFill>
                  <a:srgbClr val="F2F5F8"/>
                </a:solidFill>
              </a:defRPr>
            </a:pPr>
            <a:r>
              <a:t>• To sustain 20 GB/s with 100-nanosecond average service time, the simple steady-state model requires about:</a:t>
            </a:r>
          </a:p>
          <a:p>
            <a:pPr>
              <a:spcAft>
                <a:spcPts val="1100"/>
              </a:spcAft>
              <a:defRPr sz="1900">
                <a:solidFill>
                  <a:srgbClr val="F2F5F8"/>
                </a:solidFill>
              </a:defRPr>
            </a:pPr>
            <a:r>
              <a:t>• Thus roughly 32 concurrent transfers are needed in this idealized calculation.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Latency versus bandwidth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To sustain 20 GB/s with 100-nanosecond average service time, the simple steady-state model requires about:</a:t>
            </a:r>
          </a:p>
          <a:p>
            <a:pPr>
              <a:spcAft>
                <a:spcPts val="1100"/>
              </a:spcAft>
              <a:defRPr sz="1900">
                <a:solidFill>
                  <a:srgbClr val="F2F5F8"/>
                </a:solidFill>
              </a:defRPr>
            </a:pPr>
            <a:r>
              <a:t>• Thus roughly 32 concurrent transfers are needed in this idealized calculation.</a:t>
            </a:r>
          </a:p>
          <a:p>
            <a:pPr>
              <a:spcAft>
                <a:spcPts val="1100"/>
              </a:spcAft>
              <a:defRPr sz="1900">
                <a:solidFill>
                  <a:srgbClr val="F2F5F8"/>
                </a:solidFill>
              </a:defRPr>
            </a:pPr>
            <a:r>
              <a:t>• The hardware may have other bottlenecks, and not every workload can expose that much independence.</a:t>
            </a:r>
          </a:p>
          <a:p>
            <a:pPr>
              <a:spcAft>
                <a:spcPts val="1100"/>
              </a:spcAft>
              <a:defRPr sz="1700">
                <a:solidFill>
                  <a:srgbClr val="F2F5F8"/>
                </a:solidFill>
              </a:defRPr>
            </a:pPr>
            <a:r>
              <a:t>• The result explains why reducing dependencies or batching independent work can improve throughput without changing the latency of one transfer.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Comparing access times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Assume an illustrative L1 hit takes 1 ns, DRAM 80 ns, and SSD access 100 microseconds.</a:t>
            </a:r>
          </a:p>
          <a:p>
            <a:pPr>
              <a:spcAft>
                <a:spcPts val="1100"/>
              </a:spcAft>
              <a:defRPr sz="1900">
                <a:solidFill>
                  <a:srgbClr val="F2F5F8"/>
                </a:solidFill>
              </a:defRPr>
            </a:pPr>
            <a:r>
              <a:t>• One SSD access is roughly 1,250 times slower than the DRAM access and 100,000 times slower than the L1 hit.</a:t>
            </a:r>
          </a:p>
          <a:p>
            <a:pPr>
              <a:spcAft>
                <a:spcPts val="1100"/>
              </a:spcAft>
              <a:defRPr sz="1700">
                <a:solidFill>
                  <a:srgbClr val="F2F5F8"/>
                </a:solidFill>
              </a:defRPr>
            </a:pPr>
            <a:r>
              <a:t>• The exact numbers vary by platform, but the orders of magnitude explain why locality and batching dominate systems performance.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Comparing access times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Assume an illustrative L1 hit takes 1 ns, DRAM 80 ns, and SSD access 100 microseconds.</a:t>
            </a:r>
          </a:p>
          <a:p>
            <a:pPr>
              <a:spcAft>
                <a:spcPts val="1100"/>
              </a:spcAft>
              <a:defRPr sz="1900">
                <a:solidFill>
                  <a:srgbClr val="F2F5F8"/>
                </a:solidFill>
              </a:defRPr>
            </a:pPr>
            <a:r>
              <a:t>• One SSD access is roughly 1,250 times slower than the DRAM access and 100,000 times slower than the L1 hit.</a:t>
            </a:r>
          </a:p>
          <a:p>
            <a:pPr>
              <a:spcAft>
                <a:spcPts val="1100"/>
              </a:spcAft>
              <a:defRPr sz="1700">
                <a:solidFill>
                  <a:srgbClr val="F2F5F8"/>
                </a:solidFill>
              </a:defRPr>
            </a:pPr>
            <a:r>
              <a:t>• The exact numbers vary by platform, but the orders of magnitude explain why locality and batching dominate systems performance.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Why capacity increases down the hierarchy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Registers are fastest but scarce; caches are larger and slower; DRAM is much larger; persistent storage is larger again.</a:t>
            </a:r>
          </a:p>
          <a:p>
            <a:pPr>
              <a:spcAft>
                <a:spcPts val="1100"/>
              </a:spcAft>
              <a:defRPr sz="1900">
                <a:solidFill>
                  <a:srgbClr val="F2F5F8"/>
                </a:solidFill>
              </a:defRPr>
            </a:pPr>
            <a:r>
              <a:t>• If every byte could economically have register latency and SSD capacity, a hierarchy would be unnecessary.</a:t>
            </a:r>
          </a:p>
          <a:p>
            <a:pPr>
              <a:spcAft>
                <a:spcPts val="1100"/>
              </a:spcAft>
              <a:defRPr sz="1900">
                <a:solidFill>
                  <a:srgbClr val="F2F5F8"/>
                </a:solidFill>
              </a:defRPr>
            </a:pPr>
            <a:r>
              <a:t>• Engineering trades latency, cost, power, and capacity at each level.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Why capacity increases down the hierarchy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Registers are fastest but scarce; caches are larger and slower; DRAM is much larger; persistent storage is larger again.</a:t>
            </a:r>
          </a:p>
          <a:p>
            <a:pPr>
              <a:spcAft>
                <a:spcPts val="1100"/>
              </a:spcAft>
              <a:defRPr sz="1900">
                <a:solidFill>
                  <a:srgbClr val="F2F5F8"/>
                </a:solidFill>
              </a:defRPr>
            </a:pPr>
            <a:r>
              <a:t>• If every byte could economically have register latency and SSD capacity, a hierarchy would be unnecessary.</a:t>
            </a:r>
          </a:p>
          <a:p>
            <a:pPr>
              <a:spcAft>
                <a:spcPts val="1100"/>
              </a:spcAft>
              <a:defRPr sz="1900">
                <a:solidFill>
                  <a:srgbClr val="F2F5F8"/>
                </a:solidFill>
              </a:defRPr>
            </a:pPr>
            <a:r>
              <a:t>• Engineering trades latency, cost, power, and capacity at each level.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27.</a:t>
            </a:r>
          </a:p>
          <a:p>
            <a:pPr>
              <a:spcAft>
                <a:spcPts val="1100"/>
              </a:spcAft>
              <a:defRPr sz="1900">
                <a:solidFill>
                  <a:srgbClr val="F2F5F8"/>
                </a:solidFill>
              </a:defRPr>
            </a:pPr>
            <a:r>
              <a:t>• Repeat the calculation for 80-nanosecond latency and 40 GB/s bandwidth.</a:t>
            </a:r>
          </a:p>
          <a:p>
            <a:pPr>
              <a:spcAft>
                <a:spcPts val="1100"/>
              </a:spcAft>
              <a:defRPr sz="1900">
                <a:solidFill>
                  <a:srgbClr val="F2F5F8"/>
                </a:solidFill>
              </a:defRPr>
            </a:pPr>
            <a:r>
              <a:t>• Explain why a linked structure can fail to reach the calculated bandwidth even when its total size is large.</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Does a fast file read prove that the SSD is fast?</a:t>
            </a:r>
          </a:p>
          <a:p>
            <a:pPr>
              <a:spcAft>
                <a:spcPts val="1100"/>
              </a:spcAft>
              <a:defRPr sz="1900">
                <a:solidFill>
                  <a:srgbClr val="F2F5F8"/>
                </a:solidFill>
              </a:defRPr>
            </a:pPr>
            <a:r>
              <a:t>• Review 2.</a:t>
            </a:r>
          </a:p>
          <a:p>
            <a:pPr>
              <a:spcAft>
                <a:spcPts val="1100"/>
              </a:spcAft>
              <a:defRPr sz="1900">
                <a:solidFill>
                  <a:srgbClr val="F2F5F8"/>
                </a:solidFill>
              </a:defRPr>
            </a:pPr>
            <a:r>
              <a:t>• Why is capacity alone insufficient to predict cache usefulness?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memory hierarchy.</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Locality.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27     |     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