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Chapter 43 — Concurrent Execution</a:t>
            </a:r>
          </a:p>
          <a:p/>
          <a:p>
            <a:r>
              <a:t>LECTURE NARRATION</a:t>
            </a:r>
          </a:p>
          <a:p>
            <a:r>
              <a:t>Concurrent execution means that multiple activities can be in progress over overlapping intervals. Parallel execution means that work actually proceeds simultaneously on multiple execution resources. A single-core system can run concurrent activities by interleaving them, while a multicore system can combine interleaving with true parallelism. Concurrency adds possible execution orders. Correctness must hold for every execution permitted by the program’s synchronization and platform model, not only for the order observed during one successful run. Timing-based confidence is not a replacement for a state and ownership argument. [ R22 , R34 ]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concurrent execution means that multiple activities can be in progress over overlapping intervals.</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What This Chapter Builds</a:t>
            </a:r>
          </a:p>
          <a:p/>
          <a:p>
            <a:r>
              <a:t>LECTURE NARRATION</a:t>
            </a:r>
          </a:p>
          <a:p>
            <a:r>
              <a:t>Concurrent execution means that multiple activities can be in progress over overlapping intervals. Parallel execution means that work actually proceeds simultaneously on multiple execution resources. A single-core system can run concurrent activities by interleaving them, while a multicore system can combine interleaving with true parallelism. Concurrency adds possible execution orders. Correctness must hold for every execution permitted by the program’s synchronization and platform model, not only for the order observed during one successful run. Timing-based confidence is not a replacement for a state and ownership argument. [ R22 , R34 ]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concurrent execution means that multiple activities can be in progress over overlapping intervals.</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Chapter Roadmap</a:t>
            </a:r>
          </a:p>
          <a:p/>
          <a:p>
            <a:r>
              <a:t>LECTURE NARRATION</a:t>
            </a:r>
          </a:p>
          <a:p>
            <a:r>
              <a:t>43.1 Concurrency 43.2 Parallelism 43.3 Processes 43.4 Threads ...plus 7 additional source topics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43.1 Concurrency 43.2 Parallelism 43.3 Processes 43.4 Threads ...plus 7 additional source topics</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43.1 Concurrency</a:t>
            </a:r>
          </a:p>
          <a:p/>
          <a:p>
            <a:r>
              <a:t>LECTURE NARRATION</a:t>
            </a:r>
          </a:p>
          <a:p>
            <a:r>
              <a:t>Concurrency is useful when activities wait independently, respond to separate events, or need to overlap work. A server can handle another request while one request waits for data. A user interface can remain responsive while a background task computes. Concurrency also adds lifecycle obligations: cancellation, completion, resource ownership, and communication. Creating another thread is only one implementation choice. Processes, event loops, asynchronous operations, and task systems can provide different concurrency structures.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concurrency is useful when activities wait independently, respond to separate events, or need to overlap work.</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43.1 Concurrency — Deep Dive</a:t>
            </a:r>
          </a:p>
          <a:p/>
          <a:p>
            <a:r>
              <a:t>LECTURE NARRATION</a:t>
            </a:r>
          </a:p>
          <a:p>
            <a:r>
              <a:t>Concurrency is useful when activities wait independently, respond to separate events, or need to overlap work. A server can handle another request while one request waits for data. A user interface can remain responsive while a background task computes. Concurrency also adds lifecycle obligations: cancellation, completion, resource ownership, and communication. Creating another thread is only one implementation choice. Processes, event loops, asynchronous operations, and task systems can provide different concurrency structures.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concurrency is useful when activities wait independently, respond to separate events, or need to overlap work.</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43.2 Parallelism</a:t>
            </a:r>
          </a:p>
          <a:p/>
          <a:p>
            <a:r>
              <a:t>LECTURE NARRATION</a:t>
            </a:r>
          </a:p>
          <a:p>
            <a:r>
              <a:t>Parallelism uses multiple execution resources at the same time. It can reduce elapsed time when work can be divided and shared bottlenecks do not dominate. Adding threads does not guarantee parallel execution or useful speedup. The available parallelism depends on dependencies. Four cores cannot execute the next step of a strictly dependent chain before the current step supplies its input. Parallel design often begins by changing task decomposition or data organization rather than increasing thread count.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parallelism uses multiple execution resources at the same time.</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43.2 Parallelism — Deep Dive</a:t>
            </a:r>
          </a:p>
          <a:p/>
          <a:p>
            <a:r>
              <a:t>LECTURE NARRATION</a:t>
            </a:r>
          </a:p>
          <a:p>
            <a:r>
              <a:t>Parallelism uses multiple execution resources at the same time. It can reduce elapsed time when work can be divided and shared bottlenecks do not dominate. Adding threads does not guarantee parallel execution or useful speedup. The available parallelism depends on dependencies. Four cores cannot execute the next step of a strictly dependent chain before the current step supplies its input. Parallel design often begins by changing task decomposition or data organization rather than increasing thread count.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parallelism uses multiple execution resources at the same time.</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43.3 Processes</a:t>
            </a:r>
          </a:p>
          <a:p/>
          <a:p>
            <a:r>
              <a:t>LECTURE NARRATION</a:t>
            </a:r>
          </a:p>
          <a:p>
            <a:r>
              <a:t>Processes provide separate address spaces and stronger default isolation than threads within one process. They communicate through explicit mechanisms such as pipes, sockets, or shared mappings. This can make failure containment and ownership clearer. Isolation has costs and exceptions. Communication may require copying or synchronization, and intentionally shared resources still need a protocol. A process boundary does not automatically make an unvalidated message safe or a shared file update atomic.</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processes provide separate address spaces and stronger default isolation than threads within one process.</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43.3 Processes — Deep Dive</a:t>
            </a:r>
          </a:p>
          <a:p/>
          <a:p>
            <a:r>
              <a:t>LECTURE NARRATION</a:t>
            </a:r>
          </a:p>
          <a:p>
            <a:r>
              <a:t>Processes provide separate address spaces and stronger default isolation than threads within one process. They communicate through explicit mechanisms such as pipes, sockets, or shared mappings. This can make failure containment and ownership clearer. Isolation has costs and exceptions. Communication may require copying or synchronization, and intentionally shared resources still need a protocol. A process boundary does not automatically make an unvalidated message safe or a shared file update atomic.</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processes provide separate address spaces and stronger default isolation than threads within one process.</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43.4 Threads</a:t>
            </a:r>
          </a:p>
          <a:p/>
          <a:p>
            <a:r>
              <a:t>LECTURE NARRATION</a:t>
            </a:r>
          </a:p>
          <a:p>
            <a:r>
              <a:t>Threads share an address space and many process resources while retaining their own execution state. Sharing makes communication convenient but permits accidental conflicting access to ordinary objects. The central design question is which thread owns each mutable object and when ownership changes. An immutable object safely published to readers has a simpler contract than an object that every thread may update at any time.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Imagine several people editing the same whiteboard. If they do not coordinate, the final answer can depend on who writes at exactly the wrong moment.</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43.4 Threads — Deep Dive</a:t>
            </a:r>
          </a:p>
          <a:p/>
          <a:p>
            <a:r>
              <a:t>LECTURE NARRATION</a:t>
            </a:r>
          </a:p>
          <a:p>
            <a:r>
              <a:t>Threads share an address space and many process resources while retaining their own execution state. Sharing makes communication convenient but permits accidental conflicting access to ordinary objects. The central design question is which thread owns each mutable object and when ownership changes. An immutable object safely published to readers has a simpler contract than an object that every thread may update at any time.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Imagine several people editing the same whiteboard. If they do not coordinate, the final answer can depend on who writes at exactly the wrong moment.</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43.5 Interleavings</a:t>
            </a:r>
          </a:p>
          <a:p/>
          <a:p>
            <a:r>
              <a:t>LECTURE NARRATION</a:t>
            </a:r>
          </a:p>
          <a:p>
            <a:r>
              <a:t>An interleaving is one ordering of steps from several activities that preserves required within-activity order. Even a small example can have many interleavings. Source statements may correspond to several machine operations, so treating each line as an atomic step can hide failures. Use interleaving diagrams as models with explicitly defined atomic steps. They explain logical hazards but do not override language memory rules. An unsynchronized C++ data race is undefined behavior; it cannot be justified by saying that a particular hand-drawn interleaving seems harmless.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an interleaving is one ordering of steps from several activities that preserves required within-activity order.</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43.5 Interleavings — Deep Dive</a:t>
            </a:r>
          </a:p>
          <a:p/>
          <a:p>
            <a:r>
              <a:t>LECTURE NARRATION</a:t>
            </a:r>
          </a:p>
          <a:p>
            <a:r>
              <a:t>An interleaving is one ordering of steps from several activities that preserves required within-activity order. Even a small example can have many interleavings. Source statements may correspond to several machine operations, so treating each line as an atomic step can hide failures. Use interleaving diagrams as models with explicitly defined atomic steps. They explain logical hazards but do not override language memory rules. An unsynchronized C++ data race is undefined behavior; it cannot be justified by saying that a particular hand-drawn interleaving seems harmless.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an interleaving is one ordering of steps from several activities that preserves required within-activity order.</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43.6 Nondeterminism</a:t>
            </a:r>
          </a:p>
          <a:p/>
          <a:p>
            <a:r>
              <a:t>LECTURE NARRATION</a:t>
            </a:r>
          </a:p>
          <a:p>
            <a:r>
              <a:t>Nondeterminism means that the same apparent inputs can lead to different permitted execution orders or timing. Output order, completion order, and which thread obtains a lock first may vary. A concurrent program can still have deterministic results when synchronization and algorithm design make those ordering differences irrelevant. For example, independent partial sums combined after all workers finish can produce a fixed integer result when the arithmetic and partitioning are defined.</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nondeterminism means that the same apparent inputs can lead to different permitted execution orders or timing.</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43.6 Nondeterminism — Deep Dive</a:t>
            </a:r>
          </a:p>
          <a:p/>
          <a:p>
            <a:r>
              <a:t>LECTURE NARRATION</a:t>
            </a:r>
          </a:p>
          <a:p>
            <a:r>
              <a:t>Nondeterminism means that the same apparent inputs can lead to different permitted execution orders or timing. Output order, completion order, and which thread obtains a lock first may vary. A concurrent program can still have deterministic results when synchronization and algorithm design make those ordering differences irrelevant. For example, independent partial sums combined after all workers finish can produce a fixed integer result when the arithmetic and partitioning are defined.</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nondeterminism means that the same apparent inputs can lead to different permitted execution orders or timing.</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43.7 Multicore execution</a:t>
            </a:r>
          </a:p>
          <a:p/>
          <a:p>
            <a:r>
              <a:t>LECTURE NARRATION</a:t>
            </a:r>
          </a:p>
          <a:p>
            <a:r>
              <a:t>Multicore hardware allows simultaneous instruction execution and maintains coherence for supported shared-memory accesses. Coherence does not make every multi-step operation atomic or provide all ordering needed by a language-level communication protocol. False sharing, cache-line movement, memory bandwidth, and scheduler placement can limit scaling. A correct design is the prerequisite; performance then depends on reducing unnecessary communication and contention while preserving the required synchronization.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multicore hardware allows simultaneous instruction execution and maintains coherence for supported shared-memory accesses.</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43.7 Multicore execution — Deep Dive</a:t>
            </a:r>
          </a:p>
          <a:p/>
          <a:p>
            <a:r>
              <a:t>LECTURE NARRATION</a:t>
            </a:r>
          </a:p>
          <a:p>
            <a:r>
              <a:t>Multicore hardware allows simultaneous instruction execution and maintains coherence for supported shared-memory accesses. Coherence does not make every multi-step operation atomic or provide all ordering needed by a language-level communication protocol. False sharing, cache-line movement, memory bandwidth, and scheduler placement can limit scaling. A correct design is the prerequisite; performance then depends on reducing unnecessary communication and contention while preserving the required synchronization.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multicore hardware allows simultaneous instruction execution and maintains coherence for supported shared-memory accesses.</a:t>
            </a:r>
          </a:p>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 Worked example — Enumerating an abstract lost update</a:t>
            </a:r>
          </a:p>
          <a:p/>
          <a:p>
            <a:r>
              <a:t>LECTURE NARRATION</a:t>
            </a:r>
          </a:p>
          <a:p>
            <a:r>
              <a:t>Model each of two activities as three steps: read a shared counter into a private temporary, add one to that temporary, and write it back. The model treats each step as atomic and enumerates all order-preserving interleavings. It is a mathematical state machine, not an execution of racy C++ code. Companion listing: ch43/interleavings.py The final value can be 1 when both activities read zero before either writes. It can be 2 when one complete increment precedes the other’s read. The lost update occurs because the intended read-modify-write operation was divided into separate steps without a coordination rule. The number of schedules is 6 choose 3 = 20 . Enumerating this tiny state space is feasible; real programs have vastly larger spaces. The scalable response is to establish invariants and synchronization rather than hope to test every timing arrangement.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model each of two activities as three steps: read a shared counter into a private temporary, add one to that temporary, and write it back.</a:t>
            </a:r>
          </a:p>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19: Worked example — Enumerating an abstract lost update — Deep Dive</a:t>
            </a:r>
          </a:p>
          <a:p/>
          <a:p>
            <a:r>
              <a:t>LECTURE NARRATION</a:t>
            </a:r>
          </a:p>
          <a:p>
            <a:r>
              <a:t>Model each of two activities as three steps: read a shared counter into a private temporary, add one to that temporary, and write it back. The model treats each step as atomic and enumerates all order-preserving interleavings. It is a mathematical state machine, not an execution of racy C++ code. Companion listing: ch43/interleavings.py The final value can be 1 when both activities read zero before either writes. It can be 2 when one complete increment precedes the other’s read. The lost update occurs because the intended read-modify-write operation was divided into separate steps without a coordination rule. The number of schedules is 6 choose 3 = 20 . Enumerating this tiny state space is feasible; real programs have vastly larger spaces. The scalable response is to establish invariants and synchronization rather than hope to test every timing arrangement.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model each of two activities as three steps: read a shared counter into a private temporary, add one to that temporary, and write it back.</a:t>
            </a:r>
          </a:p>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20: Worked example — Enumerating interleavings</a:t>
            </a:r>
          </a:p>
          <a:p/>
          <a:p>
            <a:r>
              <a:t>LECTURE NARRATION</a:t>
            </a:r>
          </a:p>
          <a:p>
            <a:r>
              <a:t>Two threads each execute two operations: A1,A2 and B1,B2. Preserving each thread’s internal order yields six possible interleavings: A1 A2 B1 B2; A1 B1 A2 B2; A1 B1 B2 A2; B1 B2 A1 A2; B1 A1 B2 A2; and B1 A1 A2 B2. Concurrency introduces multiple legal orderings even before true simultaneous execution is considered.</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two threads each execute two operations: A1,A2 and B1,B2.</a:t>
            </a:r>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21: Worked example — Enumerating interleavings — Deep Dive</a:t>
            </a:r>
          </a:p>
          <a:p/>
          <a:p>
            <a:r>
              <a:t>LECTURE NARRATION</a:t>
            </a:r>
          </a:p>
          <a:p>
            <a:r>
              <a:t>Two threads each execute two operations: A1,A2 and B1,B2. Preserving each thread’s internal order yields six possible interleavings: A1 A2 B1 B2; A1 B1 A2 B2; A1 B1 B2 A2; B1 B2 A1 A2; B1 A1 B2 A2; and B1 A1 A2 B2. Concurrency introduces multiple legal orderings even before true simultaneous execution is considered.</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two threads each execute two operations: A1,A2 and B1,B2.</a:t>
            </a:r>
          </a:p>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22: Worked example — Concurrency without parallelism</a:t>
            </a:r>
          </a:p>
          <a:p/>
          <a:p>
            <a:r>
              <a:t>LECTURE NARRATION</a:t>
            </a:r>
          </a:p>
          <a:p>
            <a:r>
              <a:t>A single-core system can run many threads concurrently by time-slicing: one runs, is preempted or blocks, then another runs. Their executions overlap in time conceptually but not physically at the same instant. Parallelism requires multiple execution resources; concurrency requires overlapping progress and interleavings.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single-core system can run many threads concurrently by time-slicing: one runs, is preempted or blocks, then another runs.</a:t>
            </a:r>
          </a:p>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23: Worked example — Concurrency without parallelism — Deep Dive</a:t>
            </a:r>
          </a:p>
          <a:p/>
          <a:p>
            <a:r>
              <a:t>LECTURE NARRATION</a:t>
            </a:r>
          </a:p>
          <a:p>
            <a:r>
              <a:t>A single-core system can run many threads concurrently by time-slicing: one runs, is preempted or blocks, then another runs. Their executions overlap in time conceptually but not physically at the same instant. Parallelism requires multiple execution resources; concurrency requires overlapping progress and interleavings.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single-core system can run many threads concurrently by time-slicing: one runs, is preempted or blocks, then another runs.</a:t>
            </a:r>
          </a:p>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24: Guided lab and review</a:t>
            </a:r>
          </a:p>
          <a:p/>
          <a:p>
            <a:r>
              <a:t>LECTURE NARRATION</a:t>
            </a:r>
          </a:p>
          <a:p>
            <a:r>
              <a:t>Lab 43. Record one schedule producing 1 and one producing 2. Then replace each three-step increment with one atomic modeled step and enumerate the remaining schedules. Review 1. Can concurrency exist on one core? Review 2. Does cache coherence make a three-step increment indivisible?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lab 43.</a:t>
            </a:r>
          </a:p>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25: Guided lab and review — Deep Dive</a:t>
            </a:r>
          </a:p>
          <a:p/>
          <a:p>
            <a:r>
              <a:t>LECTURE NARRATION</a:t>
            </a:r>
          </a:p>
          <a:p>
            <a:r>
              <a:t>Lab 43. Record one schedule producing 1 and one producing 2. Then replace each three-step increment with one atomic modeled step and enumerate the remaining schedules. Review 1. Can concurrency exist on one core? Review 2. Does cache coherence make a three-step increment indivisible?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lab 43.</a:t>
            </a:r>
          </a:p>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26: Chapter Synthesis</a:t>
            </a:r>
          </a:p>
          <a:p/>
          <a:p>
            <a:r>
              <a:t>LECTURE NARRATION</a:t>
            </a:r>
          </a:p>
          <a:p>
            <a:r>
              <a:t>The chapter's central subject is concurrent execution. Correct reasoning requires explicit assumptions, bounds, ownership, and interface contracts. Observed behavior is evidence about a run; it is not automatically a language or system guarantee. Use the worked examples and lab to test whether the model transfers to new cases.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chapter's central subject is concurrent execution.</a:t>
            </a:r>
          </a:p>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27: Review and Transition</a:t>
            </a:r>
          </a:p>
          <a:p/>
          <a:p>
            <a:r>
              <a:t>LECTURE NARRATION</a:t>
            </a:r>
          </a:p>
          <a:p>
            <a:r>
              <a:t>Explain one mechanism from the chapter without relying on vocabulary alone. Identify one failure mode and the violated contract or invariant. State what evidence would support your diagnosis and what it would not prove. Next: Threads.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explain one mechanism from the chapter without relying on vocabulary alone.</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43 — Concurrent Execution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GRADUATE LECTURE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Concurrent execution means that multiple activities can be in progress over overlapping intervals.</a:t>
            </a:r>
          </a:p>
          <a:p>
            <a:pPr>
              <a:spcAft>
                <a:spcPts val="1100"/>
              </a:spcAft>
              <a:defRPr sz="1900">
                <a:solidFill>
                  <a:srgbClr val="F2F5F8"/>
                </a:solidFill>
              </a:defRPr>
            </a:pPr>
            <a:r>
              <a:t>• Parallel execution means that work actually proceeds simultaneously on multiple execution resources.</a:t>
            </a:r>
          </a:p>
          <a:p>
            <a:pPr>
              <a:spcAft>
                <a:spcPts val="1100"/>
              </a:spcAft>
              <a:defRPr sz="1700">
                <a:solidFill>
                  <a:srgbClr val="F2F5F8"/>
                </a:solidFill>
              </a:defRPr>
            </a:pPr>
            <a:r>
              <a:t>• A single-core system can run concurrent activities by interleaving them, while a multicore system can combine interleaving with true parallelism.</a:t>
            </a:r>
          </a:p>
          <a:p>
            <a:pPr>
              <a:spcAft>
                <a:spcPts val="1100"/>
              </a:spcAft>
              <a:defRPr sz="1900">
                <a:solidFill>
                  <a:srgbClr val="F2F5F8"/>
                </a:solidFill>
              </a:defRPr>
            </a:pPr>
            <a:r>
              <a:t>• Concurrency adds possible execution orders.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43     |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What This Chapter Builds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LEARNING OBJECTIVES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Explain the mechanisms and contracts in Concurrent Execution.</a:t>
            </a:r>
          </a:p>
          <a:p>
            <a:pPr>
              <a:spcAft>
                <a:spcPts val="1100"/>
              </a:spcAft>
              <a:defRPr sz="1900">
                <a:solidFill>
                  <a:srgbClr val="F2F5F8"/>
                </a:solidFill>
              </a:defRPr>
            </a:pPr>
            <a:r>
              <a:t>• Trace the chapter's important state, representation, and resource transitions.</a:t>
            </a:r>
          </a:p>
          <a:p>
            <a:pPr>
              <a:spcAft>
                <a:spcPts val="1100"/>
              </a:spcAft>
              <a:defRPr sz="1900">
                <a:solidFill>
                  <a:srgbClr val="F2F5F8"/>
                </a:solidFill>
              </a:defRPr>
            </a:pPr>
            <a:r>
              <a:t>• Identify failure modes, assumptions, and evidence required for correctness.</a:t>
            </a:r>
          </a:p>
          <a:p>
            <a:pPr>
              <a:spcAft>
                <a:spcPts val="1100"/>
              </a:spcAft>
              <a:defRPr sz="1900">
                <a:solidFill>
                  <a:srgbClr val="F2F5F8"/>
                </a:solidFill>
              </a:defRPr>
            </a:pPr>
            <a:r>
              <a:t>• Apply the chapter model to the worked examples and guided lab.</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43     |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Roadmap</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SOURCE-ALIGNED COVERAGE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43.1 Concurrency</a:t>
            </a:r>
          </a:p>
          <a:p>
            <a:pPr>
              <a:spcAft>
                <a:spcPts val="1100"/>
              </a:spcAft>
              <a:defRPr sz="1900">
                <a:solidFill>
                  <a:srgbClr val="F2F5F8"/>
                </a:solidFill>
              </a:defRPr>
            </a:pPr>
            <a:r>
              <a:t>• 43.2 Parallelism</a:t>
            </a:r>
          </a:p>
          <a:p>
            <a:pPr>
              <a:spcAft>
                <a:spcPts val="1100"/>
              </a:spcAft>
              <a:defRPr sz="1900">
                <a:solidFill>
                  <a:srgbClr val="F2F5F8"/>
                </a:solidFill>
              </a:defRPr>
            </a:pPr>
            <a:r>
              <a:t>• 43.3 Processes</a:t>
            </a:r>
          </a:p>
          <a:p>
            <a:pPr>
              <a:spcAft>
                <a:spcPts val="1100"/>
              </a:spcAft>
              <a:defRPr sz="1900">
                <a:solidFill>
                  <a:srgbClr val="F2F5F8"/>
                </a:solidFill>
              </a:defRPr>
            </a:pPr>
            <a:r>
              <a:t>• 43.4 Threads</a:t>
            </a:r>
          </a:p>
          <a:p>
            <a:pPr>
              <a:spcAft>
                <a:spcPts val="1100"/>
              </a:spcAft>
              <a:defRPr sz="1900">
                <a:solidFill>
                  <a:srgbClr val="F2F5F8"/>
                </a:solidFill>
              </a:defRPr>
            </a:pPr>
            <a:r>
              <a:t>• ...plus 7 additional source topics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43     |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43.1 Concurrency</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Concurrency is useful when activities wait independently, respond to separate events, or need to overlap work.</a:t>
            </a:r>
          </a:p>
          <a:p>
            <a:pPr>
              <a:spcAft>
                <a:spcPts val="1100"/>
              </a:spcAft>
              <a:defRPr sz="1900">
                <a:solidFill>
                  <a:srgbClr val="F2F5F8"/>
                </a:solidFill>
              </a:defRPr>
            </a:pPr>
            <a:r>
              <a:t>• A server can handle another request while one request waits for data.</a:t>
            </a:r>
          </a:p>
          <a:p>
            <a:pPr>
              <a:spcAft>
                <a:spcPts val="1100"/>
              </a:spcAft>
              <a:defRPr sz="1900">
                <a:solidFill>
                  <a:srgbClr val="F2F5F8"/>
                </a:solidFill>
              </a:defRPr>
            </a:pPr>
            <a:r>
              <a:t>• A user interface can remain responsive while a background task computes.</a:t>
            </a:r>
          </a:p>
          <a:p>
            <a:pPr>
              <a:spcAft>
                <a:spcPts val="1100"/>
              </a:spcAft>
              <a:defRPr sz="1900">
                <a:solidFill>
                  <a:srgbClr val="F2F5F8"/>
                </a:solidFill>
              </a:defRPr>
            </a:pPr>
            <a:r>
              <a:t>• Concurrency also adds lifecycle obligations: cancellation, completion, resource ownership, and communication.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43     |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43.1 Concurrency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Concurrency also adds lifecycle obligations: cancellation, completion, resource ownership, and communication.</a:t>
            </a:r>
          </a:p>
          <a:p>
            <a:pPr>
              <a:spcAft>
                <a:spcPts val="1100"/>
              </a:spcAft>
              <a:defRPr sz="1900">
                <a:solidFill>
                  <a:srgbClr val="F2F5F8"/>
                </a:solidFill>
              </a:defRPr>
            </a:pPr>
            <a:r>
              <a:t>• Creating another thread is only one implementation choice.</a:t>
            </a:r>
          </a:p>
          <a:p>
            <a:pPr>
              <a:spcAft>
                <a:spcPts val="1100"/>
              </a:spcAft>
              <a:defRPr sz="1900">
                <a:solidFill>
                  <a:srgbClr val="F2F5F8"/>
                </a:solidFill>
              </a:defRPr>
            </a:pPr>
            <a:r>
              <a:t>• Processes, event loops, asynchronous operations, and task systems can provide different concurrency structures.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43     |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43.2 Parallelism</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Parallelism uses multiple execution resources at the same time.</a:t>
            </a:r>
          </a:p>
          <a:p>
            <a:pPr>
              <a:spcAft>
                <a:spcPts val="1100"/>
              </a:spcAft>
              <a:defRPr sz="1900">
                <a:solidFill>
                  <a:srgbClr val="F2F5F8"/>
                </a:solidFill>
              </a:defRPr>
            </a:pPr>
            <a:r>
              <a:t>• It can reduce elapsed time when work can be divided and shared bottlenecks do not dominate.</a:t>
            </a:r>
          </a:p>
          <a:p>
            <a:pPr>
              <a:spcAft>
                <a:spcPts val="1100"/>
              </a:spcAft>
              <a:defRPr sz="1900">
                <a:solidFill>
                  <a:srgbClr val="F2F5F8"/>
                </a:solidFill>
              </a:defRPr>
            </a:pPr>
            <a:r>
              <a:t>• Adding threads does not guarantee parallel execution or useful speedup.</a:t>
            </a:r>
          </a:p>
          <a:p>
            <a:pPr>
              <a:spcAft>
                <a:spcPts val="1100"/>
              </a:spcAft>
              <a:defRPr sz="1900">
                <a:solidFill>
                  <a:srgbClr val="F2F5F8"/>
                </a:solidFill>
              </a:defRPr>
            </a:pPr>
            <a:r>
              <a:t>• The available parallelism depends on dependencies.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43     |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43.2 Parallelism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available parallelism depends on dependencies.</a:t>
            </a:r>
          </a:p>
          <a:p>
            <a:pPr>
              <a:spcAft>
                <a:spcPts val="1100"/>
              </a:spcAft>
              <a:defRPr sz="1900">
                <a:solidFill>
                  <a:srgbClr val="F2F5F8"/>
                </a:solidFill>
              </a:defRPr>
            </a:pPr>
            <a:r>
              <a:t>• Four cores cannot execute the next step of a strictly dependent chain before the current step supplies its input.</a:t>
            </a:r>
          </a:p>
          <a:p>
            <a:pPr>
              <a:spcAft>
                <a:spcPts val="1100"/>
              </a:spcAft>
              <a:defRPr sz="1900">
                <a:solidFill>
                  <a:srgbClr val="F2F5F8"/>
                </a:solidFill>
              </a:defRPr>
            </a:pPr>
            <a:r>
              <a:t>• Parallel design often begins by changing task decomposition or data organization rather than increasing thread count.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43     |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43.3 Processes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Processes provide separate address spaces and stronger default isolation than threads within one process.</a:t>
            </a:r>
          </a:p>
          <a:p>
            <a:pPr>
              <a:spcAft>
                <a:spcPts val="1100"/>
              </a:spcAft>
              <a:defRPr sz="1900">
                <a:solidFill>
                  <a:srgbClr val="F2F5F8"/>
                </a:solidFill>
              </a:defRPr>
            </a:pPr>
            <a:r>
              <a:t>• They communicate through explicit mechanisms such as pipes, sockets, or shared mappings.</a:t>
            </a:r>
          </a:p>
          <a:p>
            <a:pPr>
              <a:spcAft>
                <a:spcPts val="1100"/>
              </a:spcAft>
              <a:defRPr sz="1900">
                <a:solidFill>
                  <a:srgbClr val="F2F5F8"/>
                </a:solidFill>
              </a:defRPr>
            </a:pPr>
            <a:r>
              <a:t>• This can make failure containment and ownership clearer.</a:t>
            </a:r>
          </a:p>
          <a:p>
            <a:pPr>
              <a:spcAft>
                <a:spcPts val="1100"/>
              </a:spcAft>
              <a:defRPr sz="1900">
                <a:solidFill>
                  <a:srgbClr val="F2F5F8"/>
                </a:solidFill>
              </a:defRPr>
            </a:pPr>
            <a:r>
              <a:t>• Isolation has costs and exceptions.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43     |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43.3 Processes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Isolation has costs and exceptions.</a:t>
            </a:r>
          </a:p>
          <a:p>
            <a:pPr>
              <a:spcAft>
                <a:spcPts val="1100"/>
              </a:spcAft>
              <a:defRPr sz="1900">
                <a:solidFill>
                  <a:srgbClr val="F2F5F8"/>
                </a:solidFill>
              </a:defRPr>
            </a:pPr>
            <a:r>
              <a:t>• Communication may require copying or synchronization, and intentionally shared resources still need a protocol.</a:t>
            </a:r>
          </a:p>
          <a:p>
            <a:pPr>
              <a:spcAft>
                <a:spcPts val="1100"/>
              </a:spcAft>
              <a:defRPr sz="1900">
                <a:solidFill>
                  <a:srgbClr val="F2F5F8"/>
                </a:solidFill>
              </a:defRPr>
            </a:pPr>
            <a:r>
              <a:t>• A process boundary does not automatically make an unvalidated message safe or a shared file update atomic.</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43     |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43.4 Threads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Threads share an address space and many process resources while retaining their own execution state.</a:t>
            </a:r>
          </a:p>
          <a:p>
            <a:pPr>
              <a:spcAft>
                <a:spcPts val="1100"/>
              </a:spcAft>
              <a:defRPr sz="1900">
                <a:solidFill>
                  <a:srgbClr val="F2F5F8"/>
                </a:solidFill>
              </a:defRPr>
            </a:pPr>
            <a:r>
              <a:t>• Sharing makes communication convenient but permits accidental conflicting access to ordinary objects.</a:t>
            </a:r>
          </a:p>
          <a:p>
            <a:pPr>
              <a:spcAft>
                <a:spcPts val="1100"/>
              </a:spcAft>
              <a:defRPr sz="1900">
                <a:solidFill>
                  <a:srgbClr val="F2F5F8"/>
                </a:solidFill>
              </a:defRPr>
            </a:pPr>
            <a:r>
              <a:t>• The central design question is which thread owns each mutable object and when ownership changes.</a:t>
            </a:r>
          </a:p>
          <a:p>
            <a:pPr>
              <a:spcAft>
                <a:spcPts val="1100"/>
              </a:spcAft>
              <a:defRPr sz="1700">
                <a:solidFill>
                  <a:srgbClr val="F2F5F8"/>
                </a:solidFill>
              </a:defRPr>
            </a:pPr>
            <a:r>
              <a:t>• An immutable object safely published to readers has a simpler contract than an object that every thread may update at any time.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43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43.4 Threads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central design question is which thread owns each mutable object and when ownership changes.</a:t>
            </a:r>
          </a:p>
          <a:p>
            <a:pPr>
              <a:spcAft>
                <a:spcPts val="1100"/>
              </a:spcAft>
              <a:defRPr sz="1700">
                <a:solidFill>
                  <a:srgbClr val="F2F5F8"/>
                </a:solidFill>
              </a:defRPr>
            </a:pPr>
            <a:r>
              <a:t>• An immutable object safely published to readers has a simpler contract than an object that every thread may update at any time.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43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43.5 Interleavings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An interleaving is one ordering of steps from several activities that preserves required within-activity order.</a:t>
            </a:r>
          </a:p>
          <a:p>
            <a:pPr>
              <a:spcAft>
                <a:spcPts val="1100"/>
              </a:spcAft>
              <a:defRPr sz="1900">
                <a:solidFill>
                  <a:srgbClr val="F2F5F8"/>
                </a:solidFill>
              </a:defRPr>
            </a:pPr>
            <a:r>
              <a:t>• Even a small example can have many interleavings.</a:t>
            </a:r>
          </a:p>
          <a:p>
            <a:pPr>
              <a:spcAft>
                <a:spcPts val="1100"/>
              </a:spcAft>
              <a:defRPr sz="1700">
                <a:solidFill>
                  <a:srgbClr val="F2F5F8"/>
                </a:solidFill>
              </a:defRPr>
            </a:pPr>
            <a:r>
              <a:t>• Source statements may correspond to several machine operations, so treating each line as an atomic step can hide failures.</a:t>
            </a:r>
          </a:p>
          <a:p>
            <a:pPr>
              <a:spcAft>
                <a:spcPts val="1100"/>
              </a:spcAft>
              <a:defRPr sz="1900">
                <a:solidFill>
                  <a:srgbClr val="F2F5F8"/>
                </a:solidFill>
              </a:defRPr>
            </a:pPr>
            <a:r>
              <a:t>• Use interleaving diagrams as models with explicitly defined atomic steps.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43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43.5 Interleavings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Use interleaving diagrams as models with explicitly defined atomic steps.</a:t>
            </a:r>
          </a:p>
          <a:p>
            <a:pPr>
              <a:spcAft>
                <a:spcPts val="1100"/>
              </a:spcAft>
              <a:defRPr sz="1900">
                <a:solidFill>
                  <a:srgbClr val="F2F5F8"/>
                </a:solidFill>
              </a:defRPr>
            </a:pPr>
            <a:r>
              <a:t>• They explain logical hazards but do not override language memory rules.</a:t>
            </a:r>
          </a:p>
          <a:p>
            <a:pPr>
              <a:spcAft>
                <a:spcPts val="1100"/>
              </a:spcAft>
              <a:defRPr sz="1700">
                <a:solidFill>
                  <a:srgbClr val="F2F5F8"/>
                </a:solidFill>
              </a:defRPr>
            </a:pPr>
            <a:r>
              <a:t>• An unsynchronized C++ data race is undefined behavior; it cannot be justified by saying that a particular hand-drawn interleaving seems harmless.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43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43.6 Nondeterminism</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Nondeterminism means that the same apparent inputs can lead to different permitted execution orders or timing.</a:t>
            </a:r>
          </a:p>
          <a:p>
            <a:pPr>
              <a:spcAft>
                <a:spcPts val="1100"/>
              </a:spcAft>
              <a:defRPr sz="1900">
                <a:solidFill>
                  <a:srgbClr val="F2F5F8"/>
                </a:solidFill>
              </a:defRPr>
            </a:pPr>
            <a:r>
              <a:t>• Output order, completion order, and which thread obtains a lock first may vary.</a:t>
            </a:r>
          </a:p>
          <a:p>
            <a:pPr>
              <a:spcAft>
                <a:spcPts val="1100"/>
              </a:spcAft>
              <a:defRPr sz="1700">
                <a:solidFill>
                  <a:srgbClr val="F2F5F8"/>
                </a:solidFill>
              </a:defRPr>
            </a:pPr>
            <a:r>
              <a:t>• A concurrent program can still have deterministic results when synchronization and algorithm design make those ordering differences irrelevant.</a:t>
            </a:r>
          </a:p>
          <a:p>
            <a:pPr>
              <a:spcAft>
                <a:spcPts val="1100"/>
              </a:spcAft>
              <a:defRPr sz="1700">
                <a:solidFill>
                  <a:srgbClr val="F2F5F8"/>
                </a:solidFill>
              </a:defRPr>
            </a:pPr>
            <a:r>
              <a:t>• For example, independent partial sums combined after all workers finish can produce a fixed integer result when the arithmetic and partitioning are defined.</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43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43.6 Nondeterminism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A concurrent program can still have deterministic results when synchronization and algorithm design make those ordering differences irrelevant.</a:t>
            </a:r>
          </a:p>
          <a:p>
            <a:pPr>
              <a:spcAft>
                <a:spcPts val="1100"/>
              </a:spcAft>
              <a:defRPr sz="1700">
                <a:solidFill>
                  <a:srgbClr val="F2F5F8"/>
                </a:solidFill>
              </a:defRPr>
            </a:pPr>
            <a:r>
              <a:t>• For example, independent partial sums combined after all workers finish can produce a fixed integer result when the arithmetic and partitioning are defined.</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43     |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43.7 Multicore execution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Multicore hardware allows simultaneous instruction execution and maintains coherence for supported shared-memory accesses.</a:t>
            </a:r>
          </a:p>
          <a:p>
            <a:pPr>
              <a:spcAft>
                <a:spcPts val="1100"/>
              </a:spcAft>
              <a:defRPr sz="1700">
                <a:solidFill>
                  <a:srgbClr val="F2F5F8"/>
                </a:solidFill>
              </a:defRPr>
            </a:pPr>
            <a:r>
              <a:t>• Coherence does not make every multi-step operation atomic or provide all ordering needed by a language-level communication protocol.</a:t>
            </a:r>
          </a:p>
          <a:p>
            <a:pPr>
              <a:spcAft>
                <a:spcPts val="1100"/>
              </a:spcAft>
              <a:defRPr sz="1900">
                <a:solidFill>
                  <a:srgbClr val="F2F5F8"/>
                </a:solidFill>
              </a:defRPr>
            </a:pPr>
            <a:r>
              <a:t>• False sharing, cache-line movement, memory bandwidth, and scheduler placement can limit scaling.</a:t>
            </a:r>
          </a:p>
          <a:p>
            <a:pPr>
              <a:spcAft>
                <a:spcPts val="1100"/>
              </a:spcAft>
              <a:defRPr sz="1700">
                <a:solidFill>
                  <a:srgbClr val="F2F5F8"/>
                </a:solidFill>
              </a:defRPr>
            </a:pPr>
            <a:r>
              <a:t>• A correct design is the prerequisite; performance then depends on reducing unnecessary communication and contention while preserving the required synchronization.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43     |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43.7 Multicore execution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False sharing, cache-line movement, memory bandwidth, and scheduler placement can limit scaling.</a:t>
            </a:r>
          </a:p>
          <a:p>
            <a:pPr>
              <a:spcAft>
                <a:spcPts val="1100"/>
              </a:spcAft>
              <a:defRPr sz="1700">
                <a:solidFill>
                  <a:srgbClr val="F2F5F8"/>
                </a:solidFill>
              </a:defRPr>
            </a:pPr>
            <a:r>
              <a:t>• A correct design is the prerequisite; performance then depends on reducing unnecessary communication and contention while preserving the required synchronization.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43     |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Enumerating an abstract lost update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Model each of two activities as three steps: read a shared counter into a private temporary, add one to that temporary, and write it back.</a:t>
            </a:r>
          </a:p>
          <a:p>
            <a:pPr>
              <a:spcAft>
                <a:spcPts val="1100"/>
              </a:spcAft>
              <a:defRPr sz="1900">
                <a:solidFill>
                  <a:srgbClr val="F2F5F8"/>
                </a:solidFill>
              </a:defRPr>
            </a:pPr>
            <a:r>
              <a:t>• The model treats each step as atomic and enumerates all order-preserving interleavings.</a:t>
            </a:r>
          </a:p>
          <a:p>
            <a:pPr>
              <a:spcAft>
                <a:spcPts val="1100"/>
              </a:spcAft>
              <a:defRPr sz="1900">
                <a:solidFill>
                  <a:srgbClr val="F2F5F8"/>
                </a:solidFill>
              </a:defRPr>
            </a:pPr>
            <a:r>
              <a:t>• It is a mathematical state machine, not an execution of racy C++ code.</a:t>
            </a:r>
          </a:p>
          <a:p>
            <a:pPr>
              <a:spcAft>
                <a:spcPts val="1100"/>
              </a:spcAft>
              <a:defRPr sz="1900">
                <a:solidFill>
                  <a:srgbClr val="F2F5F8"/>
                </a:solidFill>
              </a:defRPr>
            </a:pPr>
            <a:r>
              <a:t>• Companion listing: ch43/interleavings.py</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43     |     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Enumerating an abstract lost update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Companion listing: ch43/interleavings.py</a:t>
            </a:r>
          </a:p>
          <a:p>
            <a:pPr>
              <a:spcAft>
                <a:spcPts val="1100"/>
              </a:spcAft>
              <a:defRPr sz="1900">
                <a:solidFill>
                  <a:srgbClr val="F2F5F8"/>
                </a:solidFill>
              </a:defRPr>
            </a:pPr>
            <a:r>
              <a:t>• The final value can be 1 when both activities read zero before either writes.</a:t>
            </a:r>
          </a:p>
          <a:p>
            <a:pPr>
              <a:spcAft>
                <a:spcPts val="1100"/>
              </a:spcAft>
              <a:defRPr sz="1900">
                <a:solidFill>
                  <a:srgbClr val="F2F5F8"/>
                </a:solidFill>
              </a:defRPr>
            </a:pPr>
            <a:r>
              <a:t>• It can be 2 when one complete increment precedes the other’s read.</a:t>
            </a:r>
          </a:p>
          <a:p>
            <a:pPr>
              <a:spcAft>
                <a:spcPts val="1100"/>
              </a:spcAft>
              <a:defRPr sz="1700">
                <a:solidFill>
                  <a:srgbClr val="F2F5F8"/>
                </a:solidFill>
              </a:defRPr>
            </a:pPr>
            <a:r>
              <a:t>• The lost update occurs because the intended read-modify-write operation was divided into separate steps without a coordination rule.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43     |     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Worked example — Enumerating interleavings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Two threads each execute two operations: A1,A2 and B1,B2.</a:t>
            </a:r>
          </a:p>
          <a:p>
            <a:pPr>
              <a:spcAft>
                <a:spcPts val="1100"/>
              </a:spcAft>
              <a:defRPr sz="1700">
                <a:solidFill>
                  <a:srgbClr val="F2F5F8"/>
                </a:solidFill>
              </a:defRPr>
            </a:pPr>
            <a:r>
              <a:t>• Preserving each thread’s internal order yields six possible interleavings: A1 A2 B1 B2; A1 B1 A2 B2; A1 B1 B2 A2; B1 B2 A1 A2; B1 A1 B2 A2; and B1 A1 A2 B2.</a:t>
            </a:r>
          </a:p>
          <a:p>
            <a:pPr>
              <a:spcAft>
                <a:spcPts val="1100"/>
              </a:spcAft>
              <a:defRPr sz="1900">
                <a:solidFill>
                  <a:srgbClr val="F2F5F8"/>
                </a:solidFill>
              </a:defRPr>
            </a:pPr>
            <a:r>
              <a:t>• Concurrency introduces multiple legal orderings even before true simultaneous execution is considered.</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43     |     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Enumerating interleavings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Two threads each execute two operations: A1,A2 and B1,B2.</a:t>
            </a:r>
          </a:p>
          <a:p>
            <a:pPr>
              <a:spcAft>
                <a:spcPts val="1100"/>
              </a:spcAft>
              <a:defRPr sz="1700">
                <a:solidFill>
                  <a:srgbClr val="F2F5F8"/>
                </a:solidFill>
              </a:defRPr>
            </a:pPr>
            <a:r>
              <a:t>• Preserving each thread’s internal order yields six possible interleavings: A1 A2 B1 B2; A1 B1 A2 B2; A1 B1 B2 A2; B1 B2 A1 A2; B1 A1 B2 A2; and B1 A1 A2 B2.</a:t>
            </a:r>
          </a:p>
          <a:p>
            <a:pPr>
              <a:spcAft>
                <a:spcPts val="1100"/>
              </a:spcAft>
              <a:defRPr sz="1900">
                <a:solidFill>
                  <a:srgbClr val="F2F5F8"/>
                </a:solidFill>
              </a:defRPr>
            </a:pPr>
            <a:r>
              <a:t>• Concurrency introduces multiple legal orderings even before true simultaneous execution is considered.</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43     |     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Concurrency without parallelism</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A single-core system can run many threads concurrently by time-slicing: one runs, is preempted or blocks, then another runs.</a:t>
            </a:r>
          </a:p>
          <a:p>
            <a:pPr>
              <a:spcAft>
                <a:spcPts val="1100"/>
              </a:spcAft>
              <a:defRPr sz="1900">
                <a:solidFill>
                  <a:srgbClr val="F2F5F8"/>
                </a:solidFill>
              </a:defRPr>
            </a:pPr>
            <a:r>
              <a:t>• Their executions overlap in time conceptually but not physically at the same instant.</a:t>
            </a:r>
          </a:p>
          <a:p>
            <a:pPr>
              <a:spcAft>
                <a:spcPts val="1100"/>
              </a:spcAft>
              <a:defRPr sz="1900">
                <a:solidFill>
                  <a:srgbClr val="F2F5F8"/>
                </a:solidFill>
              </a:defRPr>
            </a:pPr>
            <a:r>
              <a:t>• Parallelism requires multiple execution resources; concurrency requires overlapping progress and interleavings.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43     |     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Concurrency without parallelism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A single-core system can run many threads concurrently by time-slicing: one runs, is preempted or blocks, then another runs.</a:t>
            </a:r>
          </a:p>
          <a:p>
            <a:pPr>
              <a:spcAft>
                <a:spcPts val="1100"/>
              </a:spcAft>
              <a:defRPr sz="1900">
                <a:solidFill>
                  <a:srgbClr val="F2F5F8"/>
                </a:solidFill>
              </a:defRPr>
            </a:pPr>
            <a:r>
              <a:t>• Their executions overlap in time conceptually but not physically at the same instant.</a:t>
            </a:r>
          </a:p>
          <a:p>
            <a:pPr>
              <a:spcAft>
                <a:spcPts val="1100"/>
              </a:spcAft>
              <a:defRPr sz="1900">
                <a:solidFill>
                  <a:srgbClr val="F2F5F8"/>
                </a:solidFill>
              </a:defRPr>
            </a:pPr>
            <a:r>
              <a:t>• Parallelism requires multiple execution resources; concurrency requires overlapping progress and interleavings.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43     |     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Guided lab and review</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Lab 43.</a:t>
            </a:r>
          </a:p>
          <a:p>
            <a:pPr>
              <a:spcAft>
                <a:spcPts val="1100"/>
              </a:spcAft>
              <a:defRPr sz="1900">
                <a:solidFill>
                  <a:srgbClr val="F2F5F8"/>
                </a:solidFill>
              </a:defRPr>
            </a:pPr>
            <a:r>
              <a:t>• Record one schedule producing 1 and one producing 2.</a:t>
            </a:r>
          </a:p>
          <a:p>
            <a:pPr>
              <a:spcAft>
                <a:spcPts val="1100"/>
              </a:spcAft>
              <a:defRPr sz="1900">
                <a:solidFill>
                  <a:srgbClr val="F2F5F8"/>
                </a:solidFill>
              </a:defRPr>
            </a:pPr>
            <a:r>
              <a:t>• Then replace each three-step increment with one atomic modeled step and enumerate the remaining schedules.</a:t>
            </a:r>
          </a:p>
          <a:p>
            <a:pPr>
              <a:spcAft>
                <a:spcPts val="1100"/>
              </a:spcAft>
              <a:defRPr sz="1900">
                <a:solidFill>
                  <a:srgbClr val="F2F5F8"/>
                </a:solidFill>
              </a:defRPr>
            </a:pPr>
            <a:r>
              <a:t>• Review 1.</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43     |     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Guided lab and review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LAB, REVIEW &amp; ACCEPTANCE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Review 1.</a:t>
            </a:r>
          </a:p>
          <a:p>
            <a:pPr>
              <a:spcAft>
                <a:spcPts val="1100"/>
              </a:spcAft>
              <a:defRPr sz="1900">
                <a:solidFill>
                  <a:srgbClr val="F2F5F8"/>
                </a:solidFill>
              </a:defRPr>
            </a:pPr>
            <a:r>
              <a:t>• Can concurrency exist on one core?</a:t>
            </a:r>
          </a:p>
          <a:p>
            <a:pPr>
              <a:spcAft>
                <a:spcPts val="1100"/>
              </a:spcAft>
              <a:defRPr sz="1900">
                <a:solidFill>
                  <a:srgbClr val="F2F5F8"/>
                </a:solidFill>
              </a:defRPr>
            </a:pPr>
            <a:r>
              <a:t>• Review 2.</a:t>
            </a:r>
          </a:p>
          <a:p>
            <a:pPr>
              <a:spcAft>
                <a:spcPts val="1100"/>
              </a:spcAft>
              <a:defRPr sz="1900">
                <a:solidFill>
                  <a:srgbClr val="F2F5F8"/>
                </a:solidFill>
              </a:defRPr>
            </a:pPr>
            <a:r>
              <a:t>• Does cache coherence make a three-step increment indivisible?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43     |     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Synthesis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KEY TAKEAWAYS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chapter's central subject is concurrent execution.</a:t>
            </a:r>
          </a:p>
          <a:p>
            <a:pPr>
              <a:spcAft>
                <a:spcPts val="1100"/>
              </a:spcAft>
              <a:defRPr sz="1900">
                <a:solidFill>
                  <a:srgbClr val="F2F5F8"/>
                </a:solidFill>
              </a:defRPr>
            </a:pPr>
            <a:r>
              <a:t>• Correct reasoning requires explicit assumptions, bounds, ownership, and interface contracts.</a:t>
            </a:r>
          </a:p>
          <a:p>
            <a:pPr>
              <a:spcAft>
                <a:spcPts val="1100"/>
              </a:spcAft>
              <a:defRPr sz="1900">
                <a:solidFill>
                  <a:srgbClr val="F2F5F8"/>
                </a:solidFill>
              </a:defRPr>
            </a:pPr>
            <a:r>
              <a:t>• Observed behavior is evidence about a run; it is not automatically a language or system guarantee.</a:t>
            </a:r>
          </a:p>
          <a:p>
            <a:pPr>
              <a:spcAft>
                <a:spcPts val="1100"/>
              </a:spcAft>
              <a:defRPr sz="1900">
                <a:solidFill>
                  <a:srgbClr val="F2F5F8"/>
                </a:solidFill>
              </a:defRPr>
            </a:pPr>
            <a:r>
              <a:t>• Use the worked examples and lab to test whether the model transfers to new cases.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43     |     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Review and Transition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CHECK YOUR MODEL</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Explain one mechanism from the chapter without relying on vocabulary alone.</a:t>
            </a:r>
          </a:p>
          <a:p>
            <a:pPr>
              <a:spcAft>
                <a:spcPts val="1100"/>
              </a:spcAft>
              <a:defRPr sz="1900">
                <a:solidFill>
                  <a:srgbClr val="F2F5F8"/>
                </a:solidFill>
              </a:defRPr>
            </a:pPr>
            <a:r>
              <a:t>• Identify one failure mode and the violated contract or invariant.</a:t>
            </a:r>
          </a:p>
          <a:p>
            <a:pPr>
              <a:spcAft>
                <a:spcPts val="1100"/>
              </a:spcAft>
              <a:defRPr sz="1900">
                <a:solidFill>
                  <a:srgbClr val="F2F5F8"/>
                </a:solidFill>
              </a:defRPr>
            </a:pPr>
            <a:r>
              <a:t>• State what evidence would support your diagnosis and what it would not prove.</a:t>
            </a:r>
          </a:p>
          <a:p>
            <a:pPr>
              <a:spcAft>
                <a:spcPts val="1100"/>
              </a:spcAft>
              <a:defRPr sz="1900">
                <a:solidFill>
                  <a:srgbClr val="F2F5F8"/>
                </a:solidFill>
              </a:defRPr>
            </a:pPr>
            <a:r>
              <a:t>• Next: Threads.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43     |     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