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46 — Atomic Operations</a:t>
            </a:r>
          </a:p>
          <a:p/>
          <a:p>
            <a:r>
              <a:t>LECTURE NARRATION</a:t>
            </a:r>
          </a:p>
          <a:p>
            <a:r>
              <a:t>Atomic operations provide indivisible access and ordering tools for shared-memory protocols. They are essential building blocks, but they do not automatically produce a correct algorithm. The programmer must specify which data is published, which operation observes publication, and how object lifetime remains valid. [ R23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atomic operations provide indivisible access and ordering tools for shared-memory protocols.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Atomic operations provide indivisible access and ordering tools for shared-memory protocols. They are essential building blocks, but they do not automatically produce a correct algorithm. The programmer must specify which data is published, which operation observes publication, and how object lifetime remains valid. [ R23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atomic operations provide indivisible access and ordering tools for shared-memory protocols.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46.1 Atomic loads 46.2 Atomic stores 46.3 Read-modify-write 46.4 Atomic variables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46.1 Atomic loads 46.2 Atomic stores 46.3 Read-modify-write 46.4 Atomic variables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46.1 Atomic loads</a:t>
            </a:r>
          </a:p>
          <a:p/>
          <a:p>
            <a:r>
              <a:t>LECTURE NARRATION</a:t>
            </a:r>
          </a:p>
          <a:p>
            <a:r>
              <a:t>An atomic load reads an atomic object’s value according to the selected memory order. It avoids a non-atomic conflicting access to that object. It does not automatically make unrelated ordinary memory safe to read. An acquire load can participate in publication when it observes the appropriate release operation or release sequence under the language rules. Without that relationship, attaching the word acquire to a load is not a general promise that every other thread’s latest writes become available.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46.1 Atomic loads — Deep Dive</a:t>
            </a:r>
          </a:p>
          <a:p/>
          <a:p>
            <a:r>
              <a:t>LECTURE NARRATION</a:t>
            </a:r>
          </a:p>
          <a:p>
            <a:r>
              <a:t>An atomic load reads an atomic object’s value according to the selected memory order. It avoids a non-atomic conflicting access to that object. It does not automatically make unrelated ordinary memory safe to read. An acquire load can participate in publication when it observes the appropriate release operation or release sequence under the language rules. Without that relationship, attaching the word acquire to a load is not a general promise that every other thread’s latest writes become available.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46.2 Atomic stores</a:t>
            </a:r>
          </a:p>
          <a:p/>
          <a:p>
            <a:r>
              <a:t>LECTURE NARRATION</a:t>
            </a:r>
          </a:p>
          <a:p>
            <a:r>
              <a:t>An atomic store updates one atomic object. A release store can publish earlier ordinary writes to a reader that acquires the corresponding publication. The order applies to the protocol, not to a physical instruction named “flush all memory.” A reusable flag needs more care than a one-shot flag. If a producer overwrites payload data while a consumer still reads it, a correct first publication does not prevent a later race. Reuse requires ownership transfer, acknowledgments, sequence numbers, or another complete protocol.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46.2 Atomic stores — Deep Dive</a:t>
            </a:r>
          </a:p>
          <a:p/>
          <a:p>
            <a:r>
              <a:t>LECTURE NARRATION</a:t>
            </a:r>
          </a:p>
          <a:p>
            <a:r>
              <a:t>An atomic store updates one atomic object. A release store can publish earlier ordinary writes to a reader that acquires the corresponding publication. The order applies to the protocol, not to a physical instruction named “flush all memory.” A reusable flag needs more care than a one-shot flag. If a producer overwrites payload data while a consumer still reads it, a correct first publication does not prevent a later race. Reuse requires ownership transfer, acknowledgments, sequence numbers, or another complete protocol.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46.3 Read-modify-write</a:t>
            </a:r>
          </a:p>
          <a:p/>
          <a:p>
            <a:r>
              <a:t>LECTURE NARRATION</a:t>
            </a:r>
          </a:p>
          <a:p>
            <a:r>
              <a:t>An atomic read-modify-write operation reads and updates an object as one indivisible operation. Examples include fetch_add , exchange, and compare-and-swap. This avoids the lost-update problem of a separate load followed by store. The returned value and update rule matter. fetch_add returns the previous value, making it useful for allocating unique sequence positions within a bounded, overflow-aware design. It does not make the data stored at those positions automatically initialized or published.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atomic read-modify-write operation reads and updates an object as one indivisible operation.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46.3 Read-modify-write — Deep Dive</a:t>
            </a:r>
          </a:p>
          <a:p/>
          <a:p>
            <a:r>
              <a:t>LECTURE NARRATION</a:t>
            </a:r>
          </a:p>
          <a:p>
            <a:r>
              <a:t>An atomic read-modify-write operation reads and updates an object as one indivisible operation. Examples include fetch_add , exchange, and compare-and-swap. This avoids the lost-update problem of a separate load followed by store. The returned value and update rule matter. fetch_add returns the previous value, making it useful for allocating unique sequence positions within a bounded, overflow-aware design. It does not make the data stored at those positions automatically initialized or published.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atomic read-modify-write operation reads and updates an object as one indivisible operation.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46.4 Atomic variables</a:t>
            </a:r>
          </a:p>
          <a:p/>
          <a:p>
            <a:r>
              <a:t>LECTURE NARRATION</a:t>
            </a:r>
          </a:p>
          <a:p>
            <a:r>
              <a:t>std::atomic&lt;T&gt; provides atomic operations for supported types. Lock-free behavior depends on type, implementation, and platform; atomic does not universally mean one instruction or no internal locking. Use is_lock_free or the relevant compile-time property when lock freedom is an actual requirement. Even a lock-free operation can contend heavily on a shared cache line. A single global atomic counter can become a scalability bottleneck despite being correct.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46.4 Atomic variables — Deep Dive</a:t>
            </a:r>
          </a:p>
          <a:p/>
          <a:p>
            <a:r>
              <a:t>LECTURE NARRATION</a:t>
            </a:r>
          </a:p>
          <a:p>
            <a:r>
              <a:t>std::atomic&lt;T&gt; provides atomic operations for supported types. Lock-free behavior depends on type, implementation, and platform; atomic does not universally mean one instruction or no internal locking. Use is_lock_free or the relevant compile-time property when lock freedom is an actual requirement. Even a lock-free operation can contend heavily on a shared cache line. A single global atomic counter can become a scalability bottleneck despite being correct.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46.5 Compare-and-swap</a:t>
            </a:r>
          </a:p>
          <a:p/>
          <a:p>
            <a:r>
              <a:t>LECTURE NARRATION</a:t>
            </a:r>
          </a:p>
          <a:p>
            <a:r>
              <a:t>Compare-and-swap compares the atomic value with an expected value and conditionally replaces it with a desired value. In the C++ interface, failure updates the expected argument with the observed value. Weak forms can fail spuriously and are commonly used in retry loops. A bounded increment can repeatedly load a value, reject it when at the limit, and attempt to replace it with value plus one. The addition is safe only after proving the bound. CAS does not solve memory reclamation or the ABA problem by itself: a pointer can change away and back while the referenced object’s identity or lifetime changes. A simple default-order loop has this shape: The test expected &lt; limit ensures expected + 1 cannot exceed the unsigned maximum when limit is representable. Explicit weaker memory orders require a separate proof, including valid success and failure order combinations.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compare-and-swap compares the atomic value with an expected value and conditionally replaces it with a desired value.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46.5 Compare-and-swap — Deep Dive</a:t>
            </a:r>
          </a:p>
          <a:p/>
          <a:p>
            <a:r>
              <a:t>LECTURE NARRATION</a:t>
            </a:r>
          </a:p>
          <a:p>
            <a:r>
              <a:t>Compare-and-swap compares the atomic value with an expected value and conditionally replaces it with a desired value. In the C++ interface, failure updates the expected argument with the observed value. Weak forms can fail spuriously and are commonly used in retry loops. A bounded increment can repeatedly load a value, reject it when at the limit, and attempt to replace it with value plus one. The addition is safe only after proving the bound. CAS does not solve memory reclamation or the ABA problem by itself: a pointer can change away and back while the referenced object’s identity or lifetime changes. A simple default-order loop has this shape: The test expected &lt; limit ensures expected + 1 cannot exceed the unsigned maximum when limit is representable. Explicit weaker memory orders require a separate proof, including valid success and failure order combinations.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compare-and-swap compares the atomic value with an expected value and conditionally replaces it with a desired value.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46.6 Memory ordering</a:t>
            </a:r>
          </a:p>
          <a:p/>
          <a:p>
            <a:r>
              <a:t>LECTURE NARRATION</a:t>
            </a:r>
          </a:p>
          <a:p>
            <a:r>
              <a:t>Relaxed ordering provides atomicity and the atomic object’s modification-order guarantees without using that operation to publish unrelated ordinary data. It is appropriate for some independent statistics and counters when no additional ordering is required. Release/acquire ordering supports directed publication. Sequential consistency adds a single total order for the relevant sequentially consistent operations, consistent with the standard’s constraints. It is a useful starting point but still does not repair an algorithm with the wrong atomic operation boundaries. Do not translate memory orders into folklore such as “always use relaxed on x86” or “a compiler barrier is enough.” The C++ abstract machine, compiler transformations, and hardware ordering all participate. Begin with a simple correct protocol and weaken ordering only when the proof and measured need justify the complexity.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relaxed ordering provides atomicity and the atomic object’s modification-order guarantees without using that operation to publish unrelated ordinary data.</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46.6 Memory ordering — Deep Dive</a:t>
            </a:r>
          </a:p>
          <a:p/>
          <a:p>
            <a:r>
              <a:t>LECTURE NARRATION</a:t>
            </a:r>
          </a:p>
          <a:p>
            <a:r>
              <a:t>Relaxed ordering provides atomicity and the atomic object’s modification-order guarantees without using that operation to publish unrelated ordinary data. It is appropriate for some independent statistics and counters when no additional ordering is required. Release/acquire ordering supports directed publication. Sequential consistency adds a single total order for the relevant sequentially consistent operations, consistent with the standard’s constraints. It is a useful starting point but still does not repair an algorithm with the wrong atomic operation boundaries. Do not translate memory orders into folklore such as “always use relaxed on x86” or “a compiler barrier is enough.” The C++ abstract machine, compiler transformations, and hardware ordering all participate. Begin with a simple correct protocol and weaken ordering only when the proof and measured need justify the complexity.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relaxed ordering provides atomicity and the atomic object’s modification-order guarantees without using that operation to publish unrelated ordinary data.</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One-shot publication</a:t>
            </a:r>
          </a:p>
          <a:p/>
          <a:p>
            <a:r>
              <a:t>LECTURE NARRATION</a:t>
            </a:r>
          </a:p>
          <a:p>
            <a:r>
              <a:t>A producer initializes a three-element payload and then publishes readiness with release ordering. The consumer waits with acquire ordering and reads the payload before joining the producer. That ordering relationship, not the later join, protects the payload read. Companion listing: ch46/publication.cpp The expected result is 21. The acquire load that observes true synchronizes with the release publication, making the prior payload initialization available to the consumer under the language model. The payload is never modified again, and all objects remain alive through the join. The spin/yield loop is deliberately simple. For long waits, a blocking facility can avoid repeated polling. Do not generalize this one-shot example into a reusable producer–consumer queue by merely resetting the flag; reuse introduces new ownership and ordering requirements.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producer initializes a three-element payload and then publishes readiness with release ordering.</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One-shot publication — Deep Dive</a:t>
            </a:r>
          </a:p>
          <a:p/>
          <a:p>
            <a:r>
              <a:t>LECTURE NARRATION</a:t>
            </a:r>
          </a:p>
          <a:p>
            <a:r>
              <a:t>A producer initializes a three-element payload and then publishes readiness with release ordering. The consumer waits with acquire ordering and reads the payload before joining the producer. That ordering relationship, not the later join, protects the payload read. Companion listing: ch46/publication.cpp The expected result is 21. The acquire load that observes true synchronizes with the release publication, making the prior payload initialization available to the consumer under the language model. The payload is never modified again, and all objects remain alive through the join. The spin/yield loop is deliberately simple. For long waits, a blocking facility can avoid repeated polling. Do not generalize this one-shot example into a reusable producer–consumer queue by merely resetting the flag; reuse introduces new ownership and ordering requirements.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producer initializes a three-element payload and then publishes readiness with release ordering.</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Compare-and-swap loop</a:t>
            </a:r>
          </a:p>
          <a:p/>
          <a:p>
            <a:r>
              <a:t>LECTURE NARRATION</a:t>
            </a:r>
          </a:p>
          <a:p>
            <a:r>
              <a:t>To increment an atomic value with compare-and-swap, load the expected old value, compute desired = old+1 , then attempt to replace old with desired only if the atomic still equals old. If another thread changed it first, retry using the newly observed value. CAS turns a conditional read-modify-write into one indivisible atomic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to increment an atomic value with compare-and-swap, load the expected old value, compute desired = old+1 , then attempt to replace old with desired only if the atomic still equals old.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Compare-and-swap loop — Deep Dive</a:t>
            </a:r>
          </a:p>
          <a:p/>
          <a:p>
            <a:r>
              <a:t>LECTURE NARRATION</a:t>
            </a:r>
          </a:p>
          <a:p>
            <a:r>
              <a:t>To increment an atomic value with compare-and-swap, load the expected old value, compute desired = old+1 , then attempt to replace old with desired only if the atomic still equals old. If another thread changed it first, retry using the newly observed value. CAS turns a conditional read-modify-write into one indivisible atomic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to increment an atomic value with compare-and-swap, load the expected old value, compute desired = old+1 , then attempt to replace old with desired only if the atomic still equals old.</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Release/acquire publication</a:t>
            </a:r>
          </a:p>
          <a:p/>
          <a:p>
            <a:r>
              <a:t>LECTURE NARRATION</a:t>
            </a:r>
          </a:p>
          <a:p>
            <a:r>
              <a:t>A producer initializes ordinary data, then performs a release store to an atomic ready flag. A consumer spins or waits until an acquire load observes the published ready value. The release/acquire pair establishes visibility of the producer’s earlier writes to the consumer, provided the program obeys the memory-model requirements.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producer initializes ordinary data, then performs a release store to an atomic ready flag.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Release/acquire publication — Deep Dive</a:t>
            </a:r>
          </a:p>
          <a:p/>
          <a:p>
            <a:r>
              <a:t>LECTURE NARRATION</a:t>
            </a:r>
          </a:p>
          <a:p>
            <a:r>
              <a:t>A producer initializes ordinary data, then performs a release store to an atomic ready flag. A consumer spins or waits until an acquire load observes the published ready value. The release/acquire pair establishes visibility of the producer’s earlier writes to the consumer, provided the program obeys the memory-model requirements.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producer initializes ordinary data, then performs a release store to an atomic ready flag.</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46. Annotate the publication trace with “sequenced before,” “synchronizes with,” and “happens before.” Explain why replacing both orders with relaxed would remove the proof for the ordinary payload reads. Do not run the resulting invalid variant as a correctness test. Review 1. Does atomic imply lock-free? Review 2. Why can a CAS-based pointer structure still have lifetime errors?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46.</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46. Annotate the publication trace with “sequenced before,” “synchronizes with,” and “happens before.” Explain why replacing both orders with relaxed would remove the proof for the ordinary payload reads. Do not run the resulting invalid variant as a correctness test. Review 1. Does atomic imply lock-free? Review 2. Why can a CAS-based pointer structure still have lifetime errors?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46.</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atomic operations.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atomic operations.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Mutual Exclusion.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46 — Atomic Operations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Atomic operations provide indivisible access and ordering tools for shared-memory protocols.</a:t>
            </a:r>
          </a:p>
          <a:p>
            <a:pPr>
              <a:spcAft>
                <a:spcPts val="1100"/>
              </a:spcAft>
              <a:defRPr sz="1900">
                <a:solidFill>
                  <a:srgbClr val="F2F5F8"/>
                </a:solidFill>
              </a:defRPr>
            </a:pPr>
            <a:r>
              <a:t>• They are essential building blocks, but they do not automatically produce a correct algorithm.</a:t>
            </a:r>
          </a:p>
          <a:p>
            <a:pPr>
              <a:spcAft>
                <a:spcPts val="1100"/>
              </a:spcAft>
              <a:defRPr sz="1700">
                <a:solidFill>
                  <a:srgbClr val="F2F5F8"/>
                </a:solidFill>
              </a:defRPr>
            </a:pPr>
            <a:r>
              <a:t>• The programmer must specify which data is published, which operation observes publication, and how object lifetime remains valid. [ R23 , R34 ]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Atomic Operations.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46.1 Atomic loads</a:t>
            </a:r>
          </a:p>
          <a:p>
            <a:pPr>
              <a:spcAft>
                <a:spcPts val="1100"/>
              </a:spcAft>
              <a:defRPr sz="1900">
                <a:solidFill>
                  <a:srgbClr val="F2F5F8"/>
                </a:solidFill>
              </a:defRPr>
            </a:pPr>
            <a:r>
              <a:t>• 46.2 Atomic stores</a:t>
            </a:r>
          </a:p>
          <a:p>
            <a:pPr>
              <a:spcAft>
                <a:spcPts val="1100"/>
              </a:spcAft>
              <a:defRPr sz="1900">
                <a:solidFill>
                  <a:srgbClr val="F2F5F8"/>
                </a:solidFill>
              </a:defRPr>
            </a:pPr>
            <a:r>
              <a:t>• 46.3 Read-modify-write</a:t>
            </a:r>
          </a:p>
          <a:p>
            <a:pPr>
              <a:spcAft>
                <a:spcPts val="1100"/>
              </a:spcAft>
              <a:defRPr sz="1900">
                <a:solidFill>
                  <a:srgbClr val="F2F5F8"/>
                </a:solidFill>
              </a:defRPr>
            </a:pPr>
            <a:r>
              <a:t>• 46.4 Atomic variables</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46.1 Atomic loads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atomic load reads an atomic object’s value according to the selected memory order.</a:t>
            </a:r>
          </a:p>
          <a:p>
            <a:pPr>
              <a:spcAft>
                <a:spcPts val="1100"/>
              </a:spcAft>
              <a:defRPr sz="1900">
                <a:solidFill>
                  <a:srgbClr val="F2F5F8"/>
                </a:solidFill>
              </a:defRPr>
            </a:pPr>
            <a:r>
              <a:t>• It avoids a non-atomic conflicting access to that object.</a:t>
            </a:r>
          </a:p>
          <a:p>
            <a:pPr>
              <a:spcAft>
                <a:spcPts val="1100"/>
              </a:spcAft>
              <a:defRPr sz="1900">
                <a:solidFill>
                  <a:srgbClr val="F2F5F8"/>
                </a:solidFill>
              </a:defRPr>
            </a:pPr>
            <a:r>
              <a:t>• It does not automatically make unrelated ordinary memory safe to read.</a:t>
            </a:r>
          </a:p>
          <a:p>
            <a:pPr>
              <a:spcAft>
                <a:spcPts val="1100"/>
              </a:spcAft>
              <a:defRPr sz="1700">
                <a:solidFill>
                  <a:srgbClr val="F2F5F8"/>
                </a:solidFill>
              </a:defRPr>
            </a:pPr>
            <a:r>
              <a:t>• An acquire load can participate in publication when it observes the appropriate release operation or release sequence under the language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46.1 Atomic loads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acquire load can participate in publication when it observes the appropriate release operation or release sequence under the language rules.</a:t>
            </a:r>
          </a:p>
          <a:p>
            <a:pPr>
              <a:spcAft>
                <a:spcPts val="1100"/>
              </a:spcAft>
              <a:defRPr sz="1700">
                <a:solidFill>
                  <a:srgbClr val="F2F5F8"/>
                </a:solidFill>
              </a:defRPr>
            </a:pPr>
            <a:r>
              <a:t>• Without that relationship, attaching the word acquire to a load is not a general promise that every other thread’s latest writes become available.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46.2 Atomic stores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atomic store updates one atomic object.</a:t>
            </a:r>
          </a:p>
          <a:p>
            <a:pPr>
              <a:spcAft>
                <a:spcPts val="1100"/>
              </a:spcAft>
              <a:defRPr sz="1900">
                <a:solidFill>
                  <a:srgbClr val="F2F5F8"/>
                </a:solidFill>
              </a:defRPr>
            </a:pPr>
            <a:r>
              <a:t>• A release store can publish earlier ordinary writes to a reader that acquires the corresponding publication.</a:t>
            </a:r>
          </a:p>
          <a:p>
            <a:pPr>
              <a:spcAft>
                <a:spcPts val="1100"/>
              </a:spcAft>
              <a:defRPr sz="1900">
                <a:solidFill>
                  <a:srgbClr val="F2F5F8"/>
                </a:solidFill>
              </a:defRPr>
            </a:pPr>
            <a:r>
              <a:t>• The order applies to the protocol, not to a physical instruction named “flush all memory.”</a:t>
            </a:r>
          </a:p>
          <a:p>
            <a:pPr>
              <a:spcAft>
                <a:spcPts val="1100"/>
              </a:spcAft>
              <a:defRPr sz="1900">
                <a:solidFill>
                  <a:srgbClr val="F2F5F8"/>
                </a:solidFill>
              </a:defRPr>
            </a:pPr>
            <a:r>
              <a:t>• A reusable flag needs more care than a one-shot flag.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46.2 Atomic stores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reusable flag needs more care than a one-shot flag.</a:t>
            </a:r>
          </a:p>
          <a:p>
            <a:pPr>
              <a:spcAft>
                <a:spcPts val="1100"/>
              </a:spcAft>
              <a:defRPr sz="1700">
                <a:solidFill>
                  <a:srgbClr val="F2F5F8"/>
                </a:solidFill>
              </a:defRPr>
            </a:pPr>
            <a:r>
              <a:t>• If a producer overwrites payload data while a consumer still reads it, a correct first publication does not prevent a later race.</a:t>
            </a:r>
          </a:p>
          <a:p>
            <a:pPr>
              <a:spcAft>
                <a:spcPts val="1100"/>
              </a:spcAft>
              <a:defRPr sz="1900">
                <a:solidFill>
                  <a:srgbClr val="F2F5F8"/>
                </a:solidFill>
              </a:defRPr>
            </a:pPr>
            <a:r>
              <a:t>• Reuse requires ownership transfer, acknowledgments, sequence numbers, or another complete protocol.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46.3 Read-modify-write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atomic read-modify-write operation reads and updates an object as one indivisible operation.</a:t>
            </a:r>
          </a:p>
          <a:p>
            <a:pPr>
              <a:spcAft>
                <a:spcPts val="1100"/>
              </a:spcAft>
              <a:defRPr sz="1900">
                <a:solidFill>
                  <a:srgbClr val="F2F5F8"/>
                </a:solidFill>
              </a:defRPr>
            </a:pPr>
            <a:r>
              <a:t>• Examples include fetch_add , exchange, and compare-and-swap.</a:t>
            </a:r>
          </a:p>
          <a:p>
            <a:pPr>
              <a:spcAft>
                <a:spcPts val="1100"/>
              </a:spcAft>
              <a:defRPr sz="1900">
                <a:solidFill>
                  <a:srgbClr val="F2F5F8"/>
                </a:solidFill>
              </a:defRPr>
            </a:pPr>
            <a:r>
              <a:t>• This avoids the lost-update problem of a separate load followed by store.</a:t>
            </a:r>
          </a:p>
          <a:p>
            <a:pPr>
              <a:spcAft>
                <a:spcPts val="1100"/>
              </a:spcAft>
              <a:defRPr sz="1700">
                <a:solidFill>
                  <a:srgbClr val="F2F5F8"/>
                </a:solidFill>
              </a:defRPr>
            </a:pPr>
            <a:r>
              <a:t>• The returned value and update rule matter. fetch_add returns the previous value, making it useful for allocating unique sequence positions within a bounded, overflow-aware design.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46.3 Read-modify-write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returned value and update rule matter. fetch_add returns the previous value, making it useful for allocating unique sequence positions within a bounded, overflow-aware...</a:t>
            </a:r>
          </a:p>
          <a:p>
            <a:pPr>
              <a:spcAft>
                <a:spcPts val="1100"/>
              </a:spcAft>
              <a:defRPr sz="1900">
                <a:solidFill>
                  <a:srgbClr val="F2F5F8"/>
                </a:solidFill>
              </a:defRPr>
            </a:pPr>
            <a:r>
              <a:t>• It does not make the data stored at those positions automatically initialized or published.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46.4 Atomic variables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std::atomic&lt;T&gt; provides atomic operations for supported types.</a:t>
            </a:r>
          </a:p>
          <a:p>
            <a:pPr>
              <a:spcAft>
                <a:spcPts val="1100"/>
              </a:spcAft>
              <a:defRPr sz="1700">
                <a:solidFill>
                  <a:srgbClr val="F2F5F8"/>
                </a:solidFill>
              </a:defRPr>
            </a:pPr>
            <a:r>
              <a:t>• Lock-free behavior depends on type, implementation, and platform; atomic does not universally mean one instruction or no internal locking.</a:t>
            </a:r>
          </a:p>
          <a:p>
            <a:pPr>
              <a:spcAft>
                <a:spcPts val="1100"/>
              </a:spcAft>
              <a:defRPr sz="1900">
                <a:solidFill>
                  <a:srgbClr val="F2F5F8"/>
                </a:solidFill>
              </a:defRPr>
            </a:pPr>
            <a:r>
              <a:t>• Use is_lock_free or the relevant compile-time property when lock freedom is an actual requirement.</a:t>
            </a:r>
          </a:p>
          <a:p>
            <a:pPr>
              <a:spcAft>
                <a:spcPts val="1100"/>
              </a:spcAft>
              <a:defRPr sz="1900">
                <a:solidFill>
                  <a:srgbClr val="F2F5F8"/>
                </a:solidFill>
              </a:defRPr>
            </a:pPr>
            <a:r>
              <a:t>• Even a lock-free operation can contend heavily on a shared cache line.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46.4 Atomic variables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is_lock_free or the relevant compile-time property when lock freedom is an actual requirement.</a:t>
            </a:r>
          </a:p>
          <a:p>
            <a:pPr>
              <a:spcAft>
                <a:spcPts val="1100"/>
              </a:spcAft>
              <a:defRPr sz="1900">
                <a:solidFill>
                  <a:srgbClr val="F2F5F8"/>
                </a:solidFill>
              </a:defRPr>
            </a:pPr>
            <a:r>
              <a:t>• Even a lock-free operation can contend heavily on a shared cache line.</a:t>
            </a:r>
          </a:p>
          <a:p>
            <a:pPr>
              <a:spcAft>
                <a:spcPts val="1100"/>
              </a:spcAft>
              <a:defRPr sz="1900">
                <a:solidFill>
                  <a:srgbClr val="F2F5F8"/>
                </a:solidFill>
              </a:defRPr>
            </a:pPr>
            <a:r>
              <a:t>• A single global atomic counter can become a scalability bottleneck despite being correct.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46.5 Compare-and-swap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Compare-and-swap compares the atomic value with an expected value and conditionally replaces it with a desired value.</a:t>
            </a:r>
          </a:p>
          <a:p>
            <a:pPr>
              <a:spcAft>
                <a:spcPts val="1100"/>
              </a:spcAft>
              <a:defRPr sz="1900">
                <a:solidFill>
                  <a:srgbClr val="F2F5F8"/>
                </a:solidFill>
              </a:defRPr>
            </a:pPr>
            <a:r>
              <a:t>• In the C++ interface, failure updates the expected argument with the observed value.</a:t>
            </a:r>
          </a:p>
          <a:p>
            <a:pPr>
              <a:spcAft>
                <a:spcPts val="1100"/>
              </a:spcAft>
              <a:defRPr sz="1900">
                <a:solidFill>
                  <a:srgbClr val="F2F5F8"/>
                </a:solidFill>
              </a:defRPr>
            </a:pPr>
            <a:r>
              <a:t>• Weak forms can fail spuriously and are commonly used in retry loops.</a:t>
            </a:r>
          </a:p>
          <a:p>
            <a:pPr>
              <a:spcAft>
                <a:spcPts val="1100"/>
              </a:spcAft>
              <a:defRPr sz="1700">
                <a:solidFill>
                  <a:srgbClr val="F2F5F8"/>
                </a:solidFill>
              </a:defRPr>
            </a:pPr>
            <a:r>
              <a:t>• A bounded increment can repeatedly load a value, reject it when at the limit, and attempt to replace it with value plus 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46.5 Compare-and-swap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bounded increment can repeatedly load a value, reject it when at the limit, and attempt to replace it with value plus one.</a:t>
            </a:r>
          </a:p>
          <a:p>
            <a:pPr>
              <a:spcAft>
                <a:spcPts val="1100"/>
              </a:spcAft>
              <a:defRPr sz="1900">
                <a:solidFill>
                  <a:srgbClr val="F2F5F8"/>
                </a:solidFill>
              </a:defRPr>
            </a:pPr>
            <a:r>
              <a:t>• The addition is safe only after proving the bound.</a:t>
            </a:r>
          </a:p>
          <a:p>
            <a:pPr>
              <a:spcAft>
                <a:spcPts val="1100"/>
              </a:spcAft>
              <a:defRPr sz="1700">
                <a:solidFill>
                  <a:srgbClr val="F2F5F8"/>
                </a:solidFill>
              </a:defRPr>
            </a:pPr>
            <a:r>
              <a:t>• CAS does not solve memory reclamation or the ABA problem by itself: a pointer can change away and back while the referenced object’s identity or lifetime changes.</a:t>
            </a:r>
          </a:p>
          <a:p>
            <a:pPr>
              <a:spcAft>
                <a:spcPts val="1100"/>
              </a:spcAft>
              <a:defRPr sz="1900">
                <a:solidFill>
                  <a:srgbClr val="F2F5F8"/>
                </a:solidFill>
              </a:defRPr>
            </a:pPr>
            <a:r>
              <a:t>• A simple default-order loop has this shape: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46.6 Memory ordering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Relaxed ordering provides atomicity and the atomic object’s modification-order guarantees without using that operation to publish unrelated ordinary data.</a:t>
            </a:r>
          </a:p>
          <a:p>
            <a:pPr>
              <a:spcAft>
                <a:spcPts val="1100"/>
              </a:spcAft>
              <a:defRPr sz="1900">
                <a:solidFill>
                  <a:srgbClr val="F2F5F8"/>
                </a:solidFill>
              </a:defRPr>
            </a:pPr>
            <a:r>
              <a:t>• It is appropriate for some independent statistics and counters when no additional ordering is required.</a:t>
            </a:r>
          </a:p>
          <a:p>
            <a:pPr>
              <a:spcAft>
                <a:spcPts val="1100"/>
              </a:spcAft>
              <a:defRPr sz="1900">
                <a:solidFill>
                  <a:srgbClr val="F2F5F8"/>
                </a:solidFill>
              </a:defRPr>
            </a:pPr>
            <a:r>
              <a:t>• Release/acquire ordering supports directed publication.</a:t>
            </a:r>
          </a:p>
          <a:p>
            <a:pPr>
              <a:spcAft>
                <a:spcPts val="1100"/>
              </a:spcAft>
              <a:defRPr sz="1700">
                <a:solidFill>
                  <a:srgbClr val="F2F5F8"/>
                </a:solidFill>
              </a:defRPr>
            </a:pPr>
            <a:r>
              <a:t>• Sequential consistency adds a single total order for the relevant sequentially consistent operations, consistent with the standard’s constraints.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46.6 Memory ordering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Release/acquire ordering supports directed publication.</a:t>
            </a:r>
          </a:p>
          <a:p>
            <a:pPr>
              <a:spcAft>
                <a:spcPts val="1100"/>
              </a:spcAft>
              <a:defRPr sz="1700">
                <a:solidFill>
                  <a:srgbClr val="F2F5F8"/>
                </a:solidFill>
              </a:defRPr>
            </a:pPr>
            <a:r>
              <a:t>• Sequential consistency adds a single total order for the relevant sequentially consistent operations, consistent with the standard’s constraints.</a:t>
            </a:r>
          </a:p>
          <a:p>
            <a:pPr>
              <a:spcAft>
                <a:spcPts val="1100"/>
              </a:spcAft>
              <a:defRPr sz="1900">
                <a:solidFill>
                  <a:srgbClr val="F2F5F8"/>
                </a:solidFill>
              </a:defRPr>
            </a:pPr>
            <a:r>
              <a:t>• It is a useful starting point but still does not repair an algorithm with the wrong atomic operation boundaries.</a:t>
            </a:r>
          </a:p>
          <a:p>
            <a:pPr>
              <a:spcAft>
                <a:spcPts val="1100"/>
              </a:spcAft>
              <a:defRPr sz="1700">
                <a:solidFill>
                  <a:srgbClr val="F2F5F8"/>
                </a:solidFill>
              </a:defRPr>
            </a:pPr>
            <a:r>
              <a:t>• Do not translate memory orders into folklore such as “always use relaxed on x86” or “a compiler barrier is enough.” The C++ abstract machine, compiler transformations, and...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One-shot publication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producer initializes a three-element payload and then publishes readiness with release ordering.</a:t>
            </a:r>
          </a:p>
          <a:p>
            <a:pPr>
              <a:spcAft>
                <a:spcPts val="1100"/>
              </a:spcAft>
              <a:defRPr sz="1900">
                <a:solidFill>
                  <a:srgbClr val="F2F5F8"/>
                </a:solidFill>
              </a:defRPr>
            </a:pPr>
            <a:r>
              <a:t>• The consumer waits with acquire ordering and reads the payload before joining the producer.</a:t>
            </a:r>
          </a:p>
          <a:p>
            <a:pPr>
              <a:spcAft>
                <a:spcPts val="1100"/>
              </a:spcAft>
              <a:defRPr sz="1900">
                <a:solidFill>
                  <a:srgbClr val="F2F5F8"/>
                </a:solidFill>
              </a:defRPr>
            </a:pPr>
            <a:r>
              <a:t>• That ordering relationship, not the later join, protects the payload read.</a:t>
            </a:r>
          </a:p>
          <a:p>
            <a:pPr>
              <a:spcAft>
                <a:spcPts val="1100"/>
              </a:spcAft>
              <a:defRPr sz="1900">
                <a:solidFill>
                  <a:srgbClr val="F2F5F8"/>
                </a:solidFill>
              </a:defRPr>
            </a:pPr>
            <a:r>
              <a:t>• Companion listing: ch46/publication.cpp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One-shot publication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ch46/publication.cpp</a:t>
            </a:r>
          </a:p>
          <a:p>
            <a:pPr>
              <a:spcAft>
                <a:spcPts val="1100"/>
              </a:spcAft>
              <a:defRPr sz="1900">
                <a:solidFill>
                  <a:srgbClr val="F2F5F8"/>
                </a:solidFill>
              </a:defRPr>
            </a:pPr>
            <a:r>
              <a:t>• The expected result is 21.</a:t>
            </a:r>
          </a:p>
          <a:p>
            <a:pPr>
              <a:spcAft>
                <a:spcPts val="1100"/>
              </a:spcAft>
              <a:defRPr sz="1700">
                <a:solidFill>
                  <a:srgbClr val="F2F5F8"/>
                </a:solidFill>
              </a:defRPr>
            </a:pPr>
            <a:r>
              <a:t>• The acquire load that observes true synchronizes with the release publication, making the prior payload initialization available to the consumer under the language model.</a:t>
            </a:r>
          </a:p>
          <a:p>
            <a:pPr>
              <a:spcAft>
                <a:spcPts val="1100"/>
              </a:spcAft>
              <a:defRPr sz="1900">
                <a:solidFill>
                  <a:srgbClr val="F2F5F8"/>
                </a:solidFill>
              </a:defRPr>
            </a:pPr>
            <a:r>
              <a:t>• The payload is never modified again, and all objects remain alive through the join.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Compare-and-swap loop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To increment an atomic value with compare-and-swap, load the expected old value, compute desired = old+1 , then attempt to replace old with desired only if the atomic still...</a:t>
            </a:r>
          </a:p>
          <a:p>
            <a:pPr>
              <a:spcAft>
                <a:spcPts val="1100"/>
              </a:spcAft>
              <a:defRPr sz="1900">
                <a:solidFill>
                  <a:srgbClr val="F2F5F8"/>
                </a:solidFill>
              </a:defRPr>
            </a:pPr>
            <a:r>
              <a:t>• If another thread changed it first, retry using the newly observed value.</a:t>
            </a:r>
          </a:p>
          <a:p>
            <a:pPr>
              <a:spcAft>
                <a:spcPts val="1100"/>
              </a:spcAft>
              <a:defRPr sz="1900">
                <a:solidFill>
                  <a:srgbClr val="F2F5F8"/>
                </a:solidFill>
              </a:defRPr>
            </a:pPr>
            <a:r>
              <a:t>• CAS turns a conditional read-modify-write into one indivisible atomic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Compare-and-swap loop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To increment an atomic value with compare-and-swap, load the expected old value, compute desired = old+1 , then attempt to replace old with desired only if the atomic...</a:t>
            </a:r>
          </a:p>
          <a:p>
            <a:pPr>
              <a:spcAft>
                <a:spcPts val="1100"/>
              </a:spcAft>
              <a:defRPr sz="1900">
                <a:solidFill>
                  <a:srgbClr val="F2F5F8"/>
                </a:solidFill>
              </a:defRPr>
            </a:pPr>
            <a:r>
              <a:t>• If another thread changed it first, retry using the newly observed value.</a:t>
            </a:r>
          </a:p>
          <a:p>
            <a:pPr>
              <a:spcAft>
                <a:spcPts val="1100"/>
              </a:spcAft>
              <a:defRPr sz="1900">
                <a:solidFill>
                  <a:srgbClr val="F2F5F8"/>
                </a:solidFill>
              </a:defRPr>
            </a:pPr>
            <a:r>
              <a:t>• CAS turns a conditional read-modify-write into one indivisible atomic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Release/acquire publication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producer initializes ordinary data, then performs a release store to an atomic ready flag.</a:t>
            </a:r>
          </a:p>
          <a:p>
            <a:pPr>
              <a:spcAft>
                <a:spcPts val="1100"/>
              </a:spcAft>
              <a:defRPr sz="1900">
                <a:solidFill>
                  <a:srgbClr val="F2F5F8"/>
                </a:solidFill>
              </a:defRPr>
            </a:pPr>
            <a:r>
              <a:t>• A consumer spins or waits until an acquire load observes the published ready value.</a:t>
            </a:r>
          </a:p>
          <a:p>
            <a:pPr>
              <a:spcAft>
                <a:spcPts val="1100"/>
              </a:spcAft>
              <a:defRPr sz="1700">
                <a:solidFill>
                  <a:srgbClr val="F2F5F8"/>
                </a:solidFill>
              </a:defRPr>
            </a:pPr>
            <a:r>
              <a:t>• The release/acquire pair establishes visibility of the producer’s earlier writes to the consumer, provided the program obeys the memory-model requirements.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Release/acquire publication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producer initializes ordinary data, then performs a release store to an atomic ready flag.</a:t>
            </a:r>
          </a:p>
          <a:p>
            <a:pPr>
              <a:spcAft>
                <a:spcPts val="1100"/>
              </a:spcAft>
              <a:defRPr sz="1900">
                <a:solidFill>
                  <a:srgbClr val="F2F5F8"/>
                </a:solidFill>
              </a:defRPr>
            </a:pPr>
            <a:r>
              <a:t>• A consumer spins or waits until an acquire load observes the published ready value.</a:t>
            </a:r>
          </a:p>
          <a:p>
            <a:pPr>
              <a:spcAft>
                <a:spcPts val="1100"/>
              </a:spcAft>
              <a:defRPr sz="1700">
                <a:solidFill>
                  <a:srgbClr val="F2F5F8"/>
                </a:solidFill>
              </a:defRPr>
            </a:pPr>
            <a:r>
              <a:t>• The release/acquire pair establishes visibility of the producer’s earlier writes to the consumer, provided the program obeys the memory-model requirements.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46.</a:t>
            </a:r>
          </a:p>
          <a:p>
            <a:pPr>
              <a:spcAft>
                <a:spcPts val="1100"/>
              </a:spcAft>
              <a:defRPr sz="1700">
                <a:solidFill>
                  <a:srgbClr val="F2F5F8"/>
                </a:solidFill>
              </a:defRPr>
            </a:pPr>
            <a:r>
              <a:t>• Annotate the publication trace with “sequenced before,” “synchronizes with,” and “happens before.” Explain why replacing both orders with relaxed would remove the proof for the...</a:t>
            </a:r>
          </a:p>
          <a:p>
            <a:pPr>
              <a:spcAft>
                <a:spcPts val="1100"/>
              </a:spcAft>
              <a:defRPr sz="1900">
                <a:solidFill>
                  <a:srgbClr val="F2F5F8"/>
                </a:solidFill>
              </a:defRPr>
            </a:pPr>
            <a:r>
              <a:t>• Do not run the resulting invalid variant as a correctness test.</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Does atomic imply lock-free?</a:t>
            </a:r>
          </a:p>
          <a:p>
            <a:pPr>
              <a:spcAft>
                <a:spcPts val="1100"/>
              </a:spcAft>
              <a:defRPr sz="1900">
                <a:solidFill>
                  <a:srgbClr val="F2F5F8"/>
                </a:solidFill>
              </a:defRPr>
            </a:pPr>
            <a:r>
              <a:t>• Review 2.</a:t>
            </a:r>
          </a:p>
          <a:p>
            <a:pPr>
              <a:spcAft>
                <a:spcPts val="1100"/>
              </a:spcAft>
              <a:defRPr sz="1900">
                <a:solidFill>
                  <a:srgbClr val="F2F5F8"/>
                </a:solidFill>
              </a:defRPr>
            </a:pPr>
            <a:r>
              <a:t>• Why can a CAS-based pointer structure still have lifetime errors?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atomic operations.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Mutual Exclusion.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46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