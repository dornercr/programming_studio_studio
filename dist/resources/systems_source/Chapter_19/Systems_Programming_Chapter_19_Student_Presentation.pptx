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19 — Kernel Fundamentals</a:t>
            </a:r>
          </a:p>
          <a:p/>
          <a:p>
            <a:r>
              <a:t>LECTURE NARRATION</a:t>
            </a:r>
          </a:p>
          <a:p>
            <a:r>
              <a:t>A running application can calculate addresses, perform arithmetic, and call functions, but it does not have unrestricted authority over the machine. The kernel establishes the environment in which those actions occur. It manages resources shared by mutually untrusting programs and provides controlled ways to request services that a program cannot perform directly. The important boundary is not between “ordinary code” and “special code.” It is between execution contexts with different permissions. Kernel code is software, but hardware mechanisms give that software the authority to configure mappings, handle devices, and control execution. This chapter describes the Linux/x86-64 model; other architectures and kernels divide these responsibilities differently.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running application can calculate addresses, perform arithmetic, and call functions, but it does not have unrestricted authority over the machine.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running application can calculate addresses, perform arithmetic, and call functions, but it does not have unrestricted authority over the machine. The kernel establishes the environment in which those actions occur. It manages resources shared by mutually untrusting programs and provides controlled ways to request services that a program cannot perform directly. The important boundary is not between “ordinary code” and “special code.” It is between execution contexts with different permissions. Kernel code is software, but hardware mechanisms give that software the authority to configure mappings, handle devices, and control execution. This chapter describes the Linux/x86-64 model; other architectures and kernels divide these responsibilities differently.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running application can calculate addresses, perform arithmetic, and call functions, but it does not have unrestricted authority over the machine.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19.1 Kernel 19.2 User mode 19.3 Kernel mode 19.4 Privilege levels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19.1 Kernel 19.2 User mode 19.3 Kernel mode 19.4 Privilege levels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19.1 Kernel</a:t>
            </a:r>
          </a:p>
          <a:p/>
          <a:p>
            <a:r>
              <a:t>LECTURE NARRATION</a:t>
            </a:r>
          </a:p>
          <a:p>
            <a:r>
              <a:t>The kernel is the privileged core of an operating system. Its responsibilities include scheduling runnable work, maintaining virtual memory, mediating file and device access, and implementing interprocess communication. It also maintains bookkeeping: which descriptors a process owns, which pages may be written, and which operations the process’s credentials permit. Not every operating-system service must execute inside the kernel. A command interpreter, a graphical desktop, and many service managers are user-space programs. The design boundary varies among monolithic kernels, microkernels, and other arrangements. Regardless of architecture, a request must be validated at the point where it crosses a trust boundary. Moving an operation into a service does not eliminate the need for access control.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is the privileged core of an operating system.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19.1 Kernel — Deep Dive</a:t>
            </a:r>
          </a:p>
          <a:p/>
          <a:p>
            <a:r>
              <a:t>LECTURE NARRATION</a:t>
            </a:r>
          </a:p>
          <a:p>
            <a:r>
              <a:t>The kernel is the privileged core of an operating system. Its responsibilities include scheduling runnable work, maintaining virtual memory, mediating file and device access, and implementing interprocess communication. It also maintains bookkeeping: which descriptors a process owns, which pages may be written, and which operations the process’s credentials permit. Not every operating-system service must execute inside the kernel. A command interpreter, a graphical desktop, and many service managers are user-space programs. The design boundary varies among monolithic kernels, microkernels, and other arrangements. Regardless of architecture, a request must be validated at the point where it crosses a trust boundary. Moving an operation into a service does not eliminate the need for access control.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is the privileged core of an operating system.</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19.2 User mode</a:t>
            </a:r>
          </a:p>
          <a:p/>
          <a:p>
            <a:r>
              <a:t>LECTURE NARRATION</a:t>
            </a:r>
          </a:p>
          <a:p>
            <a:r>
              <a:t>User mode is an execution mode with restricted authority. In the usual x86-64 Linux arrangement, application instructions execute at current privilege level 3. An application may access its permitted memory and execute ordinary arithmetic, branch, and data-movement instructions. It cannot simply rewrite the active page-table root or disable hardware interrupts. User mode is not synonymous with “untrusted person” or “unimportant program.” A privileged administrator’s ordinary application still runs in user mode. Its credentials may cause the kernel to approve more requests, but those credentials do not turn every application instruction into a ring-0 instruction. Distinguish software authorization from hardware execution privilege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user mode is an execution mode with restricted authority.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19.2 User mode — Deep Dive</a:t>
            </a:r>
          </a:p>
          <a:p/>
          <a:p>
            <a:r>
              <a:t>LECTURE NARRATION</a:t>
            </a:r>
          </a:p>
          <a:p>
            <a:r>
              <a:t>User mode is an execution mode with restricted authority. In the usual x86-64 Linux arrangement, application instructions execute at current privilege level 3. An application may access its permitted memory and execute ordinary arithmetic, branch, and data-movement instructions. It cannot simply rewrite the active page-table root or disable hardware interrupts. User mode is not synonymous with “untrusted person” or “unimportant program.” A privileged administrator’s ordinary application still runs in user mode. Its credentials may cause the kernel to approve more requests, but those credentials do not turn every application instruction into a ring-0 instruction. Distinguish software authorization from hardware execution privilege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user mode is an execution mode with restricted authority.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19.3 Kernel mode</a:t>
            </a:r>
          </a:p>
          <a:p/>
          <a:p>
            <a:r>
              <a:t>LECTURE NARRATION</a:t>
            </a:r>
          </a:p>
          <a:p>
            <a:r>
              <a:t>Kernel mode allows execution of operations needed to control protected machine state. On the reference platform, the kernel normally executes at privilege level 0. Entry into this mode occurs through configured mechanisms rather than by an application choosing an arbitrary destination and declaring itself privileged. Kernel mode does not make software infallible. Invalid pointers, synchronization bugs, and incorrect bounds checks remain possible. Their consequences can be more severe because the kernel has broader authority. Nor does kernel mode imply that every virtual address is mapped or that every memory access succeeds. The currently installed mappings and protection features still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kernel mode allows execution of operations needed to control protected machine state.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19.3 Kernel mode — Deep Dive</a:t>
            </a:r>
          </a:p>
          <a:p/>
          <a:p>
            <a:r>
              <a:t>LECTURE NARRATION</a:t>
            </a:r>
          </a:p>
          <a:p>
            <a:r>
              <a:t>Kernel mode allows execution of operations needed to control protected machine state. On the reference platform, the kernel normally executes at privilege level 0. Entry into this mode occurs through configured mechanisms rather than by an application choosing an arbitrary destination and declaring itself privileged. Kernel mode does not make software infallible. Invalid pointers, synchronization bugs, and incorrect bounds checks remain possible. Their consequences can be more severe because the kernel has broader authority. Nor does kernel mode imply that every virtual address is mapped or that every memory access succeeds. The currently installed mappings and protection features still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kernel mode allows execution of operations needed to control protected machine state.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19.4 Privilege levels</a:t>
            </a:r>
          </a:p>
          <a:p/>
          <a:p>
            <a:r>
              <a:t>LECTURE NARRATION</a:t>
            </a:r>
          </a:p>
          <a:p>
            <a:r>
              <a:t>A privilege level is a hardware-defined part of execution state. x86 provides four numbered rings, although ordinary Linux application/kernel separation primarily uses rings 3 and 0. Virtualization adds another dimension of control; “hypervisor” is not adequately explained by pretending that x86 simply has a normal ring numbered minus one. Privilege checks apply to particular operations and accesses. Accessing a supervisor-only page and executing a privileged instruction are different checks, although both can prevent user code from performing unauthorized work. Software credentials form an additional policy layer. A successful mode transition therefore does not automatically authorize the requested operation: the kernel still checks arguments, ownership, capabilities, and resource limits.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privilege level is a hardware-defined part of execution state. x86 provides four numbered rings, although ordinary Linux application/kernel separation primarily uses rings 3 and 0.</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19.4 Privilege levels — Deep Dive</a:t>
            </a:r>
          </a:p>
          <a:p/>
          <a:p>
            <a:r>
              <a:t>LECTURE NARRATION</a:t>
            </a:r>
          </a:p>
          <a:p>
            <a:r>
              <a:t>A privilege level is a hardware-defined part of execution state. x86 provides four numbered rings, although ordinary Linux application/kernel separation primarily uses rings 3 and 0. Virtualization adds another dimension of control; “hypervisor” is not adequately explained by pretending that x86 simply has a normal ring numbered minus one. Privilege checks apply to particular operations and accesses. Accessing a supervisor-only page and executing a privileged instruction are different checks, although both can prevent user code from performing unauthorized work. Software credentials form an additional policy layer. A successful mode transition therefore does not automatically authorize the requested operation: the kernel still checks arguments, ownership, capabilities, and resource limits.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privilege level is a hardware-defined part of execution state. x86 provides four numbered rings, although ordinary Linux application/kernel separation primarily uses rings 3 and 0.</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19.5 Protected resources</a:t>
            </a:r>
          </a:p>
          <a:p/>
          <a:p>
            <a:r>
              <a:t>LECTURE NARRATION</a:t>
            </a:r>
          </a:p>
          <a:p>
            <a:r>
              <a:t>Protected resources include physical memory mappings, device registers, scheduling state, privileged processor controls, and objects governed by operating-system policy. A disk block may contain another user’s data. A device command may affect the entire machine. A page-table edit may expose memory that was intended to remain isolated. Applications receive controlled references rather than raw authority whenever possible. A file descriptor identifies an entry in a process’s descriptor table; it is not a physical disk address. The kernel interprets the descriptor in the caller’s context and applies the object’s rules. This indirection makes it possible to share resources selectively while preserving a central place to enforce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protected resources include physical memory mappings, device registers, scheduling state, privileged processor controls, and objects governed by operating-system policy.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19.5 Protected resources — Deep Dive</a:t>
            </a:r>
          </a:p>
          <a:p/>
          <a:p>
            <a:r>
              <a:t>LECTURE NARRATION</a:t>
            </a:r>
          </a:p>
          <a:p>
            <a:r>
              <a:t>Protected resources include physical memory mappings, device registers, scheduling state, privileged processor controls, and objects governed by operating-system policy. A disk block may contain another user’s data. A device command may affect the entire machine. A page-table edit may expose memory that was intended to remain isolated. Applications receive controlled references rather than raw authority whenever possible. A file descriptor identifies an entry in a process’s descriptor table; it is not a physical disk address. The kernel interprets the descriptor in the caller’s context and applies the object’s rules. This indirection makes it possible to share resources selectively while preserving a central place to enforce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protected resources include physical memory mappings, device registers, scheduling state, privileged processor controls, and objects governed by operating-system policy.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19.6 Dangerous instructions</a:t>
            </a:r>
          </a:p>
          <a:p/>
          <a:p>
            <a:r>
              <a:t>LECTURE NARRATION</a:t>
            </a:r>
          </a:p>
          <a:p>
            <a:r>
              <a:t>Some instructions alter machine-wide or privileged execution state. Examples include operations involving control registers or interrupt-enable state. Hardware restricts these instructions so that an ordinary process cannot take over the machine by executing a short instruction sequence. An attempted prohibited operation raises an architectural exception rather than granting the requested authority. [ R3 ] Other instructions are not privileged but can still be dangerous when used incorrectly. An ordinary store can corrupt a program’s own heap. Integer division can fault for an invalid divisor. “Unprivileged” means permitted at the current hardware privilege level, not harmless. Labs in this book inspect and model privileged behavior; they do not require running privileged instructions or changing kernel settings.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some instructions alter machine-wide or privileged execution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19.6 Dangerous instructions — Deep Dive</a:t>
            </a:r>
          </a:p>
          <a:p/>
          <a:p>
            <a:r>
              <a:t>LECTURE NARRATION</a:t>
            </a:r>
          </a:p>
          <a:p>
            <a:r>
              <a:t>Some instructions alter machine-wide or privileged execution state. Examples include operations involving control registers or interrupt-enable state. Hardware restricts these instructions so that an ordinary process cannot take over the machine by executing a short instruction sequence. An attempted prohibited operation raises an architectural exception rather than granting the requested authority. [ R3 ] Other instructions are not privileged but can still be dangerous when used incorrectly. An ordinary store can corrupt a program’s own heap. Integer division can fault for an invalid divisor. “Unprivileged” means permitted at the current hardware privilege level, not harmless. Labs in this book inspect and model privileged behavior; they do not require running privileged instructions or changing kernel settings.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some instructions alter machine-wide or privileged execution state.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19.7 Hardware protection</a:t>
            </a:r>
          </a:p>
          <a:p/>
          <a:p>
            <a:r>
              <a:t>LECTURE NARRATION</a:t>
            </a:r>
          </a:p>
          <a:p>
            <a:r>
              <a:t>Hardware protection supplies mechanisms such as permission checks on translations and controlled entry points for exceptions and system calls. The kernel configures these mechanisms, and the processor enforces them during execution. Software policy and hardware enforcement are complementary: a policy without enforcement can be bypassed, while a mechanism without correct policy can faithfully enforce the wrong permissions. Protection operates at particular granularities. A writable page normally permits stores throughout the mapped writable region; it does not know that a C++ vector currently contains only five elements. Consequently, process isolation does not provide complete object-level memory safety. Bounds, lifetime, and concurrency correctness remain responsibilities of the language implementation and program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hardware protection supplies mechanisms such as permission checks on translations and controlled entry points for exceptions and system calls.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19.7 Hardware protection — Deep Dive</a:t>
            </a:r>
          </a:p>
          <a:p/>
          <a:p>
            <a:r>
              <a:t>LECTURE NARRATION</a:t>
            </a:r>
          </a:p>
          <a:p>
            <a:r>
              <a:t>Hardware protection supplies mechanisms such as permission checks on translations and controlled entry points for exceptions and system calls. The kernel configures these mechanisms, and the processor enforces them during execution. Software policy and hardware enforcement are complementary: a policy without enforcement can be bypassed, while a mechanism without correct policy can faithfully enforce the wrong permissions. Protection operates at particular granularities. A writable page normally permits stores throughout the mapped writable region; it does not know that a C++ vector currently contains only five elements. Consequently, process isolation does not provide complete object-level memory safety. Bounds, lifetime, and concurrency correctness remain responsibilities of the language implementation and program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hardware protection supplies mechanisms such as permission checks on translations and controlled entry points for exceptions and system calls.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Following a protected request</a:t>
            </a:r>
          </a:p>
          <a:p/>
          <a:p>
            <a:r>
              <a:t>LECTURE NARRATION</a:t>
            </a:r>
          </a:p>
          <a:p>
            <a:r>
              <a:t>Suppose a process wants to read bytes from an already-open file. The following trace separates computation, transfer, authorization, and completion: Notice what this model does not promise. A successful descriptor lookup does not mean all requested bytes are available. A successful read need not touch a physical disk because data may already be cached. A kernel entry does not necessarily switch to a different process. These are separate events with separate causes. The interfaces in Part VIII make the result-handling obligations concrete. [ R11 ]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process wants to read bytes from an already-open file.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Following a protected request — Deep Dive</a:t>
            </a:r>
          </a:p>
          <a:p/>
          <a:p>
            <a:r>
              <a:t>LECTURE NARRATION</a:t>
            </a:r>
          </a:p>
          <a:p>
            <a:r>
              <a:t>Suppose a process wants to read bytes from an already-open file. The following trace separates computation, transfer, authorization, and completion: Notice what this model does not promise. A successful descriptor lookup does not mean all requested bytes are available. A successful read need not touch a physical disk because data may already be cached. A kernel entry does not necessarily switch to a different process. These are separate events with separate causes. The interfaces in Part VIII make the result-handling obligations concrete. [ R11 ]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process wants to read bytes from an already-open file.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Why user code cannot program a device directly</a:t>
            </a:r>
          </a:p>
          <a:p/>
          <a:p>
            <a:r>
              <a:t>LECTURE NARRATION</a:t>
            </a:r>
          </a:p>
          <a:p>
            <a:r>
              <a:t>A user process may want to reconfigure a device register, but unrestricted access could corrupt other processes or the system. Hardware privilege checks prevent ordinary user-mode instructions from accessing protected control state. The program requests the operation through an OS interface, and trusted kernel code performs or rejects it according to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 process may want to reconfigure a device register, but unrestricted access could corrupt other processes or the system.</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Why user code cannot program a device directly — Deep Dive</a:t>
            </a:r>
          </a:p>
          <a:p/>
          <a:p>
            <a:r>
              <a:t>LECTURE NARRATION</a:t>
            </a:r>
          </a:p>
          <a:p>
            <a:r>
              <a:t>A user process may want to reconfigure a device register, but unrestricted access could corrupt other processes or the system. Hardware privilege checks prevent ordinary user-mode instructions from accessing protected control state. The program requests the operation through an OS interface, and trusted kernel code performs or rejects it according to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 process may want to reconfigure a device register, but unrestricted access could corrupt other processes or the system.</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Protecting kernel memory</a:t>
            </a:r>
          </a:p>
          <a:p/>
          <a:p>
            <a:r>
              <a:t>LECTURE NARRATION</a:t>
            </a:r>
          </a:p>
          <a:p>
            <a:r>
              <a:t>Page-table permissions mark kernel mappings inaccessible to ordinary user-mode accesses. A user pointer that numerically resembles a kernel address does not grant permission to read it. If the CPU checks the access in user mode and protection forbids it, control transfers to the kernel’s fault path rather than completing the load.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page-table permissions mark kernel mappings inaccessible to ordinary user-mode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Protecting kernel memory — Deep Dive</a:t>
            </a:r>
          </a:p>
          <a:p/>
          <a:p>
            <a:r>
              <a:t>LECTURE NARRATION</a:t>
            </a:r>
          </a:p>
          <a:p>
            <a:r>
              <a:t>Page-table permissions mark kernel mappings inaccessible to ordinary user-mode accesses. A user pointer that numerically resembles a kernel address does not grant permission to read it. If the CPU checks the access in user mode and protection forbids it, control transfers to the kernel’s fault path rather than completing the load.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page-table permissions mark kernel mappings inaccessible to ordinary user-mode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19. Classify these operations as ordinary user computation, a request requiring kernel mediation, or an operation whose implementation depends on the library and state: adding two integers; opening a file; formatting text in a user buffer; allocating a small block from an existing allocator arena; changing a mapping’s permissions. Explain why a library function call is not automatically a system call. Review 1. Why does an administrator’s process still need system calls? Review 2. Why can a buffer overflow occur without violating any page permission?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19.</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19. Classify these operations as ordinary user computation, a request requiring kernel mediation, or an operation whose implementation depends on the library and state: adding two integers; opening a file; formatting text in a user buffer; allocating a small block from an existing allocator arena; changing a mapping’s permissions. Explain why a library function call is not automatically a system call. Review 1. Why does an administrator’s process still need system calls? Review 2. Why can a buffer overflow occur without violating any page permission?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19.</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kernel fundamentals.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kernel fundamentals.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Protected Control Transfer.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19 — Kernel Fundamentals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running application can calculate addresses, perform arithmetic, and call functions, but it does not have unrestricted authority over the machine.</a:t>
            </a:r>
          </a:p>
          <a:p>
            <a:pPr>
              <a:spcAft>
                <a:spcPts val="1100"/>
              </a:spcAft>
              <a:defRPr sz="1900">
                <a:solidFill>
                  <a:srgbClr val="F2F5F8"/>
                </a:solidFill>
              </a:defRPr>
            </a:pPr>
            <a:r>
              <a:t>• The kernel establishes the environment in which those actions occur.</a:t>
            </a:r>
          </a:p>
          <a:p>
            <a:pPr>
              <a:spcAft>
                <a:spcPts val="1100"/>
              </a:spcAft>
              <a:defRPr sz="1700">
                <a:solidFill>
                  <a:srgbClr val="F2F5F8"/>
                </a:solidFill>
              </a:defRPr>
            </a:pPr>
            <a:r>
              <a:t>• It manages resources shared by mutually untrusting programs and provides controlled ways to request services that a program cannot perform directly.</a:t>
            </a:r>
          </a:p>
          <a:p>
            <a:pPr>
              <a:spcAft>
                <a:spcPts val="1100"/>
              </a:spcAft>
              <a:defRPr sz="1700">
                <a:solidFill>
                  <a:srgbClr val="F2F5F8"/>
                </a:solidFill>
              </a:defRPr>
            </a:pPr>
            <a:r>
              <a:t>• The important boundary is not between “ordinary code” and “special code.” It is between execution contexts with different permissions.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Kernel Fundamentals.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19.1 Kernel</a:t>
            </a:r>
          </a:p>
          <a:p>
            <a:pPr>
              <a:spcAft>
                <a:spcPts val="1100"/>
              </a:spcAft>
              <a:defRPr sz="1900">
                <a:solidFill>
                  <a:srgbClr val="F2F5F8"/>
                </a:solidFill>
              </a:defRPr>
            </a:pPr>
            <a:r>
              <a:t>• 19.2 User mode</a:t>
            </a:r>
          </a:p>
          <a:p>
            <a:pPr>
              <a:spcAft>
                <a:spcPts val="1100"/>
              </a:spcAft>
              <a:defRPr sz="1900">
                <a:solidFill>
                  <a:srgbClr val="F2F5F8"/>
                </a:solidFill>
              </a:defRPr>
            </a:pPr>
            <a:r>
              <a:t>• 19.3 Kernel mode</a:t>
            </a:r>
          </a:p>
          <a:p>
            <a:pPr>
              <a:spcAft>
                <a:spcPts val="1100"/>
              </a:spcAft>
              <a:defRPr sz="1900">
                <a:solidFill>
                  <a:srgbClr val="F2F5F8"/>
                </a:solidFill>
              </a:defRPr>
            </a:pPr>
            <a:r>
              <a:t>• 19.4 Privilege levels</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19.1 Kernel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kernel is the privileged core of an operating system.</a:t>
            </a:r>
          </a:p>
          <a:p>
            <a:pPr>
              <a:spcAft>
                <a:spcPts val="1100"/>
              </a:spcAft>
              <a:defRPr sz="1700">
                <a:solidFill>
                  <a:srgbClr val="F2F5F8"/>
                </a:solidFill>
              </a:defRPr>
            </a:pPr>
            <a:r>
              <a:t>• Its responsibilities include scheduling runnable work, maintaining virtual memory, mediating file and device access, and implementing interprocess communication.</a:t>
            </a:r>
          </a:p>
          <a:p>
            <a:pPr>
              <a:spcAft>
                <a:spcPts val="1100"/>
              </a:spcAft>
              <a:defRPr sz="1700">
                <a:solidFill>
                  <a:srgbClr val="F2F5F8"/>
                </a:solidFill>
              </a:defRPr>
            </a:pPr>
            <a:r>
              <a:t>• It also maintains bookkeeping: which descriptors a process owns, which pages may be written, and which operations the process’s credentials permit.</a:t>
            </a:r>
          </a:p>
          <a:p>
            <a:pPr>
              <a:spcAft>
                <a:spcPts val="1100"/>
              </a:spcAft>
              <a:defRPr sz="1900">
                <a:solidFill>
                  <a:srgbClr val="F2F5F8"/>
                </a:solidFill>
              </a:defRPr>
            </a:pPr>
            <a:r>
              <a:t>• Not every operating-system service must execute inside the kernel.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19.1 Kernel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 every operating-system service must execute inside the kernel.</a:t>
            </a:r>
          </a:p>
          <a:p>
            <a:pPr>
              <a:spcAft>
                <a:spcPts val="1100"/>
              </a:spcAft>
              <a:defRPr sz="1900">
                <a:solidFill>
                  <a:srgbClr val="F2F5F8"/>
                </a:solidFill>
              </a:defRPr>
            </a:pPr>
            <a:r>
              <a:t>• A command interpreter, a graphical desktop, and many service managers are user-space programs.</a:t>
            </a:r>
          </a:p>
          <a:p>
            <a:pPr>
              <a:spcAft>
                <a:spcPts val="1100"/>
              </a:spcAft>
              <a:defRPr sz="1900">
                <a:solidFill>
                  <a:srgbClr val="F2F5F8"/>
                </a:solidFill>
              </a:defRPr>
            </a:pPr>
            <a:r>
              <a:t>• The design boundary varies among monolithic kernels, microkernels, and other arrangements.</a:t>
            </a:r>
          </a:p>
          <a:p>
            <a:pPr>
              <a:spcAft>
                <a:spcPts val="1100"/>
              </a:spcAft>
              <a:defRPr sz="1900">
                <a:solidFill>
                  <a:srgbClr val="F2F5F8"/>
                </a:solidFill>
              </a:defRPr>
            </a:pPr>
            <a:r>
              <a:t>• Regardless of architecture, a request must be validated at the point where it crosses a trust boundary.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19.2 User mode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User mode is an execution mode with restricted authority.</a:t>
            </a:r>
          </a:p>
          <a:p>
            <a:pPr>
              <a:spcAft>
                <a:spcPts val="1100"/>
              </a:spcAft>
              <a:defRPr sz="1900">
                <a:solidFill>
                  <a:srgbClr val="F2F5F8"/>
                </a:solidFill>
              </a:defRPr>
            </a:pPr>
            <a:r>
              <a:t>• In the usual x86-64 Linux arrangement, application instructions execute at current privilege level 3.</a:t>
            </a:r>
          </a:p>
          <a:p>
            <a:pPr>
              <a:spcAft>
                <a:spcPts val="1100"/>
              </a:spcAft>
              <a:defRPr sz="1900">
                <a:solidFill>
                  <a:srgbClr val="F2F5F8"/>
                </a:solidFill>
              </a:defRPr>
            </a:pPr>
            <a:r>
              <a:t>• An application may access its permitted memory and execute ordinary arithmetic, branch, and data-movement instructions.</a:t>
            </a:r>
          </a:p>
          <a:p>
            <a:pPr>
              <a:spcAft>
                <a:spcPts val="1100"/>
              </a:spcAft>
              <a:defRPr sz="1900">
                <a:solidFill>
                  <a:srgbClr val="F2F5F8"/>
                </a:solidFill>
              </a:defRPr>
            </a:pPr>
            <a:r>
              <a:t>• It cannot simply rewrite the active page-table root or disable hardware interrupts.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19.2 User mode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User mode is not synonymous with “untrusted person” or “unimportant program.” A privileged administrator’s ordinary application still runs in user mode.</a:t>
            </a:r>
          </a:p>
          <a:p>
            <a:pPr>
              <a:spcAft>
                <a:spcPts val="1100"/>
              </a:spcAft>
              <a:defRPr sz="1700">
                <a:solidFill>
                  <a:srgbClr val="F2F5F8"/>
                </a:solidFill>
              </a:defRPr>
            </a:pPr>
            <a:r>
              <a:t>• Its credentials may cause the kernel to approve more requests, but those credentials do not turn every application instruction into a ring-0 instruction.</a:t>
            </a:r>
          </a:p>
          <a:p>
            <a:pPr>
              <a:spcAft>
                <a:spcPts val="1100"/>
              </a:spcAft>
              <a:defRPr sz="1900">
                <a:solidFill>
                  <a:srgbClr val="F2F5F8"/>
                </a:solidFill>
              </a:defRPr>
            </a:pPr>
            <a:r>
              <a:t>• Distinguish software authorization from hardware execution privilege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19.3 Kernel mode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Kernel mode allows execution of operations needed to control protected machine state.</a:t>
            </a:r>
          </a:p>
          <a:p>
            <a:pPr>
              <a:spcAft>
                <a:spcPts val="1100"/>
              </a:spcAft>
              <a:defRPr sz="1900">
                <a:solidFill>
                  <a:srgbClr val="F2F5F8"/>
                </a:solidFill>
              </a:defRPr>
            </a:pPr>
            <a:r>
              <a:t>• On the reference platform, the kernel normally executes at privilege level 0.</a:t>
            </a:r>
          </a:p>
          <a:p>
            <a:pPr>
              <a:spcAft>
                <a:spcPts val="1100"/>
              </a:spcAft>
              <a:defRPr sz="1700">
                <a:solidFill>
                  <a:srgbClr val="F2F5F8"/>
                </a:solidFill>
              </a:defRPr>
            </a:pPr>
            <a:r>
              <a:t>• Entry into this mode occurs through configured mechanisms rather than by an application choosing an arbitrary destination and declaring itself privileged.</a:t>
            </a:r>
          </a:p>
          <a:p>
            <a:pPr>
              <a:spcAft>
                <a:spcPts val="1100"/>
              </a:spcAft>
              <a:defRPr sz="1900">
                <a:solidFill>
                  <a:srgbClr val="F2F5F8"/>
                </a:solidFill>
              </a:defRPr>
            </a:pPr>
            <a:r>
              <a:t>• Kernel mode does not make software infallible.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19.3 Kernel mode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Kernel mode does not make software infallible.</a:t>
            </a:r>
          </a:p>
          <a:p>
            <a:pPr>
              <a:spcAft>
                <a:spcPts val="1100"/>
              </a:spcAft>
              <a:defRPr sz="1900">
                <a:solidFill>
                  <a:srgbClr val="F2F5F8"/>
                </a:solidFill>
              </a:defRPr>
            </a:pPr>
            <a:r>
              <a:t>• Invalid pointers, synchronization bugs, and incorrect bounds checks remain possible.</a:t>
            </a:r>
          </a:p>
          <a:p>
            <a:pPr>
              <a:spcAft>
                <a:spcPts val="1100"/>
              </a:spcAft>
              <a:defRPr sz="1900">
                <a:solidFill>
                  <a:srgbClr val="F2F5F8"/>
                </a:solidFill>
              </a:defRPr>
            </a:pPr>
            <a:r>
              <a:t>• Their consequences can be more severe because the kernel has broader authority.</a:t>
            </a:r>
          </a:p>
          <a:p>
            <a:pPr>
              <a:spcAft>
                <a:spcPts val="1100"/>
              </a:spcAft>
              <a:defRPr sz="1900">
                <a:solidFill>
                  <a:srgbClr val="F2F5F8"/>
                </a:solidFill>
              </a:defRPr>
            </a:pPr>
            <a:r>
              <a:t>• Nor does kernel mode imply that every virtual address is mapped or that every memory access succeeds.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19.4 Privilege levels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privilege level is a hardware-defined part of execution state. x86 provides four numbered rings, although ordinary Linux application/kernel separation primarily uses rings 3...</a:t>
            </a:r>
          </a:p>
          <a:p>
            <a:pPr>
              <a:spcAft>
                <a:spcPts val="1100"/>
              </a:spcAft>
              <a:defRPr sz="1700">
                <a:solidFill>
                  <a:srgbClr val="F2F5F8"/>
                </a:solidFill>
              </a:defRPr>
            </a:pPr>
            <a:r>
              <a:t>• Virtualization adds another dimension of control; “hypervisor” is not adequately explained by pretending that x86 simply has a normal ring numbered minus one.</a:t>
            </a:r>
          </a:p>
          <a:p>
            <a:pPr>
              <a:spcAft>
                <a:spcPts val="1100"/>
              </a:spcAft>
              <a:defRPr sz="1900">
                <a:solidFill>
                  <a:srgbClr val="F2F5F8"/>
                </a:solidFill>
              </a:defRPr>
            </a:pPr>
            <a:r>
              <a:t>• Privilege checks apply to particular operations and accesses.</a:t>
            </a:r>
          </a:p>
          <a:p>
            <a:pPr>
              <a:spcAft>
                <a:spcPts val="1100"/>
              </a:spcAft>
              <a:defRPr sz="1700">
                <a:solidFill>
                  <a:srgbClr val="F2F5F8"/>
                </a:solidFill>
              </a:defRPr>
            </a:pPr>
            <a:r>
              <a:t>• Accessing a supervisor-only page and executing a privileged instruction are different checks, although both can prevent user code from performing unauthorized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19.4 Privilege levels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Privilege checks apply to particular operations and accesses.</a:t>
            </a:r>
          </a:p>
          <a:p>
            <a:pPr>
              <a:spcAft>
                <a:spcPts val="1100"/>
              </a:spcAft>
              <a:defRPr sz="1700">
                <a:solidFill>
                  <a:srgbClr val="F2F5F8"/>
                </a:solidFill>
              </a:defRPr>
            </a:pPr>
            <a:r>
              <a:t>• Accessing a supervisor-only page and executing a privileged instruction are different checks, although both can prevent user code from performing unauthorized work.</a:t>
            </a:r>
          </a:p>
          <a:p>
            <a:pPr>
              <a:spcAft>
                <a:spcPts val="1100"/>
              </a:spcAft>
              <a:defRPr sz="1900">
                <a:solidFill>
                  <a:srgbClr val="F2F5F8"/>
                </a:solidFill>
              </a:defRPr>
            </a:pPr>
            <a:r>
              <a:t>• Software credentials form an additional policy layer.</a:t>
            </a:r>
          </a:p>
          <a:p>
            <a:pPr>
              <a:spcAft>
                <a:spcPts val="1100"/>
              </a:spcAft>
              <a:defRPr sz="1700">
                <a:solidFill>
                  <a:srgbClr val="F2F5F8"/>
                </a:solidFill>
              </a:defRPr>
            </a:pPr>
            <a:r>
              <a:t>• A successful mode transition therefore does not automatically authorize the requested operation: the kernel still checks arguments, ownership, capabilities, and resource...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19.5 Protected resources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Protected resources include physical memory mappings, device registers, scheduling state, privileged processor controls, and objects governed by operating-system policy.</a:t>
            </a:r>
          </a:p>
          <a:p>
            <a:pPr>
              <a:spcAft>
                <a:spcPts val="1100"/>
              </a:spcAft>
              <a:defRPr sz="1900">
                <a:solidFill>
                  <a:srgbClr val="F2F5F8"/>
                </a:solidFill>
              </a:defRPr>
            </a:pPr>
            <a:r>
              <a:t>• A disk block may contain another user’s data.</a:t>
            </a:r>
          </a:p>
          <a:p>
            <a:pPr>
              <a:spcAft>
                <a:spcPts val="1100"/>
              </a:spcAft>
              <a:defRPr sz="1900">
                <a:solidFill>
                  <a:srgbClr val="F2F5F8"/>
                </a:solidFill>
              </a:defRPr>
            </a:pPr>
            <a:r>
              <a:t>• A device command may affect the entire machine.</a:t>
            </a:r>
          </a:p>
          <a:p>
            <a:pPr>
              <a:spcAft>
                <a:spcPts val="1100"/>
              </a:spcAft>
              <a:defRPr sz="1900">
                <a:solidFill>
                  <a:srgbClr val="F2F5F8"/>
                </a:solidFill>
              </a:defRPr>
            </a:pPr>
            <a:r>
              <a:t>• A page-table edit may expose memory that was intended to remain isolated.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19.5 Protected resources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Applications receive controlled references rather than raw authority whenever possible.</a:t>
            </a:r>
          </a:p>
          <a:p>
            <a:pPr>
              <a:spcAft>
                <a:spcPts val="1100"/>
              </a:spcAft>
              <a:defRPr sz="1900">
                <a:solidFill>
                  <a:srgbClr val="F2F5F8"/>
                </a:solidFill>
              </a:defRPr>
            </a:pPr>
            <a:r>
              <a:t>• A file descriptor identifies an entry in a process’s descriptor table; it is not a physical disk address.</a:t>
            </a:r>
          </a:p>
          <a:p>
            <a:pPr>
              <a:spcAft>
                <a:spcPts val="1100"/>
              </a:spcAft>
              <a:defRPr sz="1900">
                <a:solidFill>
                  <a:srgbClr val="F2F5F8"/>
                </a:solidFill>
              </a:defRPr>
            </a:pPr>
            <a:r>
              <a:t>• The kernel interprets the descriptor in the caller’s context and applies the object’s rules.</a:t>
            </a:r>
          </a:p>
          <a:p>
            <a:pPr>
              <a:spcAft>
                <a:spcPts val="1100"/>
              </a:spcAft>
              <a:defRPr sz="1900">
                <a:solidFill>
                  <a:srgbClr val="F2F5F8"/>
                </a:solidFill>
              </a:defRPr>
            </a:pPr>
            <a:r>
              <a:t>• This indirection makes it possible to share resources selectively while preserving a central place to enforce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19.6 Dangerous instructions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Some instructions alter machine-wide or privileged execution state.</a:t>
            </a:r>
          </a:p>
          <a:p>
            <a:pPr>
              <a:spcAft>
                <a:spcPts val="1100"/>
              </a:spcAft>
              <a:defRPr sz="1900">
                <a:solidFill>
                  <a:srgbClr val="F2F5F8"/>
                </a:solidFill>
              </a:defRPr>
            </a:pPr>
            <a:r>
              <a:t>• Examples include operations involving control registers or interrupt-enable state.</a:t>
            </a:r>
          </a:p>
          <a:p>
            <a:pPr>
              <a:spcAft>
                <a:spcPts val="1100"/>
              </a:spcAft>
              <a:defRPr sz="1700">
                <a:solidFill>
                  <a:srgbClr val="F2F5F8"/>
                </a:solidFill>
              </a:defRPr>
            </a:pPr>
            <a:r>
              <a:t>• Hardware restricts these instructions so that an ordinary process cannot take over the machine by executing a short instruction sequence.</a:t>
            </a:r>
          </a:p>
          <a:p>
            <a:pPr>
              <a:spcAft>
                <a:spcPts val="1100"/>
              </a:spcAft>
              <a:defRPr sz="1700">
                <a:solidFill>
                  <a:srgbClr val="F2F5F8"/>
                </a:solidFill>
              </a:defRPr>
            </a:pPr>
            <a:r>
              <a:t>• An attempted prohibited operation raises an architectural exception rather than granting the requested authority.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19.6 Dangerous instructions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Other instructions are not privileged but can still be dangerous when used incorrectly.</a:t>
            </a:r>
          </a:p>
          <a:p>
            <a:pPr>
              <a:spcAft>
                <a:spcPts val="1100"/>
              </a:spcAft>
              <a:defRPr sz="1900">
                <a:solidFill>
                  <a:srgbClr val="F2F5F8"/>
                </a:solidFill>
              </a:defRPr>
            </a:pPr>
            <a:r>
              <a:t>• An ordinary store can corrupt a program’s own heap.</a:t>
            </a:r>
          </a:p>
          <a:p>
            <a:pPr>
              <a:spcAft>
                <a:spcPts val="1100"/>
              </a:spcAft>
              <a:defRPr sz="1700">
                <a:solidFill>
                  <a:srgbClr val="F2F5F8"/>
                </a:solidFill>
              </a:defRPr>
            </a:pPr>
            <a:r>
              <a:t>• Integer division can fault for an invalid divisor. “Unprivileged” means permitted at the current hardware privilege level, not harmless.</a:t>
            </a:r>
          </a:p>
          <a:p>
            <a:pPr>
              <a:spcAft>
                <a:spcPts val="1100"/>
              </a:spcAft>
              <a:defRPr sz="1700">
                <a:solidFill>
                  <a:srgbClr val="F2F5F8"/>
                </a:solidFill>
              </a:defRPr>
            </a:pPr>
            <a:r>
              <a:t>• Labs in this book inspect and model privileged behavior; they do not require running privileged instructions or changing kernel settings.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19.7 Hardware protection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Hardware protection supplies mechanisms such as permission checks on translations and controlled entry points for exceptions and system calls.</a:t>
            </a:r>
          </a:p>
          <a:p>
            <a:pPr>
              <a:spcAft>
                <a:spcPts val="1100"/>
              </a:spcAft>
              <a:defRPr sz="1900">
                <a:solidFill>
                  <a:srgbClr val="F2F5F8"/>
                </a:solidFill>
              </a:defRPr>
            </a:pPr>
            <a:r>
              <a:t>• The kernel configures these mechanisms, and the processor enforces them during execution.</a:t>
            </a:r>
          </a:p>
          <a:p>
            <a:pPr>
              <a:spcAft>
                <a:spcPts val="1100"/>
              </a:spcAft>
              <a:defRPr sz="1700">
                <a:solidFill>
                  <a:srgbClr val="F2F5F8"/>
                </a:solidFill>
              </a:defRPr>
            </a:pPr>
            <a:r>
              <a:t>• Software policy and hardware enforcement are complementary: a policy without enforcement can be bypassed, while a mechanism without correct policy can faithfully enforce the...</a:t>
            </a:r>
          </a:p>
          <a:p>
            <a:pPr>
              <a:spcAft>
                <a:spcPts val="1100"/>
              </a:spcAft>
              <a:defRPr sz="1900">
                <a:solidFill>
                  <a:srgbClr val="F2F5F8"/>
                </a:solidFill>
              </a:defRPr>
            </a:pPr>
            <a:r>
              <a:t>• Protection operates at particular granularities.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19.7 Hardware protection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Protection operates at particular granularities.</a:t>
            </a:r>
          </a:p>
          <a:p>
            <a:pPr>
              <a:spcAft>
                <a:spcPts val="1100"/>
              </a:spcAft>
              <a:defRPr sz="1700">
                <a:solidFill>
                  <a:srgbClr val="F2F5F8"/>
                </a:solidFill>
              </a:defRPr>
            </a:pPr>
            <a:r>
              <a:t>• A writable page normally permits stores throughout the mapped writable region; it does not know that a C++ vector currently contains only five elements.</a:t>
            </a:r>
          </a:p>
          <a:p>
            <a:pPr>
              <a:spcAft>
                <a:spcPts val="1100"/>
              </a:spcAft>
              <a:defRPr sz="1900">
                <a:solidFill>
                  <a:srgbClr val="F2F5F8"/>
                </a:solidFill>
              </a:defRPr>
            </a:pPr>
            <a:r>
              <a:t>• Consequently, process isolation does not provide complete object-level memory safety.</a:t>
            </a:r>
          </a:p>
          <a:p>
            <a:pPr>
              <a:spcAft>
                <a:spcPts val="1100"/>
              </a:spcAft>
              <a:defRPr sz="1700">
                <a:solidFill>
                  <a:srgbClr val="F2F5F8"/>
                </a:solidFill>
              </a:defRPr>
            </a:pPr>
            <a:r>
              <a:t>• Bounds, lifetime, and concurrency correctness remain responsibilities of the language implementation and program design.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a protected request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process wants to read bytes from an already-open file.</a:t>
            </a:r>
          </a:p>
          <a:p>
            <a:pPr>
              <a:spcAft>
                <a:spcPts val="1100"/>
              </a:spcAft>
              <a:defRPr sz="1900">
                <a:solidFill>
                  <a:srgbClr val="F2F5F8"/>
                </a:solidFill>
              </a:defRPr>
            </a:pPr>
            <a:r>
              <a:t>• The following trace separates computation, transfer, authorization, and completion:</a:t>
            </a:r>
          </a:p>
          <a:p>
            <a:pPr>
              <a:spcAft>
                <a:spcPts val="1100"/>
              </a:spcAft>
              <a:defRPr sz="1900">
                <a:solidFill>
                  <a:srgbClr val="F2F5F8"/>
                </a:solidFill>
              </a:defRPr>
            </a:pPr>
            <a:r>
              <a:t>• Notice what this model does not promise.</a:t>
            </a:r>
          </a:p>
          <a:p>
            <a:pPr>
              <a:spcAft>
                <a:spcPts val="1100"/>
              </a:spcAft>
              <a:defRPr sz="1900">
                <a:solidFill>
                  <a:srgbClr val="F2F5F8"/>
                </a:solidFill>
              </a:defRPr>
            </a:pPr>
            <a:r>
              <a:t>• A successful descriptor lookup does not mean all requested bytes are available.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a protected request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Notice what this model does not promise.</a:t>
            </a:r>
          </a:p>
          <a:p>
            <a:pPr>
              <a:spcAft>
                <a:spcPts val="1100"/>
              </a:spcAft>
              <a:defRPr sz="1900">
                <a:solidFill>
                  <a:srgbClr val="F2F5F8"/>
                </a:solidFill>
              </a:defRPr>
            </a:pPr>
            <a:r>
              <a:t>• A successful descriptor lookup does not mean all requested bytes are available.</a:t>
            </a:r>
          </a:p>
          <a:p>
            <a:pPr>
              <a:spcAft>
                <a:spcPts val="1100"/>
              </a:spcAft>
              <a:defRPr sz="1900">
                <a:solidFill>
                  <a:srgbClr val="F2F5F8"/>
                </a:solidFill>
              </a:defRPr>
            </a:pPr>
            <a:r>
              <a:t>• A successful read need not touch a physical disk because data may already be cached.</a:t>
            </a:r>
          </a:p>
          <a:p>
            <a:pPr>
              <a:spcAft>
                <a:spcPts val="1100"/>
              </a:spcAft>
              <a:defRPr sz="1900">
                <a:solidFill>
                  <a:srgbClr val="F2F5F8"/>
                </a:solidFill>
              </a:defRPr>
            </a:pPr>
            <a:r>
              <a:t>• A kernel entry does not necessarily switch to a different process.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user code cannot program a device directly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user process may want to reconfigure a device register, but unrestricted access could corrupt other processes or the system.</a:t>
            </a:r>
          </a:p>
          <a:p>
            <a:pPr>
              <a:spcAft>
                <a:spcPts val="1100"/>
              </a:spcAft>
              <a:defRPr sz="1900">
                <a:solidFill>
                  <a:srgbClr val="F2F5F8"/>
                </a:solidFill>
              </a:defRPr>
            </a:pPr>
            <a:r>
              <a:t>• Hardware privilege checks prevent ordinary user-mode instructions from accessing protected control state.</a:t>
            </a:r>
          </a:p>
          <a:p>
            <a:pPr>
              <a:spcAft>
                <a:spcPts val="1100"/>
              </a:spcAft>
              <a:defRPr sz="1700">
                <a:solidFill>
                  <a:srgbClr val="F2F5F8"/>
                </a:solidFill>
              </a:defRPr>
            </a:pPr>
            <a:r>
              <a:t>• The program requests the operation through an OS interface, and trusted kernel code performs or rejects it according to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user code cannot program a device directly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user process may want to reconfigure a device register, but unrestricted access could corrupt other processes or the system.</a:t>
            </a:r>
          </a:p>
          <a:p>
            <a:pPr>
              <a:spcAft>
                <a:spcPts val="1100"/>
              </a:spcAft>
              <a:defRPr sz="1900">
                <a:solidFill>
                  <a:srgbClr val="F2F5F8"/>
                </a:solidFill>
              </a:defRPr>
            </a:pPr>
            <a:r>
              <a:t>• Hardware privilege checks prevent ordinary user-mode instructions from accessing protected control state.</a:t>
            </a:r>
          </a:p>
          <a:p>
            <a:pPr>
              <a:spcAft>
                <a:spcPts val="1100"/>
              </a:spcAft>
              <a:defRPr sz="1700">
                <a:solidFill>
                  <a:srgbClr val="F2F5F8"/>
                </a:solidFill>
              </a:defRPr>
            </a:pPr>
            <a:r>
              <a:t>• The program requests the operation through an OS interface, and trusted kernel code performs or rejects it according to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Protecting kernel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Page-table permissions mark kernel mappings inaccessible to ordinary user-mode accesses.</a:t>
            </a:r>
          </a:p>
          <a:p>
            <a:pPr>
              <a:spcAft>
                <a:spcPts val="1100"/>
              </a:spcAft>
              <a:defRPr sz="1900">
                <a:solidFill>
                  <a:srgbClr val="F2F5F8"/>
                </a:solidFill>
              </a:defRPr>
            </a:pPr>
            <a:r>
              <a:t>• A user pointer that numerically resembles a kernel address does not grant permission to read it.</a:t>
            </a:r>
          </a:p>
          <a:p>
            <a:pPr>
              <a:spcAft>
                <a:spcPts val="1100"/>
              </a:spcAft>
              <a:defRPr sz="1700">
                <a:solidFill>
                  <a:srgbClr val="F2F5F8"/>
                </a:solidFill>
              </a:defRPr>
            </a:pPr>
            <a:r>
              <a:t>• If the CPU checks the access in user mode and protection forbids it, control transfers to the kernel’s fault path rather than completing the load.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Protecting kernel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Page-table permissions mark kernel mappings inaccessible to ordinary user-mode accesses.</a:t>
            </a:r>
          </a:p>
          <a:p>
            <a:pPr>
              <a:spcAft>
                <a:spcPts val="1100"/>
              </a:spcAft>
              <a:defRPr sz="1900">
                <a:solidFill>
                  <a:srgbClr val="F2F5F8"/>
                </a:solidFill>
              </a:defRPr>
            </a:pPr>
            <a:r>
              <a:t>• A user pointer that numerically resembles a kernel address does not grant permission to read it.</a:t>
            </a:r>
          </a:p>
          <a:p>
            <a:pPr>
              <a:spcAft>
                <a:spcPts val="1100"/>
              </a:spcAft>
              <a:defRPr sz="1700">
                <a:solidFill>
                  <a:srgbClr val="F2F5F8"/>
                </a:solidFill>
              </a:defRPr>
            </a:pPr>
            <a:r>
              <a:t>• If the CPU checks the access in user mode and protection forbids it, control transfers to the kernel’s fault path rather than completing the load.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19.</a:t>
            </a:r>
          </a:p>
          <a:p>
            <a:pPr>
              <a:spcAft>
                <a:spcPts val="1100"/>
              </a:spcAft>
              <a:defRPr sz="1700">
                <a:solidFill>
                  <a:srgbClr val="F2F5F8"/>
                </a:solidFill>
              </a:defRPr>
            </a:pPr>
            <a:r>
              <a:t>• Classify these operations as ordinary user computation, a request requiring kernel mediation, or an operation whose implementation depends on the library and state: adding two...</a:t>
            </a:r>
          </a:p>
          <a:p>
            <a:pPr>
              <a:spcAft>
                <a:spcPts val="1100"/>
              </a:spcAft>
              <a:defRPr sz="1900">
                <a:solidFill>
                  <a:srgbClr val="F2F5F8"/>
                </a:solidFill>
              </a:defRPr>
            </a:pPr>
            <a:r>
              <a:t>• Explain why a library function call is not automatically a system call.</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an administrator’s process still need system calls?</a:t>
            </a:r>
          </a:p>
          <a:p>
            <a:pPr>
              <a:spcAft>
                <a:spcPts val="1100"/>
              </a:spcAft>
              <a:defRPr sz="1900">
                <a:solidFill>
                  <a:srgbClr val="F2F5F8"/>
                </a:solidFill>
              </a:defRPr>
            </a:pPr>
            <a:r>
              <a:t>• Review 2.</a:t>
            </a:r>
          </a:p>
          <a:p>
            <a:pPr>
              <a:spcAft>
                <a:spcPts val="1100"/>
              </a:spcAft>
              <a:defRPr sz="1900">
                <a:solidFill>
                  <a:srgbClr val="F2F5F8"/>
                </a:solidFill>
              </a:defRPr>
            </a:pPr>
            <a:r>
              <a:t>• Why can a buffer overflow occur without violating any page permission?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kernel fundamentals.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Protected Control Transfer.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19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