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 Chapter 41 — Signals</a:t>
            </a:r>
          </a:p>
          <a:p/>
          <a:p>
            <a:r>
              <a:t>LECTURE NARRATION</a:t>
            </a:r>
          </a:p>
          <a:p>
            <a:r>
              <a:t>Signals notify a process or thread of events outside ordinary return-value control flow. They can represent terminal actions, child state changes, explicit requests, or synchronous faults. A signal handler can interrupt code at an inconvenient moment, so its safe operations are severely restricted. [ R20 , R21 ]</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signals notify a process or thread of events outside ordinary return-value control flow.</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What This Chapter Builds</a:t>
            </a:r>
          </a:p>
          <a:p/>
          <a:p>
            <a:r>
              <a:t>LECTURE NARRATION</a:t>
            </a:r>
          </a:p>
          <a:p>
            <a:r>
              <a:t>Signals notify a process or thread of events outside ordinary return-value control flow. They can represent terminal actions, child state changes, explicit requests, or synchronous faults. A signal handler can interrupt code at an inconvenient moment, so its safe operations are severely restricted. [ R20 , R21 ]</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signals notify a process or thread of events outside ordinary return-value control flow.</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Chapter Roadmap</a:t>
            </a:r>
          </a:p>
          <a:p/>
          <a:p>
            <a:r>
              <a:t>LECTURE NARRATION</a:t>
            </a:r>
          </a:p>
          <a:p>
            <a:r>
              <a:t>41.1 Asynchronous events 41.2 Signal delivery 41.3 kill 41.4 sigaction ...plus 10 additional source topics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41.1 Asynchronous events 41.2 Signal delivery 41.3 kill 41.4 sigaction ...plus 10 additional source topics</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41.1 Asynchronous events</a:t>
            </a:r>
          </a:p>
          <a:p/>
          <a:p>
            <a:r>
              <a:t>LECTURE NARRATION</a:t>
            </a:r>
          </a:p>
          <a:p>
            <a:r>
              <a:t>An asynchronous signal can arrive independently of the interrupted statement’s purpose. The program may be halfway through updating a data structure or holding a library’s internal lock. Handler code must not assume a clean application boundary. Synchronous fault signals have a different relationship to execution: they result from an instruction’s behavior. Catching such a signal does not automatically make corrupted state recoverable. Treat routine notifications and invalid-memory faults as different design problems.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an asynchronous signal can arrive independently of the interrupted statement’s purpose.</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41.1 Asynchronous events — Deep Dive</a:t>
            </a:r>
          </a:p>
          <a:p/>
          <a:p>
            <a:r>
              <a:t>LECTURE NARRATION</a:t>
            </a:r>
          </a:p>
          <a:p>
            <a:r>
              <a:t>An asynchronous signal can arrive independently of the interrupted statement’s purpose. The program may be halfway through updating a data structure or holding a library’s internal lock. Handler code must not assume a clean application boundary. Synchronous fault signals have a different relationship to execution: they result from an instruction’s behavior. Catching such a signal does not automatically make corrupted state recoverable. Treat routine notifications and invalid-memory faults as different design problems.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an asynchronous signal can arrive independently of the interrupted statement’s purpose.</a:t>
            </a:r>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41.2 Signal delivery</a:t>
            </a:r>
          </a:p>
          <a:p/>
          <a:p>
            <a:r>
              <a:t>LECTURE NARRATION</a:t>
            </a:r>
          </a:p>
          <a:p>
            <a:r>
              <a:t>Signal disposition defines whether a signal is handled, ignored, or given its default action, subject to signals that cannot be caught or ignored. Signal masks control which signals are blocked for a thread. In a multithreaded process, dispositions and per-thread masks have different scopes. Process-directed signals can be delivered to an eligible thread under the platform’s rules. A design that depends on one particular worker receiving a signal should use a deliberate masking and signal-consumption strategy instead of leaving delivery accidental.</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signal disposition defines whether a signal is handled, ignored, or given its default action, subject to signals that cannot be caught or ignored.</a:t>
            </a:r>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41.2 Signal delivery — Deep Dive</a:t>
            </a:r>
          </a:p>
          <a:p/>
          <a:p>
            <a:r>
              <a:t>LECTURE NARRATION</a:t>
            </a:r>
          </a:p>
          <a:p>
            <a:r>
              <a:t>Signal disposition defines whether a signal is handled, ignored, or given its default action, subject to signals that cannot be caught or ignored. Signal masks control which signals are blocked for a thread. In a multithreaded process, dispositions and per-thread masks have different scopes. Process-directed signals can be delivered to an eligible thread under the platform’s rules. A design that depends on one particular worker receiving a signal should use a deliberate masking and signal-consumption strategy instead of leaving delivery accidental.</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signal disposition defines whether a signal is handled, ignored, or given its default action, subject to signals that cannot be caught or ignored.</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41.3 kill</a:t>
            </a:r>
          </a:p>
          <a:p/>
          <a:p>
            <a:r>
              <a:t>LECTURE NARRATION</a:t>
            </a:r>
          </a:p>
          <a:p>
            <a:r>
              <a:t>Despite its name, kill sends a signal; the chosen signal’s disposition determines the effect. It can request termination, notify, or test certain existence/permission conditions with signal number zero under documented rules. A PID is a reusable identifier, not an eternal object reference. Long-lived supervisors must account for lifecycle and identity races. This book’s simple examples use freshly created children or the current process rather than treating an old stored PID as permanently trustworthy.</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despite its name, kill sends a signal; the chosen signal’s disposition determines the effect.</a:t>
            </a:r>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41.3 kill — Deep Dive</a:t>
            </a:r>
          </a:p>
          <a:p/>
          <a:p>
            <a:r>
              <a:t>LECTURE NARRATION</a:t>
            </a:r>
          </a:p>
          <a:p>
            <a:r>
              <a:t>Despite its name, kill sends a signal; the chosen signal’s disposition determines the effect. It can request termination, notify, or test certain existence/permission conditions with signal number zero under documented rules. A PID is a reusable identifier, not an eternal object reference. Long-lived supervisors must account for lifecycle and identity races. This book’s simple examples use freshly created children or the current process rather than treating an old stored PID as permanently trustworthy.</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despite its name, kill sends a signal; the chosen signal’s disposition determines the effect.</a:t>
            </a:r>
          </a:p>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41.4 sigaction</a:t>
            </a:r>
          </a:p>
          <a:p/>
          <a:p>
            <a:r>
              <a:t>LECTURE NARRATION</a:t>
            </a:r>
          </a:p>
          <a:p>
            <a:r>
              <a:t>sigaction installs a handler and associated mask and flags. It provides explicit control that is preferable to relying on historically varying signal semantics. Initialize the structure and signal set before installing it. Flags such as SA_RESTART affect some interrupted operations, not every possible wait or system call. Correct I/O code still needs to interpret its own interface’s results. A blanket assumption that signals can never interrupt operations is unsafe.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sigaction installs a handler and associated mask and flags.</a:t>
            </a:r>
          </a:p>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41.4 sigaction — Deep Dive</a:t>
            </a:r>
          </a:p>
          <a:p/>
          <a:p>
            <a:r>
              <a:t>LECTURE NARRATION</a:t>
            </a:r>
          </a:p>
          <a:p>
            <a:r>
              <a:t>sigaction installs a handler and associated mask and flags. It provides explicit control that is preferable to relying on historically varying signal semantics. Initialize the structure and signal set before installing it. Flags such as SA_RESTART affect some interrupted operations, not every possible wait or system call. Correct I/O code still needs to interpret its own interface’s results. A blanket assumption that signals can never interrupt operations is unsafe.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sigaction installs a handler and associated mask and flags.</a:t>
            </a:r>
          </a:p>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41.5 Signal handlers</a:t>
            </a:r>
          </a:p>
          <a:p/>
          <a:p>
            <a:r>
              <a:t>LECTURE NARRATION</a:t>
            </a:r>
          </a:p>
          <a:p>
            <a:r>
              <a:t>A minimal handler records that an event occurred and leaves substantial work to ordinary control flow. A volatile sig_atomic_t flag supports the limited communication pattern used here. It is not a general atomic counter or a substitute for C++ inter-thread synchronization. Do not call printf , allocate memory, acquire arbitrary mutexes, or use ordinary C++ stream operations from an asynchronous handler. They may rely on state that the interrupted code was modifying. Use only operations guaranteed async-signal-safe for the relevant environment. [ R20 ]</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minimal handler records that an event occurred and leaves substantial work to ordinary control flow.</a:t>
            </a:r>
          </a:p>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41.5 Signal handlers — Deep Dive</a:t>
            </a:r>
          </a:p>
          <a:p/>
          <a:p>
            <a:r>
              <a:t>LECTURE NARRATION</a:t>
            </a:r>
          </a:p>
          <a:p>
            <a:r>
              <a:t>A minimal handler records that an event occurred and leaves substantial work to ordinary control flow. A volatile sig_atomic_t flag supports the limited communication pattern used here. It is not a general atomic counter or a substitute for C++ inter-thread synchronization. Do not call printf , allocate memory, acquire arbitrary mutexes, or use ordinary C++ stream operations from an asynchronous handler. They may rely on state that the interrupted code was modifying. Use only operations guaranteed async-signal-safe for the relevant environment. [ R20 ]</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minimal handler records that an event occurred and leaves substantial work to ordinary control flow.</a:t>
            </a:r>
          </a:p>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 41.6 Blocking signals</a:t>
            </a:r>
          </a:p>
          <a:p/>
          <a:p>
            <a:r>
              <a:t>LECTURE NARRATION</a:t>
            </a:r>
          </a:p>
          <a:p>
            <a:r>
              <a:t>Blocking delays delivery; it does not necessarily discard the event. A critical setup sequence can block a signal, install state, and then unblock it at a controlled point. In multithreaded programs, use the appropriate thread-aware mask interfaces and establish masks before creating workers when that is part of the design. Blocking is also needed to close a check-then-sleep race. The signal must not slip between observing a flag and entering a wait that would then have no future notification to wake it.</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blocking delays delivery; it does not necessarily discard the event.</a:t>
            </a:r>
          </a:p>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15: 41.6 Blocking signals — Deep Dive</a:t>
            </a:r>
          </a:p>
          <a:p/>
          <a:p>
            <a:r>
              <a:t>LECTURE NARRATION</a:t>
            </a:r>
          </a:p>
          <a:p>
            <a:r>
              <a:t>Blocking delays delivery; it does not necessarily discard the event. A critical setup sequence can block a signal, install state, and then unblock it at a controlled point. In multithreaded programs, use the appropriate thread-aware mask interfaces and establish masks before creating workers when that is part of the design. Blocking is also needed to close a check-then-sleep race. The signal must not slip between observing a flag and entering a wait that would then have no future notification to wake it.</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blocking delays delivery; it does not necessarily discard the event.</a:t>
            </a:r>
          </a:p>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16: 41.7 Pending signals</a:t>
            </a:r>
          </a:p>
          <a:p/>
          <a:p>
            <a:r>
              <a:t>LECTURE NARRATION</a:t>
            </a:r>
          </a:p>
          <a:p>
            <a:r>
              <a:t>A blocked signal can become pending. Standard signals generally do not queue one distinct instance for every repeated occurrence; multiple occurrences can coalesce. Real-time signals provide different queuing semantics under their documented limits. Consequently, a handler flag is usually a request to inspect state, not an exact count of events. A SIGCHLD notification should trigger collection of all available child statuses, not one wait per presumed signal instance.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blocked signal can become pending.</a:t>
            </a:r>
          </a:p>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17: 41.7 Pending signals — Deep Dive</a:t>
            </a:r>
          </a:p>
          <a:p/>
          <a:p>
            <a:r>
              <a:t>LECTURE NARRATION</a:t>
            </a:r>
          </a:p>
          <a:p>
            <a:r>
              <a:t>A blocked signal can become pending. Standard signals generally do not queue one distinct instance for every repeated occurrence; multiple occurrences can coalesce. Real-time signals provide different queuing semantics under their documented limits. Consequently, a handler flag is usually a request to inspect state, not an exact count of events. A SIGCHLD notification should trigger collection of all available child statuses, not one wait per presumed signal instance.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blocked signal can become pending.</a:t>
            </a:r>
          </a:p>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18: 41.8 Signal safety</a:t>
            </a:r>
          </a:p>
          <a:p/>
          <a:p>
            <a:r>
              <a:t>LECTURE NARRATION</a:t>
            </a:r>
          </a:p>
          <a:p>
            <a:r>
              <a:t>Signal safety concerns reentrancy and permitted operations at an asynchronous interruption point. It is not the same as ordinary thread safety. A function protected by an internal mutex can be thread-safe yet deadlock when called from a handler that interrupted a thread holding that mutex. A handler using an async-signal-safe function that can affect errno should save and restore errno when necessary. A self-pipe pattern can notify an event loop with a small write, but it must handle a full nonblocking pipe without blocking inside the handler.</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signal safety concerns reentrancy and permitted operations at an asynchronous interruption point.</a:t>
            </a:r>
          </a:p>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19: 41.8 Signal safety — Deep Dive</a:t>
            </a:r>
          </a:p>
          <a:p/>
          <a:p>
            <a:r>
              <a:t>LECTURE NARRATION</a:t>
            </a:r>
          </a:p>
          <a:p>
            <a:r>
              <a:t>Signal safety concerns reentrancy and permitted operations at an asynchronous interruption point. It is not the same as ordinary thread safety. A function protected by an internal mutex can be thread-safe yet deadlock when called from a handler that interrupted a thread holding that mutex. A handler using an async-signal-safe function that can affect errno should save and restore errno when necessary. A self-pipe pattern can notify an event loop with a small write, but it must handle a full nonblocking pipe without blocking inside the handler.</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signal safety concerns reentrancy and permitted operations at an asynchronous interruption point.</a:t>
            </a:r>
          </a:p>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20: 41.9 Signal races</a:t>
            </a:r>
          </a:p>
          <a:p/>
          <a:p>
            <a:r>
              <a:t>LECTURE NARRATION</a:t>
            </a:r>
          </a:p>
          <a:p>
            <a:r>
              <a:t>A race occurs when correctness depends on the timing of delivery relative to ordinary state changes. Installing a handler after enabling an event source can miss the intended handling window. Updating shared bookkeeping without a masking plan can expose inconsistent state. Design the state transition and notification together. The signal says that something may have changed; protected ordinary code determines exactly what changed and performs the required work. This parallels condition-variable design in Part XI.</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Imagine several people editing the same whiteboard. If they do not coordinate, the final answer can depend on who writes at exactly the wrong moment.</a:t>
            </a:r>
          </a:p>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21: 41.9 Signal races — Deep Dive</a:t>
            </a:r>
          </a:p>
          <a:p/>
          <a:p>
            <a:r>
              <a:t>LECTURE NARRATION</a:t>
            </a:r>
          </a:p>
          <a:p>
            <a:r>
              <a:t>A race occurs when correctness depends on the timing of delivery relative to ordinary state changes. Installing a handler after enabling an event source can miss the intended handling window. Updating shared bookkeeping without a masking plan can expose inconsistent state. Design the state transition and notification together. The signal says that something may have changed; protected ordinary code determines exactly what changed and performs the required work. This parallels condition-variable design in Part XI.</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Imagine several people editing the same whiteboard. If they do not coordinate, the final answer can depend on who writes at exactly the wrong moment.</a:t>
            </a:r>
          </a:p>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22: 41.10 Sleep/wakeup races</a:t>
            </a:r>
          </a:p>
          <a:p/>
          <a:p>
            <a:r>
              <a:t>LECTURE NARRATION</a:t>
            </a:r>
          </a:p>
          <a:p>
            <a:r>
              <a:t>The broken pattern is if (!flag) pause(); : a signal can set the flag after the check but before pause , leaving the program asleep after the only notification. Making the flag volatile does not make those two operations atomic. sigsuspend temporarily installs a signal mask and waits as one coordinated operation. Block the relevant signal while checking the predicate, then use a mask that permits it during the wait. On return, recheck the predicate in a loop. [ R40 ]</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Imagine several people editing the same whiteboard. If they do not coordinate, the final answer can depend on who writes at exactly the wrong moment.</a:t>
            </a:r>
          </a:p>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23: 41.10 Sleep/wakeup races — Deep Dive</a:t>
            </a:r>
          </a:p>
          <a:p/>
          <a:p>
            <a:r>
              <a:t>LECTURE NARRATION</a:t>
            </a:r>
          </a:p>
          <a:p>
            <a:r>
              <a:t>The broken pattern is if (!flag) pause(); : a signal can set the flag after the check but before pause , leaving the program asleep after the only notification. Making the flag volatile does not make those two operations atomic. sigsuspend temporarily installs a signal mask and waits as one coordinated operation. Block the relevant signal while checking the predicate, then use a mask that permits it during the wait. On return, recheck the predicate in a loop. [ R40 ]</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Imagine several people editing the same whiteboard. If they do not coordinate, the final answer can depend on who writes at exactly the wrong moment.</a:t>
            </a:r>
          </a:p>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24: Worked example — Pending delivery without a lost wakeup</a:t>
            </a:r>
          </a:p>
          <a:p/>
          <a:p>
            <a:r>
              <a:t>LECTURE NARRATION</a:t>
            </a:r>
          </a:p>
          <a:p>
            <a:r>
              <a:t>This deterministic demonstration blocks SIGUSR1 , raises it while blocked, and then uses sigsuspend to permit delivery. The handler only sets a flag. It does not require another process or rely on a sleep duration. Companion listing: ch41/signals.c The expected output is signal observed . The signal is already pending before the wait, yet delivery cannot be lost between the predicate check and the temporary unblocking. The example intentionally exits after demonstrating one notification; a reusable component would also restore dispositions and define a broader shutdown policy.</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this deterministic demonstration blocks SIGUSR1 , raises it while blocked, and then uses sigsuspend to permit delivery.</a:t>
            </a:r>
          </a:p>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25: Worked example — Pending delivery without a lost wakeup — Deep Dive</a:t>
            </a:r>
          </a:p>
          <a:p/>
          <a:p>
            <a:r>
              <a:t>LECTURE NARRATION</a:t>
            </a:r>
          </a:p>
          <a:p>
            <a:r>
              <a:t>This deterministic demonstration blocks SIGUSR1 , raises it while blocked, and then uses sigsuspend to permit delivery. The handler only sets a flag. It does not require another process or rely on a sleep duration. Companion listing: ch41/signals.c The expected output is signal observed . The signal is already pending before the wait, yet delivery cannot be lost between the predicate check and the temporary unblocking. The example intentionally exits after demonstrating one notification; a reusable component would also restore dispositions and define a broader shutdown policy.</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this deterministic demonstration blocks SIGUSR1 , raises it while blocked, and then uses sigsuspend to permit delivery.</a:t>
            </a:r>
          </a:p>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26: Worked example — Safe signal notification</a:t>
            </a:r>
          </a:p>
          <a:p/>
          <a:p>
            <a:r>
              <a:t>LECTURE NARRATION</a:t>
            </a:r>
          </a:p>
          <a:p>
            <a:r>
              <a:t>A signal handler should do minimal async-signal-safe work. A common pattern sets a volatile sig_atomic_t flag or writes a byte to a self-pipe, then returns. Normal code observes the flag or file descriptor and performs complex processing outside the handler. Calling arbitrary allocation or I/O library functions inside the handler can violate reentrancy requirements.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signal handler should do minimal async-signal-safe work.</a:t>
            </a:r>
          </a:p>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27: Worked example — Safe signal notification — Deep Dive</a:t>
            </a:r>
          </a:p>
          <a:p/>
          <a:p>
            <a:r>
              <a:t>LECTURE NARRATION</a:t>
            </a:r>
          </a:p>
          <a:p>
            <a:r>
              <a:t>A signal handler should do minimal async-signal-safe work. A common pattern sets a volatile sig_atomic_t flag or writes a byte to a self-pipe, then returns. Normal code observes the flag or file descriptor and performs complex processing outside the handler. Calling arbitrary allocation or I/O library functions inside the handler can violate reentrancy requirements.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signal handler should do minimal async-signal-safe work.</a:t>
            </a:r>
          </a:p>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28: Worked example — Closing a sleep/wakeup race</a:t>
            </a:r>
          </a:p>
          <a:p/>
          <a:p>
            <a:r>
              <a:t>LECTURE NARRATION</a:t>
            </a:r>
          </a:p>
          <a:p>
            <a:r>
              <a:t>If code checks ready == false and then separately goes to sleep, a signal arriving between those steps can be lost. Correct designs use an atomic blocking primitive such as sigsuspend with a carefully managed signal mask so the state check and sleep transition cannot miss the event window.</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Imagine several people editing the same whiteboard. If they do not coordinate, the final answer can depend on who writes at exactly the wrong moment.</a:t>
            </a:r>
          </a:p>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29: Worked example — Closing a sleep/wakeup race — Deep Dive</a:t>
            </a:r>
          </a:p>
          <a:p/>
          <a:p>
            <a:r>
              <a:t>LECTURE NARRATION</a:t>
            </a:r>
          </a:p>
          <a:p>
            <a:r>
              <a:t>If code checks ready == false and then separately goes to sleep, a signal arriving between those steps can be lost. Correct designs use an atomic blocking primitive such as sigsuspend with a carefully managed signal mask so the state check and sleep transition cannot miss the event window.</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Imagine several people editing the same whiteboard. If they do not coordinate, the final answer can depend on who writes at exactly the wrong moment.</a:t>
            </a:r>
          </a:p>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30: Guided lab and review</a:t>
            </a:r>
          </a:p>
          <a:p/>
          <a:p>
            <a:r>
              <a:t>LECTURE NARRATION</a:t>
            </a:r>
          </a:p>
          <a:p>
            <a:r>
              <a:t>Lab 41. Trace the mask and flag before raise , after raise , inside the handler, and after sigsuspend . Explain what repeated standard-signal raises while blocked do and why an event counter cannot be inferred from this flag. Review 1. Why is thread-safe not equivalent to async-signal-safe? Review 2. Why does volatile not repair check-then-sleep?</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lab 41.</a:t>
            </a:r>
          </a:p>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31: Guided lab and review — Deep Dive</a:t>
            </a:r>
          </a:p>
          <a:p/>
          <a:p>
            <a:r>
              <a:t>LECTURE NARRATION</a:t>
            </a:r>
          </a:p>
          <a:p>
            <a:r>
              <a:t>Lab 41. Trace the mask and flag before raise , after raise , inside the handler, and after sigsuspend . Explain what repeated standard-signal raises while blocked do and why an event counter cannot be inferred from this flag. Review 1. Why is thread-safe not equivalent to async-signal-safe? Review 2. Why does volatile not repair check-then-sleep?</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lab 41.</a:t>
            </a:r>
          </a:p>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32: Chapter Synthesis</a:t>
            </a:r>
          </a:p>
          <a:p/>
          <a:p>
            <a:r>
              <a:t>LECTURE NARRATION</a:t>
            </a:r>
          </a:p>
          <a:p>
            <a:r>
              <a:t>The chapter's central subject is signals. Correct reasoning requires explicit assumptions, bounds, ownership, and interface contracts. Observed behavior is evidence about a run; it is not automatically a language or system guarantee. Use the worked examples and lab to test whether the model transfers to new cases.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the chapter's central subject is signals.</a:t>
            </a:r>
          </a:p>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33: Review and Transition</a:t>
            </a:r>
          </a:p>
          <a:p/>
          <a:p>
            <a:r>
              <a:t>LECTURE NARRATION</a:t>
            </a:r>
          </a:p>
          <a:p>
            <a:r>
              <a:t>Explain one mechanism from the chapter without relying on vocabulary alone. Identify one failure mode and the violated contract or invariant. State what evidence would support your diagnosis and what it would not prove. Next: Shell Architecture.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explain one mechanism from the chapter without relying on vocabulary alone.</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Chapter 41 — Signals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GRADUATE LECTURE</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Signals notify a process or thread of events outside ordinary return-value control flow.</a:t>
            </a:r>
          </a:p>
          <a:p>
            <a:pPr>
              <a:spcAft>
                <a:spcPts val="1100"/>
              </a:spcAft>
              <a:defRPr sz="1900">
                <a:solidFill>
                  <a:srgbClr val="F2F5F8"/>
                </a:solidFill>
              </a:defRPr>
            </a:pPr>
            <a:r>
              <a:t>• They can represent terminal actions, child state changes, explicit requests, or synchronous faults.</a:t>
            </a:r>
          </a:p>
          <a:p>
            <a:pPr>
              <a:spcAft>
                <a:spcPts val="1100"/>
              </a:spcAft>
              <a:defRPr sz="1700">
                <a:solidFill>
                  <a:srgbClr val="F2F5F8"/>
                </a:solidFill>
              </a:defRPr>
            </a:pPr>
            <a:r>
              <a:t>• A signal handler can interrupt code at an inconvenient moment, so its safe operations are severely restricted. [ R20 , R21 ]</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41     |     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What This Chapter Builds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LEARNING OBJECTIVES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Explain the mechanisms and contracts in Signals.</a:t>
            </a:r>
          </a:p>
          <a:p>
            <a:pPr>
              <a:spcAft>
                <a:spcPts val="1100"/>
              </a:spcAft>
              <a:defRPr sz="1900">
                <a:solidFill>
                  <a:srgbClr val="F2F5F8"/>
                </a:solidFill>
              </a:defRPr>
            </a:pPr>
            <a:r>
              <a:t>• Trace the chapter's important state, representation, and resource transitions.</a:t>
            </a:r>
          </a:p>
          <a:p>
            <a:pPr>
              <a:spcAft>
                <a:spcPts val="1100"/>
              </a:spcAft>
              <a:defRPr sz="1900">
                <a:solidFill>
                  <a:srgbClr val="F2F5F8"/>
                </a:solidFill>
              </a:defRPr>
            </a:pPr>
            <a:r>
              <a:t>• Identify failure modes, assumptions, and evidence required for correctness.</a:t>
            </a:r>
          </a:p>
          <a:p>
            <a:pPr>
              <a:spcAft>
                <a:spcPts val="1100"/>
              </a:spcAft>
              <a:defRPr sz="1900">
                <a:solidFill>
                  <a:srgbClr val="F2F5F8"/>
                </a:solidFill>
              </a:defRPr>
            </a:pPr>
            <a:r>
              <a:t>• Apply the chapter model to the worked examples and guided lab.</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41     |     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Chapter Roadmap</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SOURCE-ALIGNED COVERAGE</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41.1 Asynchronous events</a:t>
            </a:r>
          </a:p>
          <a:p>
            <a:pPr>
              <a:spcAft>
                <a:spcPts val="1100"/>
              </a:spcAft>
              <a:defRPr sz="1900">
                <a:solidFill>
                  <a:srgbClr val="F2F5F8"/>
                </a:solidFill>
              </a:defRPr>
            </a:pPr>
            <a:r>
              <a:t>• 41.2 Signal delivery</a:t>
            </a:r>
          </a:p>
          <a:p>
            <a:pPr>
              <a:spcAft>
                <a:spcPts val="1100"/>
              </a:spcAft>
              <a:defRPr sz="1900">
                <a:solidFill>
                  <a:srgbClr val="F2F5F8"/>
                </a:solidFill>
              </a:defRPr>
            </a:pPr>
            <a:r>
              <a:t>• 41.3 kill</a:t>
            </a:r>
          </a:p>
          <a:p>
            <a:pPr>
              <a:spcAft>
                <a:spcPts val="1100"/>
              </a:spcAft>
              <a:defRPr sz="1900">
                <a:solidFill>
                  <a:srgbClr val="F2F5F8"/>
                </a:solidFill>
              </a:defRPr>
            </a:pPr>
            <a:r>
              <a:t>• 41.4 sigaction</a:t>
            </a:r>
          </a:p>
          <a:p>
            <a:pPr>
              <a:spcAft>
                <a:spcPts val="1100"/>
              </a:spcAft>
              <a:defRPr sz="1900">
                <a:solidFill>
                  <a:srgbClr val="F2F5F8"/>
                </a:solidFill>
              </a:defRPr>
            </a:pPr>
            <a:r>
              <a:t>• ...plus 10 additional source topics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41     |     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41.1 Asynchronous events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An asynchronous signal can arrive independently of the interrupted statement’s purpose.</a:t>
            </a:r>
          </a:p>
          <a:p>
            <a:pPr>
              <a:spcAft>
                <a:spcPts val="1100"/>
              </a:spcAft>
              <a:defRPr sz="1900">
                <a:solidFill>
                  <a:srgbClr val="F2F5F8"/>
                </a:solidFill>
              </a:defRPr>
            </a:pPr>
            <a:r>
              <a:t>• The program may be halfway through updating a data structure or holding a library’s internal lock.</a:t>
            </a:r>
          </a:p>
          <a:p>
            <a:pPr>
              <a:spcAft>
                <a:spcPts val="1100"/>
              </a:spcAft>
              <a:defRPr sz="1900">
                <a:solidFill>
                  <a:srgbClr val="F2F5F8"/>
                </a:solidFill>
              </a:defRPr>
            </a:pPr>
            <a:r>
              <a:t>• Handler code must not assume a clean application boundary.</a:t>
            </a:r>
          </a:p>
          <a:p>
            <a:pPr>
              <a:spcAft>
                <a:spcPts val="1100"/>
              </a:spcAft>
              <a:defRPr sz="1900">
                <a:solidFill>
                  <a:srgbClr val="F2F5F8"/>
                </a:solidFill>
              </a:defRPr>
            </a:pPr>
            <a:r>
              <a:t>• Synchronous fault signals have a different relationship to execution: they result from an instruction’s behavior.</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41     |     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41.1 Asynchronous events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Synchronous fault signals have a different relationship to execution: they result from an instruction’s behavior.</a:t>
            </a:r>
          </a:p>
          <a:p>
            <a:pPr>
              <a:spcAft>
                <a:spcPts val="1100"/>
              </a:spcAft>
              <a:defRPr sz="1900">
                <a:solidFill>
                  <a:srgbClr val="F2F5F8"/>
                </a:solidFill>
              </a:defRPr>
            </a:pPr>
            <a:r>
              <a:t>• Catching such a signal does not automatically make corrupted state recoverable.</a:t>
            </a:r>
          </a:p>
          <a:p>
            <a:pPr>
              <a:spcAft>
                <a:spcPts val="1100"/>
              </a:spcAft>
              <a:defRPr sz="1900">
                <a:solidFill>
                  <a:srgbClr val="F2F5F8"/>
                </a:solidFill>
              </a:defRPr>
            </a:pPr>
            <a:r>
              <a:t>• Treat routine notifications and invalid-memory faults as different design problems.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41     |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41.2 Signal delivery</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Signal disposition defines whether a signal is handled, ignored, or given its default action, subject to signals that cannot be caught or ignored.</a:t>
            </a:r>
          </a:p>
          <a:p>
            <a:pPr>
              <a:spcAft>
                <a:spcPts val="1100"/>
              </a:spcAft>
              <a:defRPr sz="1900">
                <a:solidFill>
                  <a:srgbClr val="F2F5F8"/>
                </a:solidFill>
              </a:defRPr>
            </a:pPr>
            <a:r>
              <a:t>• Signal masks control which signals are blocked for a thread.</a:t>
            </a:r>
          </a:p>
          <a:p>
            <a:pPr>
              <a:spcAft>
                <a:spcPts val="1100"/>
              </a:spcAft>
              <a:defRPr sz="1900">
                <a:solidFill>
                  <a:srgbClr val="F2F5F8"/>
                </a:solidFill>
              </a:defRPr>
            </a:pPr>
            <a:r>
              <a:t>• In a multithreaded process, dispositions and per-thread masks have different scopes.</a:t>
            </a:r>
          </a:p>
          <a:p>
            <a:pPr>
              <a:spcAft>
                <a:spcPts val="1100"/>
              </a:spcAft>
              <a:defRPr sz="1900">
                <a:solidFill>
                  <a:srgbClr val="F2F5F8"/>
                </a:solidFill>
              </a:defRPr>
            </a:pPr>
            <a:r>
              <a:t>• Process-directed signals can be delivered to an eligible thread under the platform’s rules.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41     |     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41.2 Signal delivery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Process-directed signals can be delivered to an eligible thread under the platform’s rules.</a:t>
            </a:r>
          </a:p>
          <a:p>
            <a:pPr>
              <a:spcAft>
                <a:spcPts val="1100"/>
              </a:spcAft>
              <a:defRPr sz="1700">
                <a:solidFill>
                  <a:srgbClr val="F2F5F8"/>
                </a:solidFill>
              </a:defRPr>
            </a:pPr>
            <a:r>
              <a:t>• A design that depends on one particular worker receiving a signal should use a deliberate masking and signal-consumption strategy instead of leaving delivery accidental.</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41     |     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41.3 kill</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Despite its name, kill sends a signal; the chosen signal’s disposition determines the effect.</a:t>
            </a:r>
          </a:p>
          <a:p>
            <a:pPr>
              <a:spcAft>
                <a:spcPts val="1100"/>
              </a:spcAft>
              <a:defRPr sz="1700">
                <a:solidFill>
                  <a:srgbClr val="F2F5F8"/>
                </a:solidFill>
              </a:defRPr>
            </a:pPr>
            <a:r>
              <a:t>• It can request termination, notify, or test certain existence/permission conditions with signal number zero under documented rules.</a:t>
            </a:r>
          </a:p>
          <a:p>
            <a:pPr>
              <a:spcAft>
                <a:spcPts val="1100"/>
              </a:spcAft>
              <a:defRPr sz="1900">
                <a:solidFill>
                  <a:srgbClr val="F2F5F8"/>
                </a:solidFill>
              </a:defRPr>
            </a:pPr>
            <a:r>
              <a:t>• A PID is a reusable identifier, not an eternal object reference.</a:t>
            </a:r>
          </a:p>
          <a:p>
            <a:pPr>
              <a:spcAft>
                <a:spcPts val="1100"/>
              </a:spcAft>
              <a:defRPr sz="1900">
                <a:solidFill>
                  <a:srgbClr val="F2F5F8"/>
                </a:solidFill>
              </a:defRPr>
            </a:pPr>
            <a:r>
              <a:t>• Long-lived supervisors must account for lifecycle and identity races.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41     |     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41.3 kill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PID is a reusable identifier, not an eternal object reference.</a:t>
            </a:r>
          </a:p>
          <a:p>
            <a:pPr>
              <a:spcAft>
                <a:spcPts val="1100"/>
              </a:spcAft>
              <a:defRPr sz="1900">
                <a:solidFill>
                  <a:srgbClr val="F2F5F8"/>
                </a:solidFill>
              </a:defRPr>
            </a:pPr>
            <a:r>
              <a:t>• Long-lived supervisors must account for lifecycle and identity races.</a:t>
            </a:r>
          </a:p>
          <a:p>
            <a:pPr>
              <a:spcAft>
                <a:spcPts val="1100"/>
              </a:spcAft>
              <a:defRPr sz="1700">
                <a:solidFill>
                  <a:srgbClr val="F2F5F8"/>
                </a:solidFill>
              </a:defRPr>
            </a:pPr>
            <a:r>
              <a:t>• This book’s simple examples use freshly created children or the current process rather than treating an old stored PID as permanently trustworthy.</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41     |     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41.4 sigaction</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sigaction installs a handler and associated mask and flags.</a:t>
            </a:r>
          </a:p>
          <a:p>
            <a:pPr>
              <a:spcAft>
                <a:spcPts val="1100"/>
              </a:spcAft>
              <a:defRPr sz="1900">
                <a:solidFill>
                  <a:srgbClr val="F2F5F8"/>
                </a:solidFill>
              </a:defRPr>
            </a:pPr>
            <a:r>
              <a:t>• It provides explicit control that is preferable to relying on historically varying signal semantics.</a:t>
            </a:r>
          </a:p>
          <a:p>
            <a:pPr>
              <a:spcAft>
                <a:spcPts val="1100"/>
              </a:spcAft>
              <a:defRPr sz="1900">
                <a:solidFill>
                  <a:srgbClr val="F2F5F8"/>
                </a:solidFill>
              </a:defRPr>
            </a:pPr>
            <a:r>
              <a:t>• Initialize the structure and signal set before installing it.</a:t>
            </a:r>
          </a:p>
          <a:p>
            <a:pPr>
              <a:spcAft>
                <a:spcPts val="1100"/>
              </a:spcAft>
              <a:defRPr sz="1900">
                <a:solidFill>
                  <a:srgbClr val="F2F5F8"/>
                </a:solidFill>
              </a:defRPr>
            </a:pPr>
            <a:r>
              <a:t>• Flags such as SA_RESTART affect some interrupted operations, not every possible wait or system call.</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41     |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41.4 sigaction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Flags such as SA_RESTART affect some interrupted operations, not every possible wait or system call.</a:t>
            </a:r>
          </a:p>
          <a:p>
            <a:pPr>
              <a:spcAft>
                <a:spcPts val="1100"/>
              </a:spcAft>
              <a:defRPr sz="1900">
                <a:solidFill>
                  <a:srgbClr val="F2F5F8"/>
                </a:solidFill>
              </a:defRPr>
            </a:pPr>
            <a:r>
              <a:t>• Correct I/O code still needs to interpret its own interface’s results.</a:t>
            </a:r>
          </a:p>
          <a:p>
            <a:pPr>
              <a:spcAft>
                <a:spcPts val="1100"/>
              </a:spcAft>
              <a:defRPr sz="1900">
                <a:solidFill>
                  <a:srgbClr val="F2F5F8"/>
                </a:solidFill>
              </a:defRPr>
            </a:pPr>
            <a:r>
              <a:t>• A blanket assumption that signals can never interrupt operations is unsafe.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41     |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41.5 Signal handlers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minimal handler records that an event occurred and leaves substantial work to ordinary control flow.</a:t>
            </a:r>
          </a:p>
          <a:p>
            <a:pPr>
              <a:spcAft>
                <a:spcPts val="1100"/>
              </a:spcAft>
              <a:defRPr sz="1900">
                <a:solidFill>
                  <a:srgbClr val="F2F5F8"/>
                </a:solidFill>
              </a:defRPr>
            </a:pPr>
            <a:r>
              <a:t>• A volatile sig_atomic_t flag supports the limited communication pattern used here.</a:t>
            </a:r>
          </a:p>
          <a:p>
            <a:pPr>
              <a:spcAft>
                <a:spcPts val="1100"/>
              </a:spcAft>
              <a:defRPr sz="1900">
                <a:solidFill>
                  <a:srgbClr val="F2F5F8"/>
                </a:solidFill>
              </a:defRPr>
            </a:pPr>
            <a:r>
              <a:t>• It is not a general atomic counter or a substitute for C++ inter-thread synchronization.</a:t>
            </a:r>
          </a:p>
          <a:p>
            <a:pPr>
              <a:spcAft>
                <a:spcPts val="1100"/>
              </a:spcAft>
              <a:defRPr sz="1700">
                <a:solidFill>
                  <a:srgbClr val="F2F5F8"/>
                </a:solidFill>
              </a:defRPr>
            </a:pPr>
            <a:r>
              <a:t>• Do not call printf , allocate memory, acquire arbitrary mutexes, or use ordinary C++ stream operations from an asynchronous handler.</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41     |     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41.5 Signal handlers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Do not call printf , allocate memory, acquire arbitrary mutexes, or use ordinary C++ stream operations from an asynchronous handler.</a:t>
            </a:r>
          </a:p>
          <a:p>
            <a:pPr>
              <a:spcAft>
                <a:spcPts val="1100"/>
              </a:spcAft>
              <a:defRPr sz="1900">
                <a:solidFill>
                  <a:srgbClr val="F2F5F8"/>
                </a:solidFill>
              </a:defRPr>
            </a:pPr>
            <a:r>
              <a:t>• They may rely on state that the interrupted code was modifying.</a:t>
            </a:r>
          </a:p>
          <a:p>
            <a:pPr>
              <a:spcAft>
                <a:spcPts val="1100"/>
              </a:spcAft>
              <a:defRPr sz="1900">
                <a:solidFill>
                  <a:srgbClr val="F2F5F8"/>
                </a:solidFill>
              </a:defRPr>
            </a:pPr>
            <a:r>
              <a:t>• Use only operations guaranteed async-signal-safe for the relevant environment. [ R20 ]</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41     |     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41.6 Blocking signals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Blocking delays delivery; it does not necessarily discard the event.</a:t>
            </a:r>
          </a:p>
          <a:p>
            <a:pPr>
              <a:spcAft>
                <a:spcPts val="1100"/>
              </a:spcAft>
              <a:defRPr sz="1900">
                <a:solidFill>
                  <a:srgbClr val="F2F5F8"/>
                </a:solidFill>
              </a:defRPr>
            </a:pPr>
            <a:r>
              <a:t>• A critical setup sequence can block a signal, install state, and then unblock it at a controlled point.</a:t>
            </a:r>
          </a:p>
          <a:p>
            <a:pPr>
              <a:spcAft>
                <a:spcPts val="1100"/>
              </a:spcAft>
              <a:defRPr sz="1700">
                <a:solidFill>
                  <a:srgbClr val="F2F5F8"/>
                </a:solidFill>
              </a:defRPr>
            </a:pPr>
            <a:r>
              <a:t>• In multithreaded programs, use the appropriate thread-aware mask interfaces and establish masks before creating workers when that is part of the design.</a:t>
            </a:r>
          </a:p>
          <a:p>
            <a:pPr>
              <a:spcAft>
                <a:spcPts val="1100"/>
              </a:spcAft>
              <a:defRPr sz="1900">
                <a:solidFill>
                  <a:srgbClr val="F2F5F8"/>
                </a:solidFill>
              </a:defRPr>
            </a:pPr>
            <a:r>
              <a:t>• Blocking is also needed to close a check-then-sleep race.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41     |     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41.6 Blocking signals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Blocking is also needed to close a check-then-sleep race.</a:t>
            </a:r>
          </a:p>
          <a:p>
            <a:pPr>
              <a:spcAft>
                <a:spcPts val="1100"/>
              </a:spcAft>
              <a:defRPr sz="1700">
                <a:solidFill>
                  <a:srgbClr val="F2F5F8"/>
                </a:solidFill>
              </a:defRPr>
            </a:pPr>
            <a:r>
              <a:t>• The signal must not slip between observing a flag and entering a wait that would then have no future notification to wake it.</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41     |     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41.7 Pending signals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blocked signal can become pending.</a:t>
            </a:r>
          </a:p>
          <a:p>
            <a:pPr>
              <a:spcAft>
                <a:spcPts val="1100"/>
              </a:spcAft>
              <a:defRPr sz="1700">
                <a:solidFill>
                  <a:srgbClr val="F2F5F8"/>
                </a:solidFill>
              </a:defRPr>
            </a:pPr>
            <a:r>
              <a:t>• Standard signals generally do not queue one distinct instance for every repeated occurrence; multiple occurrences can coalesce.</a:t>
            </a:r>
          </a:p>
          <a:p>
            <a:pPr>
              <a:spcAft>
                <a:spcPts val="1100"/>
              </a:spcAft>
              <a:defRPr sz="1900">
                <a:solidFill>
                  <a:srgbClr val="F2F5F8"/>
                </a:solidFill>
              </a:defRPr>
            </a:pPr>
            <a:r>
              <a:t>• Real-time signals provide different queuing semantics under their documented limits.</a:t>
            </a:r>
          </a:p>
          <a:p>
            <a:pPr>
              <a:spcAft>
                <a:spcPts val="1100"/>
              </a:spcAft>
              <a:defRPr sz="1900">
                <a:solidFill>
                  <a:srgbClr val="F2F5F8"/>
                </a:solidFill>
              </a:defRPr>
            </a:pPr>
            <a:r>
              <a:t>• Consequently, a handler flag is usually a request to inspect state, not an exact count of events.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41     |     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41.7 Pending signals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Consequently, a handler flag is usually a request to inspect state, not an exact count of events.</a:t>
            </a:r>
          </a:p>
          <a:p>
            <a:pPr>
              <a:spcAft>
                <a:spcPts val="1100"/>
              </a:spcAft>
              <a:defRPr sz="1700">
                <a:solidFill>
                  <a:srgbClr val="F2F5F8"/>
                </a:solidFill>
              </a:defRPr>
            </a:pPr>
            <a:r>
              <a:t>• A SIGCHLD notification should trigger collection of all available child statuses, not one wait per presumed signal instance.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41     |     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41.8 Signal safety</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Signal safety concerns reentrancy and permitted operations at an asynchronous interruption point.</a:t>
            </a:r>
          </a:p>
          <a:p>
            <a:pPr>
              <a:spcAft>
                <a:spcPts val="1100"/>
              </a:spcAft>
              <a:defRPr sz="1900">
                <a:solidFill>
                  <a:srgbClr val="F2F5F8"/>
                </a:solidFill>
              </a:defRPr>
            </a:pPr>
            <a:r>
              <a:t>• It is not the same as ordinary thread safety.</a:t>
            </a:r>
          </a:p>
          <a:p>
            <a:pPr>
              <a:spcAft>
                <a:spcPts val="1100"/>
              </a:spcAft>
              <a:defRPr sz="1700">
                <a:solidFill>
                  <a:srgbClr val="F2F5F8"/>
                </a:solidFill>
              </a:defRPr>
            </a:pPr>
            <a:r>
              <a:t>• A function protected by an internal mutex can be thread-safe yet deadlock when called from a handler that interrupted a thread holding that mutex.</a:t>
            </a:r>
          </a:p>
          <a:p>
            <a:pPr>
              <a:spcAft>
                <a:spcPts val="1100"/>
              </a:spcAft>
              <a:defRPr sz="1900">
                <a:solidFill>
                  <a:srgbClr val="F2F5F8"/>
                </a:solidFill>
              </a:defRPr>
            </a:pPr>
            <a:r>
              <a:t>• A handler using an async-signal-safe function that can affect errno should save and restore errno when necessary.</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41     |     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41.8 Signal safety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handler using an async-signal-safe function that can affect errno should save and restore errno when necessary.</a:t>
            </a:r>
          </a:p>
          <a:p>
            <a:pPr>
              <a:spcAft>
                <a:spcPts val="1100"/>
              </a:spcAft>
              <a:defRPr sz="1700">
                <a:solidFill>
                  <a:srgbClr val="F2F5F8"/>
                </a:solidFill>
              </a:defRPr>
            </a:pPr>
            <a:r>
              <a:t>• A self-pipe pattern can notify an event loop with a small write, but it must handle a full nonblocking pipe without blocking inside the handler.</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41     |     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41.9 Signal races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race occurs when correctness depends on the timing of delivery relative to ordinary state changes.</a:t>
            </a:r>
          </a:p>
          <a:p>
            <a:pPr>
              <a:spcAft>
                <a:spcPts val="1100"/>
              </a:spcAft>
              <a:defRPr sz="1900">
                <a:solidFill>
                  <a:srgbClr val="F2F5F8"/>
                </a:solidFill>
              </a:defRPr>
            </a:pPr>
            <a:r>
              <a:t>• Installing a handler after enabling an event source can miss the intended handling window.</a:t>
            </a:r>
          </a:p>
          <a:p>
            <a:pPr>
              <a:spcAft>
                <a:spcPts val="1100"/>
              </a:spcAft>
              <a:defRPr sz="1900">
                <a:solidFill>
                  <a:srgbClr val="F2F5F8"/>
                </a:solidFill>
              </a:defRPr>
            </a:pPr>
            <a:r>
              <a:t>• Updating shared bookkeeping without a masking plan can expose inconsistent state.</a:t>
            </a:r>
          </a:p>
          <a:p>
            <a:pPr>
              <a:spcAft>
                <a:spcPts val="1100"/>
              </a:spcAft>
              <a:defRPr sz="1900">
                <a:solidFill>
                  <a:srgbClr val="F2F5F8"/>
                </a:solidFill>
              </a:defRPr>
            </a:pPr>
            <a:r>
              <a:t>• Design the state transition and notification together.</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41     |     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41.9 Signal races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Design the state transition and notification together.</a:t>
            </a:r>
          </a:p>
          <a:p>
            <a:pPr>
              <a:spcAft>
                <a:spcPts val="1100"/>
              </a:spcAft>
              <a:defRPr sz="1700">
                <a:solidFill>
                  <a:srgbClr val="F2F5F8"/>
                </a:solidFill>
              </a:defRPr>
            </a:pPr>
            <a:r>
              <a:t>• The signal says that something may have changed; protected ordinary code determines exactly what changed and performs the required work.</a:t>
            </a:r>
          </a:p>
          <a:p>
            <a:pPr>
              <a:spcAft>
                <a:spcPts val="1100"/>
              </a:spcAft>
              <a:defRPr sz="1900">
                <a:solidFill>
                  <a:srgbClr val="F2F5F8"/>
                </a:solidFill>
              </a:defRPr>
            </a:pPr>
            <a:r>
              <a:t>• This parallels condition-variable design in Part XI.</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41     |     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41.10 Sleep/wakeup races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The broken pattern is if (!flag) pause(); : a signal can set the flag after the check but before pause , leaving the program asleep after the only notification.</a:t>
            </a:r>
          </a:p>
          <a:p>
            <a:pPr>
              <a:spcAft>
                <a:spcPts val="1100"/>
              </a:spcAft>
              <a:defRPr sz="1900">
                <a:solidFill>
                  <a:srgbClr val="F2F5F8"/>
                </a:solidFill>
              </a:defRPr>
            </a:pPr>
            <a:r>
              <a:t>• Making the flag volatile does not make those two operations atomic.</a:t>
            </a:r>
          </a:p>
          <a:p>
            <a:pPr>
              <a:spcAft>
                <a:spcPts val="1100"/>
              </a:spcAft>
              <a:defRPr sz="1900">
                <a:solidFill>
                  <a:srgbClr val="F2F5F8"/>
                </a:solidFill>
              </a:defRPr>
            </a:pPr>
            <a:r>
              <a:t>• sigsuspend temporarily installs a signal mask and waits as one coordinated operation.</a:t>
            </a:r>
          </a:p>
          <a:p>
            <a:pPr>
              <a:spcAft>
                <a:spcPts val="1100"/>
              </a:spcAft>
              <a:defRPr sz="1900">
                <a:solidFill>
                  <a:srgbClr val="F2F5F8"/>
                </a:solidFill>
              </a:defRPr>
            </a:pPr>
            <a:r>
              <a:t>• Block the relevant signal while checking the predicate, then use a mask that permits it during the wait.</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41     |     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41.10 Sleep/wakeup races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sigsuspend temporarily installs a signal mask and waits as one coordinated operation.</a:t>
            </a:r>
          </a:p>
          <a:p>
            <a:pPr>
              <a:spcAft>
                <a:spcPts val="1100"/>
              </a:spcAft>
              <a:defRPr sz="1900">
                <a:solidFill>
                  <a:srgbClr val="F2F5F8"/>
                </a:solidFill>
              </a:defRPr>
            </a:pPr>
            <a:r>
              <a:t>• Block the relevant signal while checking the predicate, then use a mask that permits it during the wait.</a:t>
            </a:r>
          </a:p>
          <a:p>
            <a:pPr>
              <a:spcAft>
                <a:spcPts val="1100"/>
              </a:spcAft>
              <a:defRPr sz="1900">
                <a:solidFill>
                  <a:srgbClr val="F2F5F8"/>
                </a:solidFill>
              </a:defRPr>
            </a:pPr>
            <a:r>
              <a:t>• On return, recheck the predicate in a loop. [ R40 ]</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41     |     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Pending delivery without a lost wakeup</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This deterministic demonstration blocks SIGUSR1 , raises it while blocked, and then uses sigsuspend to permit delivery.</a:t>
            </a:r>
          </a:p>
          <a:p>
            <a:pPr>
              <a:spcAft>
                <a:spcPts val="1100"/>
              </a:spcAft>
              <a:defRPr sz="1900">
                <a:solidFill>
                  <a:srgbClr val="F2F5F8"/>
                </a:solidFill>
              </a:defRPr>
            </a:pPr>
            <a:r>
              <a:t>• The handler only sets a flag.</a:t>
            </a:r>
          </a:p>
          <a:p>
            <a:pPr>
              <a:spcAft>
                <a:spcPts val="1100"/>
              </a:spcAft>
              <a:defRPr sz="1900">
                <a:solidFill>
                  <a:srgbClr val="F2F5F8"/>
                </a:solidFill>
              </a:defRPr>
            </a:pPr>
            <a:r>
              <a:t>• It does not require another process or rely on a sleep duration.</a:t>
            </a:r>
          </a:p>
          <a:p>
            <a:pPr>
              <a:spcAft>
                <a:spcPts val="1100"/>
              </a:spcAft>
              <a:defRPr sz="1900">
                <a:solidFill>
                  <a:srgbClr val="F2F5F8"/>
                </a:solidFill>
              </a:defRPr>
            </a:pPr>
            <a:r>
              <a:t>• Companion listing: ch41/signals.c</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41     |     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Pending delivery without a lost wakeup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WORKED EXAMPLE &amp; INTERPRETATION</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Companion listing: ch41/signals.c</a:t>
            </a:r>
          </a:p>
          <a:p>
            <a:pPr>
              <a:spcAft>
                <a:spcPts val="1100"/>
              </a:spcAft>
              <a:defRPr sz="1900">
                <a:solidFill>
                  <a:srgbClr val="F2F5F8"/>
                </a:solidFill>
              </a:defRPr>
            </a:pPr>
            <a:r>
              <a:t>• The expected output is signal observed .</a:t>
            </a:r>
          </a:p>
          <a:p>
            <a:pPr>
              <a:spcAft>
                <a:spcPts val="1100"/>
              </a:spcAft>
              <a:defRPr sz="1700">
                <a:solidFill>
                  <a:srgbClr val="F2F5F8"/>
                </a:solidFill>
              </a:defRPr>
            </a:pPr>
            <a:r>
              <a:t>• The signal is already pending before the wait, yet delivery cannot be lost between the predicate check and the temporary unblocking.</a:t>
            </a:r>
          </a:p>
          <a:p>
            <a:pPr>
              <a:spcAft>
                <a:spcPts val="1100"/>
              </a:spcAft>
              <a:defRPr sz="1700">
                <a:solidFill>
                  <a:srgbClr val="F2F5F8"/>
                </a:solidFill>
              </a:defRPr>
            </a:pPr>
            <a:r>
              <a:t>• The example intentionally exits after demonstrating one notification; a reusable component would also restore dispositions and define a broader shutdown policy.</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41     |     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Worked example — Safe signal notification</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signal handler should do minimal async-signal-safe work.</a:t>
            </a:r>
          </a:p>
          <a:p>
            <a:pPr>
              <a:spcAft>
                <a:spcPts val="1100"/>
              </a:spcAft>
              <a:defRPr sz="1900">
                <a:solidFill>
                  <a:srgbClr val="F2F5F8"/>
                </a:solidFill>
              </a:defRPr>
            </a:pPr>
            <a:r>
              <a:t>• A common pattern sets a volatile sig_atomic_t flag or writes a byte to a self-pipe, then returns.</a:t>
            </a:r>
          </a:p>
          <a:p>
            <a:pPr>
              <a:spcAft>
                <a:spcPts val="1100"/>
              </a:spcAft>
              <a:defRPr sz="1900">
                <a:solidFill>
                  <a:srgbClr val="F2F5F8"/>
                </a:solidFill>
              </a:defRPr>
            </a:pPr>
            <a:r>
              <a:t>• Normal code observes the flag or file descriptor and performs complex processing outside the handler.</a:t>
            </a:r>
          </a:p>
          <a:p>
            <a:pPr>
              <a:spcAft>
                <a:spcPts val="1100"/>
              </a:spcAft>
              <a:defRPr sz="1900">
                <a:solidFill>
                  <a:srgbClr val="F2F5F8"/>
                </a:solidFill>
              </a:defRPr>
            </a:pPr>
            <a:r>
              <a:t>• Calling arbitrary allocation or I/O library functions inside the handler can violate reentrancy requirements.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41     |     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Safe signal notification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WORKED EXAMPLE &amp; INTERPRETATION</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signal handler should do minimal async-signal-safe work.</a:t>
            </a:r>
          </a:p>
          <a:p>
            <a:pPr>
              <a:spcAft>
                <a:spcPts val="1100"/>
              </a:spcAft>
              <a:defRPr sz="1900">
                <a:solidFill>
                  <a:srgbClr val="F2F5F8"/>
                </a:solidFill>
              </a:defRPr>
            </a:pPr>
            <a:r>
              <a:t>• A common pattern sets a volatile sig_atomic_t flag or writes a byte to a self-pipe, then returns.</a:t>
            </a:r>
          </a:p>
          <a:p>
            <a:pPr>
              <a:spcAft>
                <a:spcPts val="1100"/>
              </a:spcAft>
              <a:defRPr sz="1900">
                <a:solidFill>
                  <a:srgbClr val="F2F5F8"/>
                </a:solidFill>
              </a:defRPr>
            </a:pPr>
            <a:r>
              <a:t>• Normal code observes the flag or file descriptor and performs complex processing outside the handler.</a:t>
            </a:r>
          </a:p>
          <a:p>
            <a:pPr>
              <a:spcAft>
                <a:spcPts val="1100"/>
              </a:spcAft>
              <a:defRPr sz="1900">
                <a:solidFill>
                  <a:srgbClr val="F2F5F8"/>
                </a:solidFill>
              </a:defRPr>
            </a:pPr>
            <a:r>
              <a:t>• Calling arbitrary allocation or I/O library functions inside the handler can violate reentrancy requirements.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41     |     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Worked example — Closing a sleep/wakeup race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If code checks ready == false and then separately goes to sleep, a signal arriving between those steps can be lost.</a:t>
            </a:r>
          </a:p>
          <a:p>
            <a:pPr>
              <a:spcAft>
                <a:spcPts val="1100"/>
              </a:spcAft>
              <a:defRPr sz="1700">
                <a:solidFill>
                  <a:srgbClr val="F2F5F8"/>
                </a:solidFill>
              </a:defRPr>
            </a:pPr>
            <a:r>
              <a:t>• Correct designs use an atomic blocking primitive such as sigsuspend with a carefully managed signal mask so the state check and sleep transition cannot miss the event window.</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41     |     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Closing a sleep/wakeup race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WORKED EXAMPLE &amp; INTERPRETATION</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If code checks ready == false and then separately goes to sleep, a signal arriving between those steps can be lost.</a:t>
            </a:r>
          </a:p>
          <a:p>
            <a:pPr>
              <a:spcAft>
                <a:spcPts val="1100"/>
              </a:spcAft>
              <a:defRPr sz="1700">
                <a:solidFill>
                  <a:srgbClr val="F2F5F8"/>
                </a:solidFill>
              </a:defRPr>
            </a:pPr>
            <a:r>
              <a:t>• Correct designs use an atomic blocking primitive such as sigsuspend with a carefully managed signal mask so the state check and sleep transition cannot miss the event window.</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41     |     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Guided lab and review</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Lab 41.</a:t>
            </a:r>
          </a:p>
          <a:p>
            <a:pPr>
              <a:spcAft>
                <a:spcPts val="1100"/>
              </a:spcAft>
              <a:defRPr sz="1900">
                <a:solidFill>
                  <a:srgbClr val="F2F5F8"/>
                </a:solidFill>
              </a:defRPr>
            </a:pPr>
            <a:r>
              <a:t>• Trace the mask and flag before raise , after raise , inside the handler, and after sigsuspend .</a:t>
            </a:r>
          </a:p>
          <a:p>
            <a:pPr>
              <a:spcAft>
                <a:spcPts val="1100"/>
              </a:spcAft>
              <a:defRPr sz="1700">
                <a:solidFill>
                  <a:srgbClr val="F2F5F8"/>
                </a:solidFill>
              </a:defRPr>
            </a:pPr>
            <a:r>
              <a:t>• Explain what repeated standard-signal raises while blocked do and why an event counter cannot be inferred from this flag.</a:t>
            </a:r>
          </a:p>
          <a:p>
            <a:pPr>
              <a:spcAft>
                <a:spcPts val="1100"/>
              </a:spcAft>
              <a:defRPr sz="1900">
                <a:solidFill>
                  <a:srgbClr val="F2F5F8"/>
                </a:solidFill>
              </a:defRPr>
            </a:pPr>
            <a:r>
              <a:t>• Review 1.</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41     |     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Guided lab and review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LAB, REVIEW &amp; ACCEPTANCE</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Review 1.</a:t>
            </a:r>
          </a:p>
          <a:p>
            <a:pPr>
              <a:spcAft>
                <a:spcPts val="1100"/>
              </a:spcAft>
              <a:defRPr sz="1900">
                <a:solidFill>
                  <a:srgbClr val="F2F5F8"/>
                </a:solidFill>
              </a:defRPr>
            </a:pPr>
            <a:r>
              <a:t>• Why is thread-safe not equivalent to async-signal-safe?</a:t>
            </a:r>
          </a:p>
          <a:p>
            <a:pPr>
              <a:spcAft>
                <a:spcPts val="1100"/>
              </a:spcAft>
              <a:defRPr sz="1900">
                <a:solidFill>
                  <a:srgbClr val="F2F5F8"/>
                </a:solidFill>
              </a:defRPr>
            </a:pPr>
            <a:r>
              <a:t>• Review 2.</a:t>
            </a:r>
          </a:p>
          <a:p>
            <a:pPr>
              <a:spcAft>
                <a:spcPts val="1100"/>
              </a:spcAft>
              <a:defRPr sz="1900">
                <a:solidFill>
                  <a:srgbClr val="F2F5F8"/>
                </a:solidFill>
              </a:defRPr>
            </a:pPr>
            <a:r>
              <a:t>• Why does volatile not repair check-then-sleep?</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41     |     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Chapter Synthesis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KEY TAKEAWAYS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 chapter's central subject is signals.</a:t>
            </a:r>
          </a:p>
          <a:p>
            <a:pPr>
              <a:spcAft>
                <a:spcPts val="1100"/>
              </a:spcAft>
              <a:defRPr sz="1900">
                <a:solidFill>
                  <a:srgbClr val="F2F5F8"/>
                </a:solidFill>
              </a:defRPr>
            </a:pPr>
            <a:r>
              <a:t>• Correct reasoning requires explicit assumptions, bounds, ownership, and interface contracts.</a:t>
            </a:r>
          </a:p>
          <a:p>
            <a:pPr>
              <a:spcAft>
                <a:spcPts val="1100"/>
              </a:spcAft>
              <a:defRPr sz="1900">
                <a:solidFill>
                  <a:srgbClr val="F2F5F8"/>
                </a:solidFill>
              </a:defRPr>
            </a:pPr>
            <a:r>
              <a:t>• Observed behavior is evidence about a run; it is not automatically a language or system guarantee.</a:t>
            </a:r>
          </a:p>
          <a:p>
            <a:pPr>
              <a:spcAft>
                <a:spcPts val="1100"/>
              </a:spcAft>
              <a:defRPr sz="1900">
                <a:solidFill>
                  <a:srgbClr val="F2F5F8"/>
                </a:solidFill>
              </a:defRPr>
            </a:pPr>
            <a:r>
              <a:t>• Use the worked examples and lab to test whether the model transfers to new cases.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41     |     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Review and Transition</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CHECK YOUR MODEL</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Explain one mechanism from the chapter without relying on vocabulary alone.</a:t>
            </a:r>
          </a:p>
          <a:p>
            <a:pPr>
              <a:spcAft>
                <a:spcPts val="1100"/>
              </a:spcAft>
              <a:defRPr sz="1900">
                <a:solidFill>
                  <a:srgbClr val="F2F5F8"/>
                </a:solidFill>
              </a:defRPr>
            </a:pPr>
            <a:r>
              <a:t>• Identify one failure mode and the violated contract or invariant.</a:t>
            </a:r>
          </a:p>
          <a:p>
            <a:pPr>
              <a:spcAft>
                <a:spcPts val="1100"/>
              </a:spcAft>
              <a:defRPr sz="1900">
                <a:solidFill>
                  <a:srgbClr val="F2F5F8"/>
                </a:solidFill>
              </a:defRPr>
            </a:pPr>
            <a:r>
              <a:t>• State what evidence would support your diagnosis and what it would not prove.</a:t>
            </a:r>
          </a:p>
          <a:p>
            <a:pPr>
              <a:spcAft>
                <a:spcPts val="1100"/>
              </a:spcAft>
              <a:defRPr sz="1900">
                <a:solidFill>
                  <a:srgbClr val="F2F5F8"/>
                </a:solidFill>
              </a:defRPr>
            </a:pPr>
            <a:r>
              <a:t>• Next: Shell Architecture.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41     |     33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