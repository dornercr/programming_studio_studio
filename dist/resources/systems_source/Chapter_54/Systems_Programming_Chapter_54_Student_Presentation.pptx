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54 — Measuring Performance</a:t>
            </a:r>
          </a:p>
          <a:p/>
          <a:p>
            <a:r>
              <a:t>LECTURE NARRATION</a:t>
            </a:r>
          </a:p>
          <a:p>
            <a:r>
              <a:t>Performance engineering begins by defining the work and the measurement boundary. A number is meaningful only when it identifies what completed, under which conditions, and how the observation was made. Correctness checks belong in the experiment: a program that skips work can appear extraordinarily fast. This chapter distinguishes measured observations , analytical models , and illustrative assumptions . The companion benchmark reports local timings when run, but the book does not convert one container run into a universal hardware claim. Reproduce measurements on the machine and workload that matter. [ R30 , R42 ]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performance engineering begins by defining the work and the measurement boundary.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Performance engineering begins by defining the work and the measurement boundary. A number is meaningful only when it identifies what completed, under which conditions, and how the observation was made. Correctness checks belong in the experiment: a program that skips work can appear extraordinarily fast. This chapter distinguishes measured observations , analytical models , and illustrative assumptions . The companion benchmark reports local timings when run, but the book does not convert one container run into a universal hardware claim. Reproduce measurements on the machine and workload that matter. [ R30 , R42 ]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performance engineering begins by defining the work and the measurement boundary.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54.1 Latency 54.2 Throughput 54.3 CPU time 54.4 Wall-clock time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54.1 Latency 54.2 Throughput 54.3 CPU time 54.4 Wall-clock time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54.1 Latency</a:t>
            </a:r>
          </a:p>
          <a:p/>
          <a:p>
            <a:r>
              <a:t>LECTURE NARRATION</a:t>
            </a:r>
          </a:p>
          <a:p>
            <a:r>
              <a:t>Latency measures elapsed time from a defined start event to a defined completion event. For a request, the boundary might include queueing, parsing, computation, and response delivery. For a kernel, it might include only the computation after inputs are prepared. Report a distribution when requests vary. A mean can hide a long tail, and a percentile requires enough samples and a clearly defined population. Do not compare one system’s median service time with another system’s end-to-end 99th percentile as though they were the same metric.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latency measures elapsed time from a defined start event to a defined completion event.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54.1 Latency — Deep Dive</a:t>
            </a:r>
          </a:p>
          <a:p/>
          <a:p>
            <a:r>
              <a:t>LECTURE NARRATION</a:t>
            </a:r>
          </a:p>
          <a:p>
            <a:r>
              <a:t>Latency measures elapsed time from a defined start event to a defined completion event. For a request, the boundary might include queueing, parsing, computation, and response delivery. For a kernel, it might include only the computation after inputs are prepared. Report a distribution when requests vary. A mean can hide a long tail, and a percentile requires enough samples and a clearly defined population. Do not compare one system’s median service time with another system’s end-to-end 99th percentile as though they were the same metric.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latency measures elapsed time from a defined start event to a defined completion event.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54.2 Throughput</a:t>
            </a:r>
          </a:p>
          <a:p/>
          <a:p>
            <a:r>
              <a:t>LECTURE NARRATION</a:t>
            </a:r>
          </a:p>
          <a:p>
            <a:r>
              <a:t>Throughput measures completed useful work per unit time. It can be expressed as records, requests, or bytes per second. Define whether failed requests, retries, warmup work, and partial completions count. Throughput and latency interact through queueing. A system can increase completed work by admitting more concurrent requests while making each request wait longer. Evaluate the service objective rather than maximizing a single number without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throughput measures completed useful work per unit time.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54.2 Throughput — Deep Dive</a:t>
            </a:r>
          </a:p>
          <a:p/>
          <a:p>
            <a:r>
              <a:t>LECTURE NARRATION</a:t>
            </a:r>
          </a:p>
          <a:p>
            <a:r>
              <a:t>Throughput measures completed useful work per unit time. It can be expressed as records, requests, or bytes per second. Define whether failed requests, retries, warmup work, and partial completions count. Throughput and latency interact through queueing. A system can increase completed work by admitting more concurrent requests while making each request wait longer. Evaluate the service objective rather than maximizing a single number without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throughput measures completed useful work per unit time.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54.3 CPU time</a:t>
            </a:r>
          </a:p>
          <a:p/>
          <a:p>
            <a:r>
              <a:t>LECTURE NARRATION</a:t>
            </a:r>
          </a:p>
          <a:p>
            <a:r>
              <a:t>CPU time measures processor execution charged to a process or thread under the operating system’s accounting rules. It excludes many periods spent blocked or not scheduled. A multithreaded process can accumulate more total CPU time than elapsed wall time when several threads execute concurrently. CPU time helps distinguish computation from waiting, but it is not a complete explanation. Kernel activity, helper processes, and accounting boundaries may contribute differently. State whether the measurement covers one thread, the whole process, or a larger job.</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cPU time measures processor execution charged to a process or thread under the operating system’s accounting rules.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54.3 CPU time — Deep Dive</a:t>
            </a:r>
          </a:p>
          <a:p/>
          <a:p>
            <a:r>
              <a:t>LECTURE NARRATION</a:t>
            </a:r>
          </a:p>
          <a:p>
            <a:r>
              <a:t>CPU time measures processor execution charged to a process or thread under the operating system’s accounting rules. It excludes many periods spent blocked or not scheduled. A multithreaded process can accumulate more total CPU time than elapsed wall time when several threads execute concurrently. CPU time helps distinguish computation from waiting, but it is not a complete explanation. Kernel activity, helper processes, and accounting boundaries may contribute differently. State whether the measurement covers one thread, the whole process, or a larger job.</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cPU time measures processor execution charged to a process or thread under the operating system’s accounting rules.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54.4 Wall-clock time</a:t>
            </a:r>
          </a:p>
          <a:p/>
          <a:p>
            <a:r>
              <a:t>LECTURE NARRATION</a:t>
            </a:r>
          </a:p>
          <a:p>
            <a:r>
              <a:t>Wall-clock elapsed time includes waiting, scheduling delays, and other activity between the chosen start and end. For duration measurements, use a monotonic clock such as std::chrono::steady_clock rather than a civil-time clock that can be adjusted. Clock resolution and call overhead matter for very small operations. Batch enough work to make the measured interval meaningful, while ensuring that the batch still represents the workload and does not change cache behavior beyond the intended experiment.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wall-clock elapsed time includes waiting, scheduling delays, and other activity between the chosen start and end.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54.4 Wall-clock time — Deep Dive</a:t>
            </a:r>
          </a:p>
          <a:p/>
          <a:p>
            <a:r>
              <a:t>LECTURE NARRATION</a:t>
            </a:r>
          </a:p>
          <a:p>
            <a:r>
              <a:t>Wall-clock elapsed time includes waiting, scheduling delays, and other activity between the chosen start and end. For duration measurements, use a monotonic clock such as std::chrono::steady_clock rather than a civil-time clock that can be adjusted. Clock resolution and call overhead matter for very small operations. Batch enough work to make the measured interval meaningful, while ensuring that the batch still represents the workload and does not change cache behavior beyond the intended experiment.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wall-clock elapsed time includes waiting, scheduling delays, and other activity between the chosen start and end.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54.5 Utilization</a:t>
            </a:r>
          </a:p>
          <a:p/>
          <a:p>
            <a:r>
              <a:t>LECTURE NARRATION</a:t>
            </a:r>
          </a:p>
          <a:p>
            <a:r>
              <a:t>Utilization describes the fraction of a resource’s capacity in use under a stated definition. CPU utilization, memory bandwidth utilization, and device busy time are different metrics. High CPU utilization does not prove that useful work is progressing efficiently; a spin loop can consume an entire core. Low utilization does not automatically mean spare end-to-end capacity. The bottleneck may be a serialized dependency, a lock, a downstream service, or a limit in another resource. Identify the constrained stage before adding more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utilization describes the fraction of a resource’s capacity in use under a stated definition.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54.5 Utilization — Deep Dive</a:t>
            </a:r>
          </a:p>
          <a:p/>
          <a:p>
            <a:r>
              <a:t>LECTURE NARRATION</a:t>
            </a:r>
          </a:p>
          <a:p>
            <a:r>
              <a:t>Utilization describes the fraction of a resource’s capacity in use under a stated definition. CPU utilization, memory bandwidth utilization, and device busy time are different metrics. High CPU utilization does not prove that useful work is progressing efficiently; a spin loop can consume an entire core. Low utilization does not automatically mean spare end-to-end capacity. The bottleneck may be a serialized dependency, a lock, a downstream service, or a limit in another resource. Identify the constrained stage before adding more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utilization describes the fraction of a resource’s capacity in use under a stated definition.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54.6 Benchmarking</a:t>
            </a:r>
          </a:p>
          <a:p/>
          <a:p>
            <a:r>
              <a:t>LECTURE NARRATION</a:t>
            </a:r>
          </a:p>
          <a:p>
            <a:r>
              <a:t>A benchmark should state input size and distribution, build configuration, machine context, warmup policy, repetition count, and correctness criteria. Keep setup outside the timed region when the goal excludes setup, and include it when evaluating end-to-end behavior. Preserve observable results so the compiler cannot legally discard the intended work as unused. Inspect generated code when a result seems implausible. Avoid volatile as a blanket benchmarking technique because it can change the workload being measured rather than merely prevent elimination.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benchmark should state input size and distribution, build configuration, machine context, warmup policy, repetition count, and correctness criteria.</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54.6 Benchmarking — Deep Dive</a:t>
            </a:r>
          </a:p>
          <a:p/>
          <a:p>
            <a:r>
              <a:t>LECTURE NARRATION</a:t>
            </a:r>
          </a:p>
          <a:p>
            <a:r>
              <a:t>A benchmark should state input size and distribution, build configuration, machine context, warmup policy, repetition count, and correctness criteria. Keep setup outside the timed region when the goal excludes setup, and include it when evaluating end-to-end behavior. Preserve observable results so the compiler cannot legally discard the intended work as unused. Inspect generated code when a result seems implausible. Avoid volatile as a blanket benchmarking technique because it can change the workload being measured rather than merely prevent elimination.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benchmark should state input size and distribution, build configuration, machine context, warmup policy, repetition count, and correctness criteria.</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54.7 Measurement error</a:t>
            </a:r>
          </a:p>
          <a:p/>
          <a:p>
            <a:r>
              <a:t>LECTURE NARRATION</a:t>
            </a:r>
          </a:p>
          <a:p>
            <a:r>
              <a:t>Measurements vary because of scheduling, frequency changes, contention, cache state, page faults, thermal behavior, and instrumentation overhead. Repeated samples reveal variation but do not automatically remove bias. Change one factor at a time where practical and alternate comparison order to reduce drift effects. Report uncertainty honestly. A difference smaller than the experiment’s noise is not strong evidence of improvement, and a statistically clear difference may still be too small to matter operationally.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measurements vary because of scheduling, frequency changes, contention, cache state, page faults, thermal behavior, and instrumentation overhead.</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54.7 Measurement error — Deep Dive</a:t>
            </a:r>
          </a:p>
          <a:p/>
          <a:p>
            <a:r>
              <a:t>LECTURE NARRATION</a:t>
            </a:r>
          </a:p>
          <a:p>
            <a:r>
              <a:t>Measurements vary because of scheduling, frequency changes, contention, cache state, page faults, thermal behavior, and instrumentation overhead. Repeated samples reveal variation but do not automatically remove bias. Change one factor at a time where practical and alternate comparison order to reduce drift effects. Report uncertainty honestly. A difference smaller than the experiment’s noise is not strong evidence of improvement, and a statistically clear difference may still be too small to matter operationally.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measurements vary because of scheduling, frequency changes, contention, cache state, page faults, thermal behavior, and instrumentation overhead.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A checksum-protected timing boundary</a:t>
            </a:r>
          </a:p>
          <a:p/>
          <a:p>
            <a:r>
              <a:t>LECTURE NARRATION</a:t>
            </a:r>
          </a:p>
          <a:p>
            <a:r>
              <a:t>This program constructs a bounded runtime-sized vector, times one summation, and verifies the sum against an independent formula. Setup and verification are outside the timed interval. The output timing is an observation on the machine where it is run, not a fixed expected value. Companion listing: ch54/benchmark.cpp For count 1000, there are three complete groups of values 0 through 250 and a remainder of 247 values, 0 through 246. The expected sum is 3 × 31375 + 247 × 246/2 = 124506 . The elapsed nanoseconds vary. A zero or very small reported duration for a tiny input can reflect clock granularity or overhead dominance rather than infinite throughput. The program is a measurement-mechanics example, not a complete microbenchmark framework. Repeat separate runs, record build flags, inspect the loop, and compare like conditions before interpreting a performance difference. Allocation failure is reported by the C++ runtime unless a surrounding application adds a more specific recovery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program constructs a bounded runtime-sized vector, times one summation, and verifies the sum against an independent formula.</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A checksum-protected timing boundary — Deep Dive</a:t>
            </a:r>
          </a:p>
          <a:p/>
          <a:p>
            <a:r>
              <a:t>LECTURE NARRATION</a:t>
            </a:r>
          </a:p>
          <a:p>
            <a:r>
              <a:t>This program constructs a bounded runtime-sized vector, times one summation, and verifies the sum against an independent formula. Setup and verification are outside the timed interval. The output timing is an observation on the machine where it is run, not a fixed expected value. Companion listing: ch54/benchmark.cpp For count 1000, there are three complete groups of values 0 through 250 and a remainder of 247 values, 0 through 246. The expected sum is 3 × 31375 + 247 × 246/2 = 124506 . The elapsed nanoseconds vary. A zero or very small reported duration for a tiny input can reflect clock granularity or overhead dominance rather than infinite throughput. The program is a measurement-mechanics example, not a complete microbenchmark framework. Repeat separate runs, record build flags, inspect the loop, and compare like conditions before interpreting a performance difference. Allocation failure is reported by the C++ runtime unless a surrounding application adds a more specific recovery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program constructs a bounded runtime-sized vector, times one summation, and verifies the sum against an independent formula.</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Throughput and latency</a:t>
            </a:r>
          </a:p>
          <a:p/>
          <a:p>
            <a:r>
              <a:t>LECTURE NARRATION</a:t>
            </a:r>
          </a:p>
          <a:p>
            <a:r>
              <a:t>If a service completes 12,000 requests in 60 seconds, average throughput is 200 requests/s. That fact does not reveal individual latency: one request may complete in 2 ms while another waits 500 ms. Report throughput and latency distributions separately because batching and queueing can improve one while harming the other.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 service completes 12,000 requests in 60 seconds, average throughput is 200 requests/s.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Throughput and latency — Deep Dive</a:t>
            </a:r>
          </a:p>
          <a:p/>
          <a:p>
            <a:r>
              <a:t>LECTURE NARRATION</a:t>
            </a:r>
          </a:p>
          <a:p>
            <a:r>
              <a:t>If a service completes 12,000 requests in 60 seconds, average throughput is 200 requests/s. That fact does not reveal individual latency: one request may complete in 2 ms while another waits 500 ms. Report throughput and latency distributions separately because batching and queueing can improve one while harming the other.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 service completes 12,000 requests in 60 seconds, average throughput is 200 requests/s.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CPU time versus wall time</a:t>
            </a:r>
          </a:p>
          <a:p/>
          <a:p>
            <a:r>
              <a:t>LECTURE NARRATION</a:t>
            </a:r>
          </a:p>
          <a:p>
            <a:r>
              <a:t>A task reports 2.0 s wall-clock time but only 0.6 s CPU time. The remaining elapsed time may include waiting for I/O, scheduling delays, or sleeps. Optimizing arithmetic cannot remove time spent blocked on a slow dependency unless the design changes that dependency or overlaps it with other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task reports 2.0 s wall-clock time but only 0.6 s CPU time.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CPU time versus wall time — Deep Dive</a:t>
            </a:r>
          </a:p>
          <a:p/>
          <a:p>
            <a:r>
              <a:t>LECTURE NARRATION</a:t>
            </a:r>
          </a:p>
          <a:p>
            <a:r>
              <a:t>A task reports 2.0 s wall-clock time but only 0.6 s CPU time. The remaining elapsed time may include waiting for I/O, scheduling delays, or sleeps. Optimizing arithmetic cannot remove time spent blocked on a slow dependency unless the design changes that dependency or overlaps it with other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task reports 2.0 s wall-clock time but only 0.6 s CPU time.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54. Run several input sizes and record count, verified sum, elapsed time, compiler version, flags, and repetition number. Keep raw samples rather than reporting only the fastest. Explain whether the benchmark includes allocation, initialization, and output. Review 1. Why use a monotonic clock? Review 2. Can total CPU time exceed wall time for a multithreaded program?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54.</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54. Run several input sizes and record count, verified sum, elapsed time, compiler version, flags, and repetition number. Keep raw samples rather than reporting only the fastest. Explain whether the benchmark includes allocation, initialization, and output. Review 1. Why use a monotonic clock? Review 2. Can total CPU time exceed wall time for a multithreaded program?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54.</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measuring performance.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measuring performance.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Program Optimization.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54 — Measuring Performance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Performance engineering begins by defining the work and the measurement boundary.</a:t>
            </a:r>
          </a:p>
          <a:p>
            <a:pPr>
              <a:spcAft>
                <a:spcPts val="1100"/>
              </a:spcAft>
              <a:defRPr sz="1700">
                <a:solidFill>
                  <a:srgbClr val="F2F5F8"/>
                </a:solidFill>
              </a:defRPr>
            </a:pPr>
            <a:r>
              <a:t>• A number is meaningful only when it identifies what completed, under which conditions, and how the observation was made.</a:t>
            </a:r>
          </a:p>
          <a:p>
            <a:pPr>
              <a:spcAft>
                <a:spcPts val="1100"/>
              </a:spcAft>
              <a:defRPr sz="1900">
                <a:solidFill>
                  <a:srgbClr val="F2F5F8"/>
                </a:solidFill>
              </a:defRPr>
            </a:pPr>
            <a:r>
              <a:t>• Correctness checks belong in the experiment: a program that skips work can appear extraordinarily fast.</a:t>
            </a:r>
          </a:p>
          <a:p>
            <a:pPr>
              <a:spcAft>
                <a:spcPts val="1100"/>
              </a:spcAft>
              <a:defRPr sz="1900">
                <a:solidFill>
                  <a:srgbClr val="F2F5F8"/>
                </a:solidFill>
              </a:defRPr>
            </a:pPr>
            <a:r>
              <a:t>• This chapter distinguishes measured observations , analytical models , and illustrative assumptions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Measuring Performance.</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54.1 Latency</a:t>
            </a:r>
          </a:p>
          <a:p>
            <a:pPr>
              <a:spcAft>
                <a:spcPts val="1100"/>
              </a:spcAft>
              <a:defRPr sz="1900">
                <a:solidFill>
                  <a:srgbClr val="F2F5F8"/>
                </a:solidFill>
              </a:defRPr>
            </a:pPr>
            <a:r>
              <a:t>• 54.2 Throughput</a:t>
            </a:r>
          </a:p>
          <a:p>
            <a:pPr>
              <a:spcAft>
                <a:spcPts val="1100"/>
              </a:spcAft>
              <a:defRPr sz="1900">
                <a:solidFill>
                  <a:srgbClr val="F2F5F8"/>
                </a:solidFill>
              </a:defRPr>
            </a:pPr>
            <a:r>
              <a:t>• 54.3 CPU time</a:t>
            </a:r>
          </a:p>
          <a:p>
            <a:pPr>
              <a:spcAft>
                <a:spcPts val="1100"/>
              </a:spcAft>
              <a:defRPr sz="1900">
                <a:solidFill>
                  <a:srgbClr val="F2F5F8"/>
                </a:solidFill>
              </a:defRPr>
            </a:pPr>
            <a:r>
              <a:t>• 54.4 Wall-clock time</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54.1 Latency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Latency measures elapsed time from a defined start event to a defined completion event.</a:t>
            </a:r>
          </a:p>
          <a:p>
            <a:pPr>
              <a:spcAft>
                <a:spcPts val="1100"/>
              </a:spcAft>
              <a:defRPr sz="1900">
                <a:solidFill>
                  <a:srgbClr val="F2F5F8"/>
                </a:solidFill>
              </a:defRPr>
            </a:pPr>
            <a:r>
              <a:t>• For a request, the boundary might include queueing, parsing, computation, and response delivery.</a:t>
            </a:r>
          </a:p>
          <a:p>
            <a:pPr>
              <a:spcAft>
                <a:spcPts val="1100"/>
              </a:spcAft>
              <a:defRPr sz="1900">
                <a:solidFill>
                  <a:srgbClr val="F2F5F8"/>
                </a:solidFill>
              </a:defRPr>
            </a:pPr>
            <a:r>
              <a:t>• For a kernel, it might include only the computation after inputs are prepared.</a:t>
            </a:r>
          </a:p>
          <a:p>
            <a:pPr>
              <a:spcAft>
                <a:spcPts val="1100"/>
              </a:spcAft>
              <a:defRPr sz="1900">
                <a:solidFill>
                  <a:srgbClr val="F2F5F8"/>
                </a:solidFill>
              </a:defRPr>
            </a:pPr>
            <a:r>
              <a:t>• Report a distribution when requests vary.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54.1 Latency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Report a distribution when requests vary.</a:t>
            </a:r>
          </a:p>
          <a:p>
            <a:pPr>
              <a:spcAft>
                <a:spcPts val="1100"/>
              </a:spcAft>
              <a:defRPr sz="1900">
                <a:solidFill>
                  <a:srgbClr val="F2F5F8"/>
                </a:solidFill>
              </a:defRPr>
            </a:pPr>
            <a:r>
              <a:t>• A mean can hide a long tail, and a percentile requires enough samples and a clearly defined population.</a:t>
            </a:r>
          </a:p>
          <a:p>
            <a:pPr>
              <a:spcAft>
                <a:spcPts val="1100"/>
              </a:spcAft>
              <a:defRPr sz="1700">
                <a:solidFill>
                  <a:srgbClr val="F2F5F8"/>
                </a:solidFill>
              </a:defRPr>
            </a:pPr>
            <a:r>
              <a:t>• Do not compare one system’s median service time with another system’s end-to-end 99th percentile as though they were the same metric.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54.2 Throughput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Throughput measures completed useful work per unit time.</a:t>
            </a:r>
          </a:p>
          <a:p>
            <a:pPr>
              <a:spcAft>
                <a:spcPts val="1100"/>
              </a:spcAft>
              <a:defRPr sz="1900">
                <a:solidFill>
                  <a:srgbClr val="F2F5F8"/>
                </a:solidFill>
              </a:defRPr>
            </a:pPr>
            <a:r>
              <a:t>• It can be expressed as records, requests, or bytes per second.</a:t>
            </a:r>
          </a:p>
          <a:p>
            <a:pPr>
              <a:spcAft>
                <a:spcPts val="1100"/>
              </a:spcAft>
              <a:defRPr sz="1900">
                <a:solidFill>
                  <a:srgbClr val="F2F5F8"/>
                </a:solidFill>
              </a:defRPr>
            </a:pPr>
            <a:r>
              <a:t>• Define whether failed requests, retries, warmup work, and partial completions count.</a:t>
            </a:r>
          </a:p>
          <a:p>
            <a:pPr>
              <a:spcAft>
                <a:spcPts val="1100"/>
              </a:spcAft>
              <a:defRPr sz="1900">
                <a:solidFill>
                  <a:srgbClr val="F2F5F8"/>
                </a:solidFill>
              </a:defRPr>
            </a:pPr>
            <a:r>
              <a:t>• Throughput and latency interact through queueing.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54.2 Throughput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Throughput and latency interact through queueing.</a:t>
            </a:r>
          </a:p>
          <a:p>
            <a:pPr>
              <a:spcAft>
                <a:spcPts val="1100"/>
              </a:spcAft>
              <a:defRPr sz="1900">
                <a:solidFill>
                  <a:srgbClr val="F2F5F8"/>
                </a:solidFill>
              </a:defRPr>
            </a:pPr>
            <a:r>
              <a:t>• A system can increase completed work by admitting more concurrent requests while making each request wait longer.</a:t>
            </a:r>
          </a:p>
          <a:p>
            <a:pPr>
              <a:spcAft>
                <a:spcPts val="1100"/>
              </a:spcAft>
              <a:defRPr sz="1900">
                <a:solidFill>
                  <a:srgbClr val="F2F5F8"/>
                </a:solidFill>
              </a:defRPr>
            </a:pPr>
            <a:r>
              <a:t>• Evaluate the service objective rather than maximizing a single number without constraints.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54.3 CPU 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CPU time measures processor execution charged to a process or thread under the operating system’s accounting rules.</a:t>
            </a:r>
          </a:p>
          <a:p>
            <a:pPr>
              <a:spcAft>
                <a:spcPts val="1100"/>
              </a:spcAft>
              <a:defRPr sz="1900">
                <a:solidFill>
                  <a:srgbClr val="F2F5F8"/>
                </a:solidFill>
              </a:defRPr>
            </a:pPr>
            <a:r>
              <a:t>• It excludes many periods spent blocked or not scheduled.</a:t>
            </a:r>
          </a:p>
          <a:p>
            <a:pPr>
              <a:spcAft>
                <a:spcPts val="1100"/>
              </a:spcAft>
              <a:defRPr sz="1700">
                <a:solidFill>
                  <a:srgbClr val="F2F5F8"/>
                </a:solidFill>
              </a:defRPr>
            </a:pPr>
            <a:r>
              <a:t>• A multithreaded process can accumulate more total CPU time than elapsed wall time when several threads execute concurrently.</a:t>
            </a:r>
          </a:p>
          <a:p>
            <a:pPr>
              <a:spcAft>
                <a:spcPts val="1100"/>
              </a:spcAft>
              <a:defRPr sz="1900">
                <a:solidFill>
                  <a:srgbClr val="F2F5F8"/>
                </a:solidFill>
              </a:defRPr>
            </a:pPr>
            <a:r>
              <a:t>• CPU time helps distinguish computation from waiting, but it is not a complete explanation.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54.3 CPU time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CPU time helps distinguish computation from waiting, but it is not a complete explanation.</a:t>
            </a:r>
          </a:p>
          <a:p>
            <a:pPr>
              <a:spcAft>
                <a:spcPts val="1100"/>
              </a:spcAft>
              <a:defRPr sz="1900">
                <a:solidFill>
                  <a:srgbClr val="F2F5F8"/>
                </a:solidFill>
              </a:defRPr>
            </a:pPr>
            <a:r>
              <a:t>• Kernel activity, helper processes, and accounting boundaries may contribute differently.</a:t>
            </a:r>
          </a:p>
          <a:p>
            <a:pPr>
              <a:spcAft>
                <a:spcPts val="1100"/>
              </a:spcAft>
              <a:defRPr sz="1900">
                <a:solidFill>
                  <a:srgbClr val="F2F5F8"/>
                </a:solidFill>
              </a:defRPr>
            </a:pPr>
            <a:r>
              <a:t>• State whether the measurement covers one thread, the whole process, or a larger job.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54.4 Wall-clock 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Wall-clock elapsed time includes waiting, scheduling delays, and other activity between the chosen start and end.</a:t>
            </a:r>
          </a:p>
          <a:p>
            <a:pPr>
              <a:spcAft>
                <a:spcPts val="1100"/>
              </a:spcAft>
              <a:defRPr sz="1700">
                <a:solidFill>
                  <a:srgbClr val="F2F5F8"/>
                </a:solidFill>
              </a:defRPr>
            </a:pPr>
            <a:r>
              <a:t>• For duration measurements, use a monotonic clock such as std::chrono::steady_clock rather than a civil-time clock that can be adjusted.</a:t>
            </a:r>
          </a:p>
          <a:p>
            <a:pPr>
              <a:spcAft>
                <a:spcPts val="1100"/>
              </a:spcAft>
              <a:defRPr sz="1900">
                <a:solidFill>
                  <a:srgbClr val="F2F5F8"/>
                </a:solidFill>
              </a:defRPr>
            </a:pPr>
            <a:r>
              <a:t>• Clock resolution and call overhead matter for very small operations.</a:t>
            </a:r>
          </a:p>
          <a:p>
            <a:pPr>
              <a:spcAft>
                <a:spcPts val="1100"/>
              </a:spcAft>
              <a:defRPr sz="1700">
                <a:solidFill>
                  <a:srgbClr val="F2F5F8"/>
                </a:solidFill>
              </a:defRPr>
            </a:pPr>
            <a:r>
              <a:t>• Batch enough work to make the measured interval meaningful, while ensuring that the batch still represents the workload and does not change cache behavior beyond the intended...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54.4 Wall-clock time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Clock resolution and call overhead matter for very small operations.</a:t>
            </a:r>
          </a:p>
          <a:p>
            <a:pPr>
              <a:spcAft>
                <a:spcPts val="1100"/>
              </a:spcAft>
              <a:defRPr sz="1700">
                <a:solidFill>
                  <a:srgbClr val="F2F5F8"/>
                </a:solidFill>
              </a:defRPr>
            </a:pPr>
            <a:r>
              <a:t>• Batch enough work to make the measured interval meaningful, while ensuring that the batch still represents the workload and does not change cache behavior beyond the...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54.5 Utilization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Utilization describes the fraction of a resource’s capacity in use under a stated definition.</a:t>
            </a:r>
          </a:p>
          <a:p>
            <a:pPr>
              <a:spcAft>
                <a:spcPts val="1100"/>
              </a:spcAft>
              <a:defRPr sz="1900">
                <a:solidFill>
                  <a:srgbClr val="F2F5F8"/>
                </a:solidFill>
              </a:defRPr>
            </a:pPr>
            <a:r>
              <a:t>• CPU utilization, memory bandwidth utilization, and device busy time are different metrics.</a:t>
            </a:r>
          </a:p>
          <a:p>
            <a:pPr>
              <a:spcAft>
                <a:spcPts val="1100"/>
              </a:spcAft>
              <a:defRPr sz="1700">
                <a:solidFill>
                  <a:srgbClr val="F2F5F8"/>
                </a:solidFill>
              </a:defRPr>
            </a:pPr>
            <a:r>
              <a:t>• High CPU utilization does not prove that useful work is progressing efficiently; a spin loop can consume an entire core.</a:t>
            </a:r>
          </a:p>
          <a:p>
            <a:pPr>
              <a:spcAft>
                <a:spcPts val="1100"/>
              </a:spcAft>
              <a:defRPr sz="1900">
                <a:solidFill>
                  <a:srgbClr val="F2F5F8"/>
                </a:solidFill>
              </a:defRPr>
            </a:pPr>
            <a:r>
              <a:t>• Low utilization does not automatically mean spare end-to-end capacity.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54.5 Utilization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Low utilization does not automatically mean spare end-to-end capacity.</a:t>
            </a:r>
          </a:p>
          <a:p>
            <a:pPr>
              <a:spcAft>
                <a:spcPts val="1100"/>
              </a:spcAft>
              <a:defRPr sz="1900">
                <a:solidFill>
                  <a:srgbClr val="F2F5F8"/>
                </a:solidFill>
              </a:defRPr>
            </a:pPr>
            <a:r>
              <a:t>• The bottleneck may be a serialized dependency, a lock, a downstream service, or a limit in another resource.</a:t>
            </a:r>
          </a:p>
          <a:p>
            <a:pPr>
              <a:spcAft>
                <a:spcPts val="1100"/>
              </a:spcAft>
              <a:defRPr sz="1900">
                <a:solidFill>
                  <a:srgbClr val="F2F5F8"/>
                </a:solidFill>
              </a:defRPr>
            </a:pPr>
            <a:r>
              <a:t>• Identify the constrained stage before adding more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54.6 Benchmarking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benchmark should state input size and distribution, build configuration, machine context, warmup policy, repetition count, and correctness criteria.</a:t>
            </a:r>
          </a:p>
          <a:p>
            <a:pPr>
              <a:spcAft>
                <a:spcPts val="1100"/>
              </a:spcAft>
              <a:defRPr sz="1900">
                <a:solidFill>
                  <a:srgbClr val="F2F5F8"/>
                </a:solidFill>
              </a:defRPr>
            </a:pPr>
            <a:r>
              <a:t>• Keep setup outside the timed region when the goal excludes setup, and include it when evaluating end-to-end behavior.</a:t>
            </a:r>
          </a:p>
          <a:p>
            <a:pPr>
              <a:spcAft>
                <a:spcPts val="1100"/>
              </a:spcAft>
              <a:defRPr sz="1900">
                <a:solidFill>
                  <a:srgbClr val="F2F5F8"/>
                </a:solidFill>
              </a:defRPr>
            </a:pPr>
            <a:r>
              <a:t>• Preserve observable results so the compiler cannot legally discard the intended work as unused.</a:t>
            </a:r>
          </a:p>
          <a:p>
            <a:pPr>
              <a:spcAft>
                <a:spcPts val="1100"/>
              </a:spcAft>
              <a:defRPr sz="1900">
                <a:solidFill>
                  <a:srgbClr val="F2F5F8"/>
                </a:solidFill>
              </a:defRPr>
            </a:pPr>
            <a:r>
              <a:t>• Inspect generated code when a result seems implausible.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54.6 Benchmarking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Preserve observable results so the compiler cannot legally discard the intended work as unused.</a:t>
            </a:r>
          </a:p>
          <a:p>
            <a:pPr>
              <a:spcAft>
                <a:spcPts val="1100"/>
              </a:spcAft>
              <a:defRPr sz="1900">
                <a:solidFill>
                  <a:srgbClr val="F2F5F8"/>
                </a:solidFill>
              </a:defRPr>
            </a:pPr>
            <a:r>
              <a:t>• Inspect generated code when a result seems implausible.</a:t>
            </a:r>
          </a:p>
          <a:p>
            <a:pPr>
              <a:spcAft>
                <a:spcPts val="1100"/>
              </a:spcAft>
              <a:defRPr sz="1700">
                <a:solidFill>
                  <a:srgbClr val="F2F5F8"/>
                </a:solidFill>
              </a:defRPr>
            </a:pPr>
            <a:r>
              <a:t>• Avoid volatile as a blanket benchmarking technique because it can change the workload being measured rather than merely prevent elimination.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54.7 Measurement error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Measurements vary because of scheduling, frequency changes, contention, cache state, page faults, thermal behavior, and instrumentation overhead.</a:t>
            </a:r>
          </a:p>
          <a:p>
            <a:pPr>
              <a:spcAft>
                <a:spcPts val="1100"/>
              </a:spcAft>
              <a:defRPr sz="1900">
                <a:solidFill>
                  <a:srgbClr val="F2F5F8"/>
                </a:solidFill>
              </a:defRPr>
            </a:pPr>
            <a:r>
              <a:t>• Repeated samples reveal variation but do not automatically remove bias.</a:t>
            </a:r>
          </a:p>
          <a:p>
            <a:pPr>
              <a:spcAft>
                <a:spcPts val="1100"/>
              </a:spcAft>
              <a:defRPr sz="1900">
                <a:solidFill>
                  <a:srgbClr val="F2F5F8"/>
                </a:solidFill>
              </a:defRPr>
            </a:pPr>
            <a:r>
              <a:t>• Change one factor at a time where practical and alternate comparison order to reduce drift effects.</a:t>
            </a:r>
          </a:p>
          <a:p>
            <a:pPr>
              <a:spcAft>
                <a:spcPts val="1100"/>
              </a:spcAft>
              <a:defRPr sz="1900">
                <a:solidFill>
                  <a:srgbClr val="F2F5F8"/>
                </a:solidFill>
              </a:defRPr>
            </a:pPr>
            <a:r>
              <a:t>• Report uncertainty honestly.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54.7 Measurement error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Change one factor at a time where practical and alternate comparison order to reduce drift effects.</a:t>
            </a:r>
          </a:p>
          <a:p>
            <a:pPr>
              <a:spcAft>
                <a:spcPts val="1100"/>
              </a:spcAft>
              <a:defRPr sz="1900">
                <a:solidFill>
                  <a:srgbClr val="F2F5F8"/>
                </a:solidFill>
              </a:defRPr>
            </a:pPr>
            <a:r>
              <a:t>• Report uncertainty honestly.</a:t>
            </a:r>
          </a:p>
          <a:p>
            <a:pPr>
              <a:spcAft>
                <a:spcPts val="1100"/>
              </a:spcAft>
              <a:defRPr sz="1700">
                <a:solidFill>
                  <a:srgbClr val="F2F5F8"/>
                </a:solidFill>
              </a:defRPr>
            </a:pPr>
            <a:r>
              <a:t>• A difference smaller than the experiment’s noise is not strong evidence of improvement, and a statistically clear difference may still be too small to matter operationally.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checksum-protected timing boundary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This program constructs a bounded runtime-sized vector, times one summation, and verifies the sum against an independent formula.</a:t>
            </a:r>
          </a:p>
          <a:p>
            <a:pPr>
              <a:spcAft>
                <a:spcPts val="1100"/>
              </a:spcAft>
              <a:defRPr sz="1900">
                <a:solidFill>
                  <a:srgbClr val="F2F5F8"/>
                </a:solidFill>
              </a:defRPr>
            </a:pPr>
            <a:r>
              <a:t>• Setup and verification are outside the timed interval.</a:t>
            </a:r>
          </a:p>
          <a:p>
            <a:pPr>
              <a:spcAft>
                <a:spcPts val="1100"/>
              </a:spcAft>
              <a:defRPr sz="1900">
                <a:solidFill>
                  <a:srgbClr val="F2F5F8"/>
                </a:solidFill>
              </a:defRPr>
            </a:pPr>
            <a:r>
              <a:t>• The output timing is an observation on the machine where it is run, not a fixed expected value.</a:t>
            </a:r>
          </a:p>
          <a:p>
            <a:pPr>
              <a:spcAft>
                <a:spcPts val="1100"/>
              </a:spcAft>
              <a:defRPr sz="1900">
                <a:solidFill>
                  <a:srgbClr val="F2F5F8"/>
                </a:solidFill>
              </a:defRPr>
            </a:pPr>
            <a:r>
              <a:t>• Companion listing: ch54/benchmark.cpp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checksum-protected timing boundary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ch54/benchmark.cpp</a:t>
            </a:r>
          </a:p>
          <a:p>
            <a:pPr>
              <a:spcAft>
                <a:spcPts val="1100"/>
              </a:spcAft>
              <a:defRPr sz="1900">
                <a:solidFill>
                  <a:srgbClr val="F2F5F8"/>
                </a:solidFill>
              </a:defRPr>
            </a:pPr>
            <a:r>
              <a:t>• For count 1000, there are three complete groups of values 0 through 250 and a remainder of 247 values, 0 through 246.</a:t>
            </a:r>
          </a:p>
          <a:p>
            <a:pPr>
              <a:spcAft>
                <a:spcPts val="1100"/>
              </a:spcAft>
              <a:defRPr sz="1900">
                <a:solidFill>
                  <a:srgbClr val="F2F5F8"/>
                </a:solidFill>
              </a:defRPr>
            </a:pPr>
            <a:r>
              <a:t>• The expected sum is 3 × 31375 + 247 × 246/2 = 124506 .</a:t>
            </a:r>
          </a:p>
          <a:p>
            <a:pPr>
              <a:spcAft>
                <a:spcPts val="1100"/>
              </a:spcAft>
              <a:defRPr sz="1900">
                <a:solidFill>
                  <a:srgbClr val="F2F5F8"/>
                </a:solidFill>
              </a:defRPr>
            </a:pPr>
            <a:r>
              <a:t>• The elapsed nanoseconds vary.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Throughput and latency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a service completes 12,000 requests in 60 seconds, average throughput is 200 requests/s.</a:t>
            </a:r>
          </a:p>
          <a:p>
            <a:pPr>
              <a:spcAft>
                <a:spcPts val="1100"/>
              </a:spcAft>
              <a:defRPr sz="1900">
                <a:solidFill>
                  <a:srgbClr val="F2F5F8"/>
                </a:solidFill>
              </a:defRPr>
            </a:pPr>
            <a:r>
              <a:t>• That fact does not reveal individual latency: one request may complete in 2 ms while another waits 500 ms.</a:t>
            </a:r>
          </a:p>
          <a:p>
            <a:pPr>
              <a:spcAft>
                <a:spcPts val="1100"/>
              </a:spcAft>
              <a:defRPr sz="1700">
                <a:solidFill>
                  <a:srgbClr val="F2F5F8"/>
                </a:solidFill>
              </a:defRPr>
            </a:pPr>
            <a:r>
              <a:t>• Report throughput and latency distributions separately because batching and queueing can improve one while harming the other.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Throughput and latency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a service completes 12,000 requests in 60 seconds, average throughput is 200 requests/s.</a:t>
            </a:r>
          </a:p>
          <a:p>
            <a:pPr>
              <a:spcAft>
                <a:spcPts val="1100"/>
              </a:spcAft>
              <a:defRPr sz="1900">
                <a:solidFill>
                  <a:srgbClr val="F2F5F8"/>
                </a:solidFill>
              </a:defRPr>
            </a:pPr>
            <a:r>
              <a:t>• That fact does not reveal individual latency: one request may complete in 2 ms while another waits 500 ms.</a:t>
            </a:r>
          </a:p>
          <a:p>
            <a:pPr>
              <a:spcAft>
                <a:spcPts val="1100"/>
              </a:spcAft>
              <a:defRPr sz="1700">
                <a:solidFill>
                  <a:srgbClr val="F2F5F8"/>
                </a:solidFill>
              </a:defRPr>
            </a:pPr>
            <a:r>
              <a:t>• Report throughput and latency distributions separately because batching and queueing can improve one while harming the other.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CPU time versus wall 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task reports 2.0 s wall-clock time but only 0.6 s CPU time.</a:t>
            </a:r>
          </a:p>
          <a:p>
            <a:pPr>
              <a:spcAft>
                <a:spcPts val="1100"/>
              </a:spcAft>
              <a:defRPr sz="1900">
                <a:solidFill>
                  <a:srgbClr val="F2F5F8"/>
                </a:solidFill>
              </a:defRPr>
            </a:pPr>
            <a:r>
              <a:t>• The remaining elapsed time may include waiting for I/O, scheduling delays, or sleeps.</a:t>
            </a:r>
          </a:p>
          <a:p>
            <a:pPr>
              <a:spcAft>
                <a:spcPts val="1100"/>
              </a:spcAft>
              <a:defRPr sz="1700">
                <a:solidFill>
                  <a:srgbClr val="F2F5F8"/>
                </a:solidFill>
              </a:defRPr>
            </a:pPr>
            <a:r>
              <a:t>• Optimizing arithmetic cannot remove time spent blocked on a slow dependency unless the design changes that dependency or overlaps it with other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CPU time versus wall time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task reports 2.0 s wall-clock time but only 0.6 s CPU time.</a:t>
            </a:r>
          </a:p>
          <a:p>
            <a:pPr>
              <a:spcAft>
                <a:spcPts val="1100"/>
              </a:spcAft>
              <a:defRPr sz="1900">
                <a:solidFill>
                  <a:srgbClr val="F2F5F8"/>
                </a:solidFill>
              </a:defRPr>
            </a:pPr>
            <a:r>
              <a:t>• The remaining elapsed time may include waiting for I/O, scheduling delays, or sleeps.</a:t>
            </a:r>
          </a:p>
          <a:p>
            <a:pPr>
              <a:spcAft>
                <a:spcPts val="1100"/>
              </a:spcAft>
              <a:defRPr sz="1700">
                <a:solidFill>
                  <a:srgbClr val="F2F5F8"/>
                </a:solidFill>
              </a:defRPr>
            </a:pPr>
            <a:r>
              <a:t>• Optimizing arithmetic cannot remove time spent blocked on a slow dependency unless the design changes that dependency or overlaps it with other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54.</a:t>
            </a:r>
          </a:p>
          <a:p>
            <a:pPr>
              <a:spcAft>
                <a:spcPts val="1100"/>
              </a:spcAft>
              <a:defRPr sz="1900">
                <a:solidFill>
                  <a:srgbClr val="F2F5F8"/>
                </a:solidFill>
              </a:defRPr>
            </a:pPr>
            <a:r>
              <a:t>• Run several input sizes and record count, verified sum, elapsed time, compiler version, flags, and repetition number.</a:t>
            </a:r>
          </a:p>
          <a:p>
            <a:pPr>
              <a:spcAft>
                <a:spcPts val="1100"/>
              </a:spcAft>
              <a:defRPr sz="1900">
                <a:solidFill>
                  <a:srgbClr val="F2F5F8"/>
                </a:solidFill>
              </a:defRPr>
            </a:pPr>
            <a:r>
              <a:t>• Keep raw samples rather than reporting only the fastest.</a:t>
            </a:r>
          </a:p>
          <a:p>
            <a:pPr>
              <a:spcAft>
                <a:spcPts val="1100"/>
              </a:spcAft>
              <a:defRPr sz="1900">
                <a:solidFill>
                  <a:srgbClr val="F2F5F8"/>
                </a:solidFill>
              </a:defRPr>
            </a:pPr>
            <a:r>
              <a:t>• Explain whether the benchmark includes allocation, initialization, and output.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use a monotonic clock?</a:t>
            </a:r>
          </a:p>
          <a:p>
            <a:pPr>
              <a:spcAft>
                <a:spcPts val="1100"/>
              </a:spcAft>
              <a:defRPr sz="1900">
                <a:solidFill>
                  <a:srgbClr val="F2F5F8"/>
                </a:solidFill>
              </a:defRPr>
            </a:pPr>
            <a:r>
              <a:t>• Review 2.</a:t>
            </a:r>
          </a:p>
          <a:p>
            <a:pPr>
              <a:spcAft>
                <a:spcPts val="1100"/>
              </a:spcAft>
              <a:defRPr sz="1900">
                <a:solidFill>
                  <a:srgbClr val="F2F5F8"/>
                </a:solidFill>
              </a:defRPr>
            </a:pPr>
            <a:r>
              <a:t>• Can total CPU time exceed wall time for a multithreaded program?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measuring performance.</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Program Optimization.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54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