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22 — Virtual Address Spaces</a:t>
            </a:r>
          </a:p>
          <a:p/>
          <a:p>
            <a:r>
              <a:t>LECTURE NARRATION</a:t>
            </a:r>
          </a:p>
          <a:p>
            <a:r>
              <a:t>A pointer used by an ordinary process usually identifies a location in that process’s virtual address space. It is not a direct index into installed DRAM. Translation lets the system place data in physical storage independently of the addresses used by the program, share selected storage, and reject accesses that violate mapping permissions. Virtual memory is not simply “using disk as extra RAM.” Paging to storage is one possible policy built on translation. Isolation, controlled sharing, sparse address spaces, and flexible placement are useful even when every actively used page remains in physical memory. [ R3 , R10 ]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pointer used by an ordinary process usually identifies a location in that process’s virtual address space.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A pointer used by an ordinary process usually identifies a location in that process’s virtual address space. It is not a direct index into installed DRAM. Translation lets the system place data in physical storage independently of the addresses used by the program, share selected storage, and reject accesses that violate mapping permissions. Virtual memory is not simply “using disk as extra RAM.” Paging to storage is one possible policy built on translation. Isolation, controlled sharing, sparse address spaces, and flexible placement are useful even when every actively used page remains in physical memory. [ R3 , R10 ]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pointer used by an ordinary process usually identifies a location in that process’s virtual address space.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22.1 Virtual addresses 22.2 Physical addresses 22.3 Address translation 22.4 Memory isolation ...plus 5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22.1 Virtual addresses 22.2 Physical addresses 22.3 Address translation 22.4 Memory isolation ...plus 5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22.1 Virtual addresses</a:t>
            </a:r>
          </a:p>
          <a:p/>
          <a:p>
            <a:r>
              <a:t>LECTURE NARRATION</a:t>
            </a:r>
          </a:p>
          <a:p>
            <a:r>
              <a:t>A virtual address is interpreted in an address-space context. The same numeric address in two processes can designate unrelated objects. The meaning of an address also changes over time when a mapping is removed and another mapping occupies the same range. Do not infer usable address-space size from pointer size alone. A 64-bit pointer representation does not imply that all 64 bits are available as independent implemented virtual-address bits. x86-64 configurations support particular address widths and canonical-address rules. The examples here use explicitly stated simplified widths rather than treating one hardware configuration as universal.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22.1 Virtual addresses — Deep Dive</a:t>
            </a:r>
          </a:p>
          <a:p/>
          <a:p>
            <a:r>
              <a:t>LECTURE NARRATION</a:t>
            </a:r>
          </a:p>
          <a:p>
            <a:r>
              <a:t>A virtual address is interpreted in an address-space context. The same numeric address in two processes can designate unrelated objects. The meaning of an address also changes over time when a mapping is removed and another mapping occupies the same range. Do not infer usable address-space size from pointer size alone. A 64-bit pointer representation does not imply that all 64 bits are available as independent implemented virtual-address bits. x86-64 configurations support particular address widths and canonical-address rules. The examples here use explicitly stated simplified widths rather than treating one hardware configuration as universal.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22.2 Physical addresses</a:t>
            </a:r>
          </a:p>
          <a:p/>
          <a:p>
            <a:r>
              <a:t>LECTURE NARRATION</a:t>
            </a:r>
          </a:p>
          <a:p>
            <a:r>
              <a:t>A physical address identifies a location in the processor’s physical address map. That map can include ordinary memory and regions associated with devices; physical does not mean that every possible address corresponds to an installed DRAM byte. The operating system manages physical frames and establishes mappings that connect them to virtual pages. Applications normally neither choose arbitrary frames nor rely on a mapping remaining attached to one frame forever. Moving or replacing backing storage is possible as long as the required observable behavior is preserved and the translation machinery is updated correctly.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22.2 Physical addresses — Deep Dive</a:t>
            </a:r>
          </a:p>
          <a:p/>
          <a:p>
            <a:r>
              <a:t>LECTURE NARRATION</a:t>
            </a:r>
          </a:p>
          <a:p>
            <a:r>
              <a:t>A physical address identifies a location in the processor’s physical address map. That map can include ordinary memory and regions associated with devices; physical does not mean that every possible address corresponds to an installed DRAM byte. The operating system manages physical frames and establishes mappings that connect them to virtual pages. Applications normally neither choose arbitrary frames nor rely on a mapping remaining attached to one frame forever. Moving or replacing backing storage is possible as long as the required observable behavior is preserved and the translation machinery is updated correctly.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22.3 Address translation</a:t>
            </a:r>
          </a:p>
          <a:p/>
          <a:p>
            <a:r>
              <a:t>LECTURE NARRATION</a:t>
            </a:r>
          </a:p>
          <a:p>
            <a:r>
              <a:t>Translation maps a virtual address to a physical address while checking the requested access. A useful teaching decomposition is virtual address = virtual page number + page offset . The page number selects a mapping; the offset identifies the byte within that page. With equal-sized pages and frames, translation preserves the offset. Translation is therefore not an arbitrary byte-by-byte lookup. Contiguous bytes within one mapped page share the same mapping and permissions at the paging granularity. An access that spans a page boundary can involve more than one translation and can encounter different permissions on the two pages.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22.3 Address translation — Deep Dive</a:t>
            </a:r>
          </a:p>
          <a:p/>
          <a:p>
            <a:r>
              <a:t>LECTURE NARRATION</a:t>
            </a:r>
          </a:p>
          <a:p>
            <a:r>
              <a:t>Translation maps a virtual address to a physical address while checking the requested access. A useful teaching decomposition is virtual address = virtual page number + page offset . The page number selects a mapping; the offset identifies the byte within that page. With equal-sized pages and frames, translation preserves the offset. Translation is therefore not an arbitrary byte-by-byte lookup. Contiguous bytes within one mapped page share the same mapping and permissions at the paging granularity. An access that spans a page boundary can involve more than one translation and can encounter different permissions on the two pages.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22.4 Memory isolation</a:t>
            </a:r>
          </a:p>
          <a:p/>
          <a:p>
            <a:r>
              <a:t>LECTURE NARRATION</a:t>
            </a:r>
          </a:p>
          <a:p>
            <a:r>
              <a:t>Separate address-space mappings allow the kernel to keep one process’s private storage inaccessible to another. Permission checks further distinguish reads, writes, instruction fetches, and user versus supervisor access, subject to the architecture and configuration. The word private requires context. A private mapping can initially share physical storage through copy-on-write while preserving logically private modification semantics. Isolation describes what each process is allowed to observe and change, not necessarily whether every byte has a unique physical copy at every instant.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separate address-space mappings allow the kernel to keep one process’s private storage inaccessible to another.</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22.4 Memory isolation — Deep Dive</a:t>
            </a:r>
          </a:p>
          <a:p/>
          <a:p>
            <a:r>
              <a:t>LECTURE NARRATION</a:t>
            </a:r>
          </a:p>
          <a:p>
            <a:r>
              <a:t>Separate address-space mappings allow the kernel to keep one process’s private storage inaccessible to another. Permission checks further distinguish reads, writes, instruction fetches, and user versus supervisor access, subject to the architecture and configuration. The word private requires context. A private mapping can initially share physical storage through copy-on-write while preserving logically private modification semantics. Isolation describes what each process is allowed to observe and change, not necessarily whether every byte has a unique physical copy at every instant.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separate address-space mappings allow the kernel to keep one process’s private storage inaccessible to another.</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22.5 Shared memory</a:t>
            </a:r>
          </a:p>
          <a:p/>
          <a:p>
            <a:r>
              <a:t>LECTURE NARRATION</a:t>
            </a:r>
          </a:p>
          <a:p>
            <a:r>
              <a:t>Shared memory deliberately maps common storage into more than one execution environment. A store through one mapping can become visible through another according to the platform’s memory and synchronization rules. This avoids copying every message through a separate transfer buffer, but it does not remove the need for a communication protocol. Shared-memory programs must define ownership, synchronization, initialization, and recovery from participant failure. They must also avoid assuming equal virtual base addresses. An offset of 128 bytes from the shared region’s base is portable across mappings of that region; an ordinary process-local pointer stored there may not be.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shared memory deliberately maps common storage into more than one execution environment.</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22.5 Shared memory — Deep Dive</a:t>
            </a:r>
          </a:p>
          <a:p/>
          <a:p>
            <a:r>
              <a:t>LECTURE NARRATION</a:t>
            </a:r>
          </a:p>
          <a:p>
            <a:r>
              <a:t>Shared memory deliberately maps common storage into more than one execution environment. A store through one mapping can become visible through another according to the platform’s memory and synchronization rules. This avoids copying every message through a separate transfer buffer, but it does not remove the need for a communication protocol. Shared-memory programs must define ownership, synchronization, initialization, and recovery from participant failure. They must also avoid assuming equal virtual base addresses. An offset of 128 bytes from the shared region’s base is portable across mappings of that region; an ordinary process-local pointer stored there may not be.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shared memory deliberately maps common storage into more than one execution environment.</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Worked example — Equal numbers, different storage</a:t>
            </a:r>
          </a:p>
          <a:p/>
          <a:p>
            <a:r>
              <a:t>LECTURE NARRATION</a:t>
            </a:r>
          </a:p>
          <a:p>
            <a:r>
              <a:t>Assume 4-KiB pages. Process A maps virtual page 4 to physical frame 12; process B maps virtual page 4 to physical frame 27. Both load from virtual address 0x4123 . The virtual page number is 0x4 , and the offset is 0x123 . A reaches physical address 0xC123 ; B reaches 0x1B123 . The same pointer bits do not imply shared data. Now suppose A maps virtual page 8 and B maps virtual page 9 to physical frame 30. A’s 0x8080 and B’s 0x9080 both identify physical address 0x1E080 . These calculations illustrate two independent properties: equal virtual addresses can refer to different storage, and different virtual addresses can refer to shared storage. They say nothing by themselves about access permission or synchronization. A correct access requires the mapping and the requested operation to be allowed.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assume 4-KiB pages.</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Worked example — Equal numbers, different storage — Deep Dive</a:t>
            </a:r>
          </a:p>
          <a:p/>
          <a:p>
            <a:r>
              <a:t>LECTURE NARRATION</a:t>
            </a:r>
          </a:p>
          <a:p>
            <a:r>
              <a:t>Assume 4-KiB pages. Process A maps virtual page 4 to physical frame 12; process B maps virtual page 4 to physical frame 27. Both load from virtual address 0x4123 . The virtual page number is 0x4 , and the offset is 0x123 . A reaches physical address 0xC123 ; B reaches 0x1B123 . The same pointer bits do not imply shared data. Now suppose A maps virtual page 8 and B maps virtual page 9 to physical frame 30. A’s 0x8080 and B’s 0x9080 both identify physical address 0x1E080 . These calculations illustrate two independent properties: equal virtual addresses can refer to different storage, and different virtual addresses can refer to shared storage. They say nothing by themselves about access permission or synchronization. A correct access requires the mapping and the requested operation to be allowed.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assume 4-KiB pages.</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Worked example — Same virtual address, different memory</a:t>
            </a:r>
          </a:p>
          <a:p/>
          <a:p>
            <a:r>
              <a:t>LECTURE NARRATION</a:t>
            </a:r>
          </a:p>
          <a:p>
            <a:r>
              <a:t>Process A and process B can each map virtual address 0x400000 to different physical frames. Both programs can therefore use the same conventional layout without reading each other’s data. Address translation combines the active process’s mapping state with the virtual address; the numeric virtual address alone does not identify a unique physical byte system-wide.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Worked example — Same virtual address, different memory — Deep Dive</a:t>
            </a:r>
          </a:p>
          <a:p/>
          <a:p>
            <a:r>
              <a:t>LECTURE NARRATION</a:t>
            </a:r>
          </a:p>
          <a:p>
            <a:r>
              <a:t>Process A and process B can each map virtual address 0x400000 to different physical frames. Both programs can therefore use the same conventional layout without reading each other’s data. Address translation combines the active process’s mapping state with the virtual address; the numeric virtual address alone does not identify a unique physical byte system-wide.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Worked example — Intentional shared mapping</a:t>
            </a:r>
          </a:p>
          <a:p/>
          <a:p>
            <a:r>
              <a:t>LECTURE NARRATION</a:t>
            </a:r>
          </a:p>
          <a:p>
            <a:r>
              <a:t>Two processes may map the same shared-memory object into different virtual addresses. A store by one process then changes the underlying physical storage observed by the other, subject to synchronization requirements. Shared memory is therefore created by common backing, not by requiring identical virtual addresses.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two processes may map the same shared-memory object into different virtual addresses.</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Worked example — Intentional shared mapping — Deep Dive</a:t>
            </a:r>
          </a:p>
          <a:p/>
          <a:p>
            <a:r>
              <a:t>LECTURE NARRATION</a:t>
            </a:r>
          </a:p>
          <a:p>
            <a:r>
              <a:t>Two processes may map the same shared-memory object into different virtual addresses. A store by one process then changes the underlying physical storage observed by the other, subject to synchronization requirements. Shared memory is therefore created by common backing, not by requiring identical virtual addresses.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two processes may map the same shared-memory object into different virtual addresses.</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Guided lab and review</a:t>
            </a:r>
          </a:p>
          <a:p/>
          <a:p>
            <a:r>
              <a:t>LECTURE NARRATION</a:t>
            </a:r>
          </a:p>
          <a:p>
            <a:r>
              <a:t>Lab 22. Build a two-column mapping table for two processes. Give each two private pages and one shared page at different virtual locations. Translate three addresses and mark which writes could affect the other process. Review 1. Why are raw pointers problematic in shared-memory file formats? Review 2. Why is virtual memory useful without swapping?</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22.</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Guided lab and review — Deep Dive</a:t>
            </a:r>
          </a:p>
          <a:p/>
          <a:p>
            <a:r>
              <a:t>LECTURE NARRATION</a:t>
            </a:r>
          </a:p>
          <a:p>
            <a:r>
              <a:t>Lab 22. Build a two-column mapping table for two processes. Give each two private pages and one shared page at different virtual locations. Translate three addresses and mark which writes could affect the other process. Review 1. Why are raw pointers problematic in shared-memory file formats? Review 2. Why is virtual memory useful without swapping?</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22.</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Chapter Synthesis</a:t>
            </a:r>
          </a:p>
          <a:p/>
          <a:p>
            <a:r>
              <a:t>LECTURE NARRATION</a:t>
            </a:r>
          </a:p>
          <a:p>
            <a:r>
              <a:t>The chapter's central subject is virtual address spaces.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virtual address spaces.</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Paging.</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22 — Virtual Address Spaces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pointer used by an ordinary process usually identifies a location in that process’s virtual address space.</a:t>
            </a:r>
          </a:p>
          <a:p>
            <a:pPr>
              <a:spcAft>
                <a:spcPts val="1100"/>
              </a:spcAft>
              <a:defRPr sz="1900">
                <a:solidFill>
                  <a:srgbClr val="F2F5F8"/>
                </a:solidFill>
              </a:defRPr>
            </a:pPr>
            <a:r>
              <a:t>• It is not a direct index into installed DRAM.</a:t>
            </a:r>
          </a:p>
          <a:p>
            <a:pPr>
              <a:spcAft>
                <a:spcPts val="1100"/>
              </a:spcAft>
              <a:defRPr sz="1700">
                <a:solidFill>
                  <a:srgbClr val="F2F5F8"/>
                </a:solidFill>
              </a:defRPr>
            </a:pPr>
            <a:r>
              <a:t>• Translation lets the system place data in physical storage independently of the addresses used by the program, share selected storage, and reject accesses that violate mapping...</a:t>
            </a:r>
          </a:p>
          <a:p>
            <a:pPr>
              <a:spcAft>
                <a:spcPts val="1100"/>
              </a:spcAft>
              <a:defRPr sz="1900">
                <a:solidFill>
                  <a:srgbClr val="F2F5F8"/>
                </a:solidFill>
              </a:defRPr>
            </a:pPr>
            <a:r>
              <a:t>• Virtual memory is not simply “using disk as extra RAM.” Paging to storage is one possible policy built on translation.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22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Virtual Address Spaces.</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22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22.1 Virtual addresses</a:t>
            </a:r>
          </a:p>
          <a:p>
            <a:pPr>
              <a:spcAft>
                <a:spcPts val="1100"/>
              </a:spcAft>
              <a:defRPr sz="1900">
                <a:solidFill>
                  <a:srgbClr val="F2F5F8"/>
                </a:solidFill>
              </a:defRPr>
            </a:pPr>
            <a:r>
              <a:t>• 22.2 Physical addresses</a:t>
            </a:r>
          </a:p>
          <a:p>
            <a:pPr>
              <a:spcAft>
                <a:spcPts val="1100"/>
              </a:spcAft>
              <a:defRPr sz="1900">
                <a:solidFill>
                  <a:srgbClr val="F2F5F8"/>
                </a:solidFill>
              </a:defRPr>
            </a:pPr>
            <a:r>
              <a:t>• 22.3 Address translation</a:t>
            </a:r>
          </a:p>
          <a:p>
            <a:pPr>
              <a:spcAft>
                <a:spcPts val="1100"/>
              </a:spcAft>
              <a:defRPr sz="1900">
                <a:solidFill>
                  <a:srgbClr val="F2F5F8"/>
                </a:solidFill>
              </a:defRPr>
            </a:pPr>
            <a:r>
              <a:t>• 22.4 Memory isolation</a:t>
            </a:r>
          </a:p>
          <a:p>
            <a:pPr>
              <a:spcAft>
                <a:spcPts val="1100"/>
              </a:spcAft>
              <a:defRPr sz="1900">
                <a:solidFill>
                  <a:srgbClr val="F2F5F8"/>
                </a:solidFill>
              </a:defRPr>
            </a:pPr>
            <a:r>
              <a:t>• ...plus 5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22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22.1 Virtual addresses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virtual address is interpreted in an address-space context.</a:t>
            </a:r>
          </a:p>
          <a:p>
            <a:pPr>
              <a:spcAft>
                <a:spcPts val="1100"/>
              </a:spcAft>
              <a:defRPr sz="1900">
                <a:solidFill>
                  <a:srgbClr val="F2F5F8"/>
                </a:solidFill>
              </a:defRPr>
            </a:pPr>
            <a:r>
              <a:t>• The same numeric address in two processes can designate unrelated objects.</a:t>
            </a:r>
          </a:p>
          <a:p>
            <a:pPr>
              <a:spcAft>
                <a:spcPts val="1100"/>
              </a:spcAft>
              <a:defRPr sz="1900">
                <a:solidFill>
                  <a:srgbClr val="F2F5F8"/>
                </a:solidFill>
              </a:defRPr>
            </a:pPr>
            <a:r>
              <a:t>• The meaning of an address also changes over time when a mapping is removed and another mapping occupies the same range.</a:t>
            </a:r>
          </a:p>
          <a:p>
            <a:pPr>
              <a:spcAft>
                <a:spcPts val="1100"/>
              </a:spcAft>
              <a:defRPr sz="1900">
                <a:solidFill>
                  <a:srgbClr val="F2F5F8"/>
                </a:solidFill>
              </a:defRPr>
            </a:pPr>
            <a:r>
              <a:t>• Do not infer usable address-space size from pointer size alone.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22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22.1 Virtual addresses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Do not infer usable address-space size from pointer size alone.</a:t>
            </a:r>
          </a:p>
          <a:p>
            <a:pPr>
              <a:spcAft>
                <a:spcPts val="1100"/>
              </a:spcAft>
              <a:defRPr sz="1700">
                <a:solidFill>
                  <a:srgbClr val="F2F5F8"/>
                </a:solidFill>
              </a:defRPr>
            </a:pPr>
            <a:r>
              <a:t>• A 64-bit pointer representation does not imply that all 64 bits are available as independent implemented virtual-address bits. x86-64 configurations support particular...</a:t>
            </a:r>
          </a:p>
          <a:p>
            <a:pPr>
              <a:spcAft>
                <a:spcPts val="1100"/>
              </a:spcAft>
              <a:defRPr sz="1900">
                <a:solidFill>
                  <a:srgbClr val="F2F5F8"/>
                </a:solidFill>
              </a:defRPr>
            </a:pPr>
            <a:r>
              <a:t>• The examples here use explicitly stated simplified widths rather than treating one hardware configuration as universal.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22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22.2 Physical addresses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physical address identifies a location in the processor’s physical address map.</a:t>
            </a:r>
          </a:p>
          <a:p>
            <a:pPr>
              <a:spcAft>
                <a:spcPts val="1100"/>
              </a:spcAft>
              <a:defRPr sz="1700">
                <a:solidFill>
                  <a:srgbClr val="F2F5F8"/>
                </a:solidFill>
              </a:defRPr>
            </a:pPr>
            <a:r>
              <a:t>• That map can include ordinary memory and regions associated with devices; physical does not mean that every possible address corresponds to an installed DRAM byte.</a:t>
            </a:r>
          </a:p>
          <a:p>
            <a:pPr>
              <a:spcAft>
                <a:spcPts val="1100"/>
              </a:spcAft>
              <a:defRPr sz="1900">
                <a:solidFill>
                  <a:srgbClr val="F2F5F8"/>
                </a:solidFill>
              </a:defRPr>
            </a:pPr>
            <a:r>
              <a:t>• The operating system manages physical frames and establishes mappings that connect them to virtual pages.</a:t>
            </a:r>
          </a:p>
          <a:p>
            <a:pPr>
              <a:spcAft>
                <a:spcPts val="1100"/>
              </a:spcAft>
              <a:defRPr sz="1900">
                <a:solidFill>
                  <a:srgbClr val="F2F5F8"/>
                </a:solidFill>
              </a:defRPr>
            </a:pPr>
            <a:r>
              <a:t>• Applications normally neither choose arbitrary frames nor rely on a mapping remaining attached to one frame forever.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22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22.2 Physical addresses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operating system manages physical frames and establishes mappings that connect them to virtual pages.</a:t>
            </a:r>
          </a:p>
          <a:p>
            <a:pPr>
              <a:spcAft>
                <a:spcPts val="1100"/>
              </a:spcAft>
              <a:defRPr sz="1900">
                <a:solidFill>
                  <a:srgbClr val="F2F5F8"/>
                </a:solidFill>
              </a:defRPr>
            </a:pPr>
            <a:r>
              <a:t>• Applications normally neither choose arbitrary frames nor rely on a mapping remaining attached to one frame forever.</a:t>
            </a:r>
          </a:p>
          <a:p>
            <a:pPr>
              <a:spcAft>
                <a:spcPts val="1100"/>
              </a:spcAft>
              <a:defRPr sz="1700">
                <a:solidFill>
                  <a:srgbClr val="F2F5F8"/>
                </a:solidFill>
              </a:defRPr>
            </a:pPr>
            <a:r>
              <a:t>• Moving or replacing backing storage is possible as long as the required observable behavior is preserved and the translation machinery is updated correctly.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22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22.3 Address translation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Translation maps a virtual address to a physical address while checking the requested access.</a:t>
            </a:r>
          </a:p>
          <a:p>
            <a:pPr>
              <a:spcAft>
                <a:spcPts val="1100"/>
              </a:spcAft>
              <a:defRPr sz="1900">
                <a:solidFill>
                  <a:srgbClr val="F2F5F8"/>
                </a:solidFill>
              </a:defRPr>
            </a:pPr>
            <a:r>
              <a:t>• A useful teaching decomposition is virtual address = virtual page number + page offset .</a:t>
            </a:r>
          </a:p>
          <a:p>
            <a:pPr>
              <a:spcAft>
                <a:spcPts val="1100"/>
              </a:spcAft>
              <a:defRPr sz="1900">
                <a:solidFill>
                  <a:srgbClr val="F2F5F8"/>
                </a:solidFill>
              </a:defRPr>
            </a:pPr>
            <a:r>
              <a:t>• The page number selects a mapping; the offset identifies the byte within that page.</a:t>
            </a:r>
          </a:p>
          <a:p>
            <a:pPr>
              <a:spcAft>
                <a:spcPts val="1100"/>
              </a:spcAft>
              <a:defRPr sz="1900">
                <a:solidFill>
                  <a:srgbClr val="F2F5F8"/>
                </a:solidFill>
              </a:defRPr>
            </a:pPr>
            <a:r>
              <a:t>• With equal-sized pages and frames, translation preserves the offset.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22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22.3 Address translation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Translation is therefore not an arbitrary byte-by-byte lookup.</a:t>
            </a:r>
          </a:p>
          <a:p>
            <a:pPr>
              <a:spcAft>
                <a:spcPts val="1100"/>
              </a:spcAft>
              <a:defRPr sz="1900">
                <a:solidFill>
                  <a:srgbClr val="F2F5F8"/>
                </a:solidFill>
              </a:defRPr>
            </a:pPr>
            <a:r>
              <a:t>• Contiguous bytes within one mapped page share the same mapping and permissions at the paging granularity.</a:t>
            </a:r>
          </a:p>
          <a:p>
            <a:pPr>
              <a:spcAft>
                <a:spcPts val="1100"/>
              </a:spcAft>
              <a:defRPr sz="1700">
                <a:solidFill>
                  <a:srgbClr val="F2F5F8"/>
                </a:solidFill>
              </a:defRPr>
            </a:pPr>
            <a:r>
              <a:t>• An access that spans a page boundary can involve more than one translation and can encounter different permissions on the two pages.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22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22.4 Memory isolation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Separate address-space mappings allow the kernel to keep one process’s private storage inaccessible to another.</a:t>
            </a:r>
          </a:p>
          <a:p>
            <a:pPr>
              <a:spcAft>
                <a:spcPts val="1100"/>
              </a:spcAft>
              <a:defRPr sz="1700">
                <a:solidFill>
                  <a:srgbClr val="F2F5F8"/>
                </a:solidFill>
              </a:defRPr>
            </a:pPr>
            <a:r>
              <a:t>• Permission checks further distinguish reads, writes, instruction fetches, and user versus supervisor access, subject to the architecture and configuration.</a:t>
            </a:r>
          </a:p>
          <a:p>
            <a:pPr>
              <a:spcAft>
                <a:spcPts val="1100"/>
              </a:spcAft>
              <a:defRPr sz="1900">
                <a:solidFill>
                  <a:srgbClr val="F2F5F8"/>
                </a:solidFill>
              </a:defRPr>
            </a:pPr>
            <a:r>
              <a:t>• The word private requires context.</a:t>
            </a:r>
          </a:p>
          <a:p>
            <a:pPr>
              <a:spcAft>
                <a:spcPts val="1100"/>
              </a:spcAft>
              <a:defRPr sz="1700">
                <a:solidFill>
                  <a:srgbClr val="F2F5F8"/>
                </a:solidFill>
              </a:defRPr>
            </a:pPr>
            <a:r>
              <a:t>• A private mapping can initially share physical storage through copy-on-write while preserving logically private modification semantics.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22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22.4 Memory isolation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word private requires context.</a:t>
            </a:r>
          </a:p>
          <a:p>
            <a:pPr>
              <a:spcAft>
                <a:spcPts val="1100"/>
              </a:spcAft>
              <a:defRPr sz="1700">
                <a:solidFill>
                  <a:srgbClr val="F2F5F8"/>
                </a:solidFill>
              </a:defRPr>
            </a:pPr>
            <a:r>
              <a:t>• A private mapping can initially share physical storage through copy-on-write while preserving logically private modification semantics.</a:t>
            </a:r>
          </a:p>
          <a:p>
            <a:pPr>
              <a:spcAft>
                <a:spcPts val="1100"/>
              </a:spcAft>
              <a:defRPr sz="1700">
                <a:solidFill>
                  <a:srgbClr val="F2F5F8"/>
                </a:solidFill>
              </a:defRPr>
            </a:pPr>
            <a:r>
              <a:t>• Isolation describes what each process is allowed to observe and change, not necessarily whether every byte has a unique physical copy at every instant.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22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22.5 Shared memory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Shared memory deliberately maps common storage into more than one execution environment.</a:t>
            </a:r>
          </a:p>
          <a:p>
            <a:pPr>
              <a:spcAft>
                <a:spcPts val="1100"/>
              </a:spcAft>
              <a:defRPr sz="1700">
                <a:solidFill>
                  <a:srgbClr val="F2F5F8"/>
                </a:solidFill>
              </a:defRPr>
            </a:pPr>
            <a:r>
              <a:t>• A store through one mapping can become visible through another according to the platform’s memory and synchronization rules.</a:t>
            </a:r>
          </a:p>
          <a:p>
            <a:pPr>
              <a:spcAft>
                <a:spcPts val="1100"/>
              </a:spcAft>
              <a:defRPr sz="1700">
                <a:solidFill>
                  <a:srgbClr val="F2F5F8"/>
                </a:solidFill>
              </a:defRPr>
            </a:pPr>
            <a:r>
              <a:t>• This avoids copying every message through a separate transfer buffer, but it does not remove the need for a communication protocol.</a:t>
            </a:r>
          </a:p>
          <a:p>
            <a:pPr>
              <a:spcAft>
                <a:spcPts val="1100"/>
              </a:spcAft>
              <a:defRPr sz="1900">
                <a:solidFill>
                  <a:srgbClr val="F2F5F8"/>
                </a:solidFill>
              </a:defRPr>
            </a:pPr>
            <a:r>
              <a:t>• Shared-memory programs must define ownership, synchronization, initialization, and recovery from participant failure.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22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22.5 Shared memory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Shared-memory programs must define ownership, synchronization, initialization, and recovery from participant failure.</a:t>
            </a:r>
          </a:p>
          <a:p>
            <a:pPr>
              <a:spcAft>
                <a:spcPts val="1100"/>
              </a:spcAft>
              <a:defRPr sz="1900">
                <a:solidFill>
                  <a:srgbClr val="F2F5F8"/>
                </a:solidFill>
              </a:defRPr>
            </a:pPr>
            <a:r>
              <a:t>• They must also avoid assuming equal virtual base addresses.</a:t>
            </a:r>
          </a:p>
          <a:p>
            <a:pPr>
              <a:spcAft>
                <a:spcPts val="1100"/>
              </a:spcAft>
              <a:defRPr sz="1700">
                <a:solidFill>
                  <a:srgbClr val="F2F5F8"/>
                </a:solidFill>
              </a:defRPr>
            </a:pPr>
            <a:r>
              <a:t>• An offset of 128 bytes from the shared region’s base is portable across mappings of that region; an ordinary process-local pointer stored there may not be.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22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Equal numbers, different storage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Assume 4-KiB pages.</a:t>
            </a:r>
          </a:p>
          <a:p>
            <a:pPr>
              <a:spcAft>
                <a:spcPts val="1100"/>
              </a:spcAft>
              <a:defRPr sz="1900">
                <a:solidFill>
                  <a:srgbClr val="F2F5F8"/>
                </a:solidFill>
              </a:defRPr>
            </a:pPr>
            <a:r>
              <a:t>• Process A maps virtual page 4 to physical frame 12; process B maps virtual page 4 to physical frame 27.</a:t>
            </a:r>
          </a:p>
          <a:p>
            <a:pPr>
              <a:spcAft>
                <a:spcPts val="1100"/>
              </a:spcAft>
              <a:defRPr sz="1900">
                <a:solidFill>
                  <a:srgbClr val="F2F5F8"/>
                </a:solidFill>
              </a:defRPr>
            </a:pPr>
            <a:r>
              <a:t>• Both load from virtual address 0x4123 .</a:t>
            </a:r>
          </a:p>
          <a:p>
            <a:pPr>
              <a:spcAft>
                <a:spcPts val="1100"/>
              </a:spcAft>
              <a:defRPr sz="1900">
                <a:solidFill>
                  <a:srgbClr val="F2F5F8"/>
                </a:solidFill>
              </a:defRPr>
            </a:pPr>
            <a:r>
              <a:t>• The virtual page number is 0x4 , and the offset is 0x123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22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Equal numbers, different storage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virtual page number is 0x4 , and the offset is 0x123 .</a:t>
            </a:r>
          </a:p>
          <a:p>
            <a:pPr>
              <a:spcAft>
                <a:spcPts val="1100"/>
              </a:spcAft>
              <a:defRPr sz="1900">
                <a:solidFill>
                  <a:srgbClr val="F2F5F8"/>
                </a:solidFill>
              </a:defRPr>
            </a:pPr>
            <a:r>
              <a:t>• A reaches physical address 0xC123 ; B reaches 0x1B123 .</a:t>
            </a:r>
          </a:p>
          <a:p>
            <a:pPr>
              <a:spcAft>
                <a:spcPts val="1100"/>
              </a:spcAft>
              <a:defRPr sz="1900">
                <a:solidFill>
                  <a:srgbClr val="F2F5F8"/>
                </a:solidFill>
              </a:defRPr>
            </a:pPr>
            <a:r>
              <a:t>• The same pointer bits do not imply shared data.</a:t>
            </a:r>
          </a:p>
          <a:p>
            <a:pPr>
              <a:spcAft>
                <a:spcPts val="1100"/>
              </a:spcAft>
              <a:defRPr sz="1900">
                <a:solidFill>
                  <a:srgbClr val="F2F5F8"/>
                </a:solidFill>
              </a:defRPr>
            </a:pPr>
            <a:r>
              <a:t>• Now suppose A maps virtual page 8 and B maps virtual page 9 to physical frame 30.</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22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Same virtual address, different memory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Process A and process B can each map virtual address 0x400000 to different physical frames.</a:t>
            </a:r>
          </a:p>
          <a:p>
            <a:pPr>
              <a:spcAft>
                <a:spcPts val="1100"/>
              </a:spcAft>
              <a:defRPr sz="1900">
                <a:solidFill>
                  <a:srgbClr val="F2F5F8"/>
                </a:solidFill>
              </a:defRPr>
            </a:pPr>
            <a:r>
              <a:t>• Both programs can therefore use the same conventional layout without reading each other’s data.</a:t>
            </a:r>
          </a:p>
          <a:p>
            <a:pPr>
              <a:spcAft>
                <a:spcPts val="1100"/>
              </a:spcAft>
              <a:defRPr sz="1700">
                <a:solidFill>
                  <a:srgbClr val="F2F5F8"/>
                </a:solidFill>
              </a:defRPr>
            </a:pPr>
            <a:r>
              <a:t>• Address translation combines the active process’s mapping state with the virtual address; the numeric virtual address alone does not identify a unique physical byte system-wide.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22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Same virtual address, different memory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Process A and process B can each map virtual address 0x400000 to different physical frames.</a:t>
            </a:r>
          </a:p>
          <a:p>
            <a:pPr>
              <a:spcAft>
                <a:spcPts val="1100"/>
              </a:spcAft>
              <a:defRPr sz="1900">
                <a:solidFill>
                  <a:srgbClr val="F2F5F8"/>
                </a:solidFill>
              </a:defRPr>
            </a:pPr>
            <a:r>
              <a:t>• Both programs can therefore use the same conventional layout without reading each other’s data.</a:t>
            </a:r>
          </a:p>
          <a:p>
            <a:pPr>
              <a:spcAft>
                <a:spcPts val="1100"/>
              </a:spcAft>
              <a:defRPr sz="1700">
                <a:solidFill>
                  <a:srgbClr val="F2F5F8"/>
                </a:solidFill>
              </a:defRPr>
            </a:pPr>
            <a:r>
              <a:t>• Address translation combines the active process’s mapping state with the virtual address; the numeric virtual address alone does not identify a unique physical byte...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22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Intentional shared mapping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Two processes may map the same shared-memory object into different virtual addresses.</a:t>
            </a:r>
          </a:p>
          <a:p>
            <a:pPr>
              <a:spcAft>
                <a:spcPts val="1100"/>
              </a:spcAft>
              <a:defRPr sz="1700">
                <a:solidFill>
                  <a:srgbClr val="F2F5F8"/>
                </a:solidFill>
              </a:defRPr>
            </a:pPr>
            <a:r>
              <a:t>• A store by one process then changes the underlying physical storage observed by the other, subject to synchronization requirements.</a:t>
            </a:r>
          </a:p>
          <a:p>
            <a:pPr>
              <a:spcAft>
                <a:spcPts val="1100"/>
              </a:spcAft>
              <a:defRPr sz="1900">
                <a:solidFill>
                  <a:srgbClr val="F2F5F8"/>
                </a:solidFill>
              </a:defRPr>
            </a:pPr>
            <a:r>
              <a:t>• Shared memory is therefore created by common backing, not by requiring identical virtual addresses.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22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Intentional shared mapping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Two processes may map the same shared-memory object into different virtual addresses.</a:t>
            </a:r>
          </a:p>
          <a:p>
            <a:pPr>
              <a:spcAft>
                <a:spcPts val="1100"/>
              </a:spcAft>
              <a:defRPr sz="1700">
                <a:solidFill>
                  <a:srgbClr val="F2F5F8"/>
                </a:solidFill>
              </a:defRPr>
            </a:pPr>
            <a:r>
              <a:t>• A store by one process then changes the underlying physical storage observed by the other, subject to synchronization requirements.</a:t>
            </a:r>
          </a:p>
          <a:p>
            <a:pPr>
              <a:spcAft>
                <a:spcPts val="1100"/>
              </a:spcAft>
              <a:defRPr sz="1900">
                <a:solidFill>
                  <a:srgbClr val="F2F5F8"/>
                </a:solidFill>
              </a:defRPr>
            </a:pPr>
            <a:r>
              <a:t>• Shared memory is therefore created by common backing, not by requiring identical virtual addresses.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22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22.</a:t>
            </a:r>
          </a:p>
          <a:p>
            <a:pPr>
              <a:spcAft>
                <a:spcPts val="1100"/>
              </a:spcAft>
              <a:defRPr sz="1900">
                <a:solidFill>
                  <a:srgbClr val="F2F5F8"/>
                </a:solidFill>
              </a:defRPr>
            </a:pPr>
            <a:r>
              <a:t>• Build a two-column mapping table for two processes.</a:t>
            </a:r>
          </a:p>
          <a:p>
            <a:pPr>
              <a:spcAft>
                <a:spcPts val="1100"/>
              </a:spcAft>
              <a:defRPr sz="1900">
                <a:solidFill>
                  <a:srgbClr val="F2F5F8"/>
                </a:solidFill>
              </a:defRPr>
            </a:pPr>
            <a:r>
              <a:t>• Give each two private pages and one shared page at different virtual locations.</a:t>
            </a:r>
          </a:p>
          <a:p>
            <a:pPr>
              <a:spcAft>
                <a:spcPts val="1100"/>
              </a:spcAft>
              <a:defRPr sz="1900">
                <a:solidFill>
                  <a:srgbClr val="F2F5F8"/>
                </a:solidFill>
              </a:defRPr>
            </a:pPr>
            <a:r>
              <a:t>• Translate three addresses and mark which writes could affect the other process.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22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are raw pointers problematic in shared-memory file formats?</a:t>
            </a:r>
          </a:p>
          <a:p>
            <a:pPr>
              <a:spcAft>
                <a:spcPts val="1100"/>
              </a:spcAft>
              <a:defRPr sz="1900">
                <a:solidFill>
                  <a:srgbClr val="F2F5F8"/>
                </a:solidFill>
              </a:defRPr>
            </a:pPr>
            <a:r>
              <a:t>• Review 2.</a:t>
            </a:r>
          </a:p>
          <a:p>
            <a:pPr>
              <a:spcAft>
                <a:spcPts val="1100"/>
              </a:spcAft>
              <a:defRPr sz="1900">
                <a:solidFill>
                  <a:srgbClr val="F2F5F8"/>
                </a:solidFill>
              </a:defRPr>
            </a:pPr>
            <a:r>
              <a:t>• Why is virtual memory useful without swapping?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22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virtual address spaces.</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22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Paging.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22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