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55 — Program Optimization</a:t>
            </a:r>
          </a:p>
          <a:p/>
          <a:p>
            <a:r>
              <a:t>LECTURE NARRATION</a:t>
            </a:r>
          </a:p>
          <a:p>
            <a:r>
              <a:t>Optimization changes an implementation while preserving its required behavior. The largest improvements often come from doing less work, moving fewer bytes, or avoiding repeated setup. Low-level instruction tuning is valuable only when the relevant instructions materially contribute to the measured bottleneck. Use a sequence of verified changes. Keep the original implementation as a reference when possible, compare outputs on normal and boundary cases, and measure each candidate under the same workload. A performance improvement that changes the result has not met the same specification. [ R2 ]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optimization changes an implementation while preserving its required behavior.</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Optimization changes an implementation while preserving its required behavior. The largest improvements often come from doing less work, moving fewer bytes, or avoiding repeated setup. Low-level instruction tuning is valuable only when the relevant instructions materially contribute to the measured bottleneck. Use a sequence of verified changes. Keep the original implementation as a reference when possible, compare outputs on normal and boundary cases, and measure each candidate under the same workload. A performance improvement that changes the result has not met the same specification. [ R2 ]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optimization changes an implementation while preserving its required behavior.</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55.1 Algorithmic optimization 55.2 Compiler optimization 55.3 Memory optimization 55.4 Cache optimization ...plus 8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55.1 Algorithmic optimization 55.2 Compiler optimization 55.3 Memory optimization 55.4 Cache optimization ...plus 8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55.1 Algorithmic optimization</a:t>
            </a:r>
          </a:p>
          <a:p/>
          <a:p>
            <a:r>
              <a:t>LECTURE NARRATION</a:t>
            </a:r>
          </a:p>
          <a:p>
            <a:r>
              <a:t>Algorithmic optimization changes the amount or organization of required work. Replacing repeated scans with an index, using a better asymptotic algorithm, or precomputing reusable summaries can dominate instruction-level changes. Account for construction and update costs. An index that makes queries fast may be inappropriate when the dataset changes constantly and only one query is performed. Optimize the complete workload, including the frequency of preprocessing and maintenance.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55.1 Algorithmic optimization — Deep Dive</a:t>
            </a:r>
          </a:p>
          <a:p/>
          <a:p>
            <a:r>
              <a:t>LECTURE NARRATION</a:t>
            </a:r>
          </a:p>
          <a:p>
            <a:r>
              <a:t>Algorithmic optimization changes the amount or organization of required work. Replacing repeated scans with an index, using a better asymptotic algorithm, or precomputing reusable summaries can dominate instruction-level changes. Account for construction and update costs. An index that makes queries fast may be inappropriate when the dataset changes constantly and only one query is performed. Optimize the complete workload, including the frequency of preprocessing and maintenance.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55.2 Compiler optimization</a:t>
            </a:r>
          </a:p>
          <a:p/>
          <a:p>
            <a:r>
              <a:t>LECTURE NARRATION</a:t>
            </a:r>
          </a:p>
          <a:p>
            <a:r>
              <a:t>Compiler options enable transformations such as inlining, vectorization, and dead-code elimination. The compiler relies on language rules, available definitions, aliasing information, and target architecture. More aggressive flags can change assumptions or numerical behavior. Distinguish ordinary optimization levels from options that relax floating-point semantics or target instructions unavailable on another machine. Record the exact build configuration with results instead of describing it only as a “release build.”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55.2 Compiler optimization — Deep Dive</a:t>
            </a:r>
          </a:p>
          <a:p/>
          <a:p>
            <a:r>
              <a:t>LECTURE NARRATION</a:t>
            </a:r>
          </a:p>
          <a:p>
            <a:r>
              <a:t>Compiler options enable transformations such as inlining, vectorization, and dead-code elimination. The compiler relies on language rules, available definitions, aliasing information, and target architecture. More aggressive flags can change assumptions or numerical behavior. Distinguish ordinary optimization levels from options that relax floating-point semantics or target instructions unavailable on another machine. Record the exact build configuration with results instead of describing it only as a “release build.”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55.3 Memory optimization</a:t>
            </a:r>
          </a:p>
          <a:p/>
          <a:p>
            <a:r>
              <a:t>LECTURE NARRATION</a:t>
            </a:r>
          </a:p>
          <a:p>
            <a:r>
              <a:t>Memory optimization reduces allocation overhead, footprint, copying, and unnecessary lifetime extension. Reusing buffers can help when ownership is clear and retained capacity remains bounded. Do not trade a modest allocation reduction for dangling references or uncontrolled memory retention. A cache of reusable objects needs an eviction and size policy. Peak memory includes temporarily duplicated data during transformations, not merely the final representation.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55.3 Memory optimization — Deep Dive</a:t>
            </a:r>
          </a:p>
          <a:p/>
          <a:p>
            <a:r>
              <a:t>LECTURE NARRATION</a:t>
            </a:r>
          </a:p>
          <a:p>
            <a:r>
              <a:t>Memory optimization reduces allocation overhead, footprint, copying, and unnecessary lifetime extension. Reusing buffers can help when ownership is clear and retained capacity remains bounded. Do not trade a modest allocation reduction for dangling references or uncontrolled memory retention. A cache of reusable objects needs an eviction and size policy. Peak memory includes temporarily duplicated data during transformations, not merely the final representation.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55.4 Cache optimization</a:t>
            </a:r>
          </a:p>
          <a:p/>
          <a:p>
            <a:r>
              <a:t>LECTURE NARRATION</a:t>
            </a:r>
          </a:p>
          <a:p>
            <a:r>
              <a:t>Cache optimization improves useful reuse and reduces transferred irrelevant bytes. Blocking, compact indexes, and traversal changes can help. The working set includes all simultaneously active data, not just the main input array. Measure the effect on total runtime and verify that a cache-focused change does not increase computation or synchronization enough to offset its benefit. Counter changes are evidence about mechanisms, not a replacement for the application’s completion metric.</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55.4 Cache optimization — Deep Dive</a:t>
            </a:r>
          </a:p>
          <a:p/>
          <a:p>
            <a:r>
              <a:t>LECTURE NARRATION</a:t>
            </a:r>
          </a:p>
          <a:p>
            <a:r>
              <a:t>Cache optimization improves useful reuse and reduces transferred irrelevant bytes. Blocking, compact indexes, and traversal changes can help. The working set includes all simultaneously active data, not just the main input array. Measure the effect on total runtime and verify that a cache-focused change does not increase computation or synchronization enough to offset its benefit. Counter changes are evidence about mechanisms, not a replacement for the application’s completion metric.</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55.5 Reducing allocations</a:t>
            </a:r>
          </a:p>
          <a:p/>
          <a:p>
            <a:r>
              <a:t>LECTURE NARRATION</a:t>
            </a:r>
          </a:p>
          <a:p>
            <a:r>
              <a:t>Repeated small allocations can add allocator work, fragmentation, and cache misses. Reserving known capacity, using stack storage for bounded small objects, or allocating from a scoped arena can reduce those costs. Each technique changes lifetime or memory-use tradeoffs. Reserving too much wastes capacity; stack storage has size limits; arenas often reclaim everything together. Choose a mechanism whose ownership model matches the data’s actual lifetime.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repeated small allocations can add allocator work, fragmentation, and cache misses.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55.5 Reducing allocations — Deep Dive</a:t>
            </a:r>
          </a:p>
          <a:p/>
          <a:p>
            <a:r>
              <a:t>LECTURE NARRATION</a:t>
            </a:r>
          </a:p>
          <a:p>
            <a:r>
              <a:t>Repeated small allocations can add allocator work, fragmentation, and cache misses. Reserving known capacity, using stack storage for bounded small objects, or allocating from a scoped arena can reduce those costs. Each technique changes lifetime or memory-use tradeoffs. Reserving too much wastes capacity; stack storage has size limits; arenas often reclaim everything together. Choose a mechanism whose ownership model matches the data’s actual lifetime.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repeated small allocations can add allocator work, fragmentation, and cache misses.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55.6 Batching</a:t>
            </a:r>
          </a:p>
          <a:p/>
          <a:p>
            <a:r>
              <a:t>LECTURE NARRATION</a:t>
            </a:r>
          </a:p>
          <a:p>
            <a:r>
              <a:t>Batching amortizes setup, synchronization, and I/O overhead across several items. A batch can also expose vectorization or parallel work. It is especially useful when one operation has a large fixed cost relative to each item’s incremental cost. Batch size is a tuning parameter constrained by latency and memory. A service that waits indefinitely to fill a batch can harm low-volume clients. Use a maximum size and a maximum waiting policy when responsiveness matters.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batching amortizes setup, synchronization, and I/O overhead across several items.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55.6 Batching — Deep Dive</a:t>
            </a:r>
          </a:p>
          <a:p/>
          <a:p>
            <a:r>
              <a:t>LECTURE NARRATION</a:t>
            </a:r>
          </a:p>
          <a:p>
            <a:r>
              <a:t>Batching amortizes setup, synchronization, and I/O overhead across several items. A batch can also expose vectorization or parallel work. It is especially useful when one operation has a large fixed cost relative to each item’s incremental cost. Batch size is a tuning parameter constrained by latency and memory. A service that waits indefinitely to fill a batch can harm low-volume clients. Use a maximum size and a maximum waiting policy when responsiveness matters.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batching amortizes setup, synchronization, and I/O overhead across several items.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55.7 Data-layout optimization</a:t>
            </a:r>
          </a:p>
          <a:p/>
          <a:p>
            <a:r>
              <a:t>LECTURE NARRATION</a:t>
            </a:r>
          </a:p>
          <a:p>
            <a:r>
              <a:t>Layout determines which fields share cache lines and how many pointers or bytes are traversed. If a hot loop reads only one eight-byte field from a 32-byte record, a separate field array can reduce the relevant data footprint from 256 KiB to 64 KiB for 8192 records in the stated layout model. That arithmetic is not a guaranteed fourfold speedup. The original layout may already be cached, other fields may be needed soon, or reconstruction costs may dominate. A layout serves operations; evaluate the complete access pattern before splitting every structure into separate arrays.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55.7 Data-layout optimization — Deep Dive</a:t>
            </a:r>
          </a:p>
          <a:p/>
          <a:p>
            <a:r>
              <a:t>LECTURE NARRATION</a:t>
            </a:r>
          </a:p>
          <a:p>
            <a:r>
              <a:t>Layout determines which fields share cache lines and how many pointers or bytes are traversed. If a hot loop reads only one eight-byte field from a 32-byte record, a separate field array can reduce the relevant data footprint from 256 KiB to 64 KiB for 8192 records in the stated layout model. That arithmetic is not a guaranteed fourfold speedup. The original layout may already be cached, other fields may be needed soon, or reconstruction costs may dominate. A layout serves operations; evaluate the complete access pattern before splitting every structure into separate arrays.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55.8 Branch behavior</a:t>
            </a:r>
          </a:p>
          <a:p/>
          <a:p>
            <a:r>
              <a:t>LECTURE NARRATION</a:t>
            </a:r>
          </a:p>
          <a:p>
            <a:r>
              <a:t>Branches can be inexpensive when predictable and costly when they disrupt useful execution. Replacing a branch with arithmetic or a conditional move can help some distributions and hurt others by forcing work on both paths or creating dependencies. Benchmark representative input distributions. A test with always-true conditions does not predict behavior for irregular production data. Compiler-generated branchless code must still obey access validity; evaluating both candidate memory accesses can be unsafe when one address is invalid.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branches can be inexpensive when predictable and costly when they disrupt useful execution.</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55.8 Branch behavior — Deep Dive</a:t>
            </a:r>
          </a:p>
          <a:p/>
          <a:p>
            <a:r>
              <a:t>LECTURE NARRATION</a:t>
            </a:r>
          </a:p>
          <a:p>
            <a:r>
              <a:t>Branches can be inexpensive when predictable and costly when they disrupt useful execution. Replacing a branch with arithmetic or a conditional move can help some distributions and hurt others by forcing work on both paths or creating dependencies. Benchmark representative input distributions. A test with always-true conditions does not predict behavior for irregular production data. Compiler-generated branchless code must still obey access validity; evaluating both candidate memory accesses can be unsafe when one address is invalid.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branches can be inexpensive when predictable and costly when they disrupt useful execution.</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Prefix sums replace repeated scans</a:t>
            </a:r>
          </a:p>
          <a:p/>
          <a:p>
            <a:r>
              <a:t>LECTURE NARRATION</a:t>
            </a:r>
          </a:p>
          <a:p>
            <a:r>
              <a:t>Suppose a fixed array must answer many sum queries over half-open ranges [begin, end) . A direct scan costs work proportional to each range length. A prefix array stores prefix[k] = sum of elements before k , allowing a query to return prefix[end] - prefix[begin] after validation. For nonnegative bounded values whose total fits uint64_t , prefix construction is linear and each query is constant-time. Signed or floating-point data require additional numeric analysis: overflow and subtraction behavior must match the intended specification. Companion listing: ch55/range_sums.cpp The three query results are 45, 45, and 4500, for a combined 4590. The optimization changes repeated work from scanning every queried element to one preprocessing pass plus constant work per query. It uses extra memory and becomes less attractive when updates invalidate the prefix array frequently.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fixed array must answer many sum queries over half-open ranges [begin, end) .</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Prefix sums replace repeated scans — Deep Dive</a:t>
            </a:r>
          </a:p>
          <a:p/>
          <a:p>
            <a:r>
              <a:t>LECTURE NARRATION</a:t>
            </a:r>
          </a:p>
          <a:p>
            <a:r>
              <a:t>Suppose a fixed array must answer many sum queries over half-open ranges [begin, end) . A direct scan costs work proportional to each range length. A prefix array stores prefix[k] = sum of elements before k , allowing a query to return prefix[end] - prefix[begin] after validation. For nonnegative bounded values whose total fits uint64_t , prefix construction is linear and each query is constant-time. Signed or floating-point data require additional numeric analysis: overflow and subtraction behavior must match the intended specification. Companion listing: ch55/range_sums.cpp The three query results are 45, 45, and 4500, for a combined 4590. The optimization changes repeated work from scanning every queried element to one preprocessing pass plus constant work per query. It uses extra memory and becomes less attractive when updates invalidate the prefix array frequently.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fixed array must answer many sum queries over half-open ranges [begin, end) .</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Reducing algorithmic work</a:t>
            </a:r>
          </a:p>
          <a:p/>
          <a:p>
            <a:r>
              <a:t>LECTURE NARRATION</a:t>
            </a:r>
          </a:p>
          <a:p>
            <a:r>
              <a:t>Searching 1,000 queries by rescanning a 1,000,000-element array performs on the order of a billion comparisons. Building an index once can reduce each later lookup dramatically. Changing the algorithm often dominates instruction-level tuning because it removes whole classes of work rather than making each iteration slightly cheaper.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searching 1,000 queries by rescanning a 1,000,000-element array performs on the order of a billion comparisons.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Reducing algorithmic work — Deep Dive</a:t>
            </a:r>
          </a:p>
          <a:p/>
          <a:p>
            <a:r>
              <a:t>LECTURE NARRATION</a:t>
            </a:r>
          </a:p>
          <a:p>
            <a:r>
              <a:t>Searching 1,000 queries by rescanning a 1,000,000-element array performs on the order of a billion comparisons. Building an index once can reduce each later lookup dramatically. Changing the algorithm often dominates instruction-level tuning because it removes whole classes of work rather than making each iteration slightly cheaper.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searching 1,000 queries by rescanning a 1,000,000-element array performs on the order of a billion comparisons.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Structure-of-arrays example</a:t>
            </a:r>
          </a:p>
          <a:p/>
          <a:p>
            <a:r>
              <a:t>LECTURE NARRATION</a:t>
            </a:r>
          </a:p>
          <a:p>
            <a:r>
              <a:t>If a loop processes only x coordinates from records containing x,y,z,color,metadata , an array-of-structures layout fetches unused neighboring fields into cache lines. Separating frequently processed x values into their own dense array can increase useful bytes per cache line, at the cost of more complex organization for operations that need complete records.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a loop processes only x coordinates from records containing x,y,z,color,metadata , an array-of-structures layout fetches unused neighboring fields into cache lines.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Structure-of-arrays example — Deep Dive</a:t>
            </a:r>
          </a:p>
          <a:p/>
          <a:p>
            <a:r>
              <a:t>LECTURE NARRATION</a:t>
            </a:r>
          </a:p>
          <a:p>
            <a:r>
              <a:t>If a loop processes only x coordinates from records containing x,y,z,color,metadata , an array-of-structures layout fetches unused neighboring fields into cache lines. Separating frequently processed x values into their own dense array can increase useful bytes per cache line, at the cost of more complex organization for operations that need complete records.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a loop processes only x coordinates from records containing x,y,z,color,metadata , an array-of-structures layout fetches unused neighboring fields into cache lines.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Guided lab and review</a:t>
            </a:r>
          </a:p>
          <a:p/>
          <a:p>
            <a:r>
              <a:t>LECTURE NARRATION</a:t>
            </a:r>
          </a:p>
          <a:p>
            <a:r>
              <a:t>Lab 55. Add empty ranges, the final one-element range, and invalid reversed or oversized ranges. Compare total work for one full-array query versus 10,000 full-array queries, including prefix construction. Do not claim a timing speedup from operation counts alone. Review 1. Why include preprocessing in the workload model? Review 2. Why can a branchless transformation be slower or less safe?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55.</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Guided lab and review — Deep Dive</a:t>
            </a:r>
          </a:p>
          <a:p/>
          <a:p>
            <a:r>
              <a:t>LECTURE NARRATION</a:t>
            </a:r>
          </a:p>
          <a:p>
            <a:r>
              <a:t>Lab 55. Add empty ranges, the final one-element range, and invalid reversed or oversized ranges. Compare total work for one full-array query versus 10,000 full-array queries, including prefix construction. Do not claim a timing speedup from operation counts alone. Review 1. Why include preprocessing in the workload model? Review 2. Why can a branchless transformation be slower or less safe?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55.</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Chapter Synthesis</a:t>
            </a:r>
          </a:p>
          <a:p/>
          <a:p>
            <a:r>
              <a:t>LECTURE NARRATION</a:t>
            </a:r>
          </a:p>
          <a:p>
            <a:r>
              <a:t>The chapter's central subject is program optimization.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program optimization.</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Performance Analysis.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55 — Program Optimization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Optimization changes an implementation while preserving its required behavior.</a:t>
            </a:r>
          </a:p>
          <a:p>
            <a:pPr>
              <a:spcAft>
                <a:spcPts val="1100"/>
              </a:spcAft>
              <a:defRPr sz="1900">
                <a:solidFill>
                  <a:srgbClr val="F2F5F8"/>
                </a:solidFill>
              </a:defRPr>
            </a:pPr>
            <a:r>
              <a:t>• The largest improvements often come from doing less work, moving fewer bytes, or avoiding repeated setup.</a:t>
            </a:r>
          </a:p>
          <a:p>
            <a:pPr>
              <a:spcAft>
                <a:spcPts val="1100"/>
              </a:spcAft>
              <a:defRPr sz="1700">
                <a:solidFill>
                  <a:srgbClr val="F2F5F8"/>
                </a:solidFill>
              </a:defRPr>
            </a:pPr>
            <a:r>
              <a:t>• Low-level instruction tuning is valuable only when the relevant instructions materially contribute to the measured bottleneck.</a:t>
            </a:r>
          </a:p>
          <a:p>
            <a:pPr>
              <a:spcAft>
                <a:spcPts val="1100"/>
              </a:spcAft>
              <a:defRPr sz="1900">
                <a:solidFill>
                  <a:srgbClr val="F2F5F8"/>
                </a:solidFill>
              </a:defRPr>
            </a:pPr>
            <a:r>
              <a:t>• Use a sequence of verified changes.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Program Optimization.</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55.1 Algorithmic optimization</a:t>
            </a:r>
          </a:p>
          <a:p>
            <a:pPr>
              <a:spcAft>
                <a:spcPts val="1100"/>
              </a:spcAft>
              <a:defRPr sz="1900">
                <a:solidFill>
                  <a:srgbClr val="F2F5F8"/>
                </a:solidFill>
              </a:defRPr>
            </a:pPr>
            <a:r>
              <a:t>• 55.2 Compiler optimization</a:t>
            </a:r>
          </a:p>
          <a:p>
            <a:pPr>
              <a:spcAft>
                <a:spcPts val="1100"/>
              </a:spcAft>
              <a:defRPr sz="1900">
                <a:solidFill>
                  <a:srgbClr val="F2F5F8"/>
                </a:solidFill>
              </a:defRPr>
            </a:pPr>
            <a:r>
              <a:t>• 55.3 Memory optimization</a:t>
            </a:r>
          </a:p>
          <a:p>
            <a:pPr>
              <a:spcAft>
                <a:spcPts val="1100"/>
              </a:spcAft>
              <a:defRPr sz="1900">
                <a:solidFill>
                  <a:srgbClr val="F2F5F8"/>
                </a:solidFill>
              </a:defRPr>
            </a:pPr>
            <a:r>
              <a:t>• 55.4 Cache optimization</a:t>
            </a:r>
          </a:p>
          <a:p>
            <a:pPr>
              <a:spcAft>
                <a:spcPts val="1100"/>
              </a:spcAft>
              <a:defRPr sz="1900">
                <a:solidFill>
                  <a:srgbClr val="F2F5F8"/>
                </a:solidFill>
              </a:defRPr>
            </a:pPr>
            <a:r>
              <a:t>• ...plus 8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55.1 Algorithmic optimization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Algorithmic optimization changes the amount or organization of required work.</a:t>
            </a:r>
          </a:p>
          <a:p>
            <a:pPr>
              <a:spcAft>
                <a:spcPts val="1100"/>
              </a:spcAft>
              <a:defRPr sz="1700">
                <a:solidFill>
                  <a:srgbClr val="F2F5F8"/>
                </a:solidFill>
              </a:defRPr>
            </a:pPr>
            <a:r>
              <a:t>• Replacing repeated scans with an index, using a better asymptotic algorithm, or precomputing reusable summaries can dominate instruction-level changes.</a:t>
            </a:r>
          </a:p>
          <a:p>
            <a:pPr>
              <a:spcAft>
                <a:spcPts val="1100"/>
              </a:spcAft>
              <a:defRPr sz="1900">
                <a:solidFill>
                  <a:srgbClr val="F2F5F8"/>
                </a:solidFill>
              </a:defRPr>
            </a:pPr>
            <a:r>
              <a:t>• Account for construction and update costs.</a:t>
            </a:r>
          </a:p>
          <a:p>
            <a:pPr>
              <a:spcAft>
                <a:spcPts val="1100"/>
              </a:spcAft>
              <a:defRPr sz="1700">
                <a:solidFill>
                  <a:srgbClr val="F2F5F8"/>
                </a:solidFill>
              </a:defRPr>
            </a:pPr>
            <a:r>
              <a:t>• An index that makes queries fast may be inappropriate when the dataset changes constantly and only one query is performed.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55.1 Algorithmic optimization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Account for construction and update costs.</a:t>
            </a:r>
          </a:p>
          <a:p>
            <a:pPr>
              <a:spcAft>
                <a:spcPts val="1100"/>
              </a:spcAft>
              <a:defRPr sz="1700">
                <a:solidFill>
                  <a:srgbClr val="F2F5F8"/>
                </a:solidFill>
              </a:defRPr>
            </a:pPr>
            <a:r>
              <a:t>• An index that makes queries fast may be inappropriate when the dataset changes constantly and only one query is performed.</a:t>
            </a:r>
          </a:p>
          <a:p>
            <a:pPr>
              <a:spcAft>
                <a:spcPts val="1100"/>
              </a:spcAft>
              <a:defRPr sz="1900">
                <a:solidFill>
                  <a:srgbClr val="F2F5F8"/>
                </a:solidFill>
              </a:defRPr>
            </a:pPr>
            <a:r>
              <a:t>• Optimize the complete workload, including the frequency of preprocessing and maintenance.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55.2 Compiler optimization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Compiler options enable transformations such as inlining, vectorization, and dead-code elimination.</a:t>
            </a:r>
          </a:p>
          <a:p>
            <a:pPr>
              <a:spcAft>
                <a:spcPts val="1100"/>
              </a:spcAft>
              <a:defRPr sz="1900">
                <a:solidFill>
                  <a:srgbClr val="F2F5F8"/>
                </a:solidFill>
              </a:defRPr>
            </a:pPr>
            <a:r>
              <a:t>• The compiler relies on language rules, available definitions, aliasing information, and target architecture.</a:t>
            </a:r>
          </a:p>
          <a:p>
            <a:pPr>
              <a:spcAft>
                <a:spcPts val="1100"/>
              </a:spcAft>
              <a:defRPr sz="1900">
                <a:solidFill>
                  <a:srgbClr val="F2F5F8"/>
                </a:solidFill>
              </a:defRPr>
            </a:pPr>
            <a:r>
              <a:t>• More aggressive flags can change assumptions or numerical behavior.</a:t>
            </a:r>
          </a:p>
          <a:p>
            <a:pPr>
              <a:spcAft>
                <a:spcPts val="1100"/>
              </a:spcAft>
              <a:defRPr sz="1700">
                <a:solidFill>
                  <a:srgbClr val="F2F5F8"/>
                </a:solidFill>
              </a:defRPr>
            </a:pPr>
            <a:r>
              <a:t>• Distinguish ordinary optimization levels from options that relax floating-point semantics or target instructions unavailable on another machine.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55.2 Compiler optimization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More aggressive flags can change assumptions or numerical behavior.</a:t>
            </a:r>
          </a:p>
          <a:p>
            <a:pPr>
              <a:spcAft>
                <a:spcPts val="1100"/>
              </a:spcAft>
              <a:defRPr sz="1700">
                <a:solidFill>
                  <a:srgbClr val="F2F5F8"/>
                </a:solidFill>
              </a:defRPr>
            </a:pPr>
            <a:r>
              <a:t>• Distinguish ordinary optimization levels from options that relax floating-point semantics or target instructions unavailable on another machine.</a:t>
            </a:r>
          </a:p>
          <a:p>
            <a:pPr>
              <a:spcAft>
                <a:spcPts val="1100"/>
              </a:spcAft>
              <a:defRPr sz="1900">
                <a:solidFill>
                  <a:srgbClr val="F2F5F8"/>
                </a:solidFill>
              </a:defRPr>
            </a:pPr>
            <a:r>
              <a:t>• Record the exact build configuration with results instead of describing it only as a “release build.”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55.3 Memory optimization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Memory optimization reduces allocation overhead, footprint, copying, and unnecessary lifetime extension.</a:t>
            </a:r>
          </a:p>
          <a:p>
            <a:pPr>
              <a:spcAft>
                <a:spcPts val="1100"/>
              </a:spcAft>
              <a:defRPr sz="1900">
                <a:solidFill>
                  <a:srgbClr val="F2F5F8"/>
                </a:solidFill>
              </a:defRPr>
            </a:pPr>
            <a:r>
              <a:t>• Reusing buffers can help when ownership is clear and retained capacity remains bounded.</a:t>
            </a:r>
          </a:p>
          <a:p>
            <a:pPr>
              <a:spcAft>
                <a:spcPts val="1100"/>
              </a:spcAft>
              <a:defRPr sz="1900">
                <a:solidFill>
                  <a:srgbClr val="F2F5F8"/>
                </a:solidFill>
              </a:defRPr>
            </a:pPr>
            <a:r>
              <a:t>• Do not trade a modest allocation reduction for dangling references or uncontrolled memory retention.</a:t>
            </a:r>
          </a:p>
          <a:p>
            <a:pPr>
              <a:spcAft>
                <a:spcPts val="1100"/>
              </a:spcAft>
              <a:defRPr sz="1900">
                <a:solidFill>
                  <a:srgbClr val="F2F5F8"/>
                </a:solidFill>
              </a:defRPr>
            </a:pPr>
            <a:r>
              <a:t>• A cache of reusable objects needs an eviction and size policy.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55.3 Memory optimization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trade a modest allocation reduction for dangling references or uncontrolled memory retention.</a:t>
            </a:r>
          </a:p>
          <a:p>
            <a:pPr>
              <a:spcAft>
                <a:spcPts val="1100"/>
              </a:spcAft>
              <a:defRPr sz="1900">
                <a:solidFill>
                  <a:srgbClr val="F2F5F8"/>
                </a:solidFill>
              </a:defRPr>
            </a:pPr>
            <a:r>
              <a:t>• A cache of reusable objects needs an eviction and size policy.</a:t>
            </a:r>
          </a:p>
          <a:p>
            <a:pPr>
              <a:spcAft>
                <a:spcPts val="1100"/>
              </a:spcAft>
              <a:defRPr sz="1900">
                <a:solidFill>
                  <a:srgbClr val="F2F5F8"/>
                </a:solidFill>
              </a:defRPr>
            </a:pPr>
            <a:r>
              <a:t>• Peak memory includes temporarily duplicated data during transformations, not merely the final representation.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55.4 Cache optimization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Cache optimization improves useful reuse and reduces transferred irrelevant bytes.</a:t>
            </a:r>
          </a:p>
          <a:p>
            <a:pPr>
              <a:spcAft>
                <a:spcPts val="1100"/>
              </a:spcAft>
              <a:defRPr sz="1900">
                <a:solidFill>
                  <a:srgbClr val="F2F5F8"/>
                </a:solidFill>
              </a:defRPr>
            </a:pPr>
            <a:r>
              <a:t>• Blocking, compact indexes, and traversal changes can help.</a:t>
            </a:r>
          </a:p>
          <a:p>
            <a:pPr>
              <a:spcAft>
                <a:spcPts val="1100"/>
              </a:spcAft>
              <a:defRPr sz="1900">
                <a:solidFill>
                  <a:srgbClr val="F2F5F8"/>
                </a:solidFill>
              </a:defRPr>
            </a:pPr>
            <a:r>
              <a:t>• The working set includes all simultaneously active data, not just the main input array.</a:t>
            </a:r>
          </a:p>
          <a:p>
            <a:pPr>
              <a:spcAft>
                <a:spcPts val="1100"/>
              </a:spcAft>
              <a:defRPr sz="1700">
                <a:solidFill>
                  <a:srgbClr val="F2F5F8"/>
                </a:solidFill>
              </a:defRPr>
            </a:pPr>
            <a:r>
              <a:t>• Measure the effect on total runtime and verify that a cache-focused change does not increase computation or synchronization enough to offset its benefit.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55.4 Cache optimization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Measure the effect on total runtime and verify that a cache-focused change does not increase computation or synchronization enough to offset its benefit.</a:t>
            </a:r>
          </a:p>
          <a:p>
            <a:pPr>
              <a:spcAft>
                <a:spcPts val="1100"/>
              </a:spcAft>
              <a:defRPr sz="1900">
                <a:solidFill>
                  <a:srgbClr val="F2F5F8"/>
                </a:solidFill>
              </a:defRPr>
            </a:pPr>
            <a:r>
              <a:t>• Counter changes are evidence about mechanisms, not a replacement for the application’s completion metric.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55.5 Reducing allocations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Repeated small allocations can add allocator work, fragmentation, and cache misses.</a:t>
            </a:r>
          </a:p>
          <a:p>
            <a:pPr>
              <a:spcAft>
                <a:spcPts val="1100"/>
              </a:spcAft>
              <a:defRPr sz="1700">
                <a:solidFill>
                  <a:srgbClr val="F2F5F8"/>
                </a:solidFill>
              </a:defRPr>
            </a:pPr>
            <a:r>
              <a:t>• Reserving known capacity, using stack storage for bounded small objects, or allocating from a scoped arena can reduce those costs.</a:t>
            </a:r>
          </a:p>
          <a:p>
            <a:pPr>
              <a:spcAft>
                <a:spcPts val="1100"/>
              </a:spcAft>
              <a:defRPr sz="1900">
                <a:solidFill>
                  <a:srgbClr val="F2F5F8"/>
                </a:solidFill>
              </a:defRPr>
            </a:pPr>
            <a:r>
              <a:t>• Each technique changes lifetime or memory-use tradeoffs.</a:t>
            </a:r>
          </a:p>
          <a:p>
            <a:pPr>
              <a:spcAft>
                <a:spcPts val="1100"/>
              </a:spcAft>
              <a:defRPr sz="1900">
                <a:solidFill>
                  <a:srgbClr val="F2F5F8"/>
                </a:solidFill>
              </a:defRPr>
            </a:pPr>
            <a:r>
              <a:t>• Reserving too much wastes capacity; stack storage has size limits; arenas often reclaim everything together.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55.5 Reducing allocations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Each technique changes lifetime or memory-use tradeoffs.</a:t>
            </a:r>
          </a:p>
          <a:p>
            <a:pPr>
              <a:spcAft>
                <a:spcPts val="1100"/>
              </a:spcAft>
              <a:defRPr sz="1900">
                <a:solidFill>
                  <a:srgbClr val="F2F5F8"/>
                </a:solidFill>
              </a:defRPr>
            </a:pPr>
            <a:r>
              <a:t>• Reserving too much wastes capacity; stack storage has size limits; arenas often reclaim everything together.</a:t>
            </a:r>
          </a:p>
          <a:p>
            <a:pPr>
              <a:spcAft>
                <a:spcPts val="1100"/>
              </a:spcAft>
              <a:defRPr sz="1900">
                <a:solidFill>
                  <a:srgbClr val="F2F5F8"/>
                </a:solidFill>
              </a:defRPr>
            </a:pPr>
            <a:r>
              <a:t>• Choose a mechanism whose ownership model matches the data’s actual lifetime.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55.6 Batching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Batching amortizes setup, synchronization, and I/O overhead across several items.</a:t>
            </a:r>
          </a:p>
          <a:p>
            <a:pPr>
              <a:spcAft>
                <a:spcPts val="1100"/>
              </a:spcAft>
              <a:defRPr sz="1900">
                <a:solidFill>
                  <a:srgbClr val="F2F5F8"/>
                </a:solidFill>
              </a:defRPr>
            </a:pPr>
            <a:r>
              <a:t>• A batch can also expose vectorization or parallel work.</a:t>
            </a:r>
          </a:p>
          <a:p>
            <a:pPr>
              <a:spcAft>
                <a:spcPts val="1100"/>
              </a:spcAft>
              <a:defRPr sz="1900">
                <a:solidFill>
                  <a:srgbClr val="F2F5F8"/>
                </a:solidFill>
              </a:defRPr>
            </a:pPr>
            <a:r>
              <a:t>• It is especially useful when one operation has a large fixed cost relative to each item’s incremental cost.</a:t>
            </a:r>
          </a:p>
          <a:p>
            <a:pPr>
              <a:spcAft>
                <a:spcPts val="1100"/>
              </a:spcAft>
              <a:defRPr sz="1900">
                <a:solidFill>
                  <a:srgbClr val="F2F5F8"/>
                </a:solidFill>
              </a:defRPr>
            </a:pPr>
            <a:r>
              <a:t>• Batch size is a tuning parameter constrained by latency and memory.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55.6 Batching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Batch size is a tuning parameter constrained by latency and memory.</a:t>
            </a:r>
          </a:p>
          <a:p>
            <a:pPr>
              <a:spcAft>
                <a:spcPts val="1100"/>
              </a:spcAft>
              <a:defRPr sz="1900">
                <a:solidFill>
                  <a:srgbClr val="F2F5F8"/>
                </a:solidFill>
              </a:defRPr>
            </a:pPr>
            <a:r>
              <a:t>• A service that waits indefinitely to fill a batch can harm low-volume clients.</a:t>
            </a:r>
          </a:p>
          <a:p>
            <a:pPr>
              <a:spcAft>
                <a:spcPts val="1100"/>
              </a:spcAft>
              <a:defRPr sz="1900">
                <a:solidFill>
                  <a:srgbClr val="F2F5F8"/>
                </a:solidFill>
              </a:defRPr>
            </a:pPr>
            <a:r>
              <a:t>• Use a maximum size and a maximum waiting policy when responsiveness matters.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55.7 Data-layout optimization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Layout determines which fields share cache lines and how many pointers or bytes are traversed.</a:t>
            </a:r>
          </a:p>
          <a:p>
            <a:pPr>
              <a:spcAft>
                <a:spcPts val="1100"/>
              </a:spcAft>
              <a:defRPr sz="1700">
                <a:solidFill>
                  <a:srgbClr val="F2F5F8"/>
                </a:solidFill>
              </a:defRPr>
            </a:pPr>
            <a:r>
              <a:t>• If a hot loop reads only one eight-byte field from a 32-byte record, a separate field array can reduce the relevant data footprint from 256 KiB to 64 KiB for 8192 records in...</a:t>
            </a:r>
          </a:p>
          <a:p>
            <a:pPr>
              <a:spcAft>
                <a:spcPts val="1100"/>
              </a:spcAft>
              <a:defRPr sz="1900">
                <a:solidFill>
                  <a:srgbClr val="F2F5F8"/>
                </a:solidFill>
              </a:defRPr>
            </a:pPr>
            <a:r>
              <a:t>• That arithmetic is not a guaranteed fourfold speedup.</a:t>
            </a:r>
          </a:p>
          <a:p>
            <a:pPr>
              <a:spcAft>
                <a:spcPts val="1100"/>
              </a:spcAft>
              <a:defRPr sz="1900">
                <a:solidFill>
                  <a:srgbClr val="F2F5F8"/>
                </a:solidFill>
              </a:defRPr>
            </a:pPr>
            <a:r>
              <a:t>• The original layout may already be cached, other fields may be needed soon, or reconstruction costs may dominate.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55.7 Data-layout optimization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That arithmetic is not a guaranteed fourfold speedup.</a:t>
            </a:r>
          </a:p>
          <a:p>
            <a:pPr>
              <a:spcAft>
                <a:spcPts val="1100"/>
              </a:spcAft>
              <a:defRPr sz="1900">
                <a:solidFill>
                  <a:srgbClr val="F2F5F8"/>
                </a:solidFill>
              </a:defRPr>
            </a:pPr>
            <a:r>
              <a:t>• The original layout may already be cached, other fields may be needed soon, or reconstruction costs may dominate.</a:t>
            </a:r>
          </a:p>
          <a:p>
            <a:pPr>
              <a:spcAft>
                <a:spcPts val="1100"/>
              </a:spcAft>
              <a:defRPr sz="1900">
                <a:solidFill>
                  <a:srgbClr val="F2F5F8"/>
                </a:solidFill>
              </a:defRPr>
            </a:pPr>
            <a:r>
              <a:t>• A layout serves operations; evaluate the complete access pattern before splitting every structure into separate arrays.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55.8 Branch behavior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Branches can be inexpensive when predictable and costly when they disrupt useful execution.</a:t>
            </a:r>
          </a:p>
          <a:p>
            <a:pPr>
              <a:spcAft>
                <a:spcPts val="1100"/>
              </a:spcAft>
              <a:defRPr sz="1700">
                <a:solidFill>
                  <a:srgbClr val="F2F5F8"/>
                </a:solidFill>
              </a:defRPr>
            </a:pPr>
            <a:r>
              <a:t>• Replacing a branch with arithmetic or a conditional move can help some distributions and hurt others by forcing work on both paths or creating dependencies.</a:t>
            </a:r>
          </a:p>
          <a:p>
            <a:pPr>
              <a:spcAft>
                <a:spcPts val="1100"/>
              </a:spcAft>
              <a:defRPr sz="1900">
                <a:solidFill>
                  <a:srgbClr val="F2F5F8"/>
                </a:solidFill>
              </a:defRPr>
            </a:pPr>
            <a:r>
              <a:t>• Benchmark representative input distributions.</a:t>
            </a:r>
          </a:p>
          <a:p>
            <a:pPr>
              <a:spcAft>
                <a:spcPts val="1100"/>
              </a:spcAft>
              <a:defRPr sz="1900">
                <a:solidFill>
                  <a:srgbClr val="F2F5F8"/>
                </a:solidFill>
              </a:defRPr>
            </a:pPr>
            <a:r>
              <a:t>• A test with always-true conditions does not predict behavior for irregular production data.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55.8 Branch behavior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Benchmark representative input distributions.</a:t>
            </a:r>
          </a:p>
          <a:p>
            <a:pPr>
              <a:spcAft>
                <a:spcPts val="1100"/>
              </a:spcAft>
              <a:defRPr sz="1900">
                <a:solidFill>
                  <a:srgbClr val="F2F5F8"/>
                </a:solidFill>
              </a:defRPr>
            </a:pPr>
            <a:r>
              <a:t>• A test with always-true conditions does not predict behavior for irregular production data.</a:t>
            </a:r>
          </a:p>
          <a:p>
            <a:pPr>
              <a:spcAft>
                <a:spcPts val="1100"/>
              </a:spcAft>
              <a:defRPr sz="1700">
                <a:solidFill>
                  <a:srgbClr val="F2F5F8"/>
                </a:solidFill>
              </a:defRPr>
            </a:pPr>
            <a:r>
              <a:t>• Compiler-generated branchless code must still obey access validity; evaluating both candidate memory accesses can be unsafe when one address is invalid.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Prefix sums replace repeated scans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a fixed array must answer many sum queries over half-open ranges [begin, end) .</a:t>
            </a:r>
          </a:p>
          <a:p>
            <a:pPr>
              <a:spcAft>
                <a:spcPts val="1100"/>
              </a:spcAft>
              <a:defRPr sz="1900">
                <a:solidFill>
                  <a:srgbClr val="F2F5F8"/>
                </a:solidFill>
              </a:defRPr>
            </a:pPr>
            <a:r>
              <a:t>• A direct scan costs work proportional to each range length.</a:t>
            </a:r>
          </a:p>
          <a:p>
            <a:pPr>
              <a:spcAft>
                <a:spcPts val="1100"/>
              </a:spcAft>
              <a:defRPr sz="1700">
                <a:solidFill>
                  <a:srgbClr val="F2F5F8"/>
                </a:solidFill>
              </a:defRPr>
            </a:pPr>
            <a:r>
              <a:t>• A prefix array stores prefix[k] = sum of elements before k , allowing a query to return prefix[end] - prefix[begin] after validation.</a:t>
            </a:r>
          </a:p>
          <a:p>
            <a:pPr>
              <a:spcAft>
                <a:spcPts val="1100"/>
              </a:spcAft>
              <a:defRPr sz="1700">
                <a:solidFill>
                  <a:srgbClr val="F2F5F8"/>
                </a:solidFill>
              </a:defRPr>
            </a:pPr>
            <a:r>
              <a:t>• For nonnegative bounded values whose total fits uint64_t , prefix construction is linear and each query is constant-time.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Prefix sums replace repeated scans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nonnegative bounded values whose total fits uint64_t , prefix construction is linear and each query is constant-time.</a:t>
            </a:r>
          </a:p>
          <a:p>
            <a:pPr>
              <a:spcAft>
                <a:spcPts val="1100"/>
              </a:spcAft>
              <a:defRPr sz="1700">
                <a:solidFill>
                  <a:srgbClr val="F2F5F8"/>
                </a:solidFill>
              </a:defRPr>
            </a:pPr>
            <a:r>
              <a:t>• Signed or floating-point data require additional numeric analysis: overflow and subtraction behavior must match the intended specification.</a:t>
            </a:r>
          </a:p>
          <a:p>
            <a:pPr>
              <a:spcAft>
                <a:spcPts val="1100"/>
              </a:spcAft>
              <a:defRPr sz="1900">
                <a:solidFill>
                  <a:srgbClr val="F2F5F8"/>
                </a:solidFill>
              </a:defRPr>
            </a:pPr>
            <a:r>
              <a:t>• Companion listing: ch55/range_sums.cpp</a:t>
            </a:r>
          </a:p>
          <a:p>
            <a:pPr>
              <a:spcAft>
                <a:spcPts val="1100"/>
              </a:spcAft>
              <a:defRPr sz="1900">
                <a:solidFill>
                  <a:srgbClr val="F2F5F8"/>
                </a:solidFill>
              </a:defRPr>
            </a:pPr>
            <a:r>
              <a:t>• The three query results are 45, 45, and 4500, for a combined 4590.</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Reducing algorithmic work</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Searching 1,000 queries by rescanning a 1,000,000-element array performs on the order of a billion comparisons.</a:t>
            </a:r>
          </a:p>
          <a:p>
            <a:pPr>
              <a:spcAft>
                <a:spcPts val="1100"/>
              </a:spcAft>
              <a:defRPr sz="1900">
                <a:solidFill>
                  <a:srgbClr val="F2F5F8"/>
                </a:solidFill>
              </a:defRPr>
            </a:pPr>
            <a:r>
              <a:t>• Building an index once can reduce each later lookup dramatically.</a:t>
            </a:r>
          </a:p>
          <a:p>
            <a:pPr>
              <a:spcAft>
                <a:spcPts val="1100"/>
              </a:spcAft>
              <a:defRPr sz="1700">
                <a:solidFill>
                  <a:srgbClr val="F2F5F8"/>
                </a:solidFill>
              </a:defRPr>
            </a:pPr>
            <a:r>
              <a:t>• Changing the algorithm often dominates instruction-level tuning because it removes whole classes of work rather than making each iteration slightly cheaper.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Reducing algorithmic work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Searching 1,000 queries by rescanning a 1,000,000-element array performs on the order of a billion comparisons.</a:t>
            </a:r>
          </a:p>
          <a:p>
            <a:pPr>
              <a:spcAft>
                <a:spcPts val="1100"/>
              </a:spcAft>
              <a:defRPr sz="1900">
                <a:solidFill>
                  <a:srgbClr val="F2F5F8"/>
                </a:solidFill>
              </a:defRPr>
            </a:pPr>
            <a:r>
              <a:t>• Building an index once can reduce each later lookup dramatically.</a:t>
            </a:r>
          </a:p>
          <a:p>
            <a:pPr>
              <a:spcAft>
                <a:spcPts val="1100"/>
              </a:spcAft>
              <a:defRPr sz="1700">
                <a:solidFill>
                  <a:srgbClr val="F2F5F8"/>
                </a:solidFill>
              </a:defRPr>
            </a:pPr>
            <a:r>
              <a:t>• Changing the algorithm often dominates instruction-level tuning because it removes whole classes of work rather than making each iteration slightly cheaper.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Structure-of-arrays example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a loop processes only x coordinates from records containing x,y,z,color,metadata , an array-of-structures layout fetches unused neighboring fields into cache lines.</a:t>
            </a:r>
          </a:p>
          <a:p>
            <a:pPr>
              <a:spcAft>
                <a:spcPts val="1100"/>
              </a:spcAft>
              <a:defRPr sz="1700">
                <a:solidFill>
                  <a:srgbClr val="F2F5F8"/>
                </a:solidFill>
              </a:defRPr>
            </a:pPr>
            <a:r>
              <a:t>• Separating frequently processed x values into their own dense array can increase useful bytes per cache line, at the cost of more complex organization for operations that need...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Structure-of-arrays example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a loop processes only x coordinates from records containing x,y,z,color,metadata , an array-of-structures layout fetches unused neighboring fields into cache lines.</a:t>
            </a:r>
          </a:p>
          <a:p>
            <a:pPr>
              <a:spcAft>
                <a:spcPts val="1100"/>
              </a:spcAft>
              <a:defRPr sz="1700">
                <a:solidFill>
                  <a:srgbClr val="F2F5F8"/>
                </a:solidFill>
              </a:defRPr>
            </a:pPr>
            <a:r>
              <a:t>• Separating frequently processed x values into their own dense array can increase useful bytes per cache line, at the cost of more complex organization for operations that...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55.</a:t>
            </a:r>
          </a:p>
          <a:p>
            <a:pPr>
              <a:spcAft>
                <a:spcPts val="1100"/>
              </a:spcAft>
              <a:defRPr sz="1900">
                <a:solidFill>
                  <a:srgbClr val="F2F5F8"/>
                </a:solidFill>
              </a:defRPr>
            </a:pPr>
            <a:r>
              <a:t>• Add empty ranges, the final one-element range, and invalid reversed or oversized ranges.</a:t>
            </a:r>
          </a:p>
          <a:p>
            <a:pPr>
              <a:spcAft>
                <a:spcPts val="1100"/>
              </a:spcAft>
              <a:defRPr sz="1900">
                <a:solidFill>
                  <a:srgbClr val="F2F5F8"/>
                </a:solidFill>
              </a:defRPr>
            </a:pPr>
            <a:r>
              <a:t>• Compare total work for one full-array query versus 10,000 full-array queries, including prefix construction.</a:t>
            </a:r>
          </a:p>
          <a:p>
            <a:pPr>
              <a:spcAft>
                <a:spcPts val="1100"/>
              </a:spcAft>
              <a:defRPr sz="1900">
                <a:solidFill>
                  <a:srgbClr val="F2F5F8"/>
                </a:solidFill>
              </a:defRPr>
            </a:pPr>
            <a:r>
              <a:t>• Do not claim a timing speedup from operation counts alone.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include preprocessing in the workload model?</a:t>
            </a:r>
          </a:p>
          <a:p>
            <a:pPr>
              <a:spcAft>
                <a:spcPts val="1100"/>
              </a:spcAft>
              <a:defRPr sz="1900">
                <a:solidFill>
                  <a:srgbClr val="F2F5F8"/>
                </a:solidFill>
              </a:defRPr>
            </a:pPr>
            <a:r>
              <a:t>• Review 2.</a:t>
            </a:r>
          </a:p>
          <a:p>
            <a:pPr>
              <a:spcAft>
                <a:spcPts val="1100"/>
              </a:spcAft>
              <a:defRPr sz="1900">
                <a:solidFill>
                  <a:srgbClr val="F2F5F8"/>
                </a:solidFill>
              </a:defRPr>
            </a:pPr>
            <a:r>
              <a:t>• Why can a branchless transformation be slower or less safe?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program optimization.</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Performance Analysis.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55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