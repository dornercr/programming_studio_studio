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50 — Deadlock</a:t>
            </a:r>
          </a:p>
          <a:p/>
          <a:p>
            <a:r>
              <a:t>LECTURE NARRATION</a:t>
            </a:r>
          </a:p>
          <a:p>
            <a:r>
              <a:t>Deadlock is a state in which participants cannot progress because each waits for resources or actions that the others cannot provide without first progressing themselves. It differs from slow execution, starvation, and livelock. A system can be busy while making no useful progress, or idle while permanently blocked. Preventing deadlock requires a resource-acquisition policy and lifecycle design. Adding timeouts can reveal or limit a wait, but it does not automatically restore a consistent state or release every dependent resource.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deadlock is a state in which participants cannot progress because each waits for resources or actions that the others cannot provide without first progressing themselves.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Deadlock is a state in which participants cannot progress because each waits for resources or actions that the others cannot provide without first progressing themselves. It differs from slow execution, starvation, and livelock. A system can be busy while making no useful progress, or idle while permanently blocked. Preventing deadlock requires a resource-acquisition policy and lifecycle design. Adding timeouts can reveal or limit a wait, but it does not automatically restore a consistent state or release every dependent resource.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deadlock is a state in which participants cannot progress because each waits for resources or actions that the others cannot provide without first progressing themselves.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50.1 Deadlock conditions 50.2 Mutual exclusion 50.3 Hold and wait 50.4 No preemption ...plus 9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50.1 Deadlock conditions 50.2 Mutual exclusion 50.3 Hold and wait 50.4 No preemption ...plus 9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50.1 Deadlock conditions</a:t>
            </a:r>
          </a:p>
          <a:p/>
          <a:p>
            <a:r>
              <a:t>LECTURE NARRATION</a:t>
            </a:r>
          </a:p>
          <a:p>
            <a:r>
              <a:t>The classical resource model identifies four conditions associated with deadlock: mutual exclusion, hold and wait, no preemption, and circular wait. Together they describe how a closed dependency cycle can become permanent under that model. The conditions are an analysis tool, not a claim that every concurrent failure is a lock cycle. Waiting for a notification that will never be sent, joining a thread while preventing its shutdown, or blocking a pipeline before starting its consumer can create related progress failures that deserve explicit dependency analysis.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50.1 Deadlock conditions — Deep Dive</a:t>
            </a:r>
          </a:p>
          <a:p/>
          <a:p>
            <a:r>
              <a:t>LECTURE NARRATION</a:t>
            </a:r>
          </a:p>
          <a:p>
            <a:r>
              <a:t>The classical resource model identifies four conditions associated with deadlock: mutual exclusion, hold and wait, no preemption, and circular wait. Together they describe how a closed dependency cycle can become permanent under that model. The conditions are an analysis tool, not a claim that every concurrent failure is a lock cycle. Waiting for a notification that will never be sent, joining a thread while preventing its shutdown, or blocking a pipeline before starting its consumer can create related progress failures that deserve explicit dependency analysis.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This is a coordination rule that helps multiple workers share information without stepping on each other's work.</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50.2 Mutual exclusion</a:t>
            </a:r>
          </a:p>
          <a:p/>
          <a:p>
            <a:r>
              <a:t>LECTURE NARRATION</a:t>
            </a:r>
          </a:p>
          <a:p>
            <a:r>
              <a:t>Mutual exclusion means some resource cannot be used by all participants simultaneously. A mutex is the obvious example, but a single-capacity communication slot or exclusive external transaction can also play a role. Removing unnecessary exclusivity can eliminate a dependency. Immutable shared data and independent per-thread state often need no exclusive lock. Where exclusivity is required for correctness, the design must address the other conditions instead of simply removing protection.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mutual exclusion means some resource cannot be used by all participants simultaneously.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50.2 Mutual exclusion — Deep Dive</a:t>
            </a:r>
          </a:p>
          <a:p/>
          <a:p>
            <a:r>
              <a:t>LECTURE NARRATION</a:t>
            </a:r>
          </a:p>
          <a:p>
            <a:r>
              <a:t>Mutual exclusion means some resource cannot be used by all participants simultaneously. A mutex is the obvious example, but a single-capacity communication slot or exclusive external transaction can also play a role. Removing unnecessary exclusivity can eliminate a dependency. Immutable shared data and independent per-thread state often need no exclusive lock. Where exclusivity is required for correctness, the design must address the other conditions instead of simply removing protection.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mutual exclusion means some resource cannot be used by all participants simultaneously.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50.3 Hold and wait</a:t>
            </a:r>
          </a:p>
          <a:p/>
          <a:p>
            <a:r>
              <a:t>LECTURE NARRATION</a:t>
            </a:r>
          </a:p>
          <a:p>
            <a:r>
              <a:t>Hold and wait occurs when a participant retains one resource while requesting another. A thread holding lock A while waiting for lock B creates an edge from its current ownership to its next dependency. Acquiring all required locks through a coordinated operation or releasing held resources before a retry can break this condition in suitable designs. Releasing and retrying requires care: state may change, so validation must be repeated and partial updates must not escape.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hold and wait occurs when a participant retains one resource while requesting another.</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50.3 Hold and wait — Deep Dive</a:t>
            </a:r>
          </a:p>
          <a:p/>
          <a:p>
            <a:r>
              <a:t>LECTURE NARRATION</a:t>
            </a:r>
          </a:p>
          <a:p>
            <a:r>
              <a:t>Hold and wait occurs when a participant retains one resource while requesting another. A thread holding lock A while waiting for lock B creates an edge from its current ownership to its next dependency. Acquiring all required locks through a coordinated operation or releasing held resources before a retry can break this condition in suitable designs. Releasing and retrying requires care: state may change, so validation must be repeated and partial updates must not escape.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hold and wait occurs when a participant retains one resource while requesting another.</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50.4 No preemption</a:t>
            </a:r>
          </a:p>
          <a:p/>
          <a:p>
            <a:r>
              <a:t>LECTURE NARRATION</a:t>
            </a:r>
          </a:p>
          <a:p>
            <a:r>
              <a:t>No preemption means the resource cannot simply be taken away from its owner safely. An ordinary mutex cannot be forcibly unlocked by an unrelated thread without violating its contract. The owner may be halfway through an invariant-changing operation. This is why “kill the stuck thread” is not a general recovery strategy. The thread may leave shared state inconsistent and locks permanently unavailable. Process isolation and transactional recovery can provide stronger failure boundaries when forced termination is a requirement.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 preemption means the resource cannot simply be taken away from its owner safely.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50.4 No preemption — Deep Dive</a:t>
            </a:r>
          </a:p>
          <a:p/>
          <a:p>
            <a:r>
              <a:t>LECTURE NARRATION</a:t>
            </a:r>
          </a:p>
          <a:p>
            <a:r>
              <a:t>No preemption means the resource cannot simply be taken away from its owner safely. An ordinary mutex cannot be forcibly unlocked by an unrelated thread without violating its contract. The owner may be halfway through an invariant-changing operation. This is why “kill the stuck thread” is not a general recovery strategy. The thread may leave shared state inconsistent and locks permanently unavailable. Process isolation and transactional recovery can provide stronger failure boundaries when forced termination is a requirement.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no preemption means the resource cannot simply be taken away from its owner safely.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50.5 Circular wait</a:t>
            </a:r>
          </a:p>
          <a:p/>
          <a:p>
            <a:r>
              <a:t>LECTURE NARRATION</a:t>
            </a:r>
          </a:p>
          <a:p>
            <a:r>
              <a:t>Circular wait exists when participants form a dependency cycle. Thread A holds lock X and waits for Y, while thread B holds Y and waits for X. Neither can reach the unlock that the other requires. A global lock order prevents this pattern when every participant follows it. The order must cover all relevant locks, including library callbacks and less obvious resources, or the apparent proof can omit an edge.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circular wait exists when participants form a dependency cycle.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50.5 Circular wait — Deep Dive</a:t>
            </a:r>
          </a:p>
          <a:p/>
          <a:p>
            <a:r>
              <a:t>LECTURE NARRATION</a:t>
            </a:r>
          </a:p>
          <a:p>
            <a:r>
              <a:t>Circular wait exists when participants form a dependency cycle. Thread A holds lock X and waits for Y, while thread B holds Y and waits for X. Neither can reach the unlock that the other requires. A global lock order prevents this pattern when every participant follows it. The order must cover all relevant locks, including library callbacks and less obvious resources, or the apparent proof can omit an edge.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circular wait exists when participants form a dependency cycle.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50.6 Wait-for graphs</a:t>
            </a:r>
          </a:p>
          <a:p/>
          <a:p>
            <a:r>
              <a:t>LECTURE NARRATION</a:t>
            </a:r>
          </a:p>
          <a:p>
            <a:r>
              <a:t>A wait-for graph draws an edge from a waiting participant to the participant whose action or resource release it needs. A cycle indicates a potential or actual deadlock under the graph’s resource assumptions. For locks with one owner, the graph is straightforward. Multiple-instance resources, timeouts, and alternative progress paths require more careful interpretation. Record what each edge means and whether an external event can break it before declaring a permanent deadlock.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wait-for graph draws an edge from a waiting participant to the participant whose action or resource release it needs.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50.6 Wait-for graphs — Deep Dive</a:t>
            </a:r>
          </a:p>
          <a:p/>
          <a:p>
            <a:r>
              <a:t>LECTURE NARRATION</a:t>
            </a:r>
          </a:p>
          <a:p>
            <a:r>
              <a:t>A wait-for graph draws an edge from a waiting participant to the participant whose action or resource release it needs. A cycle indicates a potential or actual deadlock under the graph’s resource assumptions. For locks with one owner, the graph is straightforward. Multiple-instance resources, timeouts, and alternative progress paths require more careful interpretation. Record what each edge means and whether an external event can break it before declaring a permanent deadlock.</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wait-for graph draws an edge from a waiting participant to the participant whose action or resource release it needs.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50.7 Lock ordering</a:t>
            </a:r>
          </a:p>
          <a:p/>
          <a:p>
            <a:r>
              <a:t>LECTURE NARRATION</a:t>
            </a:r>
          </a:p>
          <a:p>
            <a:r>
              <a:t>Lock ordering assigns a consistent order and requires acquisition in that order. Two-account transfers can order accounts by a stable application identifier, or use a facility such as std::scoped_lock that applies a deadlock-avoiding multi-lock algorithm. Do not use built-in relational comparison of unrelated object pointers as a portable general ordering rule. Use stable identifiers or the appropriate library total-order facility when pointer ordering is genuinely needed. Also handle the same-object case before attempting to lock one nonrecursive mutex twice.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lock ordering assigns a consistent order and requires acquisition in that order.</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50.7 Lock ordering — Deep Dive</a:t>
            </a:r>
          </a:p>
          <a:p/>
          <a:p>
            <a:r>
              <a:t>LECTURE NARRATION</a:t>
            </a:r>
          </a:p>
          <a:p>
            <a:r>
              <a:t>Lock ordering assigns a consistent order and requires acquisition in that order. Two-account transfers can order accounts by a stable application identifier, or use a facility such as std::scoped_lock that applies a deadlock-avoiding multi-lock algorithm. Do not use built-in relational comparison of unrelated object pointers as a portable general ordering rule. Use stable identifiers or the appropriate library total-order facility when pointer ordering is genuinely needed. Also handle the same-object case before attempting to lock one nonrecursive mutex twice.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lock ordering assigns a consistent order and requires acquisition in that order.</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50.8 Deadlock prevention</a:t>
            </a:r>
          </a:p>
          <a:p/>
          <a:p>
            <a:r>
              <a:t>LECTURE NARRATION</a:t>
            </a:r>
          </a:p>
          <a:p>
            <a:r>
              <a:t>Prevention structurally breaks at least one condition. Examples include avoiding nested locks, using a global order, making state immutable, or acquiring a required set with a coordinated locking algorithm. Prevention can reduce concurrency or require redesign, but it gives a strong argument before deployment. A simple lock hierarchy documented and enforced in code is often more reliable than a collection of ad hoc timeouts added after hangs appear.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prevention structurally breaks at least one condition.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50.8 Deadlock prevention — Deep Dive</a:t>
            </a:r>
          </a:p>
          <a:p/>
          <a:p>
            <a:r>
              <a:t>LECTURE NARRATION</a:t>
            </a:r>
          </a:p>
          <a:p>
            <a:r>
              <a:t>Prevention structurally breaks at least one condition. Examples include avoiding nested locks, using a global order, making state immutable, or acquiring a required set with a coordinated locking algorithm. Prevention can reduce concurrency or require redesign, but it gives a strong argument before deployment. A simple lock hierarchy documented and enforced in code is often more reliable than a collection of ad hoc timeouts added after hangs appear.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prevention structurally breaks at least one condition.</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50.9 Deadlock avoidance</a:t>
            </a:r>
          </a:p>
          <a:p/>
          <a:p>
            <a:r>
              <a:t>LECTURE NARRATION</a:t>
            </a:r>
          </a:p>
          <a:p>
            <a:r>
              <a:t>Avoidance examines current allocations and future needs to reject requests that could enter an unsafe state. Classical banker’s-algorithm reasoning requires known resource limits and maximum claims, which many general software workloads do not provide accurately. An unsafe state is not necessarily already deadlocked; it lacks a guaranteed completion sequence under the stated maximum-need assumptions. Distinguish admission control based on known budgets from prevention through a fixed lock order.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avoidance examines current allocations and future needs to reject requests that could enter an unsafe state.</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50.9 Deadlock avoidance — Deep Dive</a:t>
            </a:r>
          </a:p>
          <a:p/>
          <a:p>
            <a:r>
              <a:t>LECTURE NARRATION</a:t>
            </a:r>
          </a:p>
          <a:p>
            <a:r>
              <a:t>Avoidance examines current allocations and future needs to reject requests that could enter an unsafe state. Classical banker’s-algorithm reasoning requires known resource limits and maximum claims, which many general software workloads do not provide accurately. An unsafe state is not necessarily already deadlocked; it lacks a guaranteed completion sequence under the stated maximum-need assumptions. Distinguish admission control based on known budgets from prevention through a fixed lock order.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avoidance examines current allocations and future needs to reject requests that could enter an unsafe state.</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Opposite-direction transfers without opposite lock order</a:t>
            </a:r>
          </a:p>
          <a:p/>
          <a:p>
            <a:r>
              <a:t>LECTURE NARRATION</a:t>
            </a:r>
          </a:p>
          <a:p>
            <a:r>
              <a:t>Two workers transfer one unit in opposite directions 200 times. The transfer operation locks both account mutexes with std::scoped_lock , checks available funds, and updates both balances while protected. The same-account case returns before locking. Companion listing: ch50/transfers.cpp The expected output is 1000 1000 . Initial funds are sufficient even when all 200 transfers in one direction happen first, so no operation should be rejected. The final check verifies the intended balanced workload, while the conserved-total argument bounds arithmetic throughout execution. Now consider an avoidance model with three identical resources. A holds one and may need two more; B holds one and may need two more; one remains available. Neither maximum claim can currently be satisfied to completion, so the state is unsafe under that claim model. It is not necessarily already deadlocked if neither has yet made a blocking request, but an avoidance policy would reject entering such a state when its guarantees require a safe completion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workers transfer one unit in opposite directions 200 times.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Opposite-direction transfers without opposite lock order — Deep Dive</a:t>
            </a:r>
          </a:p>
          <a:p/>
          <a:p>
            <a:r>
              <a:t>LECTURE NARRATION</a:t>
            </a:r>
          </a:p>
          <a:p>
            <a:r>
              <a:t>Two workers transfer one unit in opposite directions 200 times. The transfer operation locks both account mutexes with std::scoped_lock , checks available funds, and updates both balances while protected. The same-account case returns before locking. Companion listing: ch50/transfers.cpp The expected output is 1000 1000 . Initial funds are sufficient even when all 200 transfers in one direction happen first, so no operation should be rejected. The final check verifies the intended balanced workload, while the conserved-total argument bounds arithmetic throughout execution. Now consider an avoidance model with three identical resources. A holds one and may need two more; B holds one and may need two more; one remains available. Neither maximum claim can currently be satisfied to completion, so the state is unsafe under that claim model. It is not necessarily already deadlocked if neither has yet made a blocking request, but an avoidance policy would reject entering such a state when its guarantees require a safe completion sequence.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two workers transfer one unit in opposite directions 200 times.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Detecting a circular wait</a:t>
            </a:r>
          </a:p>
          <a:p/>
          <a:p>
            <a:r>
              <a:t>LECTURE NARRATION</a:t>
            </a:r>
          </a:p>
          <a:p>
            <a:r>
              <a:t>Thread A holds lock X and waits for Y, while thread B holds Y and waits for X. The wait-for graph contains A -&gt; B and B -&gt; A, a cycle. If neither lock can be preempted, the two threads cannot progress. Enforcing a global order such as always acquire X before Y removes this two-lock cycle.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thread A holds lock X and waits for Y, while thread B holds Y and waits for X.</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Detecting a circular wait — Deep Dive</a:t>
            </a:r>
          </a:p>
          <a:p/>
          <a:p>
            <a:r>
              <a:t>LECTURE NARRATION</a:t>
            </a:r>
          </a:p>
          <a:p>
            <a:r>
              <a:t>Thread A holds lock X and waits for Y, while thread B holds Y and waits for X. The wait-for graph contains A -&gt; B and B -&gt; A, a cycle. If neither lock can be preempted, the two threads cannot progress. Enforcing a global order such as always acquire X before Y removes this two-lock cycle.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thread A holds lock X and waits for Y, while thread B holds Y and waits for X.</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Avoiding nested locks with transfer ordering</a:t>
            </a:r>
          </a:p>
          <a:p/>
          <a:p>
            <a:r>
              <a:t>LECTURE NARRATION</a:t>
            </a:r>
          </a:p>
          <a:p>
            <a:r>
              <a:t>For transfers between accounts, order lock acquisition by stable account ID. A transfer from account 7 to 3 still locks 3 first, then 7. Every thread therefore uses the same global ordering regardless of transfer direction, preventing circular wait among those locks.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transfers between accounts, order lock acquisition by stable account ID.</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Avoiding nested locks with transfer ordering — Deep Dive</a:t>
            </a:r>
          </a:p>
          <a:p/>
          <a:p>
            <a:r>
              <a:t>LECTURE NARRATION</a:t>
            </a:r>
          </a:p>
          <a:p>
            <a:r>
              <a:t>For transfers between accounts, order lock acquisition by stable account ID. A transfer from account 7 to 3 still locks 3 first, then 7. Every thread therefore uses the same global ordering regardless of transfer direction, preventing circular wait among those locks.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transfers between accounts, order lock acquisition by stable account ID.</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Guided lab and review</a:t>
            </a:r>
          </a:p>
          <a:p/>
          <a:p>
            <a:r>
              <a:t>LECTURE NARRATION</a:t>
            </a:r>
          </a:p>
          <a:p>
            <a:r>
              <a:t>Lab 50. Draw the wait-for cycle for a naive implementation that locks source then destination independently. Then explain how the same-account guard and coordinated two-lock acquisition address different hazards. Review 1. How does deadlock differ from starvation? Review 2. Why is an unsafe allocation state not automatically a currently deadlocked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50.</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Guided lab and review — Deep Dive</a:t>
            </a:r>
          </a:p>
          <a:p/>
          <a:p>
            <a:r>
              <a:t>LECTURE NARRATION</a:t>
            </a:r>
          </a:p>
          <a:p>
            <a:r>
              <a:t>Lab 50. Draw the wait-for cycle for a naive implementation that locks source then destination independently. Then explain how the same-account guard and coordinated two-lock acquisition address different hazards. Review 1. How does deadlock differ from starvation? Review 2. Why is an unsafe allocation state not automatically a currently deadlocked state?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50.</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Chapter Synthesis</a:t>
            </a:r>
          </a:p>
          <a:p/>
          <a:p>
            <a:r>
              <a:t>LECTURE NARRATION</a:t>
            </a:r>
          </a:p>
          <a:p>
            <a:r>
              <a:t>The chapter's central subject is deadlock.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deadlock.</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Network Programming.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50 — Deadlock</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Deadlock is a state in which participants cannot progress because each waits for resources or actions that the others cannot provide without first progressing themselves.</a:t>
            </a:r>
          </a:p>
          <a:p>
            <a:pPr>
              <a:spcAft>
                <a:spcPts val="1100"/>
              </a:spcAft>
              <a:defRPr sz="1900">
                <a:solidFill>
                  <a:srgbClr val="F2F5F8"/>
                </a:solidFill>
              </a:defRPr>
            </a:pPr>
            <a:r>
              <a:t>• It differs from slow execution, starvation, and livelock.</a:t>
            </a:r>
          </a:p>
          <a:p>
            <a:pPr>
              <a:spcAft>
                <a:spcPts val="1100"/>
              </a:spcAft>
              <a:defRPr sz="1900">
                <a:solidFill>
                  <a:srgbClr val="F2F5F8"/>
                </a:solidFill>
              </a:defRPr>
            </a:pPr>
            <a:r>
              <a:t>• A system can be busy while making no useful progress, or idle while permanently blocked.</a:t>
            </a:r>
          </a:p>
          <a:p>
            <a:pPr>
              <a:spcAft>
                <a:spcPts val="1100"/>
              </a:spcAft>
              <a:defRPr sz="1900">
                <a:solidFill>
                  <a:srgbClr val="F2F5F8"/>
                </a:solidFill>
              </a:defRPr>
            </a:pPr>
            <a:r>
              <a:t>• Preventing deadlock requires a resource-acquisition policy and lifecycle design.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Deadlock.</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50.1 Deadlock conditions</a:t>
            </a:r>
          </a:p>
          <a:p>
            <a:pPr>
              <a:spcAft>
                <a:spcPts val="1100"/>
              </a:spcAft>
              <a:defRPr sz="1900">
                <a:solidFill>
                  <a:srgbClr val="F2F5F8"/>
                </a:solidFill>
              </a:defRPr>
            </a:pPr>
            <a:r>
              <a:t>• 50.2 Mutual exclusion</a:t>
            </a:r>
          </a:p>
          <a:p>
            <a:pPr>
              <a:spcAft>
                <a:spcPts val="1100"/>
              </a:spcAft>
              <a:defRPr sz="1900">
                <a:solidFill>
                  <a:srgbClr val="F2F5F8"/>
                </a:solidFill>
              </a:defRPr>
            </a:pPr>
            <a:r>
              <a:t>• 50.3 Hold and wait</a:t>
            </a:r>
          </a:p>
          <a:p>
            <a:pPr>
              <a:spcAft>
                <a:spcPts val="1100"/>
              </a:spcAft>
              <a:defRPr sz="1900">
                <a:solidFill>
                  <a:srgbClr val="F2F5F8"/>
                </a:solidFill>
              </a:defRPr>
            </a:pPr>
            <a:r>
              <a:t>• 50.4 No preemption</a:t>
            </a:r>
          </a:p>
          <a:p>
            <a:pPr>
              <a:spcAft>
                <a:spcPts val="1100"/>
              </a:spcAft>
              <a:defRPr sz="1900">
                <a:solidFill>
                  <a:srgbClr val="F2F5F8"/>
                </a:solidFill>
              </a:defRPr>
            </a:pPr>
            <a:r>
              <a:t>• ...plus 9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50.1 Deadlock conditions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classical resource model identifies four conditions associated with deadlock: mutual exclusion, hold and wait, no preemption, and circular wait.</a:t>
            </a:r>
          </a:p>
          <a:p>
            <a:pPr>
              <a:spcAft>
                <a:spcPts val="1100"/>
              </a:spcAft>
              <a:defRPr sz="1900">
                <a:solidFill>
                  <a:srgbClr val="F2F5F8"/>
                </a:solidFill>
              </a:defRPr>
            </a:pPr>
            <a:r>
              <a:t>• Together they describe how a closed dependency cycle can become permanent under that model.</a:t>
            </a:r>
          </a:p>
          <a:p>
            <a:pPr>
              <a:spcAft>
                <a:spcPts val="1100"/>
              </a:spcAft>
              <a:defRPr sz="1900">
                <a:solidFill>
                  <a:srgbClr val="F2F5F8"/>
                </a:solidFill>
              </a:defRPr>
            </a:pPr>
            <a:r>
              <a:t>• The conditions are an analysis tool, not a claim that every concurrent failure is a lock cycle.</a:t>
            </a:r>
          </a:p>
          <a:p>
            <a:pPr>
              <a:spcAft>
                <a:spcPts val="1100"/>
              </a:spcAft>
              <a:defRPr sz="1700">
                <a:solidFill>
                  <a:srgbClr val="F2F5F8"/>
                </a:solidFill>
              </a:defRPr>
            </a:pPr>
            <a:r>
              <a:t>• Waiting for a notification that will never be sent, joining a thread while preventing its shutdown, or blocking a pipeline before starting its consumer can create related...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50.1 Deadlock conditions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conditions are an analysis tool, not a claim that every concurrent failure is a lock cycle.</a:t>
            </a:r>
          </a:p>
          <a:p>
            <a:pPr>
              <a:spcAft>
                <a:spcPts val="1100"/>
              </a:spcAft>
              <a:defRPr sz="1700">
                <a:solidFill>
                  <a:srgbClr val="F2F5F8"/>
                </a:solidFill>
              </a:defRPr>
            </a:pPr>
            <a:r>
              <a:t>• Waiting for a notification that will never be sent, joining a thread while preventing its shutdown, or blocking a pipeline before starting its consumer can create related...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50.2 Mutual exclusion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Mutual exclusion means some resource cannot be used by all participants simultaneously.</a:t>
            </a:r>
          </a:p>
          <a:p>
            <a:pPr>
              <a:spcAft>
                <a:spcPts val="1100"/>
              </a:spcAft>
              <a:defRPr sz="1700">
                <a:solidFill>
                  <a:srgbClr val="F2F5F8"/>
                </a:solidFill>
              </a:defRPr>
            </a:pPr>
            <a:r>
              <a:t>• A mutex is the obvious example, but a single-capacity communication slot or exclusive external transaction can also play a role.</a:t>
            </a:r>
          </a:p>
          <a:p>
            <a:pPr>
              <a:spcAft>
                <a:spcPts val="1100"/>
              </a:spcAft>
              <a:defRPr sz="1900">
                <a:solidFill>
                  <a:srgbClr val="F2F5F8"/>
                </a:solidFill>
              </a:defRPr>
            </a:pPr>
            <a:r>
              <a:t>• Removing unnecessary exclusivity can eliminate a dependency.</a:t>
            </a:r>
          </a:p>
          <a:p>
            <a:pPr>
              <a:spcAft>
                <a:spcPts val="1100"/>
              </a:spcAft>
              <a:defRPr sz="1900">
                <a:solidFill>
                  <a:srgbClr val="F2F5F8"/>
                </a:solidFill>
              </a:defRPr>
            </a:pPr>
            <a:r>
              <a:t>• Immutable shared data and independent per-thread state often need no exclusive lock.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50.2 Mutual exclusion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Removing unnecessary exclusivity can eliminate a dependency.</a:t>
            </a:r>
          </a:p>
          <a:p>
            <a:pPr>
              <a:spcAft>
                <a:spcPts val="1100"/>
              </a:spcAft>
              <a:defRPr sz="1900">
                <a:solidFill>
                  <a:srgbClr val="F2F5F8"/>
                </a:solidFill>
              </a:defRPr>
            </a:pPr>
            <a:r>
              <a:t>• Immutable shared data and independent per-thread state often need no exclusive lock.</a:t>
            </a:r>
          </a:p>
          <a:p>
            <a:pPr>
              <a:spcAft>
                <a:spcPts val="1100"/>
              </a:spcAft>
              <a:defRPr sz="1700">
                <a:solidFill>
                  <a:srgbClr val="F2F5F8"/>
                </a:solidFill>
              </a:defRPr>
            </a:pPr>
            <a:r>
              <a:t>• Where exclusivity is required for correctness, the design must address the other conditions instead of simply removing protection.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50.3 Hold and wait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Hold and wait occurs when a participant retains one resource while requesting another.</a:t>
            </a:r>
          </a:p>
          <a:p>
            <a:pPr>
              <a:spcAft>
                <a:spcPts val="1100"/>
              </a:spcAft>
              <a:defRPr sz="1900">
                <a:solidFill>
                  <a:srgbClr val="F2F5F8"/>
                </a:solidFill>
              </a:defRPr>
            </a:pPr>
            <a:r>
              <a:t>• A thread holding lock A while waiting for lock B creates an edge from its current ownership to its next dependency.</a:t>
            </a:r>
          </a:p>
          <a:p>
            <a:pPr>
              <a:spcAft>
                <a:spcPts val="1100"/>
              </a:spcAft>
              <a:defRPr sz="1700">
                <a:solidFill>
                  <a:srgbClr val="F2F5F8"/>
                </a:solidFill>
              </a:defRPr>
            </a:pPr>
            <a:r>
              <a:t>• Acquiring all required locks through a coordinated operation or releasing held resources before a retry can break this condition in suitable designs.</a:t>
            </a:r>
          </a:p>
          <a:p>
            <a:pPr>
              <a:spcAft>
                <a:spcPts val="1100"/>
              </a:spcAft>
              <a:defRPr sz="1700">
                <a:solidFill>
                  <a:srgbClr val="F2F5F8"/>
                </a:solidFill>
              </a:defRPr>
            </a:pPr>
            <a:r>
              <a:t>• Releasing and retrying requires care: state may change, so validation must be repeated and partial updates must not escape.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50.3 Hold and wait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Acquiring all required locks through a coordinated operation or releasing held resources before a retry can break this condition in suitable designs.</a:t>
            </a:r>
          </a:p>
          <a:p>
            <a:pPr>
              <a:spcAft>
                <a:spcPts val="1100"/>
              </a:spcAft>
              <a:defRPr sz="1700">
                <a:solidFill>
                  <a:srgbClr val="F2F5F8"/>
                </a:solidFill>
              </a:defRPr>
            </a:pPr>
            <a:r>
              <a:t>• Releasing and retrying requires care: state may change, so validation must be repeated and partial updates must not escape.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50.4 No preemption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 preemption means the resource cannot simply be taken away from its owner safely.</a:t>
            </a:r>
          </a:p>
          <a:p>
            <a:pPr>
              <a:spcAft>
                <a:spcPts val="1100"/>
              </a:spcAft>
              <a:defRPr sz="1900">
                <a:solidFill>
                  <a:srgbClr val="F2F5F8"/>
                </a:solidFill>
              </a:defRPr>
            </a:pPr>
            <a:r>
              <a:t>• An ordinary mutex cannot be forcibly unlocked by an unrelated thread without violating its contract.</a:t>
            </a:r>
          </a:p>
          <a:p>
            <a:pPr>
              <a:spcAft>
                <a:spcPts val="1100"/>
              </a:spcAft>
              <a:defRPr sz="1900">
                <a:solidFill>
                  <a:srgbClr val="F2F5F8"/>
                </a:solidFill>
              </a:defRPr>
            </a:pPr>
            <a:r>
              <a:t>• The owner may be halfway through an invariant-changing operation.</a:t>
            </a:r>
          </a:p>
          <a:p>
            <a:pPr>
              <a:spcAft>
                <a:spcPts val="1100"/>
              </a:spcAft>
              <a:defRPr sz="1900">
                <a:solidFill>
                  <a:srgbClr val="F2F5F8"/>
                </a:solidFill>
              </a:defRPr>
            </a:pPr>
            <a:r>
              <a:t>• This is why “kill the stuck thread” is not a general recovery strategy.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50.4 No preemption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is why “kill the stuck thread” is not a general recovery strategy.</a:t>
            </a:r>
          </a:p>
          <a:p>
            <a:pPr>
              <a:spcAft>
                <a:spcPts val="1100"/>
              </a:spcAft>
              <a:defRPr sz="1900">
                <a:solidFill>
                  <a:srgbClr val="F2F5F8"/>
                </a:solidFill>
              </a:defRPr>
            </a:pPr>
            <a:r>
              <a:t>• The thread may leave shared state inconsistent and locks permanently unavailable.</a:t>
            </a:r>
          </a:p>
          <a:p>
            <a:pPr>
              <a:spcAft>
                <a:spcPts val="1100"/>
              </a:spcAft>
              <a:defRPr sz="1700">
                <a:solidFill>
                  <a:srgbClr val="F2F5F8"/>
                </a:solidFill>
              </a:defRPr>
            </a:pPr>
            <a:r>
              <a:t>• Process isolation and transactional recovery can provide stronger failure boundaries when forced termination is a requirement.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50.5 Circular wait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Circular wait exists when participants form a dependency cycle.</a:t>
            </a:r>
          </a:p>
          <a:p>
            <a:pPr>
              <a:spcAft>
                <a:spcPts val="1100"/>
              </a:spcAft>
              <a:defRPr sz="1900">
                <a:solidFill>
                  <a:srgbClr val="F2F5F8"/>
                </a:solidFill>
              </a:defRPr>
            </a:pPr>
            <a:r>
              <a:t>• Thread A holds lock X and waits for Y, while thread B holds Y and waits for X.</a:t>
            </a:r>
          </a:p>
          <a:p>
            <a:pPr>
              <a:spcAft>
                <a:spcPts val="1100"/>
              </a:spcAft>
              <a:defRPr sz="1900">
                <a:solidFill>
                  <a:srgbClr val="F2F5F8"/>
                </a:solidFill>
              </a:defRPr>
            </a:pPr>
            <a:r>
              <a:t>• Neither can reach the unlock that the other requires.</a:t>
            </a:r>
          </a:p>
          <a:p>
            <a:pPr>
              <a:spcAft>
                <a:spcPts val="1100"/>
              </a:spcAft>
              <a:defRPr sz="1900">
                <a:solidFill>
                  <a:srgbClr val="F2F5F8"/>
                </a:solidFill>
              </a:defRPr>
            </a:pPr>
            <a:r>
              <a:t>• A global lock order prevents this pattern when every participant follows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50.5 Circular wait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global lock order prevents this pattern when every participant follows it.</a:t>
            </a:r>
          </a:p>
          <a:p>
            <a:pPr>
              <a:spcAft>
                <a:spcPts val="1100"/>
              </a:spcAft>
              <a:defRPr sz="1700">
                <a:solidFill>
                  <a:srgbClr val="F2F5F8"/>
                </a:solidFill>
              </a:defRPr>
            </a:pPr>
            <a:r>
              <a:t>• The order must cover all relevant locks, including library callbacks and less obvious resources, or the apparent proof can omit an edge.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50.6 Wait-for graphs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wait-for graph draws an edge from a waiting participant to the participant whose action or resource release it needs.</a:t>
            </a:r>
          </a:p>
          <a:p>
            <a:pPr>
              <a:spcAft>
                <a:spcPts val="1100"/>
              </a:spcAft>
              <a:defRPr sz="1900">
                <a:solidFill>
                  <a:srgbClr val="F2F5F8"/>
                </a:solidFill>
              </a:defRPr>
            </a:pPr>
            <a:r>
              <a:t>• A cycle indicates a potential or actual deadlock under the graph’s resource assumptions.</a:t>
            </a:r>
          </a:p>
          <a:p>
            <a:pPr>
              <a:spcAft>
                <a:spcPts val="1100"/>
              </a:spcAft>
              <a:defRPr sz="1900">
                <a:solidFill>
                  <a:srgbClr val="F2F5F8"/>
                </a:solidFill>
              </a:defRPr>
            </a:pPr>
            <a:r>
              <a:t>• For locks with one owner, the graph is straightforward.</a:t>
            </a:r>
          </a:p>
          <a:p>
            <a:pPr>
              <a:spcAft>
                <a:spcPts val="1100"/>
              </a:spcAft>
              <a:defRPr sz="1900">
                <a:solidFill>
                  <a:srgbClr val="F2F5F8"/>
                </a:solidFill>
              </a:defRPr>
            </a:pPr>
            <a:r>
              <a:t>• Multiple-instance resources, timeouts, and alternative progress paths require more careful interpretation.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50.6 Wait-for graphs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locks with one owner, the graph is straightforward.</a:t>
            </a:r>
          </a:p>
          <a:p>
            <a:pPr>
              <a:spcAft>
                <a:spcPts val="1100"/>
              </a:spcAft>
              <a:defRPr sz="1900">
                <a:solidFill>
                  <a:srgbClr val="F2F5F8"/>
                </a:solidFill>
              </a:defRPr>
            </a:pPr>
            <a:r>
              <a:t>• Multiple-instance resources, timeouts, and alternative progress paths require more careful interpretation.</a:t>
            </a:r>
          </a:p>
          <a:p>
            <a:pPr>
              <a:spcAft>
                <a:spcPts val="1100"/>
              </a:spcAft>
              <a:defRPr sz="1900">
                <a:solidFill>
                  <a:srgbClr val="F2F5F8"/>
                </a:solidFill>
              </a:defRPr>
            </a:pPr>
            <a:r>
              <a:t>• Record what each edge means and whether an external event can break it before declaring a permanent deadlock.</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50.7 Lock ordering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Lock ordering assigns a consistent order and requires acquisition in that order.</a:t>
            </a:r>
          </a:p>
          <a:p>
            <a:pPr>
              <a:spcAft>
                <a:spcPts val="1100"/>
              </a:spcAft>
              <a:defRPr sz="1700">
                <a:solidFill>
                  <a:srgbClr val="F2F5F8"/>
                </a:solidFill>
              </a:defRPr>
            </a:pPr>
            <a:r>
              <a:t>• Two-account transfers can order accounts by a stable application identifier, or use a facility such as std::scoped_lock that applies a deadlock-avoiding multi-lock algorithm.</a:t>
            </a:r>
          </a:p>
          <a:p>
            <a:pPr>
              <a:spcAft>
                <a:spcPts val="1100"/>
              </a:spcAft>
              <a:defRPr sz="1900">
                <a:solidFill>
                  <a:srgbClr val="F2F5F8"/>
                </a:solidFill>
              </a:defRPr>
            </a:pPr>
            <a:r>
              <a:t>• Do not use built-in relational comparison of unrelated object pointers as a portable general ordering rule.</a:t>
            </a:r>
          </a:p>
          <a:p>
            <a:pPr>
              <a:spcAft>
                <a:spcPts val="1100"/>
              </a:spcAft>
              <a:defRPr sz="1900">
                <a:solidFill>
                  <a:srgbClr val="F2F5F8"/>
                </a:solidFill>
              </a:defRPr>
            </a:pPr>
            <a:r>
              <a:t>• Use stable identifiers or the appropriate library total-order facility when pointer ordering is genuinely needed.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50.7 Lock ordering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use built-in relational comparison of unrelated object pointers as a portable general ordering rule.</a:t>
            </a:r>
          </a:p>
          <a:p>
            <a:pPr>
              <a:spcAft>
                <a:spcPts val="1100"/>
              </a:spcAft>
              <a:defRPr sz="1900">
                <a:solidFill>
                  <a:srgbClr val="F2F5F8"/>
                </a:solidFill>
              </a:defRPr>
            </a:pPr>
            <a:r>
              <a:t>• Use stable identifiers or the appropriate library total-order facility when pointer ordering is genuinely needed.</a:t>
            </a:r>
          </a:p>
          <a:p>
            <a:pPr>
              <a:spcAft>
                <a:spcPts val="1100"/>
              </a:spcAft>
              <a:defRPr sz="1900">
                <a:solidFill>
                  <a:srgbClr val="F2F5F8"/>
                </a:solidFill>
              </a:defRPr>
            </a:pPr>
            <a:r>
              <a:t>• Also handle the same-object case before attempting to lock one nonrecursive mutex twice.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50.8 Deadlock prevention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Prevention structurally breaks at least one condition.</a:t>
            </a:r>
          </a:p>
          <a:p>
            <a:pPr>
              <a:spcAft>
                <a:spcPts val="1100"/>
              </a:spcAft>
              <a:defRPr sz="1700">
                <a:solidFill>
                  <a:srgbClr val="F2F5F8"/>
                </a:solidFill>
              </a:defRPr>
            </a:pPr>
            <a:r>
              <a:t>• Examples include avoiding nested locks, using a global order, making state immutable, or acquiring a required set with a coordinated locking algorithm.</a:t>
            </a:r>
          </a:p>
          <a:p>
            <a:pPr>
              <a:spcAft>
                <a:spcPts val="1100"/>
              </a:spcAft>
              <a:defRPr sz="1900">
                <a:solidFill>
                  <a:srgbClr val="F2F5F8"/>
                </a:solidFill>
              </a:defRPr>
            </a:pPr>
            <a:r>
              <a:t>• Prevention can reduce concurrency or require redesign, but it gives a strong argument before deployment.</a:t>
            </a:r>
          </a:p>
          <a:p>
            <a:pPr>
              <a:spcAft>
                <a:spcPts val="1100"/>
              </a:spcAft>
              <a:defRPr sz="1700">
                <a:solidFill>
                  <a:srgbClr val="F2F5F8"/>
                </a:solidFill>
              </a:defRPr>
            </a:pPr>
            <a:r>
              <a:t>• A simple lock hierarchy documented and enforced in code is often more reliable than a collection of ad hoc timeouts added after hangs appear.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50.8 Deadlock prevention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Prevention can reduce concurrency or require redesign, but it gives a strong argument before deployment.</a:t>
            </a:r>
          </a:p>
          <a:p>
            <a:pPr>
              <a:spcAft>
                <a:spcPts val="1100"/>
              </a:spcAft>
              <a:defRPr sz="1700">
                <a:solidFill>
                  <a:srgbClr val="F2F5F8"/>
                </a:solidFill>
              </a:defRPr>
            </a:pPr>
            <a:r>
              <a:t>• A simple lock hierarchy documented and enforced in code is often more reliable than a collection of ad hoc timeouts added after hangs appear.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50.9 Deadlock avoidance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Avoidance examines current allocations and future needs to reject requests that could enter an unsafe state.</a:t>
            </a:r>
          </a:p>
          <a:p>
            <a:pPr>
              <a:spcAft>
                <a:spcPts val="1100"/>
              </a:spcAft>
              <a:defRPr sz="1700">
                <a:solidFill>
                  <a:srgbClr val="F2F5F8"/>
                </a:solidFill>
              </a:defRPr>
            </a:pPr>
            <a:r>
              <a:t>• Classical banker’s-algorithm reasoning requires known resource limits and maximum claims, which many general software workloads do not provide accurately.</a:t>
            </a:r>
          </a:p>
          <a:p>
            <a:pPr>
              <a:spcAft>
                <a:spcPts val="1100"/>
              </a:spcAft>
              <a:defRPr sz="1700">
                <a:solidFill>
                  <a:srgbClr val="F2F5F8"/>
                </a:solidFill>
              </a:defRPr>
            </a:pPr>
            <a:r>
              <a:t>• An unsafe state is not necessarily already deadlocked; it lacks a guaranteed completion sequence under the stated maximum-need assumptions.</a:t>
            </a:r>
          </a:p>
          <a:p>
            <a:pPr>
              <a:spcAft>
                <a:spcPts val="1100"/>
              </a:spcAft>
              <a:defRPr sz="1900">
                <a:solidFill>
                  <a:srgbClr val="F2F5F8"/>
                </a:solidFill>
              </a:defRPr>
            </a:pPr>
            <a:r>
              <a:t>• Distinguish admission control based on known budgets from prevention through a fixed lock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50.9 Deadlock avoidance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unsafe state is not necessarily already deadlocked; it lacks a guaranteed completion sequence under the stated maximum-need assumptions.</a:t>
            </a:r>
          </a:p>
          <a:p>
            <a:pPr>
              <a:spcAft>
                <a:spcPts val="1100"/>
              </a:spcAft>
              <a:defRPr sz="1900">
                <a:solidFill>
                  <a:srgbClr val="F2F5F8"/>
                </a:solidFill>
              </a:defRPr>
            </a:pPr>
            <a:r>
              <a:t>• Distinguish admission control based on known budgets from prevention through a fixed lock order.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Opposite-direction transfers without opposite lock order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Two workers transfer one unit in opposite directions 200 times.</a:t>
            </a:r>
          </a:p>
          <a:p>
            <a:pPr>
              <a:spcAft>
                <a:spcPts val="1100"/>
              </a:spcAft>
              <a:defRPr sz="1700">
                <a:solidFill>
                  <a:srgbClr val="F2F5F8"/>
                </a:solidFill>
              </a:defRPr>
            </a:pPr>
            <a:r>
              <a:t>• The transfer operation locks both account mutexes with std::scoped_lock , checks available funds, and updates both balances while protected.</a:t>
            </a:r>
          </a:p>
          <a:p>
            <a:pPr>
              <a:spcAft>
                <a:spcPts val="1100"/>
              </a:spcAft>
              <a:defRPr sz="1900">
                <a:solidFill>
                  <a:srgbClr val="F2F5F8"/>
                </a:solidFill>
              </a:defRPr>
            </a:pPr>
            <a:r>
              <a:t>• The same-account case returns before locking.</a:t>
            </a:r>
          </a:p>
          <a:p>
            <a:pPr>
              <a:spcAft>
                <a:spcPts val="1100"/>
              </a:spcAft>
              <a:defRPr sz="1900">
                <a:solidFill>
                  <a:srgbClr val="F2F5F8"/>
                </a:solidFill>
              </a:defRPr>
            </a:pPr>
            <a:r>
              <a:t>• Companion listing: ch50/transfers.cpp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Opposite-direction transfers without opposite lock order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ch50/transfers.cpp</a:t>
            </a:r>
          </a:p>
          <a:p>
            <a:pPr>
              <a:spcAft>
                <a:spcPts val="1100"/>
              </a:spcAft>
              <a:defRPr sz="1900">
                <a:solidFill>
                  <a:srgbClr val="F2F5F8"/>
                </a:solidFill>
              </a:defRPr>
            </a:pPr>
            <a:r>
              <a:t>• The expected output is 1000 1000 .</a:t>
            </a:r>
          </a:p>
          <a:p>
            <a:pPr>
              <a:spcAft>
                <a:spcPts val="1100"/>
              </a:spcAft>
              <a:defRPr sz="1700">
                <a:solidFill>
                  <a:srgbClr val="F2F5F8"/>
                </a:solidFill>
              </a:defRPr>
            </a:pPr>
            <a:r>
              <a:t>• Initial funds are sufficient even when all 200 transfers in one direction happen first, so no operation should be rejected.</a:t>
            </a:r>
          </a:p>
          <a:p>
            <a:pPr>
              <a:spcAft>
                <a:spcPts val="1100"/>
              </a:spcAft>
              <a:defRPr sz="1700">
                <a:solidFill>
                  <a:srgbClr val="F2F5F8"/>
                </a:solidFill>
              </a:defRPr>
            </a:pPr>
            <a:r>
              <a:t>• The final check verifies the intended balanced workload, while the conserved-total argument bounds arithmetic throughout execution.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Detecting a circular wait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 A holds lock X and waits for Y, while thread B holds Y and waits for X.</a:t>
            </a:r>
          </a:p>
          <a:p>
            <a:pPr>
              <a:spcAft>
                <a:spcPts val="1100"/>
              </a:spcAft>
              <a:defRPr sz="1900">
                <a:solidFill>
                  <a:srgbClr val="F2F5F8"/>
                </a:solidFill>
              </a:defRPr>
            </a:pPr>
            <a:r>
              <a:t>• The wait-for graph contains A -&gt; B and B -&gt; A, a cycle.</a:t>
            </a:r>
          </a:p>
          <a:p>
            <a:pPr>
              <a:spcAft>
                <a:spcPts val="1100"/>
              </a:spcAft>
              <a:defRPr sz="1900">
                <a:solidFill>
                  <a:srgbClr val="F2F5F8"/>
                </a:solidFill>
              </a:defRPr>
            </a:pPr>
            <a:r>
              <a:t>• If neither lock can be preempted, the two threads cannot progress.</a:t>
            </a:r>
          </a:p>
          <a:p>
            <a:pPr>
              <a:spcAft>
                <a:spcPts val="1100"/>
              </a:spcAft>
              <a:defRPr sz="1900">
                <a:solidFill>
                  <a:srgbClr val="F2F5F8"/>
                </a:solidFill>
              </a:defRPr>
            </a:pPr>
            <a:r>
              <a:t>• Enforcing a global order such as always acquire X before Y removes this two-lock cycle.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Detecting a circular wait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Thread A holds lock X and waits for Y, while thread B holds Y and waits for X.</a:t>
            </a:r>
          </a:p>
          <a:p>
            <a:pPr>
              <a:spcAft>
                <a:spcPts val="1100"/>
              </a:spcAft>
              <a:defRPr sz="1900">
                <a:solidFill>
                  <a:srgbClr val="F2F5F8"/>
                </a:solidFill>
              </a:defRPr>
            </a:pPr>
            <a:r>
              <a:t>• The wait-for graph contains A -&gt; B and B -&gt; A, a cycle.</a:t>
            </a:r>
          </a:p>
          <a:p>
            <a:pPr>
              <a:spcAft>
                <a:spcPts val="1100"/>
              </a:spcAft>
              <a:defRPr sz="1900">
                <a:solidFill>
                  <a:srgbClr val="F2F5F8"/>
                </a:solidFill>
              </a:defRPr>
            </a:pPr>
            <a:r>
              <a:t>• If neither lock can be preempted, the two threads cannot progress.</a:t>
            </a:r>
          </a:p>
          <a:p>
            <a:pPr>
              <a:spcAft>
                <a:spcPts val="1100"/>
              </a:spcAft>
              <a:defRPr sz="1900">
                <a:solidFill>
                  <a:srgbClr val="F2F5F8"/>
                </a:solidFill>
              </a:defRPr>
            </a:pPr>
            <a:r>
              <a:t>• Enforcing a global order such as always acquire X before Y removes this two-lock cycle.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Avoiding nested locks with transfer ordering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transfers between accounts, order lock acquisition by stable account ID.</a:t>
            </a:r>
          </a:p>
          <a:p>
            <a:pPr>
              <a:spcAft>
                <a:spcPts val="1100"/>
              </a:spcAft>
              <a:defRPr sz="1900">
                <a:solidFill>
                  <a:srgbClr val="F2F5F8"/>
                </a:solidFill>
              </a:defRPr>
            </a:pPr>
            <a:r>
              <a:t>• A transfer from account 7 to 3 still locks 3 first, then 7.</a:t>
            </a:r>
          </a:p>
          <a:p>
            <a:pPr>
              <a:spcAft>
                <a:spcPts val="1100"/>
              </a:spcAft>
              <a:defRPr sz="1700">
                <a:solidFill>
                  <a:srgbClr val="F2F5F8"/>
                </a:solidFill>
              </a:defRPr>
            </a:pPr>
            <a:r>
              <a:t>• Every thread therefore uses the same global ordering regardless of transfer direction, preventing circular wait among those locks.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Avoiding nested locks with transfer ordering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transfers between accounts, order lock acquisition by stable account ID.</a:t>
            </a:r>
          </a:p>
          <a:p>
            <a:pPr>
              <a:spcAft>
                <a:spcPts val="1100"/>
              </a:spcAft>
              <a:defRPr sz="1900">
                <a:solidFill>
                  <a:srgbClr val="F2F5F8"/>
                </a:solidFill>
              </a:defRPr>
            </a:pPr>
            <a:r>
              <a:t>• A transfer from account 7 to 3 still locks 3 first, then 7.</a:t>
            </a:r>
          </a:p>
          <a:p>
            <a:pPr>
              <a:spcAft>
                <a:spcPts val="1100"/>
              </a:spcAft>
              <a:defRPr sz="1700">
                <a:solidFill>
                  <a:srgbClr val="F2F5F8"/>
                </a:solidFill>
              </a:defRPr>
            </a:pPr>
            <a:r>
              <a:t>• Every thread therefore uses the same global ordering regardless of transfer direction, preventing circular wait among those locks.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50.</a:t>
            </a:r>
          </a:p>
          <a:p>
            <a:pPr>
              <a:spcAft>
                <a:spcPts val="1100"/>
              </a:spcAft>
              <a:defRPr sz="1900">
                <a:solidFill>
                  <a:srgbClr val="F2F5F8"/>
                </a:solidFill>
              </a:defRPr>
            </a:pPr>
            <a:r>
              <a:t>• Draw the wait-for cycle for a naive implementation that locks source then destination independently.</a:t>
            </a:r>
          </a:p>
          <a:p>
            <a:pPr>
              <a:spcAft>
                <a:spcPts val="1100"/>
              </a:spcAft>
              <a:defRPr sz="1900">
                <a:solidFill>
                  <a:srgbClr val="F2F5F8"/>
                </a:solidFill>
              </a:defRPr>
            </a:pPr>
            <a:r>
              <a:t>• Then explain how the same-account guard and coordinated two-lock acquisition address different hazards.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How does deadlock differ from starvation?</a:t>
            </a:r>
          </a:p>
          <a:p>
            <a:pPr>
              <a:spcAft>
                <a:spcPts val="1100"/>
              </a:spcAft>
              <a:defRPr sz="1900">
                <a:solidFill>
                  <a:srgbClr val="F2F5F8"/>
                </a:solidFill>
              </a:defRPr>
            </a:pPr>
            <a:r>
              <a:t>• Review 2.</a:t>
            </a:r>
          </a:p>
          <a:p>
            <a:pPr>
              <a:spcAft>
                <a:spcPts val="1100"/>
              </a:spcAft>
              <a:defRPr sz="1900">
                <a:solidFill>
                  <a:srgbClr val="F2F5F8"/>
                </a:solidFill>
              </a:defRPr>
            </a:pPr>
            <a:r>
              <a:t>• Why is an unsafe allocation state not automatically a currently deadlocked state?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deadlock.</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Network Programming.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50     |     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