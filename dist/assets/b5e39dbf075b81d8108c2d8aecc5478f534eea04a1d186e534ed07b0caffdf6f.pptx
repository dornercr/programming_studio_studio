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Lst>
  <p:notesMasterIdLst>
    <p:notesMasterId r:id="rId6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notesMaster" Target="notesMasters/notesMaster1.xml"/><Relationship Id="rId67" Type="http://schemas.openxmlformats.org/officeDocument/2006/relationships/presProps" Target="presProps.xml"/><Relationship Id="rId68" Type="http://schemas.openxmlformats.org/officeDocument/2006/relationships/viewProps" Target="viewProps.xml"/><Relationship Id="rId69" Type="http://schemas.openxmlformats.org/officeDocument/2006/relationships/theme" Target="theme/theme1.xml"/><Relationship Id="rId7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Understanding Computer Systems
TOPIC: CHAPTER 1 · GRADUATE LECTURE
SOURCE BASIS: Original slide 1 of the user-supplied 22-slide chapter.
TREATMENT: Source topic retained with expanded lecture explanation.
LECTURE NARRATION
A useful systems explanation is more precise than saying that the computer runs the code. We want to identify which component translates a representation, which component owns a resource, and which interface guarantees a particular result. Chapter 1 gives us the mental model for doing that. We will follow a small C program from source files to observable output, then ask what build success, a successful launch, and a successful test actually establish. These are different claims.
The supplied 22-slide chapter is our coverage baseline. This expanded lecture retains its organization and examples. Graduate elaborations add explicit assumptions, counterexamples, artifact inspection, and short derivations. The simplified explanation at the bottom of every slide restates the same idea without replacing the technical account. Our recurring question is: what is promised at this boundary, and what evidence would show that the promise was kept?
SIXTH-GRADE EXPLANATION
A program is not just a list of commands. Many parts work together, and each part has rules the others must follow.
TRANSITION
Next: The complete Chapter 1 route.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The complete Chapter 1 route
TOPIC: SCOPE &amp; LEARNING OUTCOMES
SOURCE BASIS: Original slides 2, 7, 13, 20, 21, 22 of the user-supplied 22-slide chapter.
TREATMENT: Source topic retained with expanded lecture explanation.
LECTURE NARRATION
The first section distinguishes hardware, systems software, and application software, then separates API, ABI, and ISA contracts. The second section follows every stage named in the original chapter: source, preprocessing, compilation, assembly, linking, loading, and runtime execution. The third section develops the six concerns that make systems programming distinctive: representation, performance, resources, correctness, robustness, and portability.
We will retain the two-file addition program, the build-stage experiment, the expression trace, the correctness-versus-performance comparison, the guided lab, and both original review questions. The standard for graduate work is explanation with evidence. You should be able to predict which artifact contains a missing symbol, distinguish a mapping from physical residency, and state an invariant that survives an error path. The lab platform is a hosted C17 program on Linux with a GCC-compatible compiler and GNU binary tools. Other environments require corresponding tools and conventions.
SIXTH-GRADE EXPLANATION
We will learn what the computer contains, how code becomes a running program, and how to check that the program behaves safely.
TRANSITION
Next: Turn a claim into a testable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Turn a claim into a testable argument
TOPIC: GRADUATE METHOD
SOURCE BASIS: Original slides 2, 5, 19 of the user-supplied 22-slide chapter.
GRADUATE EXTENSION: Added analysis, teaching model, diagnostic method, or exercise.
LECTURE NARRATION
Consider the statement that our program printed 42. It reports an observation, but it does not specify the input domain, the compiler assumptions, or whether an invalid memory access occurred on the way to that output. A stronger argument separates a contract, assumptions, and evidence. The contract says what counts as correct. Assumptions identify the conditions under which the reasoning applies. Evidence is what we inspected or measured.
These categories prevent two common mistakes. First, a useful test result is not a universal proof. Second, a documented guarantee is not a measured performance result. During the lecture, attach each conclusion to its boundary: language, binary interface, operating system, or hardware. If the observation conflicts with the prediction, revise the model or inspect a lower-level artifact rather than inventing a promise that the interface never made. This framework is an instructional elaboration of the original chapter's contract model.
SIXTH-GRADE EXPLANATION
Do not stop at “it worked.” Say what you expected, what had to be true, and what you checked.
DISCUSSION / PAUSE
What is missing from the claim “the executable ran successfully”?
EXPECTED RESPONSE
The success criterion, input domain, environmental assumptions, and evidence beyond that one run.
TRANSITION
Next: Hardware: compute, state, and movement.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Hardware: compute, state, and movement
TOPIC: 1.1.1 · HARDWARE &amp; SOFTWARE
SOURCE BASIS: Original slide 3 of the user-supplied 22-slide chapter.
TREATMENT: Source topic retained with expanded lecture explanation.
LECTURE NARRATION
The original chapter begins with a deliberately simplified CPU-memory-I/O model. CPU cores execute instructions, registers hold working state, memory holds addressable instructions and data, and controllers connect devices to the rest of the machine. Storage and peripherals have different purposes and access mechanisms from registers. Buses and interconnects carry requests and data among these components.
Use this picture to ask three questions: where does a value currently exist, which component initiates its movement, and what event tells another component that progress occurred? The picture is not a claim that contemporary processors execute one instruction at a time or that all transfers pass through one physical wire. It is a model of responsibilities. The software side supplies instructions and data, while the language, executable format, operating system, and device interface assign meaning to particular encodings. A sequence of bits does not identify its own type or purpose.
SIXTH-GRADE EXPLANATION
The processor does the work. Registers and memory hold information. Controllers help the computer talk to storage and other devices.
DISCUSSION / PAUSE
Does a byte sequence tell you whether it is an instruction, an integer, or text?
EXPECTED RESPONSE
No. Its interpretation depends on the surrounding interface, representation, and execution context.
TRANSITION
Next: Follow the value—not just the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Follow the value—not just the statement
TOPIC: 1.1.1 · CPU, REGISTERS &amp; MEMORY
SOURCE BASIS: Original slides 3, 18 of the user-supplied 22-slide chapter.
TREATMENT: Source topic retained with expanded lecture explanation.
LECTURE NARRATION
Suppose a source expression adds three to a value. Before discussing the addition, ask how the value became available to the executing instruction. It might arrive in an argument register, come from a prior calculation, or require a load. The result might remain in a register, be used immediately, or be stored. This is why a source variable should not automatically be imagined as a permanently assigned RAM slot.
The instruction stream also has to be fetched. Therefore, saying that an addition needs no data-memory access is not the same as saying that the processor uses no memory-related machinery. The original chapter makes this distinction in its expression example. Our register-workbench analogy explains placement, not exact timing or physical implementation. At this stage, track architectural inputs and outputs and leave detailed cache behavior and processor scheduling to later chapters.
SIXTH-GRADE EXPLANATION
Think of registers as a tiny workbench and memory as a larger set of shelves. A value may already be on the workbench when it is needed.
DISCUSSION / PAUSE
Can the addition itself avoid a data-memory load?
EXPECTED RESPONSE
Yes, when the needed operand is already in a register or the compiler can otherwise supply it without a load.
TRANSITION
Next: Controllers and interrupts coordinate 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Controllers and interrupts coordinate I/O
TOPIC: 1.1.1 · STORAGE &amp; PERIPHERALS
SOURCE BASIS: Original slides 3, 12 of the user-supplied 22-slide chapter.
GRADUATE EXTENSION: Added analysis, teaching model, diagnostic method, or exercise.
LECTURE NARRATION
I/O introduces a boundary between requesting work and completing work. A controller supplies a device-facing interface. Systems software translates a higher-level request into actions the device supports. An interrupt is one mechanism by which the system can learn that an event needs attention; it should not be mistaken for the application itself performing the hardware operation.
A useful explanation identifies the requester, the component doing the transfer, and the component reporting completion. Do not silently assume that a library call corresponds to one device command or that returning from a high-level call means durable storage has been achieved. Those are separate contracts. The source deck names controllers and interrupts; this slide makes the request/completion distinction explicit without prescribing one device protocol. We will revisit the same distinction when we discuss buffered output and partial failures.
SIXTH-GRADE EXPLANATION
A device does not always finish right away. The program asks for work, the device does it, and the system reports what happened.
TRANSITION
Next: Software role is not execution privilege.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Software role is not execution privilege
TOPIC: 1.1.2–1.1.3 · SOFTWARE CATEGORIES
SOURCE BASIS: Original slide 4 of the user-supplied 22-slide chapter.
TREATMENT: Source topic retained with expanded lecture explanation.
LECTURE NARRATION
The chapter classifies systems software by role: kernels control resources, compilers translate, linkers connect compiled units, runtime libraries supply startup and shared operations, and drivers handle device-specific interactions. Application software performs tasks for users or services. The distinction is useful, but not absolute. A database application may contain its own allocator, scheduler, or storage engine.
Execution privilege is a different axis. A compiler is systems software that normally executes as an ordinary user process. A server may manage important information without becoming kernel code. Conversely, a particular driver architecture can place components on either side of a privilege boundary. Avoid using the labels low-level, systems, and privileged as synonyms. For diagnosis, ask what a component is responsible for and what operations it is authorized to perform. These questions may have different answers.
SIXTH-GRADE EXPLANATION
Some programs help the computer run other programs. That does not mean they all get special permission to control the machine.
DISCUSSION / PAUSE
Why does a compiler not need kernel privilege just because it is systems software?
EXPECTED RESPONSE
Translation is its role; the OS can provide ordinary process permissions sufficient to read inputs and write outputs.
TRANSITION
Next: An abstraction is a smaller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An abstraction is a smaller contract
TOPIC: 1.1.4 · ABSTRACTION LAYERS
SOURCE BASIS: Original slide 5 of the user-supplied 22-slide chapter.
GRADUATE EXTENSION: Added analysis, teaching model, diagnostic method, or exercise.
LECTURE NARRATION
The original slide describes an abstraction as hiding detail while preserving a contract. For example, a file descriptor lets a caller request byte-oriented I/O without manipulating a storage controller. A vector presents a sequence while hiding many allocation decisions. Hidden details continue to exist; they are simply not all part of the caller's interface.
At graduate level, describe a contract using preconditions, permitted effects, postconditions, and failure behavior. Preconditions tell the caller what must already hold. Postconditions constrain the result when the operation succeeds. Failure behavior says what may have changed and what remains valid. This is a reasoning framework, not a claim that every real interface documents all of these perfectly. A missing or ambiguous guarantee is something to investigate, not permission to assume convenient behavior. Abstraction succeeds when the smaller contract is sufficient for the caller's reasoning.
SIXTH-GRADE EXPLANATION
A button can be easy to use even when the machine behind it is complicated. You still need to know what pressing the button promises.
TRANSITION
Next: Guaranteed, customary, or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Guaranteed, customary, or measured?
TOPIC: 1.1.4 · DO NOT INVENT GUARANTEES
SOURCE BASIS: Original slides 5, 15, 19 of the user-supplied 22-slide chapter.
TREATMENT: Source topic retained with expanded lecture explanation.
LECTURE NARRATION
Separate what an interface promises from what an implementation commonly does and from what you observed on a particular run. This distinction appears explicitly in the source chapter. Suppose an output operation reports that it accepted some number of bytes. The count is part of that operation's result. Whether all bytes were accepted at once, when physical storage was updated, and how long the operation took are different questions.
The vector example has the same structure: a sequence interface need not expose every allocation decision. A caller who relies on an undocumented growth choice turns an implementation detail into a hidden dependency. When presenting evidence, use precise wording. Say that a run took a measured amount of time under a stated setup, not that the API promises that latency. Say that a platform documents a behavior when it actually does. The method is to classify a claim before relying on it.
SIXTH-GRADE EXPLANATION
A rule, a habit, and something you saw once are different. A program should not treat them as the same thing.
TRANSITION
Next: API, ABI, and ISA answer different questions.
PRIMARY REFERENCES
[W] Linux man-pages, write(2). Byte-output results, partial writes, and limitations of a successful return. https://man7.org/linux/man-pages/man2/write.2.html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API, ABI, and ISA answer different questions
TOPIC: 1.1.5 · HARDWARE / SOFTWARE INTERFACES
SOURCE BASIS: Original slide 6 of the user-supplied 22-slide chapter.
TREATMENT: Source topic retained with expanded lecture explanation.
LECTURE NARRATION
An API is a source-facing interface: names, operations, argument meanings, and behavioral contracts. An ABI governs compiled interoperability: calling conventions, register use, data layout, and other binary rules. An ISA describes machine operations and software-visible architectural state. These boundaries answer different questions even when one program crosses all three in a few instructions.
Use a function call as the running example. Its source declaration tells the compiler how the call is written and typed. Binary conventions tell caller and callee where to put arguments and results. The selected machine instructions must then be valid for the target architecture. Matching at one boundary does not imply matching at the others. The original chapter's three warnings remain important: identical APIs do not imply binary compatibility; a shared ISA does not imply a shared ABI; and a shared ISA does not imply identical microarchitecture or speed.
SIXTH-GRADE EXPLANATION
The API says what you can ask for. The ABI says how compiled parts pass things. The ISA says which machine commands the processor understands.
TRANSITION
Next: One ISA can support different calling conventions.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One ISA can support different calling conventions
TOPIC: 1.1.5 · ABI CASE STUDY
SOURCE BASIS: Original slide 6 of the user-supplied 22-slide chapter.
GRADUATE EXTENSION: Added analysis, teaching model, diagnostic method, or exercise.
LECTURE NARRATION
Here is a concrete graduate extension of the chapter's ABI distinction. For an ordinary function taking two int parameters, a System V AMD64 caller uses the integer argument-register convention associated with RDI and RSI, with the int values in their 32-bit portions. The usual Microsoft x64 convention uses RCX and RDX for those positions instead. For the int return in this example, EAX is used in both conventions.
This is a deliberately narrow example. Real ABIs also define stack rules, preserved registers, alignment, aggregate classification, and other details. Do not extend this two-int table to every type or every function. It is enough to demonstrate the logical point: a machine can implement the x86-64 ISA while binary components disagree about how a function is called. Source-level similarity is not evidence that independently built objects can be combined safely.
SIXTH-GRADE EXPLANATION
Two people can speak the same language but use different handoff rules. Compiled functions also need to agree on where each value goes.
DISCUSSION / PAUSE
Would matching instruction sets make these two calling conventions interchangeable?
EXPECTED RESPONSE
No. Caller and callee must also agree on argument locations and the rest of the binary contract.
TRANSITION
Next: Architecture is a promise; implementation is a choice.
PRIMARY REFERENCES
[ABI] System V AMD64 ABI, draft 0.99.6, §3.2 (2012). Ordinary integer calling conventions, register usage, and processor-specific ABI context. https://refspecs.linuxfoundation.org/elf/x86_64-abi-0.99.pdf
[MS] Microsoft Learn, x64 calling convention. Ordinary Microsoft x64 integer argument and return conventions. https://learn.microsoft.com/en-us/cpp/build/x64-calling-convention?view=msvc-170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Architecture is a promise; implementation is a choice
TOPIC: 1.1.5 · ISA VS. MICROARCHITECTURE
SOURCE BASIS: Original slides 3, 6, 18, 19 of the user-supplied 22-slide chapter.
TREATMENT: Source topic retained with expanded lecture explanation.
LECTURE NARRATION
The chapter warns that an ISA and a microarchitecture are not the same thing. The ISA defines the software-visible operations and state that an implementation must honor. Microarchitecture concerns how a particular implementation realizes that behavior. The existence of the same instruction in two systems does not establish the same latency, throughput, cache behavior, or resource contention.
Keep two explanations separate. A functional explanation asks which architectural result an instruction produces under its specified conditions. A performance explanation asks how long a workload takes on a particular implementation and why. A correct functional trace does not provide enough information to derive whole-program timing. Conversely, a favorable benchmark cannot excuse an invalid instruction assumption or a violated language rule. This distinction prepares the performance discussion without turning Chapter 1 into a processor-design course.
SIXTH-GRADE EXPLANATION
Two cars can follow the same road rules but have different engines. Two processors can run the same commands at different speeds.
TRANSITION
Next: Locate the boundary before proposing a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Locate the boundary before proposing a fix
TOPIC: 1.1 · INTERFACE REASONING CHECK
SOURCE BASIS: Original slides 6, 11, 12, 21 of the user-supplied 22-slide chapter.
GRADUATE EXTENSION: Added analysis, teaching model, diagnostic method, or exercise.
LECTURE NARRATION
A systems failure is easier to investigate when the symptom is attached to a boundary. A missing source declaration is not the same problem as a missing compiled definition. A binary that requires a different instruction set has a different issue from a program that lacks access to a file. The table gives initial hypotheses, not a complete diagnostic decision tree.
The graduate task is to state the evidence that would discriminate among plausible explanations. For a binary-interface concern, examine build settings and the ABI of both components. For a runtime file error, inspect the operation's returned status and the relevant environment. For a performance discrepancy, record the workload and implementation. Avoid responding to every symptom by recompiling everything or increasing privileges. Those actions may hide the mismatch instead of explaining it. Later slides make the build-stage examples concrete.
SIXTH-GRADE EXPLANATION
When something breaks, first find which handoff went wrong. Fixing the wrong part wastes time.
TRANSITION
Next: Seven stages, seven different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Seven stages, seven different questions
TOPIC: 1.2 · FROM SOURCE TO EXECUTION
SOURCE BASIS: Original slide 7 of the user-supplied 22-slide chapter.
TREATMENT: Source topic retained with expanded lecture explanation.
LECTURE NARRATION
The source chapter presents a seven-stage model: source, preprocessing, compilation, assembly, linking, loading, and execution. The model separates responsibilities; it does not require every implementation to launch a separate operating-system process for every stage. Compiler drivers often orchestrate several stages in a single command.
Each stage changes what kind of evidence is available. Source text exposes the programmer's operations and obligations. Preprocessed text exposes the translation unit after directives and macros. Assembly exposes symbolic target operations. An object file exposes encoded data, symbols, and relocation requirements. A linked executable describes a loadable program, while loading and runtime establish and exercise the process environment. Notice that passing an earlier stage does not guarantee passing later stages. Successful compilation does not supply an omitted definition, and successful loading does not guarantee that a runtime resource will be available.
SIXTH-GRADE EXPLANATION
The program goes through several stations before and while it runs. Each station has a different job and can find a different kind of problem.
TRANSITION
Next: Source code describes an abstract computation.
PRIMARY REFERENCES
[GCC] GCC manual, Overall Options. Compilation stages and the -E, -S, -c, and -o compiler-driver options. https://gcc.gnu.org/onlinedocs/gcc/Overall-Options.html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 Source code describes an abstract computation
TOPIC: 1.2.1 · SOURCE-LEVEL CONTRACT
SOURCE BASIS: Original slide 8 of the user-supplied 22-slide chapter.
TREATMENT: Source topic retained with expanded lecture explanation.
LECTURE NARRATION
Before imagining instructions, identify the source-level semantics. The original chapter lists types, expressions, statements, lifetimes, synchronization rules, and observable behavior. These constrain the abstract computation, but source order is not a literal physical schedule. A correct implementation may transform the computation while preserving the behavior required by the language and the implementation's documented guarantees.
For a pointer access, ask whether the object exists, whether the access is in range, and whether its lifetime and synchronization obligations hold. For arithmetic, ask whether the result is representable under the relevant rules. These are not optional details to check after performance tuning. They define the domain in which the rest of the explanation is valid. The public C committee draft provides a reference for abstract-machine reasoning; the lab retains the source deck's C17 compilation mode.
SIXTH-GRADE EXPLANATION
Code has rules about what values mean and when they may be used. The computer may organize the work differently while keeping the promised result.
TRANSITION
Next: Not all language uncertainty is undefined behavior.
PRIMARY REFERENCES
[LANG] WG14 N1570, Programming languages — C, committee draft (2011). §3.4 behavior categories; §5.1 abstract machine and execution; §6.5 expressions; declarations and external definitions. C11 draft reference, not the published C17 standard. Lab examples use C17 mode. https://www.open-std.org/jtc1/sc22/wg14/www/docs/n1570.pdf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16: Not all language uncertainty is undefined behavior
TOPIC: 1.2.1 · CLASSIFY THE RULE
SOURCE BASIS: Original slides 8, 19, 21 of the user-supplied 22-slide chapter.
GRADUATE EXTENSION: Added analysis, teaching model, diagnostic method, or exercise.
LECTURE NARRATION
This classification extends the original instruction to check defined behavior first. Some behavior is directly constrained by the language rules. Other matters permit an implementation-defined choice that the implementation documents, or an unspecified choice among permitted alternatives. Undefined behavior is different: it does not provide an ordinary language-level guarantee for the erroneous execution.
For the chapter's systems model, the practical point is not memorizing labels. It is choosing the right evidence. Documentation is relevant to an implementation-defined property. A program should not depend on a particular unspecified choice unless its specification tolerates all allowed choices. An out-of-bounds access cannot be justified by reporting that a test happened to print the expected number. Be careful with scope: the labels attach to specific rules and operations, not to the vague claim that an entire compiler is unpredictable.
SIXTH-GRADE EXPLANATION
Sometimes a rule allows a choice. Sometimes the maker must explain the choice. Breaking a rule is different from either kind of choice.
TRANSITION
Next: Preprocessing works on directives and tokens.
PRIMARY REFERENCES
[LANG] WG14 N1570, Programming languages — C, committee draft (2011). §3.4 behavior categories; §5.1 abstract machine and execution; §6.5 expressions; declarations and external definitions. C11 draft reference, not the published C17 standard. Lab examples use C17 mode. https://www.open-std.org/jtc1/sc22/wg14/www/docs/n1570.pdf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17: Preprocessing works on directives and tokens
TOPIC: 1.2.2 · HEADERS, MACROS &amp; CONDITIONALS
SOURCE BASIS: Original slide 9 of the user-supplied 22-slide chapter.
TREATMENT: Source topic retained with expanded lecture explanation.
LECTURE NARRATION
The original preprocessing example contains a standard header, a macro constant, and a platform conditional. Include processing makes header content available to the translation unit; it does not automatically cause an external function implementation to be linked into the final program. Conditional inclusion is a translation-time decision. It is not a runtime test executed each time the program runs.
Macros operate on preprocessing tokens. They are not typed runtime variables or ordinary function calls. That distinction matters when an argument contains an operation with a side effect, as the next slide demonstrates. Use the preprocessed file as evidence when a macro or a conditional produces surprising source code. This is a more direct method than guessing at what the compiler saw. The platform symbol in this example is explicitly environment-specific, which also connects preprocessing to portability assumptions.
SIXTH-GRADE EXPLANATION
Before normal compilation, the preprocessor follows special instructions, brings in header text, and replaces chosen words or symbols.
TRANSITION
Next: A macro can duplicate an operation.
PRIMARY REFERENCES
[GCC] GCC manual, Overall Options. Compilation stages and the -E, -S, -c, and -o compiler-driver options. https://gcc.gnu.org/onlinedocs/gcc/Overall-Options.html
[CPP] GNU C Preprocessor, Duplication of Side Effects. Token substitution and unsafe repeated evaluation in macros. https://gcc.gnu.org/onlinedocs/cpp/Duplication-of-Side-Effects.html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18: A macro can duplicate an operation
TOPIC: 1.2.2 · PREPROCESSOR COUNTEREXAMPLE
SOURCE BASIS: Original slide 9 of the user-supplied 22-slide chapter.
GRADUATE EXTENSION: Added analysis, teaching model, diagnostic method, or exercise.
LECTURE NARRATION
This is a deliberately invalid example for analysis, not a program to use as a numerical experiment. The SQUARE macro replaces its parameter in two positions. Giving it i++ expands the increment expression twice. In C, the two modifications shown in the multiplication expression are unsequenced relative to one another, so the example has undefined behavior. There is no correct portable numeric answer to predict.
Parentheses are still useful in macros because they prevent some precedence surprises, but they do not make repeated evaluation safe. A function that receives an already computed value separates the caller's side effect from the body calculation. Even then, arithmetic range requirements remain: replacing the macro with a function does not make arbitrary signed multiplication overflow valid. This extension turns the source deck's warning about duplicated side effects into a concrete contract failure.
SIXTH-GRADE EXPLANATION
A macro can copy your instruction more than once. Asking it to “use the number and then increase it” can accidentally copy the increase too.
DISCUSSION / PAUSE
What portable value should we predict for y?
EXPECTED RESPONSE
None. The shown expanded expression violates C sequencing rules.
TRANSITION
Next: Declarations enable checking; definitions supply entities.
PRIMARY REFERENCES
[CPP] GNU C Preprocessor, Duplication of Side Effects. Token substitution and unsafe repeated evaluation in macros. https://gcc.gnu.org/onlinedocs/cpp/Duplication-of-Side-Effects.html
[LANG] WG14 N1570, Programming languages — C, committee draft (2011). §3.4 behavior categories; §5.1 abstract machine and execution; §6.5 expressions; declarations and external definitions. C11 draft reference, not the published C17 standard. Lab examples use C17 mode. https://www.open-std.org/jtc1/sc22/wg14/www/docs/n1570.pdf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19: Declarations enable checking; definitions supply entities
TOPIC: 1.2.2 · TRANSLATION UNITS
SOURCE BASIS: Original slides 9, 16 of the user-supplied 22-slide chapter.
GRADUATE EXTENSION: Added analysis, teaching model, diagnostic method, or exercise.
LECTURE NARRATION
In the chapter's two-file program, sum.h declares add, sum.c defines it, and main.c calls it. The declaration lets each translation unit check source-level uses. The compiled caller can still depend on a definition that will be supplied later. That is the central reason a program may compile and then fail at the link stage.
The graduate nuance is that a header is not intrinsically declaration-only. Headers can also contain definitions, subject to language and linkage rules. Our teaching layout places this externally linked function's declaration in the header and its definition in one source file. The include guard in the companion lab is an added organizational aid. Distinguish a file's conventional role from a language restriction. Also remember that consistent declarations across translation units are a programmer and build-system responsibility; a conventional linker is not a complete source-level type checker.
SIXTH-GRADE EXPLANATION
A declaration says that a function exists and how to call it. A definition contains the actual function body.
TRANSITION
Next: The compiler transforms meaning into a target program.
PRIMARY REFERENCES
[LANG] WG14 N1570, Programming languages — C, committee draft (2011). §3.4 behavior categories; §5.1 abstract machine and execution; §6.5 expressions; declarations and external definitions. C11 draft reference, not the published C17 standard. Lab examples use C17 mode. https://www.open-std.org/jtc1/sc22/wg14/www/docs/n1570.pdf
[LD] GNU linker manual, Overview. Linker role in combining, relocating, and resolving object inputs. https://sourceware.org/binutils/docs/ld/Overview.html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20: The compiler transforms meaning into a target program
TOPIC: 1.2.3 · COMPILATION
SOURCE BASIS: Original slide 10 of the user-supplied 22-slide chapter.
TREATMENT: Source topic retained with expanded lecture explanation.
LECTURE NARRATION
The original chapter separates compiler work from assembler work. The compiler parses a translation unit, checks language constraints, creates intermediate representations, transforms the computation, and selects target instructions. These phases need not appear as separate user-visible files. An intermediate representation is useful because the compiler can reason about operations and dependencies before choosing their final encoding.
Successful compilation establishes only what that compilation checked. It does not prove a whole-program specification or show that every runtime input is safe. A declaration can permit a source call even when its definition is missing from the eventual link. A path can contain a memory error that the compiler does not diagnose. For investigation, ask what assumptions a transformation uses and what observable behavior it must preserve. The next slide examines why optimized output need not resemble the source statement by statement.
SIXTH-GRADE EXPLANATION
The compiler checks the code and turns its meaning into instructions for a chosen kind of processor.
TRANSITION
Next: Optimization does not preserve source appearance.
PRIMARY REFERENCES
[GCC] GCC manual, Overall Options. Compilation stages and the -E, -S, -c, and -o compiler-driver options. https://gcc.gnu.org/onlinedocs/gcc/Overall-Options.html
[OPT] GCC manual, Optimize Options. Optimization controls and target/build dependence; no fixed assembly listing promised. https://gcc.gnu.org/onlinedocs/gcc/Optimize-Options.html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21: Optimization does not preserve source appearance
TOPIC: 1.2.3 · SEMANTICS VS. MACHINE SCHEDULE
SOURCE BASIS: Original slides 8, 10, 18 of the user-supplied 22-slide chapter.
GRADUATE EXTENSION: Added analysis, teaching model, diagnostic method, or exercise.
LECTURE NARRATION
Consider a function that adds three and returns the result. The source introduces y, but the implementation does not need to preserve a physical storage location named y. It can produce the result directly in a return register, use a target instruction that combines operations, or transform the surrounding caller when optimization permits. Source-level names are not a list of mandatory hardware objects.
The argument only applies within the function's valid domain. For int addition in this example, x must be at most INT_MAX minus three, and the source value must otherwise be valid. The actual emitted instructions depend on the target, compiler version, and options. For that reason, the slide does not promise a particular assembly listing. In the lab, compare generated assembly as an observation and record the build settings rather than treating one listing as the universal translation of C.
SIXTH-GRADE EXPLANATION
A compiler may take a shortcut that gives the same required result. It does not have to copy each written step into a separate machine command.
TRANSITION
Next: The assembler produces more than instruction bytes.
PRIMARY REFERENCES
[OPT] GCC manual, Optimize Options. Optimization controls and target/build dependence; no fixed assembly listing promised. https://gcc.gnu.org/onlinedocs/gcc/Optimize-Options.html
[LANG] WG14 N1570, Programming languages — C, committee draft (2011). §3.4 behavior categories; §5.1 abstract machine and execution; §6.5 expressions; declarations and external definitions. C11 draft reference, not the published C17 standard. Lab examples use C17 mode. https://www.open-std.org/jtc1/sc22/wg14/www/docs/n1570.pdf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22: The assembler produces more than instruction bytes
TOPIC: 1.2.4 · ASSEMBLY &amp; OBJECT FILES
SOURCE BASIS: Original slides 10, 11 of the user-supplied 22-slide chapter.
TREATMENT: Source topic retained with expanded lecture explanation.
LECTURE NARRATION
Assembly output is not a uniform list of executable instructions. It can contain labels, directives, data, and symbolic references. Labels identify positions or symbols; directives tell the assembler how to organize material. The assembler encodes instructions and data and emits the additional object-file information required for later stages.
A relocatable object can contain a reference whose final address is not yet known. Keeping that information is not a failure to assemble the file. It is part of separate compilation. The chapter's caller can therefore assemble before the linker sees the definition of add. When reading assembly or disassembly, separate the actual instructions from organizational metadata. When examining an object, ask both what bytes it already contains and what obligations remain unresolved. This is the bridge between compiler output and linking.
SIXTH-GRADE EXPLANATION
Assembly uses readable names for machine operations. The assembler makes the bytes and keeps information needed to connect unfinished references later.
TRANSITION
Next: Linking connects separate compiled responsibilities.
PRIMARY REFERENCES
[AS] GNU assembler manual, Symbols. Symbolic assembly information retained for later stages. https://sourceware.org/binutils/docs/as/Symbols.html
[ELF] System V generic ABI, Relocation. Relocation entries; processor-specific interpretation. The lecture arithmetic is an explicitly illustrative model. https://refspecs.linuxfoundation.org/elf/gabi4+/ch4.reloc.html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23: Linking connects separate compiled responsibilities
TOPIC: 1.2.5 · SYMBOLS, SECTIONS &amp; LIBRARIES
SOURCE BASIS: Original slides 11, 16, 17 of the user-supplied 22-slide chapter.
TREATMENT: Source topic retained with expanded lecture explanation.
LECTURE NARRATION
The source chapter describes linking as combining object files and libraries, resolving symbol references, laying out sections, and applying relocations that can be handled at link time. In our example, main.o refers to add and sum.o provides the corresponding definition. The linker connects the reference using the applicable object format and binary conventions.
An undefined-reference diagnostic points us toward the link inputs, symbol names, and compatible definitions. It is not normally fixed by adding another source declaration to the caller. Conversely, linking successfully is not proof that independently compiled declarations were compatible at the language level. Traditional linkers primarily operate on binary information, and some incompatible source assumptions can survive ordinary symbol resolution. We will intentionally omit sum.o to create a focused failure whose cause can be explained from the artifact chain.
SIXTH-GRADE EXPLANATION
The linker joins the program pieces. When one piece calls a function, the linker looks for the piece that defines it.
TRANSITION
Next: Relocation: finish an address-dependent calculation.
PRIMARY REFERENCES
[LD] GNU linker manual, Overview. Linker role in combining, relocating, and resolving object inputs. https://sourceware.org/binutils/docs/ld/Overview.html
[ELF] System V generic ABI, Relocation. Relocation entries; processor-specific interpretation. The lecture arithmetic is an explicitly illustrative model. https://refspecs.linuxfoundation.org/elf/gabi4+/ch4.reloc.html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24: Relocation: finish an address-dependent calculation
TOPIC: 1.2.5 · GRADUATE WORKED MODEL
SOURCE BASIS: Original slide 11 of the user-supplied 22-slide chapter.
GRADUATE EXTENSION: Added analysis, teaching model, diagnostic method, or exercise.
LECTURE NARRATION
Relocation records preserve information needed to adjust address-dependent content. To make the arithmetic visible, use an illustrative PC-relative relocation model with a symbol address S, an addend A, and a relocation-place address P. Under the chosen model, the stored result is S plus A minus P. For the slide's hexadecimal values, 0x1200 minus 0x1000 gives 0x0200, or 512 decimal.
This is explicitly a teaching model, not the exact encoding of a particular call instruction. Real relocation types define which location P denotes, how an addend is stored, the field width, alignment, and overflow constraints. Some instruction encodings require an addend that accounts for the relationship between the relocation field and the next instruction. The important conceptual result is that assembly can preserve a solvable equation without knowing its final numeric answer. A processor-specific ABI supplies the exact rule.
SIXTH-GRADE EXPLANATION
A reference can say “fill in the distance to this function later.” Once the function has a final location, the linker can calculate the distance.
DISCUSSION / PAUSE
Why can the assembler emit a valid object before S is known?
EXPECTED RESPONSE
It records the unresolved symbol and relocation information so a later stage can compute the needed value.
TRANSITION
Next: Static and dynamic linking resolve work at different times.
PRIMARY REFERENCES
[ELF] System V generic ABI, Relocation. Relocation entries; processor-specific interpretation. The lecture arithmetic is an explicitly illustrative model. https://refspecs.linuxfoundation.org/elf/gabi4+/ch4.reloc.html
[ABI] System V AMD64 ABI, draft 0.99.6, §3.2 (2012). Ordinary integer calling conventions, register usage, and processor-specific ABI context. https://refspecs.linuxfoundation.org/elf/x86_64-abi-0.99.pdf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25: Static and dynamic linking resolve work at different times
TOPIC: 1.2.5–1.2.6 · LINK-TIME VS. LOAD-TIME WORK
SOURCE BASIS: Original slides 11, 12 of the user-supplied 22-slide chapter.
GRADUATE EXTENSION: Added analysis, teaching model, diagnostic method, or exercise.
LECTURE NARRATION
The original chapter mentions both link-time relocation and dynamic loaders that can finish runtime linking. The distinction is timing and packaging, not a choice between having contracts and having none. Static linking selects needed material from object inputs and archives into the output. Dynamic linking leaves shared-object dependencies and associated work for the runtime environment.
A dynamically linked executable can be well formed and still fail to start when a required shared object cannot be found or is incompatible. Likewise, successfully finding a shared library does not establish that the application will handle its later inputs correctly. Do not say that static linking universally means every operating-system dependency disappears, or that every dynamic symbol must always resolve at exactly the same moment. Policies differ. The teaching goal is to identify which obligations remain after the static link stage.
SIXTH-GRADE EXPLANATION
Some program pieces are joined before the program runs. Other pieces are found and connected when the program starts or later.
TRANSITION
Next: Loading establishes the executable process image.
PRIMARY REFERENCES
[LD] GNU linker manual, Overview. Linker role in combining, relocating, and resolving object inputs. https://sourceware.org/binutils/docs/ld/Overview.html
[DYNL] Linux man-pages, ld.so(8). Shared-object discovery and dynamic-loader behavior. https://man7.org/linux/man-pages/man8/ld.so.8.html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26: Loading establishes the executable process image
TOPIC: 1.2.6 · LOADING
SOURCE BASIS: Original slide 12 of the user-supplied 22-slide chapter.
GRADUATE EXTENSION: Added analysis, teaching model, diagnostic method, or exercise.
LECTURE NARRATION
Loading connects an executable file to the process that will execute it. The source chapter describes mappings and possible dynamic-loader work. For our Linux teaching environment, execve replaces the current process image with a new program image; it should not be described as creating a new process by itself. Process creation and image replacement are distinct operations.
Executable metadata describes what must be mapped and how execution begins. For ELF, program headers describe segments relevant to loading; these should not be confused with the section-oriented view used by many link and inspection operations. A dynamic interpreter may also be involved. This is a deliberately bounded Linux/ELF elaboration, not a universal sequence for every operating system. Successful loading establishes a starting environment, not the future availability of all files, permissions, sockets, or memory allocations the program will request.
SIXTH-GRADE EXPLANATION
A program file is not yet a running program. The system must set up its memory view and starting conditions first.
TRANSITION
Next: Mapped memory is not necessarily resident memory.
PRIMARY REFERENCES
[EXEC] Linux man-pages, execve(2). Image replacement, startup, and executable interpreter behavior. https://man7.org/linux/man-pages/man2/execve.2.html
[PH] System V generic ABI, Program Header. ELF load-relevant segments and program-header metadata. https://refspecs.linuxfoundation.org/elf/gabi4+/ch5.pheader.html
[DYNL] Linux man-pages, ld.so(8). Shared-object discovery and dynamic-loader behavior. https://man7.org/linux/man-pages/man8/ld.so.8.html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27: Mapped memory is not necessarily resident memory
TOPIC: 1.2.6 · DEMAND PAGING
SOURCE BASIS: Original slide 12 of the user-supplied 22-slide chapter.
TREATMENT: Source topic retained with expanded lecture explanation.
LECTURE NARRATION
The original chapter explicitly separates mapping from residency. A mapping establishes a relationship in the process's virtual address space. It does not necessarily mean every mapped page already has its contents resident in physical memory. With demand paging, an access may cause the operating system to make a page available before the program continues.
Therefore, a page fault is not automatically evidence of an invalid program. Some faults are part of normal demand handling. An invalid access or a protection violation is a different case and can cause failure. For measurement, a first access can have different costs from a later access, so a benchmark should state whether initialization and first-touch effects are included. That last point is a reasoning consequence of the mapping/residency distinction, not a claim that every page fault requires disk I/O.
SIXTH-GRADE EXPLANATION
Having a place on the map does not mean the page is already on your desk. The system may bring it into memory only when you first use it.
DISCUSSION / PAUSE
Does mapping a large file prove that every byte has already been read into RAM?
EXPECTED RESPONSE
No. Mapping and current physical residency are different properties.
TRANSITION
Next: Runtime begins before main and extends through termination.
PRIMARY REFERENCES
[MMAP] Linux man-pages, mmap(2). Virtual mappings and population-related behavior; lecture distinguishes mapping from residency. https://man7.org/linux/man-pages/man2/mmap.2.html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28: Runtime begins before main and extends through termination
TOPIC: 1.2.7 · RUNTIME EXECUTION
SOURCE BASIS: Original slide 12 of the user-supplied 22-slide chapter.
TREATMENT: Source topic retained with expanded lecture explanation.
LECTURE NARRATION
A hosted program's runtime story does not begin and end with the first and last lines of main. Startup establishes the language and library environment. The program then executes its own code and library code, sometimes requesting kernel services through system calls. Scheduling can interrupt its progress or delay when it resumes. The source deck makes these boundaries part of the chapter rather than treating them as hidden trivia.
Termination also has a contract. Normal library termination and abrupt process termination do not necessarily perform the same user-space cleanup. For the ordinary hosted C case, returning from the initial main is associated with normal termination behavior. Avoid generalizing that all ways to stop a process flush buffers or run cleanup code. When reviewing a design, ask which completion path occurs and what it promises about resources and output. This matters even for small examples.
SIXTH-GRADE EXPLANATION
The system prepares things before main starts. While the program runs, it may wait or ask the operating system for help. It also needs to finish properly.
TRANSITION
Next: Printing 42 crosses several contracts.
PRIMARY REFERENCES
[EXIT] Linux man-pages, exit(3). Normal termination and library cleanup behavior. https://man7.org/linux/man-pages/man3/exit.3.html
[LANG] WG14 N1570, Programming languages — C, committee draft (2011). §3.4 behavior categories; §5.1 abstract machine and execution; §6.5 expressions; declarations and external definitions. C11 draft reference, not the published C17 standard. Lab examples use C17 mode. https://www.open-std.org/jtc1/sc22/wg14/www/docs/n1570.pdf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29: Printing 42 crosses several contracts
TOPIC: 1.2.7 · END-TO-END EXECUTION TRACE
SOURCE BASIS: Original slides 2, 12, 16 of the user-supplied 22-slide chapter.
GRADUATE EXTENSION: Added analysis, teaching model, diagnostic method, or exercise.
LECTURE NARRATION
We now connect the chapter's opening claim to its two-file example. The call to add produces an int result under the function's valid arithmetic domain. printf interprets the format string and supplied value and uses the library's output machinery. That machinery may buffer output before a lower-level operating-system request occurs. The kernel coordinates the relevant output destination and device path.
The diagram is a responsibility trace, not a promise of one system call per printf call or one hardware transaction per output request. The destination might be a terminal, a regular file, or a pipe, and that changes the environment. The original minimal program assumes that its demonstration output succeeds; it is not a complete production error-handling example. Our expected value is 42, but explaining that value and explaining successful delivery of its printed characters are separate parts of the contract.
SIXTH-GRADE EXPLANATION
Getting 42 onto the screen takes more than adding two numbers. The program, output library, operating system, and device all have a part.
TRANSITION
Next: The two-file program: a declaration and its definition.
PRIMARY REFERENCES
[W] Linux man-pages, write(2). Byte-output results, partial writes, and limitations of a successful return. https://man7.org/linux/man-pages/man2/write.2.html
[EXIT] Linux man-pages, exit(3). Normal termination and library cleanup behavior. https://man7.org/linux/man-pages/man3/exit.3.html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30: The two-file program: a declaration and its definition
TOPIC: WORKED EXAMPLE · ORIGINAL CHAPTER PROGRAM
SOURCE BASIS: Original slide 16 of the user-supplied 22-slide chapter.
TREATMENT: Source topic retained with expanded lecture explanation.
LECTURE NARRATION
This is the original chapter's worked example, with the same function, operands, and expected result. Read it in terms of responsibilities rather than merely from top to bottom. sum.h introduces the callable interface. sum.c includes that interface and supplies the function body. main.c includes both the standard output declarations and the project declaration, then uses add as an argument to printf.
The mathematical addition of 17 and 25 is representable as int, so the demonstrated arithmetic has no signed-overflow problem. The function itself is not a checked arbitrary-integer addition service; its precondition is that the mathematical sum is representable. The minimal program also assumes successful demonstration output. Our companion header adds an include guard and a precondition comment without changing the example's computation. The build was tested in the creation environment and printed 42. Platform addresses and tool output can differ elsewhere.
SIXTH-GRADE EXPLANATION
The header describes add, one file builds add, and another file uses it. The linker joins the two compiled pieces.
TRANSITION
Next: Stop the pipeline at each observable artifact.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31: Stop the pipeline at each observable artifact
TOPIC: WORKED EXAMPLE · BUILD STAGES
SOURCE BASIS: Original slide 17 of the user-supplied 22-slide chapter.
GRADUATE EXTENSION: Added analysis, teaching model, diagnostic method, or exercise.
LECTURE NARRATION
The original source deck shows compiler-driver options that stop at preprocessing, assembly text, and object output. This graduate variant explicitly feeds a saved artifact into the next stage so the chain is easy to inspect. main.c becomes main.i, main.i becomes main.s, and main.s becomes main.o. sum.c is compiled separately before both object files are linked.
The distinction between an operation and a driver option matters. The option -S stops after compilation proper and writes assembly text; it does not mean that the assembler has run. The option -c produces an object without linking. Using -c on a C file normally includes its earlier preprocessing and compilation steps. In the companion script, build artifacts live under build/ to keep the source directory organized. The slide omits that directory prefix for readability. The same substantive sequence was executed successfully during preparation.
SIXTH-GRADE EXPLANATION
Pause the build after each station so you can inspect what that station made. This makes the hidden steps easier to understand.
TRANSITION
Next: Inspect evidence: symbols, relocations, and segments.
PRIMARY REFERENCES
[GCC] GCC manual, Overall Options. Compilation stages and the -E, -S, -c, and -o compiler-driver options. https://gcc.gnu.org/onlinedocs/gcc/Overall-Options.html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32: Inspect evidence: symbols, relocations, and segments
TOPIC: WORKED EXAMPLE · GNU BINARY TOOLS
SOURCE BASIS: Original slides 11, 17 of the user-supplied 22-slide chapter.
GRADUATE EXTENSION: Added analysis, teaching model, diagnostic method, or exercise.
LECTURE NARRATION
An artifact inspection is strongest when it answers a specific question. nm shows symbols, so use it to connect an undefined reference in the caller with a definition in the other object. In the tested GNU nm output, add was marked U in main.o and T in sum.o. U denotes an undefined symbol, while T identifies a text-section symbol in this case. Exact addresses are not needed for the inference.
readelf -r examines relocation entries. objdump -dr combines disassembly with relocation information. readelf -l shows the executable's program headers, which connect back to loading. These commands are GNU/Linux/ELF-oriented extensions of the source deck's artifact exercise, not portable C language operations. Record versions when comparing outputs, and avoid inferring that a compiler must generate one fixed symbol layout or instruction listing. The relevant evidence is the relationship between the artifacts.
SIXTH-GRADE EXPLANATION
The build leaves clues. Special tools can show which functions are missing, which are defined, and how the finished program is arranged.
TRANSITION
Next: Break only the link contract.
PRIMARY REFERENCES
[NM] GNU Binutils, nm. Object symbol inspection and symbol-type markers. https://sourceware.org/binutils/docs/binutils/nm.html
[READELF] GNU Binutils, readelf. ELF relocations and program-header inspection. https://sourceware.org/binutils/docs/binutils/readelf.html
[AS] GNU assembler manual, Symbols. Symbolic assembly information retained for later stages. https://sourceware.org/binutils/docs/as/Symbols.html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33: Break only the link contract
TOPIC: WORKED EXAMPLE · CONTROLLED FAILURE
SOURCE BASIS: Original slides 11, 17, 20 of the user-supplied 22-slide chapter.
TREATMENT: Source topic retained with expanded lecture explanation.
LECTURE NARRATION
A controlled failure is useful because it changes one obligation at a time. The caller was compiled with a visible declaration, so its source-level call can be accepted. Now intentionally omit sum.o from the final command. The missing definition of add prevents the ordinary executable link from completing. This was tested during preparation and failed as expected with a diagnostic mentioning add.
Do not demand identical diagnostic wording across compilers and linkers. The stable prediction is the failed link and its relationship to the omitted definition. Reintroducing sum.o addresses that specific obligation. Adding another header include to main.c does not supply the missing compiled body. Nor does this experiment show that every undefined-reference problem has the same cause: symbol spelling, linkage, and binary compatibility can matter in more complex builds. Here the intentionally omitted object isolates the cause.
SIXTH-GRADE EXPLANATION
Leave out the piece that defines add. The caller can still be compiled, but the linker cannot finish the whole program.
TRANSITION
Next: Incremental builds follow dependency information.
PRIMARY REFERENCES
[LD] GNU linker manual, Overview. Linker role in combining, relocating, and resolving object inputs. https://sourceware.org/binutils/docs/ld/Overview.html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34: Incremental builds follow dependency information
TOPIC: WORKED EXAMPLE · PREDICT BEFORE REBUILDING
SOURCE BASIS: Original slide 20 of the user-supplied 22-slide chapter.
GRADUATE EXTENSION: Added analysis, teaching model, diagnostic method, or exercise.
LECTURE NARRATION
The original guided lab asks students to change one function and predict which artifacts should change. For our ordinary separate-compilation model, changing sum.c requires rebuilding sum.o and relinking the executable. Changing the shared declaration in sum.h can affect both translation units that include it, so both objects need to be reconsidered. A main.c edit similarly affects its own object and the final link.
These are dependency obligations, not guarantees of different output bytes. Recompilation can produce identical bytes when a change does not affect the result, and timestamps or build metadata can change for unrelated reasons. Optimization across translation units can also introduce additional dependencies beyond this simplified model. A good lab report distinguishes “must be rebuilt according to dependencies” from “must have a different hash.” The companion activity uses a no-LTO, separate-object workflow to keep the causal chain visible.
SIXTH-GRADE EXPLANATION
When one part changes, rebuild the parts that depend on it. A change to shared instructions can affect more than one source file.
TRANSITION
Next: Trace x + 3 from a valid source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35: Trace x + 3 from a valid source state
TOPIC: WORKED EXAMPLE · SOURCE-LEVEL REASONING
SOURCE BASIS: Original slides 8, 18 of the user-supplied 22-slide chapter.
GRADUATE EXTENSION: Added analysis, teaching model, diagnostic method, or exercise.
LECTURE NARRATION
The original expression is int y = x + 3. Begin with a valid int value x and a context in which reading it is permitted. For the mathematical result to be representable as int, x must not exceed INT_MAX minus three. Adding a positive three to any representable x cannot cross the lower bound, so the upper bound is the interesting arithmetic condition here.
Under those assumptions, the source-level postcondition is that y has the mathematical value of x plus three. That is the claim the implementation must realize when the result matters. The variable can be optimized away if the surrounding program has no required observable use for it. This sequence of reasoning deliberately precedes instruction selection. It prevents the mistaken argument that a familiar hardware addition or a successful test somehow establishes valid source semantics for every possible input.
SIXTH-GRADE EXPLANATION
Before adding three, check that the starting value is allowed and the answer fits. A good-looking answer does not fix a broken rule.
DISCUSSION / PAUSE
Why do we not need a separate lower-bound overflow check for adding positive 3?
EXPECTED RESPONSE
For a valid int x, adding positive 3 cannot make the mathematical result smaller than INT_MIN.
TRANSITION
Next: Trace the same expression into architectural state.
PRIMARY REFERENCES
[LANG] WG14 N1570, Programming languages — C, committee draft (2011). §3.4 behavior categories; §5.1 abstract machine and execution; §6.5 expressions; declarations and external definitions. C11 draft reference, not the published C17 standard. Lab examples use C17 mode. https://www.open-std.org/jtc1/sc22/wg14/www/docs/n1570.pdf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36: Trace the same expression into architectural state
TOPIC: WORKED EXAMPLE · MACHINE-LEVEL REASONING
SOURCE BASIS: Original slide 18 of the user-supplied 22-slide chapter.
TREATMENT: Source topic retained with expanded lecture explanation.
LECTURE NARRATION
After establishing the source contract, follow the implementation. The compiler selects a target realization, the assembler encodes the instructions, and the processor executes the resulting machine operations. The source slide notes that an operand already in a register may let the addition itself avoid a data-memory access. That is a conditional statement, not a claim that all additions are memory-free.
Keep architectural effects separate from physical scheduling. We can explain that the appropriate result becomes available in architectural state without asserting a one-to-one relationship between source lines, instruction issue events, and elapsed cycles. The instruction bytes still come through the instruction-fetch path, and the surrounding program may require loads, stores, calls, or no retained calculation at all. The companion add3 example saves -O0 and -O2 assembly so students can observe two real builds while keeping target-dependent output distinct from language guarantees.
SIXTH-GRADE EXPLANATION
Once the calculation is valid, the compiler chooses machine commands. The processor follows those commands and updates its working values.
TRANSITION
Next: The six concerns of systems programming.
PRIMARY REFERENCES
[OPT] GCC manual, Optimize Options. Optimization controls and target/build dependence; no fixed assembly listing promised. https://gcc.gnu.org/onlinedocs/gcc/Optimize-Options.html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37: The six concerns of systems programming
TOPIC: 1.3 · SYSTEMS PROGRAMMING
SOURCE BASIS: Original slide 13 of the user-supplied 22-slide chapter.
TREATMENT: Source topic retained with expanded lecture explanation.
LECTURE NARRATION
The original chapter organizes systems programming around six concerns rather than a single language feature or level of privilege. Low-level reasoning addresses representation and machine behavior. Performance distinguishes latency and throughput. Resource management identifies ownership and release responsibilities. Correctness connects behavior to specifications and invariants. Robustness defines controlled behavior under failure. Portability makes environmental assumptions visible.
These concerns interact without becoming interchangeable. A faster implementation can violate an ownership rule. A memory-safe operation can still produce the wrong specified result. Portable source can have poor performance on a second platform, and a compatible binary can still depend on missing runtime resources. In the following slides, keep asking which concern a proposed change improves and which assumptions it introduces. Graduate reasoning requires identifying those tradeoffs rather than labeling a design simply good or bad.
SIXTH-GRADE EXPLANATION
Systems programmers care about what the bits mean, how fast work happens, who owns things, and what happens when something goes wrong.
TRANSITION
Next: Low-level reasoning makes representation explicit.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38: Low-level reasoning makes representation explicit
TOPIC: 1.3.1 · REPRESENTATION
SOURCE BASIS: Original slides 3, 13, 15 of the user-supplied 22-slide chapter.
GRADUATE EXTENSION: Added analysis, teaching model, diagnostic method, or exercise.
LECTURE NARRATION
The low-level concern is not merely using assembly syntax. It is recognizing where representation becomes part of the program's obligations. Values have sizes, layouts, alignment requirements, and interpretation rules. Storage contains encodings; an interface supplies the meaning. A pointer value that is useful inside one process is not automatically a useful representation for a file or another process.
The original chapter links representation to machine behavior and later asks for explicit serialization. The graduate consequence is to identify every point where an internal representation becomes an external contract. Writing raw object bytes can accidentally expose padding, platform data layout, or addresses that have no meaning to the reader. This slide presents the design question; the later byte-order example supplies a concrete protocol. Make platform assumptions visible rather than hiding them behind a familiar type name.
SIXTH-GRADE EXPLANATION
The same bits can mean different things under different rules. Programs must agree on how to read and store them.
TRANSITION
Next: Performance: latency, throughput, and elapsed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39: Performance: latency, throughput, and elapsed time
TOPIC: 1.3.2 · PERFORMANCE
SOURCE BASIS: Original slides 13, 19 of the user-supplied 22-slide chapter.
GRADUATE EXTENSION: Added analysis, teaching model, diagnostic method, or exercise.
LECTURE NARRATION
The chapter names latency and throughput as separate performance concerns. Latency measures a completion interval for a chosen unit of work. Throughput counts completed work per unit time. Improving one does not logically establish an improvement in the other; the workload and measurement boundary matter.
For a simple single-thread observation, partition a chosen elapsed interval into time running on the CPU, time blocked, and time runnable but waiting for CPU service. Under this teaching model, those states are mutually exclusive and account for the interval. The illustrative values total twelve milliseconds. They are not measurements of the companion program. The point is diagnostic: optimizing instructions cannot remove time that the thread spends waiting for a resource or scheduling opportunity. For multiple threads, sums of CPU time and elapsed wall time require more care because work can overlap.
SIXTH-GRADE EXPLANATION
Latency is how long one job takes. Throughput is how many jobs finish in a period. A job can also spend time waiting instead of working.
TRANSITION
Next: Derive the limit of a local speedup.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40: Derive the limit of a local speedup
TOPIC: 1.3.2 · GRADUATE PERFORMANCE DERIVATION
SOURCE BASIS: Original slides 13, 19 of the user-supplied 22-slide chapter.
GRADUATE EXTENSION: Added analysis, teaching model, diagnostic method, or exercise.
LECTURE NARRATION
This derivation makes the chapter's performance concern quantitative without pretending that a local optimization accelerates the entire system equally. Normalize the original total time to one. Assume that sixty percent belongs to a component we can make three times faster and that the remaining forty percent is unchanged. The new time is 0.60 divided by three plus 0.40, or 0.60 of the original total. Overall speedup is therefore one divided by 0.60, about 1.67.
The assumptions are the substance of the argument: the same work is performed, the fractions come from the same baseline, the portions do not overlap in this simplified account, and no new overhead appears. If a redesign changes concurrency, I/O, or the workload itself, the model needs revision. A graduate explanation should state both the result and the circumstances under which it follows. The numbers are an invented worked example, not a measured claim.
SIXTH-GRADE EXPLANATION
Speeding up one part does not speed up the whole job by the same amount. The parts you did not improve still take time.
DISCUSSION / PAUSE
Why is the total speedup not 3×?
EXPECTED RESPONSE
Forty percent of the original time has not improved.
TRANSITION
Next: Make a performance claim reproducible.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41: Make a performance claim reproducible
TOPIC: 1.3.2 · MEASUREMENT DESIGN
SOURCE BASIS: Original slide 19 of the user-supplied 22-slide chapter.
GRADUATE EXTENSION: Added analysis, teaching model, diagnostic method, or exercise.
LECTURE NARRATION
The original chapter states that performance claims require measurement. The graduate extension is to specify what another person would need to reproduce the claim. Define the workload, input sizes, correctness criterion, and unit of work. Record the compiler and relevant options, the platform, and whether initialization and first-touch effects are included. Repeat the measurement and report variability rather than selecting a single favorable number.
This is a proposed experimental protocol, not a claim that all benchmarks require one rigid recipe. For a program with external services, the environment may be difficult to control, so the report must describe those limitations. A fair comparison also separates instrumented correctness builds from performance builds. Sanitizers change the program being measured. Before timing an optimization, confirm that both candidates meet the intended semantic contract; otherwise, the benchmark compares different or invalid work.
SIXTH-GRADE EXPLANATION
A fair speed test uses the same job and records the conditions. Repeat it, because one run may be unusually fast or slow.
TRANSITION
Next: Ownership turns resources into explicit obligations.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42: Ownership turns resources into explicit obligations
TOPIC: 1.3.3 · RESOURCE MANAGEMENT
SOURCE BASIS: Original slide 14 of the user-supplied 22-slide chapter.
GRADUATE EXTENSION: Added analysis, teaching model, diagnostic method, or exercise.
LECTURE NARRATION
The chapter says every acquisition needs an owner, a validity interval, and a release rule. Think of memory, file descriptors, handles, or other resources as obligations that persist beyond one successful function call. The operation that acquires a resource may differ from the component responsible for releasing it, but that transfer must be explicit.
The original invariant owner(fd) equals exactly one component is a design policy, not an automatic property of the operating system. References can be shared, descriptors can be duplicated, and ownership protocols can vary. What must remain unambiguous is the release responsibility for each owned resource. A borrowed reference should not silently acquire permission to release the underlying resource. Diagram the lifecycle before writing complicated error paths. That often reveals leaks, double release, and use after the agreed validity interval.
SIXTH-GRADE EXPLANATION
When a program borrows something, someone must be responsible for returning it. Passing it to another part must pass that responsibility clearly.
TRANSITION
Next: Partial initialization is where cleanup is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43: Partial initialization is where cleanup is tested
TOPIC: 1.3.3 · FAILURE DURING ACQUISITION
SOURCE BASIS: Original slides 14, 15 of the user-supplied 22-slide chapter.
GRADUATE EXTENSION: Added analysis, teaching model, diagnostic method, or exercise.
LECTURE NARRATION
A straight-line success path hides much of resource management's difficulty. Suppose an operation first acquires a file descriptor and then allocates a buffer. If the buffer allocation fails, the descriptor still needs its release path. If the first acquisition fails, neither resource should be treated as acquired. If all work succeeds, both must be released or intentionally transferred according to the contract.
The table is a design exercise rather than a complete implementation of any particular operating-system cleanup routine. It makes the state of each resource explicit at each boundary. Reverse-order cleanup is often natural for nested dependencies, but the dependency contract—not a slogan—determines the necessary order. Release operations can themselves have API-specific behavior, which should not be hidden by calling every cleanup step infallible. The source chapter's phrase partial success becomes a concrete state-accounting problem here.
SIXTH-GRADE EXPLANATION
A program may get the first thing it needs but fail to get the second. It must return only what it actually borrowed.
TRANSITION
Next: Invariants state what remains true at boundaries.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44: Invariants state what remains true at boundaries
TOPIC: 1.3.3–1.3.4 · CORRECTNESS
SOURCE BASIS: Original slide 14 of the user-supplied 22-slide chapter.
TREATMENT: Source topic retained with expanded lecture explanation.
LECTURE NARRATION
The three original invariant examples represent different kinds of correctness obligations. A buffer bound constrains numeric state. A single-owner policy constrains resource responsibility. A set of allowed work-item states constrains the lifecycle model. None is useful merely because it appears in a comment; each must be connected to operations that establish, preserve, or intentionally transition the state.
Define the boundaries at which the invariant must hold. An operation can temporarily rearrange internal state while holding exclusive access, but it must reestablish the public invariant before exposing the object under its contract. Concurrent access complicates that reasoning, so do not assume that writing an assert makes an operation synchronized. Correctness is relative to a specification and assumptions. The next slide proves a tiny append step under an explicit sequential, exclusive-access model.
SIXTH-GRADE EXPLANATION
An invariant is a rule you keep checking, such as “the box never holds more items than it can fit.”
TRANSITION
Next: A small proof: append without crossing capacity.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45: A small proof: append without crossing capacity
TOPIC: 1.3.4 · PRECONDITIONS, POSTCONDITIONS &amp; FRAME
SOURCE BASIS: Original slide 14 of the user-supplied 22-slide chapter.
GRADUATE EXTENSION: Added analysis, teaching model, diagnostic method, or exercise.
LECTURE NARRATION
Assume data designates a writable array of capacity bytes, used is valid non-overlapping metadata, zero is at most used and used is at most capacity, and the operation has exclusive access. The full case returns without changing the abstract buffer state. Otherwise, used is strictly smaller than capacity, so indexing data at used is in bounds. Increasing used by one restores the bound used at most capacity.
The frame condition says what does not change: existing elements below the old used remain intact, capacity is unchanged, and no unrelated object is modified. This is a local proof, not a proof that callers satisfy the preconditions. The byte append also does not promise a null-terminated C string. The companion implementation tests empty, last-space, and full-buffer transitions. Those tests support the implementation, while the argument explains why the update preserves the bound under the stated assumptions.
SIXTH-GRADE EXPLANATION
Check for space before adding an item. If the box is full, leave it unchanged. Otherwise, add one item and increase the count by one.
DISCUSSION / PAUSE
Which fact justifies the array write?
EXPECTED RESPONSE
The invariant plus the not-full branch gives used &lt; capacity before data[used] is written.
TRANSITION
Next: Robustness defines the state after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46: Robustness defines the state after failure
TOPIC: 1.3.5 · CONTROLLED FAILURE
SOURCE BASIS: Original slide 15 of the user-supplied 22-slide chapter.
TREATMENT: Source topic retained with expanded lecture explanation.
LECTURE NARRATION
Robustness is not the assertion that nothing can go wrong. The source chapter describes invalid input, unavailable resources, interruptions, and partial failures as conditions that should lead to controlled behavior. A robust specification explains the result, the state that remains, and the obligations still owned by the caller or callee.
For a failed operation, ask three practical questions. What changed before the failure was reported? Which resources are still valid and who owns them? Is retry safe, and from which point? These questions connect robustness to the invariants and ownership model rather than treating error handling as a message printed at the end. Returning an error code while leaving shared state inconsistent is not controlled failure. The next example shows why partial progress and total failure must be distinguished.
SIXTH-GRADE EXPLANATION
A strong program plans for bad input and missing resources. When it fails, it should still leave things in a known, safe condition.
TRANSITION
Next: Partial success changes the retry 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47: Partial success changes the retry position
TOPIC: 1.3.5 · ROBUST I/O REASONING
SOURCE BASIS: Original slide 15 of the user-supplied 22-slide chapter.
GRADUATE EXTENSION: Added analysis, teaching model, diagnostic method, or exercise.
LECTURE NARRATION
Suppose a byte-output interface is asked to write ten bytes and returns a positive count of four. That count records progress. In this illustrative stream or ordinary file-output case, the next attempt to send the remaining data starts at buffer plus four and requests six bytes. Repeating the original request can duplicate the already completed prefix.
The Linux write interface documents partial writes and distinct failure conditions, but this slide is not a universal retry loop. A complete implementation must handle the actual interface's interruption, blocking, signal, and error rules, as well as its own cancellation or retry limits. Message-oriented protocols and non-idempotent operations may require different recovery logic. The arithmetic teaches a broader design principle from the chapter: define what remains true after failure, including partial effects, before deciding whether a retry is safe.
SIXTH-GRADE EXPLANATION
If four of ten items were delivered, six are left. Sending all ten again may repeat the first four.
DISCUSSION / PAUSE
Why is retrying all ten bytes potentially wrong?
EXPECTED RESPONSE
The first four may already have taken effect, so repeating the entire request can duplicate them.
TRANSITION
Next: Portability has at least three separate targets.
PRIMARY REFERENCES
[W] Linux man-pages, write(2). Byte-output results, partial writes, and limitations of a successful return. https://man7.org/linux/man-pages/man2/write.2.html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48: Portability has at least three separate targets
TOPIC: 1.3.6 · PORTABILITY
SOURCE BASIS: Original slide 15 of the user-supplied 22-slide chapter.
TREATMENT: Source topic retained with expanded lecture explanation.
LECTURE NARRATION
The original chapter explicitly distinguishes source portability, binary compatibility, and performance portability. Source portability concerns whether the program can be translated appropriately for another supported environment. Binary compatibility concerns whether compiled components can interoperate or execute under the expected machine and runtime conventions. Performance portability concerns whether the implementation still meets the relevant performance goals across platforms.
These are related but independent claims. A portable source program may need rebuilding. A binary can require a particular ABI or shared library. A program that executes correctly may have different bottlenecks on a second implementation. Make each platform assumption visible and testable: representation, interfaces, resource limits, compiler options, and runtime dependencies. Do not call a design portable without specifying the supported environments and the level of portability being claimed.
SIXTH-GRADE EXPLANATION
Code that can be rebuilt elsewhere, a file that runs elsewhere, and a program that stays fast elsewhere are three different achievements.
TRANSITION
Next: Serialize a value—not an accidental object layout.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49: Serialize a value—not an accidental object layout
TOPIC: 1.3.6 · EXPLICIT REPRESENTATION
SOURCE BASIS: Original slide 15 of the user-supplied 22-slide chapter.
GRADUATE EXTENSION: Added analysis, teaching model, diagnostic method, or exercise.
LECTURE NARRATION
Take the unsigned value 0x01020304 and assume an environment with eight-bit bytes and a 32-bit unsigned value representation for this example. Its four byte values can be ordered most-significant first or least-significant first. The table defines both sequences explicitly. A protocol that chooses most-significant byte first specifies the bytes independently of the sender's internal order.
This is an illustrative serialization design, not a universal rule that every protocol uses one byte order. A complete format also defines field widths, versioning where needed, and the meaning of the values. Copying an entire in-memory structure can accidentally export padding, alignment-dependent layout, or process-local addresses. The original chapter's instruction to serialize explicitly means that the external representation deserves its own contract. The receiver should not have to share an undocumented compiler or platform choice to interpret the data.
SIXTH-GRADE EXPLANATION
When two computers share a number, they need the same packing rules. Agree on the order of the bytes instead of guessing from memory.
TRANSITION
Next: Faster invalid behavior is not a better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50: Faster invalid behavior is not a better implementation
TOPIC: WORKED EXAMPLE · CORRECTNESS VS. PERFORMANCE
SOURCE BASIS: Original slide 19 of the user-supplied 22-slide chapter.
TREATMENT: Source topic retained with expanded lecture explanation.
LECTURE NARRATION
The original deck compares two checksum versions using twelve and eight milliseconds. Those numbers are an illustrative comparison in the supplied teaching material, not benchmark measurements collected for this revision. Version A produces the expected checksum and has no known contract violation under the stated test. Version B appears to produce the checksum but reads beyond its buffer.
The smaller timing does not repair Version B's invalid access. We should also avoid overstating the evidence for Version A: passing the stated check does not by itself prove correctness for every input. The appropriate conclusion is narrower. Version A has passed the specified observation, while Version B has an identified rule violation and cannot be accepted as a valid optimization of the same contract. Repair the semantic issue first, then rerun correctness checks and compare performance under a controlled method.
SIXTH-GRADE EXPLANATION
Finishing a race faster does not count if you cut across a forbidden area. A program must obey its rules before speed can make it better.
TRANSITION
Next: Different evidence answers different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51: Different evidence answers different questions
TOPIC: 1.3.4 · TESTING, ANALYSIS &amp; PROOF
SOURCE BASIS: Original slides 8, 14, 19, 21 of the user-supplied 22-slide chapter.
GRADUATE EXTENSION: Added analysis, teaching model, diagnostic method, or exercise.
LECTURE NARRATION
The original chapter separates correct-looking output from satisfying the program contract. This graduate extension gives students an evidence vocabulary. Unit tests exercise chosen cases. Artifact inspection explains what a build produced. Sanitizers can detect certain classes of runtime errors on exercised behavior. A local proof establishes a property from stated preconditions and a model.
None should be described as an automatic whole-program guarantee. AddressSanitizer and UndefinedBehaviorSanitizer are valuable for selected memory and undefined-behavior checks, but a clean run is not a proof that every path and input is valid. They also alter the execution being measured. The companion append tests exercise useful boundaries; the previous invariant argument explains why the transition is valid under its assumptions. Combining complementary evidence is stronger than asking one tool to answer a question outside its scope.
SIXTH-GRADE EXPLANATION
A test checks examples. A tool can spot some mistakes. A proof explains why a rule holds under stated conditions. None should pretend to do every job.
TRANSITION
Next: Diagnose the symptom with the right artifact.
PRIMARY REFERENCES
[ASAN] Clang documentation, AddressSanitizer. Runtime memory-error checking and instrumentation use. https://clang.llvm.org/docs/AddressSanitizer.html
[UBSAN] Clang documentation, UndefinedBehaviorSanitizer. Runtime checks for selected undefined-behavior classes. https://clang.llvm.org/docs/UndefinedBehaviorSanitizer.html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52: Diagnose the symptom with the right artifact
TOPIC: INTEGRATION · BUILD, LOAD &amp; RUNTIME
SOURCE BASIS: Original slides 7, 11, 12, 19, 21 of the user-supplied 22-slide chapter.
GRADUATE EXTENSION: Added analysis, teaching model, diagnostic method, or exercise.
LECTURE NARRATION
This integration exercise asks students to move from a symptom to a justified next observation. A preprocessor problem calls for inspection of included content and macros. A link problem calls for symbols and link inputs. A shared-object loading problem calls for deployment and loader evidence. A buffer violation calls for source-level range and lifetime reasoning even when visible output looks correct.
Treat the entries as starting points. Real failures can cross layers, and a symptom alone may be ambiguous. For example, an apparently missing function can result from build selection, naming, or incompatible conventions. The graduate response is to propose an observation that separates those hypotheses. Do not replace diagnosis with a ritual such as rebuilding everything, ignoring warnings, or retrying indefinitely. The chapter's layered model is useful precisely because it limits what each success or failure can tell us.
SIXTH-GRADE EXPLANATION
Each kind of problem leaves a different clue. Look at the clue that matches the stage where the problem happened.
TRANSITION
Next: Guided lab: add a second independent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53: Guided lab: add a second independent function
TOPIC: LAB 1 · BUILD, BREAK, OBSERVE, EXPLAIN
SOURCE BASIS: Original slide 20 of the user-supplied 22-slide chapter.
GRADUATE EXTENSION: Added analysis, teaching model, diagnostic method, or exercise.
LECTURE NARRATION
The original guided lab asks for a second calculation function in its own source file. The supplied companion solution uses multiply, declared in calc.h and defined in calc.c. main_extended.c calls both add and multiply using the same operands, seventeen and twenty-five. The expected combined output is sum equals forty-two and product equals four hundred twenty-five. Both values fit the required int arithmetic for the demonstration.
Before running the build, write down which source file owns each definition and which object should contain each unresolved reference. Keep the new interface in a shared header so the caller and implementation use the same declaration. This is not a checked arbitrary-range arithmetic library; the product must be representable as int. The exercise is about separate compilation and evidence. The companion implementation was tested and produced the predicted output.
SIXTH-GRADE EXPLANATION
Add one more function in its own file. Then explain how its declaration, compiled file, and final link fit together.
TRANSITION
Next: Guided lab: rebuild one implementation, then break its 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54: Guided lab: rebuild one implementation, then break its link
TOPIC: LAB 2 · DEPENDENCY EXPERIMENT
SOURCE BASIS: Original slide 20 of the user-supplied 22-slide chapter.
GRADUATE EXTENSION: Added analysis, teaching model, diagnostic method, or exercise.
LECTURE NARRATION
Compile main_extended.c and calc.c separately, reuse the existing sum.o when its inputs are unchanged, and link all three required objects. Change only the implementation in calc.c while preserving its declared interface. Before rebuilding, state whether your edit changes the specified result or merely changes the implementation. That distinction determines the expected output.
Next, predict which compilation step is needed, rebuild calc.o, and relink. Explain that other objects can be reused in this ordinary no-LTO teaching model if their dependencies have not changed. Finally, omit calc.o and diagnose the expected unresolved multiply reference. A complete answer records a prediction, the exact command, the observed outcome, and the explanation connecting them. A successful command alone is not enough to show that the dependency model was understood.
SIXTH-GRADE EXPLANATION
Change one function, rebuild its piece, and join the pieces again. Then leave its piece out to see the missing-function error.
TRANSITION
Next: Guided lab: submit an evidence-based explanation.
PRIMARY REFERENCES
[GCC] GCC manual, Overall Options. Compilation stages and the -E, -S, -c, and -o compiler-driver options. https://gcc.gnu.org/onlinedocs/gcc/Overall-Options.html
[LD] GNU linker manual, Overview. Linker role in combining, relocating, and resolving object inputs. https://sourceware.org/binutils/docs/ld/Overview.html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55: Guided lab: submit an evidence-based explanation
TOPIC: LAB 3 · ACCEPTANCE CRITERIA
SOURCE BASIS: Original slide 20 of the user-supplied 22-slide chapter.
GRADUATE EXTENSION: Added analysis, teaching model, diagnostic method, or exercise.
LECTURE NARRATION
The original acceptance requirement combines predicted output with a clear account of declaration, definition, object, and link responsibilities. This expanded rubric makes that requirement inspectable. Submit the source organization and valid input assumptions, the successful build commands and output, the deliberately broken link and its diagnosis, and a dependency explanation for the implementation-only edit.
The proposed four-part rubric gives equal weight to semantics, build evidence, controlled failure, and explanation. These are teaching criteria added for this graduate lecture, not a grading scheme supplied by the original deck. A report should not claim that a rebuilt object must have different bytes or that a successful test proves correctness for every input. The strongest submission shows that predictions were written before the commands and explains any discrepancy using the relevant artifact rather than a guess.
SIXTH-GRADE EXPLANATION
Show what you expected, what happened, and why. Include the broken build too, because explaining the mistake is part of learning.
TRANSITION
Next: Review 1: loaded successfully, but the file operation failed.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56: Review 1: loaded successfully, but the file operation failed
TOPIC: ORIGINAL REVIEW QUESTION · RUNTIME GUARANTEES
SOURCE BASIS: Original slide 21 of the user-supplied 22-slide chapter.
TREATMENT: Source topic retained with expanded lecture explanation.
LECTURE NARRATION
The original question asks why an executable can load successfully and fail on its first file operation. Answer by assigning guarantees to boundaries. Loading establishes the program image and the required starting conditions. A later file operation has its own pathname, access, resource, and error contract. A required file may not exist in the runtime environment, or the requested access may not be permitted.
Those examples are possible causes, not a diagnosis without evidence. The next observation should be the operation's returned result and the environment relevant to that request. Recompiling a correct executable cannot by itself create a missing runtime file or establish the right access. The graduate answer explicitly separates the loader's completed work from the runtime operation's unfulfilled preconditions. This is the chapter's layered model applied to a realistic first failure.
SIXTH-GRADE EXPLANATION
Opening the classroom door does not guarantee that the book you need is inside. Starting a program does not guarantee that every resource is available.
DISCUSSION / PAUSE
What evidence should you inspect next?
EXPECTED RESPONSE
The file operation result and the environment relevant to its pathname, access requirements, and available resources.
TRANSITION
Next: Review 2: correct output with an out-of-bounds read.
PRIMARY REFERENCES
[EXEC] Linux man-pages, execve(2). Image replacement, startup, and executable interpreter behavior. https://man7.org/linux/man-pages/man2/execve.2.html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57: Review 2: correct output with an out-of-bounds read
TOPIC: ORIGINAL REVIEW QUESTION · DEFINED BEHAVIOR
SOURCE BASIS: Original slides 21, 19 of the user-supplied 22-slide chapter.
TREATMENT: Source topic retained with expanded lecture explanation.
LECTURE NARRATION
The source deck asks whether a run that prints the right number but reads beyond an array boundary is evidence of language-level correctness. The answer is no. The observation tells us what was printed on that execution, but the invalid access contradicts the relevant language-level obligation. We cannot use the favorable output to establish that the operation was valid.
A graduate answer should also say what to do next. Identify the access, reconstruct the valid range and lifetime, and repair the path so that it satisfies the contract. Add boundary tests and suitable runtime checks where useful, while recognizing their limits. Only then should the revised implementation be compared for performance. This response does not deny the usefulness of tests; it gives them the correct scope. Observed output is evidence about an observation, not a substitute for defined behavior.
SIXTH-GRADE EXPLANATION
Getting the right answer once does not prove the steps were allowed. Reading outside an array still breaks the program’s rules.
DISCUSSION / PAUSE
What did the successful-looking output actually establish?
EXPECTED RESPONSE
Only that the expected value was observed on that run; it did not make the invalid access legal.
TRANSITION
Next: Graduate review: a symbol can link despite incompatible types.
PRIMARY REFERENCES
[LANG] WG14 N1570, Programming languages — C, committee draft (2011). §3.4 behavior categories; §5.1 abstract machine and execution; §6.5 expressions; declarations and external definitions. C11 draft reference, not the published C17 standard. Lab examples use C17 mode. https://www.open-std.org/jtc1/sc22/wg14/www/docs/n1570.pdf
[ASAN] Clang documentation, AddressSanitizer. Runtime memory-error checking and instrumentation use. https://clang.llvm.org/docs/AddressSanitizer.html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58: Graduate review: a symbol can link despite incompatible types
TOPIC: SYNTHESIS · API, ABI &amp; LINKING
SOURCE BASIS: Original slides 6, 9, 11, 16 of the user-supplied 22-slide chapter.
GRADUATE EXTENSION: Added analysis, teaching model, diagnostic method, or exercise.
LECTURE NARRATION
Imagine two translation units that do not share a consistent header. The caller sees convert declared with a double parameter, while the definition in the other translation unit takes an int. An ordinary symbol-oriented link may match the name without rejecting the incompatible source types. That does not make the resulting call valid. The source-level declarations disagree, and the binary argument conventions can disagree as a result.
This is an analysis scenario, not an instruction to execute an invalid program and predict its value. A strong answer identifies the missing shared interface discipline and explains why link success is insufficient evidence. The practical repair is to provide one correct shared declaration, rebuild the affected units, and verify that the implementation and callers use it. More diagnostic tooling may help, but the contract must be coherent before tools can validate the intended composition.
SIXTH-GRADE EXPLANATION
Two pieces may use the same function name but disagree about what to pass. Matching names alone does not make the pieces fit.
DISCUSSION / PAUSE
Which repair addresses the cause rather than the symptom?
EXPECTED RESPONSE
Use a correct shared declaration in both translation units, rebuild affected objects, and verify the complete interface contract.
TRANSITION
Next: Defend a systems explanation—not just a result.
PRIMARY REFERENCES
[LANG] WG14 N1570, Programming languages — C, committee draft (2011). §3.4 behavior categories; §5.1 abstract machine and execution; §6.5 expressions; declarations and external definitions. C11 draft reference, not the published C17 standard. Lab examples use C17 mode. https://www.open-std.org/jtc1/sc22/wg14/www/docs/n1570.pdf
[LD] GNU linker manual, Overview. Linker role in combining, relocating, and resolving object inputs. https://sourceware.org/binutils/docs/ld/Overview.html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59: Defend a systems explanation—not just a result
TOPIC: GRADUATE ORAL / WRITTEN SYNTHESIS
SOURCE BASIS: Original slides 2, 17, 20, 21, 22 of the user-supplied 22-slide chapter.
GRADUATE EXTENSION: Added analysis, teaching model, diagnostic method, or exercise.
LECTURE NARRATION
Use the chapter's two-file program as a short oral defense. First, trace the successful result through declarations, definitions, object references, linking, loading, and output. Second, choose one failure such as an omitted object, unavailable runtime file, or invalid range, and identify the boundary where the relevant guarantee stops. Third, describe the evidence that would support the diagnosis and its limits.
A strong response does not simply recite the seven stage names. It explains a causal connection. For example, a declaration enables the caller to compile while the omitted definition makes the link fail. Or a mapped region can require first-access work even though the executable loaded. Distinguish your measured observations from teaching examples and documented guarantees. This exercise tests whether the mental model is portable to a new symptom rather than memorized only for the exact program shown.
SIXTH-GRADE EXPLANATION
Explain your answer so someone else can check it. Name the rule, show the clue, and say what you still do not know.
TRANSITION
Next: Chapter 1: the system is a chain of contracts.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60: Chapter 1: the system is a chain of contracts
TOPIC: TAKEAWAYS &amp; CHAPTER 2 PREVIEW
SOURCE BASIS: Original slide 22 of the user-supplied 22-slide chapter.
TREATMENT: Source topic retained with expanded lecture explanation.
LECTURE NARRATION
Return to the original chapter's takeaways. Computer systems are layered contracts, not one undifferentiated machine. API, ABI, and ISA describe different interfaces. Source passes through preprocessing, compilation, assembly, linking, loading, and runtime execution. Systems work makes representation, ownership, failure, and platform assumptions explicit. Correctness and performance are different properties, and each requires appropriate evidence.
The graduate addition is a method for making these statements operational. State a contract, name assumptions, predict an observation, inspect the relevant artifact, and explain what the result does and does not establish. The lab demonstrates this method with a small enough program that every required source file and link input can be accounted for. Chapter 2 moves into C and C++ as systems-programming languages. The concepts introduced here will guide how their features are interpreted rather than treating syntax as the whole subject.
SIXTH-GRADE EXPLANATION
A computer works because its parts follow shared rules. Good programmers check those rules, watch the handoffs, and plan for failures.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61: Coverage map 1: every original topic retained
TOPIC: APPENDIX · SOURCE-TO-LECTURE TRACEABILITY
SOURCE BASIS: Original slides 1, 2, 3, 4, 5, 6, 7, 8, 9, 10, 11 of the user-supplied 22-slide chapter.
TREATMENT: Source topic retained with expanded lecture explanation.
LECTURE NARRATION
This appendix documents the scope of the expansion. The supplied PowerPoint has twenty-two slides. Each source slide is mapped to the part of this lecture that preserves its topic, examples, or learning activity. The map is a coverage aid, not a claim that unseen book chapters were consulted.
Additional ABI comparisons, proof sketches, relocation arithmetic, measurements methodology, and lab criteria are marked as graduate extensions or elaborations. The original minimal examples remain recognizable, while their assumptions and evidence limits are made explicit. Use this table when choosing a shorter recording sequence, reviewing whether a topic has been skipped, or locating the graduate treatment of a particular source slide. The detailed notes and coverage Markdown provide the same map in a form that can be searched without opening PowerPoint.
SIXTH-GRADE EXPLANATION
This checklist shows where each part of the original lesson appears in the expanded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62: Coverage map 2: every original topic retained
TOPIC: APPENDIX · SOURCE-TO-LECTURE TRACEABILITY
SOURCE BASIS: Original slides 12, 13, 14, 15, 16, 17, 18, 19, 20, 21, 22 of the user-supplied 22-slide chapter.
TREATMENT: Source topic retained with expanded lecture explanation.
LECTURE NARRATION
This appendix documents the scope of the expansion. The supplied PowerPoint has twenty-two slides. Each source slide is mapped to the part of this lecture that preserves its topic, examples, or learning activity. The map is a coverage aid, not a claim that unseen book chapters were consulted.
Additional ABI comparisons, proof sketches, relocation arithmetic, measurements methodology, and lab criteria are marked as graduate extensions or elaborations. The original minimal examples remain recognizable, while their assumptions and evidence limits are made explicit. Use this table when choosing a shorter recording sequence, reviewing whether a topic has been skipped, or locating the graduate treatment of a particular source slide. The detailed notes and coverage Markdown provide the same map in a form that can be searched without opening PowerPoint.
SIXTH-GRADE EXPLANATION
This checklist shows where each part of the original lesson appears in the expanded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63: References: language, translation, and binary artifacts
TOPIC: APPENDIX · PRIMARY SOURCES FOR GRADUATE EXTENSIONS
SOURCE BASIS: Original slides 2, 7, 8, 9, 10, 11, 17 of the user-supplied 22-slide chapter.
GRADUATE EXTENSION: Added analysis, teaching model, diagnostic method, or exercise.
LECTURE NARRATION
The attached Chapter 1 presentation is the primary source for the lecture's organization and scope. These references support added technical details rather than replacing the supplied chapter. The public N1570 document is a C11 committee draft used for longstanding abstract-machine and expression rules; it is not labeled as the published C17 standard. The lab examples retain C17 mode and use constructs compatible with the discussed rules.
GNU documentation supports compiler-driver options, preprocessor behavior, assembler concepts, symbol inspection, and executable inspection. The notes on relevant slides identify the applicable reference codes. Full titles, URLs, and scope notes are included in the companion References.md. All technical exposition and teaching examples in this expansion are paraphrased or newly constructed; the reference list is not an endorsement of the lecture by any standards body or tool project.
SIXTH-GRADE EXPLANATION
These are the rulebooks used to check the extra details. Language rules and build-tool rules answer different questions.
PRIMARY REFERENCES
[LANG] WG14 N1570, Programming languages — C, committee draft (2011). §3.4 behavior categories; §5.1 abstract machine and execution; §6.5 expressions; declarations and external definitions. C11 draft reference, not the published C17 standard. Lab examples use C17 mode. https://www.open-std.org/jtc1/sc22/wg14/www/docs/n1570.pdf
[GCC] GCC manual, Overall Options. Compilation stages and the -E, -S, -c, and -o compiler-driver options. https://gcc.gnu.org/onlinedocs/gcc/Overall-Options.html
[CPP] GNU C Preprocessor, Duplication of Side Effects. Token substitution and unsafe repeated evaluation in macros. https://gcc.gnu.org/onlinedocs/cpp/Duplication-of-Side-Effects.html
[OPT] GCC manual, Optimize Options. Optimization controls and target/build dependence; no fixed assembly listing promised. https://gcc.gnu.org/onlinedocs/gcc/Optimize-Options.html
[AS] GNU assembler manual, Symbols. Symbolic assembly information retained for later stages. https://sourceware.org/binutils/docs/as/Symbols.html
[LD] GNU linker manual, Overview. Linker role in combining, relocating, and resolving object inputs. https://sourceware.org/binutils/docs/ld/Overview.html
[NM] GNU Binutils, nm. Object symbol inspection and symbol-type markers. https://sourceware.org/binutils/docs/binutils/nm.html
[READELF] GNU Binutils, readelf. ELF relocations and program-header inspection. https://sourceware.org/binutils/docs/binutils/readelf.html
[ELF] System V generic ABI, Relocation. Relocation entries; processor-specific interpretation. The lecture arithmetic is an explicitly illustrative model. https://refspecs.linuxfoundation.org/elf/gabi4+/ch4.reloc.html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64: References: ABI, loading, runtime, and diagnostics
TOPIC: APPENDIX · PRIMARY SOURCES FOR GRADUATE EXTENSIONS
SOURCE BASIS: Original slides 6, 12, 15, 19, 21 of the user-supplied 22-slide chapter.
GRADUATE EXTENSION: Added analysis, teaching model, diagnostic method, or exercise.
LECTURE NARRATION
The ABI example is deliberately restricted to ordinary two-int argument passing and an int result. The System V AMD64 reference and Microsoft's x64 documentation support that comparison; neither table in this lecture claims to be a complete ABI specification. Linux manual pages support the Linux-specific image replacement, dynamic loading, mapping, output, and termination discussion. The ELF program-header reference supplies the segment-versus-section distinction used in the loading extension.
The sanitizer references document the scope and use of two complementary diagnostic tools. They do not turn a clean test run into a proof of whole-program correctness. These platform-specific sources are identified as such so that readers do not mistake the Linux/GNU examples for universal C language requirements. The lecture package also records the actual compiler environment used for its companion build test. All reference codes resolve to full primary-source entries in the notes and References.md.
SIXTH-GRADE EXPLANATION
Different handoffs have different rulebooks. Check the one that matches the function call, operating-system request, or testing tool.
PRIMARY REFERENCES
[ABI] System V AMD64 ABI, draft 0.99.6, §3.2 (2012). Ordinary integer calling conventions, register usage, and processor-specific ABI context. https://refspecs.linuxfoundation.org/elf/x86_64-abi-0.99.pdf
[MS] Microsoft Learn, x64 calling convention. Ordinary Microsoft x64 integer argument and return conventions. https://learn.microsoft.com/en-us/cpp/build/x64-calling-convention?view=msvc-170
[PH] System V generic ABI, Program Header. ELF load-relevant segments and program-header metadata. https://refspecs.linuxfoundation.org/elf/gabi4+/ch5.pheader.html
[EXEC] Linux man-pages, execve(2). Image replacement, startup, and executable interpreter behavior. https://man7.org/linux/man-pages/man2/execve.2.html
[DYNL] Linux man-pages, ld.so(8). Shared-object discovery and dynamic-loader behavior. https://man7.org/linux/man-pages/man8/ld.so.8.html
[MMAP] Linux man-pages, mmap(2). Virtual mappings and population-related behavior; lecture distinguishes mapping from residency. https://man7.org/linux/man-pages/man2/mmap.2.html
[W] Linux man-pages, write(2). Byte-output results, partial writes, and limitations of a successful return. https://man7.org/linux/man-pages/man2/write.2.html
[EXIT] Linux man-pages, exit(3). Normal termination and library cleanup behavior. https://man7.org/linux/man-pages/man3/exit.3.html
[ASAN] Clang documentation, AddressSanitizer. Runtime memory-error checking and instrumentation use. https://clang.llvm.org/docs/AddressSanitizer.html
[UBSAN] Clang documentation, UndefinedBehaviorSanitizer. Runtime checks for selected undefined-behavior classes. https://clang.llvm.org/docs/UndefinedBehaviorSanitizer.html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ASE">
    <p:bg>
      <p:bgPr>
        <a:solidFill>
          <a:srgbClr val="0B1322"/>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219456"/>
            <a:ext cx="9875520" cy="192024"/>
          </a:xfrm>
          <a:prstGeom prst="rect">
            <a:avLst/>
          </a:prstGeom>
          <a:noFill/>
          <a:ln/>
        </p:spPr>
        <p:txBody>
          <a:bodyPr wrap="square" lIns="0" tIns="0" rIns="0" bIns="0" rtlCol="0" anchor="t"/>
          <a:lstStyle/>
          <a:p>
            <a:pPr algn="l" indent="0" marL="0">
              <a:lnSpc>
                <a:spcPct val="104000"/>
              </a:lnSpc>
              <a:buNone/>
            </a:pPr>
            <a:r>
              <a:rPr lang="en-US" sz="970" b="1" spc="135" kern="0" dirty="0">
                <a:solidFill>
                  <a:srgbClr val="B3C3D6"/>
                </a:solidFill>
                <a:latin typeface="Arial" pitchFamily="34" charset="0"/>
                <a:ea typeface="Arial" pitchFamily="34" charset="-122"/>
                <a:cs typeface="Arial" pitchFamily="34" charset="-120"/>
              </a:rPr>
              <a:t>SYSTEMS PROGRAMMING AND MACHINE ORGANIZATION</a:t>
            </a:r>
            <a:endParaRPr lang="en-US" sz="970" dirty="0"/>
          </a:p>
        </p:txBody>
      </p:sp>
      <p:sp>
        <p:nvSpPr>
          <p:cNvPr id="3" name="Text 1"/>
          <p:cNvSpPr txBox="1"/>
          <p:nvPr/>
        </p:nvSpPr>
        <p:spPr>
          <a:xfrm>
            <a:off x="9601200" y="219456"/>
            <a:ext cx="2039112" cy="192024"/>
          </a:xfrm>
          <a:prstGeom prst="rect">
            <a:avLst/>
          </a:prstGeom>
          <a:noFill/>
          <a:ln/>
        </p:spPr>
        <p:txBody>
          <a:bodyPr wrap="square" lIns="0" tIns="0" rIns="0" bIns="0" rtlCol="0" anchor="t"/>
          <a:lstStyle/>
          <a:p>
            <a:pPr algn="r" indent="0" marL="0">
              <a:lnSpc>
                <a:spcPct val="104000"/>
              </a:lnSpc>
              <a:buNone/>
            </a:pPr>
            <a:r>
              <a:rPr lang="en-US" sz="970" b="1" dirty="0">
                <a:solidFill>
                  <a:srgbClr val="B3C3D6"/>
                </a:solidFill>
                <a:latin typeface="Arial" pitchFamily="34" charset="0"/>
                <a:ea typeface="Arial" pitchFamily="34" charset="-122"/>
                <a:cs typeface="Arial" pitchFamily="34" charset="-120"/>
              </a:rPr>
              <a:t>CHARLES DORNER</a:t>
            </a:r>
            <a:endParaRPr lang="en-US" sz="970" dirty="0"/>
          </a:p>
        </p:txBody>
      </p:sp>
      <p:sp>
        <p:nvSpPr>
          <p:cNvPr id="4" name="Text 2"/>
          <p:cNvSpPr txBox="1"/>
          <p:nvPr/>
        </p:nvSpPr>
        <p:spPr>
          <a:xfrm>
            <a:off x="548640" y="566928"/>
            <a:ext cx="11109960" cy="237744"/>
          </a:xfrm>
          <a:prstGeom prst="rect">
            <a:avLst/>
          </a:prstGeom>
          <a:noFill/>
          <a:ln/>
        </p:spPr>
        <p:txBody>
          <a:bodyPr wrap="square" lIns="0" tIns="0" rIns="0" bIns="0" rtlCol="0" anchor="t"/>
          <a:lstStyle/>
          <a:p>
            <a:pPr algn="l" indent="0" marL="0">
              <a:lnSpc>
                <a:spcPct val="104000"/>
              </a:lnSpc>
              <a:buNone/>
            </a:pPr>
            <a:r>
              <a:rPr lang="en-US" sz="1150" b="1" dirty="0">
                <a:solidFill>
                  <a:srgbClr val="71D5DD"/>
                </a:solidFill>
                <a:latin typeface="Arial" pitchFamily="34" charset="0"/>
                <a:ea typeface="Arial" pitchFamily="34" charset="-122"/>
                <a:cs typeface="Arial" pitchFamily="34" charset="-120"/>
              </a:rPr>
              <a:t>CHAPTER 1 · GRADUATE LECTURE</a:t>
            </a:r>
            <a:endParaRPr lang="en-US" sz="1150" dirty="0"/>
          </a:p>
        </p:txBody>
      </p:sp>
      <p:sp>
        <p:nvSpPr>
          <p:cNvPr id="5" name="Text 3"/>
          <p:cNvSpPr txBox="1"/>
          <p:nvPr/>
        </p:nvSpPr>
        <p:spPr>
          <a:xfrm>
            <a:off x="548640" y="1280160"/>
            <a:ext cx="7635240" cy="1527048"/>
          </a:xfrm>
          <a:prstGeom prst="rect">
            <a:avLst/>
          </a:prstGeom>
          <a:noFill/>
          <a:ln/>
        </p:spPr>
        <p:txBody>
          <a:bodyPr wrap="square" lIns="0" tIns="0" rIns="0" bIns="0" rtlCol="0" anchor="t"/>
          <a:lstStyle/>
          <a:p>
            <a:pPr algn="l" indent="0" marL="0">
              <a:lnSpc>
                <a:spcPct val="104000"/>
              </a:lnSpc>
              <a:buNone/>
            </a:pPr>
            <a:r>
              <a:rPr lang="en-US" sz="4200" b="1" dirty="0">
                <a:solidFill>
                  <a:srgbClr val="F4F7FB"/>
                </a:solidFill>
                <a:latin typeface="Arial" pitchFamily="34" charset="0"/>
                <a:ea typeface="Arial" pitchFamily="34" charset="-122"/>
                <a:cs typeface="Arial" pitchFamily="34" charset="-120"/>
              </a:rPr>
              <a:t>Understanding</a:t>
            </a:r>
            <a:endParaRPr lang="en-US" sz="4200" dirty="0"/>
          </a:p>
          <a:p>
            <a:pPr algn="l" indent="0" marL="0">
              <a:lnSpc>
                <a:spcPct val="104000"/>
              </a:lnSpc>
              <a:buNone/>
            </a:pPr>
            <a:r>
              <a:rPr lang="en-US" sz="4200" b="1" dirty="0">
                <a:solidFill>
                  <a:srgbClr val="F4F7FB"/>
                </a:solidFill>
                <a:latin typeface="Arial" pitchFamily="34" charset="0"/>
                <a:ea typeface="Arial" pitchFamily="34" charset="-122"/>
                <a:cs typeface="Arial" pitchFamily="34" charset="-120"/>
              </a:rPr>
              <a:t>Computer Systems</a:t>
            </a:r>
            <a:endParaRPr lang="en-US" sz="4200" dirty="0"/>
          </a:p>
        </p:txBody>
      </p:sp>
      <p:sp>
        <p:nvSpPr>
          <p:cNvPr id="6" name="Text 4"/>
          <p:cNvSpPr txBox="1"/>
          <p:nvPr/>
        </p:nvSpPr>
        <p:spPr>
          <a:xfrm>
            <a:off x="548640" y="3218688"/>
            <a:ext cx="7406640" cy="960120"/>
          </a:xfrm>
          <a:prstGeom prst="rect">
            <a:avLst/>
          </a:prstGeom>
          <a:noFill/>
          <a:ln/>
        </p:spPr>
        <p:txBody>
          <a:bodyPr wrap="square" lIns="0" tIns="0" rIns="0" bIns="0" rtlCol="0" anchor="t"/>
          <a:lstStyle/>
          <a:p>
            <a:pPr algn="l" indent="0" marL="0">
              <a:lnSpc>
                <a:spcPct val="104000"/>
              </a:lnSpc>
              <a:buNone/>
            </a:pPr>
            <a:r>
              <a:rPr lang="en-US" sz="2280" dirty="0">
                <a:solidFill>
                  <a:srgbClr val="F4F7FB"/>
                </a:solidFill>
                <a:latin typeface="Arial" pitchFamily="34" charset="0"/>
                <a:ea typeface="Arial" pitchFamily="34" charset="-122"/>
                <a:cs typeface="Arial" pitchFamily="34" charset="-120"/>
              </a:rPr>
              <a:t>Source code → machine behavior</a:t>
            </a:r>
            <a:endParaRPr lang="en-US" sz="2280" dirty="0"/>
          </a:p>
          <a:p>
            <a:pPr algn="l" indent="0" marL="0">
              <a:lnSpc>
                <a:spcPct val="104000"/>
              </a:lnSpc>
              <a:buNone/>
            </a:pPr>
            <a:r>
              <a:rPr lang="en-US" sz="2280" dirty="0">
                <a:solidFill>
                  <a:srgbClr val="F4F7FB"/>
                </a:solidFill>
                <a:latin typeface="Arial" pitchFamily="34" charset="0"/>
                <a:ea typeface="Arial" pitchFamily="34" charset="-122"/>
                <a:cs typeface="Arial" pitchFamily="34" charset="-120"/>
              </a:rPr>
              <a:t>A lecture about contracts, evidence, and failure</a:t>
            </a:r>
            <a:endParaRPr lang="en-US" sz="2280" dirty="0"/>
          </a:p>
        </p:txBody>
      </p:sp>
      <p:sp>
        <p:nvSpPr>
          <p:cNvPr id="7" name="Shape 5"/>
          <p:cNvSpPr/>
          <p:nvPr/>
        </p:nvSpPr>
        <p:spPr>
          <a:xfrm>
            <a:off x="548640" y="4599432"/>
            <a:ext cx="2249424" cy="411480"/>
          </a:xfrm>
          <a:prstGeom prst="rect">
            <a:avLst/>
          </a:prstGeom>
          <a:solidFill>
            <a:srgbClr val="172940"/>
          </a:solidFill>
          <a:ln w="8890">
            <a:solidFill>
              <a:srgbClr val="2B415A"/>
            </a:solidFill>
            <a:prstDash val="solid"/>
          </a:ln>
        </p:spPr>
        <p:txBody>
          <a:bodyPr/>
          <a:p/>
        </p:txBody>
      </p:sp>
      <p:sp>
        <p:nvSpPr>
          <p:cNvPr id="8" name="Text 6"/>
          <p:cNvSpPr txBox="1"/>
          <p:nvPr/>
        </p:nvSpPr>
        <p:spPr>
          <a:xfrm>
            <a:off x="667512" y="4713732"/>
            <a:ext cx="2011680" cy="182880"/>
          </a:xfrm>
          <a:prstGeom prst="rect">
            <a:avLst/>
          </a:prstGeom>
          <a:noFill/>
          <a:ln/>
        </p:spPr>
        <p:txBody>
          <a:bodyPr wrap="square" lIns="0" tIns="0" rIns="0" bIns="0" rtlCol="0" anchor="t"/>
          <a:lstStyle/>
          <a:p>
            <a:pPr algn="l" indent="0" marL="0">
              <a:lnSpc>
                <a:spcPct val="104000"/>
              </a:lnSpc>
              <a:buNone/>
            </a:pPr>
            <a:r>
              <a:rPr lang="en-US" sz="1230" b="1" dirty="0">
                <a:solidFill>
                  <a:srgbClr val="71D5DD"/>
                </a:solidFill>
                <a:latin typeface="Arial" pitchFamily="34" charset="0"/>
                <a:ea typeface="Arial" pitchFamily="34" charset="-122"/>
                <a:cs typeface="Arial" pitchFamily="34" charset="-120"/>
              </a:rPr>
              <a:t>1.1 Organization</a:t>
            </a:r>
            <a:endParaRPr lang="en-US" sz="1230" dirty="0"/>
          </a:p>
        </p:txBody>
      </p:sp>
      <p:sp>
        <p:nvSpPr>
          <p:cNvPr id="9" name="Shape 7"/>
          <p:cNvSpPr/>
          <p:nvPr/>
        </p:nvSpPr>
        <p:spPr>
          <a:xfrm>
            <a:off x="3008376" y="4599432"/>
            <a:ext cx="2249424" cy="411480"/>
          </a:xfrm>
          <a:prstGeom prst="rect">
            <a:avLst/>
          </a:prstGeom>
          <a:solidFill>
            <a:srgbClr val="172940"/>
          </a:solidFill>
          <a:ln w="8890">
            <a:solidFill>
              <a:srgbClr val="2B415A"/>
            </a:solidFill>
            <a:prstDash val="solid"/>
          </a:ln>
        </p:spPr>
        <p:txBody>
          <a:bodyPr/>
          <a:p/>
        </p:txBody>
      </p:sp>
      <p:sp>
        <p:nvSpPr>
          <p:cNvPr id="10" name="Text 8"/>
          <p:cNvSpPr txBox="1"/>
          <p:nvPr/>
        </p:nvSpPr>
        <p:spPr>
          <a:xfrm>
            <a:off x="3127248" y="4713732"/>
            <a:ext cx="2011680" cy="182880"/>
          </a:xfrm>
          <a:prstGeom prst="rect">
            <a:avLst/>
          </a:prstGeom>
          <a:noFill/>
          <a:ln/>
        </p:spPr>
        <p:txBody>
          <a:bodyPr wrap="square" lIns="0" tIns="0" rIns="0" bIns="0" rtlCol="0" anchor="t"/>
          <a:lstStyle/>
          <a:p>
            <a:pPr algn="l" indent="0" marL="0">
              <a:lnSpc>
                <a:spcPct val="104000"/>
              </a:lnSpc>
              <a:buNone/>
            </a:pPr>
            <a:r>
              <a:rPr lang="en-US" sz="1230" b="1" dirty="0">
                <a:solidFill>
                  <a:srgbClr val="71D5DD"/>
                </a:solidFill>
                <a:latin typeface="Arial" pitchFamily="34" charset="0"/>
                <a:ea typeface="Arial" pitchFamily="34" charset="-122"/>
                <a:cs typeface="Arial" pitchFamily="34" charset="-120"/>
              </a:rPr>
              <a:t>1.2 Execution</a:t>
            </a:r>
            <a:endParaRPr lang="en-US" sz="1230" dirty="0"/>
          </a:p>
        </p:txBody>
      </p:sp>
      <p:sp>
        <p:nvSpPr>
          <p:cNvPr id="11" name="Shape 9"/>
          <p:cNvSpPr/>
          <p:nvPr/>
        </p:nvSpPr>
        <p:spPr>
          <a:xfrm>
            <a:off x="5468112" y="4599432"/>
            <a:ext cx="2249424" cy="411480"/>
          </a:xfrm>
          <a:prstGeom prst="rect">
            <a:avLst/>
          </a:prstGeom>
          <a:solidFill>
            <a:srgbClr val="172940"/>
          </a:solidFill>
          <a:ln w="8890">
            <a:solidFill>
              <a:srgbClr val="2B415A"/>
            </a:solidFill>
            <a:prstDash val="solid"/>
          </a:ln>
        </p:spPr>
        <p:txBody>
          <a:bodyPr/>
          <a:p/>
        </p:txBody>
      </p:sp>
      <p:sp>
        <p:nvSpPr>
          <p:cNvPr id="12" name="Text 10"/>
          <p:cNvSpPr txBox="1"/>
          <p:nvPr/>
        </p:nvSpPr>
        <p:spPr>
          <a:xfrm>
            <a:off x="5586984" y="4713732"/>
            <a:ext cx="2011680" cy="182880"/>
          </a:xfrm>
          <a:prstGeom prst="rect">
            <a:avLst/>
          </a:prstGeom>
          <a:noFill/>
          <a:ln/>
        </p:spPr>
        <p:txBody>
          <a:bodyPr wrap="square" lIns="0" tIns="0" rIns="0" bIns="0" rtlCol="0" anchor="t"/>
          <a:lstStyle/>
          <a:p>
            <a:pPr algn="l" indent="0" marL="0">
              <a:lnSpc>
                <a:spcPct val="104000"/>
              </a:lnSpc>
              <a:buNone/>
            </a:pPr>
            <a:r>
              <a:rPr lang="en-US" sz="1230" b="1" dirty="0">
                <a:solidFill>
                  <a:srgbClr val="71D5DD"/>
                </a:solidFill>
                <a:latin typeface="Arial" pitchFamily="34" charset="0"/>
                <a:ea typeface="Arial" pitchFamily="34" charset="-122"/>
                <a:cs typeface="Arial" pitchFamily="34" charset="-120"/>
              </a:rPr>
              <a:t>1.3 Systems reasoning</a:t>
            </a:r>
            <a:endParaRPr lang="en-US" sz="1230" dirty="0"/>
          </a:p>
        </p:txBody>
      </p:sp>
      <p:sp>
        <p:nvSpPr>
          <p:cNvPr id="13" name="Shape 11"/>
          <p:cNvSpPr/>
          <p:nvPr/>
        </p:nvSpPr>
        <p:spPr>
          <a:xfrm>
            <a:off x="8339328" y="1417320"/>
            <a:ext cx="3300984" cy="3657600"/>
          </a:xfrm>
          <a:prstGeom prst="rect">
            <a:avLst/>
          </a:prstGeom>
          <a:solidFill>
            <a:srgbClr val="142238"/>
          </a:solidFill>
          <a:ln w="8890">
            <a:solidFill>
              <a:srgbClr val="2B415A"/>
            </a:solidFill>
            <a:prstDash val="solid"/>
          </a:ln>
        </p:spPr>
        <p:txBody>
          <a:bodyPr/>
          <a:p/>
        </p:txBody>
      </p:sp>
      <p:sp>
        <p:nvSpPr>
          <p:cNvPr id="14" name="Text 12"/>
          <p:cNvSpPr txBox="1"/>
          <p:nvPr/>
        </p:nvSpPr>
        <p:spPr>
          <a:xfrm>
            <a:off x="8577072" y="1728216"/>
            <a:ext cx="448056" cy="237744"/>
          </a:xfrm>
          <a:prstGeom prst="rect">
            <a:avLst/>
          </a:prstGeom>
          <a:noFill/>
          <a:ln/>
        </p:spPr>
        <p:txBody>
          <a:bodyPr wrap="square" lIns="0" tIns="0" rIns="0" bIns="0" rtlCol="0" anchor="t"/>
          <a:lstStyle/>
          <a:p>
            <a:pPr algn="l" indent="0" marL="0">
              <a:lnSpc>
                <a:spcPct val="104000"/>
              </a:lnSpc>
              <a:buNone/>
            </a:pPr>
            <a:r>
              <a:rPr lang="en-US" sz="1300" b="1" dirty="0">
                <a:solidFill>
                  <a:srgbClr val="F1C984"/>
                </a:solidFill>
                <a:latin typeface="Arial" pitchFamily="34" charset="0"/>
                <a:ea typeface="Arial" pitchFamily="34" charset="-122"/>
                <a:cs typeface="Arial" pitchFamily="34" charset="-120"/>
              </a:rPr>
              <a:t>01</a:t>
            </a:r>
            <a:endParaRPr lang="en-US" sz="1300" dirty="0"/>
          </a:p>
        </p:txBody>
      </p:sp>
      <p:sp>
        <p:nvSpPr>
          <p:cNvPr id="15" name="Text 13"/>
          <p:cNvSpPr txBox="1"/>
          <p:nvPr/>
        </p:nvSpPr>
        <p:spPr>
          <a:xfrm>
            <a:off x="9162288" y="1746504"/>
            <a:ext cx="2194560" cy="365760"/>
          </a:xfrm>
          <a:prstGeom prst="rect">
            <a:avLst/>
          </a:prstGeom>
          <a:noFill/>
          <a:ln/>
        </p:spPr>
        <p:txBody>
          <a:bodyPr wrap="square" lIns="0" tIns="0" rIns="0" bIns="0" rtlCol="0" anchor="t"/>
          <a:lstStyle/>
          <a:p>
            <a:pPr algn="l" indent="0" marL="0">
              <a:lnSpc>
                <a:spcPct val="104000"/>
              </a:lnSpc>
              <a:buNone/>
            </a:pPr>
            <a:r>
              <a:rPr lang="en-US" sz="1850" b="1" dirty="0">
                <a:solidFill>
                  <a:srgbClr val="F4F7FB"/>
                </a:solidFill>
                <a:latin typeface="Arial" pitchFamily="34" charset="0"/>
                <a:ea typeface="Arial" pitchFamily="34" charset="-122"/>
                <a:cs typeface="Arial" pitchFamily="34" charset="-120"/>
              </a:rPr>
              <a:t>SOURCE</a:t>
            </a:r>
            <a:endParaRPr lang="en-US" sz="1850" dirty="0"/>
          </a:p>
        </p:txBody>
      </p:sp>
      <p:sp>
        <p:nvSpPr>
          <p:cNvPr id="16" name="Shape 14"/>
          <p:cNvSpPr/>
          <p:nvPr/>
        </p:nvSpPr>
        <p:spPr>
          <a:xfrm>
            <a:off x="8595360" y="2423160"/>
            <a:ext cx="2770632" cy="0"/>
          </a:xfrm>
          <a:prstGeom prst="line">
            <a:avLst/>
          </a:prstGeom>
          <a:noFill/>
          <a:ln w="12700">
            <a:solidFill>
              <a:srgbClr val="2B415A"/>
            </a:solidFill>
            <a:prstDash val="solid"/>
          </a:ln>
        </p:spPr>
        <p:txBody>
          <a:bodyPr/>
          <a:p/>
        </p:txBody>
      </p:sp>
      <p:sp>
        <p:nvSpPr>
          <p:cNvPr id="17" name="Text 15"/>
          <p:cNvSpPr txBox="1"/>
          <p:nvPr/>
        </p:nvSpPr>
        <p:spPr>
          <a:xfrm>
            <a:off x="8577072" y="2825496"/>
            <a:ext cx="448056" cy="237744"/>
          </a:xfrm>
          <a:prstGeom prst="rect">
            <a:avLst/>
          </a:prstGeom>
          <a:noFill/>
          <a:ln/>
        </p:spPr>
        <p:txBody>
          <a:bodyPr wrap="square" lIns="0" tIns="0" rIns="0" bIns="0" rtlCol="0" anchor="t"/>
          <a:lstStyle/>
          <a:p>
            <a:pPr algn="l" indent="0" marL="0">
              <a:lnSpc>
                <a:spcPct val="104000"/>
              </a:lnSpc>
              <a:buNone/>
            </a:pPr>
            <a:r>
              <a:rPr lang="en-US" sz="1300" b="1" dirty="0">
                <a:solidFill>
                  <a:srgbClr val="F1C984"/>
                </a:solidFill>
                <a:latin typeface="Arial" pitchFamily="34" charset="0"/>
                <a:ea typeface="Arial" pitchFamily="34" charset="-122"/>
                <a:cs typeface="Arial" pitchFamily="34" charset="-120"/>
              </a:rPr>
              <a:t>02</a:t>
            </a:r>
            <a:endParaRPr lang="en-US" sz="1300" dirty="0"/>
          </a:p>
        </p:txBody>
      </p:sp>
      <p:sp>
        <p:nvSpPr>
          <p:cNvPr id="18" name="Text 16"/>
          <p:cNvSpPr txBox="1"/>
          <p:nvPr/>
        </p:nvSpPr>
        <p:spPr>
          <a:xfrm>
            <a:off x="9162288" y="2843784"/>
            <a:ext cx="2194560" cy="365760"/>
          </a:xfrm>
          <a:prstGeom prst="rect">
            <a:avLst/>
          </a:prstGeom>
          <a:noFill/>
          <a:ln/>
        </p:spPr>
        <p:txBody>
          <a:bodyPr wrap="square" lIns="0" tIns="0" rIns="0" bIns="0" rtlCol="0" anchor="t"/>
          <a:lstStyle/>
          <a:p>
            <a:pPr algn="l" indent="0" marL="0">
              <a:lnSpc>
                <a:spcPct val="104000"/>
              </a:lnSpc>
              <a:buNone/>
            </a:pPr>
            <a:r>
              <a:rPr lang="en-US" sz="1850" b="1" dirty="0">
                <a:solidFill>
                  <a:srgbClr val="F4F7FB"/>
                </a:solidFill>
                <a:latin typeface="Arial" pitchFamily="34" charset="0"/>
                <a:ea typeface="Arial" pitchFamily="34" charset="-122"/>
                <a:cs typeface="Arial" pitchFamily="34" charset="-120"/>
              </a:rPr>
              <a:t>TRANSLATION</a:t>
            </a:r>
            <a:endParaRPr lang="en-US" sz="1850" dirty="0"/>
          </a:p>
        </p:txBody>
      </p:sp>
      <p:sp>
        <p:nvSpPr>
          <p:cNvPr id="19" name="Shape 17"/>
          <p:cNvSpPr/>
          <p:nvPr/>
        </p:nvSpPr>
        <p:spPr>
          <a:xfrm>
            <a:off x="8595360" y="3520440"/>
            <a:ext cx="2770632" cy="0"/>
          </a:xfrm>
          <a:prstGeom prst="line">
            <a:avLst/>
          </a:prstGeom>
          <a:noFill/>
          <a:ln w="12700">
            <a:solidFill>
              <a:srgbClr val="2B415A"/>
            </a:solidFill>
            <a:prstDash val="solid"/>
          </a:ln>
        </p:spPr>
        <p:txBody>
          <a:bodyPr/>
          <a:p/>
        </p:txBody>
      </p:sp>
      <p:sp>
        <p:nvSpPr>
          <p:cNvPr id="20" name="Text 18"/>
          <p:cNvSpPr txBox="1"/>
          <p:nvPr/>
        </p:nvSpPr>
        <p:spPr>
          <a:xfrm>
            <a:off x="8577072" y="3922776"/>
            <a:ext cx="448056" cy="237744"/>
          </a:xfrm>
          <a:prstGeom prst="rect">
            <a:avLst/>
          </a:prstGeom>
          <a:noFill/>
          <a:ln/>
        </p:spPr>
        <p:txBody>
          <a:bodyPr wrap="square" lIns="0" tIns="0" rIns="0" bIns="0" rtlCol="0" anchor="t"/>
          <a:lstStyle/>
          <a:p>
            <a:pPr algn="l" indent="0" marL="0">
              <a:lnSpc>
                <a:spcPct val="104000"/>
              </a:lnSpc>
              <a:buNone/>
            </a:pPr>
            <a:r>
              <a:rPr lang="en-US" sz="1300" b="1" dirty="0">
                <a:solidFill>
                  <a:srgbClr val="F1C984"/>
                </a:solidFill>
                <a:latin typeface="Arial" pitchFamily="34" charset="0"/>
                <a:ea typeface="Arial" pitchFamily="34" charset="-122"/>
                <a:cs typeface="Arial" pitchFamily="34" charset="-120"/>
              </a:rPr>
              <a:t>03</a:t>
            </a:r>
            <a:endParaRPr lang="en-US" sz="1300" dirty="0"/>
          </a:p>
        </p:txBody>
      </p:sp>
      <p:sp>
        <p:nvSpPr>
          <p:cNvPr id="21" name="Text 19"/>
          <p:cNvSpPr txBox="1"/>
          <p:nvPr/>
        </p:nvSpPr>
        <p:spPr>
          <a:xfrm>
            <a:off x="9162288" y="3941064"/>
            <a:ext cx="2194560" cy="365760"/>
          </a:xfrm>
          <a:prstGeom prst="rect">
            <a:avLst/>
          </a:prstGeom>
          <a:noFill/>
          <a:ln/>
        </p:spPr>
        <p:txBody>
          <a:bodyPr wrap="square" lIns="0" tIns="0" rIns="0" bIns="0" rtlCol="0" anchor="t"/>
          <a:lstStyle/>
          <a:p>
            <a:pPr algn="l" indent="0" marL="0">
              <a:lnSpc>
                <a:spcPct val="104000"/>
              </a:lnSpc>
              <a:buNone/>
            </a:pPr>
            <a:r>
              <a:rPr lang="en-US" sz="1850" b="1" dirty="0">
                <a:solidFill>
                  <a:srgbClr val="F4F7FB"/>
                </a:solidFill>
                <a:latin typeface="Arial" pitchFamily="34" charset="0"/>
                <a:ea typeface="Arial" pitchFamily="34" charset="-122"/>
                <a:cs typeface="Arial" pitchFamily="34" charset="-120"/>
              </a:rPr>
              <a:t>EXECUTION</a:t>
            </a:r>
            <a:endParaRPr lang="en-US" sz="1850" dirty="0"/>
          </a:p>
        </p:txBody>
      </p:sp>
      <p:sp>
        <p:nvSpPr>
          <p:cNvPr id="26" name="Text 24"/>
          <p:cNvSpPr txBox="1"/>
          <p:nvPr/>
        </p:nvSpPr>
        <p:spPr>
          <a:xfrm>
            <a:off x="548640" y="6601968"/>
            <a:ext cx="10241280" cy="128016"/>
          </a:xfrm>
          <a:prstGeom prst="rect">
            <a:avLst/>
          </a:prstGeom>
          <a:noFill/>
          <a:ln/>
        </p:spPr>
        <p:txBody>
          <a:bodyPr wrap="square" lIns="0" tIns="0" rIns="0" bIns="0" rtlCol="0" anchor="t"/>
          <a:lstStyle/>
          <a:p>
            <a:pPr algn="l" indent="0" marL="0">
              <a:lnSpc>
                <a:spcPct val="104000"/>
              </a:lnSpc>
              <a:buNone/>
            </a:pPr>
            <a:r>
              <a:rPr lang="en-US" sz="830" dirty="0">
                <a:solidFill>
                  <a:srgbClr val="B3C3D6"/>
                </a:solidFill>
                <a:latin typeface="Arial" pitchFamily="34" charset="0"/>
                <a:ea typeface="Arial" pitchFamily="34" charset="-122"/>
                <a:cs typeface="Arial" pitchFamily="34" charset="-120"/>
              </a:rPr>
              <a:t>Source: original 1</a:t>
            </a:r>
            <a:endParaRPr lang="en-US" sz="830" dirty="0"/>
          </a:p>
        </p:txBody>
      </p:sp>
      <p:sp>
        <p:nvSpPr>
          <p:cNvPr id="27" name="Text 25"/>
          <p:cNvSpPr txBox="1"/>
          <p:nvPr/>
        </p:nvSpPr>
        <p:spPr>
          <a:xfrm>
            <a:off x="10917936" y="6565392"/>
            <a:ext cx="722376" cy="219456"/>
          </a:xfrm>
          <a:prstGeom prst="rect">
            <a:avLst/>
          </a:prstGeom>
          <a:noFill/>
          <a:ln/>
        </p:spPr>
        <p:txBody>
          <a:bodyPr wrap="square" lIns="0" tIns="0" rIns="0" bIns="0" rtlCol="0" anchor="t"/>
          <a:lstStyle/>
          <a:p>
            <a:pPr algn="r" indent="0" marL="0">
              <a:lnSpc>
                <a:spcPct val="104000"/>
              </a:lnSpc>
              <a:buNone/>
            </a:pPr>
            <a:r>
              <a:rPr lang="en-US" sz="1050" dirty="0">
                <a:solidFill>
                  <a:srgbClr val="B3C3D6"/>
                </a:solidFill>
                <a:latin typeface="Arial" pitchFamily="34" charset="0"/>
                <a:ea typeface="Arial" pitchFamily="34" charset="-122"/>
                <a:cs typeface="Arial" pitchFamily="34" charset="-120"/>
              </a:rPr>
              <a:t>01 / 64</a:t>
            </a:r>
            <a:endParaRPr lang="en-US" sz="1050" dirty="0"/>
          </a:p>
        </p:txBody>
      </p:sp>
      <p:sp>
        <p:nvSpPr>
          <p:cNvPr id="28" name="Shape 26"/>
          <p:cNvSpPr/>
          <p:nvPr/>
        </p:nvSpPr>
        <p:spPr>
          <a:xfrm>
            <a:off x="0" y="6834226"/>
            <a:ext cx="12192000" cy="23774"/>
          </a:xfrm>
          <a:prstGeom prst="rect">
            <a:avLst/>
          </a:prstGeom>
          <a:solidFill>
            <a:srgbClr val="2B415A"/>
          </a:solidFill>
          <a:ln w="8890">
            <a:solidFill>
              <a:srgbClr val="2B415A"/>
            </a:solidFill>
            <a:prstDash val="solid"/>
          </a:ln>
        </p:spPr>
        <p:txBody>
          <a:bodyPr/>
          <a:p/>
        </p:txBody>
      </p:sp>
      <p:sp>
        <p:nvSpPr>
          <p:cNvPr id="29" name="Shape 27"/>
          <p:cNvSpPr/>
          <p:nvPr/>
        </p:nvSpPr>
        <p:spPr>
          <a:xfrm>
            <a:off x="0" y="6834226"/>
            <a:ext cx="190500" cy="23774"/>
          </a:xfrm>
          <a:prstGeom prst="rect">
            <a:avLst/>
          </a:prstGeom>
          <a:solidFill>
            <a:srgbClr val="71D5DD"/>
          </a:solidFill>
          <a:ln w="8890">
            <a:solidFill>
              <a:srgbClr val="71D5DD"/>
            </a:solidFill>
            <a:prstDash val="solid"/>
          </a:ln>
        </p:spPr>
        <p:txBody>
          <a:body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19456"/>
            <a:ext cx="9875520" cy="192024"/>
          </a:xfrm>
          <a:prstGeom prst="rect">
            <a:avLst/>
          </a:prstGeom>
          <a:noFill/>
          <a:ln/>
        </p:spPr>
        <p:txBody>
          <a:bodyPr wrap="square" lIns="0" tIns="0" rIns="0" bIns="0" rtlCol="0" anchor="t"/>
          <a:lstStyle/>
          <a:p>
            <a:pPr algn="l" indent="0" marL="0">
              <a:lnSpc>
                <a:spcPct val="104000"/>
              </a:lnSpc>
              <a:buNone/>
            </a:pPr>
            <a:r>
              <a:rPr lang="en-US" sz="970" b="1" spc="135" kern="0" dirty="0">
                <a:solidFill>
                  <a:srgbClr val="B3C3D6"/>
                </a:solidFill>
                <a:latin typeface="Arial" pitchFamily="34" charset="0"/>
                <a:ea typeface="Arial" pitchFamily="34" charset="-122"/>
                <a:cs typeface="Arial" pitchFamily="34" charset="-120"/>
              </a:rPr>
              <a:t>SYSTEMS PROGRAMMING AND MACHINE ORGANIZATION</a:t>
            </a:r>
            <a:endParaRPr lang="en-US" sz="970" dirty="0"/>
          </a:p>
        </p:txBody>
      </p:sp>
      <p:sp>
        <p:nvSpPr>
          <p:cNvPr id="3" name="Text 1"/>
          <p:cNvSpPr txBox="1"/>
          <p:nvPr/>
        </p:nvSpPr>
        <p:spPr>
          <a:xfrm>
            <a:off x="9601200" y="219456"/>
            <a:ext cx="2039112" cy="192024"/>
          </a:xfrm>
          <a:prstGeom prst="rect">
            <a:avLst/>
          </a:prstGeom>
          <a:noFill/>
          <a:ln/>
        </p:spPr>
        <p:txBody>
          <a:bodyPr wrap="square" lIns="0" tIns="0" rIns="0" bIns="0" rtlCol="0" anchor="t"/>
          <a:lstStyle/>
          <a:p>
            <a:pPr algn="r" indent="0" marL="0">
              <a:lnSpc>
                <a:spcPct val="104000"/>
              </a:lnSpc>
              <a:buNone/>
            </a:pPr>
            <a:r>
              <a:rPr lang="en-US" sz="970" b="1" dirty="0">
                <a:solidFill>
                  <a:srgbClr val="B3C3D6"/>
                </a:solidFill>
                <a:latin typeface="Arial" pitchFamily="34" charset="0"/>
                <a:ea typeface="Arial" pitchFamily="34" charset="-122"/>
                <a:cs typeface="Arial" pitchFamily="34" charset="-120"/>
              </a:rPr>
              <a:t>CHARLES DORNER</a:t>
            </a:r>
            <a:endParaRPr lang="en-US" sz="970" dirty="0"/>
          </a:p>
        </p:txBody>
      </p:sp>
      <p:sp>
        <p:nvSpPr>
          <p:cNvPr id="4" name="Text 2"/>
          <p:cNvSpPr txBox="1"/>
          <p:nvPr/>
        </p:nvSpPr>
        <p:spPr>
          <a:xfrm>
            <a:off x="548640" y="566928"/>
            <a:ext cx="11109960" cy="237744"/>
          </a:xfrm>
          <a:prstGeom prst="rect">
            <a:avLst/>
          </a:prstGeom>
          <a:noFill/>
          <a:ln/>
        </p:spPr>
        <p:txBody>
          <a:bodyPr wrap="square" lIns="0" tIns="0" rIns="0" bIns="0" rtlCol="0" anchor="t"/>
          <a:lstStyle/>
          <a:p>
            <a:pPr algn="l" indent="0" marL="0">
              <a:lnSpc>
                <a:spcPct val="104000"/>
              </a:lnSpc>
              <a:buNone/>
            </a:pPr>
            <a:r>
              <a:rPr lang="en-US" sz="1150" b="1" dirty="0">
                <a:solidFill>
                  <a:srgbClr val="71D5DD"/>
                </a:solidFill>
                <a:latin typeface="Arial" pitchFamily="34" charset="0"/>
                <a:ea typeface="Arial" pitchFamily="34" charset="-122"/>
                <a:cs typeface="Arial" pitchFamily="34" charset="-120"/>
              </a:rPr>
              <a:t>SCOPE &amp; LEARNING OUTCOMES</a:t>
            </a:r>
            <a:endParaRPr lang="en-US" sz="1150" dirty="0"/>
          </a:p>
        </p:txBody>
      </p:sp>
      <p:sp>
        <p:nvSpPr>
          <p:cNvPr id="5" name="Text 3"/>
          <p:cNvSpPr txBox="1"/>
          <p:nvPr/>
        </p:nvSpPr>
        <p:spPr>
          <a:xfrm>
            <a:off x="548640" y="941832"/>
            <a:ext cx="11091672" cy="676656"/>
          </a:xfrm>
          <a:prstGeom prst="rect">
            <a:avLst/>
          </a:prstGeom>
          <a:noFill/>
          <a:ln/>
        </p:spPr>
        <p:txBody>
          <a:bodyPr wrap="square" lIns="0" tIns="0" rIns="0" bIns="0" rtlCol="0" anchor="t"/>
          <a:lstStyle/>
          <a:p>
            <a:pPr algn="l" indent="0" marL="0">
              <a:lnSpc>
                <a:spcPct val="104000"/>
              </a:lnSpc>
              <a:buNone/>
            </a:pPr>
            <a:r>
              <a:rPr lang="en-US" sz="3150" b="1" dirty="0">
                <a:solidFill>
                  <a:srgbClr val="F4F7FB"/>
                </a:solidFill>
                <a:latin typeface="Arial" pitchFamily="34" charset="0"/>
                <a:ea typeface="Arial" pitchFamily="34" charset="-122"/>
                <a:cs typeface="Arial" pitchFamily="34" charset="-120"/>
              </a:rPr>
              <a:t>The complete Chapter 1 route</a:t>
            </a:r>
            <a:endParaRPr lang="en-US" sz="3150" dirty="0"/>
          </a:p>
        </p:txBody>
      </p:sp>
      <p:sp>
        <p:nvSpPr>
          <p:cNvPr id="6" name="Shape 4"/>
          <p:cNvSpPr/>
          <p:nvPr/>
        </p:nvSpPr>
        <p:spPr>
          <a:xfrm>
            <a:off x="548640" y="1764792"/>
            <a:ext cx="3564128" cy="3310128"/>
          </a:xfrm>
          <a:prstGeom prst="rect">
            <a:avLst/>
          </a:prstGeom>
          <a:solidFill>
            <a:srgbClr val="142238"/>
          </a:solidFill>
          <a:ln w="8890">
            <a:solidFill>
              <a:srgbClr val="2B415A"/>
            </a:solidFill>
            <a:prstDash val="solid"/>
          </a:ln>
        </p:spPr>
        <p:txBody>
          <a:bodyPr/>
          <a:p/>
        </p:txBody>
      </p:sp>
      <p:sp>
        <p:nvSpPr>
          <p:cNvPr id="7" name="Shape 5"/>
          <p:cNvSpPr/>
          <p:nvPr/>
        </p:nvSpPr>
        <p:spPr>
          <a:xfrm>
            <a:off x="548640" y="1764792"/>
            <a:ext cx="41148" cy="3310128"/>
          </a:xfrm>
          <a:prstGeom prst="rect">
            <a:avLst/>
          </a:prstGeom>
          <a:solidFill>
            <a:srgbClr val="71D5DD"/>
          </a:solidFill>
          <a:ln w="8890">
            <a:solidFill>
              <a:srgbClr val="71D5DD"/>
            </a:solidFill>
            <a:prstDash val="solid"/>
          </a:ln>
        </p:spPr>
        <p:txBody>
          <a:bodyPr/>
          <a:p/>
        </p:txBody>
      </p:sp>
      <p:sp>
        <p:nvSpPr>
          <p:cNvPr id="8" name="Text 6"/>
          <p:cNvSpPr txBox="1"/>
          <p:nvPr/>
        </p:nvSpPr>
        <p:spPr>
          <a:xfrm>
            <a:off x="758952" y="1975104"/>
            <a:ext cx="3134360" cy="557784"/>
          </a:xfrm>
          <a:prstGeom prst="rect">
            <a:avLst/>
          </a:prstGeom>
          <a:noFill/>
          <a:ln/>
        </p:spPr>
        <p:txBody>
          <a:bodyPr wrap="square" lIns="0" tIns="0" rIns="0" bIns="0" rtlCol="0" anchor="t"/>
          <a:lstStyle/>
          <a:p>
            <a:pPr algn="l" indent="0" marL="0">
              <a:lnSpc>
                <a:spcPct val="104000"/>
              </a:lnSpc>
              <a:buNone/>
            </a:pPr>
            <a:r>
              <a:rPr lang="en-US" sz="1750" b="1" dirty="0">
                <a:solidFill>
                  <a:srgbClr val="71D5DD"/>
                </a:solidFill>
                <a:latin typeface="Arial" pitchFamily="34" charset="0"/>
                <a:ea typeface="Arial" pitchFamily="34" charset="-122"/>
                <a:cs typeface="Arial" pitchFamily="34" charset="-120"/>
              </a:rPr>
              <a:t>1.1 · ORGANIZATION</a:t>
            </a:r>
            <a:endParaRPr lang="en-US" sz="1750" dirty="0"/>
          </a:p>
        </p:txBody>
      </p:sp>
      <p:sp>
        <p:nvSpPr>
          <p:cNvPr id="9" name="Text 7"/>
          <p:cNvSpPr txBox="1"/>
          <p:nvPr/>
        </p:nvSpPr>
        <p:spPr>
          <a:xfrm>
            <a:off x="758952" y="2642616"/>
            <a:ext cx="3134360" cy="2267712"/>
          </a:xfrm>
          <a:prstGeom prst="rect">
            <a:avLst/>
          </a:prstGeom>
          <a:noFill/>
          <a:ln/>
        </p:spPr>
        <p:txBody>
          <a:bodyPr wrap="square" lIns="0" tIns="0" rIns="0" bIns="0" rtlCol="0" anchor="t"/>
          <a:lstStyle/>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Hardware and software</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Abstraction boundaries</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API, ABI, and ISA</a:t>
            </a:r>
            <a:endParaRPr lang="en-US" sz="2200" dirty="0"/>
          </a:p>
        </p:txBody>
      </p:sp>
      <p:sp>
        <p:nvSpPr>
          <p:cNvPr id="10" name="Shape 8"/>
          <p:cNvSpPr/>
          <p:nvPr/>
        </p:nvSpPr>
        <p:spPr>
          <a:xfrm>
            <a:off x="4313936" y="1764792"/>
            <a:ext cx="3564128" cy="3310128"/>
          </a:xfrm>
          <a:prstGeom prst="rect">
            <a:avLst/>
          </a:prstGeom>
          <a:solidFill>
            <a:srgbClr val="142238"/>
          </a:solidFill>
          <a:ln w="8890">
            <a:solidFill>
              <a:srgbClr val="2B415A"/>
            </a:solidFill>
            <a:prstDash val="solid"/>
          </a:ln>
        </p:spPr>
        <p:txBody>
          <a:bodyPr/>
          <a:p/>
        </p:txBody>
      </p:sp>
      <p:sp>
        <p:nvSpPr>
          <p:cNvPr id="11" name="Shape 9"/>
          <p:cNvSpPr/>
          <p:nvPr/>
        </p:nvSpPr>
        <p:spPr>
          <a:xfrm>
            <a:off x="4313936" y="1764792"/>
            <a:ext cx="41148" cy="3310128"/>
          </a:xfrm>
          <a:prstGeom prst="rect">
            <a:avLst/>
          </a:prstGeom>
          <a:solidFill>
            <a:srgbClr val="71D5DD"/>
          </a:solidFill>
          <a:ln w="8890">
            <a:solidFill>
              <a:srgbClr val="71D5DD"/>
            </a:solidFill>
            <a:prstDash val="solid"/>
          </a:ln>
        </p:spPr>
        <p:txBody>
          <a:bodyPr/>
          <a:p/>
        </p:txBody>
      </p:sp>
      <p:sp>
        <p:nvSpPr>
          <p:cNvPr id="12" name="Text 10"/>
          <p:cNvSpPr txBox="1"/>
          <p:nvPr/>
        </p:nvSpPr>
        <p:spPr>
          <a:xfrm>
            <a:off x="4524248" y="1975104"/>
            <a:ext cx="3134360" cy="557784"/>
          </a:xfrm>
          <a:prstGeom prst="rect">
            <a:avLst/>
          </a:prstGeom>
          <a:noFill/>
          <a:ln/>
        </p:spPr>
        <p:txBody>
          <a:bodyPr wrap="square" lIns="0" tIns="0" rIns="0" bIns="0" rtlCol="0" anchor="t"/>
          <a:lstStyle/>
          <a:p>
            <a:pPr algn="l" indent="0" marL="0">
              <a:lnSpc>
                <a:spcPct val="104000"/>
              </a:lnSpc>
              <a:buNone/>
            </a:pPr>
            <a:r>
              <a:rPr lang="en-US" sz="1750" b="1" dirty="0">
                <a:solidFill>
                  <a:srgbClr val="71D5DD"/>
                </a:solidFill>
                <a:latin typeface="Arial" pitchFamily="34" charset="0"/>
                <a:ea typeface="Arial" pitchFamily="34" charset="-122"/>
                <a:cs typeface="Arial" pitchFamily="34" charset="-120"/>
              </a:rPr>
              <a:t>1.2 · EXECUTION</a:t>
            </a:r>
            <a:endParaRPr lang="en-US" sz="1750" dirty="0"/>
          </a:p>
        </p:txBody>
      </p:sp>
      <p:sp>
        <p:nvSpPr>
          <p:cNvPr id="13" name="Text 11"/>
          <p:cNvSpPr txBox="1"/>
          <p:nvPr/>
        </p:nvSpPr>
        <p:spPr>
          <a:xfrm>
            <a:off x="4524248" y="2642616"/>
            <a:ext cx="3134360" cy="2267712"/>
          </a:xfrm>
          <a:prstGeom prst="rect">
            <a:avLst/>
          </a:prstGeom>
          <a:noFill/>
          <a:ln/>
        </p:spPr>
        <p:txBody>
          <a:bodyPr wrap="square" lIns="0" tIns="0" rIns="0" bIns="0" rtlCol="0" anchor="t"/>
          <a:lstStyle/>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Seven stages of</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execution</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Objects, symbols, and</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loaders</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A two-file worked</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program</a:t>
            </a:r>
            <a:endParaRPr lang="en-US" sz="2200" dirty="0"/>
          </a:p>
        </p:txBody>
      </p:sp>
      <p:sp>
        <p:nvSpPr>
          <p:cNvPr id="14" name="Shape 12"/>
          <p:cNvSpPr/>
          <p:nvPr/>
        </p:nvSpPr>
        <p:spPr>
          <a:xfrm>
            <a:off x="8079232" y="1764792"/>
            <a:ext cx="3564128" cy="3310128"/>
          </a:xfrm>
          <a:prstGeom prst="rect">
            <a:avLst/>
          </a:prstGeom>
          <a:solidFill>
            <a:srgbClr val="142238"/>
          </a:solidFill>
          <a:ln w="8890">
            <a:solidFill>
              <a:srgbClr val="2B415A"/>
            </a:solidFill>
            <a:prstDash val="solid"/>
          </a:ln>
        </p:spPr>
        <p:txBody>
          <a:bodyPr/>
          <a:p/>
        </p:txBody>
      </p:sp>
      <p:sp>
        <p:nvSpPr>
          <p:cNvPr id="15" name="Shape 13"/>
          <p:cNvSpPr/>
          <p:nvPr/>
        </p:nvSpPr>
        <p:spPr>
          <a:xfrm>
            <a:off x="8079232" y="1764792"/>
            <a:ext cx="41148" cy="3310128"/>
          </a:xfrm>
          <a:prstGeom prst="rect">
            <a:avLst/>
          </a:prstGeom>
          <a:solidFill>
            <a:srgbClr val="71D5DD"/>
          </a:solidFill>
          <a:ln w="8890">
            <a:solidFill>
              <a:srgbClr val="71D5DD"/>
            </a:solidFill>
            <a:prstDash val="solid"/>
          </a:ln>
        </p:spPr>
        <p:txBody>
          <a:bodyPr/>
          <a:p/>
        </p:txBody>
      </p:sp>
      <p:sp>
        <p:nvSpPr>
          <p:cNvPr id="16" name="Text 14"/>
          <p:cNvSpPr txBox="1"/>
          <p:nvPr/>
        </p:nvSpPr>
        <p:spPr>
          <a:xfrm>
            <a:off x="8289544" y="1975104"/>
            <a:ext cx="3134360" cy="557784"/>
          </a:xfrm>
          <a:prstGeom prst="rect">
            <a:avLst/>
          </a:prstGeom>
          <a:noFill/>
          <a:ln/>
        </p:spPr>
        <p:txBody>
          <a:bodyPr wrap="square" lIns="0" tIns="0" rIns="0" bIns="0" rtlCol="0" anchor="t"/>
          <a:lstStyle/>
          <a:p>
            <a:pPr algn="l" indent="0" marL="0">
              <a:lnSpc>
                <a:spcPct val="104000"/>
              </a:lnSpc>
              <a:buNone/>
            </a:pPr>
            <a:r>
              <a:rPr lang="en-US" sz="1750" b="1" dirty="0">
                <a:solidFill>
                  <a:srgbClr val="71D5DD"/>
                </a:solidFill>
                <a:latin typeface="Arial" pitchFamily="34" charset="0"/>
                <a:ea typeface="Arial" pitchFamily="34" charset="-122"/>
                <a:cs typeface="Arial" pitchFamily="34" charset="-120"/>
              </a:rPr>
              <a:t>1.3 · ENGINEERING</a:t>
            </a:r>
            <a:endParaRPr lang="en-US" sz="1750" dirty="0"/>
          </a:p>
        </p:txBody>
      </p:sp>
      <p:sp>
        <p:nvSpPr>
          <p:cNvPr id="17" name="Text 15"/>
          <p:cNvSpPr txBox="1"/>
          <p:nvPr/>
        </p:nvSpPr>
        <p:spPr>
          <a:xfrm>
            <a:off x="8289544" y="2642616"/>
            <a:ext cx="3134360" cy="2267712"/>
          </a:xfrm>
          <a:prstGeom prst="rect">
            <a:avLst/>
          </a:prstGeom>
          <a:noFill/>
          <a:ln/>
        </p:spPr>
        <p:txBody>
          <a:bodyPr wrap="square" lIns="0" tIns="0" rIns="0" bIns="0" rtlCol="0" anchor="t"/>
          <a:lstStyle/>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Six systems concerns</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Invariants and controlled</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failure</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Evidence-driven lab and</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review</a:t>
            </a:r>
            <a:endParaRPr lang="en-US" sz="2200" dirty="0"/>
          </a:p>
        </p:txBody>
      </p:sp>
      <p:sp>
        <p:nvSpPr>
          <p:cNvPr id="18" name="Text 16"/>
          <p:cNvSpPr txBox="1"/>
          <p:nvPr/>
        </p:nvSpPr>
        <p:spPr>
          <a:xfrm>
            <a:off x="548640" y="5193792"/>
            <a:ext cx="11094720" cy="274320"/>
          </a:xfrm>
          <a:prstGeom prst="rect">
            <a:avLst/>
          </a:prstGeom>
          <a:noFill/>
          <a:ln/>
        </p:spPr>
        <p:txBody>
          <a:bodyPr wrap="square" lIns="0" tIns="0" rIns="0" bIns="0" rtlCol="0" anchor="t"/>
          <a:lstStyle/>
          <a:p>
            <a:pPr algn="l" indent="0" marL="0">
              <a:lnSpc>
                <a:spcPct val="104000"/>
              </a:lnSpc>
              <a:buNone/>
            </a:pPr>
            <a:r>
              <a:rPr lang="en-US" sz="1140" dirty="0">
                <a:solidFill>
                  <a:srgbClr val="B3C3D6"/>
                </a:solidFill>
                <a:latin typeface="Arial" pitchFamily="34" charset="0"/>
                <a:ea typeface="Arial" pitchFamily="34" charset="-122"/>
                <a:cs typeface="Arial" pitchFamily="34" charset="-120"/>
              </a:rPr>
              <a:t>Scope: every topic in the supplied Chapter 1 deck—not unseen material from the rest of the book.</a:t>
            </a:r>
            <a:endParaRPr lang="en-US" sz="1140" dirty="0"/>
          </a:p>
        </p:txBody>
      </p:sp>
      <p:sp>
        <p:nvSpPr>
          <p:cNvPr id="23" name="Text 21"/>
          <p:cNvSpPr txBox="1"/>
          <p:nvPr/>
        </p:nvSpPr>
        <p:spPr>
          <a:xfrm>
            <a:off x="548640" y="6601968"/>
            <a:ext cx="10241280" cy="128016"/>
          </a:xfrm>
          <a:prstGeom prst="rect">
            <a:avLst/>
          </a:prstGeom>
          <a:noFill/>
          <a:ln/>
        </p:spPr>
        <p:txBody>
          <a:bodyPr wrap="square" lIns="0" tIns="0" rIns="0" bIns="0" rtlCol="0" anchor="t"/>
          <a:lstStyle/>
          <a:p>
            <a:pPr algn="l" indent="0" marL="0">
              <a:lnSpc>
                <a:spcPct val="104000"/>
              </a:lnSpc>
              <a:buNone/>
            </a:pPr>
            <a:r>
              <a:rPr lang="en-US" sz="830" dirty="0">
                <a:solidFill>
                  <a:srgbClr val="B3C3D6"/>
                </a:solidFill>
                <a:latin typeface="Arial" pitchFamily="34" charset="0"/>
                <a:ea typeface="Arial" pitchFamily="34" charset="-122"/>
                <a:cs typeface="Arial" pitchFamily="34" charset="-120"/>
              </a:rPr>
              <a:t>Source: original 2, 7, 13, 20, 21, 22</a:t>
            </a:r>
            <a:endParaRPr lang="en-US" sz="830" dirty="0"/>
          </a:p>
        </p:txBody>
      </p:sp>
      <p:sp>
        <p:nvSpPr>
          <p:cNvPr id="24" name="Text 22"/>
          <p:cNvSpPr txBox="1"/>
          <p:nvPr/>
        </p:nvSpPr>
        <p:spPr>
          <a:xfrm>
            <a:off x="10917936" y="6565392"/>
            <a:ext cx="722376" cy="219456"/>
          </a:xfrm>
          <a:prstGeom prst="rect">
            <a:avLst/>
          </a:prstGeom>
          <a:noFill/>
          <a:ln/>
        </p:spPr>
        <p:txBody>
          <a:bodyPr wrap="square" lIns="0" tIns="0" rIns="0" bIns="0" rtlCol="0" anchor="t"/>
          <a:lstStyle/>
          <a:p>
            <a:pPr algn="r" indent="0" marL="0">
              <a:lnSpc>
                <a:spcPct val="104000"/>
              </a:lnSpc>
              <a:buNone/>
            </a:pPr>
            <a:r>
              <a:rPr lang="en-US" sz="1050" dirty="0">
                <a:solidFill>
                  <a:srgbClr val="B3C3D6"/>
                </a:solidFill>
                <a:latin typeface="Arial" pitchFamily="34" charset="0"/>
                <a:ea typeface="Arial" pitchFamily="34" charset="-122"/>
                <a:cs typeface="Arial" pitchFamily="34" charset="-120"/>
              </a:rPr>
              <a:t>02 / 64</a:t>
            </a:r>
            <a:endParaRPr lang="en-US" sz="1050" dirty="0"/>
          </a:p>
        </p:txBody>
      </p:sp>
      <p:sp>
        <p:nvSpPr>
          <p:cNvPr id="25" name="Shape 23"/>
          <p:cNvSpPr/>
          <p:nvPr/>
        </p:nvSpPr>
        <p:spPr>
          <a:xfrm>
            <a:off x="0" y="6834226"/>
            <a:ext cx="12192000" cy="23774"/>
          </a:xfrm>
          <a:prstGeom prst="rect">
            <a:avLst/>
          </a:prstGeom>
          <a:solidFill>
            <a:srgbClr val="2B415A"/>
          </a:solidFill>
          <a:ln w="8890">
            <a:solidFill>
              <a:srgbClr val="2B415A"/>
            </a:solidFill>
            <a:prstDash val="solid"/>
          </a:ln>
        </p:spPr>
        <p:txBody>
          <a:bodyPr/>
          <a:p/>
        </p:txBody>
      </p:sp>
      <p:sp>
        <p:nvSpPr>
          <p:cNvPr id="26" name="Shape 24"/>
          <p:cNvSpPr/>
          <p:nvPr/>
        </p:nvSpPr>
        <p:spPr>
          <a:xfrm>
            <a:off x="0" y="6834226"/>
            <a:ext cx="381000" cy="23774"/>
          </a:xfrm>
          <a:prstGeom prst="rect">
            <a:avLst/>
          </a:prstGeom>
          <a:solidFill>
            <a:srgbClr val="71D5DD"/>
          </a:solidFill>
          <a:ln w="8890">
            <a:solidFill>
              <a:srgbClr val="71D5DD"/>
            </a:solidFill>
            <a:prstDash val="solid"/>
          </a:ln>
        </p:spPr>
        <p:txBody>
          <a:body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19456"/>
            <a:ext cx="9875520" cy="192024"/>
          </a:xfrm>
          <a:prstGeom prst="rect">
            <a:avLst/>
          </a:prstGeom>
          <a:noFill/>
          <a:ln/>
        </p:spPr>
        <p:txBody>
          <a:bodyPr wrap="square" lIns="0" tIns="0" rIns="0" bIns="0" rtlCol="0" anchor="t"/>
          <a:lstStyle/>
          <a:p>
            <a:pPr algn="l" indent="0" marL="0">
              <a:lnSpc>
                <a:spcPct val="104000"/>
              </a:lnSpc>
              <a:buNone/>
            </a:pPr>
            <a:r>
              <a:rPr lang="en-US" sz="970" b="1" spc="135" kern="0" dirty="0">
                <a:solidFill>
                  <a:srgbClr val="B3C3D6"/>
                </a:solidFill>
                <a:latin typeface="Arial" pitchFamily="34" charset="0"/>
                <a:ea typeface="Arial" pitchFamily="34" charset="-122"/>
                <a:cs typeface="Arial" pitchFamily="34" charset="-120"/>
              </a:rPr>
              <a:t>SYSTEMS PROGRAMMING AND MACHINE ORGANIZATION</a:t>
            </a:r>
            <a:endParaRPr lang="en-US" sz="970" dirty="0"/>
          </a:p>
        </p:txBody>
      </p:sp>
      <p:sp>
        <p:nvSpPr>
          <p:cNvPr id="3" name="Text 1"/>
          <p:cNvSpPr txBox="1"/>
          <p:nvPr/>
        </p:nvSpPr>
        <p:spPr>
          <a:xfrm>
            <a:off x="9601200" y="219456"/>
            <a:ext cx="2039112" cy="192024"/>
          </a:xfrm>
          <a:prstGeom prst="rect">
            <a:avLst/>
          </a:prstGeom>
          <a:noFill/>
          <a:ln/>
        </p:spPr>
        <p:txBody>
          <a:bodyPr wrap="square" lIns="0" tIns="0" rIns="0" bIns="0" rtlCol="0" anchor="t"/>
          <a:lstStyle/>
          <a:p>
            <a:pPr algn="r" indent="0" marL="0">
              <a:lnSpc>
                <a:spcPct val="104000"/>
              </a:lnSpc>
              <a:buNone/>
            </a:pPr>
            <a:r>
              <a:rPr lang="en-US" sz="970" b="1" dirty="0">
                <a:solidFill>
                  <a:srgbClr val="B3C3D6"/>
                </a:solidFill>
                <a:latin typeface="Arial" pitchFamily="34" charset="0"/>
                <a:ea typeface="Arial" pitchFamily="34" charset="-122"/>
                <a:cs typeface="Arial" pitchFamily="34" charset="-120"/>
              </a:rPr>
              <a:t>CHARLES DORNER</a:t>
            </a:r>
            <a:endParaRPr lang="en-US" sz="970" dirty="0"/>
          </a:p>
        </p:txBody>
      </p:sp>
      <p:sp>
        <p:nvSpPr>
          <p:cNvPr id="4" name="Text 2"/>
          <p:cNvSpPr txBox="1"/>
          <p:nvPr/>
        </p:nvSpPr>
        <p:spPr>
          <a:xfrm>
            <a:off x="548640" y="566928"/>
            <a:ext cx="11109960" cy="237744"/>
          </a:xfrm>
          <a:prstGeom prst="rect">
            <a:avLst/>
          </a:prstGeom>
          <a:noFill/>
          <a:ln/>
        </p:spPr>
        <p:txBody>
          <a:bodyPr wrap="square" lIns="0" tIns="0" rIns="0" bIns="0" rtlCol="0" anchor="t"/>
          <a:lstStyle/>
          <a:p>
            <a:pPr algn="l" indent="0" marL="0">
              <a:lnSpc>
                <a:spcPct val="104000"/>
              </a:lnSpc>
              <a:buNone/>
            </a:pPr>
            <a:r>
              <a:rPr lang="en-US" sz="1150" b="1" dirty="0">
                <a:solidFill>
                  <a:srgbClr val="71D5DD"/>
                </a:solidFill>
                <a:latin typeface="Arial" pitchFamily="34" charset="0"/>
                <a:ea typeface="Arial" pitchFamily="34" charset="-122"/>
                <a:cs typeface="Arial" pitchFamily="34" charset="-120"/>
              </a:rPr>
              <a:t>GRADUATE METHOD</a:t>
            </a:r>
            <a:endParaRPr lang="en-US" sz="1150" dirty="0"/>
          </a:p>
        </p:txBody>
      </p:sp>
      <p:sp>
        <p:nvSpPr>
          <p:cNvPr id="5" name="Text 3"/>
          <p:cNvSpPr txBox="1"/>
          <p:nvPr/>
        </p:nvSpPr>
        <p:spPr>
          <a:xfrm>
            <a:off x="548640" y="941832"/>
            <a:ext cx="11091672" cy="676656"/>
          </a:xfrm>
          <a:prstGeom prst="rect">
            <a:avLst/>
          </a:prstGeom>
          <a:noFill/>
          <a:ln/>
        </p:spPr>
        <p:txBody>
          <a:bodyPr wrap="square" lIns="0" tIns="0" rIns="0" bIns="0" rtlCol="0" anchor="t"/>
          <a:lstStyle/>
          <a:p>
            <a:pPr algn="l" indent="0" marL="0">
              <a:lnSpc>
                <a:spcPct val="104000"/>
              </a:lnSpc>
              <a:buNone/>
            </a:pPr>
            <a:r>
              <a:rPr lang="en-US" sz="3150" b="1" dirty="0">
                <a:solidFill>
                  <a:srgbClr val="F4F7FB"/>
                </a:solidFill>
                <a:latin typeface="Arial" pitchFamily="34" charset="0"/>
                <a:ea typeface="Arial" pitchFamily="34" charset="-122"/>
                <a:cs typeface="Arial" pitchFamily="34" charset="-120"/>
              </a:rPr>
              <a:t>Turn a claim into a testable argument</a:t>
            </a:r>
            <a:endParaRPr lang="en-US" sz="3150" dirty="0"/>
          </a:p>
        </p:txBody>
      </p:sp>
      <p:sp>
        <p:nvSpPr>
          <p:cNvPr id="6" name="Shape 4"/>
          <p:cNvSpPr/>
          <p:nvPr/>
        </p:nvSpPr>
        <p:spPr>
          <a:xfrm>
            <a:off x="548640" y="1764792"/>
            <a:ext cx="3564128" cy="3310128"/>
          </a:xfrm>
          <a:prstGeom prst="rect">
            <a:avLst/>
          </a:prstGeom>
          <a:solidFill>
            <a:srgbClr val="142238"/>
          </a:solidFill>
          <a:ln w="8890">
            <a:solidFill>
              <a:srgbClr val="2B415A"/>
            </a:solidFill>
            <a:prstDash val="solid"/>
          </a:ln>
        </p:spPr>
        <p:txBody>
          <a:bodyPr/>
          <a:p/>
        </p:txBody>
      </p:sp>
      <p:sp>
        <p:nvSpPr>
          <p:cNvPr id="7" name="Shape 5"/>
          <p:cNvSpPr/>
          <p:nvPr/>
        </p:nvSpPr>
        <p:spPr>
          <a:xfrm>
            <a:off x="548640" y="1764792"/>
            <a:ext cx="41148" cy="3310128"/>
          </a:xfrm>
          <a:prstGeom prst="rect">
            <a:avLst/>
          </a:prstGeom>
          <a:solidFill>
            <a:srgbClr val="71D5DD"/>
          </a:solidFill>
          <a:ln w="8890">
            <a:solidFill>
              <a:srgbClr val="71D5DD"/>
            </a:solidFill>
            <a:prstDash val="solid"/>
          </a:ln>
        </p:spPr>
        <p:txBody>
          <a:bodyPr/>
          <a:p/>
        </p:txBody>
      </p:sp>
      <p:sp>
        <p:nvSpPr>
          <p:cNvPr id="8" name="Text 6"/>
          <p:cNvSpPr txBox="1"/>
          <p:nvPr/>
        </p:nvSpPr>
        <p:spPr>
          <a:xfrm>
            <a:off x="758952" y="1975104"/>
            <a:ext cx="3134360" cy="557784"/>
          </a:xfrm>
          <a:prstGeom prst="rect">
            <a:avLst/>
          </a:prstGeom>
          <a:noFill/>
          <a:ln/>
        </p:spPr>
        <p:txBody>
          <a:bodyPr wrap="square" lIns="0" tIns="0" rIns="0" bIns="0" rtlCol="0" anchor="t"/>
          <a:lstStyle/>
          <a:p>
            <a:pPr algn="l" indent="0" marL="0">
              <a:lnSpc>
                <a:spcPct val="104000"/>
              </a:lnSpc>
              <a:buNone/>
            </a:pPr>
            <a:r>
              <a:rPr lang="en-US" sz="1750" b="1" dirty="0">
                <a:solidFill>
                  <a:srgbClr val="71D5DD"/>
                </a:solidFill>
                <a:latin typeface="Arial" pitchFamily="34" charset="0"/>
                <a:ea typeface="Arial" pitchFamily="34" charset="-122"/>
                <a:cs typeface="Arial" pitchFamily="34" charset="-120"/>
              </a:rPr>
              <a:t>CONTRACT</a:t>
            </a:r>
            <a:endParaRPr lang="en-US" sz="1750" dirty="0"/>
          </a:p>
        </p:txBody>
      </p:sp>
      <p:sp>
        <p:nvSpPr>
          <p:cNvPr id="9" name="Text 7"/>
          <p:cNvSpPr txBox="1"/>
          <p:nvPr/>
        </p:nvSpPr>
        <p:spPr>
          <a:xfrm>
            <a:off x="758952" y="2642616"/>
            <a:ext cx="3134360" cy="2267712"/>
          </a:xfrm>
          <a:prstGeom prst="rect">
            <a:avLst/>
          </a:prstGeom>
          <a:noFill/>
          <a:ln/>
        </p:spPr>
        <p:txBody>
          <a:bodyPr wrap="square" lIns="0" tIns="0" rIns="0" bIns="0" rtlCol="0" anchor="t"/>
          <a:lstStyle/>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What must be true</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before and after the</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operation?</a:t>
            </a:r>
            <a:endParaRPr lang="en-US" sz="2200" dirty="0"/>
          </a:p>
        </p:txBody>
      </p:sp>
      <p:sp>
        <p:nvSpPr>
          <p:cNvPr id="10" name="Shape 8"/>
          <p:cNvSpPr/>
          <p:nvPr/>
        </p:nvSpPr>
        <p:spPr>
          <a:xfrm>
            <a:off x="4313936" y="1764792"/>
            <a:ext cx="3564128" cy="3310128"/>
          </a:xfrm>
          <a:prstGeom prst="rect">
            <a:avLst/>
          </a:prstGeom>
          <a:solidFill>
            <a:srgbClr val="142238"/>
          </a:solidFill>
          <a:ln w="8890">
            <a:solidFill>
              <a:srgbClr val="2B415A"/>
            </a:solidFill>
            <a:prstDash val="solid"/>
          </a:ln>
        </p:spPr>
        <p:txBody>
          <a:bodyPr/>
          <a:p/>
        </p:txBody>
      </p:sp>
      <p:sp>
        <p:nvSpPr>
          <p:cNvPr id="11" name="Shape 9"/>
          <p:cNvSpPr/>
          <p:nvPr/>
        </p:nvSpPr>
        <p:spPr>
          <a:xfrm>
            <a:off x="4313936" y="1764792"/>
            <a:ext cx="41148" cy="3310128"/>
          </a:xfrm>
          <a:prstGeom prst="rect">
            <a:avLst/>
          </a:prstGeom>
          <a:solidFill>
            <a:srgbClr val="71D5DD"/>
          </a:solidFill>
          <a:ln w="8890">
            <a:solidFill>
              <a:srgbClr val="71D5DD"/>
            </a:solidFill>
            <a:prstDash val="solid"/>
          </a:ln>
        </p:spPr>
        <p:txBody>
          <a:bodyPr/>
          <a:p/>
        </p:txBody>
      </p:sp>
      <p:sp>
        <p:nvSpPr>
          <p:cNvPr id="12" name="Text 10"/>
          <p:cNvSpPr txBox="1"/>
          <p:nvPr/>
        </p:nvSpPr>
        <p:spPr>
          <a:xfrm>
            <a:off x="4524248" y="1975104"/>
            <a:ext cx="3134360" cy="557784"/>
          </a:xfrm>
          <a:prstGeom prst="rect">
            <a:avLst/>
          </a:prstGeom>
          <a:noFill/>
          <a:ln/>
        </p:spPr>
        <p:txBody>
          <a:bodyPr wrap="square" lIns="0" tIns="0" rIns="0" bIns="0" rtlCol="0" anchor="t"/>
          <a:lstStyle/>
          <a:p>
            <a:pPr algn="l" indent="0" marL="0">
              <a:lnSpc>
                <a:spcPct val="104000"/>
              </a:lnSpc>
              <a:buNone/>
            </a:pPr>
            <a:r>
              <a:rPr lang="en-US" sz="1750" b="1" dirty="0">
                <a:solidFill>
                  <a:srgbClr val="71D5DD"/>
                </a:solidFill>
                <a:latin typeface="Arial" pitchFamily="34" charset="0"/>
                <a:ea typeface="Arial" pitchFamily="34" charset="-122"/>
                <a:cs typeface="Arial" pitchFamily="34" charset="-120"/>
              </a:rPr>
              <a:t>ASSUMPTIONS</a:t>
            </a:r>
            <a:endParaRPr lang="en-US" sz="1750" dirty="0"/>
          </a:p>
        </p:txBody>
      </p:sp>
      <p:sp>
        <p:nvSpPr>
          <p:cNvPr id="13" name="Text 11"/>
          <p:cNvSpPr txBox="1"/>
          <p:nvPr/>
        </p:nvSpPr>
        <p:spPr>
          <a:xfrm>
            <a:off x="4524248" y="2642616"/>
            <a:ext cx="3134360" cy="2267712"/>
          </a:xfrm>
          <a:prstGeom prst="rect">
            <a:avLst/>
          </a:prstGeom>
          <a:noFill/>
          <a:ln/>
        </p:spPr>
        <p:txBody>
          <a:bodyPr wrap="square" lIns="0" tIns="0" rIns="0" bIns="0" rtlCol="0" anchor="t"/>
          <a:lstStyle/>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Which inputs, platform</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rules, and resource</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conditions are required?</a:t>
            </a:r>
            <a:endParaRPr lang="en-US" sz="2200" dirty="0"/>
          </a:p>
        </p:txBody>
      </p:sp>
      <p:sp>
        <p:nvSpPr>
          <p:cNvPr id="14" name="Shape 12"/>
          <p:cNvSpPr/>
          <p:nvPr/>
        </p:nvSpPr>
        <p:spPr>
          <a:xfrm>
            <a:off x="8079232" y="1764792"/>
            <a:ext cx="3564128" cy="3310128"/>
          </a:xfrm>
          <a:prstGeom prst="rect">
            <a:avLst/>
          </a:prstGeom>
          <a:solidFill>
            <a:srgbClr val="142238"/>
          </a:solidFill>
          <a:ln w="8890">
            <a:solidFill>
              <a:srgbClr val="2B415A"/>
            </a:solidFill>
            <a:prstDash val="solid"/>
          </a:ln>
        </p:spPr>
        <p:txBody>
          <a:bodyPr/>
          <a:p/>
        </p:txBody>
      </p:sp>
      <p:sp>
        <p:nvSpPr>
          <p:cNvPr id="15" name="Shape 13"/>
          <p:cNvSpPr/>
          <p:nvPr/>
        </p:nvSpPr>
        <p:spPr>
          <a:xfrm>
            <a:off x="8079232" y="1764792"/>
            <a:ext cx="41148" cy="3310128"/>
          </a:xfrm>
          <a:prstGeom prst="rect">
            <a:avLst/>
          </a:prstGeom>
          <a:solidFill>
            <a:srgbClr val="71D5DD"/>
          </a:solidFill>
          <a:ln w="8890">
            <a:solidFill>
              <a:srgbClr val="71D5DD"/>
            </a:solidFill>
            <a:prstDash val="solid"/>
          </a:ln>
        </p:spPr>
        <p:txBody>
          <a:bodyPr/>
          <a:p/>
        </p:txBody>
      </p:sp>
      <p:sp>
        <p:nvSpPr>
          <p:cNvPr id="16" name="Text 14"/>
          <p:cNvSpPr txBox="1"/>
          <p:nvPr/>
        </p:nvSpPr>
        <p:spPr>
          <a:xfrm>
            <a:off x="8289544" y="1975104"/>
            <a:ext cx="3134360" cy="557784"/>
          </a:xfrm>
          <a:prstGeom prst="rect">
            <a:avLst/>
          </a:prstGeom>
          <a:noFill/>
          <a:ln/>
        </p:spPr>
        <p:txBody>
          <a:bodyPr wrap="square" lIns="0" tIns="0" rIns="0" bIns="0" rtlCol="0" anchor="t"/>
          <a:lstStyle/>
          <a:p>
            <a:pPr algn="l" indent="0" marL="0">
              <a:lnSpc>
                <a:spcPct val="104000"/>
              </a:lnSpc>
              <a:buNone/>
            </a:pPr>
            <a:r>
              <a:rPr lang="en-US" sz="1750" b="1" dirty="0">
                <a:solidFill>
                  <a:srgbClr val="71D5DD"/>
                </a:solidFill>
                <a:latin typeface="Arial" pitchFamily="34" charset="0"/>
                <a:ea typeface="Arial" pitchFamily="34" charset="-122"/>
                <a:cs typeface="Arial" pitchFamily="34" charset="-120"/>
              </a:rPr>
              <a:t>EVIDENCE</a:t>
            </a:r>
            <a:endParaRPr lang="en-US" sz="1750" dirty="0"/>
          </a:p>
        </p:txBody>
      </p:sp>
      <p:sp>
        <p:nvSpPr>
          <p:cNvPr id="17" name="Text 15"/>
          <p:cNvSpPr txBox="1"/>
          <p:nvPr/>
        </p:nvSpPr>
        <p:spPr>
          <a:xfrm>
            <a:off x="8289544" y="2642616"/>
            <a:ext cx="3134360" cy="2267712"/>
          </a:xfrm>
          <a:prstGeom prst="rect">
            <a:avLst/>
          </a:prstGeom>
          <a:noFill/>
          <a:ln/>
        </p:spPr>
        <p:txBody>
          <a:bodyPr wrap="square" lIns="0" tIns="0" rIns="0" bIns="0" rtlCol="0" anchor="t"/>
          <a:lstStyle/>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Which test, artifact,</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measurement, or proof</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supports the claim?</a:t>
            </a:r>
            <a:endParaRPr lang="en-US" sz="2200" dirty="0"/>
          </a:p>
        </p:txBody>
      </p:sp>
      <p:sp>
        <p:nvSpPr>
          <p:cNvPr id="18" name="Text 16"/>
          <p:cNvSpPr txBox="1"/>
          <p:nvPr/>
        </p:nvSpPr>
        <p:spPr>
          <a:xfrm>
            <a:off x="548640" y="5193792"/>
            <a:ext cx="11094720" cy="274320"/>
          </a:xfrm>
          <a:prstGeom prst="rect">
            <a:avLst/>
          </a:prstGeom>
          <a:noFill/>
          <a:ln/>
        </p:spPr>
        <p:txBody>
          <a:bodyPr wrap="square" lIns="0" tIns="0" rIns="0" bIns="0" rtlCol="0" anchor="t"/>
          <a:lstStyle/>
          <a:p>
            <a:pPr algn="l" indent="0" marL="0">
              <a:lnSpc>
                <a:spcPct val="104000"/>
              </a:lnSpc>
              <a:buNone/>
            </a:pPr>
            <a:r>
              <a:rPr lang="en-US" sz="1140" dirty="0">
                <a:solidFill>
                  <a:srgbClr val="B3C3D6"/>
                </a:solidFill>
                <a:latin typeface="Arial" pitchFamily="34" charset="0"/>
                <a:ea typeface="Arial" pitchFamily="34" charset="-122"/>
                <a:cs typeface="Arial" pitchFamily="34" charset="-120"/>
              </a:rPr>
              <a:t>Observed output ≠ complete specification ≠ proof of correctness.</a:t>
            </a:r>
            <a:endParaRPr lang="en-US" sz="1140" dirty="0"/>
          </a:p>
        </p:txBody>
      </p:sp>
      <p:sp>
        <p:nvSpPr>
          <p:cNvPr id="23" name="Text 21"/>
          <p:cNvSpPr txBox="1"/>
          <p:nvPr/>
        </p:nvSpPr>
        <p:spPr>
          <a:xfrm>
            <a:off x="548640" y="6601968"/>
            <a:ext cx="10241280" cy="128016"/>
          </a:xfrm>
          <a:prstGeom prst="rect">
            <a:avLst/>
          </a:prstGeom>
          <a:noFill/>
          <a:ln/>
        </p:spPr>
        <p:txBody>
          <a:bodyPr wrap="square" lIns="0" tIns="0" rIns="0" bIns="0" rtlCol="0" anchor="t"/>
          <a:lstStyle/>
          <a:p>
            <a:pPr algn="l" indent="0" marL="0">
              <a:lnSpc>
                <a:spcPct val="104000"/>
              </a:lnSpc>
              <a:buNone/>
            </a:pPr>
            <a:r>
              <a:rPr lang="en-US" sz="830" dirty="0">
                <a:solidFill>
                  <a:srgbClr val="B3C3D6"/>
                </a:solidFill>
                <a:latin typeface="Arial" pitchFamily="34" charset="0"/>
                <a:ea typeface="Arial" pitchFamily="34" charset="-122"/>
                <a:cs typeface="Arial" pitchFamily="34" charset="-120"/>
              </a:rPr>
              <a:t>Source: original 2, 5, 19 • Graduate extension</a:t>
            </a:r>
            <a:endParaRPr lang="en-US" sz="830" dirty="0"/>
          </a:p>
        </p:txBody>
      </p:sp>
      <p:sp>
        <p:nvSpPr>
          <p:cNvPr id="24" name="Text 22"/>
          <p:cNvSpPr txBox="1"/>
          <p:nvPr/>
        </p:nvSpPr>
        <p:spPr>
          <a:xfrm>
            <a:off x="10917936" y="6565392"/>
            <a:ext cx="722376" cy="219456"/>
          </a:xfrm>
          <a:prstGeom prst="rect">
            <a:avLst/>
          </a:prstGeom>
          <a:noFill/>
          <a:ln/>
        </p:spPr>
        <p:txBody>
          <a:bodyPr wrap="square" lIns="0" tIns="0" rIns="0" bIns="0" rtlCol="0" anchor="t"/>
          <a:lstStyle/>
          <a:p>
            <a:pPr algn="r" indent="0" marL="0">
              <a:lnSpc>
                <a:spcPct val="104000"/>
              </a:lnSpc>
              <a:buNone/>
            </a:pPr>
            <a:r>
              <a:rPr lang="en-US" sz="1050" dirty="0">
                <a:solidFill>
                  <a:srgbClr val="B3C3D6"/>
                </a:solidFill>
                <a:latin typeface="Arial" pitchFamily="34" charset="0"/>
                <a:ea typeface="Arial" pitchFamily="34" charset="-122"/>
                <a:cs typeface="Arial" pitchFamily="34" charset="-120"/>
              </a:rPr>
              <a:t>03 / 64</a:t>
            </a:r>
            <a:endParaRPr lang="en-US" sz="1050" dirty="0"/>
          </a:p>
        </p:txBody>
      </p:sp>
      <p:sp>
        <p:nvSpPr>
          <p:cNvPr id="25" name="Shape 23"/>
          <p:cNvSpPr/>
          <p:nvPr/>
        </p:nvSpPr>
        <p:spPr>
          <a:xfrm>
            <a:off x="0" y="6834226"/>
            <a:ext cx="12192000" cy="23774"/>
          </a:xfrm>
          <a:prstGeom prst="rect">
            <a:avLst/>
          </a:prstGeom>
          <a:solidFill>
            <a:srgbClr val="2B415A"/>
          </a:solidFill>
          <a:ln w="8890">
            <a:solidFill>
              <a:srgbClr val="2B415A"/>
            </a:solidFill>
            <a:prstDash val="solid"/>
          </a:ln>
        </p:spPr>
        <p:txBody>
          <a:bodyPr/>
          <a:p/>
        </p:txBody>
      </p:sp>
      <p:sp>
        <p:nvSpPr>
          <p:cNvPr id="26" name="Shape 24"/>
          <p:cNvSpPr/>
          <p:nvPr/>
        </p:nvSpPr>
        <p:spPr>
          <a:xfrm>
            <a:off x="0" y="6834226"/>
            <a:ext cx="571500" cy="23774"/>
          </a:xfrm>
          <a:prstGeom prst="rect">
            <a:avLst/>
          </a:prstGeom>
          <a:solidFill>
            <a:srgbClr val="71D5DD"/>
          </a:solidFill>
          <a:ln w="8890">
            <a:solidFill>
              <a:srgbClr val="71D5DD"/>
            </a:solidFill>
            <a:prstDash val="solid"/>
          </a:ln>
        </p:spPr>
        <p:txBody>
          <a:body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219456"/>
            <a:ext cx="9875520" cy="192024"/>
          </a:xfrm>
          <a:prstGeom prst="rect">
            <a:avLst/>
          </a:prstGeom>
          <a:noFill/>
          <a:ln/>
        </p:spPr>
        <p:txBody>
          <a:bodyPr wrap="square" lIns="0" tIns="0" rIns="0" bIns="0" rtlCol="0" anchor="t"/>
          <a:lstStyle/>
          <a:p>
            <a:pPr algn="l" indent="0" marL="0">
              <a:lnSpc>
                <a:spcPct val="104000"/>
              </a:lnSpc>
              <a:buNone/>
            </a:pPr>
            <a:r>
              <a:rPr lang="en-US" sz="970" b="1" spc="135" kern="0" dirty="0">
                <a:solidFill>
                  <a:srgbClr val="B3C3D6"/>
                </a:solidFill>
                <a:latin typeface="Arial" pitchFamily="34" charset="0"/>
                <a:ea typeface="Arial" pitchFamily="34" charset="-122"/>
                <a:cs typeface="Arial" pitchFamily="34" charset="-120"/>
              </a:rPr>
              <a:t>SYSTEMS PROGRAMMING AND MACHINE ORGANIZATION</a:t>
            </a:r>
            <a:endParaRPr lang="en-US" sz="970" dirty="0"/>
          </a:p>
        </p:txBody>
      </p:sp>
      <p:sp>
        <p:nvSpPr>
          <p:cNvPr id="3" name="Text 1"/>
          <p:cNvSpPr txBox="1"/>
          <p:nvPr/>
        </p:nvSpPr>
        <p:spPr>
          <a:xfrm>
            <a:off x="9601200" y="219456"/>
            <a:ext cx="2039112" cy="192024"/>
          </a:xfrm>
          <a:prstGeom prst="rect">
            <a:avLst/>
          </a:prstGeom>
          <a:noFill/>
          <a:ln/>
        </p:spPr>
        <p:txBody>
          <a:bodyPr wrap="square" lIns="0" tIns="0" rIns="0" bIns="0" rtlCol="0" anchor="t"/>
          <a:lstStyle/>
          <a:p>
            <a:pPr algn="r" indent="0" marL="0">
              <a:lnSpc>
                <a:spcPct val="104000"/>
              </a:lnSpc>
              <a:buNone/>
            </a:pPr>
            <a:r>
              <a:rPr lang="en-US" sz="970" b="1" dirty="0">
                <a:solidFill>
                  <a:srgbClr val="B3C3D6"/>
                </a:solidFill>
                <a:latin typeface="Arial" pitchFamily="34" charset="0"/>
                <a:ea typeface="Arial" pitchFamily="34" charset="-122"/>
                <a:cs typeface="Arial" pitchFamily="34" charset="-120"/>
              </a:rPr>
              <a:t>CHARLES DORNER</a:t>
            </a:r>
            <a:endParaRPr lang="en-US" sz="970" dirty="0"/>
          </a:p>
        </p:txBody>
      </p:sp>
      <p:sp>
        <p:nvSpPr>
          <p:cNvPr id="4" name="Text 2"/>
          <p:cNvSpPr txBox="1"/>
          <p:nvPr/>
        </p:nvSpPr>
        <p:spPr>
          <a:xfrm>
            <a:off x="548640" y="566928"/>
            <a:ext cx="11109960" cy="237744"/>
          </a:xfrm>
          <a:prstGeom prst="rect">
            <a:avLst/>
          </a:prstGeom>
          <a:noFill/>
          <a:ln/>
        </p:spPr>
        <p:txBody>
          <a:bodyPr wrap="square" lIns="0" tIns="0" rIns="0" bIns="0" rtlCol="0" anchor="t"/>
          <a:lstStyle/>
          <a:p>
            <a:pPr algn="l" indent="0" marL="0">
              <a:lnSpc>
                <a:spcPct val="104000"/>
              </a:lnSpc>
              <a:buNone/>
            </a:pPr>
            <a:r>
              <a:rPr lang="en-US" sz="1150" b="1" dirty="0">
                <a:solidFill>
                  <a:srgbClr val="71D5DD"/>
                </a:solidFill>
                <a:latin typeface="Arial" pitchFamily="34" charset="0"/>
                <a:ea typeface="Arial" pitchFamily="34" charset="-122"/>
                <a:cs typeface="Arial" pitchFamily="34" charset="-120"/>
              </a:rPr>
              <a:t>1.1.1 · HARDWARE &amp; SOFTWARE</a:t>
            </a:r>
            <a:endParaRPr lang="en-US" sz="1150" dirty="0"/>
          </a:p>
        </p:txBody>
      </p:sp>
      <p:sp>
        <p:nvSpPr>
          <p:cNvPr id="5" name="Text 3"/>
          <p:cNvSpPr txBox="1"/>
          <p:nvPr/>
        </p:nvSpPr>
        <p:spPr>
          <a:xfrm>
            <a:off x="548640" y="941832"/>
            <a:ext cx="11091672" cy="676656"/>
          </a:xfrm>
          <a:prstGeom prst="rect">
            <a:avLst/>
          </a:prstGeom>
          <a:noFill/>
          <a:ln/>
        </p:spPr>
        <p:txBody>
          <a:bodyPr wrap="square" lIns="0" tIns="0" rIns="0" bIns="0" rtlCol="0" anchor="t"/>
          <a:lstStyle/>
          <a:p>
            <a:pPr algn="l" indent="0" marL="0">
              <a:lnSpc>
                <a:spcPct val="104000"/>
              </a:lnSpc>
              <a:buNone/>
            </a:pPr>
            <a:r>
              <a:rPr lang="en-US" sz="3150" b="1" dirty="0">
                <a:solidFill>
                  <a:srgbClr val="F4F7FB"/>
                </a:solidFill>
                <a:latin typeface="Arial" pitchFamily="34" charset="0"/>
                <a:ea typeface="Arial" pitchFamily="34" charset="-122"/>
                <a:cs typeface="Arial" pitchFamily="34" charset="-120"/>
              </a:rPr>
              <a:t>Hardware: compute, state, and movement</a:t>
            </a:r>
            <a:endParaRPr lang="en-US" sz="3150" dirty="0"/>
          </a:p>
        </p:txBody>
      </p:sp>
      <p:sp>
        <p:nvSpPr>
          <p:cNvPr id="6" name="Shape 4"/>
          <p:cNvSpPr/>
          <p:nvPr/>
        </p:nvSpPr>
        <p:spPr>
          <a:xfrm>
            <a:off x="548640" y="1874520"/>
            <a:ext cx="3712464" cy="2093976"/>
          </a:xfrm>
          <a:prstGeom prst="rect">
            <a:avLst/>
          </a:prstGeom>
          <a:solidFill>
            <a:srgbClr val="142238"/>
          </a:solidFill>
          <a:ln w="8890">
            <a:solidFill>
              <a:srgbClr val="2B415A"/>
            </a:solidFill>
            <a:prstDash val="solid"/>
          </a:ln>
        </p:spPr>
        <p:txBody>
          <a:bodyPr/>
          <a:p/>
        </p:txBody>
      </p:sp>
      <p:sp>
        <p:nvSpPr>
          <p:cNvPr id="7" name="Text 5"/>
          <p:cNvSpPr txBox="1"/>
          <p:nvPr/>
        </p:nvSpPr>
        <p:spPr>
          <a:xfrm>
            <a:off x="749808" y="2066544"/>
            <a:ext cx="3291840" cy="237744"/>
          </a:xfrm>
          <a:prstGeom prst="rect">
            <a:avLst/>
          </a:prstGeom>
          <a:noFill/>
          <a:ln/>
        </p:spPr>
        <p:txBody>
          <a:bodyPr wrap="square" lIns="0" tIns="0" rIns="0" bIns="0" rtlCol="0" anchor="t"/>
          <a:lstStyle/>
          <a:p>
            <a:pPr algn="l" indent="0" marL="0">
              <a:lnSpc>
                <a:spcPct val="104000"/>
              </a:lnSpc>
              <a:buNone/>
            </a:pPr>
            <a:r>
              <a:rPr lang="en-US" sz="1700" b="1" dirty="0">
                <a:solidFill>
                  <a:srgbClr val="71D5DD"/>
                </a:solidFill>
                <a:latin typeface="Arial" pitchFamily="34" charset="0"/>
                <a:ea typeface="Arial" pitchFamily="34" charset="-122"/>
                <a:cs typeface="Arial" pitchFamily="34" charset="-120"/>
              </a:rPr>
              <a:t>CPU CORES</a:t>
            </a:r>
            <a:endParaRPr lang="en-US" sz="1700" dirty="0"/>
          </a:p>
        </p:txBody>
      </p:sp>
      <p:sp>
        <p:nvSpPr>
          <p:cNvPr id="8" name="Shape 6"/>
          <p:cNvSpPr/>
          <p:nvPr/>
        </p:nvSpPr>
        <p:spPr>
          <a:xfrm>
            <a:off x="749808" y="2706624"/>
            <a:ext cx="1481328" cy="886968"/>
          </a:xfrm>
          <a:prstGeom prst="rect">
            <a:avLst/>
          </a:prstGeom>
          <a:solidFill>
            <a:srgbClr val="172940"/>
          </a:solidFill>
          <a:ln w="8890">
            <a:solidFill>
              <a:srgbClr val="2B415A"/>
            </a:solidFill>
            <a:prstDash val="solid"/>
          </a:ln>
        </p:spPr>
        <p:txBody>
          <a:bodyPr/>
          <a:p/>
        </p:txBody>
      </p:sp>
      <p:sp>
        <p:nvSpPr>
          <p:cNvPr id="9" name="Text 7"/>
          <p:cNvSpPr txBox="1"/>
          <p:nvPr/>
        </p:nvSpPr>
        <p:spPr>
          <a:xfrm>
            <a:off x="832104" y="2980944"/>
            <a:ext cx="1316736" cy="320040"/>
          </a:xfrm>
          <a:prstGeom prst="rect">
            <a:avLst/>
          </a:prstGeom>
          <a:noFill/>
          <a:ln/>
        </p:spPr>
        <p:txBody>
          <a:bodyPr wrap="square" lIns="0" tIns="0" rIns="0" bIns="0" rtlCol="0" anchor="t"/>
          <a:lstStyle/>
          <a:p>
            <a:pPr algn="ctr" indent="0" marL="0">
              <a:lnSpc>
                <a:spcPct val="104000"/>
              </a:lnSpc>
              <a:buNone/>
            </a:pPr>
            <a:r>
              <a:rPr lang="en-US" sz="1800" b="1" dirty="0">
                <a:solidFill>
                  <a:srgbClr val="F4F7FB"/>
                </a:solidFill>
                <a:latin typeface="Arial" pitchFamily="34" charset="0"/>
                <a:ea typeface="Arial" pitchFamily="34" charset="-122"/>
                <a:cs typeface="Arial" pitchFamily="34" charset="-120"/>
              </a:rPr>
              <a:t>Registers</a:t>
            </a:r>
            <a:endParaRPr lang="en-US" sz="1800" dirty="0"/>
          </a:p>
        </p:txBody>
      </p:sp>
      <p:sp>
        <p:nvSpPr>
          <p:cNvPr id="10" name="Shape 8"/>
          <p:cNvSpPr/>
          <p:nvPr/>
        </p:nvSpPr>
        <p:spPr>
          <a:xfrm>
            <a:off x="2395728" y="2706624"/>
            <a:ext cx="1664208" cy="886968"/>
          </a:xfrm>
          <a:prstGeom prst="rect">
            <a:avLst/>
          </a:prstGeom>
          <a:solidFill>
            <a:srgbClr val="172940"/>
          </a:solidFill>
          <a:ln w="8890">
            <a:solidFill>
              <a:srgbClr val="2B415A"/>
            </a:solidFill>
            <a:prstDash val="solid"/>
          </a:ln>
        </p:spPr>
        <p:txBody>
          <a:bodyPr/>
          <a:p/>
        </p:txBody>
      </p:sp>
      <p:sp>
        <p:nvSpPr>
          <p:cNvPr id="11" name="Text 9"/>
          <p:cNvSpPr txBox="1"/>
          <p:nvPr/>
        </p:nvSpPr>
        <p:spPr>
          <a:xfrm>
            <a:off x="2496312" y="2852928"/>
            <a:ext cx="1463040" cy="566928"/>
          </a:xfrm>
          <a:prstGeom prst="rect">
            <a:avLst/>
          </a:prstGeom>
          <a:noFill/>
          <a:ln/>
        </p:spPr>
        <p:txBody>
          <a:bodyPr wrap="square" lIns="0" tIns="0" rIns="0" bIns="0" rtlCol="0" anchor="t"/>
          <a:lstStyle/>
          <a:p>
            <a:pPr algn="ctr" indent="0" marL="0">
              <a:lnSpc>
                <a:spcPct val="104000"/>
              </a:lnSpc>
              <a:buNone/>
            </a:pPr>
            <a:r>
              <a:rPr lang="en-US" sz="1740" dirty="0">
                <a:solidFill>
                  <a:srgbClr val="F4F7FB"/>
                </a:solidFill>
                <a:latin typeface="Arial" pitchFamily="34" charset="0"/>
                <a:ea typeface="Arial" pitchFamily="34" charset="-122"/>
                <a:cs typeface="Arial" pitchFamily="34" charset="-120"/>
              </a:rPr>
              <a:t>Execution</a:t>
            </a:r>
            <a:endParaRPr lang="en-US" sz="1740" dirty="0"/>
          </a:p>
          <a:p>
            <a:pPr algn="ctr" indent="0" marL="0">
              <a:lnSpc>
                <a:spcPct val="104000"/>
              </a:lnSpc>
              <a:buNone/>
            </a:pPr>
            <a:r>
              <a:rPr lang="en-US" sz="1740" dirty="0">
                <a:solidFill>
                  <a:srgbClr val="F4F7FB"/>
                </a:solidFill>
                <a:latin typeface="Arial" pitchFamily="34" charset="0"/>
                <a:ea typeface="Arial" pitchFamily="34" charset="-122"/>
                <a:cs typeface="Arial" pitchFamily="34" charset="-120"/>
              </a:rPr>
              <a:t>&amp; control</a:t>
            </a:r>
            <a:endParaRPr lang="en-US" sz="1740" dirty="0"/>
          </a:p>
        </p:txBody>
      </p:sp>
      <p:sp>
        <p:nvSpPr>
          <p:cNvPr id="12" name="Shape 10"/>
          <p:cNvSpPr/>
          <p:nvPr/>
        </p:nvSpPr>
        <p:spPr>
          <a:xfrm>
            <a:off x="4800600" y="1874520"/>
            <a:ext cx="2834640" cy="2093976"/>
          </a:xfrm>
          <a:prstGeom prst="rect">
            <a:avLst/>
          </a:prstGeom>
          <a:solidFill>
            <a:srgbClr val="142238"/>
          </a:solidFill>
          <a:ln w="8890">
            <a:solidFill>
              <a:srgbClr val="2B415A"/>
            </a:solidFill>
            <a:prstDash val="solid"/>
          </a:ln>
        </p:spPr>
        <p:txBody>
          <a:bodyPr/>
          <a:p/>
        </p:txBody>
      </p:sp>
      <p:sp>
        <p:nvSpPr>
          <p:cNvPr id="13" name="Text 11"/>
          <p:cNvSpPr txBox="1"/>
          <p:nvPr/>
        </p:nvSpPr>
        <p:spPr>
          <a:xfrm>
            <a:off x="5001768" y="2066544"/>
            <a:ext cx="2432304" cy="237744"/>
          </a:xfrm>
          <a:prstGeom prst="rect">
            <a:avLst/>
          </a:prstGeom>
          <a:noFill/>
          <a:ln/>
        </p:spPr>
        <p:txBody>
          <a:bodyPr wrap="square" lIns="0" tIns="0" rIns="0" bIns="0" rtlCol="0" anchor="t"/>
          <a:lstStyle/>
          <a:p>
            <a:pPr algn="l" indent="0" marL="0">
              <a:lnSpc>
                <a:spcPct val="104000"/>
              </a:lnSpc>
              <a:buNone/>
            </a:pPr>
            <a:r>
              <a:rPr lang="en-US" sz="1700" b="1" dirty="0">
                <a:solidFill>
                  <a:srgbClr val="71D5DD"/>
                </a:solidFill>
                <a:latin typeface="Arial" pitchFamily="34" charset="0"/>
                <a:ea typeface="Arial" pitchFamily="34" charset="-122"/>
                <a:cs typeface="Arial" pitchFamily="34" charset="-120"/>
              </a:rPr>
              <a:t>MEMORY</a:t>
            </a:r>
            <a:endParaRPr lang="en-US" sz="1700" dirty="0"/>
          </a:p>
        </p:txBody>
      </p:sp>
      <p:sp>
        <p:nvSpPr>
          <p:cNvPr id="14" name="Text 12"/>
          <p:cNvSpPr txBox="1"/>
          <p:nvPr/>
        </p:nvSpPr>
        <p:spPr>
          <a:xfrm>
            <a:off x="5001768" y="2770632"/>
            <a:ext cx="2432304" cy="960120"/>
          </a:xfrm>
          <a:prstGeom prst="rect">
            <a:avLst/>
          </a:prstGeom>
          <a:noFill/>
          <a:ln/>
        </p:spPr>
        <p:txBody>
          <a:bodyPr wrap="square" lIns="0" tIns="0" rIns="0" bIns="0" rtlCol="0" anchor="t"/>
          <a:lstStyle/>
          <a:p>
            <a:pPr algn="l" indent="0" marL="0">
              <a:lnSpc>
                <a:spcPct val="104000"/>
              </a:lnSpc>
              <a:buNone/>
            </a:pPr>
            <a:r>
              <a:rPr lang="en-US" sz="2040" dirty="0">
                <a:solidFill>
                  <a:srgbClr val="F4F7FB"/>
                </a:solidFill>
                <a:latin typeface="Arial" pitchFamily="34" charset="0"/>
                <a:ea typeface="Arial" pitchFamily="34" charset="-122"/>
                <a:cs typeface="Arial" pitchFamily="34" charset="-120"/>
              </a:rPr>
              <a:t>Instructions</a:t>
            </a:r>
            <a:endParaRPr lang="en-US" sz="2040" dirty="0"/>
          </a:p>
          <a:p>
            <a:pPr algn="l" indent="0" marL="0">
              <a:lnSpc>
                <a:spcPct val="104000"/>
              </a:lnSpc>
              <a:buNone/>
            </a:pPr>
            <a:r>
              <a:rPr lang="en-US" sz="2040" dirty="0">
                <a:solidFill>
                  <a:srgbClr val="F4F7FB"/>
                </a:solidFill>
                <a:latin typeface="Arial" pitchFamily="34" charset="0"/>
                <a:ea typeface="Arial" pitchFamily="34" charset="-122"/>
                <a:cs typeface="Arial" pitchFamily="34" charset="-120"/>
              </a:rPr>
              <a:t>Data</a:t>
            </a:r>
            <a:endParaRPr lang="en-US" sz="2040" dirty="0"/>
          </a:p>
          <a:p>
            <a:pPr algn="l" indent="0" marL="0">
              <a:lnSpc>
                <a:spcPct val="104000"/>
              </a:lnSpc>
              <a:buNone/>
            </a:pPr>
            <a:r>
              <a:rPr lang="en-US" sz="2040" dirty="0">
                <a:solidFill>
                  <a:srgbClr val="F4F7FB"/>
                </a:solidFill>
                <a:latin typeface="Arial" pitchFamily="34" charset="0"/>
                <a:ea typeface="Arial" pitchFamily="34" charset="-122"/>
                <a:cs typeface="Arial" pitchFamily="34" charset="-120"/>
              </a:rPr>
              <a:t>Addressable state</a:t>
            </a:r>
            <a:endParaRPr lang="en-US" sz="2040" dirty="0"/>
          </a:p>
        </p:txBody>
      </p:sp>
      <p:sp>
        <p:nvSpPr>
          <p:cNvPr id="15" name="Shape 13"/>
          <p:cNvSpPr/>
          <p:nvPr/>
        </p:nvSpPr>
        <p:spPr>
          <a:xfrm>
            <a:off x="8266176" y="1874520"/>
            <a:ext cx="3374136" cy="2093976"/>
          </a:xfrm>
          <a:prstGeom prst="rect">
            <a:avLst/>
          </a:prstGeom>
          <a:solidFill>
            <a:srgbClr val="142238"/>
          </a:solidFill>
          <a:ln w="8890">
            <a:solidFill>
              <a:srgbClr val="2B415A"/>
            </a:solidFill>
            <a:prstDash val="solid"/>
          </a:ln>
        </p:spPr>
        <p:txBody>
          <a:bodyPr/>
          <a:p/>
        </p:txBody>
      </p:sp>
      <p:sp>
        <p:nvSpPr>
          <p:cNvPr id="16" name="Text 14"/>
          <p:cNvSpPr txBox="1"/>
          <p:nvPr/>
        </p:nvSpPr>
        <p:spPr>
          <a:xfrm>
            <a:off x="8467344" y="2066544"/>
            <a:ext cx="2971800" cy="237744"/>
          </a:xfrm>
          <a:prstGeom prst="rect">
            <a:avLst/>
          </a:prstGeom>
          <a:noFill/>
          <a:ln/>
        </p:spPr>
        <p:txBody>
          <a:bodyPr wrap="square" lIns="0" tIns="0" rIns="0" bIns="0" rtlCol="0" anchor="t"/>
          <a:lstStyle/>
          <a:p>
            <a:pPr algn="l" indent="0" marL="0">
              <a:lnSpc>
                <a:spcPct val="104000"/>
              </a:lnSpc>
              <a:buNone/>
            </a:pPr>
            <a:r>
              <a:rPr lang="en-US" sz="1700" b="1" dirty="0">
                <a:solidFill>
                  <a:srgbClr val="71D5DD"/>
                </a:solidFill>
                <a:latin typeface="Arial" pitchFamily="34" charset="0"/>
                <a:ea typeface="Arial" pitchFamily="34" charset="-122"/>
                <a:cs typeface="Arial" pitchFamily="34" charset="-120"/>
              </a:rPr>
              <a:t>STORAGE &amp; I/O</a:t>
            </a:r>
            <a:endParaRPr lang="en-US" sz="1700" dirty="0"/>
          </a:p>
        </p:txBody>
      </p:sp>
      <p:sp>
        <p:nvSpPr>
          <p:cNvPr id="17" name="Text 15"/>
          <p:cNvSpPr txBox="1"/>
          <p:nvPr/>
        </p:nvSpPr>
        <p:spPr>
          <a:xfrm>
            <a:off x="8467344" y="2770632"/>
            <a:ext cx="2971800" cy="960120"/>
          </a:xfrm>
          <a:prstGeom prst="rect">
            <a:avLst/>
          </a:prstGeom>
          <a:noFill/>
          <a:ln/>
        </p:spPr>
        <p:txBody>
          <a:bodyPr wrap="square" lIns="0" tIns="0" rIns="0" bIns="0" rtlCol="0" anchor="t"/>
          <a:lstStyle/>
          <a:p>
            <a:pPr algn="l" indent="0" marL="0">
              <a:lnSpc>
                <a:spcPct val="104000"/>
              </a:lnSpc>
              <a:buNone/>
            </a:pPr>
            <a:r>
              <a:rPr lang="en-US" sz="2040" dirty="0">
                <a:solidFill>
                  <a:srgbClr val="F4F7FB"/>
                </a:solidFill>
                <a:latin typeface="Arial" pitchFamily="34" charset="0"/>
                <a:ea typeface="Arial" pitchFamily="34" charset="-122"/>
                <a:cs typeface="Arial" pitchFamily="34" charset="-120"/>
              </a:rPr>
              <a:t>Persistent data</a:t>
            </a:r>
            <a:endParaRPr lang="en-US" sz="2040" dirty="0"/>
          </a:p>
          <a:p>
            <a:pPr algn="l" indent="0" marL="0">
              <a:lnSpc>
                <a:spcPct val="104000"/>
              </a:lnSpc>
              <a:buNone/>
            </a:pPr>
            <a:r>
              <a:rPr lang="en-US" sz="2040" dirty="0">
                <a:solidFill>
                  <a:srgbClr val="F4F7FB"/>
                </a:solidFill>
                <a:latin typeface="Arial" pitchFamily="34" charset="0"/>
                <a:ea typeface="Arial" pitchFamily="34" charset="-122"/>
                <a:cs typeface="Arial" pitchFamily="34" charset="-120"/>
              </a:rPr>
              <a:t>Input / output</a:t>
            </a:r>
            <a:endParaRPr lang="en-US" sz="2040" dirty="0"/>
          </a:p>
          <a:p>
            <a:pPr algn="l" indent="0" marL="0">
              <a:lnSpc>
                <a:spcPct val="104000"/>
              </a:lnSpc>
              <a:buNone/>
            </a:pPr>
            <a:r>
              <a:rPr lang="en-US" sz="2040" dirty="0">
                <a:solidFill>
                  <a:srgbClr val="F4F7FB"/>
                </a:solidFill>
                <a:latin typeface="Arial" pitchFamily="34" charset="0"/>
                <a:ea typeface="Arial" pitchFamily="34" charset="-122"/>
                <a:cs typeface="Arial" pitchFamily="34" charset="-120"/>
              </a:rPr>
              <a:t>Device interactions</a:t>
            </a:r>
            <a:endParaRPr lang="en-US" sz="2040" dirty="0"/>
          </a:p>
        </p:txBody>
      </p:sp>
      <p:sp>
        <p:nvSpPr>
          <p:cNvPr id="18" name="Shape 16"/>
          <p:cNvSpPr/>
          <p:nvPr/>
        </p:nvSpPr>
        <p:spPr>
          <a:xfrm>
            <a:off x="4325112" y="2926080"/>
            <a:ext cx="420624" cy="0"/>
          </a:xfrm>
          <a:prstGeom prst="line">
            <a:avLst/>
          </a:prstGeom>
          <a:noFill/>
          <a:ln w="19050">
            <a:solidFill>
              <a:srgbClr val="71D5DD"/>
            </a:solidFill>
            <a:prstDash val="solid"/>
            <a:headEnd type="none"/>
            <a:tailEnd type="triangle"/>
          </a:ln>
        </p:spPr>
        <p:txBody>
          <a:bodyPr/>
          <a:p/>
        </p:txBody>
      </p:sp>
      <p:sp>
        <p:nvSpPr>
          <p:cNvPr id="19" name="Shape 17"/>
          <p:cNvSpPr/>
          <p:nvPr/>
        </p:nvSpPr>
        <p:spPr>
          <a:xfrm>
            <a:off x="7726680" y="2926080"/>
            <a:ext cx="438912" cy="0"/>
          </a:xfrm>
          <a:prstGeom prst="line">
            <a:avLst/>
          </a:prstGeom>
          <a:noFill/>
          <a:ln w="19050">
            <a:solidFill>
              <a:srgbClr val="71D5DD"/>
            </a:solidFill>
            <a:prstDash val="solid"/>
            <a:headEnd type="none"/>
            <a:tailEnd type="triangle"/>
          </a:ln>
        </p:spPr>
        <p:txBody>
          <a:bodyPr/>
          <a:p/>
        </p:txBody>
      </p:sp>
      <p:sp>
        <p:nvSpPr>
          <p:cNvPr id="20" name="Shape 18"/>
          <p:cNvSpPr/>
          <p:nvPr/>
        </p:nvSpPr>
        <p:spPr>
          <a:xfrm>
            <a:off x="548640" y="4288536"/>
            <a:ext cx="11091672" cy="713232"/>
          </a:xfrm>
          <a:prstGeom prst="rect">
            <a:avLst/>
          </a:prstGeom>
          <a:solidFill>
            <a:srgbClr val="172940"/>
          </a:solidFill>
          <a:ln w="8890">
            <a:solidFill>
              <a:srgbClr val="2B415A"/>
            </a:solidFill>
            <a:prstDash val="solid"/>
          </a:ln>
        </p:spPr>
        <p:txBody>
          <a:bodyPr/>
          <a:p/>
        </p:txBody>
      </p:sp>
      <p:sp>
        <p:nvSpPr>
          <p:cNvPr id="21" name="Text 19"/>
          <p:cNvSpPr txBox="1"/>
          <p:nvPr/>
        </p:nvSpPr>
        <p:spPr>
          <a:xfrm>
            <a:off x="731520" y="4517136"/>
            <a:ext cx="10725912" cy="320040"/>
          </a:xfrm>
          <a:prstGeom prst="rect">
            <a:avLst/>
          </a:prstGeom>
          <a:noFill/>
          <a:ln/>
        </p:spPr>
        <p:txBody>
          <a:bodyPr wrap="square" lIns="0" tIns="0" rIns="0" bIns="0" rtlCol="0" anchor="t"/>
          <a:lstStyle/>
          <a:p>
            <a:pPr algn="ctr" indent="0" marL="0">
              <a:lnSpc>
                <a:spcPct val="104000"/>
              </a:lnSpc>
              <a:buNone/>
            </a:pPr>
            <a:r>
              <a:rPr lang="en-US" sz="2200" dirty="0">
                <a:solidFill>
                  <a:srgbClr val="F4F7FB"/>
                </a:solidFill>
                <a:latin typeface="Arial" pitchFamily="34" charset="0"/>
                <a:ea typeface="Arial" pitchFamily="34" charset="-122"/>
                <a:cs typeface="Arial" pitchFamily="34" charset="-120"/>
              </a:rPr>
              <a:t>Controllers, buses, and interconnects coordinate movement and events.</a:t>
            </a:r>
            <a:endParaRPr lang="en-US" sz="2200" dirty="0"/>
          </a:p>
        </p:txBody>
      </p:sp>
      <p:sp>
        <p:nvSpPr>
          <p:cNvPr id="22" name="Text 20"/>
          <p:cNvSpPr txBox="1"/>
          <p:nvPr/>
        </p:nvSpPr>
        <p:spPr>
          <a:xfrm>
            <a:off x="548640" y="5193792"/>
            <a:ext cx="11094720" cy="274320"/>
          </a:xfrm>
          <a:prstGeom prst="rect">
            <a:avLst/>
          </a:prstGeom>
          <a:noFill/>
          <a:ln/>
        </p:spPr>
        <p:txBody>
          <a:bodyPr wrap="square" lIns="0" tIns="0" rIns="0" bIns="0" rtlCol="0" anchor="t"/>
          <a:lstStyle/>
          <a:p>
            <a:pPr algn="l" indent="0" marL="0">
              <a:lnSpc>
                <a:spcPct val="104000"/>
              </a:lnSpc>
              <a:buNone/>
            </a:pPr>
            <a:r>
              <a:rPr lang="en-US" sz="1140" dirty="0">
                <a:solidFill>
                  <a:srgbClr val="B3C3D6"/>
                </a:solidFill>
                <a:latin typeface="Arial" pitchFamily="34" charset="0"/>
                <a:ea typeface="Arial" pitchFamily="34" charset="-122"/>
                <a:cs typeface="Arial" pitchFamily="34" charset="-120"/>
              </a:rPr>
              <a:t>Reasoning model, not a literal diagram of one processor or motherboard.</a:t>
            </a:r>
            <a:endParaRPr lang="en-US" sz="1140" dirty="0"/>
          </a:p>
        </p:txBody>
      </p:sp>
      <p:sp>
        <p:nvSpPr>
          <p:cNvPr id="27" name="Text 25"/>
          <p:cNvSpPr txBox="1"/>
          <p:nvPr/>
        </p:nvSpPr>
        <p:spPr>
          <a:xfrm>
            <a:off x="548640" y="6601968"/>
            <a:ext cx="10241280" cy="128016"/>
          </a:xfrm>
          <a:prstGeom prst="rect">
            <a:avLst/>
          </a:prstGeom>
          <a:noFill/>
          <a:ln/>
        </p:spPr>
        <p:txBody>
          <a:bodyPr wrap="square" lIns="0" tIns="0" rIns="0" bIns="0" rtlCol="0" anchor="t"/>
          <a:lstStyle/>
          <a:p>
            <a:pPr algn="l" indent="0" marL="0">
              <a:lnSpc>
                <a:spcPct val="104000"/>
              </a:lnSpc>
              <a:buNone/>
            </a:pPr>
            <a:r>
              <a:rPr lang="en-US" sz="830" dirty="0">
                <a:solidFill>
                  <a:srgbClr val="B3C3D6"/>
                </a:solidFill>
                <a:latin typeface="Arial" pitchFamily="34" charset="0"/>
                <a:ea typeface="Arial" pitchFamily="34" charset="-122"/>
                <a:cs typeface="Arial" pitchFamily="34" charset="-120"/>
              </a:rPr>
              <a:t>Source: original 3</a:t>
            </a:r>
            <a:endParaRPr lang="en-US" sz="830" dirty="0"/>
          </a:p>
        </p:txBody>
      </p:sp>
      <p:sp>
        <p:nvSpPr>
          <p:cNvPr id="28" name="Text 26"/>
          <p:cNvSpPr txBox="1"/>
          <p:nvPr/>
        </p:nvSpPr>
        <p:spPr>
          <a:xfrm>
            <a:off x="10917936" y="6565392"/>
            <a:ext cx="722376" cy="219456"/>
          </a:xfrm>
          <a:prstGeom prst="rect">
            <a:avLst/>
          </a:prstGeom>
          <a:noFill/>
          <a:ln/>
        </p:spPr>
        <p:txBody>
          <a:bodyPr wrap="square" lIns="0" tIns="0" rIns="0" bIns="0" rtlCol="0" anchor="t"/>
          <a:lstStyle/>
          <a:p>
            <a:pPr algn="r" indent="0" marL="0">
              <a:lnSpc>
                <a:spcPct val="104000"/>
              </a:lnSpc>
              <a:buNone/>
            </a:pPr>
            <a:r>
              <a:rPr lang="en-US" sz="1050" dirty="0">
                <a:solidFill>
                  <a:srgbClr val="B3C3D6"/>
                </a:solidFill>
                <a:latin typeface="Arial" pitchFamily="34" charset="0"/>
                <a:ea typeface="Arial" pitchFamily="34" charset="-122"/>
                <a:cs typeface="Arial" pitchFamily="34" charset="-120"/>
              </a:rPr>
              <a:t>04 / 64</a:t>
            </a:r>
            <a:endParaRPr lang="en-US" sz="1050" dirty="0"/>
          </a:p>
        </p:txBody>
      </p:sp>
      <p:sp>
        <p:nvSpPr>
          <p:cNvPr id="29" name="Shape 27"/>
          <p:cNvSpPr/>
          <p:nvPr/>
        </p:nvSpPr>
        <p:spPr>
          <a:xfrm>
            <a:off x="0" y="6834226"/>
            <a:ext cx="12192000" cy="23774"/>
          </a:xfrm>
          <a:prstGeom prst="rect">
            <a:avLst/>
          </a:prstGeom>
          <a:solidFill>
            <a:srgbClr val="2B415A"/>
          </a:solidFill>
          <a:ln w="8890">
            <a:solidFill>
              <a:srgbClr val="2B415A"/>
            </a:solidFill>
            <a:prstDash val="solid"/>
          </a:ln>
        </p:spPr>
        <p:txBody>
          <a:bodyPr/>
          <a:p/>
        </p:txBody>
      </p:sp>
      <p:sp>
        <p:nvSpPr>
          <p:cNvPr id="30" name="Shape 28"/>
          <p:cNvSpPr/>
          <p:nvPr/>
        </p:nvSpPr>
        <p:spPr>
          <a:xfrm>
            <a:off x="0" y="6834226"/>
            <a:ext cx="762000" cy="23774"/>
          </a:xfrm>
          <a:prstGeom prst="rect">
            <a:avLst/>
          </a:prstGeom>
          <a:solidFill>
            <a:srgbClr val="71D5DD"/>
          </a:solidFill>
          <a:ln w="8890">
            <a:solidFill>
              <a:srgbClr val="71D5DD"/>
            </a:solidFill>
            <a:prstDash val="solid"/>
          </a:ln>
        </p:spPr>
        <p:txBody>
          <a:body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19456"/>
            <a:ext cx="9875520" cy="192024"/>
          </a:xfrm>
          <a:prstGeom prst="rect">
            <a:avLst/>
          </a:prstGeom>
          <a:noFill/>
          <a:ln/>
        </p:spPr>
        <p:txBody>
          <a:bodyPr wrap="square" lIns="0" tIns="0" rIns="0" bIns="0" rtlCol="0" anchor="t"/>
          <a:lstStyle/>
          <a:p>
            <a:pPr algn="l" indent="0" marL="0">
              <a:lnSpc>
                <a:spcPct val="104000"/>
              </a:lnSpc>
              <a:buNone/>
            </a:pPr>
            <a:r>
              <a:rPr lang="en-US" sz="970" b="1" spc="135" kern="0" dirty="0">
                <a:solidFill>
                  <a:srgbClr val="B3C3D6"/>
                </a:solidFill>
                <a:latin typeface="Arial" pitchFamily="34" charset="0"/>
                <a:ea typeface="Arial" pitchFamily="34" charset="-122"/>
                <a:cs typeface="Arial" pitchFamily="34" charset="-120"/>
              </a:rPr>
              <a:t>SYSTEMS PROGRAMMING AND MACHINE ORGANIZATION</a:t>
            </a:r>
            <a:endParaRPr lang="en-US" sz="970" dirty="0"/>
          </a:p>
        </p:txBody>
      </p:sp>
      <p:sp>
        <p:nvSpPr>
          <p:cNvPr id="3" name="Text 1"/>
          <p:cNvSpPr txBox="1"/>
          <p:nvPr/>
        </p:nvSpPr>
        <p:spPr>
          <a:xfrm>
            <a:off x="9601200" y="219456"/>
            <a:ext cx="2039112" cy="192024"/>
          </a:xfrm>
          <a:prstGeom prst="rect">
            <a:avLst/>
          </a:prstGeom>
          <a:noFill/>
          <a:ln/>
        </p:spPr>
        <p:txBody>
          <a:bodyPr wrap="square" lIns="0" tIns="0" rIns="0" bIns="0" rtlCol="0" anchor="t"/>
          <a:lstStyle/>
          <a:p>
            <a:pPr algn="r" indent="0" marL="0">
              <a:lnSpc>
                <a:spcPct val="104000"/>
              </a:lnSpc>
              <a:buNone/>
            </a:pPr>
            <a:r>
              <a:rPr lang="en-US" sz="970" b="1" dirty="0">
                <a:solidFill>
                  <a:srgbClr val="B3C3D6"/>
                </a:solidFill>
                <a:latin typeface="Arial" pitchFamily="34" charset="0"/>
                <a:ea typeface="Arial" pitchFamily="34" charset="-122"/>
                <a:cs typeface="Arial" pitchFamily="34" charset="-120"/>
              </a:rPr>
              <a:t>CHARLES DORNER</a:t>
            </a:r>
            <a:endParaRPr lang="en-US" sz="970" dirty="0"/>
          </a:p>
        </p:txBody>
      </p:sp>
      <p:sp>
        <p:nvSpPr>
          <p:cNvPr id="4" name="Text 2"/>
          <p:cNvSpPr txBox="1"/>
          <p:nvPr/>
        </p:nvSpPr>
        <p:spPr>
          <a:xfrm>
            <a:off x="548640" y="566928"/>
            <a:ext cx="11109960" cy="237744"/>
          </a:xfrm>
          <a:prstGeom prst="rect">
            <a:avLst/>
          </a:prstGeom>
          <a:noFill/>
          <a:ln/>
        </p:spPr>
        <p:txBody>
          <a:bodyPr wrap="square" lIns="0" tIns="0" rIns="0" bIns="0" rtlCol="0" anchor="t"/>
          <a:lstStyle/>
          <a:p>
            <a:pPr algn="l" indent="0" marL="0">
              <a:lnSpc>
                <a:spcPct val="104000"/>
              </a:lnSpc>
              <a:buNone/>
            </a:pPr>
            <a:r>
              <a:rPr lang="en-US" sz="1150" b="1" dirty="0">
                <a:solidFill>
                  <a:srgbClr val="71D5DD"/>
                </a:solidFill>
                <a:latin typeface="Arial" pitchFamily="34" charset="0"/>
                <a:ea typeface="Arial" pitchFamily="34" charset="-122"/>
                <a:cs typeface="Arial" pitchFamily="34" charset="-120"/>
              </a:rPr>
              <a:t>1.1.1 · CPU, REGISTERS &amp; MEMORY</a:t>
            </a:r>
            <a:endParaRPr lang="en-US" sz="1150" dirty="0"/>
          </a:p>
        </p:txBody>
      </p:sp>
      <p:sp>
        <p:nvSpPr>
          <p:cNvPr id="5" name="Text 3"/>
          <p:cNvSpPr txBox="1"/>
          <p:nvPr/>
        </p:nvSpPr>
        <p:spPr>
          <a:xfrm>
            <a:off x="548640" y="941832"/>
            <a:ext cx="11091672" cy="676656"/>
          </a:xfrm>
          <a:prstGeom prst="rect">
            <a:avLst/>
          </a:prstGeom>
          <a:noFill/>
          <a:ln/>
        </p:spPr>
        <p:txBody>
          <a:bodyPr wrap="square" lIns="0" tIns="0" rIns="0" bIns="0" rtlCol="0" anchor="t"/>
          <a:lstStyle/>
          <a:p>
            <a:pPr algn="l" indent="0" marL="0">
              <a:lnSpc>
                <a:spcPct val="104000"/>
              </a:lnSpc>
              <a:buNone/>
            </a:pPr>
            <a:r>
              <a:rPr lang="en-US" sz="3150" b="1" dirty="0">
                <a:solidFill>
                  <a:srgbClr val="F4F7FB"/>
                </a:solidFill>
                <a:latin typeface="Arial" pitchFamily="34" charset="0"/>
                <a:ea typeface="Arial" pitchFamily="34" charset="-122"/>
                <a:cs typeface="Arial" pitchFamily="34" charset="-120"/>
              </a:rPr>
              <a:t>Follow the value—not just the statement</a:t>
            </a:r>
            <a:endParaRPr lang="en-US" sz="3150" dirty="0"/>
          </a:p>
        </p:txBody>
      </p:sp>
      <p:sp>
        <p:nvSpPr>
          <p:cNvPr id="6" name="Shape 4"/>
          <p:cNvSpPr/>
          <p:nvPr/>
        </p:nvSpPr>
        <p:spPr>
          <a:xfrm>
            <a:off x="548640" y="1883664"/>
            <a:ext cx="2058010" cy="941832"/>
          </a:xfrm>
          <a:prstGeom prst="rect">
            <a:avLst/>
          </a:prstGeom>
          <a:solidFill>
            <a:srgbClr val="172940"/>
          </a:solidFill>
          <a:ln w="8890">
            <a:solidFill>
              <a:srgbClr val="2B415A"/>
            </a:solidFill>
            <a:prstDash val="solid"/>
          </a:ln>
        </p:spPr>
        <p:txBody>
          <a:bodyPr/>
          <a:p/>
        </p:txBody>
      </p:sp>
      <p:sp>
        <p:nvSpPr>
          <p:cNvPr id="7" name="Text 5"/>
          <p:cNvSpPr txBox="1"/>
          <p:nvPr/>
        </p:nvSpPr>
        <p:spPr>
          <a:xfrm>
            <a:off x="640080" y="2084832"/>
            <a:ext cx="1875130" cy="548640"/>
          </a:xfrm>
          <a:prstGeom prst="rect">
            <a:avLst/>
          </a:prstGeom>
          <a:noFill/>
          <a:ln/>
        </p:spPr>
        <p:txBody>
          <a:bodyPr wrap="square" lIns="0" tIns="0" rIns="0" bIns="0" rtlCol="0" anchor="t"/>
          <a:lstStyle/>
          <a:p>
            <a:pPr algn="ctr" indent="0" marL="0">
              <a:lnSpc>
                <a:spcPct val="104000"/>
              </a:lnSpc>
              <a:buNone/>
            </a:pPr>
            <a:r>
              <a:rPr lang="en-US" sz="1800" b="1" dirty="0">
                <a:solidFill>
                  <a:srgbClr val="F4F7FB"/>
                </a:solidFill>
                <a:latin typeface="Arial" pitchFamily="34" charset="0"/>
                <a:ea typeface="Arial" pitchFamily="34" charset="-122"/>
                <a:cs typeface="Arial" pitchFamily="34" charset="-120"/>
              </a:rPr>
              <a:t>Instruction</a:t>
            </a:r>
            <a:endParaRPr lang="en-US" sz="1800" dirty="0"/>
          </a:p>
          <a:p>
            <a:pPr algn="ctr" indent="0" marL="0">
              <a:lnSpc>
                <a:spcPct val="104000"/>
              </a:lnSpc>
              <a:buNone/>
            </a:pPr>
            <a:r>
              <a:rPr lang="en-US" sz="1800" b="1" dirty="0">
                <a:solidFill>
                  <a:srgbClr val="F4F7FB"/>
                </a:solidFill>
                <a:latin typeface="Arial" pitchFamily="34" charset="0"/>
                <a:ea typeface="Arial" pitchFamily="34" charset="-122"/>
                <a:cs typeface="Arial" pitchFamily="34" charset="-120"/>
              </a:rPr>
              <a:t>bytes</a:t>
            </a:r>
            <a:endParaRPr lang="en-US" sz="1800" dirty="0"/>
          </a:p>
        </p:txBody>
      </p:sp>
      <p:sp>
        <p:nvSpPr>
          <p:cNvPr id="8" name="Shape 6"/>
          <p:cNvSpPr/>
          <p:nvPr/>
        </p:nvSpPr>
        <p:spPr>
          <a:xfrm>
            <a:off x="2629510" y="2354580"/>
            <a:ext cx="155448" cy="0"/>
          </a:xfrm>
          <a:prstGeom prst="line">
            <a:avLst/>
          </a:prstGeom>
          <a:noFill/>
          <a:ln w="19050">
            <a:solidFill>
              <a:srgbClr val="71D5DD"/>
            </a:solidFill>
            <a:prstDash val="solid"/>
            <a:headEnd type="none"/>
            <a:tailEnd type="triangle"/>
          </a:ln>
        </p:spPr>
        <p:txBody>
          <a:bodyPr/>
          <a:p/>
        </p:txBody>
      </p:sp>
      <p:sp>
        <p:nvSpPr>
          <p:cNvPr id="9" name="Shape 7"/>
          <p:cNvSpPr/>
          <p:nvPr/>
        </p:nvSpPr>
        <p:spPr>
          <a:xfrm>
            <a:off x="2807818" y="1883664"/>
            <a:ext cx="2058010" cy="941832"/>
          </a:xfrm>
          <a:prstGeom prst="rect">
            <a:avLst/>
          </a:prstGeom>
          <a:solidFill>
            <a:srgbClr val="172940"/>
          </a:solidFill>
          <a:ln w="8890">
            <a:solidFill>
              <a:srgbClr val="2B415A"/>
            </a:solidFill>
            <a:prstDash val="solid"/>
          </a:ln>
        </p:spPr>
        <p:txBody>
          <a:bodyPr/>
          <a:p/>
        </p:txBody>
      </p:sp>
      <p:sp>
        <p:nvSpPr>
          <p:cNvPr id="10" name="Text 8"/>
          <p:cNvSpPr txBox="1"/>
          <p:nvPr/>
        </p:nvSpPr>
        <p:spPr>
          <a:xfrm>
            <a:off x="2899258" y="2084832"/>
            <a:ext cx="1875130" cy="548640"/>
          </a:xfrm>
          <a:prstGeom prst="rect">
            <a:avLst/>
          </a:prstGeom>
          <a:noFill/>
          <a:ln/>
        </p:spPr>
        <p:txBody>
          <a:bodyPr wrap="square" lIns="0" tIns="0" rIns="0" bIns="0" rtlCol="0" anchor="t"/>
          <a:lstStyle/>
          <a:p>
            <a:pPr algn="ctr" indent="0" marL="0">
              <a:lnSpc>
                <a:spcPct val="104000"/>
              </a:lnSpc>
              <a:buNone/>
            </a:pPr>
            <a:r>
              <a:rPr lang="en-US" sz="1800" b="1" dirty="0">
                <a:solidFill>
                  <a:srgbClr val="F4F7FB"/>
                </a:solidFill>
                <a:latin typeface="Arial" pitchFamily="34" charset="0"/>
                <a:ea typeface="Arial" pitchFamily="34" charset="-122"/>
                <a:cs typeface="Arial" pitchFamily="34" charset="-120"/>
              </a:rPr>
              <a:t>Decode</a:t>
            </a:r>
            <a:endParaRPr lang="en-US" sz="1800" dirty="0"/>
          </a:p>
          <a:p>
            <a:pPr algn="ctr" indent="0" marL="0">
              <a:lnSpc>
                <a:spcPct val="104000"/>
              </a:lnSpc>
              <a:buNone/>
            </a:pPr>
            <a:r>
              <a:rPr lang="en-US" sz="1800" b="1" dirty="0">
                <a:solidFill>
                  <a:srgbClr val="F4F7FB"/>
                </a:solidFill>
                <a:latin typeface="Arial" pitchFamily="34" charset="0"/>
                <a:ea typeface="Arial" pitchFamily="34" charset="-122"/>
                <a:cs typeface="Arial" pitchFamily="34" charset="-120"/>
              </a:rPr>
              <a:t>operation</a:t>
            </a:r>
            <a:endParaRPr lang="en-US" sz="1800" dirty="0"/>
          </a:p>
        </p:txBody>
      </p:sp>
      <p:sp>
        <p:nvSpPr>
          <p:cNvPr id="11" name="Shape 9"/>
          <p:cNvSpPr/>
          <p:nvPr/>
        </p:nvSpPr>
        <p:spPr>
          <a:xfrm>
            <a:off x="4888687" y="2354580"/>
            <a:ext cx="155448" cy="0"/>
          </a:xfrm>
          <a:prstGeom prst="line">
            <a:avLst/>
          </a:prstGeom>
          <a:noFill/>
          <a:ln w="19050">
            <a:solidFill>
              <a:srgbClr val="71D5DD"/>
            </a:solidFill>
            <a:prstDash val="solid"/>
            <a:headEnd type="none"/>
            <a:tailEnd type="triangle"/>
          </a:ln>
        </p:spPr>
        <p:txBody>
          <a:bodyPr/>
          <a:p/>
        </p:txBody>
      </p:sp>
      <p:sp>
        <p:nvSpPr>
          <p:cNvPr id="12" name="Shape 10"/>
          <p:cNvSpPr/>
          <p:nvPr/>
        </p:nvSpPr>
        <p:spPr>
          <a:xfrm>
            <a:off x="5066995" y="1883664"/>
            <a:ext cx="2058010" cy="941832"/>
          </a:xfrm>
          <a:prstGeom prst="rect">
            <a:avLst/>
          </a:prstGeom>
          <a:solidFill>
            <a:srgbClr val="172940"/>
          </a:solidFill>
          <a:ln w="8890">
            <a:solidFill>
              <a:srgbClr val="2B415A"/>
            </a:solidFill>
            <a:prstDash val="solid"/>
          </a:ln>
        </p:spPr>
        <p:txBody>
          <a:bodyPr/>
          <a:p/>
        </p:txBody>
      </p:sp>
      <p:sp>
        <p:nvSpPr>
          <p:cNvPr id="13" name="Text 11"/>
          <p:cNvSpPr txBox="1"/>
          <p:nvPr/>
        </p:nvSpPr>
        <p:spPr>
          <a:xfrm>
            <a:off x="5158435" y="2084832"/>
            <a:ext cx="1875130" cy="548640"/>
          </a:xfrm>
          <a:prstGeom prst="rect">
            <a:avLst/>
          </a:prstGeom>
          <a:noFill/>
          <a:ln/>
        </p:spPr>
        <p:txBody>
          <a:bodyPr wrap="square" lIns="0" tIns="0" rIns="0" bIns="0" rtlCol="0" anchor="t"/>
          <a:lstStyle/>
          <a:p>
            <a:pPr algn="ctr" indent="0" marL="0">
              <a:lnSpc>
                <a:spcPct val="104000"/>
              </a:lnSpc>
              <a:buNone/>
            </a:pPr>
            <a:r>
              <a:rPr lang="en-US" sz="1800" b="1" dirty="0">
                <a:solidFill>
                  <a:srgbClr val="F4F7FB"/>
                </a:solidFill>
                <a:latin typeface="Arial" pitchFamily="34" charset="0"/>
                <a:ea typeface="Arial" pitchFamily="34" charset="-122"/>
                <a:cs typeface="Arial" pitchFamily="34" charset="-120"/>
              </a:rPr>
              <a:t>Read operands</a:t>
            </a:r>
            <a:endParaRPr lang="en-US" sz="1800" dirty="0"/>
          </a:p>
        </p:txBody>
      </p:sp>
      <p:sp>
        <p:nvSpPr>
          <p:cNvPr id="14" name="Shape 12"/>
          <p:cNvSpPr/>
          <p:nvPr/>
        </p:nvSpPr>
        <p:spPr>
          <a:xfrm>
            <a:off x="7147865" y="2354580"/>
            <a:ext cx="155448" cy="0"/>
          </a:xfrm>
          <a:prstGeom prst="line">
            <a:avLst/>
          </a:prstGeom>
          <a:noFill/>
          <a:ln w="19050">
            <a:solidFill>
              <a:srgbClr val="71D5DD"/>
            </a:solidFill>
            <a:prstDash val="solid"/>
            <a:headEnd type="none"/>
            <a:tailEnd type="triangle"/>
          </a:ln>
        </p:spPr>
        <p:txBody>
          <a:bodyPr/>
          <a:p/>
        </p:txBody>
      </p:sp>
      <p:sp>
        <p:nvSpPr>
          <p:cNvPr id="15" name="Shape 13"/>
          <p:cNvSpPr/>
          <p:nvPr/>
        </p:nvSpPr>
        <p:spPr>
          <a:xfrm>
            <a:off x="7326173" y="1883664"/>
            <a:ext cx="2058010" cy="941832"/>
          </a:xfrm>
          <a:prstGeom prst="rect">
            <a:avLst/>
          </a:prstGeom>
          <a:solidFill>
            <a:srgbClr val="172940"/>
          </a:solidFill>
          <a:ln w="8890">
            <a:solidFill>
              <a:srgbClr val="2B415A"/>
            </a:solidFill>
            <a:prstDash val="solid"/>
          </a:ln>
        </p:spPr>
        <p:txBody>
          <a:bodyPr/>
          <a:p/>
        </p:txBody>
      </p:sp>
      <p:sp>
        <p:nvSpPr>
          <p:cNvPr id="16" name="Text 14"/>
          <p:cNvSpPr txBox="1"/>
          <p:nvPr/>
        </p:nvSpPr>
        <p:spPr>
          <a:xfrm>
            <a:off x="7417613" y="2084832"/>
            <a:ext cx="1875130" cy="548640"/>
          </a:xfrm>
          <a:prstGeom prst="rect">
            <a:avLst/>
          </a:prstGeom>
          <a:noFill/>
          <a:ln/>
        </p:spPr>
        <p:txBody>
          <a:bodyPr wrap="square" lIns="0" tIns="0" rIns="0" bIns="0" rtlCol="0" anchor="t"/>
          <a:lstStyle/>
          <a:p>
            <a:pPr algn="ctr" indent="0" marL="0">
              <a:lnSpc>
                <a:spcPct val="104000"/>
              </a:lnSpc>
              <a:buNone/>
            </a:pPr>
            <a:r>
              <a:rPr lang="en-US" sz="1800" b="1" dirty="0">
                <a:solidFill>
                  <a:srgbClr val="F4F7FB"/>
                </a:solidFill>
                <a:latin typeface="Arial" pitchFamily="34" charset="0"/>
                <a:ea typeface="Arial" pitchFamily="34" charset="-122"/>
                <a:cs typeface="Arial" pitchFamily="34" charset="-120"/>
              </a:rPr>
              <a:t>Compute result</a:t>
            </a:r>
            <a:endParaRPr lang="en-US" sz="1800" dirty="0"/>
          </a:p>
        </p:txBody>
      </p:sp>
      <p:sp>
        <p:nvSpPr>
          <p:cNvPr id="17" name="Shape 15"/>
          <p:cNvSpPr/>
          <p:nvPr/>
        </p:nvSpPr>
        <p:spPr>
          <a:xfrm>
            <a:off x="9407042" y="2354580"/>
            <a:ext cx="155448" cy="0"/>
          </a:xfrm>
          <a:prstGeom prst="line">
            <a:avLst/>
          </a:prstGeom>
          <a:noFill/>
          <a:ln w="19050">
            <a:solidFill>
              <a:srgbClr val="71D5DD"/>
            </a:solidFill>
            <a:prstDash val="solid"/>
            <a:headEnd type="none"/>
            <a:tailEnd type="triangle"/>
          </a:ln>
        </p:spPr>
        <p:txBody>
          <a:bodyPr/>
          <a:p/>
        </p:txBody>
      </p:sp>
      <p:sp>
        <p:nvSpPr>
          <p:cNvPr id="18" name="Shape 16"/>
          <p:cNvSpPr/>
          <p:nvPr/>
        </p:nvSpPr>
        <p:spPr>
          <a:xfrm>
            <a:off x="9585350" y="1883664"/>
            <a:ext cx="2058010" cy="941832"/>
          </a:xfrm>
          <a:prstGeom prst="rect">
            <a:avLst/>
          </a:prstGeom>
          <a:solidFill>
            <a:srgbClr val="172940"/>
          </a:solidFill>
          <a:ln w="8890">
            <a:solidFill>
              <a:srgbClr val="2B415A"/>
            </a:solidFill>
            <a:prstDash val="solid"/>
          </a:ln>
        </p:spPr>
        <p:txBody>
          <a:bodyPr/>
          <a:p/>
        </p:txBody>
      </p:sp>
      <p:sp>
        <p:nvSpPr>
          <p:cNvPr id="19" name="Text 17"/>
          <p:cNvSpPr txBox="1"/>
          <p:nvPr/>
        </p:nvSpPr>
        <p:spPr>
          <a:xfrm>
            <a:off x="9676790" y="2084832"/>
            <a:ext cx="1875130" cy="548640"/>
          </a:xfrm>
          <a:prstGeom prst="rect">
            <a:avLst/>
          </a:prstGeom>
          <a:noFill/>
          <a:ln/>
        </p:spPr>
        <p:txBody>
          <a:bodyPr wrap="square" lIns="0" tIns="0" rIns="0" bIns="0" rtlCol="0" anchor="t"/>
          <a:lstStyle/>
          <a:p>
            <a:pPr algn="ctr" indent="0" marL="0">
              <a:lnSpc>
                <a:spcPct val="104000"/>
              </a:lnSpc>
              <a:buNone/>
            </a:pPr>
            <a:r>
              <a:rPr lang="en-US" sz="1800" b="1" dirty="0">
                <a:solidFill>
                  <a:srgbClr val="F4F7FB"/>
                </a:solidFill>
                <a:latin typeface="Arial" pitchFamily="34" charset="0"/>
                <a:ea typeface="Arial" pitchFamily="34" charset="-122"/>
                <a:cs typeface="Arial" pitchFamily="34" charset="-120"/>
              </a:rPr>
              <a:t>Update state</a:t>
            </a:r>
            <a:endParaRPr lang="en-US" sz="1800" dirty="0"/>
          </a:p>
        </p:txBody>
      </p:sp>
      <p:sp>
        <p:nvSpPr>
          <p:cNvPr id="20" name="Text 18"/>
          <p:cNvSpPr txBox="1"/>
          <p:nvPr/>
        </p:nvSpPr>
        <p:spPr>
          <a:xfrm>
            <a:off x="566928" y="3191256"/>
            <a:ext cx="384048" cy="237744"/>
          </a:xfrm>
          <a:prstGeom prst="rect">
            <a:avLst/>
          </a:prstGeom>
          <a:noFill/>
          <a:ln/>
        </p:spPr>
        <p:txBody>
          <a:bodyPr wrap="square" lIns="0" tIns="0" rIns="0" bIns="0" rtlCol="0" anchor="t"/>
          <a:lstStyle/>
          <a:p>
            <a:pPr algn="l" indent="0" marL="0">
              <a:lnSpc>
                <a:spcPct val="104000"/>
              </a:lnSpc>
              <a:buNone/>
            </a:pPr>
            <a:r>
              <a:rPr lang="en-US" sz="1350" b="1" dirty="0">
                <a:solidFill>
                  <a:srgbClr val="71D5DD"/>
                </a:solidFill>
                <a:latin typeface="Arial" pitchFamily="34" charset="0"/>
                <a:ea typeface="Arial" pitchFamily="34" charset="-122"/>
                <a:cs typeface="Arial" pitchFamily="34" charset="-120"/>
              </a:rPr>
              <a:t>01</a:t>
            </a:r>
            <a:endParaRPr lang="en-US" sz="1350" dirty="0"/>
          </a:p>
        </p:txBody>
      </p:sp>
      <p:sp>
        <p:nvSpPr>
          <p:cNvPr id="21" name="Text 19"/>
          <p:cNvSpPr txBox="1"/>
          <p:nvPr/>
        </p:nvSpPr>
        <p:spPr>
          <a:xfrm>
            <a:off x="1124712" y="3136392"/>
            <a:ext cx="10515600" cy="576072"/>
          </a:xfrm>
          <a:prstGeom prst="rect">
            <a:avLst/>
          </a:prstGeom>
          <a:noFill/>
          <a:ln/>
        </p:spPr>
        <p:txBody>
          <a:bodyPr wrap="square" lIns="0" tIns="0" rIns="0" bIns="0" rtlCol="0" anchor="t"/>
          <a:lstStyle/>
          <a:p>
            <a:pPr algn="l" indent="0" marL="0">
              <a:lnSpc>
                <a:spcPct val="104000"/>
              </a:lnSpc>
              <a:buNone/>
            </a:pPr>
            <a:r>
              <a:rPr lang="en-US" sz="2150" dirty="0">
                <a:solidFill>
                  <a:srgbClr val="F4F7FB"/>
                </a:solidFill>
                <a:latin typeface="Arial" pitchFamily="34" charset="0"/>
                <a:ea typeface="Arial" pitchFamily="34" charset="-122"/>
                <a:cs typeface="Arial" pitchFamily="34" charset="-120"/>
              </a:rPr>
              <a:t>Registers hold immediate working values.</a:t>
            </a:r>
            <a:endParaRPr lang="en-US" sz="2150" dirty="0"/>
          </a:p>
        </p:txBody>
      </p:sp>
      <p:sp>
        <p:nvSpPr>
          <p:cNvPr id="22" name="Text 20"/>
          <p:cNvSpPr txBox="1"/>
          <p:nvPr/>
        </p:nvSpPr>
        <p:spPr>
          <a:xfrm>
            <a:off x="566928" y="3803904"/>
            <a:ext cx="384048" cy="237744"/>
          </a:xfrm>
          <a:prstGeom prst="rect">
            <a:avLst/>
          </a:prstGeom>
          <a:noFill/>
          <a:ln/>
        </p:spPr>
        <p:txBody>
          <a:bodyPr wrap="square" lIns="0" tIns="0" rIns="0" bIns="0" rtlCol="0" anchor="t"/>
          <a:lstStyle/>
          <a:p>
            <a:pPr algn="l" indent="0" marL="0">
              <a:lnSpc>
                <a:spcPct val="104000"/>
              </a:lnSpc>
              <a:buNone/>
            </a:pPr>
            <a:r>
              <a:rPr lang="en-US" sz="1350" b="1" dirty="0">
                <a:solidFill>
                  <a:srgbClr val="71D5DD"/>
                </a:solidFill>
                <a:latin typeface="Arial" pitchFamily="34" charset="0"/>
                <a:ea typeface="Arial" pitchFamily="34" charset="-122"/>
                <a:cs typeface="Arial" pitchFamily="34" charset="-120"/>
              </a:rPr>
              <a:t>02</a:t>
            </a:r>
            <a:endParaRPr lang="en-US" sz="1350" dirty="0"/>
          </a:p>
        </p:txBody>
      </p:sp>
      <p:sp>
        <p:nvSpPr>
          <p:cNvPr id="23" name="Text 21"/>
          <p:cNvSpPr txBox="1"/>
          <p:nvPr/>
        </p:nvSpPr>
        <p:spPr>
          <a:xfrm>
            <a:off x="1124712" y="3749040"/>
            <a:ext cx="10515600" cy="576072"/>
          </a:xfrm>
          <a:prstGeom prst="rect">
            <a:avLst/>
          </a:prstGeom>
          <a:noFill/>
          <a:ln/>
        </p:spPr>
        <p:txBody>
          <a:bodyPr wrap="square" lIns="0" tIns="0" rIns="0" bIns="0" rtlCol="0" anchor="t"/>
          <a:lstStyle/>
          <a:p>
            <a:pPr algn="l" indent="0" marL="0">
              <a:lnSpc>
                <a:spcPct val="104000"/>
              </a:lnSpc>
              <a:buNone/>
            </a:pPr>
            <a:r>
              <a:rPr lang="en-US" sz="2150" dirty="0">
                <a:solidFill>
                  <a:srgbClr val="F4F7FB"/>
                </a:solidFill>
                <a:latin typeface="Arial" pitchFamily="34" charset="0"/>
                <a:ea typeface="Arial" pitchFamily="34" charset="-122"/>
                <a:cs typeface="Arial" pitchFamily="34" charset="-120"/>
              </a:rPr>
              <a:t>Loads and stores connect register work to addressable memory.</a:t>
            </a:r>
            <a:endParaRPr lang="en-US" sz="2150" dirty="0"/>
          </a:p>
        </p:txBody>
      </p:sp>
      <p:sp>
        <p:nvSpPr>
          <p:cNvPr id="24" name="Text 22"/>
          <p:cNvSpPr txBox="1"/>
          <p:nvPr/>
        </p:nvSpPr>
        <p:spPr>
          <a:xfrm>
            <a:off x="566928" y="4416552"/>
            <a:ext cx="384048" cy="237744"/>
          </a:xfrm>
          <a:prstGeom prst="rect">
            <a:avLst/>
          </a:prstGeom>
          <a:noFill/>
          <a:ln/>
        </p:spPr>
        <p:txBody>
          <a:bodyPr wrap="square" lIns="0" tIns="0" rIns="0" bIns="0" rtlCol="0" anchor="t"/>
          <a:lstStyle/>
          <a:p>
            <a:pPr algn="l" indent="0" marL="0">
              <a:lnSpc>
                <a:spcPct val="104000"/>
              </a:lnSpc>
              <a:buNone/>
            </a:pPr>
            <a:r>
              <a:rPr lang="en-US" sz="1350" b="1" dirty="0">
                <a:solidFill>
                  <a:srgbClr val="71D5DD"/>
                </a:solidFill>
                <a:latin typeface="Arial" pitchFamily="34" charset="0"/>
                <a:ea typeface="Arial" pitchFamily="34" charset="-122"/>
                <a:cs typeface="Arial" pitchFamily="34" charset="-120"/>
              </a:rPr>
              <a:t>03</a:t>
            </a:r>
            <a:endParaRPr lang="en-US" sz="1350" dirty="0"/>
          </a:p>
        </p:txBody>
      </p:sp>
      <p:sp>
        <p:nvSpPr>
          <p:cNvPr id="25" name="Text 23"/>
          <p:cNvSpPr txBox="1"/>
          <p:nvPr/>
        </p:nvSpPr>
        <p:spPr>
          <a:xfrm>
            <a:off x="1124712" y="4361688"/>
            <a:ext cx="10515600" cy="576072"/>
          </a:xfrm>
          <a:prstGeom prst="rect">
            <a:avLst/>
          </a:prstGeom>
          <a:noFill/>
          <a:ln/>
        </p:spPr>
        <p:txBody>
          <a:bodyPr wrap="square" lIns="0" tIns="0" rIns="0" bIns="0" rtlCol="0" anchor="t"/>
          <a:lstStyle/>
          <a:p>
            <a:pPr algn="l" indent="0" marL="0">
              <a:lnSpc>
                <a:spcPct val="104000"/>
              </a:lnSpc>
              <a:buNone/>
            </a:pPr>
            <a:r>
              <a:rPr lang="en-US" sz="2150" dirty="0">
                <a:solidFill>
                  <a:srgbClr val="F4F7FB"/>
                </a:solidFill>
                <a:latin typeface="Arial" pitchFamily="34" charset="0"/>
                <a:ea typeface="Arial" pitchFamily="34" charset="-122"/>
                <a:cs typeface="Arial" pitchFamily="34" charset="-120"/>
              </a:rPr>
              <a:t>A source variable need not occupy a permanent memory location.</a:t>
            </a:r>
            <a:endParaRPr lang="en-US" sz="2150" dirty="0"/>
          </a:p>
        </p:txBody>
      </p:sp>
      <p:sp>
        <p:nvSpPr>
          <p:cNvPr id="30" name="Text 28"/>
          <p:cNvSpPr txBox="1"/>
          <p:nvPr/>
        </p:nvSpPr>
        <p:spPr>
          <a:xfrm>
            <a:off x="548640" y="6601968"/>
            <a:ext cx="10241280" cy="128016"/>
          </a:xfrm>
          <a:prstGeom prst="rect">
            <a:avLst/>
          </a:prstGeom>
          <a:noFill/>
          <a:ln/>
        </p:spPr>
        <p:txBody>
          <a:bodyPr wrap="square" lIns="0" tIns="0" rIns="0" bIns="0" rtlCol="0" anchor="t"/>
          <a:lstStyle/>
          <a:p>
            <a:pPr algn="l" indent="0" marL="0">
              <a:lnSpc>
                <a:spcPct val="104000"/>
              </a:lnSpc>
              <a:buNone/>
            </a:pPr>
            <a:r>
              <a:rPr lang="en-US" sz="830" dirty="0">
                <a:solidFill>
                  <a:srgbClr val="B3C3D6"/>
                </a:solidFill>
                <a:latin typeface="Arial" pitchFamily="34" charset="0"/>
                <a:ea typeface="Arial" pitchFamily="34" charset="-122"/>
                <a:cs typeface="Arial" pitchFamily="34" charset="-120"/>
              </a:rPr>
              <a:t>Source: original 3, 18</a:t>
            </a:r>
            <a:endParaRPr lang="en-US" sz="830" dirty="0"/>
          </a:p>
        </p:txBody>
      </p:sp>
      <p:sp>
        <p:nvSpPr>
          <p:cNvPr id="31" name="Text 29"/>
          <p:cNvSpPr txBox="1"/>
          <p:nvPr/>
        </p:nvSpPr>
        <p:spPr>
          <a:xfrm>
            <a:off x="10917936" y="6565392"/>
            <a:ext cx="722376" cy="219456"/>
          </a:xfrm>
          <a:prstGeom prst="rect">
            <a:avLst/>
          </a:prstGeom>
          <a:noFill/>
          <a:ln/>
        </p:spPr>
        <p:txBody>
          <a:bodyPr wrap="square" lIns="0" tIns="0" rIns="0" bIns="0" rtlCol="0" anchor="t"/>
          <a:lstStyle/>
          <a:p>
            <a:pPr algn="r" indent="0" marL="0">
              <a:lnSpc>
                <a:spcPct val="104000"/>
              </a:lnSpc>
              <a:buNone/>
            </a:pPr>
            <a:r>
              <a:rPr lang="en-US" sz="1050" dirty="0">
                <a:solidFill>
                  <a:srgbClr val="B3C3D6"/>
                </a:solidFill>
                <a:latin typeface="Arial" pitchFamily="34" charset="0"/>
                <a:ea typeface="Arial" pitchFamily="34" charset="-122"/>
                <a:cs typeface="Arial" pitchFamily="34" charset="-120"/>
              </a:rPr>
              <a:t>05 / 64</a:t>
            </a:r>
            <a:endParaRPr lang="en-US" sz="1050" dirty="0"/>
          </a:p>
        </p:txBody>
      </p:sp>
      <p:sp>
        <p:nvSpPr>
          <p:cNvPr id="32" name="Shape 30"/>
          <p:cNvSpPr/>
          <p:nvPr/>
        </p:nvSpPr>
        <p:spPr>
          <a:xfrm>
            <a:off x="0" y="6834226"/>
            <a:ext cx="12192000" cy="23774"/>
          </a:xfrm>
          <a:prstGeom prst="rect">
            <a:avLst/>
          </a:prstGeom>
          <a:solidFill>
            <a:srgbClr val="2B415A"/>
          </a:solidFill>
          <a:ln w="8890">
            <a:solidFill>
              <a:srgbClr val="2B415A"/>
            </a:solidFill>
            <a:prstDash val="solid"/>
          </a:ln>
        </p:spPr>
        <p:txBody>
          <a:bodyPr/>
          <a:p/>
        </p:txBody>
      </p:sp>
      <p:sp>
        <p:nvSpPr>
          <p:cNvPr id="33" name="Shape 31"/>
          <p:cNvSpPr/>
          <p:nvPr/>
        </p:nvSpPr>
        <p:spPr>
          <a:xfrm>
            <a:off x="0" y="6834226"/>
            <a:ext cx="952500" cy="23774"/>
          </a:xfrm>
          <a:prstGeom prst="rect">
            <a:avLst/>
          </a:prstGeom>
          <a:solidFill>
            <a:srgbClr val="71D5DD"/>
          </a:solidFill>
          <a:ln w="8890">
            <a:solidFill>
              <a:srgbClr val="71D5DD"/>
            </a:solidFill>
            <a:prstDash val="solid"/>
          </a:ln>
        </p:spPr>
        <p:txBody>
          <a:body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19456"/>
            <a:ext cx="9875520" cy="192024"/>
          </a:xfrm>
          <a:prstGeom prst="rect">
            <a:avLst/>
          </a:prstGeom>
          <a:noFill/>
          <a:ln/>
        </p:spPr>
        <p:txBody>
          <a:bodyPr wrap="square" lIns="0" tIns="0" rIns="0" bIns="0" rtlCol="0" anchor="t"/>
          <a:lstStyle/>
          <a:p>
            <a:pPr algn="l" indent="0" marL="0">
              <a:lnSpc>
                <a:spcPct val="104000"/>
              </a:lnSpc>
              <a:buNone/>
            </a:pPr>
            <a:r>
              <a:rPr lang="en-US" sz="970" b="1" spc="135" kern="0" dirty="0">
                <a:solidFill>
                  <a:srgbClr val="B3C3D6"/>
                </a:solidFill>
                <a:latin typeface="Arial" pitchFamily="34" charset="0"/>
                <a:ea typeface="Arial" pitchFamily="34" charset="-122"/>
                <a:cs typeface="Arial" pitchFamily="34" charset="-120"/>
              </a:rPr>
              <a:t>SYSTEMS PROGRAMMING AND MACHINE ORGANIZATION</a:t>
            </a:r>
            <a:endParaRPr lang="en-US" sz="970" dirty="0"/>
          </a:p>
        </p:txBody>
      </p:sp>
      <p:sp>
        <p:nvSpPr>
          <p:cNvPr id="3" name="Text 1"/>
          <p:cNvSpPr txBox="1"/>
          <p:nvPr/>
        </p:nvSpPr>
        <p:spPr>
          <a:xfrm>
            <a:off x="9601200" y="219456"/>
            <a:ext cx="2039112" cy="192024"/>
          </a:xfrm>
          <a:prstGeom prst="rect">
            <a:avLst/>
          </a:prstGeom>
          <a:noFill/>
          <a:ln/>
        </p:spPr>
        <p:txBody>
          <a:bodyPr wrap="square" lIns="0" tIns="0" rIns="0" bIns="0" rtlCol="0" anchor="t"/>
          <a:lstStyle/>
          <a:p>
            <a:pPr algn="r" indent="0" marL="0">
              <a:lnSpc>
                <a:spcPct val="104000"/>
              </a:lnSpc>
              <a:buNone/>
            </a:pPr>
            <a:r>
              <a:rPr lang="en-US" sz="970" b="1" dirty="0">
                <a:solidFill>
                  <a:srgbClr val="B3C3D6"/>
                </a:solidFill>
                <a:latin typeface="Arial" pitchFamily="34" charset="0"/>
                <a:ea typeface="Arial" pitchFamily="34" charset="-122"/>
                <a:cs typeface="Arial" pitchFamily="34" charset="-120"/>
              </a:rPr>
              <a:t>CHARLES DORNER</a:t>
            </a:r>
            <a:endParaRPr lang="en-US" sz="970" dirty="0"/>
          </a:p>
        </p:txBody>
      </p:sp>
      <p:sp>
        <p:nvSpPr>
          <p:cNvPr id="4" name="Text 2"/>
          <p:cNvSpPr txBox="1"/>
          <p:nvPr/>
        </p:nvSpPr>
        <p:spPr>
          <a:xfrm>
            <a:off x="548640" y="566928"/>
            <a:ext cx="11109960" cy="237744"/>
          </a:xfrm>
          <a:prstGeom prst="rect">
            <a:avLst/>
          </a:prstGeom>
          <a:noFill/>
          <a:ln/>
        </p:spPr>
        <p:txBody>
          <a:bodyPr wrap="square" lIns="0" tIns="0" rIns="0" bIns="0" rtlCol="0" anchor="t"/>
          <a:lstStyle/>
          <a:p>
            <a:pPr algn="l" indent="0" marL="0">
              <a:lnSpc>
                <a:spcPct val="104000"/>
              </a:lnSpc>
              <a:buNone/>
            </a:pPr>
            <a:r>
              <a:rPr lang="en-US" sz="1150" b="1" dirty="0">
                <a:solidFill>
                  <a:srgbClr val="71D5DD"/>
                </a:solidFill>
                <a:latin typeface="Arial" pitchFamily="34" charset="0"/>
                <a:ea typeface="Arial" pitchFamily="34" charset="-122"/>
                <a:cs typeface="Arial" pitchFamily="34" charset="-120"/>
              </a:rPr>
              <a:t>1.1.1 · STORAGE &amp; PERIPHERALS</a:t>
            </a:r>
            <a:endParaRPr lang="en-US" sz="1150" dirty="0"/>
          </a:p>
        </p:txBody>
      </p:sp>
      <p:sp>
        <p:nvSpPr>
          <p:cNvPr id="5" name="Text 3"/>
          <p:cNvSpPr txBox="1"/>
          <p:nvPr/>
        </p:nvSpPr>
        <p:spPr>
          <a:xfrm>
            <a:off x="548640" y="941832"/>
            <a:ext cx="11091672" cy="676656"/>
          </a:xfrm>
          <a:prstGeom prst="rect">
            <a:avLst/>
          </a:prstGeom>
          <a:noFill/>
          <a:ln/>
        </p:spPr>
        <p:txBody>
          <a:bodyPr wrap="square" lIns="0" tIns="0" rIns="0" bIns="0" rtlCol="0" anchor="t"/>
          <a:lstStyle/>
          <a:p>
            <a:pPr algn="l" indent="0" marL="0">
              <a:lnSpc>
                <a:spcPct val="104000"/>
              </a:lnSpc>
              <a:buNone/>
            </a:pPr>
            <a:r>
              <a:rPr lang="en-US" sz="3150" b="1" dirty="0">
                <a:solidFill>
                  <a:srgbClr val="F4F7FB"/>
                </a:solidFill>
                <a:latin typeface="Arial" pitchFamily="34" charset="0"/>
                <a:ea typeface="Arial" pitchFamily="34" charset="-122"/>
                <a:cs typeface="Arial" pitchFamily="34" charset="-120"/>
              </a:rPr>
              <a:t>Controllers and interrupts coordinate I/O</a:t>
            </a:r>
            <a:endParaRPr lang="en-US" sz="3150" dirty="0"/>
          </a:p>
        </p:txBody>
      </p:sp>
      <p:sp>
        <p:nvSpPr>
          <p:cNvPr id="6" name="Shape 4"/>
          <p:cNvSpPr/>
          <p:nvPr/>
        </p:nvSpPr>
        <p:spPr>
          <a:xfrm>
            <a:off x="548640" y="1764792"/>
            <a:ext cx="3564128" cy="3310128"/>
          </a:xfrm>
          <a:prstGeom prst="rect">
            <a:avLst/>
          </a:prstGeom>
          <a:solidFill>
            <a:srgbClr val="142238"/>
          </a:solidFill>
          <a:ln w="8890">
            <a:solidFill>
              <a:srgbClr val="2B415A"/>
            </a:solidFill>
            <a:prstDash val="solid"/>
          </a:ln>
        </p:spPr>
        <p:txBody>
          <a:bodyPr/>
          <a:p/>
        </p:txBody>
      </p:sp>
      <p:sp>
        <p:nvSpPr>
          <p:cNvPr id="7" name="Shape 5"/>
          <p:cNvSpPr/>
          <p:nvPr/>
        </p:nvSpPr>
        <p:spPr>
          <a:xfrm>
            <a:off x="548640" y="1764792"/>
            <a:ext cx="41148" cy="3310128"/>
          </a:xfrm>
          <a:prstGeom prst="rect">
            <a:avLst/>
          </a:prstGeom>
          <a:solidFill>
            <a:srgbClr val="71D5DD"/>
          </a:solidFill>
          <a:ln w="8890">
            <a:solidFill>
              <a:srgbClr val="71D5DD"/>
            </a:solidFill>
            <a:prstDash val="solid"/>
          </a:ln>
        </p:spPr>
        <p:txBody>
          <a:bodyPr/>
          <a:p/>
        </p:txBody>
      </p:sp>
      <p:sp>
        <p:nvSpPr>
          <p:cNvPr id="8" name="Text 6"/>
          <p:cNvSpPr txBox="1"/>
          <p:nvPr/>
        </p:nvSpPr>
        <p:spPr>
          <a:xfrm>
            <a:off x="758952" y="1975104"/>
            <a:ext cx="3134360" cy="557784"/>
          </a:xfrm>
          <a:prstGeom prst="rect">
            <a:avLst/>
          </a:prstGeom>
          <a:noFill/>
          <a:ln/>
        </p:spPr>
        <p:txBody>
          <a:bodyPr wrap="square" lIns="0" tIns="0" rIns="0" bIns="0" rtlCol="0" anchor="t"/>
          <a:lstStyle/>
          <a:p>
            <a:pPr algn="l" indent="0" marL="0">
              <a:lnSpc>
                <a:spcPct val="104000"/>
              </a:lnSpc>
              <a:buNone/>
            </a:pPr>
            <a:r>
              <a:rPr lang="en-US" sz="1750" b="1" dirty="0">
                <a:solidFill>
                  <a:srgbClr val="71D5DD"/>
                </a:solidFill>
                <a:latin typeface="Arial" pitchFamily="34" charset="0"/>
                <a:ea typeface="Arial" pitchFamily="34" charset="-122"/>
                <a:cs typeface="Arial" pitchFamily="34" charset="-120"/>
              </a:rPr>
              <a:t>REQUEST</a:t>
            </a:r>
            <a:endParaRPr lang="en-US" sz="1750" dirty="0"/>
          </a:p>
        </p:txBody>
      </p:sp>
      <p:sp>
        <p:nvSpPr>
          <p:cNvPr id="9" name="Text 7"/>
          <p:cNvSpPr txBox="1"/>
          <p:nvPr/>
        </p:nvSpPr>
        <p:spPr>
          <a:xfrm>
            <a:off x="758952" y="2642616"/>
            <a:ext cx="3134360" cy="2267712"/>
          </a:xfrm>
          <a:prstGeom prst="rect">
            <a:avLst/>
          </a:prstGeom>
          <a:noFill/>
          <a:ln/>
        </p:spPr>
        <p:txBody>
          <a:bodyPr wrap="square" lIns="0" tIns="0" rIns="0" bIns="0" rtlCol="0" anchor="t"/>
          <a:lstStyle/>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An application or service</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asks for I/O through an</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interface.</a:t>
            </a:r>
            <a:endParaRPr lang="en-US" sz="2200" dirty="0"/>
          </a:p>
        </p:txBody>
      </p:sp>
      <p:sp>
        <p:nvSpPr>
          <p:cNvPr id="10" name="Shape 8"/>
          <p:cNvSpPr/>
          <p:nvPr/>
        </p:nvSpPr>
        <p:spPr>
          <a:xfrm>
            <a:off x="4313936" y="1764792"/>
            <a:ext cx="3564128" cy="3310128"/>
          </a:xfrm>
          <a:prstGeom prst="rect">
            <a:avLst/>
          </a:prstGeom>
          <a:solidFill>
            <a:srgbClr val="142238"/>
          </a:solidFill>
          <a:ln w="8890">
            <a:solidFill>
              <a:srgbClr val="2B415A"/>
            </a:solidFill>
            <a:prstDash val="solid"/>
          </a:ln>
        </p:spPr>
        <p:txBody>
          <a:bodyPr/>
          <a:p/>
        </p:txBody>
      </p:sp>
      <p:sp>
        <p:nvSpPr>
          <p:cNvPr id="11" name="Shape 9"/>
          <p:cNvSpPr/>
          <p:nvPr/>
        </p:nvSpPr>
        <p:spPr>
          <a:xfrm>
            <a:off x="4313936" y="1764792"/>
            <a:ext cx="41148" cy="3310128"/>
          </a:xfrm>
          <a:prstGeom prst="rect">
            <a:avLst/>
          </a:prstGeom>
          <a:solidFill>
            <a:srgbClr val="71D5DD"/>
          </a:solidFill>
          <a:ln w="8890">
            <a:solidFill>
              <a:srgbClr val="71D5DD"/>
            </a:solidFill>
            <a:prstDash val="solid"/>
          </a:ln>
        </p:spPr>
        <p:txBody>
          <a:bodyPr/>
          <a:p/>
        </p:txBody>
      </p:sp>
      <p:sp>
        <p:nvSpPr>
          <p:cNvPr id="12" name="Text 10"/>
          <p:cNvSpPr txBox="1"/>
          <p:nvPr/>
        </p:nvSpPr>
        <p:spPr>
          <a:xfrm>
            <a:off x="4524248" y="1975104"/>
            <a:ext cx="3134360" cy="557784"/>
          </a:xfrm>
          <a:prstGeom prst="rect">
            <a:avLst/>
          </a:prstGeom>
          <a:noFill/>
          <a:ln/>
        </p:spPr>
        <p:txBody>
          <a:bodyPr wrap="square" lIns="0" tIns="0" rIns="0" bIns="0" rtlCol="0" anchor="t"/>
          <a:lstStyle/>
          <a:p>
            <a:pPr algn="l" indent="0" marL="0">
              <a:lnSpc>
                <a:spcPct val="104000"/>
              </a:lnSpc>
              <a:buNone/>
            </a:pPr>
            <a:r>
              <a:rPr lang="en-US" sz="1750" b="1" dirty="0">
                <a:solidFill>
                  <a:srgbClr val="71D5DD"/>
                </a:solidFill>
                <a:latin typeface="Arial" pitchFamily="34" charset="0"/>
                <a:ea typeface="Arial" pitchFamily="34" charset="-122"/>
                <a:cs typeface="Arial" pitchFamily="34" charset="-120"/>
              </a:rPr>
              <a:t>COORDINATION</a:t>
            </a:r>
            <a:endParaRPr lang="en-US" sz="1750" dirty="0"/>
          </a:p>
        </p:txBody>
      </p:sp>
      <p:sp>
        <p:nvSpPr>
          <p:cNvPr id="13" name="Text 11"/>
          <p:cNvSpPr txBox="1"/>
          <p:nvPr/>
        </p:nvSpPr>
        <p:spPr>
          <a:xfrm>
            <a:off x="4524248" y="2642616"/>
            <a:ext cx="3134360" cy="2267712"/>
          </a:xfrm>
          <a:prstGeom prst="rect">
            <a:avLst/>
          </a:prstGeom>
          <a:noFill/>
          <a:ln/>
        </p:spPr>
        <p:txBody>
          <a:bodyPr wrap="square" lIns="0" tIns="0" rIns="0" bIns="0" rtlCol="0" anchor="t"/>
          <a:lstStyle/>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Kernel and driver code</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coordinate with a device</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controller.</a:t>
            </a:r>
            <a:endParaRPr lang="en-US" sz="2200" dirty="0"/>
          </a:p>
        </p:txBody>
      </p:sp>
      <p:sp>
        <p:nvSpPr>
          <p:cNvPr id="14" name="Shape 12"/>
          <p:cNvSpPr/>
          <p:nvPr/>
        </p:nvSpPr>
        <p:spPr>
          <a:xfrm>
            <a:off x="8079232" y="1764792"/>
            <a:ext cx="3564128" cy="3310128"/>
          </a:xfrm>
          <a:prstGeom prst="rect">
            <a:avLst/>
          </a:prstGeom>
          <a:solidFill>
            <a:srgbClr val="142238"/>
          </a:solidFill>
          <a:ln w="8890">
            <a:solidFill>
              <a:srgbClr val="2B415A"/>
            </a:solidFill>
            <a:prstDash val="solid"/>
          </a:ln>
        </p:spPr>
        <p:txBody>
          <a:bodyPr/>
          <a:p/>
        </p:txBody>
      </p:sp>
      <p:sp>
        <p:nvSpPr>
          <p:cNvPr id="15" name="Shape 13"/>
          <p:cNvSpPr/>
          <p:nvPr/>
        </p:nvSpPr>
        <p:spPr>
          <a:xfrm>
            <a:off x="8079232" y="1764792"/>
            <a:ext cx="41148" cy="3310128"/>
          </a:xfrm>
          <a:prstGeom prst="rect">
            <a:avLst/>
          </a:prstGeom>
          <a:solidFill>
            <a:srgbClr val="71D5DD"/>
          </a:solidFill>
          <a:ln w="8890">
            <a:solidFill>
              <a:srgbClr val="71D5DD"/>
            </a:solidFill>
            <a:prstDash val="solid"/>
          </a:ln>
        </p:spPr>
        <p:txBody>
          <a:bodyPr/>
          <a:p/>
        </p:txBody>
      </p:sp>
      <p:sp>
        <p:nvSpPr>
          <p:cNvPr id="16" name="Text 14"/>
          <p:cNvSpPr txBox="1"/>
          <p:nvPr/>
        </p:nvSpPr>
        <p:spPr>
          <a:xfrm>
            <a:off x="8289544" y="1975104"/>
            <a:ext cx="3134360" cy="557784"/>
          </a:xfrm>
          <a:prstGeom prst="rect">
            <a:avLst/>
          </a:prstGeom>
          <a:noFill/>
          <a:ln/>
        </p:spPr>
        <p:txBody>
          <a:bodyPr wrap="square" lIns="0" tIns="0" rIns="0" bIns="0" rtlCol="0" anchor="t"/>
          <a:lstStyle/>
          <a:p>
            <a:pPr algn="l" indent="0" marL="0">
              <a:lnSpc>
                <a:spcPct val="104000"/>
              </a:lnSpc>
              <a:buNone/>
            </a:pPr>
            <a:r>
              <a:rPr lang="en-US" sz="1750" b="1" dirty="0">
                <a:solidFill>
                  <a:srgbClr val="71D5DD"/>
                </a:solidFill>
                <a:latin typeface="Arial" pitchFamily="34" charset="0"/>
                <a:ea typeface="Arial" pitchFamily="34" charset="-122"/>
                <a:cs typeface="Arial" pitchFamily="34" charset="-120"/>
              </a:rPr>
              <a:t>COMPLETION</a:t>
            </a:r>
            <a:endParaRPr lang="en-US" sz="1750" dirty="0"/>
          </a:p>
        </p:txBody>
      </p:sp>
      <p:sp>
        <p:nvSpPr>
          <p:cNvPr id="17" name="Text 15"/>
          <p:cNvSpPr txBox="1"/>
          <p:nvPr/>
        </p:nvSpPr>
        <p:spPr>
          <a:xfrm>
            <a:off x="8289544" y="2642616"/>
            <a:ext cx="3134360" cy="2267712"/>
          </a:xfrm>
          <a:prstGeom prst="rect">
            <a:avLst/>
          </a:prstGeom>
          <a:noFill/>
          <a:ln/>
        </p:spPr>
        <p:txBody>
          <a:bodyPr wrap="square" lIns="0" tIns="0" rIns="0" bIns="0" rtlCol="0" anchor="t"/>
          <a:lstStyle/>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Progress or failure</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becomes visible through</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the relevant interface.</a:t>
            </a:r>
            <a:endParaRPr lang="en-US" sz="2200" dirty="0"/>
          </a:p>
        </p:txBody>
      </p:sp>
      <p:sp>
        <p:nvSpPr>
          <p:cNvPr id="18" name="Text 16"/>
          <p:cNvSpPr txBox="1"/>
          <p:nvPr/>
        </p:nvSpPr>
        <p:spPr>
          <a:xfrm>
            <a:off x="548640" y="5193792"/>
            <a:ext cx="11094720" cy="274320"/>
          </a:xfrm>
          <a:prstGeom prst="rect">
            <a:avLst/>
          </a:prstGeom>
          <a:noFill/>
          <a:ln/>
        </p:spPr>
        <p:txBody>
          <a:bodyPr wrap="square" lIns="0" tIns="0" rIns="0" bIns="0" rtlCol="0" anchor="t"/>
          <a:lstStyle/>
          <a:p>
            <a:pPr algn="l" indent="0" marL="0">
              <a:lnSpc>
                <a:spcPct val="104000"/>
              </a:lnSpc>
              <a:buNone/>
            </a:pPr>
            <a:r>
              <a:rPr lang="en-US" sz="1140" dirty="0">
                <a:solidFill>
                  <a:srgbClr val="B3C3D6"/>
                </a:solidFill>
                <a:latin typeface="Arial" pitchFamily="34" charset="0"/>
                <a:ea typeface="Arial" pitchFamily="34" charset="-122"/>
                <a:cs typeface="Arial" pitchFamily="34" charset="-120"/>
              </a:rPr>
              <a:t>Identify who initiates movement, who performs it, and who reports completion.</a:t>
            </a:r>
            <a:endParaRPr lang="en-US" sz="1140" dirty="0"/>
          </a:p>
        </p:txBody>
      </p:sp>
      <p:sp>
        <p:nvSpPr>
          <p:cNvPr id="23" name="Text 21"/>
          <p:cNvSpPr txBox="1"/>
          <p:nvPr/>
        </p:nvSpPr>
        <p:spPr>
          <a:xfrm>
            <a:off x="548640" y="6601968"/>
            <a:ext cx="10241280" cy="128016"/>
          </a:xfrm>
          <a:prstGeom prst="rect">
            <a:avLst/>
          </a:prstGeom>
          <a:noFill/>
          <a:ln/>
        </p:spPr>
        <p:txBody>
          <a:bodyPr wrap="square" lIns="0" tIns="0" rIns="0" bIns="0" rtlCol="0" anchor="t"/>
          <a:lstStyle/>
          <a:p>
            <a:pPr algn="l" indent="0" marL="0">
              <a:lnSpc>
                <a:spcPct val="104000"/>
              </a:lnSpc>
              <a:buNone/>
            </a:pPr>
            <a:r>
              <a:rPr lang="en-US" sz="830" dirty="0">
                <a:solidFill>
                  <a:srgbClr val="B3C3D6"/>
                </a:solidFill>
                <a:latin typeface="Arial" pitchFamily="34" charset="0"/>
                <a:ea typeface="Arial" pitchFamily="34" charset="-122"/>
                <a:cs typeface="Arial" pitchFamily="34" charset="-120"/>
              </a:rPr>
              <a:t>Source: original 3, 12 • Graduate extension</a:t>
            </a:r>
            <a:endParaRPr lang="en-US" sz="830" dirty="0"/>
          </a:p>
        </p:txBody>
      </p:sp>
      <p:sp>
        <p:nvSpPr>
          <p:cNvPr id="24" name="Text 22"/>
          <p:cNvSpPr txBox="1"/>
          <p:nvPr/>
        </p:nvSpPr>
        <p:spPr>
          <a:xfrm>
            <a:off x="10917936" y="6565392"/>
            <a:ext cx="722376" cy="219456"/>
          </a:xfrm>
          <a:prstGeom prst="rect">
            <a:avLst/>
          </a:prstGeom>
          <a:noFill/>
          <a:ln/>
        </p:spPr>
        <p:txBody>
          <a:bodyPr wrap="square" lIns="0" tIns="0" rIns="0" bIns="0" rtlCol="0" anchor="t"/>
          <a:lstStyle/>
          <a:p>
            <a:pPr algn="r" indent="0" marL="0">
              <a:lnSpc>
                <a:spcPct val="104000"/>
              </a:lnSpc>
              <a:buNone/>
            </a:pPr>
            <a:r>
              <a:rPr lang="en-US" sz="1050" dirty="0">
                <a:solidFill>
                  <a:srgbClr val="B3C3D6"/>
                </a:solidFill>
                <a:latin typeface="Arial" pitchFamily="34" charset="0"/>
                <a:ea typeface="Arial" pitchFamily="34" charset="-122"/>
                <a:cs typeface="Arial" pitchFamily="34" charset="-120"/>
              </a:rPr>
              <a:t>06 / 64</a:t>
            </a:r>
            <a:endParaRPr lang="en-US" sz="1050" dirty="0"/>
          </a:p>
        </p:txBody>
      </p:sp>
      <p:sp>
        <p:nvSpPr>
          <p:cNvPr id="25" name="Shape 23"/>
          <p:cNvSpPr/>
          <p:nvPr/>
        </p:nvSpPr>
        <p:spPr>
          <a:xfrm>
            <a:off x="0" y="6834226"/>
            <a:ext cx="12192000" cy="23774"/>
          </a:xfrm>
          <a:prstGeom prst="rect">
            <a:avLst/>
          </a:prstGeom>
          <a:solidFill>
            <a:srgbClr val="2B415A"/>
          </a:solidFill>
          <a:ln w="8890">
            <a:solidFill>
              <a:srgbClr val="2B415A"/>
            </a:solidFill>
            <a:prstDash val="solid"/>
          </a:ln>
        </p:spPr>
        <p:txBody>
          <a:bodyPr/>
          <a:p/>
        </p:txBody>
      </p:sp>
      <p:sp>
        <p:nvSpPr>
          <p:cNvPr id="26" name="Shape 24"/>
          <p:cNvSpPr/>
          <p:nvPr/>
        </p:nvSpPr>
        <p:spPr>
          <a:xfrm>
            <a:off x="0" y="6834226"/>
            <a:ext cx="1143000" cy="23774"/>
          </a:xfrm>
          <a:prstGeom prst="rect">
            <a:avLst/>
          </a:prstGeom>
          <a:solidFill>
            <a:srgbClr val="71D5DD"/>
          </a:solidFill>
          <a:ln w="8890">
            <a:solidFill>
              <a:srgbClr val="71D5DD"/>
            </a:solidFill>
            <a:prstDash val="solid"/>
          </a:ln>
        </p:spPr>
        <p:txBody>
          <a:body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219456"/>
            <a:ext cx="9875520" cy="192024"/>
          </a:xfrm>
          <a:prstGeom prst="rect">
            <a:avLst/>
          </a:prstGeom>
          <a:noFill/>
          <a:ln/>
        </p:spPr>
        <p:txBody>
          <a:bodyPr wrap="square" lIns="0" tIns="0" rIns="0" bIns="0" rtlCol="0" anchor="t"/>
          <a:lstStyle/>
          <a:p>
            <a:pPr algn="l" indent="0" marL="0">
              <a:lnSpc>
                <a:spcPct val="104000"/>
              </a:lnSpc>
              <a:buNone/>
            </a:pPr>
            <a:r>
              <a:rPr lang="en-US" sz="970" b="1" spc="135" kern="0" dirty="0">
                <a:solidFill>
                  <a:srgbClr val="B3C3D6"/>
                </a:solidFill>
                <a:latin typeface="Arial" pitchFamily="34" charset="0"/>
                <a:ea typeface="Arial" pitchFamily="34" charset="-122"/>
                <a:cs typeface="Arial" pitchFamily="34" charset="-120"/>
              </a:rPr>
              <a:t>SYSTEMS PROGRAMMING AND MACHINE ORGANIZATION</a:t>
            </a:r>
            <a:endParaRPr lang="en-US" sz="970" dirty="0"/>
          </a:p>
        </p:txBody>
      </p:sp>
      <p:sp>
        <p:nvSpPr>
          <p:cNvPr id="3" name="Text 1"/>
          <p:cNvSpPr txBox="1"/>
          <p:nvPr/>
        </p:nvSpPr>
        <p:spPr>
          <a:xfrm>
            <a:off x="9601200" y="219456"/>
            <a:ext cx="2039112" cy="192024"/>
          </a:xfrm>
          <a:prstGeom prst="rect">
            <a:avLst/>
          </a:prstGeom>
          <a:noFill/>
          <a:ln/>
        </p:spPr>
        <p:txBody>
          <a:bodyPr wrap="square" lIns="0" tIns="0" rIns="0" bIns="0" rtlCol="0" anchor="t"/>
          <a:lstStyle/>
          <a:p>
            <a:pPr algn="r" indent="0" marL="0">
              <a:lnSpc>
                <a:spcPct val="104000"/>
              </a:lnSpc>
              <a:buNone/>
            </a:pPr>
            <a:r>
              <a:rPr lang="en-US" sz="970" b="1" dirty="0">
                <a:solidFill>
                  <a:srgbClr val="B3C3D6"/>
                </a:solidFill>
                <a:latin typeface="Arial" pitchFamily="34" charset="0"/>
                <a:ea typeface="Arial" pitchFamily="34" charset="-122"/>
                <a:cs typeface="Arial" pitchFamily="34" charset="-120"/>
              </a:rPr>
              <a:t>CHARLES DORNER</a:t>
            </a:r>
            <a:endParaRPr lang="en-US" sz="970" dirty="0"/>
          </a:p>
        </p:txBody>
      </p:sp>
      <p:sp>
        <p:nvSpPr>
          <p:cNvPr id="4" name="Text 2"/>
          <p:cNvSpPr txBox="1"/>
          <p:nvPr/>
        </p:nvSpPr>
        <p:spPr>
          <a:xfrm>
            <a:off x="548640" y="566928"/>
            <a:ext cx="11109960" cy="237744"/>
          </a:xfrm>
          <a:prstGeom prst="rect">
            <a:avLst/>
          </a:prstGeom>
          <a:noFill/>
          <a:ln/>
        </p:spPr>
        <p:txBody>
          <a:bodyPr wrap="square" lIns="0" tIns="0" rIns="0" bIns="0" rtlCol="0" anchor="t"/>
          <a:lstStyle/>
          <a:p>
            <a:pPr algn="l" indent="0" marL="0">
              <a:lnSpc>
                <a:spcPct val="104000"/>
              </a:lnSpc>
              <a:buNone/>
            </a:pPr>
            <a:r>
              <a:rPr lang="en-US" sz="1150" b="1" dirty="0">
                <a:solidFill>
                  <a:srgbClr val="71D5DD"/>
                </a:solidFill>
                <a:latin typeface="Arial" pitchFamily="34" charset="0"/>
                <a:ea typeface="Arial" pitchFamily="34" charset="-122"/>
                <a:cs typeface="Arial" pitchFamily="34" charset="-120"/>
              </a:rPr>
              <a:t>1.1.2–1.1.3 · SOFTWARE CATEGORIES</a:t>
            </a:r>
            <a:endParaRPr lang="en-US" sz="1150" dirty="0"/>
          </a:p>
        </p:txBody>
      </p:sp>
      <p:sp>
        <p:nvSpPr>
          <p:cNvPr id="5" name="Text 3"/>
          <p:cNvSpPr txBox="1"/>
          <p:nvPr/>
        </p:nvSpPr>
        <p:spPr>
          <a:xfrm>
            <a:off x="548640" y="941832"/>
            <a:ext cx="11091672" cy="676656"/>
          </a:xfrm>
          <a:prstGeom prst="rect">
            <a:avLst/>
          </a:prstGeom>
          <a:noFill/>
          <a:ln/>
        </p:spPr>
        <p:txBody>
          <a:bodyPr wrap="square" lIns="0" tIns="0" rIns="0" bIns="0" rtlCol="0" anchor="t"/>
          <a:lstStyle/>
          <a:p>
            <a:pPr algn="l" indent="0" marL="0">
              <a:lnSpc>
                <a:spcPct val="104000"/>
              </a:lnSpc>
              <a:buNone/>
            </a:pPr>
            <a:r>
              <a:rPr lang="en-US" sz="3150" b="1" dirty="0">
                <a:solidFill>
                  <a:srgbClr val="F4F7FB"/>
                </a:solidFill>
                <a:latin typeface="Arial" pitchFamily="34" charset="0"/>
                <a:ea typeface="Arial" pitchFamily="34" charset="-122"/>
                <a:cs typeface="Arial" pitchFamily="34" charset="-120"/>
              </a:rPr>
              <a:t>Software role is not execution privilege</a:t>
            </a:r>
            <a:endParaRPr lang="en-US" sz="3150" dirty="0"/>
          </a:p>
        </p:txBody>
      </p:sp>
      <p:sp>
        <p:nvSpPr>
          <p:cNvPr id="6" name="Shape 4"/>
          <p:cNvSpPr/>
          <p:nvPr/>
        </p:nvSpPr>
        <p:spPr>
          <a:xfrm>
            <a:off x="548640" y="1764792"/>
            <a:ext cx="2218944" cy="402336"/>
          </a:xfrm>
          <a:prstGeom prst="rect">
            <a:avLst/>
          </a:prstGeom>
          <a:solidFill>
            <a:srgbClr val="172940"/>
          </a:solidFill>
          <a:ln w="8890">
            <a:solidFill>
              <a:srgbClr val="172940"/>
            </a:solidFill>
            <a:prstDash val="solid"/>
          </a:ln>
        </p:spPr>
        <p:txBody>
          <a:bodyPr/>
          <a:p/>
        </p:txBody>
      </p:sp>
      <p:sp>
        <p:nvSpPr>
          <p:cNvPr id="7" name="Text 5"/>
          <p:cNvSpPr txBox="1"/>
          <p:nvPr/>
        </p:nvSpPr>
        <p:spPr>
          <a:xfrm>
            <a:off x="676656" y="1851660"/>
            <a:ext cx="1962912" cy="301752"/>
          </a:xfrm>
          <a:prstGeom prst="rect">
            <a:avLst/>
          </a:prstGeom>
          <a:noFill/>
          <a:ln/>
        </p:spPr>
        <p:txBody>
          <a:bodyPr wrap="square" lIns="0" tIns="0" rIns="0" bIns="0" rtlCol="0" anchor="t"/>
          <a:lstStyle/>
          <a:p>
            <a:pPr algn="l" indent="0" marL="0">
              <a:lnSpc>
                <a:spcPct val="104000"/>
              </a:lnSpc>
              <a:buNone/>
            </a:pPr>
            <a:r>
              <a:rPr lang="en-US" sz="1240" b="1" dirty="0">
                <a:solidFill>
                  <a:srgbClr val="71D5DD"/>
                </a:solidFill>
                <a:latin typeface="Arial" pitchFamily="34" charset="0"/>
                <a:ea typeface="Arial" pitchFamily="34" charset="-122"/>
                <a:cs typeface="Arial" pitchFamily="34" charset="-120"/>
              </a:rPr>
              <a:t>Component</a:t>
            </a:r>
            <a:endParaRPr lang="en-US" sz="1240" dirty="0"/>
          </a:p>
        </p:txBody>
      </p:sp>
      <p:sp>
        <p:nvSpPr>
          <p:cNvPr id="8" name="Shape 6"/>
          <p:cNvSpPr/>
          <p:nvPr/>
        </p:nvSpPr>
        <p:spPr>
          <a:xfrm>
            <a:off x="2767584" y="1764792"/>
            <a:ext cx="3513328" cy="402336"/>
          </a:xfrm>
          <a:prstGeom prst="rect">
            <a:avLst/>
          </a:prstGeom>
          <a:solidFill>
            <a:srgbClr val="172940"/>
          </a:solidFill>
          <a:ln w="8890">
            <a:solidFill>
              <a:srgbClr val="172940"/>
            </a:solidFill>
            <a:prstDash val="solid"/>
          </a:ln>
        </p:spPr>
        <p:txBody>
          <a:bodyPr/>
          <a:p/>
        </p:txBody>
      </p:sp>
      <p:sp>
        <p:nvSpPr>
          <p:cNvPr id="9" name="Text 7"/>
          <p:cNvSpPr txBox="1"/>
          <p:nvPr/>
        </p:nvSpPr>
        <p:spPr>
          <a:xfrm>
            <a:off x="2895600" y="1851660"/>
            <a:ext cx="3257296" cy="301752"/>
          </a:xfrm>
          <a:prstGeom prst="rect">
            <a:avLst/>
          </a:prstGeom>
          <a:noFill/>
          <a:ln/>
        </p:spPr>
        <p:txBody>
          <a:bodyPr wrap="square" lIns="0" tIns="0" rIns="0" bIns="0" rtlCol="0" anchor="t"/>
          <a:lstStyle/>
          <a:p>
            <a:pPr algn="l" indent="0" marL="0">
              <a:lnSpc>
                <a:spcPct val="104000"/>
              </a:lnSpc>
              <a:buNone/>
            </a:pPr>
            <a:r>
              <a:rPr lang="en-US" sz="1240" b="1" dirty="0">
                <a:solidFill>
                  <a:srgbClr val="71D5DD"/>
                </a:solidFill>
                <a:latin typeface="Arial" pitchFamily="34" charset="0"/>
                <a:ea typeface="Arial" pitchFamily="34" charset="-122"/>
                <a:cs typeface="Arial" pitchFamily="34" charset="-120"/>
              </a:rPr>
              <a:t>Primary role</a:t>
            </a:r>
            <a:endParaRPr lang="en-US" sz="1240" dirty="0"/>
          </a:p>
        </p:txBody>
      </p:sp>
      <p:sp>
        <p:nvSpPr>
          <p:cNvPr id="10" name="Shape 8"/>
          <p:cNvSpPr/>
          <p:nvPr/>
        </p:nvSpPr>
        <p:spPr>
          <a:xfrm>
            <a:off x="6280912" y="1764792"/>
            <a:ext cx="5362448" cy="402336"/>
          </a:xfrm>
          <a:prstGeom prst="rect">
            <a:avLst/>
          </a:prstGeom>
          <a:solidFill>
            <a:srgbClr val="172940"/>
          </a:solidFill>
          <a:ln w="8890">
            <a:solidFill>
              <a:srgbClr val="172940"/>
            </a:solidFill>
            <a:prstDash val="solid"/>
          </a:ln>
        </p:spPr>
        <p:txBody>
          <a:bodyPr/>
          <a:p/>
        </p:txBody>
      </p:sp>
      <p:sp>
        <p:nvSpPr>
          <p:cNvPr id="11" name="Text 9"/>
          <p:cNvSpPr txBox="1"/>
          <p:nvPr/>
        </p:nvSpPr>
        <p:spPr>
          <a:xfrm>
            <a:off x="6408928" y="1851660"/>
            <a:ext cx="5106416" cy="301752"/>
          </a:xfrm>
          <a:prstGeom prst="rect">
            <a:avLst/>
          </a:prstGeom>
          <a:noFill/>
          <a:ln/>
        </p:spPr>
        <p:txBody>
          <a:bodyPr wrap="square" lIns="0" tIns="0" rIns="0" bIns="0" rtlCol="0" anchor="t"/>
          <a:lstStyle/>
          <a:p>
            <a:pPr algn="l" indent="0" marL="0">
              <a:lnSpc>
                <a:spcPct val="104000"/>
              </a:lnSpc>
              <a:buNone/>
            </a:pPr>
            <a:r>
              <a:rPr lang="en-US" sz="1240" b="1" dirty="0">
                <a:solidFill>
                  <a:srgbClr val="71D5DD"/>
                </a:solidFill>
                <a:latin typeface="Arial" pitchFamily="34" charset="0"/>
                <a:ea typeface="Arial" pitchFamily="34" charset="-122"/>
                <a:cs typeface="Arial" pitchFamily="34" charset="-120"/>
              </a:rPr>
              <a:t>Typical context / caution</a:t>
            </a:r>
            <a:endParaRPr lang="en-US" sz="1240" dirty="0"/>
          </a:p>
        </p:txBody>
      </p:sp>
      <p:sp>
        <p:nvSpPr>
          <p:cNvPr id="12" name="Shape 10"/>
          <p:cNvSpPr/>
          <p:nvPr/>
        </p:nvSpPr>
        <p:spPr>
          <a:xfrm>
            <a:off x="548640" y="2167128"/>
            <a:ext cx="2218944" cy="529438"/>
          </a:xfrm>
          <a:prstGeom prst="rect">
            <a:avLst/>
          </a:prstGeom>
          <a:solidFill>
            <a:srgbClr val="142238"/>
          </a:solidFill>
          <a:ln w="8890">
            <a:solidFill>
              <a:srgbClr val="142238"/>
            </a:solidFill>
            <a:prstDash val="solid"/>
          </a:ln>
        </p:spPr>
        <p:txBody>
          <a:bodyPr/>
          <a:p/>
        </p:txBody>
      </p:sp>
      <p:sp>
        <p:nvSpPr>
          <p:cNvPr id="13" name="Text 11"/>
          <p:cNvSpPr txBox="1"/>
          <p:nvPr/>
        </p:nvSpPr>
        <p:spPr>
          <a:xfrm>
            <a:off x="676656" y="2217420"/>
            <a:ext cx="1962912" cy="437998"/>
          </a:xfrm>
          <a:prstGeom prst="rect">
            <a:avLst/>
          </a:prstGeom>
          <a:noFill/>
          <a:ln/>
        </p:spPr>
        <p:txBody>
          <a:bodyPr wrap="square" lIns="0" tIns="0" rIns="0" bIns="0" rtlCol="0" anchor="t"/>
          <a:lstStyle/>
          <a:p>
            <a:pPr algn="l" indent="0" marL="0">
              <a:lnSpc>
                <a:spcPct val="104000"/>
              </a:lnSpc>
              <a:buNone/>
            </a:pPr>
            <a:r>
              <a:rPr lang="en-US" sz="1800" b="1" dirty="0">
                <a:solidFill>
                  <a:srgbClr val="F4F7FB"/>
                </a:solidFill>
                <a:latin typeface="Arial" pitchFamily="34" charset="0"/>
                <a:ea typeface="Arial" pitchFamily="34" charset="-122"/>
                <a:cs typeface="Arial" pitchFamily="34" charset="-120"/>
              </a:rPr>
              <a:t>Kernel</a:t>
            </a:r>
            <a:endParaRPr lang="en-US" sz="1800" dirty="0"/>
          </a:p>
        </p:txBody>
      </p:sp>
      <p:sp>
        <p:nvSpPr>
          <p:cNvPr id="14" name="Shape 12"/>
          <p:cNvSpPr/>
          <p:nvPr/>
        </p:nvSpPr>
        <p:spPr>
          <a:xfrm>
            <a:off x="2767584" y="2167128"/>
            <a:ext cx="3513328" cy="529438"/>
          </a:xfrm>
          <a:prstGeom prst="rect">
            <a:avLst/>
          </a:prstGeom>
          <a:solidFill>
            <a:srgbClr val="142238"/>
          </a:solidFill>
          <a:ln w="8890">
            <a:solidFill>
              <a:srgbClr val="142238"/>
            </a:solidFill>
            <a:prstDash val="solid"/>
          </a:ln>
        </p:spPr>
        <p:txBody>
          <a:bodyPr/>
          <a:p/>
        </p:txBody>
      </p:sp>
      <p:sp>
        <p:nvSpPr>
          <p:cNvPr id="15" name="Text 13"/>
          <p:cNvSpPr txBox="1"/>
          <p:nvPr/>
        </p:nvSpPr>
        <p:spPr>
          <a:xfrm>
            <a:off x="2895600" y="2217420"/>
            <a:ext cx="3257296" cy="437998"/>
          </a:xfrm>
          <a:prstGeom prst="rect">
            <a:avLst/>
          </a:prstGeom>
          <a:noFill/>
          <a:ln/>
        </p:spPr>
        <p:txBody>
          <a:bodyPr wrap="square" lIns="0" tIns="0" rIns="0" bIns="0" rtlCol="0" anchor="t"/>
          <a:lstStyle/>
          <a:p>
            <a:pPr algn="l" indent="0" marL="0">
              <a:lnSpc>
                <a:spcPct val="104000"/>
              </a:lnSpc>
              <a:buNone/>
            </a:pPr>
            <a:r>
              <a:rPr lang="en-US" sz="1800" dirty="0">
                <a:solidFill>
                  <a:srgbClr val="B3C3D6"/>
                </a:solidFill>
                <a:latin typeface="Arial" pitchFamily="34" charset="0"/>
                <a:ea typeface="Arial" pitchFamily="34" charset="-122"/>
                <a:cs typeface="Arial" pitchFamily="34" charset="-120"/>
              </a:rPr>
              <a:t>Resource control</a:t>
            </a:r>
            <a:endParaRPr lang="en-US" sz="1800" dirty="0"/>
          </a:p>
        </p:txBody>
      </p:sp>
      <p:sp>
        <p:nvSpPr>
          <p:cNvPr id="16" name="Shape 14"/>
          <p:cNvSpPr/>
          <p:nvPr/>
        </p:nvSpPr>
        <p:spPr>
          <a:xfrm>
            <a:off x="6280912" y="2167128"/>
            <a:ext cx="5362448" cy="529438"/>
          </a:xfrm>
          <a:prstGeom prst="rect">
            <a:avLst/>
          </a:prstGeom>
          <a:solidFill>
            <a:srgbClr val="142238"/>
          </a:solidFill>
          <a:ln w="8890">
            <a:solidFill>
              <a:srgbClr val="142238"/>
            </a:solidFill>
            <a:prstDash val="solid"/>
          </a:ln>
        </p:spPr>
        <p:txBody>
          <a:bodyPr/>
          <a:p/>
        </p:txBody>
      </p:sp>
      <p:sp>
        <p:nvSpPr>
          <p:cNvPr id="17" name="Text 15"/>
          <p:cNvSpPr txBox="1"/>
          <p:nvPr/>
        </p:nvSpPr>
        <p:spPr>
          <a:xfrm>
            <a:off x="6408928" y="2217420"/>
            <a:ext cx="5106416" cy="437998"/>
          </a:xfrm>
          <a:prstGeom prst="rect">
            <a:avLst/>
          </a:prstGeom>
          <a:noFill/>
          <a:ln/>
        </p:spPr>
        <p:txBody>
          <a:bodyPr wrap="square" lIns="0" tIns="0" rIns="0" bIns="0" rtlCol="0" anchor="t"/>
          <a:lstStyle/>
          <a:p>
            <a:pPr algn="l" indent="0" marL="0">
              <a:lnSpc>
                <a:spcPct val="104000"/>
              </a:lnSpc>
              <a:buNone/>
            </a:pPr>
            <a:r>
              <a:rPr lang="en-US" sz="1800" dirty="0">
                <a:solidFill>
                  <a:srgbClr val="B3C3D6"/>
                </a:solidFill>
                <a:latin typeface="Arial" pitchFamily="34" charset="0"/>
                <a:ea typeface="Arial" pitchFamily="34" charset="-122"/>
                <a:cs typeface="Arial" pitchFamily="34" charset="-120"/>
              </a:rPr>
              <a:t>Privileged core of the OS</a:t>
            </a:r>
            <a:endParaRPr lang="en-US" sz="1800" dirty="0"/>
          </a:p>
        </p:txBody>
      </p:sp>
      <p:sp>
        <p:nvSpPr>
          <p:cNvPr id="18" name="Shape 16"/>
          <p:cNvSpPr/>
          <p:nvPr/>
        </p:nvSpPr>
        <p:spPr>
          <a:xfrm>
            <a:off x="548640" y="2696566"/>
            <a:ext cx="11094720" cy="0"/>
          </a:xfrm>
          <a:prstGeom prst="line">
            <a:avLst/>
          </a:prstGeom>
          <a:noFill/>
          <a:ln w="12700">
            <a:solidFill>
              <a:srgbClr val="2B415A"/>
            </a:solidFill>
            <a:prstDash val="solid"/>
          </a:ln>
        </p:spPr>
        <p:txBody>
          <a:bodyPr/>
          <a:p/>
        </p:txBody>
      </p:sp>
      <p:sp>
        <p:nvSpPr>
          <p:cNvPr id="19" name="Shape 17"/>
          <p:cNvSpPr/>
          <p:nvPr/>
        </p:nvSpPr>
        <p:spPr>
          <a:xfrm>
            <a:off x="548640" y="2696566"/>
            <a:ext cx="2218944" cy="529438"/>
          </a:xfrm>
          <a:prstGeom prst="rect">
            <a:avLst/>
          </a:prstGeom>
          <a:solidFill>
            <a:srgbClr val="0B1322"/>
          </a:solidFill>
          <a:ln w="8890">
            <a:solidFill>
              <a:srgbClr val="0B1322"/>
            </a:solidFill>
            <a:prstDash val="solid"/>
          </a:ln>
        </p:spPr>
        <p:txBody>
          <a:bodyPr/>
          <a:p/>
        </p:txBody>
      </p:sp>
      <p:sp>
        <p:nvSpPr>
          <p:cNvPr id="20" name="Text 18"/>
          <p:cNvSpPr txBox="1"/>
          <p:nvPr/>
        </p:nvSpPr>
        <p:spPr>
          <a:xfrm>
            <a:off x="676656" y="2746858"/>
            <a:ext cx="1962912" cy="437998"/>
          </a:xfrm>
          <a:prstGeom prst="rect">
            <a:avLst/>
          </a:prstGeom>
          <a:noFill/>
          <a:ln/>
        </p:spPr>
        <p:txBody>
          <a:bodyPr wrap="square" lIns="0" tIns="0" rIns="0" bIns="0" rtlCol="0" anchor="t"/>
          <a:lstStyle/>
          <a:p>
            <a:pPr algn="l" indent="0" marL="0">
              <a:lnSpc>
                <a:spcPct val="104000"/>
              </a:lnSpc>
              <a:buNone/>
            </a:pPr>
            <a:r>
              <a:rPr lang="en-US" sz="1800" b="1" dirty="0">
                <a:solidFill>
                  <a:srgbClr val="F4F7FB"/>
                </a:solidFill>
                <a:latin typeface="Arial" pitchFamily="34" charset="0"/>
                <a:ea typeface="Arial" pitchFamily="34" charset="-122"/>
                <a:cs typeface="Arial" pitchFamily="34" charset="-120"/>
              </a:rPr>
              <a:t>Compiler / linker</a:t>
            </a:r>
            <a:endParaRPr lang="en-US" sz="1800" dirty="0"/>
          </a:p>
        </p:txBody>
      </p:sp>
      <p:sp>
        <p:nvSpPr>
          <p:cNvPr id="21" name="Shape 19"/>
          <p:cNvSpPr/>
          <p:nvPr/>
        </p:nvSpPr>
        <p:spPr>
          <a:xfrm>
            <a:off x="2767584" y="2696566"/>
            <a:ext cx="3513328" cy="529438"/>
          </a:xfrm>
          <a:prstGeom prst="rect">
            <a:avLst/>
          </a:prstGeom>
          <a:solidFill>
            <a:srgbClr val="0B1322"/>
          </a:solidFill>
          <a:ln w="8890">
            <a:solidFill>
              <a:srgbClr val="0B1322"/>
            </a:solidFill>
            <a:prstDash val="solid"/>
          </a:ln>
        </p:spPr>
        <p:txBody>
          <a:bodyPr/>
          <a:p/>
        </p:txBody>
      </p:sp>
      <p:sp>
        <p:nvSpPr>
          <p:cNvPr id="22" name="Text 20"/>
          <p:cNvSpPr txBox="1"/>
          <p:nvPr/>
        </p:nvSpPr>
        <p:spPr>
          <a:xfrm>
            <a:off x="2895600" y="2746858"/>
            <a:ext cx="3257296" cy="437998"/>
          </a:xfrm>
          <a:prstGeom prst="rect">
            <a:avLst/>
          </a:prstGeom>
          <a:noFill/>
          <a:ln/>
        </p:spPr>
        <p:txBody>
          <a:bodyPr wrap="square" lIns="0" tIns="0" rIns="0" bIns="0" rtlCol="0" anchor="t"/>
          <a:lstStyle/>
          <a:p>
            <a:pPr algn="l" indent="0" marL="0">
              <a:lnSpc>
                <a:spcPct val="104000"/>
              </a:lnSpc>
              <a:buNone/>
            </a:pPr>
            <a:r>
              <a:rPr lang="en-US" sz="1800" dirty="0">
                <a:solidFill>
                  <a:srgbClr val="B3C3D6"/>
                </a:solidFill>
                <a:latin typeface="Arial" pitchFamily="34" charset="0"/>
                <a:ea typeface="Arial" pitchFamily="34" charset="-122"/>
                <a:cs typeface="Arial" pitchFamily="34" charset="-120"/>
              </a:rPr>
              <a:t>Translation / binary assembly</a:t>
            </a:r>
            <a:endParaRPr lang="en-US" sz="1800" dirty="0"/>
          </a:p>
        </p:txBody>
      </p:sp>
      <p:sp>
        <p:nvSpPr>
          <p:cNvPr id="23" name="Shape 21"/>
          <p:cNvSpPr/>
          <p:nvPr/>
        </p:nvSpPr>
        <p:spPr>
          <a:xfrm>
            <a:off x="6280912" y="2696566"/>
            <a:ext cx="5362448" cy="529438"/>
          </a:xfrm>
          <a:prstGeom prst="rect">
            <a:avLst/>
          </a:prstGeom>
          <a:solidFill>
            <a:srgbClr val="0B1322"/>
          </a:solidFill>
          <a:ln w="8890">
            <a:solidFill>
              <a:srgbClr val="0B1322"/>
            </a:solidFill>
            <a:prstDash val="solid"/>
          </a:ln>
        </p:spPr>
        <p:txBody>
          <a:bodyPr/>
          <a:p/>
        </p:txBody>
      </p:sp>
      <p:sp>
        <p:nvSpPr>
          <p:cNvPr id="24" name="Text 22"/>
          <p:cNvSpPr txBox="1"/>
          <p:nvPr/>
        </p:nvSpPr>
        <p:spPr>
          <a:xfrm>
            <a:off x="6408928" y="2746858"/>
            <a:ext cx="5106416" cy="437998"/>
          </a:xfrm>
          <a:prstGeom prst="rect">
            <a:avLst/>
          </a:prstGeom>
          <a:noFill/>
          <a:ln/>
        </p:spPr>
        <p:txBody>
          <a:bodyPr wrap="square" lIns="0" tIns="0" rIns="0" bIns="0" rtlCol="0" anchor="t"/>
          <a:lstStyle/>
          <a:p>
            <a:pPr algn="l" indent="0" marL="0">
              <a:lnSpc>
                <a:spcPct val="104000"/>
              </a:lnSpc>
              <a:buNone/>
            </a:pPr>
            <a:r>
              <a:rPr lang="en-US" sz="1800" dirty="0">
                <a:solidFill>
                  <a:srgbClr val="B3C3D6"/>
                </a:solidFill>
                <a:latin typeface="Arial" pitchFamily="34" charset="0"/>
                <a:ea typeface="Arial" pitchFamily="34" charset="-122"/>
                <a:cs typeface="Arial" pitchFamily="34" charset="-120"/>
              </a:rPr>
              <a:t>Usually ordinary user processes</a:t>
            </a:r>
            <a:endParaRPr lang="en-US" sz="1800" dirty="0"/>
          </a:p>
        </p:txBody>
      </p:sp>
      <p:sp>
        <p:nvSpPr>
          <p:cNvPr id="25" name="Shape 23"/>
          <p:cNvSpPr/>
          <p:nvPr/>
        </p:nvSpPr>
        <p:spPr>
          <a:xfrm>
            <a:off x="548640" y="3226003"/>
            <a:ext cx="11094720" cy="0"/>
          </a:xfrm>
          <a:prstGeom prst="line">
            <a:avLst/>
          </a:prstGeom>
          <a:noFill/>
          <a:ln w="12700">
            <a:solidFill>
              <a:srgbClr val="2B415A"/>
            </a:solidFill>
            <a:prstDash val="solid"/>
          </a:ln>
        </p:spPr>
        <p:txBody>
          <a:bodyPr/>
          <a:p/>
        </p:txBody>
      </p:sp>
      <p:sp>
        <p:nvSpPr>
          <p:cNvPr id="26" name="Shape 24"/>
          <p:cNvSpPr/>
          <p:nvPr/>
        </p:nvSpPr>
        <p:spPr>
          <a:xfrm>
            <a:off x="548640" y="3226003"/>
            <a:ext cx="2218944" cy="529438"/>
          </a:xfrm>
          <a:prstGeom prst="rect">
            <a:avLst/>
          </a:prstGeom>
          <a:solidFill>
            <a:srgbClr val="142238"/>
          </a:solidFill>
          <a:ln w="8890">
            <a:solidFill>
              <a:srgbClr val="142238"/>
            </a:solidFill>
            <a:prstDash val="solid"/>
          </a:ln>
        </p:spPr>
        <p:txBody>
          <a:bodyPr/>
          <a:p/>
        </p:txBody>
      </p:sp>
      <p:sp>
        <p:nvSpPr>
          <p:cNvPr id="27" name="Text 25"/>
          <p:cNvSpPr txBox="1"/>
          <p:nvPr/>
        </p:nvSpPr>
        <p:spPr>
          <a:xfrm>
            <a:off x="676656" y="3276295"/>
            <a:ext cx="1962912" cy="437998"/>
          </a:xfrm>
          <a:prstGeom prst="rect">
            <a:avLst/>
          </a:prstGeom>
          <a:noFill/>
          <a:ln/>
        </p:spPr>
        <p:txBody>
          <a:bodyPr wrap="square" lIns="0" tIns="0" rIns="0" bIns="0" rtlCol="0" anchor="t"/>
          <a:lstStyle/>
          <a:p>
            <a:pPr algn="l" indent="0" marL="0">
              <a:lnSpc>
                <a:spcPct val="104000"/>
              </a:lnSpc>
              <a:buNone/>
            </a:pPr>
            <a:r>
              <a:rPr lang="en-US" sz="1800" b="1" dirty="0">
                <a:solidFill>
                  <a:srgbClr val="F4F7FB"/>
                </a:solidFill>
                <a:latin typeface="Arial" pitchFamily="34" charset="0"/>
                <a:ea typeface="Arial" pitchFamily="34" charset="-122"/>
                <a:cs typeface="Arial" pitchFamily="34" charset="-120"/>
              </a:rPr>
              <a:t>Runtime library</a:t>
            </a:r>
            <a:endParaRPr lang="en-US" sz="1800" dirty="0"/>
          </a:p>
        </p:txBody>
      </p:sp>
      <p:sp>
        <p:nvSpPr>
          <p:cNvPr id="28" name="Shape 26"/>
          <p:cNvSpPr/>
          <p:nvPr/>
        </p:nvSpPr>
        <p:spPr>
          <a:xfrm>
            <a:off x="2767584" y="3226003"/>
            <a:ext cx="3513328" cy="529438"/>
          </a:xfrm>
          <a:prstGeom prst="rect">
            <a:avLst/>
          </a:prstGeom>
          <a:solidFill>
            <a:srgbClr val="142238"/>
          </a:solidFill>
          <a:ln w="8890">
            <a:solidFill>
              <a:srgbClr val="142238"/>
            </a:solidFill>
            <a:prstDash val="solid"/>
          </a:ln>
        </p:spPr>
        <p:txBody>
          <a:bodyPr/>
          <a:p/>
        </p:txBody>
      </p:sp>
      <p:sp>
        <p:nvSpPr>
          <p:cNvPr id="29" name="Text 27"/>
          <p:cNvSpPr txBox="1"/>
          <p:nvPr/>
        </p:nvSpPr>
        <p:spPr>
          <a:xfrm>
            <a:off x="2895600" y="3276295"/>
            <a:ext cx="3257296" cy="437998"/>
          </a:xfrm>
          <a:prstGeom prst="rect">
            <a:avLst/>
          </a:prstGeom>
          <a:noFill/>
          <a:ln/>
        </p:spPr>
        <p:txBody>
          <a:bodyPr wrap="square" lIns="0" tIns="0" rIns="0" bIns="0" rtlCol="0" anchor="t"/>
          <a:lstStyle/>
          <a:p>
            <a:pPr algn="l" indent="0" marL="0">
              <a:lnSpc>
                <a:spcPct val="104000"/>
              </a:lnSpc>
              <a:buNone/>
            </a:pPr>
            <a:r>
              <a:rPr lang="en-US" sz="1800" dirty="0">
                <a:solidFill>
                  <a:srgbClr val="B3C3D6"/>
                </a:solidFill>
                <a:latin typeface="Arial" pitchFamily="34" charset="0"/>
                <a:ea typeface="Arial" pitchFamily="34" charset="-122"/>
                <a:cs typeface="Arial" pitchFamily="34" charset="-120"/>
              </a:rPr>
              <a:t>Startup and reusable services</a:t>
            </a:r>
            <a:endParaRPr lang="en-US" sz="1800" dirty="0"/>
          </a:p>
        </p:txBody>
      </p:sp>
      <p:sp>
        <p:nvSpPr>
          <p:cNvPr id="30" name="Shape 28"/>
          <p:cNvSpPr/>
          <p:nvPr/>
        </p:nvSpPr>
        <p:spPr>
          <a:xfrm>
            <a:off x="6280912" y="3226003"/>
            <a:ext cx="5362448" cy="529438"/>
          </a:xfrm>
          <a:prstGeom prst="rect">
            <a:avLst/>
          </a:prstGeom>
          <a:solidFill>
            <a:srgbClr val="142238"/>
          </a:solidFill>
          <a:ln w="8890">
            <a:solidFill>
              <a:srgbClr val="142238"/>
            </a:solidFill>
            <a:prstDash val="solid"/>
          </a:ln>
        </p:spPr>
        <p:txBody>
          <a:bodyPr/>
          <a:p/>
        </p:txBody>
      </p:sp>
      <p:sp>
        <p:nvSpPr>
          <p:cNvPr id="31" name="Text 29"/>
          <p:cNvSpPr txBox="1"/>
          <p:nvPr/>
        </p:nvSpPr>
        <p:spPr>
          <a:xfrm>
            <a:off x="6408928" y="3276295"/>
            <a:ext cx="5106416" cy="437998"/>
          </a:xfrm>
          <a:prstGeom prst="rect">
            <a:avLst/>
          </a:prstGeom>
          <a:noFill/>
          <a:ln/>
        </p:spPr>
        <p:txBody>
          <a:bodyPr wrap="square" lIns="0" tIns="0" rIns="0" bIns="0" rtlCol="0" anchor="t"/>
          <a:lstStyle/>
          <a:p>
            <a:pPr algn="l" indent="0" marL="0">
              <a:lnSpc>
                <a:spcPct val="104000"/>
              </a:lnSpc>
              <a:buNone/>
            </a:pPr>
            <a:r>
              <a:rPr lang="en-US" sz="1800" dirty="0">
                <a:solidFill>
                  <a:srgbClr val="B3C3D6"/>
                </a:solidFill>
                <a:latin typeface="Arial" pitchFamily="34" charset="0"/>
                <a:ea typeface="Arial" pitchFamily="34" charset="-122"/>
                <a:cs typeface="Arial" pitchFamily="34" charset="-120"/>
              </a:rPr>
              <a:t>Often executes inside the application process</a:t>
            </a:r>
            <a:endParaRPr lang="en-US" sz="1800" dirty="0"/>
          </a:p>
        </p:txBody>
      </p:sp>
      <p:sp>
        <p:nvSpPr>
          <p:cNvPr id="32" name="Shape 30"/>
          <p:cNvSpPr/>
          <p:nvPr/>
        </p:nvSpPr>
        <p:spPr>
          <a:xfrm>
            <a:off x="548640" y="3755441"/>
            <a:ext cx="11094720" cy="0"/>
          </a:xfrm>
          <a:prstGeom prst="line">
            <a:avLst/>
          </a:prstGeom>
          <a:noFill/>
          <a:ln w="12700">
            <a:solidFill>
              <a:srgbClr val="2B415A"/>
            </a:solidFill>
            <a:prstDash val="solid"/>
          </a:ln>
        </p:spPr>
        <p:txBody>
          <a:bodyPr/>
          <a:p/>
        </p:txBody>
      </p:sp>
      <p:sp>
        <p:nvSpPr>
          <p:cNvPr id="33" name="Shape 31"/>
          <p:cNvSpPr/>
          <p:nvPr/>
        </p:nvSpPr>
        <p:spPr>
          <a:xfrm>
            <a:off x="548640" y="3755441"/>
            <a:ext cx="2218944" cy="529438"/>
          </a:xfrm>
          <a:prstGeom prst="rect">
            <a:avLst/>
          </a:prstGeom>
          <a:solidFill>
            <a:srgbClr val="0B1322"/>
          </a:solidFill>
          <a:ln w="8890">
            <a:solidFill>
              <a:srgbClr val="0B1322"/>
            </a:solidFill>
            <a:prstDash val="solid"/>
          </a:ln>
        </p:spPr>
        <p:txBody>
          <a:bodyPr/>
          <a:p/>
        </p:txBody>
      </p:sp>
      <p:sp>
        <p:nvSpPr>
          <p:cNvPr id="34" name="Text 32"/>
          <p:cNvSpPr txBox="1"/>
          <p:nvPr/>
        </p:nvSpPr>
        <p:spPr>
          <a:xfrm>
            <a:off x="676656" y="3805733"/>
            <a:ext cx="1962912" cy="437998"/>
          </a:xfrm>
          <a:prstGeom prst="rect">
            <a:avLst/>
          </a:prstGeom>
          <a:noFill/>
          <a:ln/>
        </p:spPr>
        <p:txBody>
          <a:bodyPr wrap="square" lIns="0" tIns="0" rIns="0" bIns="0" rtlCol="0" anchor="t"/>
          <a:lstStyle/>
          <a:p>
            <a:pPr algn="l" indent="0" marL="0">
              <a:lnSpc>
                <a:spcPct val="104000"/>
              </a:lnSpc>
              <a:buNone/>
            </a:pPr>
            <a:r>
              <a:rPr lang="en-US" sz="1800" b="1" dirty="0">
                <a:solidFill>
                  <a:srgbClr val="F4F7FB"/>
                </a:solidFill>
                <a:latin typeface="Arial" pitchFamily="34" charset="0"/>
                <a:ea typeface="Arial" pitchFamily="34" charset="-122"/>
                <a:cs typeface="Arial" pitchFamily="34" charset="-120"/>
              </a:rPr>
              <a:t>Driver</a:t>
            </a:r>
            <a:endParaRPr lang="en-US" sz="1800" dirty="0"/>
          </a:p>
        </p:txBody>
      </p:sp>
      <p:sp>
        <p:nvSpPr>
          <p:cNvPr id="35" name="Shape 33"/>
          <p:cNvSpPr/>
          <p:nvPr/>
        </p:nvSpPr>
        <p:spPr>
          <a:xfrm>
            <a:off x="2767584" y="3755441"/>
            <a:ext cx="3513328" cy="529438"/>
          </a:xfrm>
          <a:prstGeom prst="rect">
            <a:avLst/>
          </a:prstGeom>
          <a:solidFill>
            <a:srgbClr val="0B1322"/>
          </a:solidFill>
          <a:ln w="8890">
            <a:solidFill>
              <a:srgbClr val="0B1322"/>
            </a:solidFill>
            <a:prstDash val="solid"/>
          </a:ln>
        </p:spPr>
        <p:txBody>
          <a:bodyPr/>
          <a:p/>
        </p:txBody>
      </p:sp>
      <p:sp>
        <p:nvSpPr>
          <p:cNvPr id="36" name="Text 34"/>
          <p:cNvSpPr txBox="1"/>
          <p:nvPr/>
        </p:nvSpPr>
        <p:spPr>
          <a:xfrm>
            <a:off x="2895600" y="3805733"/>
            <a:ext cx="3257296" cy="437998"/>
          </a:xfrm>
          <a:prstGeom prst="rect">
            <a:avLst/>
          </a:prstGeom>
          <a:noFill/>
          <a:ln/>
        </p:spPr>
        <p:txBody>
          <a:bodyPr wrap="square" lIns="0" tIns="0" rIns="0" bIns="0" rtlCol="0" anchor="t"/>
          <a:lstStyle/>
          <a:p>
            <a:pPr algn="l" indent="0" marL="0">
              <a:lnSpc>
                <a:spcPct val="104000"/>
              </a:lnSpc>
              <a:buNone/>
            </a:pPr>
            <a:r>
              <a:rPr lang="en-US" sz="1800" dirty="0">
                <a:solidFill>
                  <a:srgbClr val="B3C3D6"/>
                </a:solidFill>
                <a:latin typeface="Arial" pitchFamily="34" charset="0"/>
                <a:ea typeface="Arial" pitchFamily="34" charset="-122"/>
                <a:cs typeface="Arial" pitchFamily="34" charset="-120"/>
              </a:rPr>
              <a:t>Device-specific interaction</a:t>
            </a:r>
            <a:endParaRPr lang="en-US" sz="1800" dirty="0"/>
          </a:p>
        </p:txBody>
      </p:sp>
      <p:sp>
        <p:nvSpPr>
          <p:cNvPr id="37" name="Shape 35"/>
          <p:cNvSpPr/>
          <p:nvPr/>
        </p:nvSpPr>
        <p:spPr>
          <a:xfrm>
            <a:off x="6280912" y="3755441"/>
            <a:ext cx="5362448" cy="529438"/>
          </a:xfrm>
          <a:prstGeom prst="rect">
            <a:avLst/>
          </a:prstGeom>
          <a:solidFill>
            <a:srgbClr val="0B1322"/>
          </a:solidFill>
          <a:ln w="8890">
            <a:solidFill>
              <a:srgbClr val="0B1322"/>
            </a:solidFill>
            <a:prstDash val="solid"/>
          </a:ln>
        </p:spPr>
        <p:txBody>
          <a:bodyPr/>
          <a:p/>
        </p:txBody>
      </p:sp>
      <p:sp>
        <p:nvSpPr>
          <p:cNvPr id="38" name="Text 36"/>
          <p:cNvSpPr txBox="1"/>
          <p:nvPr/>
        </p:nvSpPr>
        <p:spPr>
          <a:xfrm>
            <a:off x="6408928" y="3805733"/>
            <a:ext cx="5106416" cy="437998"/>
          </a:xfrm>
          <a:prstGeom prst="rect">
            <a:avLst/>
          </a:prstGeom>
          <a:noFill/>
          <a:ln/>
        </p:spPr>
        <p:txBody>
          <a:bodyPr wrap="square" lIns="0" tIns="0" rIns="0" bIns="0" rtlCol="0" anchor="t"/>
          <a:lstStyle/>
          <a:p>
            <a:pPr algn="l" indent="0" marL="0">
              <a:lnSpc>
                <a:spcPct val="104000"/>
              </a:lnSpc>
              <a:buNone/>
            </a:pPr>
            <a:r>
              <a:rPr lang="en-US" sz="1800" dirty="0">
                <a:solidFill>
                  <a:srgbClr val="B3C3D6"/>
                </a:solidFill>
                <a:latin typeface="Arial" pitchFamily="34" charset="0"/>
                <a:ea typeface="Arial" pitchFamily="34" charset="-122"/>
                <a:cs typeface="Arial" pitchFamily="34" charset="-120"/>
              </a:rPr>
              <a:t>Placement depends on the OS architecture</a:t>
            </a:r>
            <a:endParaRPr lang="en-US" sz="1800" dirty="0"/>
          </a:p>
        </p:txBody>
      </p:sp>
      <p:sp>
        <p:nvSpPr>
          <p:cNvPr id="39" name="Shape 37"/>
          <p:cNvSpPr/>
          <p:nvPr/>
        </p:nvSpPr>
        <p:spPr>
          <a:xfrm>
            <a:off x="548640" y="4284878"/>
            <a:ext cx="11094720" cy="0"/>
          </a:xfrm>
          <a:prstGeom prst="line">
            <a:avLst/>
          </a:prstGeom>
          <a:noFill/>
          <a:ln w="12700">
            <a:solidFill>
              <a:srgbClr val="2B415A"/>
            </a:solidFill>
            <a:prstDash val="solid"/>
          </a:ln>
        </p:spPr>
        <p:txBody>
          <a:bodyPr/>
          <a:p/>
        </p:txBody>
      </p:sp>
      <p:sp>
        <p:nvSpPr>
          <p:cNvPr id="40" name="Shape 38"/>
          <p:cNvSpPr/>
          <p:nvPr/>
        </p:nvSpPr>
        <p:spPr>
          <a:xfrm>
            <a:off x="548640" y="4284878"/>
            <a:ext cx="2218944" cy="790042"/>
          </a:xfrm>
          <a:prstGeom prst="rect">
            <a:avLst/>
          </a:prstGeom>
          <a:solidFill>
            <a:srgbClr val="142238"/>
          </a:solidFill>
          <a:ln w="8890">
            <a:solidFill>
              <a:srgbClr val="142238"/>
            </a:solidFill>
            <a:prstDash val="solid"/>
          </a:ln>
        </p:spPr>
        <p:txBody>
          <a:bodyPr/>
          <a:p/>
        </p:txBody>
      </p:sp>
      <p:sp>
        <p:nvSpPr>
          <p:cNvPr id="41" name="Text 39"/>
          <p:cNvSpPr txBox="1"/>
          <p:nvPr/>
        </p:nvSpPr>
        <p:spPr>
          <a:xfrm>
            <a:off x="676656" y="4335170"/>
            <a:ext cx="1962912" cy="698602"/>
          </a:xfrm>
          <a:prstGeom prst="rect">
            <a:avLst/>
          </a:prstGeom>
          <a:noFill/>
          <a:ln/>
        </p:spPr>
        <p:txBody>
          <a:bodyPr wrap="square" lIns="0" tIns="0" rIns="0" bIns="0" rtlCol="0" anchor="t"/>
          <a:lstStyle/>
          <a:p>
            <a:pPr algn="l" indent="0" marL="0">
              <a:lnSpc>
                <a:spcPct val="104000"/>
              </a:lnSpc>
              <a:buNone/>
            </a:pPr>
            <a:r>
              <a:rPr lang="en-US" sz="1800" b="1" dirty="0">
                <a:solidFill>
                  <a:srgbClr val="F4F7FB"/>
                </a:solidFill>
                <a:latin typeface="Arial" pitchFamily="34" charset="0"/>
                <a:ea typeface="Arial" pitchFamily="34" charset="-122"/>
                <a:cs typeface="Arial" pitchFamily="34" charset="-120"/>
              </a:rPr>
              <a:t>Application /</a:t>
            </a:r>
            <a:endParaRPr lang="en-US" sz="1800" dirty="0"/>
          </a:p>
          <a:p>
            <a:pPr algn="l" indent="0" marL="0">
              <a:lnSpc>
                <a:spcPct val="104000"/>
              </a:lnSpc>
              <a:buNone/>
            </a:pPr>
            <a:r>
              <a:rPr lang="en-US" sz="1800" b="1" dirty="0">
                <a:solidFill>
                  <a:srgbClr val="F4F7FB"/>
                </a:solidFill>
                <a:latin typeface="Arial" pitchFamily="34" charset="0"/>
                <a:ea typeface="Arial" pitchFamily="34" charset="-122"/>
                <a:cs typeface="Arial" pitchFamily="34" charset="-120"/>
              </a:rPr>
              <a:t>server</a:t>
            </a:r>
            <a:endParaRPr lang="en-US" sz="1800" dirty="0"/>
          </a:p>
        </p:txBody>
      </p:sp>
      <p:sp>
        <p:nvSpPr>
          <p:cNvPr id="42" name="Shape 40"/>
          <p:cNvSpPr/>
          <p:nvPr/>
        </p:nvSpPr>
        <p:spPr>
          <a:xfrm>
            <a:off x="2767584" y="4284878"/>
            <a:ext cx="3513328" cy="790042"/>
          </a:xfrm>
          <a:prstGeom prst="rect">
            <a:avLst/>
          </a:prstGeom>
          <a:solidFill>
            <a:srgbClr val="142238"/>
          </a:solidFill>
          <a:ln w="8890">
            <a:solidFill>
              <a:srgbClr val="142238"/>
            </a:solidFill>
            <a:prstDash val="solid"/>
          </a:ln>
        </p:spPr>
        <p:txBody>
          <a:bodyPr/>
          <a:p/>
        </p:txBody>
      </p:sp>
      <p:sp>
        <p:nvSpPr>
          <p:cNvPr id="43" name="Text 41"/>
          <p:cNvSpPr txBox="1"/>
          <p:nvPr/>
        </p:nvSpPr>
        <p:spPr>
          <a:xfrm>
            <a:off x="2895600" y="4335170"/>
            <a:ext cx="3257296" cy="698602"/>
          </a:xfrm>
          <a:prstGeom prst="rect">
            <a:avLst/>
          </a:prstGeom>
          <a:noFill/>
          <a:ln/>
        </p:spPr>
        <p:txBody>
          <a:bodyPr wrap="square" lIns="0" tIns="0" rIns="0" bIns="0" rtlCol="0" anchor="t"/>
          <a:lstStyle/>
          <a:p>
            <a:pPr algn="l" indent="0" marL="0">
              <a:lnSpc>
                <a:spcPct val="104000"/>
              </a:lnSpc>
              <a:buNone/>
            </a:pPr>
            <a:r>
              <a:rPr lang="en-US" sz="1800" dirty="0">
                <a:solidFill>
                  <a:srgbClr val="B3C3D6"/>
                </a:solidFill>
                <a:latin typeface="Arial" pitchFamily="34" charset="0"/>
                <a:ea typeface="Arial" pitchFamily="34" charset="-122"/>
                <a:cs typeface="Arial" pitchFamily="34" charset="-120"/>
              </a:rPr>
              <a:t>User or service function</a:t>
            </a:r>
            <a:endParaRPr lang="en-US" sz="1800" dirty="0"/>
          </a:p>
        </p:txBody>
      </p:sp>
      <p:sp>
        <p:nvSpPr>
          <p:cNvPr id="44" name="Shape 42"/>
          <p:cNvSpPr/>
          <p:nvPr/>
        </p:nvSpPr>
        <p:spPr>
          <a:xfrm>
            <a:off x="6280912" y="4284878"/>
            <a:ext cx="5362448" cy="790042"/>
          </a:xfrm>
          <a:prstGeom prst="rect">
            <a:avLst/>
          </a:prstGeom>
          <a:solidFill>
            <a:srgbClr val="142238"/>
          </a:solidFill>
          <a:ln w="8890">
            <a:solidFill>
              <a:srgbClr val="142238"/>
            </a:solidFill>
            <a:prstDash val="solid"/>
          </a:ln>
        </p:spPr>
        <p:txBody>
          <a:bodyPr/>
          <a:p/>
        </p:txBody>
      </p:sp>
      <p:sp>
        <p:nvSpPr>
          <p:cNvPr id="45" name="Text 43"/>
          <p:cNvSpPr txBox="1"/>
          <p:nvPr/>
        </p:nvSpPr>
        <p:spPr>
          <a:xfrm>
            <a:off x="6408928" y="4335170"/>
            <a:ext cx="5106416" cy="698602"/>
          </a:xfrm>
          <a:prstGeom prst="rect">
            <a:avLst/>
          </a:prstGeom>
          <a:noFill/>
          <a:ln/>
        </p:spPr>
        <p:txBody>
          <a:bodyPr wrap="square" lIns="0" tIns="0" rIns="0" bIns="0" rtlCol="0" anchor="t"/>
          <a:lstStyle/>
          <a:p>
            <a:pPr algn="l" indent="0" marL="0">
              <a:lnSpc>
                <a:spcPct val="104000"/>
              </a:lnSpc>
              <a:buNone/>
            </a:pPr>
            <a:r>
              <a:rPr lang="en-US" sz="1800" dirty="0">
                <a:solidFill>
                  <a:srgbClr val="B3C3D6"/>
                </a:solidFill>
                <a:latin typeface="Arial" pitchFamily="34" charset="0"/>
                <a:ea typeface="Arial" pitchFamily="34" charset="-122"/>
                <a:cs typeface="Arial" pitchFamily="34" charset="-120"/>
              </a:rPr>
              <a:t>May contain substantial systems machinery</a:t>
            </a:r>
            <a:endParaRPr lang="en-US" sz="1800" dirty="0"/>
          </a:p>
        </p:txBody>
      </p:sp>
      <p:sp>
        <p:nvSpPr>
          <p:cNvPr id="46" name="Shape 44"/>
          <p:cNvSpPr/>
          <p:nvPr/>
        </p:nvSpPr>
        <p:spPr>
          <a:xfrm>
            <a:off x="548640" y="5074920"/>
            <a:ext cx="11094720" cy="0"/>
          </a:xfrm>
          <a:prstGeom prst="line">
            <a:avLst/>
          </a:prstGeom>
          <a:noFill/>
          <a:ln w="12700">
            <a:solidFill>
              <a:srgbClr val="2B415A"/>
            </a:solidFill>
            <a:prstDash val="solid"/>
          </a:ln>
        </p:spPr>
        <p:txBody>
          <a:bodyPr/>
          <a:p/>
        </p:txBody>
      </p:sp>
      <p:sp>
        <p:nvSpPr>
          <p:cNvPr id="51" name="Text 49"/>
          <p:cNvSpPr txBox="1"/>
          <p:nvPr/>
        </p:nvSpPr>
        <p:spPr>
          <a:xfrm>
            <a:off x="548640" y="6601968"/>
            <a:ext cx="10241280" cy="128016"/>
          </a:xfrm>
          <a:prstGeom prst="rect">
            <a:avLst/>
          </a:prstGeom>
          <a:noFill/>
          <a:ln/>
        </p:spPr>
        <p:txBody>
          <a:bodyPr wrap="square" lIns="0" tIns="0" rIns="0" bIns="0" rtlCol="0" anchor="t"/>
          <a:lstStyle/>
          <a:p>
            <a:pPr algn="l" indent="0" marL="0">
              <a:lnSpc>
                <a:spcPct val="104000"/>
              </a:lnSpc>
              <a:buNone/>
            </a:pPr>
            <a:r>
              <a:rPr lang="en-US" sz="830" dirty="0">
                <a:solidFill>
                  <a:srgbClr val="B3C3D6"/>
                </a:solidFill>
                <a:latin typeface="Arial" pitchFamily="34" charset="0"/>
                <a:ea typeface="Arial" pitchFamily="34" charset="-122"/>
                <a:cs typeface="Arial" pitchFamily="34" charset="-120"/>
              </a:rPr>
              <a:t>Source: original 4</a:t>
            </a:r>
            <a:endParaRPr lang="en-US" sz="830" dirty="0"/>
          </a:p>
        </p:txBody>
      </p:sp>
      <p:sp>
        <p:nvSpPr>
          <p:cNvPr id="52" name="Text 50"/>
          <p:cNvSpPr txBox="1"/>
          <p:nvPr/>
        </p:nvSpPr>
        <p:spPr>
          <a:xfrm>
            <a:off x="10917936" y="6565392"/>
            <a:ext cx="722376" cy="219456"/>
          </a:xfrm>
          <a:prstGeom prst="rect">
            <a:avLst/>
          </a:prstGeom>
          <a:noFill/>
          <a:ln/>
        </p:spPr>
        <p:txBody>
          <a:bodyPr wrap="square" lIns="0" tIns="0" rIns="0" bIns="0" rtlCol="0" anchor="t"/>
          <a:lstStyle/>
          <a:p>
            <a:pPr algn="r" indent="0" marL="0">
              <a:lnSpc>
                <a:spcPct val="104000"/>
              </a:lnSpc>
              <a:buNone/>
            </a:pPr>
            <a:r>
              <a:rPr lang="en-US" sz="1050" dirty="0">
                <a:solidFill>
                  <a:srgbClr val="B3C3D6"/>
                </a:solidFill>
                <a:latin typeface="Arial" pitchFamily="34" charset="0"/>
                <a:ea typeface="Arial" pitchFamily="34" charset="-122"/>
                <a:cs typeface="Arial" pitchFamily="34" charset="-120"/>
              </a:rPr>
              <a:t>07 / 64</a:t>
            </a:r>
            <a:endParaRPr lang="en-US" sz="1050" dirty="0"/>
          </a:p>
        </p:txBody>
      </p:sp>
      <p:sp>
        <p:nvSpPr>
          <p:cNvPr id="53" name="Shape 51"/>
          <p:cNvSpPr/>
          <p:nvPr/>
        </p:nvSpPr>
        <p:spPr>
          <a:xfrm>
            <a:off x="0" y="6834226"/>
            <a:ext cx="12192000" cy="23774"/>
          </a:xfrm>
          <a:prstGeom prst="rect">
            <a:avLst/>
          </a:prstGeom>
          <a:solidFill>
            <a:srgbClr val="2B415A"/>
          </a:solidFill>
          <a:ln w="8890">
            <a:solidFill>
              <a:srgbClr val="2B415A"/>
            </a:solidFill>
            <a:prstDash val="solid"/>
          </a:ln>
        </p:spPr>
        <p:txBody>
          <a:bodyPr/>
          <a:p/>
        </p:txBody>
      </p:sp>
      <p:sp>
        <p:nvSpPr>
          <p:cNvPr id="54" name="Shape 52"/>
          <p:cNvSpPr/>
          <p:nvPr/>
        </p:nvSpPr>
        <p:spPr>
          <a:xfrm>
            <a:off x="0" y="6834226"/>
            <a:ext cx="1333500" cy="23774"/>
          </a:xfrm>
          <a:prstGeom prst="rect">
            <a:avLst/>
          </a:prstGeom>
          <a:solidFill>
            <a:srgbClr val="71D5DD"/>
          </a:solidFill>
          <a:ln w="8890">
            <a:solidFill>
              <a:srgbClr val="71D5DD"/>
            </a:solidFill>
            <a:prstDash val="solid"/>
          </a:ln>
        </p:spPr>
        <p:txBody>
          <a:body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219456"/>
            <a:ext cx="9875520" cy="192024"/>
          </a:xfrm>
          <a:prstGeom prst="rect">
            <a:avLst/>
          </a:prstGeom>
          <a:noFill/>
          <a:ln/>
        </p:spPr>
        <p:txBody>
          <a:bodyPr wrap="square" lIns="0" tIns="0" rIns="0" bIns="0" rtlCol="0" anchor="t"/>
          <a:lstStyle/>
          <a:p>
            <a:pPr algn="l" indent="0" marL="0">
              <a:lnSpc>
                <a:spcPct val="104000"/>
              </a:lnSpc>
              <a:buNone/>
            </a:pPr>
            <a:r>
              <a:rPr lang="en-US" sz="970" b="1" spc="135" kern="0" dirty="0">
                <a:solidFill>
                  <a:srgbClr val="B3C3D6"/>
                </a:solidFill>
                <a:latin typeface="Arial" pitchFamily="34" charset="0"/>
                <a:ea typeface="Arial" pitchFamily="34" charset="-122"/>
                <a:cs typeface="Arial" pitchFamily="34" charset="-120"/>
              </a:rPr>
              <a:t>SYSTEMS PROGRAMMING AND MACHINE ORGANIZATION</a:t>
            </a:r>
            <a:endParaRPr lang="en-US" sz="970" dirty="0"/>
          </a:p>
        </p:txBody>
      </p:sp>
      <p:sp>
        <p:nvSpPr>
          <p:cNvPr id="3" name="Text 1"/>
          <p:cNvSpPr txBox="1"/>
          <p:nvPr/>
        </p:nvSpPr>
        <p:spPr>
          <a:xfrm>
            <a:off x="9601200" y="219456"/>
            <a:ext cx="2039112" cy="192024"/>
          </a:xfrm>
          <a:prstGeom prst="rect">
            <a:avLst/>
          </a:prstGeom>
          <a:noFill/>
          <a:ln/>
        </p:spPr>
        <p:txBody>
          <a:bodyPr wrap="square" lIns="0" tIns="0" rIns="0" bIns="0" rtlCol="0" anchor="t"/>
          <a:lstStyle/>
          <a:p>
            <a:pPr algn="r" indent="0" marL="0">
              <a:lnSpc>
                <a:spcPct val="104000"/>
              </a:lnSpc>
              <a:buNone/>
            </a:pPr>
            <a:r>
              <a:rPr lang="en-US" sz="970" b="1" dirty="0">
                <a:solidFill>
                  <a:srgbClr val="B3C3D6"/>
                </a:solidFill>
                <a:latin typeface="Arial" pitchFamily="34" charset="0"/>
                <a:ea typeface="Arial" pitchFamily="34" charset="-122"/>
                <a:cs typeface="Arial" pitchFamily="34" charset="-120"/>
              </a:rPr>
              <a:t>CHARLES DORNER</a:t>
            </a:r>
            <a:endParaRPr lang="en-US" sz="970" dirty="0"/>
          </a:p>
        </p:txBody>
      </p:sp>
      <p:sp>
        <p:nvSpPr>
          <p:cNvPr id="4" name="Text 2"/>
          <p:cNvSpPr txBox="1"/>
          <p:nvPr/>
        </p:nvSpPr>
        <p:spPr>
          <a:xfrm>
            <a:off x="548640" y="566928"/>
            <a:ext cx="11109960" cy="237744"/>
          </a:xfrm>
          <a:prstGeom prst="rect">
            <a:avLst/>
          </a:prstGeom>
          <a:noFill/>
          <a:ln/>
        </p:spPr>
        <p:txBody>
          <a:bodyPr wrap="square" lIns="0" tIns="0" rIns="0" bIns="0" rtlCol="0" anchor="t"/>
          <a:lstStyle/>
          <a:p>
            <a:pPr algn="l" indent="0" marL="0">
              <a:lnSpc>
                <a:spcPct val="104000"/>
              </a:lnSpc>
              <a:buNone/>
            </a:pPr>
            <a:r>
              <a:rPr lang="en-US" sz="1150" b="1" dirty="0">
                <a:solidFill>
                  <a:srgbClr val="71D5DD"/>
                </a:solidFill>
                <a:latin typeface="Arial" pitchFamily="34" charset="0"/>
                <a:ea typeface="Arial" pitchFamily="34" charset="-122"/>
                <a:cs typeface="Arial" pitchFamily="34" charset="-120"/>
              </a:rPr>
              <a:t>1.1.4 · ABSTRACTION LAYERS</a:t>
            </a:r>
            <a:endParaRPr lang="en-US" sz="1150" dirty="0"/>
          </a:p>
        </p:txBody>
      </p:sp>
      <p:sp>
        <p:nvSpPr>
          <p:cNvPr id="5" name="Text 3"/>
          <p:cNvSpPr txBox="1"/>
          <p:nvPr/>
        </p:nvSpPr>
        <p:spPr>
          <a:xfrm>
            <a:off x="548640" y="941832"/>
            <a:ext cx="11091672" cy="676656"/>
          </a:xfrm>
          <a:prstGeom prst="rect">
            <a:avLst/>
          </a:prstGeom>
          <a:noFill/>
          <a:ln/>
        </p:spPr>
        <p:txBody>
          <a:bodyPr wrap="square" lIns="0" tIns="0" rIns="0" bIns="0" rtlCol="0" anchor="t"/>
          <a:lstStyle/>
          <a:p>
            <a:pPr algn="l" indent="0" marL="0">
              <a:lnSpc>
                <a:spcPct val="104000"/>
              </a:lnSpc>
              <a:buNone/>
            </a:pPr>
            <a:r>
              <a:rPr lang="en-US" sz="3150" b="1" dirty="0">
                <a:solidFill>
                  <a:srgbClr val="F4F7FB"/>
                </a:solidFill>
                <a:latin typeface="Arial" pitchFamily="34" charset="0"/>
                <a:ea typeface="Arial" pitchFamily="34" charset="-122"/>
                <a:cs typeface="Arial" pitchFamily="34" charset="-120"/>
              </a:rPr>
              <a:t>An abstraction is a smaller contract</a:t>
            </a:r>
            <a:endParaRPr lang="en-US" sz="3150" dirty="0"/>
          </a:p>
        </p:txBody>
      </p:sp>
      <p:sp>
        <p:nvSpPr>
          <p:cNvPr id="6" name="Shape 4"/>
          <p:cNvSpPr/>
          <p:nvPr/>
        </p:nvSpPr>
        <p:spPr>
          <a:xfrm>
            <a:off x="548640" y="1764792"/>
            <a:ext cx="5446776" cy="3310128"/>
          </a:xfrm>
          <a:prstGeom prst="rect">
            <a:avLst/>
          </a:prstGeom>
          <a:solidFill>
            <a:srgbClr val="142238"/>
          </a:solidFill>
          <a:ln w="8890">
            <a:solidFill>
              <a:srgbClr val="2B415A"/>
            </a:solidFill>
            <a:prstDash val="solid"/>
          </a:ln>
        </p:spPr>
        <p:txBody>
          <a:bodyPr/>
          <a:p/>
        </p:txBody>
      </p:sp>
      <p:sp>
        <p:nvSpPr>
          <p:cNvPr id="7" name="Shape 5"/>
          <p:cNvSpPr/>
          <p:nvPr/>
        </p:nvSpPr>
        <p:spPr>
          <a:xfrm>
            <a:off x="548640" y="1764792"/>
            <a:ext cx="41148" cy="3310128"/>
          </a:xfrm>
          <a:prstGeom prst="rect">
            <a:avLst/>
          </a:prstGeom>
          <a:solidFill>
            <a:srgbClr val="71D5DD"/>
          </a:solidFill>
          <a:ln w="8890">
            <a:solidFill>
              <a:srgbClr val="71D5DD"/>
            </a:solidFill>
            <a:prstDash val="solid"/>
          </a:ln>
        </p:spPr>
        <p:txBody>
          <a:bodyPr/>
          <a:p/>
        </p:txBody>
      </p:sp>
      <p:sp>
        <p:nvSpPr>
          <p:cNvPr id="8" name="Text 6"/>
          <p:cNvSpPr txBox="1"/>
          <p:nvPr/>
        </p:nvSpPr>
        <p:spPr>
          <a:xfrm>
            <a:off x="758952" y="1975104"/>
            <a:ext cx="5017008" cy="557784"/>
          </a:xfrm>
          <a:prstGeom prst="rect">
            <a:avLst/>
          </a:prstGeom>
          <a:noFill/>
          <a:ln/>
        </p:spPr>
        <p:txBody>
          <a:bodyPr wrap="square" lIns="0" tIns="0" rIns="0" bIns="0" rtlCol="0" anchor="t"/>
          <a:lstStyle/>
          <a:p>
            <a:pPr algn="l" indent="0" marL="0">
              <a:lnSpc>
                <a:spcPct val="104000"/>
              </a:lnSpc>
              <a:buNone/>
            </a:pPr>
            <a:r>
              <a:rPr lang="en-US" sz="1750" b="1" dirty="0">
                <a:solidFill>
                  <a:srgbClr val="71D5DD"/>
                </a:solidFill>
                <a:latin typeface="Arial" pitchFamily="34" charset="0"/>
                <a:ea typeface="Arial" pitchFamily="34" charset="-122"/>
                <a:cs typeface="Arial" pitchFamily="34" charset="-120"/>
              </a:rPr>
              <a:t>CALLER OBLIGATIONS</a:t>
            </a:r>
            <a:endParaRPr lang="en-US" sz="1750" dirty="0"/>
          </a:p>
        </p:txBody>
      </p:sp>
      <p:sp>
        <p:nvSpPr>
          <p:cNvPr id="9" name="Text 7"/>
          <p:cNvSpPr txBox="1"/>
          <p:nvPr/>
        </p:nvSpPr>
        <p:spPr>
          <a:xfrm>
            <a:off x="758952" y="2642616"/>
            <a:ext cx="5017008" cy="2267712"/>
          </a:xfrm>
          <a:prstGeom prst="rect">
            <a:avLst/>
          </a:prstGeom>
          <a:noFill/>
          <a:ln/>
        </p:spPr>
        <p:txBody>
          <a:bodyPr wrap="square" lIns="0" tIns="0" rIns="0" bIns="0" rtlCol="0" anchor="t"/>
          <a:lstStyle/>
          <a:p>
            <a:pPr algn="l" indent="0" marL="0">
              <a:lnSpc>
                <a:spcPct val="104000"/>
              </a:lnSpc>
              <a:buNone/>
            </a:pPr>
            <a:r>
              <a:rPr lang="en-US" sz="2300" dirty="0">
                <a:solidFill>
                  <a:srgbClr val="F4F7FB"/>
                </a:solidFill>
                <a:latin typeface="Arial" pitchFamily="34" charset="0"/>
                <a:ea typeface="Arial" pitchFamily="34" charset="-122"/>
                <a:cs typeface="Arial" pitchFamily="34" charset="-120"/>
              </a:rPr>
              <a:t>Supply valid inputs.</a:t>
            </a:r>
            <a:endParaRPr lang="en-US" sz="2300" dirty="0"/>
          </a:p>
          <a:p>
            <a:pPr algn="l" indent="0" marL="0">
              <a:lnSpc>
                <a:spcPct val="104000"/>
              </a:lnSpc>
              <a:buNone/>
            </a:pPr>
            <a:r>
              <a:rPr lang="en-US" sz="2300" dirty="0">
                <a:solidFill>
                  <a:srgbClr val="F4F7FB"/>
                </a:solidFill>
                <a:latin typeface="Arial" pitchFamily="34" charset="0"/>
                <a:ea typeface="Arial" pitchFamily="34" charset="-122"/>
                <a:cs typeface="Arial" pitchFamily="34" charset="-120"/>
              </a:rPr>
              <a:t>Respect lifetimes and ownership.</a:t>
            </a:r>
            <a:endParaRPr lang="en-US" sz="2300" dirty="0"/>
          </a:p>
          <a:p>
            <a:pPr algn="l" indent="0" marL="0">
              <a:lnSpc>
                <a:spcPct val="104000"/>
              </a:lnSpc>
              <a:buNone/>
            </a:pPr>
            <a:r>
              <a:rPr lang="en-US" sz="2300" dirty="0">
                <a:solidFill>
                  <a:srgbClr val="F4F7FB"/>
                </a:solidFill>
                <a:latin typeface="Arial" pitchFamily="34" charset="0"/>
                <a:ea typeface="Arial" pitchFamily="34" charset="-122"/>
                <a:cs typeface="Arial" pitchFamily="34" charset="-120"/>
              </a:rPr>
              <a:t>Observe stated preconditions.</a:t>
            </a:r>
            <a:endParaRPr lang="en-US" sz="2300" dirty="0"/>
          </a:p>
        </p:txBody>
      </p:sp>
      <p:sp>
        <p:nvSpPr>
          <p:cNvPr id="10" name="Shape 8"/>
          <p:cNvSpPr/>
          <p:nvPr/>
        </p:nvSpPr>
        <p:spPr>
          <a:xfrm>
            <a:off x="6196584" y="1764792"/>
            <a:ext cx="5446776" cy="3310128"/>
          </a:xfrm>
          <a:prstGeom prst="rect">
            <a:avLst/>
          </a:prstGeom>
          <a:solidFill>
            <a:srgbClr val="142238"/>
          </a:solidFill>
          <a:ln w="8890">
            <a:solidFill>
              <a:srgbClr val="2B415A"/>
            </a:solidFill>
            <a:prstDash val="solid"/>
          </a:ln>
        </p:spPr>
        <p:txBody>
          <a:bodyPr/>
          <a:p/>
        </p:txBody>
      </p:sp>
      <p:sp>
        <p:nvSpPr>
          <p:cNvPr id="11" name="Shape 9"/>
          <p:cNvSpPr/>
          <p:nvPr/>
        </p:nvSpPr>
        <p:spPr>
          <a:xfrm>
            <a:off x="6196584" y="1764792"/>
            <a:ext cx="41148" cy="3310128"/>
          </a:xfrm>
          <a:prstGeom prst="rect">
            <a:avLst/>
          </a:prstGeom>
          <a:solidFill>
            <a:srgbClr val="71D5DD"/>
          </a:solidFill>
          <a:ln w="8890">
            <a:solidFill>
              <a:srgbClr val="71D5DD"/>
            </a:solidFill>
            <a:prstDash val="solid"/>
          </a:ln>
        </p:spPr>
        <p:txBody>
          <a:bodyPr/>
          <a:p/>
        </p:txBody>
      </p:sp>
      <p:sp>
        <p:nvSpPr>
          <p:cNvPr id="12" name="Text 10"/>
          <p:cNvSpPr txBox="1"/>
          <p:nvPr/>
        </p:nvSpPr>
        <p:spPr>
          <a:xfrm>
            <a:off x="6406896" y="1975104"/>
            <a:ext cx="5017008" cy="557784"/>
          </a:xfrm>
          <a:prstGeom prst="rect">
            <a:avLst/>
          </a:prstGeom>
          <a:noFill/>
          <a:ln/>
        </p:spPr>
        <p:txBody>
          <a:bodyPr wrap="square" lIns="0" tIns="0" rIns="0" bIns="0" rtlCol="0" anchor="t"/>
          <a:lstStyle/>
          <a:p>
            <a:pPr algn="l" indent="0" marL="0">
              <a:lnSpc>
                <a:spcPct val="104000"/>
              </a:lnSpc>
              <a:buNone/>
            </a:pPr>
            <a:r>
              <a:rPr lang="en-US" sz="1750" b="1" dirty="0">
                <a:solidFill>
                  <a:srgbClr val="71D5DD"/>
                </a:solidFill>
                <a:latin typeface="Arial" pitchFamily="34" charset="0"/>
                <a:ea typeface="Arial" pitchFamily="34" charset="-122"/>
                <a:cs typeface="Arial" pitchFamily="34" charset="-120"/>
              </a:rPr>
              <a:t>CALLEE GUARANTEES</a:t>
            </a:r>
            <a:endParaRPr lang="en-US" sz="1750" dirty="0"/>
          </a:p>
        </p:txBody>
      </p:sp>
      <p:sp>
        <p:nvSpPr>
          <p:cNvPr id="13" name="Text 11"/>
          <p:cNvSpPr txBox="1"/>
          <p:nvPr/>
        </p:nvSpPr>
        <p:spPr>
          <a:xfrm>
            <a:off x="6406896" y="2642616"/>
            <a:ext cx="5017008" cy="2267712"/>
          </a:xfrm>
          <a:prstGeom prst="rect">
            <a:avLst/>
          </a:prstGeom>
          <a:noFill/>
          <a:ln/>
        </p:spPr>
        <p:txBody>
          <a:bodyPr wrap="square" lIns="0" tIns="0" rIns="0" bIns="0" rtlCol="0" anchor="t"/>
          <a:lstStyle/>
          <a:p>
            <a:pPr algn="l" indent="0" marL="0">
              <a:lnSpc>
                <a:spcPct val="104000"/>
              </a:lnSpc>
              <a:buNone/>
            </a:pPr>
            <a:r>
              <a:rPr lang="en-US" sz="2300" dirty="0">
                <a:solidFill>
                  <a:srgbClr val="F4F7FB"/>
                </a:solidFill>
                <a:latin typeface="Arial" pitchFamily="34" charset="0"/>
                <a:ea typeface="Arial" pitchFamily="34" charset="-122"/>
                <a:cs typeface="Arial" pitchFamily="34" charset="-120"/>
              </a:rPr>
              <a:t>Define permitted effects.</a:t>
            </a:r>
            <a:endParaRPr lang="en-US" sz="2300" dirty="0"/>
          </a:p>
          <a:p>
            <a:pPr algn="l" indent="0" marL="0">
              <a:lnSpc>
                <a:spcPct val="104000"/>
              </a:lnSpc>
              <a:buNone/>
            </a:pPr>
            <a:r>
              <a:rPr lang="en-US" sz="2300" dirty="0">
                <a:solidFill>
                  <a:srgbClr val="F4F7FB"/>
                </a:solidFill>
                <a:latin typeface="Arial" pitchFamily="34" charset="0"/>
                <a:ea typeface="Arial" pitchFamily="34" charset="-122"/>
                <a:cs typeface="Arial" pitchFamily="34" charset="-120"/>
              </a:rPr>
              <a:t>Specify successful results.</a:t>
            </a:r>
            <a:endParaRPr lang="en-US" sz="2300" dirty="0"/>
          </a:p>
          <a:p>
            <a:pPr algn="l" indent="0" marL="0">
              <a:lnSpc>
                <a:spcPct val="104000"/>
              </a:lnSpc>
              <a:buNone/>
            </a:pPr>
            <a:r>
              <a:rPr lang="en-US" sz="2300" dirty="0">
                <a:solidFill>
                  <a:srgbClr val="F4F7FB"/>
                </a:solidFill>
                <a:latin typeface="Arial" pitchFamily="34" charset="0"/>
                <a:ea typeface="Arial" pitchFamily="34" charset="-122"/>
                <a:cs typeface="Arial" pitchFamily="34" charset="-120"/>
              </a:rPr>
              <a:t>Explain failure and remaining state.</a:t>
            </a:r>
            <a:endParaRPr lang="en-US" sz="2300" dirty="0"/>
          </a:p>
        </p:txBody>
      </p:sp>
      <p:sp>
        <p:nvSpPr>
          <p:cNvPr id="14" name="Text 12"/>
          <p:cNvSpPr txBox="1"/>
          <p:nvPr/>
        </p:nvSpPr>
        <p:spPr>
          <a:xfrm>
            <a:off x="548640" y="5193792"/>
            <a:ext cx="11094720" cy="274320"/>
          </a:xfrm>
          <a:prstGeom prst="rect">
            <a:avLst/>
          </a:prstGeom>
          <a:noFill/>
          <a:ln/>
        </p:spPr>
        <p:txBody>
          <a:bodyPr wrap="square" lIns="0" tIns="0" rIns="0" bIns="0" rtlCol="0" anchor="t"/>
          <a:lstStyle/>
          <a:p>
            <a:pPr algn="l" indent="0" marL="0">
              <a:lnSpc>
                <a:spcPct val="104000"/>
              </a:lnSpc>
              <a:buNone/>
            </a:pPr>
            <a:r>
              <a:rPr lang="en-US" sz="1140" dirty="0">
                <a:solidFill>
                  <a:srgbClr val="B3C3D6"/>
                </a:solidFill>
                <a:latin typeface="Arial" pitchFamily="34" charset="0"/>
                <a:ea typeface="Arial" pitchFamily="34" charset="-122"/>
                <a:cs typeface="Arial" pitchFamily="34" charset="-120"/>
              </a:rPr>
              <a:t>A file descriptor hides a controller. A vector hides allocation choices. Neither removes the need for rules.</a:t>
            </a:r>
            <a:endParaRPr lang="en-US" sz="1140" dirty="0"/>
          </a:p>
        </p:txBody>
      </p:sp>
      <p:sp>
        <p:nvSpPr>
          <p:cNvPr id="19" name="Text 17"/>
          <p:cNvSpPr txBox="1"/>
          <p:nvPr/>
        </p:nvSpPr>
        <p:spPr>
          <a:xfrm>
            <a:off x="548640" y="6601968"/>
            <a:ext cx="10241280" cy="128016"/>
          </a:xfrm>
          <a:prstGeom prst="rect">
            <a:avLst/>
          </a:prstGeom>
          <a:noFill/>
          <a:ln/>
        </p:spPr>
        <p:txBody>
          <a:bodyPr wrap="square" lIns="0" tIns="0" rIns="0" bIns="0" rtlCol="0" anchor="t"/>
          <a:lstStyle/>
          <a:p>
            <a:pPr algn="l" indent="0" marL="0">
              <a:lnSpc>
                <a:spcPct val="104000"/>
              </a:lnSpc>
              <a:buNone/>
            </a:pPr>
            <a:r>
              <a:rPr lang="en-US" sz="830" dirty="0">
                <a:solidFill>
                  <a:srgbClr val="B3C3D6"/>
                </a:solidFill>
                <a:latin typeface="Arial" pitchFamily="34" charset="0"/>
                <a:ea typeface="Arial" pitchFamily="34" charset="-122"/>
                <a:cs typeface="Arial" pitchFamily="34" charset="-120"/>
              </a:rPr>
              <a:t>Source: original 5 • Graduate extension</a:t>
            </a:r>
            <a:endParaRPr lang="en-US" sz="830" dirty="0"/>
          </a:p>
        </p:txBody>
      </p:sp>
      <p:sp>
        <p:nvSpPr>
          <p:cNvPr id="20" name="Text 18"/>
          <p:cNvSpPr txBox="1"/>
          <p:nvPr/>
        </p:nvSpPr>
        <p:spPr>
          <a:xfrm>
            <a:off x="10917936" y="6565392"/>
            <a:ext cx="722376" cy="219456"/>
          </a:xfrm>
          <a:prstGeom prst="rect">
            <a:avLst/>
          </a:prstGeom>
          <a:noFill/>
          <a:ln/>
        </p:spPr>
        <p:txBody>
          <a:bodyPr wrap="square" lIns="0" tIns="0" rIns="0" bIns="0" rtlCol="0" anchor="t"/>
          <a:lstStyle/>
          <a:p>
            <a:pPr algn="r" indent="0" marL="0">
              <a:lnSpc>
                <a:spcPct val="104000"/>
              </a:lnSpc>
              <a:buNone/>
            </a:pPr>
            <a:r>
              <a:rPr lang="en-US" sz="1050" dirty="0">
                <a:solidFill>
                  <a:srgbClr val="B3C3D6"/>
                </a:solidFill>
                <a:latin typeface="Arial" pitchFamily="34" charset="0"/>
                <a:ea typeface="Arial" pitchFamily="34" charset="-122"/>
                <a:cs typeface="Arial" pitchFamily="34" charset="-120"/>
              </a:rPr>
              <a:t>08 / 64</a:t>
            </a:r>
            <a:endParaRPr lang="en-US" sz="1050" dirty="0"/>
          </a:p>
        </p:txBody>
      </p:sp>
      <p:sp>
        <p:nvSpPr>
          <p:cNvPr id="21" name="Shape 19"/>
          <p:cNvSpPr/>
          <p:nvPr/>
        </p:nvSpPr>
        <p:spPr>
          <a:xfrm>
            <a:off x="0" y="6834226"/>
            <a:ext cx="12192000" cy="23774"/>
          </a:xfrm>
          <a:prstGeom prst="rect">
            <a:avLst/>
          </a:prstGeom>
          <a:solidFill>
            <a:srgbClr val="2B415A"/>
          </a:solidFill>
          <a:ln w="8890">
            <a:solidFill>
              <a:srgbClr val="2B415A"/>
            </a:solidFill>
            <a:prstDash val="solid"/>
          </a:ln>
        </p:spPr>
        <p:txBody>
          <a:bodyPr/>
          <a:p/>
        </p:txBody>
      </p:sp>
      <p:sp>
        <p:nvSpPr>
          <p:cNvPr id="22" name="Shape 20"/>
          <p:cNvSpPr/>
          <p:nvPr/>
        </p:nvSpPr>
        <p:spPr>
          <a:xfrm>
            <a:off x="0" y="6834226"/>
            <a:ext cx="1524000" cy="23774"/>
          </a:xfrm>
          <a:prstGeom prst="rect">
            <a:avLst/>
          </a:prstGeom>
          <a:solidFill>
            <a:srgbClr val="71D5DD"/>
          </a:solidFill>
          <a:ln w="8890">
            <a:solidFill>
              <a:srgbClr val="71D5DD"/>
            </a:solidFill>
            <a:prstDash val="solid"/>
          </a:ln>
        </p:spPr>
        <p:txBody>
          <a:body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219456"/>
            <a:ext cx="9875520" cy="192024"/>
          </a:xfrm>
          <a:prstGeom prst="rect">
            <a:avLst/>
          </a:prstGeom>
          <a:noFill/>
          <a:ln/>
        </p:spPr>
        <p:txBody>
          <a:bodyPr wrap="square" lIns="0" tIns="0" rIns="0" bIns="0" rtlCol="0" anchor="t"/>
          <a:lstStyle/>
          <a:p>
            <a:pPr algn="l" indent="0" marL="0">
              <a:lnSpc>
                <a:spcPct val="104000"/>
              </a:lnSpc>
              <a:buNone/>
            </a:pPr>
            <a:r>
              <a:rPr lang="en-US" sz="970" b="1" spc="135" kern="0" dirty="0">
                <a:solidFill>
                  <a:srgbClr val="B3C3D6"/>
                </a:solidFill>
                <a:latin typeface="Arial" pitchFamily="34" charset="0"/>
                <a:ea typeface="Arial" pitchFamily="34" charset="-122"/>
                <a:cs typeface="Arial" pitchFamily="34" charset="-120"/>
              </a:rPr>
              <a:t>SYSTEMS PROGRAMMING AND MACHINE ORGANIZATION</a:t>
            </a:r>
            <a:endParaRPr lang="en-US" sz="970" dirty="0"/>
          </a:p>
        </p:txBody>
      </p:sp>
      <p:sp>
        <p:nvSpPr>
          <p:cNvPr id="3" name="Text 1"/>
          <p:cNvSpPr txBox="1"/>
          <p:nvPr/>
        </p:nvSpPr>
        <p:spPr>
          <a:xfrm>
            <a:off x="9601200" y="219456"/>
            <a:ext cx="2039112" cy="192024"/>
          </a:xfrm>
          <a:prstGeom prst="rect">
            <a:avLst/>
          </a:prstGeom>
          <a:noFill/>
          <a:ln/>
        </p:spPr>
        <p:txBody>
          <a:bodyPr wrap="square" lIns="0" tIns="0" rIns="0" bIns="0" rtlCol="0" anchor="t"/>
          <a:lstStyle/>
          <a:p>
            <a:pPr algn="r" indent="0" marL="0">
              <a:lnSpc>
                <a:spcPct val="104000"/>
              </a:lnSpc>
              <a:buNone/>
            </a:pPr>
            <a:r>
              <a:rPr lang="en-US" sz="970" b="1" dirty="0">
                <a:solidFill>
                  <a:srgbClr val="B3C3D6"/>
                </a:solidFill>
                <a:latin typeface="Arial" pitchFamily="34" charset="0"/>
                <a:ea typeface="Arial" pitchFamily="34" charset="-122"/>
                <a:cs typeface="Arial" pitchFamily="34" charset="-120"/>
              </a:rPr>
              <a:t>CHARLES DORNER</a:t>
            </a:r>
            <a:endParaRPr lang="en-US" sz="970" dirty="0"/>
          </a:p>
        </p:txBody>
      </p:sp>
      <p:sp>
        <p:nvSpPr>
          <p:cNvPr id="4" name="Text 2"/>
          <p:cNvSpPr txBox="1"/>
          <p:nvPr/>
        </p:nvSpPr>
        <p:spPr>
          <a:xfrm>
            <a:off x="548640" y="566928"/>
            <a:ext cx="11109960" cy="237744"/>
          </a:xfrm>
          <a:prstGeom prst="rect">
            <a:avLst/>
          </a:prstGeom>
          <a:noFill/>
          <a:ln/>
        </p:spPr>
        <p:txBody>
          <a:bodyPr wrap="square" lIns="0" tIns="0" rIns="0" bIns="0" rtlCol="0" anchor="t"/>
          <a:lstStyle/>
          <a:p>
            <a:pPr algn="l" indent="0" marL="0">
              <a:lnSpc>
                <a:spcPct val="104000"/>
              </a:lnSpc>
              <a:buNone/>
            </a:pPr>
            <a:r>
              <a:rPr lang="en-US" sz="1150" b="1" dirty="0">
                <a:solidFill>
                  <a:srgbClr val="71D5DD"/>
                </a:solidFill>
                <a:latin typeface="Arial" pitchFamily="34" charset="0"/>
                <a:ea typeface="Arial" pitchFamily="34" charset="-122"/>
                <a:cs typeface="Arial" pitchFamily="34" charset="-120"/>
              </a:rPr>
              <a:t>1.1.4 · DO NOT INVENT GUARANTEES</a:t>
            </a:r>
            <a:endParaRPr lang="en-US" sz="1150" dirty="0"/>
          </a:p>
        </p:txBody>
      </p:sp>
      <p:sp>
        <p:nvSpPr>
          <p:cNvPr id="5" name="Text 3"/>
          <p:cNvSpPr txBox="1"/>
          <p:nvPr/>
        </p:nvSpPr>
        <p:spPr>
          <a:xfrm>
            <a:off x="548640" y="941832"/>
            <a:ext cx="11091672" cy="676656"/>
          </a:xfrm>
          <a:prstGeom prst="rect">
            <a:avLst/>
          </a:prstGeom>
          <a:noFill/>
          <a:ln/>
        </p:spPr>
        <p:txBody>
          <a:bodyPr wrap="square" lIns="0" tIns="0" rIns="0" bIns="0" rtlCol="0" anchor="t"/>
          <a:lstStyle/>
          <a:p>
            <a:pPr algn="l" indent="0" marL="0">
              <a:lnSpc>
                <a:spcPct val="104000"/>
              </a:lnSpc>
              <a:buNone/>
            </a:pPr>
            <a:r>
              <a:rPr lang="en-US" sz="3150" b="1" dirty="0">
                <a:solidFill>
                  <a:srgbClr val="F4F7FB"/>
                </a:solidFill>
                <a:latin typeface="Arial" pitchFamily="34" charset="0"/>
                <a:ea typeface="Arial" pitchFamily="34" charset="-122"/>
                <a:cs typeface="Arial" pitchFamily="34" charset="-120"/>
              </a:rPr>
              <a:t>Guaranteed, customary, or measured?</a:t>
            </a:r>
            <a:endParaRPr lang="en-US" sz="3150" dirty="0"/>
          </a:p>
        </p:txBody>
      </p:sp>
      <p:sp>
        <p:nvSpPr>
          <p:cNvPr id="6" name="Shape 4"/>
          <p:cNvSpPr/>
          <p:nvPr/>
        </p:nvSpPr>
        <p:spPr>
          <a:xfrm>
            <a:off x="548640" y="1764792"/>
            <a:ext cx="3564128" cy="3310128"/>
          </a:xfrm>
          <a:prstGeom prst="rect">
            <a:avLst/>
          </a:prstGeom>
          <a:solidFill>
            <a:srgbClr val="142238"/>
          </a:solidFill>
          <a:ln w="8890">
            <a:solidFill>
              <a:srgbClr val="2B415A"/>
            </a:solidFill>
            <a:prstDash val="solid"/>
          </a:ln>
        </p:spPr>
        <p:txBody>
          <a:bodyPr/>
          <a:p/>
        </p:txBody>
      </p:sp>
      <p:sp>
        <p:nvSpPr>
          <p:cNvPr id="7" name="Shape 5"/>
          <p:cNvSpPr/>
          <p:nvPr/>
        </p:nvSpPr>
        <p:spPr>
          <a:xfrm>
            <a:off x="548640" y="1764792"/>
            <a:ext cx="41148" cy="3310128"/>
          </a:xfrm>
          <a:prstGeom prst="rect">
            <a:avLst/>
          </a:prstGeom>
          <a:solidFill>
            <a:srgbClr val="71D5DD"/>
          </a:solidFill>
          <a:ln w="8890">
            <a:solidFill>
              <a:srgbClr val="71D5DD"/>
            </a:solidFill>
            <a:prstDash val="solid"/>
          </a:ln>
        </p:spPr>
        <p:txBody>
          <a:bodyPr/>
          <a:p/>
        </p:txBody>
      </p:sp>
      <p:sp>
        <p:nvSpPr>
          <p:cNvPr id="8" name="Text 6"/>
          <p:cNvSpPr txBox="1"/>
          <p:nvPr/>
        </p:nvSpPr>
        <p:spPr>
          <a:xfrm>
            <a:off x="758952" y="1975104"/>
            <a:ext cx="3134360" cy="557784"/>
          </a:xfrm>
          <a:prstGeom prst="rect">
            <a:avLst/>
          </a:prstGeom>
          <a:noFill/>
          <a:ln/>
        </p:spPr>
        <p:txBody>
          <a:bodyPr wrap="square" lIns="0" tIns="0" rIns="0" bIns="0" rtlCol="0" anchor="t"/>
          <a:lstStyle/>
          <a:p>
            <a:pPr algn="l" indent="0" marL="0">
              <a:lnSpc>
                <a:spcPct val="104000"/>
              </a:lnSpc>
              <a:buNone/>
            </a:pPr>
            <a:r>
              <a:rPr lang="en-US" sz="1750" b="1" dirty="0">
                <a:solidFill>
                  <a:srgbClr val="71D5DD"/>
                </a:solidFill>
                <a:latin typeface="Arial" pitchFamily="34" charset="0"/>
                <a:ea typeface="Arial" pitchFamily="34" charset="-122"/>
                <a:cs typeface="Arial" pitchFamily="34" charset="-120"/>
              </a:rPr>
              <a:t>GUARANTEED</a:t>
            </a:r>
            <a:endParaRPr lang="en-US" sz="1750" dirty="0"/>
          </a:p>
        </p:txBody>
      </p:sp>
      <p:sp>
        <p:nvSpPr>
          <p:cNvPr id="9" name="Text 7"/>
          <p:cNvSpPr txBox="1"/>
          <p:nvPr/>
        </p:nvSpPr>
        <p:spPr>
          <a:xfrm>
            <a:off x="758952" y="2642616"/>
            <a:ext cx="3134360" cy="2267712"/>
          </a:xfrm>
          <a:prstGeom prst="rect">
            <a:avLst/>
          </a:prstGeom>
          <a:noFill/>
          <a:ln/>
        </p:spPr>
        <p:txBody>
          <a:bodyPr wrap="square" lIns="0" tIns="0" rIns="0" bIns="0" rtlCol="0" anchor="t"/>
          <a:lstStyle/>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A documented condition</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or result the interface</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commits to.</a:t>
            </a:r>
            <a:endParaRPr lang="en-US" sz="2200" dirty="0"/>
          </a:p>
        </p:txBody>
      </p:sp>
      <p:sp>
        <p:nvSpPr>
          <p:cNvPr id="10" name="Shape 8"/>
          <p:cNvSpPr/>
          <p:nvPr/>
        </p:nvSpPr>
        <p:spPr>
          <a:xfrm>
            <a:off x="4313936" y="1764792"/>
            <a:ext cx="3564128" cy="3310128"/>
          </a:xfrm>
          <a:prstGeom prst="rect">
            <a:avLst/>
          </a:prstGeom>
          <a:solidFill>
            <a:srgbClr val="142238"/>
          </a:solidFill>
          <a:ln w="8890">
            <a:solidFill>
              <a:srgbClr val="2B415A"/>
            </a:solidFill>
            <a:prstDash val="solid"/>
          </a:ln>
        </p:spPr>
        <p:txBody>
          <a:bodyPr/>
          <a:p/>
        </p:txBody>
      </p:sp>
      <p:sp>
        <p:nvSpPr>
          <p:cNvPr id="11" name="Shape 9"/>
          <p:cNvSpPr/>
          <p:nvPr/>
        </p:nvSpPr>
        <p:spPr>
          <a:xfrm>
            <a:off x="4313936" y="1764792"/>
            <a:ext cx="41148" cy="3310128"/>
          </a:xfrm>
          <a:prstGeom prst="rect">
            <a:avLst/>
          </a:prstGeom>
          <a:solidFill>
            <a:srgbClr val="71D5DD"/>
          </a:solidFill>
          <a:ln w="8890">
            <a:solidFill>
              <a:srgbClr val="71D5DD"/>
            </a:solidFill>
            <a:prstDash val="solid"/>
          </a:ln>
        </p:spPr>
        <p:txBody>
          <a:bodyPr/>
          <a:p/>
        </p:txBody>
      </p:sp>
      <p:sp>
        <p:nvSpPr>
          <p:cNvPr id="12" name="Text 10"/>
          <p:cNvSpPr txBox="1"/>
          <p:nvPr/>
        </p:nvSpPr>
        <p:spPr>
          <a:xfrm>
            <a:off x="4524248" y="1975104"/>
            <a:ext cx="3134360" cy="557784"/>
          </a:xfrm>
          <a:prstGeom prst="rect">
            <a:avLst/>
          </a:prstGeom>
          <a:noFill/>
          <a:ln/>
        </p:spPr>
        <p:txBody>
          <a:bodyPr wrap="square" lIns="0" tIns="0" rIns="0" bIns="0" rtlCol="0" anchor="t"/>
          <a:lstStyle/>
          <a:p>
            <a:pPr algn="l" indent="0" marL="0">
              <a:lnSpc>
                <a:spcPct val="104000"/>
              </a:lnSpc>
              <a:buNone/>
            </a:pPr>
            <a:r>
              <a:rPr lang="en-US" sz="1750" b="1" dirty="0">
                <a:solidFill>
                  <a:srgbClr val="71D5DD"/>
                </a:solidFill>
                <a:latin typeface="Arial" pitchFamily="34" charset="0"/>
                <a:ea typeface="Arial" pitchFamily="34" charset="-122"/>
                <a:cs typeface="Arial" pitchFamily="34" charset="-120"/>
              </a:rPr>
              <a:t>CUSTOMARY</a:t>
            </a:r>
            <a:endParaRPr lang="en-US" sz="1750" dirty="0"/>
          </a:p>
        </p:txBody>
      </p:sp>
      <p:sp>
        <p:nvSpPr>
          <p:cNvPr id="13" name="Text 11"/>
          <p:cNvSpPr txBox="1"/>
          <p:nvPr/>
        </p:nvSpPr>
        <p:spPr>
          <a:xfrm>
            <a:off x="4524248" y="2642616"/>
            <a:ext cx="3134360" cy="2267712"/>
          </a:xfrm>
          <a:prstGeom prst="rect">
            <a:avLst/>
          </a:prstGeom>
          <a:noFill/>
          <a:ln/>
        </p:spPr>
        <p:txBody>
          <a:bodyPr wrap="square" lIns="0" tIns="0" rIns="0" bIns="0" rtlCol="0" anchor="t"/>
          <a:lstStyle/>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A common</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implementation choice</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that may be changed.</a:t>
            </a:r>
            <a:endParaRPr lang="en-US" sz="2200" dirty="0"/>
          </a:p>
        </p:txBody>
      </p:sp>
      <p:sp>
        <p:nvSpPr>
          <p:cNvPr id="14" name="Shape 12"/>
          <p:cNvSpPr/>
          <p:nvPr/>
        </p:nvSpPr>
        <p:spPr>
          <a:xfrm>
            <a:off x="8079232" y="1764792"/>
            <a:ext cx="3564128" cy="3310128"/>
          </a:xfrm>
          <a:prstGeom prst="rect">
            <a:avLst/>
          </a:prstGeom>
          <a:solidFill>
            <a:srgbClr val="142238"/>
          </a:solidFill>
          <a:ln w="8890">
            <a:solidFill>
              <a:srgbClr val="2B415A"/>
            </a:solidFill>
            <a:prstDash val="solid"/>
          </a:ln>
        </p:spPr>
        <p:txBody>
          <a:bodyPr/>
          <a:p/>
        </p:txBody>
      </p:sp>
      <p:sp>
        <p:nvSpPr>
          <p:cNvPr id="15" name="Shape 13"/>
          <p:cNvSpPr/>
          <p:nvPr/>
        </p:nvSpPr>
        <p:spPr>
          <a:xfrm>
            <a:off x="8079232" y="1764792"/>
            <a:ext cx="41148" cy="3310128"/>
          </a:xfrm>
          <a:prstGeom prst="rect">
            <a:avLst/>
          </a:prstGeom>
          <a:solidFill>
            <a:srgbClr val="71D5DD"/>
          </a:solidFill>
          <a:ln w="8890">
            <a:solidFill>
              <a:srgbClr val="71D5DD"/>
            </a:solidFill>
            <a:prstDash val="solid"/>
          </a:ln>
        </p:spPr>
        <p:txBody>
          <a:bodyPr/>
          <a:p/>
        </p:txBody>
      </p:sp>
      <p:sp>
        <p:nvSpPr>
          <p:cNvPr id="16" name="Text 14"/>
          <p:cNvSpPr txBox="1"/>
          <p:nvPr/>
        </p:nvSpPr>
        <p:spPr>
          <a:xfrm>
            <a:off x="8289544" y="1975104"/>
            <a:ext cx="3134360" cy="557784"/>
          </a:xfrm>
          <a:prstGeom prst="rect">
            <a:avLst/>
          </a:prstGeom>
          <a:noFill/>
          <a:ln/>
        </p:spPr>
        <p:txBody>
          <a:bodyPr wrap="square" lIns="0" tIns="0" rIns="0" bIns="0" rtlCol="0" anchor="t"/>
          <a:lstStyle/>
          <a:p>
            <a:pPr algn="l" indent="0" marL="0">
              <a:lnSpc>
                <a:spcPct val="104000"/>
              </a:lnSpc>
              <a:buNone/>
            </a:pPr>
            <a:r>
              <a:rPr lang="en-US" sz="1750" b="1" dirty="0">
                <a:solidFill>
                  <a:srgbClr val="71D5DD"/>
                </a:solidFill>
                <a:latin typeface="Arial" pitchFamily="34" charset="0"/>
                <a:ea typeface="Arial" pitchFamily="34" charset="-122"/>
                <a:cs typeface="Arial" pitchFamily="34" charset="-120"/>
              </a:rPr>
              <a:t>MEASURED</a:t>
            </a:r>
            <a:endParaRPr lang="en-US" sz="1750" dirty="0"/>
          </a:p>
        </p:txBody>
      </p:sp>
      <p:sp>
        <p:nvSpPr>
          <p:cNvPr id="17" name="Text 15"/>
          <p:cNvSpPr txBox="1"/>
          <p:nvPr/>
        </p:nvSpPr>
        <p:spPr>
          <a:xfrm>
            <a:off x="8289544" y="2642616"/>
            <a:ext cx="3134360" cy="2267712"/>
          </a:xfrm>
          <a:prstGeom prst="rect">
            <a:avLst/>
          </a:prstGeom>
          <a:noFill/>
          <a:ln/>
        </p:spPr>
        <p:txBody>
          <a:bodyPr wrap="square" lIns="0" tIns="0" rIns="0" bIns="0" rtlCol="0" anchor="t"/>
          <a:lstStyle/>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An observation under a</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particular input, build,</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and environment.</a:t>
            </a:r>
            <a:endParaRPr lang="en-US" sz="2200" dirty="0"/>
          </a:p>
        </p:txBody>
      </p:sp>
      <p:sp>
        <p:nvSpPr>
          <p:cNvPr id="18" name="Text 16"/>
          <p:cNvSpPr txBox="1"/>
          <p:nvPr/>
        </p:nvSpPr>
        <p:spPr>
          <a:xfrm>
            <a:off x="548640" y="5193792"/>
            <a:ext cx="11094720" cy="274320"/>
          </a:xfrm>
          <a:prstGeom prst="rect">
            <a:avLst/>
          </a:prstGeom>
          <a:noFill/>
          <a:ln/>
        </p:spPr>
        <p:txBody>
          <a:bodyPr wrap="square" lIns="0" tIns="0" rIns="0" bIns="0" rtlCol="0" anchor="t"/>
          <a:lstStyle/>
          <a:p>
            <a:pPr algn="l" indent="0" marL="0">
              <a:lnSpc>
                <a:spcPct val="104000"/>
              </a:lnSpc>
              <a:buNone/>
            </a:pPr>
            <a:r>
              <a:rPr lang="en-US" sz="1140" dirty="0">
                <a:solidFill>
                  <a:srgbClr val="B3C3D6"/>
                </a:solidFill>
                <a:latin typeface="Arial" pitchFamily="34" charset="0"/>
                <a:ea typeface="Arial" pitchFamily="34" charset="-122"/>
                <a:cs typeface="Arial" pitchFamily="34" charset="-120"/>
              </a:rPr>
              <a:t>Exercise: “the write returned quickly” is evidence of this run—not a durability guarantee.</a:t>
            </a:r>
            <a:endParaRPr lang="en-US" sz="1140" dirty="0"/>
          </a:p>
        </p:txBody>
      </p:sp>
      <p:sp>
        <p:nvSpPr>
          <p:cNvPr id="23" name="Text 21"/>
          <p:cNvSpPr txBox="1"/>
          <p:nvPr/>
        </p:nvSpPr>
        <p:spPr>
          <a:xfrm>
            <a:off x="548640" y="6601968"/>
            <a:ext cx="10241280" cy="128016"/>
          </a:xfrm>
          <a:prstGeom prst="rect">
            <a:avLst/>
          </a:prstGeom>
          <a:noFill/>
          <a:ln/>
        </p:spPr>
        <p:txBody>
          <a:bodyPr wrap="square" lIns="0" tIns="0" rIns="0" bIns="0" rtlCol="0" anchor="t"/>
          <a:lstStyle/>
          <a:p>
            <a:pPr algn="l" indent="0" marL="0">
              <a:lnSpc>
                <a:spcPct val="104000"/>
              </a:lnSpc>
              <a:buNone/>
            </a:pPr>
            <a:r>
              <a:rPr lang="en-US" sz="830" dirty="0">
                <a:solidFill>
                  <a:srgbClr val="B3C3D6"/>
                </a:solidFill>
                <a:latin typeface="Arial" pitchFamily="34" charset="0"/>
                <a:ea typeface="Arial" pitchFamily="34" charset="-122"/>
                <a:cs typeface="Arial" pitchFamily="34" charset="-120"/>
              </a:rPr>
              <a:t>Source: original 5, 15, 19 • [W]</a:t>
            </a:r>
            <a:endParaRPr lang="en-US" sz="830" dirty="0"/>
          </a:p>
        </p:txBody>
      </p:sp>
      <p:sp>
        <p:nvSpPr>
          <p:cNvPr id="24" name="Text 22"/>
          <p:cNvSpPr txBox="1"/>
          <p:nvPr/>
        </p:nvSpPr>
        <p:spPr>
          <a:xfrm>
            <a:off x="10917936" y="6565392"/>
            <a:ext cx="722376" cy="219456"/>
          </a:xfrm>
          <a:prstGeom prst="rect">
            <a:avLst/>
          </a:prstGeom>
          <a:noFill/>
          <a:ln/>
        </p:spPr>
        <p:txBody>
          <a:bodyPr wrap="square" lIns="0" tIns="0" rIns="0" bIns="0" rtlCol="0" anchor="t"/>
          <a:lstStyle/>
          <a:p>
            <a:pPr algn="r" indent="0" marL="0">
              <a:lnSpc>
                <a:spcPct val="104000"/>
              </a:lnSpc>
              <a:buNone/>
            </a:pPr>
            <a:r>
              <a:rPr lang="en-US" sz="1050" dirty="0">
                <a:solidFill>
                  <a:srgbClr val="B3C3D6"/>
                </a:solidFill>
                <a:latin typeface="Arial" pitchFamily="34" charset="0"/>
                <a:ea typeface="Arial" pitchFamily="34" charset="-122"/>
                <a:cs typeface="Arial" pitchFamily="34" charset="-120"/>
              </a:rPr>
              <a:t>09 / 64</a:t>
            </a:r>
            <a:endParaRPr lang="en-US" sz="1050" dirty="0"/>
          </a:p>
        </p:txBody>
      </p:sp>
      <p:sp>
        <p:nvSpPr>
          <p:cNvPr id="25" name="Shape 23"/>
          <p:cNvSpPr/>
          <p:nvPr/>
        </p:nvSpPr>
        <p:spPr>
          <a:xfrm>
            <a:off x="0" y="6834226"/>
            <a:ext cx="12192000" cy="23774"/>
          </a:xfrm>
          <a:prstGeom prst="rect">
            <a:avLst/>
          </a:prstGeom>
          <a:solidFill>
            <a:srgbClr val="2B415A"/>
          </a:solidFill>
          <a:ln w="8890">
            <a:solidFill>
              <a:srgbClr val="2B415A"/>
            </a:solidFill>
            <a:prstDash val="solid"/>
          </a:ln>
        </p:spPr>
        <p:txBody>
          <a:bodyPr/>
          <a:p/>
        </p:txBody>
      </p:sp>
      <p:sp>
        <p:nvSpPr>
          <p:cNvPr id="26" name="Shape 24"/>
          <p:cNvSpPr/>
          <p:nvPr/>
        </p:nvSpPr>
        <p:spPr>
          <a:xfrm>
            <a:off x="0" y="6834226"/>
            <a:ext cx="1714500" cy="23774"/>
          </a:xfrm>
          <a:prstGeom prst="rect">
            <a:avLst/>
          </a:prstGeom>
          <a:solidFill>
            <a:srgbClr val="71D5DD"/>
          </a:solidFill>
          <a:ln w="8890">
            <a:solidFill>
              <a:srgbClr val="71D5DD"/>
            </a:solidFill>
            <a:prstDash val="solid"/>
          </a:ln>
        </p:spPr>
        <p:txBody>
          <a:body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219456"/>
            <a:ext cx="9875520" cy="192024"/>
          </a:xfrm>
          <a:prstGeom prst="rect">
            <a:avLst/>
          </a:prstGeom>
          <a:noFill/>
          <a:ln/>
        </p:spPr>
        <p:txBody>
          <a:bodyPr wrap="square" lIns="0" tIns="0" rIns="0" bIns="0" rtlCol="0" anchor="t"/>
          <a:lstStyle/>
          <a:p>
            <a:pPr algn="l" indent="0" marL="0">
              <a:lnSpc>
                <a:spcPct val="104000"/>
              </a:lnSpc>
              <a:buNone/>
            </a:pPr>
            <a:r>
              <a:rPr lang="en-US" sz="970" b="1" spc="135" kern="0" dirty="0">
                <a:solidFill>
                  <a:srgbClr val="B3C3D6"/>
                </a:solidFill>
                <a:latin typeface="Arial" pitchFamily="34" charset="0"/>
                <a:ea typeface="Arial" pitchFamily="34" charset="-122"/>
                <a:cs typeface="Arial" pitchFamily="34" charset="-120"/>
              </a:rPr>
              <a:t>SYSTEMS PROGRAMMING AND MACHINE ORGANIZATION</a:t>
            </a:r>
            <a:endParaRPr lang="en-US" sz="970" dirty="0"/>
          </a:p>
        </p:txBody>
      </p:sp>
      <p:sp>
        <p:nvSpPr>
          <p:cNvPr id="3" name="Text 1"/>
          <p:cNvSpPr txBox="1"/>
          <p:nvPr/>
        </p:nvSpPr>
        <p:spPr>
          <a:xfrm>
            <a:off x="9601200" y="219456"/>
            <a:ext cx="2039112" cy="192024"/>
          </a:xfrm>
          <a:prstGeom prst="rect">
            <a:avLst/>
          </a:prstGeom>
          <a:noFill/>
          <a:ln/>
        </p:spPr>
        <p:txBody>
          <a:bodyPr wrap="square" lIns="0" tIns="0" rIns="0" bIns="0" rtlCol="0" anchor="t"/>
          <a:lstStyle/>
          <a:p>
            <a:pPr algn="r" indent="0" marL="0">
              <a:lnSpc>
                <a:spcPct val="104000"/>
              </a:lnSpc>
              <a:buNone/>
            </a:pPr>
            <a:r>
              <a:rPr lang="en-US" sz="970" b="1" dirty="0">
                <a:solidFill>
                  <a:srgbClr val="B3C3D6"/>
                </a:solidFill>
                <a:latin typeface="Arial" pitchFamily="34" charset="0"/>
                <a:ea typeface="Arial" pitchFamily="34" charset="-122"/>
                <a:cs typeface="Arial" pitchFamily="34" charset="-120"/>
              </a:rPr>
              <a:t>CHARLES DORNER</a:t>
            </a:r>
            <a:endParaRPr lang="en-US" sz="970" dirty="0"/>
          </a:p>
        </p:txBody>
      </p:sp>
      <p:sp>
        <p:nvSpPr>
          <p:cNvPr id="4" name="Text 2"/>
          <p:cNvSpPr txBox="1"/>
          <p:nvPr/>
        </p:nvSpPr>
        <p:spPr>
          <a:xfrm>
            <a:off x="548640" y="566928"/>
            <a:ext cx="11109960" cy="237744"/>
          </a:xfrm>
          <a:prstGeom prst="rect">
            <a:avLst/>
          </a:prstGeom>
          <a:noFill/>
          <a:ln/>
        </p:spPr>
        <p:txBody>
          <a:bodyPr wrap="square" lIns="0" tIns="0" rIns="0" bIns="0" rtlCol="0" anchor="t"/>
          <a:lstStyle/>
          <a:p>
            <a:pPr algn="l" indent="0" marL="0">
              <a:lnSpc>
                <a:spcPct val="104000"/>
              </a:lnSpc>
              <a:buNone/>
            </a:pPr>
            <a:r>
              <a:rPr lang="en-US" sz="1150" b="1" dirty="0">
                <a:solidFill>
                  <a:srgbClr val="71D5DD"/>
                </a:solidFill>
                <a:latin typeface="Arial" pitchFamily="34" charset="0"/>
                <a:ea typeface="Arial" pitchFamily="34" charset="-122"/>
                <a:cs typeface="Arial" pitchFamily="34" charset="-120"/>
              </a:rPr>
              <a:t>1.1.5 · HARDWARE / SOFTWARE INTERFACES</a:t>
            </a:r>
            <a:endParaRPr lang="en-US" sz="1150" dirty="0"/>
          </a:p>
        </p:txBody>
      </p:sp>
      <p:sp>
        <p:nvSpPr>
          <p:cNvPr id="5" name="Text 3"/>
          <p:cNvSpPr txBox="1"/>
          <p:nvPr/>
        </p:nvSpPr>
        <p:spPr>
          <a:xfrm>
            <a:off x="548640" y="941832"/>
            <a:ext cx="11091672" cy="676656"/>
          </a:xfrm>
          <a:prstGeom prst="rect">
            <a:avLst/>
          </a:prstGeom>
          <a:noFill/>
          <a:ln/>
        </p:spPr>
        <p:txBody>
          <a:bodyPr wrap="square" lIns="0" tIns="0" rIns="0" bIns="0" rtlCol="0" anchor="t"/>
          <a:lstStyle/>
          <a:p>
            <a:pPr algn="l" indent="0" marL="0">
              <a:lnSpc>
                <a:spcPct val="104000"/>
              </a:lnSpc>
              <a:buNone/>
            </a:pPr>
            <a:r>
              <a:rPr lang="en-US" sz="3150" b="1" dirty="0">
                <a:solidFill>
                  <a:srgbClr val="F4F7FB"/>
                </a:solidFill>
                <a:latin typeface="Arial" pitchFamily="34" charset="0"/>
                <a:ea typeface="Arial" pitchFamily="34" charset="-122"/>
                <a:cs typeface="Arial" pitchFamily="34" charset="-120"/>
              </a:rPr>
              <a:t>API, ABI, and ISA answer different questions</a:t>
            </a:r>
            <a:endParaRPr lang="en-US" sz="3150" dirty="0"/>
          </a:p>
        </p:txBody>
      </p:sp>
      <p:sp>
        <p:nvSpPr>
          <p:cNvPr id="6" name="Shape 4"/>
          <p:cNvSpPr/>
          <p:nvPr/>
        </p:nvSpPr>
        <p:spPr>
          <a:xfrm>
            <a:off x="548640" y="1764792"/>
            <a:ext cx="3564128" cy="3310128"/>
          </a:xfrm>
          <a:prstGeom prst="rect">
            <a:avLst/>
          </a:prstGeom>
          <a:solidFill>
            <a:srgbClr val="142238"/>
          </a:solidFill>
          <a:ln w="8890">
            <a:solidFill>
              <a:srgbClr val="2B415A"/>
            </a:solidFill>
            <a:prstDash val="solid"/>
          </a:ln>
        </p:spPr>
        <p:txBody>
          <a:bodyPr/>
          <a:p/>
        </p:txBody>
      </p:sp>
      <p:sp>
        <p:nvSpPr>
          <p:cNvPr id="7" name="Shape 5"/>
          <p:cNvSpPr/>
          <p:nvPr/>
        </p:nvSpPr>
        <p:spPr>
          <a:xfrm>
            <a:off x="548640" y="1764792"/>
            <a:ext cx="41148" cy="3310128"/>
          </a:xfrm>
          <a:prstGeom prst="rect">
            <a:avLst/>
          </a:prstGeom>
          <a:solidFill>
            <a:srgbClr val="71D5DD"/>
          </a:solidFill>
          <a:ln w="8890">
            <a:solidFill>
              <a:srgbClr val="71D5DD"/>
            </a:solidFill>
            <a:prstDash val="solid"/>
          </a:ln>
        </p:spPr>
        <p:txBody>
          <a:bodyPr/>
          <a:p/>
        </p:txBody>
      </p:sp>
      <p:sp>
        <p:nvSpPr>
          <p:cNvPr id="8" name="Text 6"/>
          <p:cNvSpPr txBox="1"/>
          <p:nvPr/>
        </p:nvSpPr>
        <p:spPr>
          <a:xfrm>
            <a:off x="758952" y="1975104"/>
            <a:ext cx="3134360" cy="557784"/>
          </a:xfrm>
          <a:prstGeom prst="rect">
            <a:avLst/>
          </a:prstGeom>
          <a:noFill/>
          <a:ln/>
        </p:spPr>
        <p:txBody>
          <a:bodyPr wrap="square" lIns="0" tIns="0" rIns="0" bIns="0" rtlCol="0" anchor="t"/>
          <a:lstStyle/>
          <a:p>
            <a:pPr algn="l" indent="0" marL="0">
              <a:lnSpc>
                <a:spcPct val="104000"/>
              </a:lnSpc>
              <a:buNone/>
            </a:pPr>
            <a:r>
              <a:rPr lang="en-US" sz="1750" b="1" dirty="0">
                <a:solidFill>
                  <a:srgbClr val="71D5DD"/>
                </a:solidFill>
                <a:latin typeface="Arial" pitchFamily="34" charset="0"/>
                <a:ea typeface="Arial" pitchFamily="34" charset="-122"/>
                <a:cs typeface="Arial" pitchFamily="34" charset="-120"/>
              </a:rPr>
              <a:t>API · SOURCE</a:t>
            </a:r>
            <a:endParaRPr lang="en-US" sz="1750" dirty="0"/>
          </a:p>
        </p:txBody>
      </p:sp>
      <p:sp>
        <p:nvSpPr>
          <p:cNvPr id="9" name="Text 7"/>
          <p:cNvSpPr txBox="1"/>
          <p:nvPr/>
        </p:nvSpPr>
        <p:spPr>
          <a:xfrm>
            <a:off x="758952" y="2642616"/>
            <a:ext cx="3134360" cy="2267712"/>
          </a:xfrm>
          <a:prstGeom prst="rect">
            <a:avLst/>
          </a:prstGeom>
          <a:noFill/>
          <a:ln/>
        </p:spPr>
        <p:txBody>
          <a:bodyPr wrap="square" lIns="0" tIns="0" rIns="0" bIns="0" rtlCol="0" anchor="t"/>
          <a:lstStyle/>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Which operations can I</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call, and what do they</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promise?</a:t>
            </a:r>
            <a:endParaRPr lang="en-US" sz="2200" dirty="0"/>
          </a:p>
        </p:txBody>
      </p:sp>
      <p:sp>
        <p:nvSpPr>
          <p:cNvPr id="10" name="Shape 8"/>
          <p:cNvSpPr/>
          <p:nvPr/>
        </p:nvSpPr>
        <p:spPr>
          <a:xfrm>
            <a:off x="4313936" y="1764792"/>
            <a:ext cx="3564128" cy="3310128"/>
          </a:xfrm>
          <a:prstGeom prst="rect">
            <a:avLst/>
          </a:prstGeom>
          <a:solidFill>
            <a:srgbClr val="142238"/>
          </a:solidFill>
          <a:ln w="8890">
            <a:solidFill>
              <a:srgbClr val="2B415A"/>
            </a:solidFill>
            <a:prstDash val="solid"/>
          </a:ln>
        </p:spPr>
        <p:txBody>
          <a:bodyPr/>
          <a:p/>
        </p:txBody>
      </p:sp>
      <p:sp>
        <p:nvSpPr>
          <p:cNvPr id="11" name="Shape 9"/>
          <p:cNvSpPr/>
          <p:nvPr/>
        </p:nvSpPr>
        <p:spPr>
          <a:xfrm>
            <a:off x="4313936" y="1764792"/>
            <a:ext cx="41148" cy="3310128"/>
          </a:xfrm>
          <a:prstGeom prst="rect">
            <a:avLst/>
          </a:prstGeom>
          <a:solidFill>
            <a:srgbClr val="71D5DD"/>
          </a:solidFill>
          <a:ln w="8890">
            <a:solidFill>
              <a:srgbClr val="71D5DD"/>
            </a:solidFill>
            <a:prstDash val="solid"/>
          </a:ln>
        </p:spPr>
        <p:txBody>
          <a:bodyPr/>
          <a:p/>
        </p:txBody>
      </p:sp>
      <p:sp>
        <p:nvSpPr>
          <p:cNvPr id="12" name="Text 10"/>
          <p:cNvSpPr txBox="1"/>
          <p:nvPr/>
        </p:nvSpPr>
        <p:spPr>
          <a:xfrm>
            <a:off x="4524248" y="1975104"/>
            <a:ext cx="3134360" cy="557784"/>
          </a:xfrm>
          <a:prstGeom prst="rect">
            <a:avLst/>
          </a:prstGeom>
          <a:noFill/>
          <a:ln/>
        </p:spPr>
        <p:txBody>
          <a:bodyPr wrap="square" lIns="0" tIns="0" rIns="0" bIns="0" rtlCol="0" anchor="t"/>
          <a:lstStyle/>
          <a:p>
            <a:pPr algn="l" indent="0" marL="0">
              <a:lnSpc>
                <a:spcPct val="104000"/>
              </a:lnSpc>
              <a:buNone/>
            </a:pPr>
            <a:r>
              <a:rPr lang="en-US" sz="1750" b="1" dirty="0">
                <a:solidFill>
                  <a:srgbClr val="71D5DD"/>
                </a:solidFill>
                <a:latin typeface="Arial" pitchFamily="34" charset="0"/>
                <a:ea typeface="Arial" pitchFamily="34" charset="-122"/>
                <a:cs typeface="Arial" pitchFamily="34" charset="-120"/>
              </a:rPr>
              <a:t>ABI · BINARY</a:t>
            </a:r>
            <a:endParaRPr lang="en-US" sz="1750" dirty="0"/>
          </a:p>
        </p:txBody>
      </p:sp>
      <p:sp>
        <p:nvSpPr>
          <p:cNvPr id="13" name="Text 11"/>
          <p:cNvSpPr txBox="1"/>
          <p:nvPr/>
        </p:nvSpPr>
        <p:spPr>
          <a:xfrm>
            <a:off x="4524248" y="2642616"/>
            <a:ext cx="3134360" cy="2267712"/>
          </a:xfrm>
          <a:prstGeom prst="rect">
            <a:avLst/>
          </a:prstGeom>
          <a:noFill/>
          <a:ln/>
        </p:spPr>
        <p:txBody>
          <a:bodyPr wrap="square" lIns="0" tIns="0" rIns="0" bIns="0" rtlCol="0" anchor="t"/>
          <a:lstStyle/>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Can independently</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compiled components</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exchange values</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correctly?</a:t>
            </a:r>
            <a:endParaRPr lang="en-US" sz="2200" dirty="0"/>
          </a:p>
        </p:txBody>
      </p:sp>
      <p:sp>
        <p:nvSpPr>
          <p:cNvPr id="14" name="Shape 12"/>
          <p:cNvSpPr/>
          <p:nvPr/>
        </p:nvSpPr>
        <p:spPr>
          <a:xfrm>
            <a:off x="8079232" y="1764792"/>
            <a:ext cx="3564128" cy="3310128"/>
          </a:xfrm>
          <a:prstGeom prst="rect">
            <a:avLst/>
          </a:prstGeom>
          <a:solidFill>
            <a:srgbClr val="142238"/>
          </a:solidFill>
          <a:ln w="8890">
            <a:solidFill>
              <a:srgbClr val="2B415A"/>
            </a:solidFill>
            <a:prstDash val="solid"/>
          </a:ln>
        </p:spPr>
        <p:txBody>
          <a:bodyPr/>
          <a:p/>
        </p:txBody>
      </p:sp>
      <p:sp>
        <p:nvSpPr>
          <p:cNvPr id="15" name="Shape 13"/>
          <p:cNvSpPr/>
          <p:nvPr/>
        </p:nvSpPr>
        <p:spPr>
          <a:xfrm>
            <a:off x="8079232" y="1764792"/>
            <a:ext cx="41148" cy="3310128"/>
          </a:xfrm>
          <a:prstGeom prst="rect">
            <a:avLst/>
          </a:prstGeom>
          <a:solidFill>
            <a:srgbClr val="71D5DD"/>
          </a:solidFill>
          <a:ln w="8890">
            <a:solidFill>
              <a:srgbClr val="71D5DD"/>
            </a:solidFill>
            <a:prstDash val="solid"/>
          </a:ln>
        </p:spPr>
        <p:txBody>
          <a:bodyPr/>
          <a:p/>
        </p:txBody>
      </p:sp>
      <p:sp>
        <p:nvSpPr>
          <p:cNvPr id="16" name="Text 14"/>
          <p:cNvSpPr txBox="1"/>
          <p:nvPr/>
        </p:nvSpPr>
        <p:spPr>
          <a:xfrm>
            <a:off x="8289544" y="1975104"/>
            <a:ext cx="3134360" cy="557784"/>
          </a:xfrm>
          <a:prstGeom prst="rect">
            <a:avLst/>
          </a:prstGeom>
          <a:noFill/>
          <a:ln/>
        </p:spPr>
        <p:txBody>
          <a:bodyPr wrap="square" lIns="0" tIns="0" rIns="0" bIns="0" rtlCol="0" anchor="t"/>
          <a:lstStyle/>
          <a:p>
            <a:pPr algn="l" indent="0" marL="0">
              <a:lnSpc>
                <a:spcPct val="104000"/>
              </a:lnSpc>
              <a:buNone/>
            </a:pPr>
            <a:r>
              <a:rPr lang="en-US" sz="1750" b="1" dirty="0">
                <a:solidFill>
                  <a:srgbClr val="71D5DD"/>
                </a:solidFill>
                <a:latin typeface="Arial" pitchFamily="34" charset="0"/>
                <a:ea typeface="Arial" pitchFamily="34" charset="-122"/>
                <a:cs typeface="Arial" pitchFamily="34" charset="-120"/>
              </a:rPr>
              <a:t>ISA · MACHINE</a:t>
            </a:r>
            <a:endParaRPr lang="en-US" sz="1750" dirty="0"/>
          </a:p>
        </p:txBody>
      </p:sp>
      <p:sp>
        <p:nvSpPr>
          <p:cNvPr id="17" name="Text 15"/>
          <p:cNvSpPr txBox="1"/>
          <p:nvPr/>
        </p:nvSpPr>
        <p:spPr>
          <a:xfrm>
            <a:off x="8289544" y="2642616"/>
            <a:ext cx="3134360" cy="2267712"/>
          </a:xfrm>
          <a:prstGeom prst="rect">
            <a:avLst/>
          </a:prstGeom>
          <a:noFill/>
          <a:ln/>
        </p:spPr>
        <p:txBody>
          <a:bodyPr wrap="square" lIns="0" tIns="0" rIns="0" bIns="0" rtlCol="0" anchor="t"/>
          <a:lstStyle/>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Which instructions and</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architectural state does</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software see?</a:t>
            </a:r>
            <a:endParaRPr lang="en-US" sz="2200" dirty="0"/>
          </a:p>
        </p:txBody>
      </p:sp>
      <p:sp>
        <p:nvSpPr>
          <p:cNvPr id="18" name="Text 16"/>
          <p:cNvSpPr txBox="1"/>
          <p:nvPr/>
        </p:nvSpPr>
        <p:spPr>
          <a:xfrm>
            <a:off x="548640" y="5193792"/>
            <a:ext cx="11094720" cy="274320"/>
          </a:xfrm>
          <a:prstGeom prst="rect">
            <a:avLst/>
          </a:prstGeom>
          <a:noFill/>
          <a:ln/>
        </p:spPr>
        <p:txBody>
          <a:bodyPr wrap="square" lIns="0" tIns="0" rIns="0" bIns="0" rtlCol="0" anchor="t"/>
          <a:lstStyle/>
          <a:p>
            <a:pPr algn="l" indent="0" marL="0">
              <a:lnSpc>
                <a:spcPct val="104000"/>
              </a:lnSpc>
              <a:buNone/>
            </a:pPr>
            <a:r>
              <a:rPr lang="en-US" sz="1140" dirty="0">
                <a:solidFill>
                  <a:srgbClr val="B3C3D6"/>
                </a:solidFill>
                <a:latin typeface="Arial" pitchFamily="34" charset="0"/>
                <a:ea typeface="Arial" pitchFamily="34" charset="-122"/>
                <a:cs typeface="Arial" pitchFamily="34" charset="-120"/>
              </a:rPr>
              <a:t>Same API ≠ binary compatibility. Same ISA ≠ same ABI or microarchitecture.</a:t>
            </a:r>
            <a:endParaRPr lang="en-US" sz="1140" dirty="0"/>
          </a:p>
        </p:txBody>
      </p:sp>
      <p:sp>
        <p:nvSpPr>
          <p:cNvPr id="23" name="Text 21"/>
          <p:cNvSpPr txBox="1"/>
          <p:nvPr/>
        </p:nvSpPr>
        <p:spPr>
          <a:xfrm>
            <a:off x="548640" y="6601968"/>
            <a:ext cx="10241280" cy="128016"/>
          </a:xfrm>
          <a:prstGeom prst="rect">
            <a:avLst/>
          </a:prstGeom>
          <a:noFill/>
          <a:ln/>
        </p:spPr>
        <p:txBody>
          <a:bodyPr wrap="square" lIns="0" tIns="0" rIns="0" bIns="0" rtlCol="0" anchor="t"/>
          <a:lstStyle/>
          <a:p>
            <a:pPr algn="l" indent="0" marL="0">
              <a:lnSpc>
                <a:spcPct val="104000"/>
              </a:lnSpc>
              <a:buNone/>
            </a:pPr>
            <a:r>
              <a:rPr lang="en-US" sz="830" dirty="0">
                <a:solidFill>
                  <a:srgbClr val="B3C3D6"/>
                </a:solidFill>
                <a:latin typeface="Arial" pitchFamily="34" charset="0"/>
                <a:ea typeface="Arial" pitchFamily="34" charset="-122"/>
                <a:cs typeface="Arial" pitchFamily="34" charset="-120"/>
              </a:rPr>
              <a:t>Source: original 6</a:t>
            </a:r>
            <a:endParaRPr lang="en-US" sz="830" dirty="0"/>
          </a:p>
        </p:txBody>
      </p:sp>
      <p:sp>
        <p:nvSpPr>
          <p:cNvPr id="24" name="Text 22"/>
          <p:cNvSpPr txBox="1"/>
          <p:nvPr/>
        </p:nvSpPr>
        <p:spPr>
          <a:xfrm>
            <a:off x="10917936" y="6565392"/>
            <a:ext cx="722376" cy="219456"/>
          </a:xfrm>
          <a:prstGeom prst="rect">
            <a:avLst/>
          </a:prstGeom>
          <a:noFill/>
          <a:ln/>
        </p:spPr>
        <p:txBody>
          <a:bodyPr wrap="square" lIns="0" tIns="0" rIns="0" bIns="0" rtlCol="0" anchor="t"/>
          <a:lstStyle/>
          <a:p>
            <a:pPr algn="r" indent="0" marL="0">
              <a:lnSpc>
                <a:spcPct val="104000"/>
              </a:lnSpc>
              <a:buNone/>
            </a:pPr>
            <a:r>
              <a:rPr lang="en-US" sz="1050" dirty="0">
                <a:solidFill>
                  <a:srgbClr val="B3C3D6"/>
                </a:solidFill>
                <a:latin typeface="Arial" pitchFamily="34" charset="0"/>
                <a:ea typeface="Arial" pitchFamily="34" charset="-122"/>
                <a:cs typeface="Arial" pitchFamily="34" charset="-120"/>
              </a:rPr>
              <a:t>10 / 64</a:t>
            </a:r>
            <a:endParaRPr lang="en-US" sz="1050" dirty="0"/>
          </a:p>
        </p:txBody>
      </p:sp>
      <p:sp>
        <p:nvSpPr>
          <p:cNvPr id="25" name="Shape 23"/>
          <p:cNvSpPr/>
          <p:nvPr/>
        </p:nvSpPr>
        <p:spPr>
          <a:xfrm>
            <a:off x="0" y="6834226"/>
            <a:ext cx="12192000" cy="23774"/>
          </a:xfrm>
          <a:prstGeom prst="rect">
            <a:avLst/>
          </a:prstGeom>
          <a:solidFill>
            <a:srgbClr val="2B415A"/>
          </a:solidFill>
          <a:ln w="8890">
            <a:solidFill>
              <a:srgbClr val="2B415A"/>
            </a:solidFill>
            <a:prstDash val="solid"/>
          </a:ln>
        </p:spPr>
        <p:txBody>
          <a:bodyPr/>
          <a:p/>
        </p:txBody>
      </p:sp>
      <p:sp>
        <p:nvSpPr>
          <p:cNvPr id="26" name="Shape 24"/>
          <p:cNvSpPr/>
          <p:nvPr/>
        </p:nvSpPr>
        <p:spPr>
          <a:xfrm>
            <a:off x="0" y="6834226"/>
            <a:ext cx="1905000" cy="23774"/>
          </a:xfrm>
          <a:prstGeom prst="rect">
            <a:avLst/>
          </a:prstGeom>
          <a:solidFill>
            <a:srgbClr val="71D5DD"/>
          </a:solidFill>
          <a:ln w="8890">
            <a:solidFill>
              <a:srgbClr val="71D5DD"/>
            </a:solidFill>
            <a:prstDash val="solid"/>
          </a:ln>
        </p:spPr>
        <p:txBody>
          <a:body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219456"/>
            <a:ext cx="9875520" cy="192024"/>
          </a:xfrm>
          <a:prstGeom prst="rect">
            <a:avLst/>
          </a:prstGeom>
          <a:noFill/>
          <a:ln/>
        </p:spPr>
        <p:txBody>
          <a:bodyPr wrap="square" lIns="0" tIns="0" rIns="0" bIns="0" rtlCol="0" anchor="t"/>
          <a:lstStyle/>
          <a:p>
            <a:pPr algn="l" indent="0" marL="0">
              <a:lnSpc>
                <a:spcPct val="104000"/>
              </a:lnSpc>
              <a:buNone/>
            </a:pPr>
            <a:r>
              <a:rPr lang="en-US" sz="970" b="1" spc="135" kern="0" dirty="0">
                <a:solidFill>
                  <a:srgbClr val="B3C3D6"/>
                </a:solidFill>
                <a:latin typeface="Arial" pitchFamily="34" charset="0"/>
                <a:ea typeface="Arial" pitchFamily="34" charset="-122"/>
                <a:cs typeface="Arial" pitchFamily="34" charset="-120"/>
              </a:rPr>
              <a:t>SYSTEMS PROGRAMMING AND MACHINE ORGANIZATION</a:t>
            </a:r>
            <a:endParaRPr lang="en-US" sz="970" dirty="0"/>
          </a:p>
        </p:txBody>
      </p:sp>
      <p:sp>
        <p:nvSpPr>
          <p:cNvPr id="3" name="Text 1"/>
          <p:cNvSpPr txBox="1"/>
          <p:nvPr/>
        </p:nvSpPr>
        <p:spPr>
          <a:xfrm>
            <a:off x="9601200" y="219456"/>
            <a:ext cx="2039112" cy="192024"/>
          </a:xfrm>
          <a:prstGeom prst="rect">
            <a:avLst/>
          </a:prstGeom>
          <a:noFill/>
          <a:ln/>
        </p:spPr>
        <p:txBody>
          <a:bodyPr wrap="square" lIns="0" tIns="0" rIns="0" bIns="0" rtlCol="0" anchor="t"/>
          <a:lstStyle/>
          <a:p>
            <a:pPr algn="r" indent="0" marL="0">
              <a:lnSpc>
                <a:spcPct val="104000"/>
              </a:lnSpc>
              <a:buNone/>
            </a:pPr>
            <a:r>
              <a:rPr lang="en-US" sz="970" b="1" dirty="0">
                <a:solidFill>
                  <a:srgbClr val="B3C3D6"/>
                </a:solidFill>
                <a:latin typeface="Arial" pitchFamily="34" charset="0"/>
                <a:ea typeface="Arial" pitchFamily="34" charset="-122"/>
                <a:cs typeface="Arial" pitchFamily="34" charset="-120"/>
              </a:rPr>
              <a:t>CHARLES DORNER</a:t>
            </a:r>
            <a:endParaRPr lang="en-US" sz="970" dirty="0"/>
          </a:p>
        </p:txBody>
      </p:sp>
      <p:sp>
        <p:nvSpPr>
          <p:cNvPr id="4" name="Text 2"/>
          <p:cNvSpPr txBox="1"/>
          <p:nvPr/>
        </p:nvSpPr>
        <p:spPr>
          <a:xfrm>
            <a:off x="548640" y="566928"/>
            <a:ext cx="11109960" cy="237744"/>
          </a:xfrm>
          <a:prstGeom prst="rect">
            <a:avLst/>
          </a:prstGeom>
          <a:noFill/>
          <a:ln/>
        </p:spPr>
        <p:txBody>
          <a:bodyPr wrap="square" lIns="0" tIns="0" rIns="0" bIns="0" rtlCol="0" anchor="t"/>
          <a:lstStyle/>
          <a:p>
            <a:pPr algn="l" indent="0" marL="0">
              <a:lnSpc>
                <a:spcPct val="104000"/>
              </a:lnSpc>
              <a:buNone/>
            </a:pPr>
            <a:r>
              <a:rPr lang="en-US" sz="1150" b="1" dirty="0">
                <a:solidFill>
                  <a:srgbClr val="71D5DD"/>
                </a:solidFill>
                <a:latin typeface="Arial" pitchFamily="34" charset="0"/>
                <a:ea typeface="Arial" pitchFamily="34" charset="-122"/>
                <a:cs typeface="Arial" pitchFamily="34" charset="-120"/>
              </a:rPr>
              <a:t>1.1.5 · ABI CASE STUDY</a:t>
            </a:r>
            <a:endParaRPr lang="en-US" sz="1150" dirty="0"/>
          </a:p>
        </p:txBody>
      </p:sp>
      <p:sp>
        <p:nvSpPr>
          <p:cNvPr id="5" name="Text 3"/>
          <p:cNvSpPr txBox="1"/>
          <p:nvPr/>
        </p:nvSpPr>
        <p:spPr>
          <a:xfrm>
            <a:off x="548640" y="941832"/>
            <a:ext cx="11091672" cy="676656"/>
          </a:xfrm>
          <a:prstGeom prst="rect">
            <a:avLst/>
          </a:prstGeom>
          <a:noFill/>
          <a:ln/>
        </p:spPr>
        <p:txBody>
          <a:bodyPr wrap="square" lIns="0" tIns="0" rIns="0" bIns="0" rtlCol="0" anchor="t"/>
          <a:lstStyle/>
          <a:p>
            <a:pPr algn="l" indent="0" marL="0">
              <a:lnSpc>
                <a:spcPct val="104000"/>
              </a:lnSpc>
              <a:buNone/>
            </a:pPr>
            <a:r>
              <a:rPr lang="en-US" sz="3150" b="1" dirty="0">
                <a:solidFill>
                  <a:srgbClr val="F4F7FB"/>
                </a:solidFill>
                <a:latin typeface="Arial" pitchFamily="34" charset="0"/>
                <a:ea typeface="Arial" pitchFamily="34" charset="-122"/>
                <a:cs typeface="Arial" pitchFamily="34" charset="-120"/>
              </a:rPr>
              <a:t>One ISA can support different calling conventions</a:t>
            </a:r>
            <a:endParaRPr lang="en-US" sz="3150" dirty="0"/>
          </a:p>
        </p:txBody>
      </p:sp>
      <p:sp>
        <p:nvSpPr>
          <p:cNvPr id="6" name="Shape 4"/>
          <p:cNvSpPr/>
          <p:nvPr/>
        </p:nvSpPr>
        <p:spPr>
          <a:xfrm>
            <a:off x="548640" y="1764792"/>
            <a:ext cx="3883152" cy="402336"/>
          </a:xfrm>
          <a:prstGeom prst="rect">
            <a:avLst/>
          </a:prstGeom>
          <a:solidFill>
            <a:srgbClr val="172940"/>
          </a:solidFill>
          <a:ln w="8890">
            <a:solidFill>
              <a:srgbClr val="172940"/>
            </a:solidFill>
            <a:prstDash val="solid"/>
          </a:ln>
        </p:spPr>
        <p:txBody>
          <a:bodyPr/>
          <a:p/>
        </p:txBody>
      </p:sp>
      <p:sp>
        <p:nvSpPr>
          <p:cNvPr id="7" name="Text 5"/>
          <p:cNvSpPr txBox="1"/>
          <p:nvPr/>
        </p:nvSpPr>
        <p:spPr>
          <a:xfrm>
            <a:off x="676656" y="1851660"/>
            <a:ext cx="3627120" cy="301752"/>
          </a:xfrm>
          <a:prstGeom prst="rect">
            <a:avLst/>
          </a:prstGeom>
          <a:noFill/>
          <a:ln/>
        </p:spPr>
        <p:txBody>
          <a:bodyPr wrap="square" lIns="0" tIns="0" rIns="0" bIns="0" rtlCol="0" anchor="t"/>
          <a:lstStyle/>
          <a:p>
            <a:pPr algn="l" indent="0" marL="0">
              <a:lnSpc>
                <a:spcPct val="104000"/>
              </a:lnSpc>
              <a:buNone/>
            </a:pPr>
            <a:r>
              <a:rPr lang="en-US" sz="1240" b="1" dirty="0">
                <a:solidFill>
                  <a:srgbClr val="71D5DD"/>
                </a:solidFill>
                <a:latin typeface="Arial" pitchFamily="34" charset="0"/>
                <a:ea typeface="Arial" pitchFamily="34" charset="-122"/>
                <a:cs typeface="Arial" pitchFamily="34" charset="-120"/>
              </a:rPr>
              <a:t>Ordinary int function</a:t>
            </a:r>
            <a:endParaRPr lang="en-US" sz="1240" dirty="0"/>
          </a:p>
        </p:txBody>
      </p:sp>
      <p:sp>
        <p:nvSpPr>
          <p:cNvPr id="8" name="Shape 6"/>
          <p:cNvSpPr/>
          <p:nvPr/>
        </p:nvSpPr>
        <p:spPr>
          <a:xfrm>
            <a:off x="4431792" y="1764792"/>
            <a:ext cx="3605784" cy="402336"/>
          </a:xfrm>
          <a:prstGeom prst="rect">
            <a:avLst/>
          </a:prstGeom>
          <a:solidFill>
            <a:srgbClr val="172940"/>
          </a:solidFill>
          <a:ln w="8890">
            <a:solidFill>
              <a:srgbClr val="172940"/>
            </a:solidFill>
            <a:prstDash val="solid"/>
          </a:ln>
        </p:spPr>
        <p:txBody>
          <a:bodyPr/>
          <a:p/>
        </p:txBody>
      </p:sp>
      <p:sp>
        <p:nvSpPr>
          <p:cNvPr id="9" name="Text 7"/>
          <p:cNvSpPr txBox="1"/>
          <p:nvPr/>
        </p:nvSpPr>
        <p:spPr>
          <a:xfrm>
            <a:off x="4559808" y="1851660"/>
            <a:ext cx="3349752" cy="301752"/>
          </a:xfrm>
          <a:prstGeom prst="rect">
            <a:avLst/>
          </a:prstGeom>
          <a:noFill/>
          <a:ln/>
        </p:spPr>
        <p:txBody>
          <a:bodyPr wrap="square" lIns="0" tIns="0" rIns="0" bIns="0" rtlCol="0" anchor="t"/>
          <a:lstStyle/>
          <a:p>
            <a:pPr algn="l" indent="0" marL="0">
              <a:lnSpc>
                <a:spcPct val="104000"/>
              </a:lnSpc>
              <a:buNone/>
            </a:pPr>
            <a:r>
              <a:rPr lang="en-US" sz="1240" b="1" dirty="0">
                <a:solidFill>
                  <a:srgbClr val="71D5DD"/>
                </a:solidFill>
                <a:latin typeface="Arial" pitchFamily="34" charset="0"/>
                <a:ea typeface="Arial" pitchFamily="34" charset="-122"/>
                <a:cs typeface="Arial" pitchFamily="34" charset="-120"/>
              </a:rPr>
              <a:t>System V AMD64</a:t>
            </a:r>
            <a:endParaRPr lang="en-US" sz="1240" dirty="0"/>
          </a:p>
        </p:txBody>
      </p:sp>
      <p:sp>
        <p:nvSpPr>
          <p:cNvPr id="10" name="Shape 8"/>
          <p:cNvSpPr/>
          <p:nvPr/>
        </p:nvSpPr>
        <p:spPr>
          <a:xfrm>
            <a:off x="8037576" y="1764792"/>
            <a:ext cx="3605784" cy="402336"/>
          </a:xfrm>
          <a:prstGeom prst="rect">
            <a:avLst/>
          </a:prstGeom>
          <a:solidFill>
            <a:srgbClr val="172940"/>
          </a:solidFill>
          <a:ln w="8890">
            <a:solidFill>
              <a:srgbClr val="172940"/>
            </a:solidFill>
            <a:prstDash val="solid"/>
          </a:ln>
        </p:spPr>
        <p:txBody>
          <a:bodyPr/>
          <a:p/>
        </p:txBody>
      </p:sp>
      <p:sp>
        <p:nvSpPr>
          <p:cNvPr id="11" name="Text 9"/>
          <p:cNvSpPr txBox="1"/>
          <p:nvPr/>
        </p:nvSpPr>
        <p:spPr>
          <a:xfrm>
            <a:off x="8165592" y="1851660"/>
            <a:ext cx="3349752" cy="301752"/>
          </a:xfrm>
          <a:prstGeom prst="rect">
            <a:avLst/>
          </a:prstGeom>
          <a:noFill/>
          <a:ln/>
        </p:spPr>
        <p:txBody>
          <a:bodyPr wrap="square" lIns="0" tIns="0" rIns="0" bIns="0" rtlCol="0" anchor="t"/>
          <a:lstStyle/>
          <a:p>
            <a:pPr algn="l" indent="0" marL="0">
              <a:lnSpc>
                <a:spcPct val="104000"/>
              </a:lnSpc>
              <a:buNone/>
            </a:pPr>
            <a:r>
              <a:rPr lang="en-US" sz="1240" b="1" dirty="0">
                <a:solidFill>
                  <a:srgbClr val="71D5DD"/>
                </a:solidFill>
                <a:latin typeface="Arial" pitchFamily="34" charset="0"/>
                <a:ea typeface="Arial" pitchFamily="34" charset="-122"/>
                <a:cs typeface="Arial" pitchFamily="34" charset="-120"/>
              </a:rPr>
              <a:t>Microsoft x64</a:t>
            </a:r>
            <a:endParaRPr lang="en-US" sz="1240" dirty="0"/>
          </a:p>
        </p:txBody>
      </p:sp>
      <p:sp>
        <p:nvSpPr>
          <p:cNvPr id="12" name="Shape 10"/>
          <p:cNvSpPr/>
          <p:nvPr/>
        </p:nvSpPr>
        <p:spPr>
          <a:xfrm>
            <a:off x="548640" y="2167128"/>
            <a:ext cx="3883152" cy="661797"/>
          </a:xfrm>
          <a:prstGeom prst="rect">
            <a:avLst/>
          </a:prstGeom>
          <a:solidFill>
            <a:srgbClr val="142238"/>
          </a:solidFill>
          <a:ln w="8890">
            <a:solidFill>
              <a:srgbClr val="142238"/>
            </a:solidFill>
            <a:prstDash val="solid"/>
          </a:ln>
        </p:spPr>
        <p:txBody>
          <a:bodyPr/>
          <a:p/>
        </p:txBody>
      </p:sp>
      <p:sp>
        <p:nvSpPr>
          <p:cNvPr id="13" name="Text 11"/>
          <p:cNvSpPr txBox="1"/>
          <p:nvPr/>
        </p:nvSpPr>
        <p:spPr>
          <a:xfrm>
            <a:off x="676656" y="2217420"/>
            <a:ext cx="3627120" cy="570357"/>
          </a:xfrm>
          <a:prstGeom prst="rect">
            <a:avLst/>
          </a:prstGeom>
          <a:noFill/>
          <a:ln/>
        </p:spPr>
        <p:txBody>
          <a:bodyPr wrap="square" lIns="0" tIns="0" rIns="0" bIns="0" rtlCol="0" anchor="t"/>
          <a:lstStyle/>
          <a:p>
            <a:pPr algn="l" indent="0" marL="0">
              <a:lnSpc>
                <a:spcPct val="104000"/>
              </a:lnSpc>
              <a:buNone/>
            </a:pPr>
            <a:r>
              <a:rPr lang="en-US" sz="1800" b="1" dirty="0">
                <a:solidFill>
                  <a:srgbClr val="F4F7FB"/>
                </a:solidFill>
                <a:latin typeface="Arial" pitchFamily="34" charset="0"/>
                <a:ea typeface="Arial" pitchFamily="34" charset="-122"/>
                <a:cs typeface="Arial" pitchFamily="34" charset="-120"/>
              </a:rPr>
              <a:t>First int argument</a:t>
            </a:r>
            <a:endParaRPr lang="en-US" sz="1800" dirty="0"/>
          </a:p>
        </p:txBody>
      </p:sp>
      <p:sp>
        <p:nvSpPr>
          <p:cNvPr id="14" name="Shape 12"/>
          <p:cNvSpPr/>
          <p:nvPr/>
        </p:nvSpPr>
        <p:spPr>
          <a:xfrm>
            <a:off x="4431792" y="2167128"/>
            <a:ext cx="3605784" cy="661797"/>
          </a:xfrm>
          <a:prstGeom prst="rect">
            <a:avLst/>
          </a:prstGeom>
          <a:solidFill>
            <a:srgbClr val="142238"/>
          </a:solidFill>
          <a:ln w="8890">
            <a:solidFill>
              <a:srgbClr val="142238"/>
            </a:solidFill>
            <a:prstDash val="solid"/>
          </a:ln>
        </p:spPr>
        <p:txBody>
          <a:bodyPr/>
          <a:p/>
        </p:txBody>
      </p:sp>
      <p:sp>
        <p:nvSpPr>
          <p:cNvPr id="15" name="Text 13"/>
          <p:cNvSpPr txBox="1"/>
          <p:nvPr/>
        </p:nvSpPr>
        <p:spPr>
          <a:xfrm>
            <a:off x="4559808" y="2217420"/>
            <a:ext cx="3349752" cy="570357"/>
          </a:xfrm>
          <a:prstGeom prst="rect">
            <a:avLst/>
          </a:prstGeom>
          <a:noFill/>
          <a:ln/>
        </p:spPr>
        <p:txBody>
          <a:bodyPr wrap="square" lIns="0" tIns="0" rIns="0" bIns="0" rtlCol="0" anchor="t"/>
          <a:lstStyle/>
          <a:p>
            <a:pPr algn="l" indent="0" marL="0">
              <a:lnSpc>
                <a:spcPct val="104000"/>
              </a:lnSpc>
              <a:buNone/>
            </a:pPr>
            <a:r>
              <a:rPr lang="en-US" sz="1800" dirty="0">
                <a:solidFill>
                  <a:srgbClr val="B3C3D6"/>
                </a:solidFill>
                <a:latin typeface="Arial" pitchFamily="34" charset="0"/>
                <a:ea typeface="Arial" pitchFamily="34" charset="-122"/>
                <a:cs typeface="Arial" pitchFamily="34" charset="-120"/>
              </a:rPr>
              <a:t>EDI</a:t>
            </a:r>
            <a:endParaRPr lang="en-US" sz="1800" dirty="0"/>
          </a:p>
        </p:txBody>
      </p:sp>
      <p:sp>
        <p:nvSpPr>
          <p:cNvPr id="16" name="Shape 14"/>
          <p:cNvSpPr/>
          <p:nvPr/>
        </p:nvSpPr>
        <p:spPr>
          <a:xfrm>
            <a:off x="8037576" y="2167128"/>
            <a:ext cx="3605784" cy="661797"/>
          </a:xfrm>
          <a:prstGeom prst="rect">
            <a:avLst/>
          </a:prstGeom>
          <a:solidFill>
            <a:srgbClr val="142238"/>
          </a:solidFill>
          <a:ln w="8890">
            <a:solidFill>
              <a:srgbClr val="142238"/>
            </a:solidFill>
            <a:prstDash val="solid"/>
          </a:ln>
        </p:spPr>
        <p:txBody>
          <a:bodyPr/>
          <a:p/>
        </p:txBody>
      </p:sp>
      <p:sp>
        <p:nvSpPr>
          <p:cNvPr id="17" name="Text 15"/>
          <p:cNvSpPr txBox="1"/>
          <p:nvPr/>
        </p:nvSpPr>
        <p:spPr>
          <a:xfrm>
            <a:off x="8165592" y="2217420"/>
            <a:ext cx="3349752" cy="570357"/>
          </a:xfrm>
          <a:prstGeom prst="rect">
            <a:avLst/>
          </a:prstGeom>
          <a:noFill/>
          <a:ln/>
        </p:spPr>
        <p:txBody>
          <a:bodyPr wrap="square" lIns="0" tIns="0" rIns="0" bIns="0" rtlCol="0" anchor="t"/>
          <a:lstStyle/>
          <a:p>
            <a:pPr algn="l" indent="0" marL="0">
              <a:lnSpc>
                <a:spcPct val="104000"/>
              </a:lnSpc>
              <a:buNone/>
            </a:pPr>
            <a:r>
              <a:rPr lang="en-US" sz="1800" dirty="0">
                <a:solidFill>
                  <a:srgbClr val="B3C3D6"/>
                </a:solidFill>
                <a:latin typeface="Arial" pitchFamily="34" charset="0"/>
                <a:ea typeface="Arial" pitchFamily="34" charset="-122"/>
                <a:cs typeface="Arial" pitchFamily="34" charset="-120"/>
              </a:rPr>
              <a:t>ECX</a:t>
            </a:r>
            <a:endParaRPr lang="en-US" sz="1800" dirty="0"/>
          </a:p>
        </p:txBody>
      </p:sp>
      <p:sp>
        <p:nvSpPr>
          <p:cNvPr id="18" name="Shape 16"/>
          <p:cNvSpPr/>
          <p:nvPr/>
        </p:nvSpPr>
        <p:spPr>
          <a:xfrm>
            <a:off x="548640" y="2828925"/>
            <a:ext cx="11094720" cy="0"/>
          </a:xfrm>
          <a:prstGeom prst="line">
            <a:avLst/>
          </a:prstGeom>
          <a:noFill/>
          <a:ln w="12700">
            <a:solidFill>
              <a:srgbClr val="2B415A"/>
            </a:solidFill>
            <a:prstDash val="solid"/>
          </a:ln>
        </p:spPr>
        <p:txBody>
          <a:bodyPr/>
          <a:p/>
        </p:txBody>
      </p:sp>
      <p:sp>
        <p:nvSpPr>
          <p:cNvPr id="19" name="Shape 17"/>
          <p:cNvSpPr/>
          <p:nvPr/>
        </p:nvSpPr>
        <p:spPr>
          <a:xfrm>
            <a:off x="548640" y="2828925"/>
            <a:ext cx="3883152" cy="661797"/>
          </a:xfrm>
          <a:prstGeom prst="rect">
            <a:avLst/>
          </a:prstGeom>
          <a:solidFill>
            <a:srgbClr val="0B1322"/>
          </a:solidFill>
          <a:ln w="8890">
            <a:solidFill>
              <a:srgbClr val="0B1322"/>
            </a:solidFill>
            <a:prstDash val="solid"/>
          </a:ln>
        </p:spPr>
        <p:txBody>
          <a:bodyPr/>
          <a:p/>
        </p:txBody>
      </p:sp>
      <p:sp>
        <p:nvSpPr>
          <p:cNvPr id="20" name="Text 18"/>
          <p:cNvSpPr txBox="1"/>
          <p:nvPr/>
        </p:nvSpPr>
        <p:spPr>
          <a:xfrm>
            <a:off x="676656" y="2879217"/>
            <a:ext cx="3627120" cy="570357"/>
          </a:xfrm>
          <a:prstGeom prst="rect">
            <a:avLst/>
          </a:prstGeom>
          <a:noFill/>
          <a:ln/>
        </p:spPr>
        <p:txBody>
          <a:bodyPr wrap="square" lIns="0" tIns="0" rIns="0" bIns="0" rtlCol="0" anchor="t"/>
          <a:lstStyle/>
          <a:p>
            <a:pPr algn="l" indent="0" marL="0">
              <a:lnSpc>
                <a:spcPct val="104000"/>
              </a:lnSpc>
              <a:buNone/>
            </a:pPr>
            <a:r>
              <a:rPr lang="en-US" sz="1800" b="1" dirty="0">
                <a:solidFill>
                  <a:srgbClr val="F4F7FB"/>
                </a:solidFill>
                <a:latin typeface="Arial" pitchFamily="34" charset="0"/>
                <a:ea typeface="Arial" pitchFamily="34" charset="-122"/>
                <a:cs typeface="Arial" pitchFamily="34" charset="-120"/>
              </a:rPr>
              <a:t>Second int argument</a:t>
            </a:r>
            <a:endParaRPr lang="en-US" sz="1800" dirty="0"/>
          </a:p>
        </p:txBody>
      </p:sp>
      <p:sp>
        <p:nvSpPr>
          <p:cNvPr id="21" name="Shape 19"/>
          <p:cNvSpPr/>
          <p:nvPr/>
        </p:nvSpPr>
        <p:spPr>
          <a:xfrm>
            <a:off x="4431792" y="2828925"/>
            <a:ext cx="3605784" cy="661797"/>
          </a:xfrm>
          <a:prstGeom prst="rect">
            <a:avLst/>
          </a:prstGeom>
          <a:solidFill>
            <a:srgbClr val="0B1322"/>
          </a:solidFill>
          <a:ln w="8890">
            <a:solidFill>
              <a:srgbClr val="0B1322"/>
            </a:solidFill>
            <a:prstDash val="solid"/>
          </a:ln>
        </p:spPr>
        <p:txBody>
          <a:bodyPr/>
          <a:p/>
        </p:txBody>
      </p:sp>
      <p:sp>
        <p:nvSpPr>
          <p:cNvPr id="22" name="Text 20"/>
          <p:cNvSpPr txBox="1"/>
          <p:nvPr/>
        </p:nvSpPr>
        <p:spPr>
          <a:xfrm>
            <a:off x="4559808" y="2879217"/>
            <a:ext cx="3349752" cy="570357"/>
          </a:xfrm>
          <a:prstGeom prst="rect">
            <a:avLst/>
          </a:prstGeom>
          <a:noFill/>
          <a:ln/>
        </p:spPr>
        <p:txBody>
          <a:bodyPr wrap="square" lIns="0" tIns="0" rIns="0" bIns="0" rtlCol="0" anchor="t"/>
          <a:lstStyle/>
          <a:p>
            <a:pPr algn="l" indent="0" marL="0">
              <a:lnSpc>
                <a:spcPct val="104000"/>
              </a:lnSpc>
              <a:buNone/>
            </a:pPr>
            <a:r>
              <a:rPr lang="en-US" sz="1800" dirty="0">
                <a:solidFill>
                  <a:srgbClr val="B3C3D6"/>
                </a:solidFill>
                <a:latin typeface="Arial" pitchFamily="34" charset="0"/>
                <a:ea typeface="Arial" pitchFamily="34" charset="-122"/>
                <a:cs typeface="Arial" pitchFamily="34" charset="-120"/>
              </a:rPr>
              <a:t>ESI</a:t>
            </a:r>
            <a:endParaRPr lang="en-US" sz="1800" dirty="0"/>
          </a:p>
        </p:txBody>
      </p:sp>
      <p:sp>
        <p:nvSpPr>
          <p:cNvPr id="23" name="Shape 21"/>
          <p:cNvSpPr/>
          <p:nvPr/>
        </p:nvSpPr>
        <p:spPr>
          <a:xfrm>
            <a:off x="8037576" y="2828925"/>
            <a:ext cx="3605784" cy="661797"/>
          </a:xfrm>
          <a:prstGeom prst="rect">
            <a:avLst/>
          </a:prstGeom>
          <a:solidFill>
            <a:srgbClr val="0B1322"/>
          </a:solidFill>
          <a:ln w="8890">
            <a:solidFill>
              <a:srgbClr val="0B1322"/>
            </a:solidFill>
            <a:prstDash val="solid"/>
          </a:ln>
        </p:spPr>
        <p:txBody>
          <a:bodyPr/>
          <a:p/>
        </p:txBody>
      </p:sp>
      <p:sp>
        <p:nvSpPr>
          <p:cNvPr id="24" name="Text 22"/>
          <p:cNvSpPr txBox="1"/>
          <p:nvPr/>
        </p:nvSpPr>
        <p:spPr>
          <a:xfrm>
            <a:off x="8165592" y="2879217"/>
            <a:ext cx="3349752" cy="570357"/>
          </a:xfrm>
          <a:prstGeom prst="rect">
            <a:avLst/>
          </a:prstGeom>
          <a:noFill/>
          <a:ln/>
        </p:spPr>
        <p:txBody>
          <a:bodyPr wrap="square" lIns="0" tIns="0" rIns="0" bIns="0" rtlCol="0" anchor="t"/>
          <a:lstStyle/>
          <a:p>
            <a:pPr algn="l" indent="0" marL="0">
              <a:lnSpc>
                <a:spcPct val="104000"/>
              </a:lnSpc>
              <a:buNone/>
            </a:pPr>
            <a:r>
              <a:rPr lang="en-US" sz="1800" dirty="0">
                <a:solidFill>
                  <a:srgbClr val="B3C3D6"/>
                </a:solidFill>
                <a:latin typeface="Arial" pitchFamily="34" charset="0"/>
                <a:ea typeface="Arial" pitchFamily="34" charset="-122"/>
                <a:cs typeface="Arial" pitchFamily="34" charset="-120"/>
              </a:rPr>
              <a:t>EDX</a:t>
            </a:r>
            <a:endParaRPr lang="en-US" sz="1800" dirty="0"/>
          </a:p>
        </p:txBody>
      </p:sp>
      <p:sp>
        <p:nvSpPr>
          <p:cNvPr id="25" name="Shape 23"/>
          <p:cNvSpPr/>
          <p:nvPr/>
        </p:nvSpPr>
        <p:spPr>
          <a:xfrm>
            <a:off x="548640" y="3490722"/>
            <a:ext cx="11094720" cy="0"/>
          </a:xfrm>
          <a:prstGeom prst="line">
            <a:avLst/>
          </a:prstGeom>
          <a:noFill/>
          <a:ln w="12700">
            <a:solidFill>
              <a:srgbClr val="2B415A"/>
            </a:solidFill>
            <a:prstDash val="solid"/>
          </a:ln>
        </p:spPr>
        <p:txBody>
          <a:bodyPr/>
          <a:p/>
        </p:txBody>
      </p:sp>
      <p:sp>
        <p:nvSpPr>
          <p:cNvPr id="26" name="Shape 24"/>
          <p:cNvSpPr/>
          <p:nvPr/>
        </p:nvSpPr>
        <p:spPr>
          <a:xfrm>
            <a:off x="548640" y="3490722"/>
            <a:ext cx="3883152" cy="661797"/>
          </a:xfrm>
          <a:prstGeom prst="rect">
            <a:avLst/>
          </a:prstGeom>
          <a:solidFill>
            <a:srgbClr val="142238"/>
          </a:solidFill>
          <a:ln w="8890">
            <a:solidFill>
              <a:srgbClr val="142238"/>
            </a:solidFill>
            <a:prstDash val="solid"/>
          </a:ln>
        </p:spPr>
        <p:txBody>
          <a:bodyPr/>
          <a:p/>
        </p:txBody>
      </p:sp>
      <p:sp>
        <p:nvSpPr>
          <p:cNvPr id="27" name="Text 25"/>
          <p:cNvSpPr txBox="1"/>
          <p:nvPr/>
        </p:nvSpPr>
        <p:spPr>
          <a:xfrm>
            <a:off x="676656" y="3541014"/>
            <a:ext cx="3627120" cy="570357"/>
          </a:xfrm>
          <a:prstGeom prst="rect">
            <a:avLst/>
          </a:prstGeom>
          <a:noFill/>
          <a:ln/>
        </p:spPr>
        <p:txBody>
          <a:bodyPr wrap="square" lIns="0" tIns="0" rIns="0" bIns="0" rtlCol="0" anchor="t"/>
          <a:lstStyle/>
          <a:p>
            <a:pPr algn="l" indent="0" marL="0">
              <a:lnSpc>
                <a:spcPct val="104000"/>
              </a:lnSpc>
              <a:buNone/>
            </a:pPr>
            <a:r>
              <a:rPr lang="en-US" sz="1800" b="1" dirty="0">
                <a:solidFill>
                  <a:srgbClr val="F4F7FB"/>
                </a:solidFill>
                <a:latin typeface="Arial" pitchFamily="34" charset="0"/>
                <a:ea typeface="Arial" pitchFamily="34" charset="-122"/>
                <a:cs typeface="Arial" pitchFamily="34" charset="-120"/>
              </a:rPr>
              <a:t>int return value</a:t>
            </a:r>
            <a:endParaRPr lang="en-US" sz="1800" dirty="0"/>
          </a:p>
        </p:txBody>
      </p:sp>
      <p:sp>
        <p:nvSpPr>
          <p:cNvPr id="28" name="Shape 26"/>
          <p:cNvSpPr/>
          <p:nvPr/>
        </p:nvSpPr>
        <p:spPr>
          <a:xfrm>
            <a:off x="4431792" y="3490722"/>
            <a:ext cx="3605784" cy="661797"/>
          </a:xfrm>
          <a:prstGeom prst="rect">
            <a:avLst/>
          </a:prstGeom>
          <a:solidFill>
            <a:srgbClr val="142238"/>
          </a:solidFill>
          <a:ln w="8890">
            <a:solidFill>
              <a:srgbClr val="142238"/>
            </a:solidFill>
            <a:prstDash val="solid"/>
          </a:ln>
        </p:spPr>
        <p:txBody>
          <a:bodyPr/>
          <a:p/>
        </p:txBody>
      </p:sp>
      <p:sp>
        <p:nvSpPr>
          <p:cNvPr id="29" name="Text 27"/>
          <p:cNvSpPr txBox="1"/>
          <p:nvPr/>
        </p:nvSpPr>
        <p:spPr>
          <a:xfrm>
            <a:off x="4559808" y="3541014"/>
            <a:ext cx="3349752" cy="570357"/>
          </a:xfrm>
          <a:prstGeom prst="rect">
            <a:avLst/>
          </a:prstGeom>
          <a:noFill/>
          <a:ln/>
        </p:spPr>
        <p:txBody>
          <a:bodyPr wrap="square" lIns="0" tIns="0" rIns="0" bIns="0" rtlCol="0" anchor="t"/>
          <a:lstStyle/>
          <a:p>
            <a:pPr algn="l" indent="0" marL="0">
              <a:lnSpc>
                <a:spcPct val="104000"/>
              </a:lnSpc>
              <a:buNone/>
            </a:pPr>
            <a:r>
              <a:rPr lang="en-US" sz="1800" dirty="0">
                <a:solidFill>
                  <a:srgbClr val="B3C3D6"/>
                </a:solidFill>
                <a:latin typeface="Arial" pitchFamily="34" charset="0"/>
                <a:ea typeface="Arial" pitchFamily="34" charset="-122"/>
                <a:cs typeface="Arial" pitchFamily="34" charset="-120"/>
              </a:rPr>
              <a:t>EAX</a:t>
            </a:r>
            <a:endParaRPr lang="en-US" sz="1800" dirty="0"/>
          </a:p>
        </p:txBody>
      </p:sp>
      <p:sp>
        <p:nvSpPr>
          <p:cNvPr id="30" name="Shape 28"/>
          <p:cNvSpPr/>
          <p:nvPr/>
        </p:nvSpPr>
        <p:spPr>
          <a:xfrm>
            <a:off x="8037576" y="3490722"/>
            <a:ext cx="3605784" cy="661797"/>
          </a:xfrm>
          <a:prstGeom prst="rect">
            <a:avLst/>
          </a:prstGeom>
          <a:solidFill>
            <a:srgbClr val="142238"/>
          </a:solidFill>
          <a:ln w="8890">
            <a:solidFill>
              <a:srgbClr val="142238"/>
            </a:solidFill>
            <a:prstDash val="solid"/>
          </a:ln>
        </p:spPr>
        <p:txBody>
          <a:bodyPr/>
          <a:p/>
        </p:txBody>
      </p:sp>
      <p:sp>
        <p:nvSpPr>
          <p:cNvPr id="31" name="Text 29"/>
          <p:cNvSpPr txBox="1"/>
          <p:nvPr/>
        </p:nvSpPr>
        <p:spPr>
          <a:xfrm>
            <a:off x="8165592" y="3541014"/>
            <a:ext cx="3349752" cy="570357"/>
          </a:xfrm>
          <a:prstGeom prst="rect">
            <a:avLst/>
          </a:prstGeom>
          <a:noFill/>
          <a:ln/>
        </p:spPr>
        <p:txBody>
          <a:bodyPr wrap="square" lIns="0" tIns="0" rIns="0" bIns="0" rtlCol="0" anchor="t"/>
          <a:lstStyle/>
          <a:p>
            <a:pPr algn="l" indent="0" marL="0">
              <a:lnSpc>
                <a:spcPct val="104000"/>
              </a:lnSpc>
              <a:buNone/>
            </a:pPr>
            <a:r>
              <a:rPr lang="en-US" sz="1800" dirty="0">
                <a:solidFill>
                  <a:srgbClr val="B3C3D6"/>
                </a:solidFill>
                <a:latin typeface="Arial" pitchFamily="34" charset="0"/>
                <a:ea typeface="Arial" pitchFamily="34" charset="-122"/>
                <a:cs typeface="Arial" pitchFamily="34" charset="-120"/>
              </a:rPr>
              <a:t>EAX</a:t>
            </a:r>
            <a:endParaRPr lang="en-US" sz="1800" dirty="0"/>
          </a:p>
        </p:txBody>
      </p:sp>
      <p:sp>
        <p:nvSpPr>
          <p:cNvPr id="32" name="Shape 30"/>
          <p:cNvSpPr/>
          <p:nvPr/>
        </p:nvSpPr>
        <p:spPr>
          <a:xfrm>
            <a:off x="548640" y="4152519"/>
            <a:ext cx="11094720" cy="0"/>
          </a:xfrm>
          <a:prstGeom prst="line">
            <a:avLst/>
          </a:prstGeom>
          <a:noFill/>
          <a:ln w="12700">
            <a:solidFill>
              <a:srgbClr val="2B415A"/>
            </a:solidFill>
            <a:prstDash val="solid"/>
          </a:ln>
        </p:spPr>
        <p:txBody>
          <a:bodyPr/>
          <a:p/>
        </p:txBody>
      </p:sp>
      <p:sp>
        <p:nvSpPr>
          <p:cNvPr id="33" name="Shape 31"/>
          <p:cNvSpPr/>
          <p:nvPr/>
        </p:nvSpPr>
        <p:spPr>
          <a:xfrm>
            <a:off x="548640" y="4152519"/>
            <a:ext cx="3883152" cy="922401"/>
          </a:xfrm>
          <a:prstGeom prst="rect">
            <a:avLst/>
          </a:prstGeom>
          <a:solidFill>
            <a:srgbClr val="0B1322"/>
          </a:solidFill>
          <a:ln w="8890">
            <a:solidFill>
              <a:srgbClr val="0B1322"/>
            </a:solidFill>
            <a:prstDash val="solid"/>
          </a:ln>
        </p:spPr>
        <p:txBody>
          <a:bodyPr/>
          <a:p/>
        </p:txBody>
      </p:sp>
      <p:sp>
        <p:nvSpPr>
          <p:cNvPr id="34" name="Text 32"/>
          <p:cNvSpPr txBox="1"/>
          <p:nvPr/>
        </p:nvSpPr>
        <p:spPr>
          <a:xfrm>
            <a:off x="676656" y="4202811"/>
            <a:ext cx="3627120" cy="830961"/>
          </a:xfrm>
          <a:prstGeom prst="rect">
            <a:avLst/>
          </a:prstGeom>
          <a:noFill/>
          <a:ln/>
        </p:spPr>
        <p:txBody>
          <a:bodyPr wrap="square" lIns="0" tIns="0" rIns="0" bIns="0" rtlCol="0" anchor="t"/>
          <a:lstStyle/>
          <a:p>
            <a:pPr algn="l" indent="0" marL="0">
              <a:lnSpc>
                <a:spcPct val="104000"/>
              </a:lnSpc>
              <a:buNone/>
            </a:pPr>
            <a:r>
              <a:rPr lang="en-US" sz="1800" b="1" dirty="0">
                <a:solidFill>
                  <a:srgbClr val="F4F7FB"/>
                </a:solidFill>
                <a:latin typeface="Arial" pitchFamily="34" charset="0"/>
                <a:ea typeface="Arial" pitchFamily="34" charset="-122"/>
                <a:cs typeface="Arial" pitchFamily="34" charset="-120"/>
              </a:rPr>
              <a:t>Other requirements</a:t>
            </a:r>
            <a:endParaRPr lang="en-US" sz="1800" dirty="0"/>
          </a:p>
        </p:txBody>
      </p:sp>
      <p:sp>
        <p:nvSpPr>
          <p:cNvPr id="35" name="Shape 33"/>
          <p:cNvSpPr/>
          <p:nvPr/>
        </p:nvSpPr>
        <p:spPr>
          <a:xfrm>
            <a:off x="4431792" y="4152519"/>
            <a:ext cx="3605784" cy="922401"/>
          </a:xfrm>
          <a:prstGeom prst="rect">
            <a:avLst/>
          </a:prstGeom>
          <a:solidFill>
            <a:srgbClr val="0B1322"/>
          </a:solidFill>
          <a:ln w="8890">
            <a:solidFill>
              <a:srgbClr val="0B1322"/>
            </a:solidFill>
            <a:prstDash val="solid"/>
          </a:ln>
        </p:spPr>
        <p:txBody>
          <a:bodyPr/>
          <a:p/>
        </p:txBody>
      </p:sp>
      <p:sp>
        <p:nvSpPr>
          <p:cNvPr id="36" name="Text 34"/>
          <p:cNvSpPr txBox="1"/>
          <p:nvPr/>
        </p:nvSpPr>
        <p:spPr>
          <a:xfrm>
            <a:off x="4559808" y="4202811"/>
            <a:ext cx="3349752" cy="830961"/>
          </a:xfrm>
          <a:prstGeom prst="rect">
            <a:avLst/>
          </a:prstGeom>
          <a:noFill/>
          <a:ln/>
        </p:spPr>
        <p:txBody>
          <a:bodyPr wrap="square" lIns="0" tIns="0" rIns="0" bIns="0" rtlCol="0" anchor="t"/>
          <a:lstStyle/>
          <a:p>
            <a:pPr algn="l" indent="0" marL="0">
              <a:lnSpc>
                <a:spcPct val="104000"/>
              </a:lnSpc>
              <a:buNone/>
            </a:pPr>
            <a:r>
              <a:rPr lang="en-US" sz="1800" dirty="0">
                <a:solidFill>
                  <a:srgbClr val="B3C3D6"/>
                </a:solidFill>
                <a:latin typeface="Arial" pitchFamily="34" charset="0"/>
                <a:ea typeface="Arial" pitchFamily="34" charset="-122"/>
                <a:cs typeface="Arial" pitchFamily="34" charset="-120"/>
              </a:rPr>
              <a:t>ABI-specific stack and register</a:t>
            </a:r>
            <a:endParaRPr lang="en-US" sz="1800" dirty="0"/>
          </a:p>
          <a:p>
            <a:pPr algn="l" indent="0" marL="0">
              <a:lnSpc>
                <a:spcPct val="104000"/>
              </a:lnSpc>
              <a:buNone/>
            </a:pPr>
            <a:r>
              <a:rPr lang="en-US" sz="1800" dirty="0">
                <a:solidFill>
                  <a:srgbClr val="B3C3D6"/>
                </a:solidFill>
                <a:latin typeface="Arial" pitchFamily="34" charset="0"/>
                <a:ea typeface="Arial" pitchFamily="34" charset="-122"/>
                <a:cs typeface="Arial" pitchFamily="34" charset="-120"/>
              </a:rPr>
              <a:t>rules</a:t>
            </a:r>
            <a:endParaRPr lang="en-US" sz="1800" dirty="0"/>
          </a:p>
        </p:txBody>
      </p:sp>
      <p:sp>
        <p:nvSpPr>
          <p:cNvPr id="37" name="Shape 35"/>
          <p:cNvSpPr/>
          <p:nvPr/>
        </p:nvSpPr>
        <p:spPr>
          <a:xfrm>
            <a:off x="8037576" y="4152519"/>
            <a:ext cx="3605784" cy="922401"/>
          </a:xfrm>
          <a:prstGeom prst="rect">
            <a:avLst/>
          </a:prstGeom>
          <a:solidFill>
            <a:srgbClr val="0B1322"/>
          </a:solidFill>
          <a:ln w="8890">
            <a:solidFill>
              <a:srgbClr val="0B1322"/>
            </a:solidFill>
            <a:prstDash val="solid"/>
          </a:ln>
        </p:spPr>
        <p:txBody>
          <a:bodyPr/>
          <a:p/>
        </p:txBody>
      </p:sp>
      <p:sp>
        <p:nvSpPr>
          <p:cNvPr id="38" name="Text 36"/>
          <p:cNvSpPr txBox="1"/>
          <p:nvPr/>
        </p:nvSpPr>
        <p:spPr>
          <a:xfrm>
            <a:off x="8165592" y="4202811"/>
            <a:ext cx="3349752" cy="830961"/>
          </a:xfrm>
          <a:prstGeom prst="rect">
            <a:avLst/>
          </a:prstGeom>
          <a:noFill/>
          <a:ln/>
        </p:spPr>
        <p:txBody>
          <a:bodyPr wrap="square" lIns="0" tIns="0" rIns="0" bIns="0" rtlCol="0" anchor="t"/>
          <a:lstStyle/>
          <a:p>
            <a:pPr algn="l" indent="0" marL="0">
              <a:lnSpc>
                <a:spcPct val="104000"/>
              </a:lnSpc>
              <a:buNone/>
            </a:pPr>
            <a:r>
              <a:rPr lang="en-US" sz="1800" dirty="0">
                <a:solidFill>
                  <a:srgbClr val="B3C3D6"/>
                </a:solidFill>
                <a:latin typeface="Arial" pitchFamily="34" charset="0"/>
                <a:ea typeface="Arial" pitchFamily="34" charset="-122"/>
                <a:cs typeface="Arial" pitchFamily="34" charset="-120"/>
              </a:rPr>
              <a:t>Different ABI-specific rules</a:t>
            </a:r>
            <a:endParaRPr lang="en-US" sz="1800" dirty="0"/>
          </a:p>
        </p:txBody>
      </p:sp>
      <p:sp>
        <p:nvSpPr>
          <p:cNvPr id="39" name="Shape 37"/>
          <p:cNvSpPr/>
          <p:nvPr/>
        </p:nvSpPr>
        <p:spPr>
          <a:xfrm>
            <a:off x="548640" y="5074920"/>
            <a:ext cx="11094720" cy="0"/>
          </a:xfrm>
          <a:prstGeom prst="line">
            <a:avLst/>
          </a:prstGeom>
          <a:noFill/>
          <a:ln w="12700">
            <a:solidFill>
              <a:srgbClr val="2B415A"/>
            </a:solidFill>
            <a:prstDash val="solid"/>
          </a:ln>
        </p:spPr>
        <p:txBody>
          <a:bodyPr/>
          <a:p/>
        </p:txBody>
      </p:sp>
      <p:sp>
        <p:nvSpPr>
          <p:cNvPr id="40" name="Text 38"/>
          <p:cNvSpPr txBox="1"/>
          <p:nvPr/>
        </p:nvSpPr>
        <p:spPr>
          <a:xfrm>
            <a:off x="548640" y="5193792"/>
            <a:ext cx="11094720" cy="274320"/>
          </a:xfrm>
          <a:prstGeom prst="rect">
            <a:avLst/>
          </a:prstGeom>
          <a:noFill/>
          <a:ln/>
        </p:spPr>
        <p:txBody>
          <a:bodyPr wrap="square" lIns="0" tIns="0" rIns="0" bIns="0" rtlCol="0" anchor="t"/>
          <a:lstStyle/>
          <a:p>
            <a:pPr algn="l" indent="0" marL="0">
              <a:lnSpc>
                <a:spcPct val="104000"/>
              </a:lnSpc>
              <a:buNone/>
            </a:pPr>
            <a:r>
              <a:rPr lang="en-US" sz="1140" dirty="0">
                <a:solidFill>
                  <a:srgbClr val="B3C3D6"/>
                </a:solidFill>
                <a:latin typeface="Arial" pitchFamily="34" charset="0"/>
                <a:ea typeface="Arial" pitchFamily="34" charset="-122"/>
                <a:cs typeface="Arial" pitchFamily="34" charset="-120"/>
              </a:rPr>
              <a:t>Narrow example: int add(int a, int b). This table is not a complete ABI specification.</a:t>
            </a:r>
            <a:endParaRPr lang="en-US" sz="1140" dirty="0"/>
          </a:p>
        </p:txBody>
      </p:sp>
      <p:sp>
        <p:nvSpPr>
          <p:cNvPr id="45" name="Text 43"/>
          <p:cNvSpPr txBox="1"/>
          <p:nvPr/>
        </p:nvSpPr>
        <p:spPr>
          <a:xfrm>
            <a:off x="548640" y="6601968"/>
            <a:ext cx="10241280" cy="128016"/>
          </a:xfrm>
          <a:prstGeom prst="rect">
            <a:avLst/>
          </a:prstGeom>
          <a:noFill/>
          <a:ln/>
        </p:spPr>
        <p:txBody>
          <a:bodyPr wrap="square" lIns="0" tIns="0" rIns="0" bIns="0" rtlCol="0" anchor="t"/>
          <a:lstStyle/>
          <a:p>
            <a:pPr algn="l" indent="0" marL="0">
              <a:lnSpc>
                <a:spcPct val="104000"/>
              </a:lnSpc>
              <a:buNone/>
            </a:pPr>
            <a:r>
              <a:rPr lang="en-US" sz="830" dirty="0">
                <a:solidFill>
                  <a:srgbClr val="B3C3D6"/>
                </a:solidFill>
                <a:latin typeface="Arial" pitchFamily="34" charset="0"/>
                <a:ea typeface="Arial" pitchFamily="34" charset="-122"/>
                <a:cs typeface="Arial" pitchFamily="34" charset="-120"/>
              </a:rPr>
              <a:t>Source: original 6 • Graduate extension • [ABI, MS]</a:t>
            </a:r>
            <a:endParaRPr lang="en-US" sz="830" dirty="0"/>
          </a:p>
        </p:txBody>
      </p:sp>
      <p:sp>
        <p:nvSpPr>
          <p:cNvPr id="46" name="Text 44"/>
          <p:cNvSpPr txBox="1"/>
          <p:nvPr/>
        </p:nvSpPr>
        <p:spPr>
          <a:xfrm>
            <a:off x="10917936" y="6565392"/>
            <a:ext cx="722376" cy="219456"/>
          </a:xfrm>
          <a:prstGeom prst="rect">
            <a:avLst/>
          </a:prstGeom>
          <a:noFill/>
          <a:ln/>
        </p:spPr>
        <p:txBody>
          <a:bodyPr wrap="square" lIns="0" tIns="0" rIns="0" bIns="0" rtlCol="0" anchor="t"/>
          <a:lstStyle/>
          <a:p>
            <a:pPr algn="r" indent="0" marL="0">
              <a:lnSpc>
                <a:spcPct val="104000"/>
              </a:lnSpc>
              <a:buNone/>
            </a:pPr>
            <a:r>
              <a:rPr lang="en-US" sz="1050" dirty="0">
                <a:solidFill>
                  <a:srgbClr val="B3C3D6"/>
                </a:solidFill>
                <a:latin typeface="Arial" pitchFamily="34" charset="0"/>
                <a:ea typeface="Arial" pitchFamily="34" charset="-122"/>
                <a:cs typeface="Arial" pitchFamily="34" charset="-120"/>
              </a:rPr>
              <a:t>11 / 64</a:t>
            </a:r>
            <a:endParaRPr lang="en-US" sz="1050" dirty="0"/>
          </a:p>
        </p:txBody>
      </p:sp>
      <p:sp>
        <p:nvSpPr>
          <p:cNvPr id="47" name="Shape 45"/>
          <p:cNvSpPr/>
          <p:nvPr/>
        </p:nvSpPr>
        <p:spPr>
          <a:xfrm>
            <a:off x="0" y="6834226"/>
            <a:ext cx="12192000" cy="23774"/>
          </a:xfrm>
          <a:prstGeom prst="rect">
            <a:avLst/>
          </a:prstGeom>
          <a:solidFill>
            <a:srgbClr val="2B415A"/>
          </a:solidFill>
          <a:ln w="8890">
            <a:solidFill>
              <a:srgbClr val="2B415A"/>
            </a:solidFill>
            <a:prstDash val="solid"/>
          </a:ln>
        </p:spPr>
        <p:txBody>
          <a:bodyPr/>
          <a:p/>
        </p:txBody>
      </p:sp>
      <p:sp>
        <p:nvSpPr>
          <p:cNvPr id="48" name="Shape 46"/>
          <p:cNvSpPr/>
          <p:nvPr/>
        </p:nvSpPr>
        <p:spPr>
          <a:xfrm>
            <a:off x="0" y="6834226"/>
            <a:ext cx="2095500" cy="23774"/>
          </a:xfrm>
          <a:prstGeom prst="rect">
            <a:avLst/>
          </a:prstGeom>
          <a:solidFill>
            <a:srgbClr val="71D5DD"/>
          </a:solidFill>
          <a:ln w="8890">
            <a:solidFill>
              <a:srgbClr val="71D5DD"/>
            </a:solidFill>
            <a:prstDash val="solid"/>
          </a:ln>
        </p:spPr>
        <p:txBody>
          <a:body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219456"/>
            <a:ext cx="9875520" cy="192024"/>
          </a:xfrm>
          <a:prstGeom prst="rect">
            <a:avLst/>
          </a:prstGeom>
          <a:noFill/>
          <a:ln/>
        </p:spPr>
        <p:txBody>
          <a:bodyPr wrap="square" lIns="0" tIns="0" rIns="0" bIns="0" rtlCol="0" anchor="t"/>
          <a:lstStyle/>
          <a:p>
            <a:pPr algn="l" indent="0" marL="0">
              <a:lnSpc>
                <a:spcPct val="104000"/>
              </a:lnSpc>
              <a:buNone/>
            </a:pPr>
            <a:r>
              <a:rPr lang="en-US" sz="970" b="1" spc="135" kern="0" dirty="0">
                <a:solidFill>
                  <a:srgbClr val="B3C3D6"/>
                </a:solidFill>
                <a:latin typeface="Arial" pitchFamily="34" charset="0"/>
                <a:ea typeface="Arial" pitchFamily="34" charset="-122"/>
                <a:cs typeface="Arial" pitchFamily="34" charset="-120"/>
              </a:rPr>
              <a:t>SYSTEMS PROGRAMMING AND MACHINE ORGANIZATION</a:t>
            </a:r>
            <a:endParaRPr lang="en-US" sz="970" dirty="0"/>
          </a:p>
        </p:txBody>
      </p:sp>
      <p:sp>
        <p:nvSpPr>
          <p:cNvPr id="3" name="Text 1"/>
          <p:cNvSpPr txBox="1"/>
          <p:nvPr/>
        </p:nvSpPr>
        <p:spPr>
          <a:xfrm>
            <a:off x="9601200" y="219456"/>
            <a:ext cx="2039112" cy="192024"/>
          </a:xfrm>
          <a:prstGeom prst="rect">
            <a:avLst/>
          </a:prstGeom>
          <a:noFill/>
          <a:ln/>
        </p:spPr>
        <p:txBody>
          <a:bodyPr wrap="square" lIns="0" tIns="0" rIns="0" bIns="0" rtlCol="0" anchor="t"/>
          <a:lstStyle/>
          <a:p>
            <a:pPr algn="r" indent="0" marL="0">
              <a:lnSpc>
                <a:spcPct val="104000"/>
              </a:lnSpc>
              <a:buNone/>
            </a:pPr>
            <a:r>
              <a:rPr lang="en-US" sz="970" b="1" dirty="0">
                <a:solidFill>
                  <a:srgbClr val="B3C3D6"/>
                </a:solidFill>
                <a:latin typeface="Arial" pitchFamily="34" charset="0"/>
                <a:ea typeface="Arial" pitchFamily="34" charset="-122"/>
                <a:cs typeface="Arial" pitchFamily="34" charset="-120"/>
              </a:rPr>
              <a:t>CHARLES DORNER</a:t>
            </a:r>
            <a:endParaRPr lang="en-US" sz="970" dirty="0"/>
          </a:p>
        </p:txBody>
      </p:sp>
      <p:sp>
        <p:nvSpPr>
          <p:cNvPr id="4" name="Text 2"/>
          <p:cNvSpPr txBox="1"/>
          <p:nvPr/>
        </p:nvSpPr>
        <p:spPr>
          <a:xfrm>
            <a:off x="548640" y="566928"/>
            <a:ext cx="11109960" cy="237744"/>
          </a:xfrm>
          <a:prstGeom prst="rect">
            <a:avLst/>
          </a:prstGeom>
          <a:noFill/>
          <a:ln/>
        </p:spPr>
        <p:txBody>
          <a:bodyPr wrap="square" lIns="0" tIns="0" rIns="0" bIns="0" rtlCol="0" anchor="t"/>
          <a:lstStyle/>
          <a:p>
            <a:pPr algn="l" indent="0" marL="0">
              <a:lnSpc>
                <a:spcPct val="104000"/>
              </a:lnSpc>
              <a:buNone/>
            </a:pPr>
            <a:r>
              <a:rPr lang="en-US" sz="1150" b="1" dirty="0">
                <a:solidFill>
                  <a:srgbClr val="71D5DD"/>
                </a:solidFill>
                <a:latin typeface="Arial" pitchFamily="34" charset="0"/>
                <a:ea typeface="Arial" pitchFamily="34" charset="-122"/>
                <a:cs typeface="Arial" pitchFamily="34" charset="-120"/>
              </a:rPr>
              <a:t>1.1.5 · ISA VS. MICROARCHITECTURE</a:t>
            </a:r>
            <a:endParaRPr lang="en-US" sz="1150" dirty="0"/>
          </a:p>
        </p:txBody>
      </p:sp>
      <p:sp>
        <p:nvSpPr>
          <p:cNvPr id="5" name="Text 3"/>
          <p:cNvSpPr txBox="1"/>
          <p:nvPr/>
        </p:nvSpPr>
        <p:spPr>
          <a:xfrm>
            <a:off x="548640" y="941832"/>
            <a:ext cx="11091672" cy="676656"/>
          </a:xfrm>
          <a:prstGeom prst="rect">
            <a:avLst/>
          </a:prstGeom>
          <a:noFill/>
          <a:ln/>
        </p:spPr>
        <p:txBody>
          <a:bodyPr wrap="square" lIns="0" tIns="0" rIns="0" bIns="0" rtlCol="0" anchor="t"/>
          <a:lstStyle/>
          <a:p>
            <a:pPr algn="l" indent="0" marL="0">
              <a:lnSpc>
                <a:spcPct val="104000"/>
              </a:lnSpc>
              <a:buNone/>
            </a:pPr>
            <a:r>
              <a:rPr lang="en-US" sz="3150" b="1" dirty="0">
                <a:solidFill>
                  <a:srgbClr val="F4F7FB"/>
                </a:solidFill>
                <a:latin typeface="Arial" pitchFamily="34" charset="0"/>
                <a:ea typeface="Arial" pitchFamily="34" charset="-122"/>
                <a:cs typeface="Arial" pitchFamily="34" charset="-120"/>
              </a:rPr>
              <a:t>Architecture is a promise; implementation is a choice</a:t>
            </a:r>
            <a:endParaRPr lang="en-US" sz="3150" dirty="0"/>
          </a:p>
        </p:txBody>
      </p:sp>
      <p:sp>
        <p:nvSpPr>
          <p:cNvPr id="6" name="Shape 4"/>
          <p:cNvSpPr/>
          <p:nvPr/>
        </p:nvSpPr>
        <p:spPr>
          <a:xfrm>
            <a:off x="548640" y="1764792"/>
            <a:ext cx="5446776" cy="3310128"/>
          </a:xfrm>
          <a:prstGeom prst="rect">
            <a:avLst/>
          </a:prstGeom>
          <a:solidFill>
            <a:srgbClr val="142238"/>
          </a:solidFill>
          <a:ln w="8890">
            <a:solidFill>
              <a:srgbClr val="2B415A"/>
            </a:solidFill>
            <a:prstDash val="solid"/>
          </a:ln>
        </p:spPr>
        <p:txBody>
          <a:bodyPr/>
          <a:p/>
        </p:txBody>
      </p:sp>
      <p:sp>
        <p:nvSpPr>
          <p:cNvPr id="7" name="Shape 5"/>
          <p:cNvSpPr/>
          <p:nvPr/>
        </p:nvSpPr>
        <p:spPr>
          <a:xfrm>
            <a:off x="548640" y="1764792"/>
            <a:ext cx="41148" cy="3310128"/>
          </a:xfrm>
          <a:prstGeom prst="rect">
            <a:avLst/>
          </a:prstGeom>
          <a:solidFill>
            <a:srgbClr val="71D5DD"/>
          </a:solidFill>
          <a:ln w="8890">
            <a:solidFill>
              <a:srgbClr val="71D5DD"/>
            </a:solidFill>
            <a:prstDash val="solid"/>
          </a:ln>
        </p:spPr>
        <p:txBody>
          <a:bodyPr/>
          <a:p/>
        </p:txBody>
      </p:sp>
      <p:sp>
        <p:nvSpPr>
          <p:cNvPr id="8" name="Text 6"/>
          <p:cNvSpPr txBox="1"/>
          <p:nvPr/>
        </p:nvSpPr>
        <p:spPr>
          <a:xfrm>
            <a:off x="758952" y="1975104"/>
            <a:ext cx="5017008" cy="557784"/>
          </a:xfrm>
          <a:prstGeom prst="rect">
            <a:avLst/>
          </a:prstGeom>
          <a:noFill/>
          <a:ln/>
        </p:spPr>
        <p:txBody>
          <a:bodyPr wrap="square" lIns="0" tIns="0" rIns="0" bIns="0" rtlCol="0" anchor="t"/>
          <a:lstStyle/>
          <a:p>
            <a:pPr algn="l" indent="0" marL="0">
              <a:lnSpc>
                <a:spcPct val="104000"/>
              </a:lnSpc>
              <a:buNone/>
            </a:pPr>
            <a:r>
              <a:rPr lang="en-US" sz="1750" b="1" dirty="0">
                <a:solidFill>
                  <a:srgbClr val="71D5DD"/>
                </a:solidFill>
                <a:latin typeface="Arial" pitchFamily="34" charset="0"/>
                <a:ea typeface="Arial" pitchFamily="34" charset="-122"/>
                <a:cs typeface="Arial" pitchFamily="34" charset="-120"/>
              </a:rPr>
              <a:t>ARCHITECTURAL CONTRACT</a:t>
            </a:r>
            <a:endParaRPr lang="en-US" sz="1750" dirty="0"/>
          </a:p>
        </p:txBody>
      </p:sp>
      <p:sp>
        <p:nvSpPr>
          <p:cNvPr id="9" name="Text 7"/>
          <p:cNvSpPr txBox="1"/>
          <p:nvPr/>
        </p:nvSpPr>
        <p:spPr>
          <a:xfrm>
            <a:off x="758952" y="2642616"/>
            <a:ext cx="5017008" cy="2267712"/>
          </a:xfrm>
          <a:prstGeom prst="rect">
            <a:avLst/>
          </a:prstGeom>
          <a:noFill/>
          <a:ln/>
        </p:spPr>
        <p:txBody>
          <a:bodyPr wrap="square" lIns="0" tIns="0" rIns="0" bIns="0" rtlCol="0" anchor="t"/>
          <a:lstStyle/>
          <a:p>
            <a:pPr algn="l" indent="0" marL="0">
              <a:lnSpc>
                <a:spcPct val="104000"/>
              </a:lnSpc>
              <a:buNone/>
            </a:pPr>
            <a:r>
              <a:rPr lang="en-US" sz="2300" dirty="0">
                <a:solidFill>
                  <a:srgbClr val="F4F7FB"/>
                </a:solidFill>
                <a:latin typeface="Arial" pitchFamily="34" charset="0"/>
                <a:ea typeface="Arial" pitchFamily="34" charset="-122"/>
                <a:cs typeface="Arial" pitchFamily="34" charset="-120"/>
              </a:rPr>
              <a:t>Instructions and visible state.</a:t>
            </a:r>
            <a:endParaRPr lang="en-US" sz="2300" dirty="0"/>
          </a:p>
          <a:p>
            <a:pPr algn="l" indent="0" marL="0">
              <a:lnSpc>
                <a:spcPct val="104000"/>
              </a:lnSpc>
              <a:buNone/>
            </a:pPr>
            <a:r>
              <a:rPr lang="en-US" sz="2300" dirty="0">
                <a:solidFill>
                  <a:srgbClr val="F4F7FB"/>
                </a:solidFill>
                <a:latin typeface="Arial" pitchFamily="34" charset="0"/>
                <a:ea typeface="Arial" pitchFamily="34" charset="-122"/>
                <a:cs typeface="Arial" pitchFamily="34" charset="-120"/>
              </a:rPr>
              <a:t>Defined effects and supported</a:t>
            </a:r>
            <a:endParaRPr lang="en-US" sz="2300" dirty="0"/>
          </a:p>
          <a:p>
            <a:pPr algn="l" indent="0" marL="0">
              <a:lnSpc>
                <a:spcPct val="104000"/>
              </a:lnSpc>
              <a:buNone/>
            </a:pPr>
            <a:r>
              <a:rPr lang="en-US" sz="2300" dirty="0">
                <a:solidFill>
                  <a:srgbClr val="F4F7FB"/>
                </a:solidFill>
                <a:latin typeface="Arial" pitchFamily="34" charset="0"/>
                <a:ea typeface="Arial" pitchFamily="34" charset="-122"/>
                <a:cs typeface="Arial" pitchFamily="34" charset="-120"/>
              </a:rPr>
              <a:t>behavior.</a:t>
            </a:r>
            <a:endParaRPr lang="en-US" sz="2300" dirty="0"/>
          </a:p>
          <a:p>
            <a:pPr algn="l" indent="0" marL="0">
              <a:lnSpc>
                <a:spcPct val="104000"/>
              </a:lnSpc>
              <a:buNone/>
            </a:pPr>
            <a:r>
              <a:rPr lang="en-US" sz="2300" dirty="0">
                <a:solidFill>
                  <a:srgbClr val="F4F7FB"/>
                </a:solidFill>
                <a:latin typeface="Arial" pitchFamily="34" charset="0"/>
                <a:ea typeface="Arial" pitchFamily="34" charset="-122"/>
                <a:cs typeface="Arial" pitchFamily="34" charset="-120"/>
              </a:rPr>
              <a:t>What software may rely on.</a:t>
            </a:r>
            <a:endParaRPr lang="en-US" sz="2300" dirty="0"/>
          </a:p>
        </p:txBody>
      </p:sp>
      <p:sp>
        <p:nvSpPr>
          <p:cNvPr id="10" name="Shape 8"/>
          <p:cNvSpPr/>
          <p:nvPr/>
        </p:nvSpPr>
        <p:spPr>
          <a:xfrm>
            <a:off x="6196584" y="1764792"/>
            <a:ext cx="5446776" cy="3310128"/>
          </a:xfrm>
          <a:prstGeom prst="rect">
            <a:avLst/>
          </a:prstGeom>
          <a:solidFill>
            <a:srgbClr val="142238"/>
          </a:solidFill>
          <a:ln w="8890">
            <a:solidFill>
              <a:srgbClr val="2B415A"/>
            </a:solidFill>
            <a:prstDash val="solid"/>
          </a:ln>
        </p:spPr>
        <p:txBody>
          <a:bodyPr/>
          <a:p/>
        </p:txBody>
      </p:sp>
      <p:sp>
        <p:nvSpPr>
          <p:cNvPr id="11" name="Shape 9"/>
          <p:cNvSpPr/>
          <p:nvPr/>
        </p:nvSpPr>
        <p:spPr>
          <a:xfrm>
            <a:off x="6196584" y="1764792"/>
            <a:ext cx="41148" cy="3310128"/>
          </a:xfrm>
          <a:prstGeom prst="rect">
            <a:avLst/>
          </a:prstGeom>
          <a:solidFill>
            <a:srgbClr val="71D5DD"/>
          </a:solidFill>
          <a:ln w="8890">
            <a:solidFill>
              <a:srgbClr val="71D5DD"/>
            </a:solidFill>
            <a:prstDash val="solid"/>
          </a:ln>
        </p:spPr>
        <p:txBody>
          <a:bodyPr/>
          <a:p/>
        </p:txBody>
      </p:sp>
      <p:sp>
        <p:nvSpPr>
          <p:cNvPr id="12" name="Text 10"/>
          <p:cNvSpPr txBox="1"/>
          <p:nvPr/>
        </p:nvSpPr>
        <p:spPr>
          <a:xfrm>
            <a:off x="6406896" y="1975104"/>
            <a:ext cx="5017008" cy="557784"/>
          </a:xfrm>
          <a:prstGeom prst="rect">
            <a:avLst/>
          </a:prstGeom>
          <a:noFill/>
          <a:ln/>
        </p:spPr>
        <p:txBody>
          <a:bodyPr wrap="square" lIns="0" tIns="0" rIns="0" bIns="0" rtlCol="0" anchor="t"/>
          <a:lstStyle/>
          <a:p>
            <a:pPr algn="l" indent="0" marL="0">
              <a:lnSpc>
                <a:spcPct val="104000"/>
              </a:lnSpc>
              <a:buNone/>
            </a:pPr>
            <a:r>
              <a:rPr lang="en-US" sz="1750" b="1" dirty="0">
                <a:solidFill>
                  <a:srgbClr val="71D5DD"/>
                </a:solidFill>
                <a:latin typeface="Arial" pitchFamily="34" charset="0"/>
                <a:ea typeface="Arial" pitchFamily="34" charset="-122"/>
                <a:cs typeface="Arial" pitchFamily="34" charset="-120"/>
              </a:rPr>
              <a:t>IMPLEMENTATION CHOICES</a:t>
            </a:r>
            <a:endParaRPr lang="en-US" sz="1750" dirty="0"/>
          </a:p>
        </p:txBody>
      </p:sp>
      <p:sp>
        <p:nvSpPr>
          <p:cNvPr id="13" name="Text 11"/>
          <p:cNvSpPr txBox="1"/>
          <p:nvPr/>
        </p:nvSpPr>
        <p:spPr>
          <a:xfrm>
            <a:off x="6406896" y="2642616"/>
            <a:ext cx="5017008" cy="2267712"/>
          </a:xfrm>
          <a:prstGeom prst="rect">
            <a:avLst/>
          </a:prstGeom>
          <a:noFill/>
          <a:ln/>
        </p:spPr>
        <p:txBody>
          <a:bodyPr wrap="square" lIns="0" tIns="0" rIns="0" bIns="0" rtlCol="0" anchor="t"/>
          <a:lstStyle/>
          <a:p>
            <a:pPr algn="l" indent="0" marL="0">
              <a:lnSpc>
                <a:spcPct val="104000"/>
              </a:lnSpc>
              <a:buNone/>
            </a:pPr>
            <a:r>
              <a:rPr lang="en-US" sz="2300" dirty="0">
                <a:solidFill>
                  <a:srgbClr val="F4F7FB"/>
                </a:solidFill>
                <a:latin typeface="Arial" pitchFamily="34" charset="0"/>
                <a:ea typeface="Arial" pitchFamily="34" charset="-122"/>
                <a:cs typeface="Arial" pitchFamily="34" charset="-120"/>
              </a:rPr>
              <a:t>Internal organization and resource</a:t>
            </a:r>
            <a:endParaRPr lang="en-US" sz="2300" dirty="0"/>
          </a:p>
          <a:p>
            <a:pPr algn="l" indent="0" marL="0">
              <a:lnSpc>
                <a:spcPct val="104000"/>
              </a:lnSpc>
              <a:buNone/>
            </a:pPr>
            <a:r>
              <a:rPr lang="en-US" sz="2300" dirty="0">
                <a:solidFill>
                  <a:srgbClr val="F4F7FB"/>
                </a:solidFill>
                <a:latin typeface="Arial" pitchFamily="34" charset="0"/>
                <a:ea typeface="Arial" pitchFamily="34" charset="-122"/>
                <a:cs typeface="Arial" pitchFamily="34" charset="-120"/>
              </a:rPr>
              <a:t>use.</a:t>
            </a:r>
            <a:endParaRPr lang="en-US" sz="2300" dirty="0"/>
          </a:p>
          <a:p>
            <a:pPr algn="l" indent="0" marL="0">
              <a:lnSpc>
                <a:spcPct val="104000"/>
              </a:lnSpc>
              <a:buNone/>
            </a:pPr>
            <a:r>
              <a:rPr lang="en-US" sz="2300" dirty="0">
                <a:solidFill>
                  <a:srgbClr val="F4F7FB"/>
                </a:solidFill>
                <a:latin typeface="Arial" pitchFamily="34" charset="0"/>
                <a:ea typeface="Arial" pitchFamily="34" charset="-122"/>
                <a:cs typeface="Arial" pitchFamily="34" charset="-120"/>
              </a:rPr>
              <a:t>Different ways to realize the contract.</a:t>
            </a:r>
            <a:endParaRPr lang="en-US" sz="2300" dirty="0"/>
          </a:p>
          <a:p>
            <a:pPr algn="l" indent="0" marL="0">
              <a:lnSpc>
                <a:spcPct val="104000"/>
              </a:lnSpc>
              <a:buNone/>
            </a:pPr>
            <a:r>
              <a:rPr lang="en-US" sz="2300" dirty="0">
                <a:solidFill>
                  <a:srgbClr val="F4F7FB"/>
                </a:solidFill>
                <a:latin typeface="Arial" pitchFamily="34" charset="0"/>
                <a:ea typeface="Arial" pitchFamily="34" charset="-122"/>
                <a:cs typeface="Arial" pitchFamily="34" charset="-120"/>
              </a:rPr>
              <a:t>What performance analysis must</a:t>
            </a:r>
            <a:endParaRPr lang="en-US" sz="2300" dirty="0"/>
          </a:p>
          <a:p>
            <a:pPr algn="l" indent="0" marL="0">
              <a:lnSpc>
                <a:spcPct val="104000"/>
              </a:lnSpc>
              <a:buNone/>
            </a:pPr>
            <a:r>
              <a:rPr lang="en-US" sz="2300" dirty="0">
                <a:solidFill>
                  <a:srgbClr val="F4F7FB"/>
                </a:solidFill>
                <a:latin typeface="Arial" pitchFamily="34" charset="0"/>
                <a:ea typeface="Arial" pitchFamily="34" charset="-122"/>
                <a:cs typeface="Arial" pitchFamily="34" charset="-120"/>
              </a:rPr>
              <a:t>investigate.</a:t>
            </a:r>
            <a:endParaRPr lang="en-US" sz="2300" dirty="0"/>
          </a:p>
        </p:txBody>
      </p:sp>
      <p:sp>
        <p:nvSpPr>
          <p:cNvPr id="14" name="Text 12"/>
          <p:cNvSpPr txBox="1"/>
          <p:nvPr/>
        </p:nvSpPr>
        <p:spPr>
          <a:xfrm>
            <a:off x="548640" y="5193792"/>
            <a:ext cx="11094720" cy="274320"/>
          </a:xfrm>
          <a:prstGeom prst="rect">
            <a:avLst/>
          </a:prstGeom>
          <a:noFill/>
          <a:ln/>
        </p:spPr>
        <p:txBody>
          <a:bodyPr wrap="square" lIns="0" tIns="0" rIns="0" bIns="0" rtlCol="0" anchor="t"/>
          <a:lstStyle/>
          <a:p>
            <a:pPr algn="l" indent="0" marL="0">
              <a:lnSpc>
                <a:spcPct val="104000"/>
              </a:lnSpc>
              <a:buNone/>
            </a:pPr>
            <a:r>
              <a:rPr lang="en-US" sz="1140" dirty="0">
                <a:solidFill>
                  <a:srgbClr val="B3C3D6"/>
                </a:solidFill>
                <a:latin typeface="Arial" pitchFamily="34" charset="0"/>
                <a:ea typeface="Arial" pitchFamily="34" charset="-122"/>
                <a:cs typeface="Arial" pitchFamily="34" charset="-120"/>
              </a:rPr>
              <a:t>Binary compatibility and performance portability are separate claims.</a:t>
            </a:r>
            <a:endParaRPr lang="en-US" sz="1140" dirty="0"/>
          </a:p>
        </p:txBody>
      </p:sp>
      <p:sp>
        <p:nvSpPr>
          <p:cNvPr id="19" name="Text 17"/>
          <p:cNvSpPr txBox="1"/>
          <p:nvPr/>
        </p:nvSpPr>
        <p:spPr>
          <a:xfrm>
            <a:off x="548640" y="6601968"/>
            <a:ext cx="10241280" cy="128016"/>
          </a:xfrm>
          <a:prstGeom prst="rect">
            <a:avLst/>
          </a:prstGeom>
          <a:noFill/>
          <a:ln/>
        </p:spPr>
        <p:txBody>
          <a:bodyPr wrap="square" lIns="0" tIns="0" rIns="0" bIns="0" rtlCol="0" anchor="t"/>
          <a:lstStyle/>
          <a:p>
            <a:pPr algn="l" indent="0" marL="0">
              <a:lnSpc>
                <a:spcPct val="104000"/>
              </a:lnSpc>
              <a:buNone/>
            </a:pPr>
            <a:r>
              <a:rPr lang="en-US" sz="830" dirty="0">
                <a:solidFill>
                  <a:srgbClr val="B3C3D6"/>
                </a:solidFill>
                <a:latin typeface="Arial" pitchFamily="34" charset="0"/>
                <a:ea typeface="Arial" pitchFamily="34" charset="-122"/>
                <a:cs typeface="Arial" pitchFamily="34" charset="-120"/>
              </a:rPr>
              <a:t>Source: original 3, 6, 18, 19</a:t>
            </a:r>
            <a:endParaRPr lang="en-US" sz="830" dirty="0"/>
          </a:p>
        </p:txBody>
      </p:sp>
      <p:sp>
        <p:nvSpPr>
          <p:cNvPr id="20" name="Text 18"/>
          <p:cNvSpPr txBox="1"/>
          <p:nvPr/>
        </p:nvSpPr>
        <p:spPr>
          <a:xfrm>
            <a:off x="10917936" y="6565392"/>
            <a:ext cx="722376" cy="219456"/>
          </a:xfrm>
          <a:prstGeom prst="rect">
            <a:avLst/>
          </a:prstGeom>
          <a:noFill/>
          <a:ln/>
        </p:spPr>
        <p:txBody>
          <a:bodyPr wrap="square" lIns="0" tIns="0" rIns="0" bIns="0" rtlCol="0" anchor="t"/>
          <a:lstStyle/>
          <a:p>
            <a:pPr algn="r" indent="0" marL="0">
              <a:lnSpc>
                <a:spcPct val="104000"/>
              </a:lnSpc>
              <a:buNone/>
            </a:pPr>
            <a:r>
              <a:rPr lang="en-US" sz="1050" dirty="0">
                <a:solidFill>
                  <a:srgbClr val="B3C3D6"/>
                </a:solidFill>
                <a:latin typeface="Arial" pitchFamily="34" charset="0"/>
                <a:ea typeface="Arial" pitchFamily="34" charset="-122"/>
                <a:cs typeface="Arial" pitchFamily="34" charset="-120"/>
              </a:rPr>
              <a:t>12 / 64</a:t>
            </a:r>
            <a:endParaRPr lang="en-US" sz="1050" dirty="0"/>
          </a:p>
        </p:txBody>
      </p:sp>
      <p:sp>
        <p:nvSpPr>
          <p:cNvPr id="21" name="Shape 19"/>
          <p:cNvSpPr/>
          <p:nvPr/>
        </p:nvSpPr>
        <p:spPr>
          <a:xfrm>
            <a:off x="0" y="6834226"/>
            <a:ext cx="12192000" cy="23774"/>
          </a:xfrm>
          <a:prstGeom prst="rect">
            <a:avLst/>
          </a:prstGeom>
          <a:solidFill>
            <a:srgbClr val="2B415A"/>
          </a:solidFill>
          <a:ln w="8890">
            <a:solidFill>
              <a:srgbClr val="2B415A"/>
            </a:solidFill>
            <a:prstDash val="solid"/>
          </a:ln>
        </p:spPr>
        <p:txBody>
          <a:bodyPr/>
          <a:p/>
        </p:txBody>
      </p:sp>
      <p:sp>
        <p:nvSpPr>
          <p:cNvPr id="22" name="Shape 20"/>
          <p:cNvSpPr/>
          <p:nvPr/>
        </p:nvSpPr>
        <p:spPr>
          <a:xfrm>
            <a:off x="0" y="6834226"/>
            <a:ext cx="2286000" cy="23774"/>
          </a:xfrm>
          <a:prstGeom prst="rect">
            <a:avLst/>
          </a:prstGeom>
          <a:solidFill>
            <a:srgbClr val="71D5DD"/>
          </a:solidFill>
          <a:ln w="8890">
            <a:solidFill>
              <a:srgbClr val="71D5DD"/>
            </a:solidFill>
            <a:prstDash val="solid"/>
          </a:ln>
        </p:spPr>
        <p:txBody>
          <a:body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219456"/>
            <a:ext cx="9875520" cy="192024"/>
          </a:xfrm>
          <a:prstGeom prst="rect">
            <a:avLst/>
          </a:prstGeom>
          <a:noFill/>
          <a:ln/>
        </p:spPr>
        <p:txBody>
          <a:bodyPr wrap="square" lIns="0" tIns="0" rIns="0" bIns="0" rtlCol="0" anchor="t"/>
          <a:lstStyle/>
          <a:p>
            <a:pPr algn="l" indent="0" marL="0">
              <a:lnSpc>
                <a:spcPct val="104000"/>
              </a:lnSpc>
              <a:buNone/>
            </a:pPr>
            <a:r>
              <a:rPr lang="en-US" sz="970" b="1" spc="135" kern="0" dirty="0">
                <a:solidFill>
                  <a:srgbClr val="B3C3D6"/>
                </a:solidFill>
                <a:latin typeface="Arial" pitchFamily="34" charset="0"/>
                <a:ea typeface="Arial" pitchFamily="34" charset="-122"/>
                <a:cs typeface="Arial" pitchFamily="34" charset="-120"/>
              </a:rPr>
              <a:t>SYSTEMS PROGRAMMING AND MACHINE ORGANIZATION</a:t>
            </a:r>
            <a:endParaRPr lang="en-US" sz="970" dirty="0"/>
          </a:p>
        </p:txBody>
      </p:sp>
      <p:sp>
        <p:nvSpPr>
          <p:cNvPr id="3" name="Text 1"/>
          <p:cNvSpPr txBox="1"/>
          <p:nvPr/>
        </p:nvSpPr>
        <p:spPr>
          <a:xfrm>
            <a:off x="9601200" y="219456"/>
            <a:ext cx="2039112" cy="192024"/>
          </a:xfrm>
          <a:prstGeom prst="rect">
            <a:avLst/>
          </a:prstGeom>
          <a:noFill/>
          <a:ln/>
        </p:spPr>
        <p:txBody>
          <a:bodyPr wrap="square" lIns="0" tIns="0" rIns="0" bIns="0" rtlCol="0" anchor="t"/>
          <a:lstStyle/>
          <a:p>
            <a:pPr algn="r" indent="0" marL="0">
              <a:lnSpc>
                <a:spcPct val="104000"/>
              </a:lnSpc>
              <a:buNone/>
            </a:pPr>
            <a:r>
              <a:rPr lang="en-US" sz="970" b="1" dirty="0">
                <a:solidFill>
                  <a:srgbClr val="B3C3D6"/>
                </a:solidFill>
                <a:latin typeface="Arial" pitchFamily="34" charset="0"/>
                <a:ea typeface="Arial" pitchFamily="34" charset="-122"/>
                <a:cs typeface="Arial" pitchFamily="34" charset="-120"/>
              </a:rPr>
              <a:t>CHARLES DORNER</a:t>
            </a:r>
            <a:endParaRPr lang="en-US" sz="970" dirty="0"/>
          </a:p>
        </p:txBody>
      </p:sp>
      <p:sp>
        <p:nvSpPr>
          <p:cNvPr id="4" name="Text 2"/>
          <p:cNvSpPr txBox="1"/>
          <p:nvPr/>
        </p:nvSpPr>
        <p:spPr>
          <a:xfrm>
            <a:off x="548640" y="566928"/>
            <a:ext cx="11109960" cy="237744"/>
          </a:xfrm>
          <a:prstGeom prst="rect">
            <a:avLst/>
          </a:prstGeom>
          <a:noFill/>
          <a:ln/>
        </p:spPr>
        <p:txBody>
          <a:bodyPr wrap="square" lIns="0" tIns="0" rIns="0" bIns="0" rtlCol="0" anchor="t"/>
          <a:lstStyle/>
          <a:p>
            <a:pPr algn="l" indent="0" marL="0">
              <a:lnSpc>
                <a:spcPct val="104000"/>
              </a:lnSpc>
              <a:buNone/>
            </a:pPr>
            <a:r>
              <a:rPr lang="en-US" sz="1150" b="1" dirty="0">
                <a:solidFill>
                  <a:srgbClr val="71D5DD"/>
                </a:solidFill>
                <a:latin typeface="Arial" pitchFamily="34" charset="0"/>
                <a:ea typeface="Arial" pitchFamily="34" charset="-122"/>
                <a:cs typeface="Arial" pitchFamily="34" charset="-120"/>
              </a:rPr>
              <a:t>1.1 · INTERFACE REASONING CHECK</a:t>
            </a:r>
            <a:endParaRPr lang="en-US" sz="1150" dirty="0"/>
          </a:p>
        </p:txBody>
      </p:sp>
      <p:sp>
        <p:nvSpPr>
          <p:cNvPr id="5" name="Text 3"/>
          <p:cNvSpPr txBox="1"/>
          <p:nvPr/>
        </p:nvSpPr>
        <p:spPr>
          <a:xfrm>
            <a:off x="548640" y="941832"/>
            <a:ext cx="11091672" cy="676656"/>
          </a:xfrm>
          <a:prstGeom prst="rect">
            <a:avLst/>
          </a:prstGeom>
          <a:noFill/>
          <a:ln/>
        </p:spPr>
        <p:txBody>
          <a:bodyPr wrap="square" lIns="0" tIns="0" rIns="0" bIns="0" rtlCol="0" anchor="t"/>
          <a:lstStyle/>
          <a:p>
            <a:pPr algn="l" indent="0" marL="0">
              <a:lnSpc>
                <a:spcPct val="104000"/>
              </a:lnSpc>
              <a:buNone/>
            </a:pPr>
            <a:r>
              <a:rPr lang="en-US" sz="3150" b="1" dirty="0">
                <a:solidFill>
                  <a:srgbClr val="F4F7FB"/>
                </a:solidFill>
                <a:latin typeface="Arial" pitchFamily="34" charset="0"/>
                <a:ea typeface="Arial" pitchFamily="34" charset="-122"/>
                <a:cs typeface="Arial" pitchFamily="34" charset="-120"/>
              </a:rPr>
              <a:t>Locate the boundary before proposing a fix</a:t>
            </a:r>
            <a:endParaRPr lang="en-US" sz="3150" dirty="0"/>
          </a:p>
        </p:txBody>
      </p:sp>
      <p:sp>
        <p:nvSpPr>
          <p:cNvPr id="6" name="Shape 4"/>
          <p:cNvSpPr/>
          <p:nvPr/>
        </p:nvSpPr>
        <p:spPr>
          <a:xfrm>
            <a:off x="548640" y="1764792"/>
            <a:ext cx="3975608" cy="402336"/>
          </a:xfrm>
          <a:prstGeom prst="rect">
            <a:avLst/>
          </a:prstGeom>
          <a:solidFill>
            <a:srgbClr val="172940"/>
          </a:solidFill>
          <a:ln w="8890">
            <a:solidFill>
              <a:srgbClr val="172940"/>
            </a:solidFill>
            <a:prstDash val="solid"/>
          </a:ln>
        </p:spPr>
        <p:txBody>
          <a:bodyPr/>
          <a:p/>
        </p:txBody>
      </p:sp>
      <p:sp>
        <p:nvSpPr>
          <p:cNvPr id="7" name="Text 5"/>
          <p:cNvSpPr txBox="1"/>
          <p:nvPr/>
        </p:nvSpPr>
        <p:spPr>
          <a:xfrm>
            <a:off x="676656" y="1851660"/>
            <a:ext cx="3719576" cy="301752"/>
          </a:xfrm>
          <a:prstGeom prst="rect">
            <a:avLst/>
          </a:prstGeom>
          <a:noFill/>
          <a:ln/>
        </p:spPr>
        <p:txBody>
          <a:bodyPr wrap="square" lIns="0" tIns="0" rIns="0" bIns="0" rtlCol="0" anchor="t"/>
          <a:lstStyle/>
          <a:p>
            <a:pPr algn="l" indent="0" marL="0">
              <a:lnSpc>
                <a:spcPct val="104000"/>
              </a:lnSpc>
              <a:buNone/>
            </a:pPr>
            <a:r>
              <a:rPr lang="en-US" sz="1240" b="1" dirty="0">
                <a:solidFill>
                  <a:srgbClr val="71D5DD"/>
                </a:solidFill>
                <a:latin typeface="Arial" pitchFamily="34" charset="0"/>
                <a:ea typeface="Arial" pitchFamily="34" charset="-122"/>
                <a:cs typeface="Arial" pitchFamily="34" charset="-120"/>
              </a:rPr>
              <a:t>Observation</a:t>
            </a:r>
            <a:endParaRPr lang="en-US" sz="1240" dirty="0"/>
          </a:p>
        </p:txBody>
      </p:sp>
      <p:sp>
        <p:nvSpPr>
          <p:cNvPr id="8" name="Shape 6"/>
          <p:cNvSpPr/>
          <p:nvPr/>
        </p:nvSpPr>
        <p:spPr>
          <a:xfrm>
            <a:off x="4524248" y="1764792"/>
            <a:ext cx="3051048" cy="402336"/>
          </a:xfrm>
          <a:prstGeom prst="rect">
            <a:avLst/>
          </a:prstGeom>
          <a:solidFill>
            <a:srgbClr val="172940"/>
          </a:solidFill>
          <a:ln w="8890">
            <a:solidFill>
              <a:srgbClr val="172940"/>
            </a:solidFill>
            <a:prstDash val="solid"/>
          </a:ln>
        </p:spPr>
        <p:txBody>
          <a:bodyPr/>
          <a:p/>
        </p:txBody>
      </p:sp>
      <p:sp>
        <p:nvSpPr>
          <p:cNvPr id="9" name="Text 7"/>
          <p:cNvSpPr txBox="1"/>
          <p:nvPr/>
        </p:nvSpPr>
        <p:spPr>
          <a:xfrm>
            <a:off x="4652264" y="1851660"/>
            <a:ext cx="2795016" cy="301752"/>
          </a:xfrm>
          <a:prstGeom prst="rect">
            <a:avLst/>
          </a:prstGeom>
          <a:noFill/>
          <a:ln/>
        </p:spPr>
        <p:txBody>
          <a:bodyPr wrap="square" lIns="0" tIns="0" rIns="0" bIns="0" rtlCol="0" anchor="t"/>
          <a:lstStyle/>
          <a:p>
            <a:pPr algn="l" indent="0" marL="0">
              <a:lnSpc>
                <a:spcPct val="104000"/>
              </a:lnSpc>
              <a:buNone/>
            </a:pPr>
            <a:r>
              <a:rPr lang="en-US" sz="1240" b="1" dirty="0">
                <a:solidFill>
                  <a:srgbClr val="71D5DD"/>
                </a:solidFill>
                <a:latin typeface="Arial" pitchFamily="34" charset="0"/>
                <a:ea typeface="Arial" pitchFamily="34" charset="-122"/>
                <a:cs typeface="Arial" pitchFamily="34" charset="-120"/>
              </a:rPr>
              <a:t>Boundary to examine</a:t>
            </a:r>
            <a:endParaRPr lang="en-US" sz="1240" dirty="0"/>
          </a:p>
        </p:txBody>
      </p:sp>
      <p:sp>
        <p:nvSpPr>
          <p:cNvPr id="10" name="Shape 8"/>
          <p:cNvSpPr/>
          <p:nvPr/>
        </p:nvSpPr>
        <p:spPr>
          <a:xfrm>
            <a:off x="7575296" y="1764792"/>
            <a:ext cx="4068064" cy="402336"/>
          </a:xfrm>
          <a:prstGeom prst="rect">
            <a:avLst/>
          </a:prstGeom>
          <a:solidFill>
            <a:srgbClr val="172940"/>
          </a:solidFill>
          <a:ln w="8890">
            <a:solidFill>
              <a:srgbClr val="172940"/>
            </a:solidFill>
            <a:prstDash val="solid"/>
          </a:ln>
        </p:spPr>
        <p:txBody>
          <a:bodyPr/>
          <a:p/>
        </p:txBody>
      </p:sp>
      <p:sp>
        <p:nvSpPr>
          <p:cNvPr id="11" name="Text 9"/>
          <p:cNvSpPr txBox="1"/>
          <p:nvPr/>
        </p:nvSpPr>
        <p:spPr>
          <a:xfrm>
            <a:off x="7703312" y="1851660"/>
            <a:ext cx="3812032" cy="301752"/>
          </a:xfrm>
          <a:prstGeom prst="rect">
            <a:avLst/>
          </a:prstGeom>
          <a:noFill/>
          <a:ln/>
        </p:spPr>
        <p:txBody>
          <a:bodyPr wrap="square" lIns="0" tIns="0" rIns="0" bIns="0" rtlCol="0" anchor="t"/>
          <a:lstStyle/>
          <a:p>
            <a:pPr algn="l" indent="0" marL="0">
              <a:lnSpc>
                <a:spcPct val="104000"/>
              </a:lnSpc>
              <a:buNone/>
            </a:pPr>
            <a:r>
              <a:rPr lang="en-US" sz="1240" b="1" dirty="0">
                <a:solidFill>
                  <a:srgbClr val="71D5DD"/>
                </a:solidFill>
                <a:latin typeface="Arial" pitchFamily="34" charset="0"/>
                <a:ea typeface="Arial" pitchFamily="34" charset="-122"/>
                <a:cs typeface="Arial" pitchFamily="34" charset="-120"/>
              </a:rPr>
              <a:t>Useful next evidence</a:t>
            </a:r>
            <a:endParaRPr lang="en-US" sz="1240" dirty="0"/>
          </a:p>
        </p:txBody>
      </p:sp>
      <p:sp>
        <p:nvSpPr>
          <p:cNvPr id="12" name="Shape 10"/>
          <p:cNvSpPr/>
          <p:nvPr/>
        </p:nvSpPr>
        <p:spPr>
          <a:xfrm>
            <a:off x="548640" y="2167128"/>
            <a:ext cx="3975608" cy="373075"/>
          </a:xfrm>
          <a:prstGeom prst="rect">
            <a:avLst/>
          </a:prstGeom>
          <a:solidFill>
            <a:srgbClr val="142238"/>
          </a:solidFill>
          <a:ln w="8890">
            <a:solidFill>
              <a:srgbClr val="142238"/>
            </a:solidFill>
            <a:prstDash val="solid"/>
          </a:ln>
        </p:spPr>
        <p:txBody>
          <a:bodyPr/>
          <a:p/>
        </p:txBody>
      </p:sp>
      <p:sp>
        <p:nvSpPr>
          <p:cNvPr id="13" name="Text 11"/>
          <p:cNvSpPr txBox="1"/>
          <p:nvPr/>
        </p:nvSpPr>
        <p:spPr>
          <a:xfrm>
            <a:off x="676656" y="2217420"/>
            <a:ext cx="3719576" cy="281635"/>
          </a:xfrm>
          <a:prstGeom prst="rect">
            <a:avLst/>
          </a:prstGeom>
          <a:noFill/>
          <a:ln/>
        </p:spPr>
        <p:txBody>
          <a:bodyPr wrap="square" lIns="0" tIns="0" rIns="0" bIns="0" rtlCol="0" anchor="t"/>
          <a:lstStyle/>
          <a:p>
            <a:pPr algn="l" indent="0" marL="0">
              <a:lnSpc>
                <a:spcPct val="104000"/>
              </a:lnSpc>
              <a:buNone/>
            </a:pPr>
            <a:r>
              <a:rPr lang="en-US" sz="1800" b="1" dirty="0">
                <a:solidFill>
                  <a:srgbClr val="F4F7FB"/>
                </a:solidFill>
                <a:latin typeface="Arial" pitchFamily="34" charset="0"/>
                <a:ea typeface="Arial" pitchFamily="34" charset="-122"/>
                <a:cs typeface="Arial" pitchFamily="34" charset="-120"/>
              </a:rPr>
              <a:t>Source call is rejected</a:t>
            </a:r>
            <a:endParaRPr lang="en-US" sz="1800" dirty="0"/>
          </a:p>
        </p:txBody>
      </p:sp>
      <p:sp>
        <p:nvSpPr>
          <p:cNvPr id="14" name="Shape 12"/>
          <p:cNvSpPr/>
          <p:nvPr/>
        </p:nvSpPr>
        <p:spPr>
          <a:xfrm>
            <a:off x="4524248" y="2167128"/>
            <a:ext cx="3051048" cy="373075"/>
          </a:xfrm>
          <a:prstGeom prst="rect">
            <a:avLst/>
          </a:prstGeom>
          <a:solidFill>
            <a:srgbClr val="142238"/>
          </a:solidFill>
          <a:ln w="8890">
            <a:solidFill>
              <a:srgbClr val="142238"/>
            </a:solidFill>
            <a:prstDash val="solid"/>
          </a:ln>
        </p:spPr>
        <p:txBody>
          <a:bodyPr/>
          <a:p/>
        </p:txBody>
      </p:sp>
      <p:sp>
        <p:nvSpPr>
          <p:cNvPr id="15" name="Text 13"/>
          <p:cNvSpPr txBox="1"/>
          <p:nvPr/>
        </p:nvSpPr>
        <p:spPr>
          <a:xfrm>
            <a:off x="4652264" y="2217420"/>
            <a:ext cx="2795016" cy="281635"/>
          </a:xfrm>
          <a:prstGeom prst="rect">
            <a:avLst/>
          </a:prstGeom>
          <a:noFill/>
          <a:ln/>
        </p:spPr>
        <p:txBody>
          <a:bodyPr wrap="square" lIns="0" tIns="0" rIns="0" bIns="0" rtlCol="0" anchor="t"/>
          <a:lstStyle/>
          <a:p>
            <a:pPr algn="l" indent="0" marL="0">
              <a:lnSpc>
                <a:spcPct val="104000"/>
              </a:lnSpc>
              <a:buNone/>
            </a:pPr>
            <a:r>
              <a:rPr lang="en-US" sz="1800" dirty="0">
                <a:solidFill>
                  <a:srgbClr val="B3C3D6"/>
                </a:solidFill>
                <a:latin typeface="Arial" pitchFamily="34" charset="0"/>
                <a:ea typeface="Arial" pitchFamily="34" charset="-122"/>
                <a:cs typeface="Arial" pitchFamily="34" charset="-120"/>
              </a:rPr>
              <a:t>Language / API</a:t>
            </a:r>
            <a:endParaRPr lang="en-US" sz="1800" dirty="0"/>
          </a:p>
        </p:txBody>
      </p:sp>
      <p:sp>
        <p:nvSpPr>
          <p:cNvPr id="16" name="Shape 14"/>
          <p:cNvSpPr/>
          <p:nvPr/>
        </p:nvSpPr>
        <p:spPr>
          <a:xfrm>
            <a:off x="7575296" y="2167128"/>
            <a:ext cx="4068064" cy="373075"/>
          </a:xfrm>
          <a:prstGeom prst="rect">
            <a:avLst/>
          </a:prstGeom>
          <a:solidFill>
            <a:srgbClr val="142238"/>
          </a:solidFill>
          <a:ln w="8890">
            <a:solidFill>
              <a:srgbClr val="142238"/>
            </a:solidFill>
            <a:prstDash val="solid"/>
          </a:ln>
        </p:spPr>
        <p:txBody>
          <a:bodyPr/>
          <a:p/>
        </p:txBody>
      </p:sp>
      <p:sp>
        <p:nvSpPr>
          <p:cNvPr id="17" name="Text 15"/>
          <p:cNvSpPr txBox="1"/>
          <p:nvPr/>
        </p:nvSpPr>
        <p:spPr>
          <a:xfrm>
            <a:off x="7703312" y="2217420"/>
            <a:ext cx="3812032" cy="281635"/>
          </a:xfrm>
          <a:prstGeom prst="rect">
            <a:avLst/>
          </a:prstGeom>
          <a:noFill/>
          <a:ln/>
        </p:spPr>
        <p:txBody>
          <a:bodyPr wrap="square" lIns="0" tIns="0" rIns="0" bIns="0" rtlCol="0" anchor="t"/>
          <a:lstStyle/>
          <a:p>
            <a:pPr algn="l" indent="0" marL="0">
              <a:lnSpc>
                <a:spcPct val="104000"/>
              </a:lnSpc>
              <a:buNone/>
            </a:pPr>
            <a:r>
              <a:rPr lang="en-US" sz="1800" dirty="0">
                <a:solidFill>
                  <a:srgbClr val="B3C3D6"/>
                </a:solidFill>
                <a:latin typeface="Arial" pitchFamily="34" charset="0"/>
                <a:ea typeface="Arial" pitchFamily="34" charset="-122"/>
                <a:cs typeface="Arial" pitchFamily="34" charset="-120"/>
              </a:rPr>
              <a:t>Visible declaration and diagnostic</a:t>
            </a:r>
            <a:endParaRPr lang="en-US" sz="1800" dirty="0"/>
          </a:p>
        </p:txBody>
      </p:sp>
      <p:sp>
        <p:nvSpPr>
          <p:cNvPr id="18" name="Shape 16"/>
          <p:cNvSpPr/>
          <p:nvPr/>
        </p:nvSpPr>
        <p:spPr>
          <a:xfrm>
            <a:off x="548640" y="2540203"/>
            <a:ext cx="11094720" cy="0"/>
          </a:xfrm>
          <a:prstGeom prst="line">
            <a:avLst/>
          </a:prstGeom>
          <a:noFill/>
          <a:ln w="12700">
            <a:solidFill>
              <a:srgbClr val="2B415A"/>
            </a:solidFill>
            <a:prstDash val="solid"/>
          </a:ln>
        </p:spPr>
        <p:txBody>
          <a:bodyPr/>
          <a:p/>
        </p:txBody>
      </p:sp>
      <p:sp>
        <p:nvSpPr>
          <p:cNvPr id="19" name="Shape 17"/>
          <p:cNvSpPr/>
          <p:nvPr/>
        </p:nvSpPr>
        <p:spPr>
          <a:xfrm>
            <a:off x="548640" y="2540203"/>
            <a:ext cx="3975608" cy="633679"/>
          </a:xfrm>
          <a:prstGeom prst="rect">
            <a:avLst/>
          </a:prstGeom>
          <a:solidFill>
            <a:srgbClr val="0B1322"/>
          </a:solidFill>
          <a:ln w="8890">
            <a:solidFill>
              <a:srgbClr val="0B1322"/>
            </a:solidFill>
            <a:prstDash val="solid"/>
          </a:ln>
        </p:spPr>
        <p:txBody>
          <a:bodyPr/>
          <a:p/>
        </p:txBody>
      </p:sp>
      <p:sp>
        <p:nvSpPr>
          <p:cNvPr id="20" name="Text 18"/>
          <p:cNvSpPr txBox="1"/>
          <p:nvPr/>
        </p:nvSpPr>
        <p:spPr>
          <a:xfrm>
            <a:off x="676656" y="2590495"/>
            <a:ext cx="3719576" cy="542239"/>
          </a:xfrm>
          <a:prstGeom prst="rect">
            <a:avLst/>
          </a:prstGeom>
          <a:noFill/>
          <a:ln/>
        </p:spPr>
        <p:txBody>
          <a:bodyPr wrap="square" lIns="0" tIns="0" rIns="0" bIns="0" rtlCol="0" anchor="t"/>
          <a:lstStyle/>
          <a:p>
            <a:pPr algn="l" indent="0" marL="0">
              <a:lnSpc>
                <a:spcPct val="104000"/>
              </a:lnSpc>
              <a:buNone/>
            </a:pPr>
            <a:r>
              <a:rPr lang="en-US" sz="1800" b="1" dirty="0">
                <a:solidFill>
                  <a:srgbClr val="F4F7FB"/>
                </a:solidFill>
                <a:latin typeface="Arial" pitchFamily="34" charset="0"/>
                <a:ea typeface="Arial" pitchFamily="34" charset="-122"/>
                <a:cs typeface="Arial" pitchFamily="34" charset="-120"/>
              </a:rPr>
              <a:t>Required symbol is unresolved</a:t>
            </a:r>
            <a:endParaRPr lang="en-US" sz="1800" dirty="0"/>
          </a:p>
        </p:txBody>
      </p:sp>
      <p:sp>
        <p:nvSpPr>
          <p:cNvPr id="21" name="Shape 19"/>
          <p:cNvSpPr/>
          <p:nvPr/>
        </p:nvSpPr>
        <p:spPr>
          <a:xfrm>
            <a:off x="4524248" y="2540203"/>
            <a:ext cx="3051048" cy="633679"/>
          </a:xfrm>
          <a:prstGeom prst="rect">
            <a:avLst/>
          </a:prstGeom>
          <a:solidFill>
            <a:srgbClr val="0B1322"/>
          </a:solidFill>
          <a:ln w="8890">
            <a:solidFill>
              <a:srgbClr val="0B1322"/>
            </a:solidFill>
            <a:prstDash val="solid"/>
          </a:ln>
        </p:spPr>
        <p:txBody>
          <a:bodyPr/>
          <a:p/>
        </p:txBody>
      </p:sp>
      <p:sp>
        <p:nvSpPr>
          <p:cNvPr id="22" name="Text 20"/>
          <p:cNvSpPr txBox="1"/>
          <p:nvPr/>
        </p:nvSpPr>
        <p:spPr>
          <a:xfrm>
            <a:off x="4652264" y="2590495"/>
            <a:ext cx="2795016" cy="542239"/>
          </a:xfrm>
          <a:prstGeom prst="rect">
            <a:avLst/>
          </a:prstGeom>
          <a:noFill/>
          <a:ln/>
        </p:spPr>
        <p:txBody>
          <a:bodyPr wrap="square" lIns="0" tIns="0" rIns="0" bIns="0" rtlCol="0" anchor="t"/>
          <a:lstStyle/>
          <a:p>
            <a:pPr algn="l" indent="0" marL="0">
              <a:lnSpc>
                <a:spcPct val="104000"/>
              </a:lnSpc>
              <a:buNone/>
            </a:pPr>
            <a:r>
              <a:rPr lang="en-US" sz="1800" dirty="0">
                <a:solidFill>
                  <a:srgbClr val="B3C3D6"/>
                </a:solidFill>
                <a:latin typeface="Arial" pitchFamily="34" charset="0"/>
                <a:ea typeface="Arial" pitchFamily="34" charset="-122"/>
                <a:cs typeface="Arial" pitchFamily="34" charset="-120"/>
              </a:rPr>
              <a:t>Link inputs / binary</a:t>
            </a:r>
            <a:endParaRPr lang="en-US" sz="1800" dirty="0"/>
          </a:p>
          <a:p>
            <a:pPr algn="l" indent="0" marL="0">
              <a:lnSpc>
                <a:spcPct val="104000"/>
              </a:lnSpc>
              <a:buNone/>
            </a:pPr>
            <a:r>
              <a:rPr lang="en-US" sz="1800" dirty="0">
                <a:solidFill>
                  <a:srgbClr val="B3C3D6"/>
                </a:solidFill>
                <a:latin typeface="Arial" pitchFamily="34" charset="0"/>
                <a:ea typeface="Arial" pitchFamily="34" charset="-122"/>
                <a:cs typeface="Arial" pitchFamily="34" charset="-120"/>
              </a:rPr>
              <a:t>interface</a:t>
            </a:r>
            <a:endParaRPr lang="en-US" sz="1800" dirty="0"/>
          </a:p>
        </p:txBody>
      </p:sp>
      <p:sp>
        <p:nvSpPr>
          <p:cNvPr id="23" name="Shape 21"/>
          <p:cNvSpPr/>
          <p:nvPr/>
        </p:nvSpPr>
        <p:spPr>
          <a:xfrm>
            <a:off x="7575296" y="2540203"/>
            <a:ext cx="4068064" cy="633679"/>
          </a:xfrm>
          <a:prstGeom prst="rect">
            <a:avLst/>
          </a:prstGeom>
          <a:solidFill>
            <a:srgbClr val="0B1322"/>
          </a:solidFill>
          <a:ln w="8890">
            <a:solidFill>
              <a:srgbClr val="0B1322"/>
            </a:solidFill>
            <a:prstDash val="solid"/>
          </a:ln>
        </p:spPr>
        <p:txBody>
          <a:bodyPr/>
          <a:p/>
        </p:txBody>
      </p:sp>
      <p:sp>
        <p:nvSpPr>
          <p:cNvPr id="24" name="Text 22"/>
          <p:cNvSpPr txBox="1"/>
          <p:nvPr/>
        </p:nvSpPr>
        <p:spPr>
          <a:xfrm>
            <a:off x="7703312" y="2590495"/>
            <a:ext cx="3812032" cy="542239"/>
          </a:xfrm>
          <a:prstGeom prst="rect">
            <a:avLst/>
          </a:prstGeom>
          <a:noFill/>
          <a:ln/>
        </p:spPr>
        <p:txBody>
          <a:bodyPr wrap="square" lIns="0" tIns="0" rIns="0" bIns="0" rtlCol="0" anchor="t"/>
          <a:lstStyle/>
          <a:p>
            <a:pPr algn="l" indent="0" marL="0">
              <a:lnSpc>
                <a:spcPct val="104000"/>
              </a:lnSpc>
              <a:buNone/>
            </a:pPr>
            <a:r>
              <a:rPr lang="en-US" sz="1800" dirty="0">
                <a:solidFill>
                  <a:srgbClr val="B3C3D6"/>
                </a:solidFill>
                <a:latin typeface="Arial" pitchFamily="34" charset="0"/>
                <a:ea typeface="Arial" pitchFamily="34" charset="-122"/>
                <a:cs typeface="Arial" pitchFamily="34" charset="-120"/>
              </a:rPr>
              <a:t>Object-file symbols and link</a:t>
            </a:r>
            <a:endParaRPr lang="en-US" sz="1800" dirty="0"/>
          </a:p>
          <a:p>
            <a:pPr algn="l" indent="0" marL="0">
              <a:lnSpc>
                <a:spcPct val="104000"/>
              </a:lnSpc>
              <a:buNone/>
            </a:pPr>
            <a:r>
              <a:rPr lang="en-US" sz="1800" dirty="0">
                <a:solidFill>
                  <a:srgbClr val="B3C3D6"/>
                </a:solidFill>
                <a:latin typeface="Arial" pitchFamily="34" charset="0"/>
                <a:ea typeface="Arial" pitchFamily="34" charset="-122"/>
                <a:cs typeface="Arial" pitchFamily="34" charset="-120"/>
              </a:rPr>
              <a:t>command</a:t>
            </a:r>
            <a:endParaRPr lang="en-US" sz="1800" dirty="0"/>
          </a:p>
        </p:txBody>
      </p:sp>
      <p:sp>
        <p:nvSpPr>
          <p:cNvPr id="25" name="Shape 23"/>
          <p:cNvSpPr/>
          <p:nvPr/>
        </p:nvSpPr>
        <p:spPr>
          <a:xfrm>
            <a:off x="548640" y="3173882"/>
            <a:ext cx="11094720" cy="0"/>
          </a:xfrm>
          <a:prstGeom prst="line">
            <a:avLst/>
          </a:prstGeom>
          <a:noFill/>
          <a:ln w="12700">
            <a:solidFill>
              <a:srgbClr val="2B415A"/>
            </a:solidFill>
            <a:prstDash val="solid"/>
          </a:ln>
        </p:spPr>
        <p:txBody>
          <a:bodyPr/>
          <a:p/>
        </p:txBody>
      </p:sp>
      <p:sp>
        <p:nvSpPr>
          <p:cNvPr id="26" name="Shape 24"/>
          <p:cNvSpPr/>
          <p:nvPr/>
        </p:nvSpPr>
        <p:spPr>
          <a:xfrm>
            <a:off x="548640" y="3173882"/>
            <a:ext cx="3975608" cy="633679"/>
          </a:xfrm>
          <a:prstGeom prst="rect">
            <a:avLst/>
          </a:prstGeom>
          <a:solidFill>
            <a:srgbClr val="142238"/>
          </a:solidFill>
          <a:ln w="8890">
            <a:solidFill>
              <a:srgbClr val="142238"/>
            </a:solidFill>
            <a:prstDash val="solid"/>
          </a:ln>
        </p:spPr>
        <p:txBody>
          <a:bodyPr/>
          <a:p/>
        </p:txBody>
      </p:sp>
      <p:sp>
        <p:nvSpPr>
          <p:cNvPr id="27" name="Text 25"/>
          <p:cNvSpPr txBox="1"/>
          <p:nvPr/>
        </p:nvSpPr>
        <p:spPr>
          <a:xfrm>
            <a:off x="676656" y="3224174"/>
            <a:ext cx="3719576" cy="542239"/>
          </a:xfrm>
          <a:prstGeom prst="rect">
            <a:avLst/>
          </a:prstGeom>
          <a:noFill/>
          <a:ln/>
        </p:spPr>
        <p:txBody>
          <a:bodyPr wrap="square" lIns="0" tIns="0" rIns="0" bIns="0" rtlCol="0" anchor="t"/>
          <a:lstStyle/>
          <a:p>
            <a:pPr algn="l" indent="0" marL="0">
              <a:lnSpc>
                <a:spcPct val="104000"/>
              </a:lnSpc>
              <a:buNone/>
            </a:pPr>
            <a:r>
              <a:rPr lang="en-US" sz="1800" b="1" dirty="0">
                <a:solidFill>
                  <a:srgbClr val="F4F7FB"/>
                </a:solidFill>
                <a:latin typeface="Arial" pitchFamily="34" charset="0"/>
                <a:ea typeface="Arial" pitchFamily="34" charset="-122"/>
                <a:cs typeface="Arial" pitchFamily="34" charset="-120"/>
              </a:rPr>
              <a:t>Objects disagree about argument</a:t>
            </a:r>
            <a:endParaRPr lang="en-US" sz="1800" dirty="0"/>
          </a:p>
          <a:p>
            <a:pPr algn="l" indent="0" marL="0">
              <a:lnSpc>
                <a:spcPct val="104000"/>
              </a:lnSpc>
              <a:buNone/>
            </a:pPr>
            <a:r>
              <a:rPr lang="en-US" sz="1800" b="1" dirty="0">
                <a:solidFill>
                  <a:srgbClr val="F4F7FB"/>
                </a:solidFill>
                <a:latin typeface="Arial" pitchFamily="34" charset="0"/>
                <a:ea typeface="Arial" pitchFamily="34" charset="-122"/>
                <a:cs typeface="Arial" pitchFamily="34" charset="-120"/>
              </a:rPr>
              <a:t>layout</a:t>
            </a:r>
            <a:endParaRPr lang="en-US" sz="1800" dirty="0"/>
          </a:p>
        </p:txBody>
      </p:sp>
      <p:sp>
        <p:nvSpPr>
          <p:cNvPr id="28" name="Shape 26"/>
          <p:cNvSpPr/>
          <p:nvPr/>
        </p:nvSpPr>
        <p:spPr>
          <a:xfrm>
            <a:off x="4524248" y="3173882"/>
            <a:ext cx="3051048" cy="633679"/>
          </a:xfrm>
          <a:prstGeom prst="rect">
            <a:avLst/>
          </a:prstGeom>
          <a:solidFill>
            <a:srgbClr val="142238"/>
          </a:solidFill>
          <a:ln w="8890">
            <a:solidFill>
              <a:srgbClr val="142238"/>
            </a:solidFill>
            <a:prstDash val="solid"/>
          </a:ln>
        </p:spPr>
        <p:txBody>
          <a:bodyPr/>
          <a:p/>
        </p:txBody>
      </p:sp>
      <p:sp>
        <p:nvSpPr>
          <p:cNvPr id="29" name="Text 27"/>
          <p:cNvSpPr txBox="1"/>
          <p:nvPr/>
        </p:nvSpPr>
        <p:spPr>
          <a:xfrm>
            <a:off x="4652264" y="3224174"/>
            <a:ext cx="2795016" cy="542239"/>
          </a:xfrm>
          <a:prstGeom prst="rect">
            <a:avLst/>
          </a:prstGeom>
          <a:noFill/>
          <a:ln/>
        </p:spPr>
        <p:txBody>
          <a:bodyPr wrap="square" lIns="0" tIns="0" rIns="0" bIns="0" rtlCol="0" anchor="t"/>
          <a:lstStyle/>
          <a:p>
            <a:pPr algn="l" indent="0" marL="0">
              <a:lnSpc>
                <a:spcPct val="104000"/>
              </a:lnSpc>
              <a:buNone/>
            </a:pPr>
            <a:r>
              <a:rPr lang="en-US" sz="1800" dirty="0">
                <a:solidFill>
                  <a:srgbClr val="B3C3D6"/>
                </a:solidFill>
                <a:latin typeface="Arial" pitchFamily="34" charset="0"/>
                <a:ea typeface="Arial" pitchFamily="34" charset="-122"/>
                <a:cs typeface="Arial" pitchFamily="34" charset="-120"/>
              </a:rPr>
              <a:t>ABI</a:t>
            </a:r>
            <a:endParaRPr lang="en-US" sz="1800" dirty="0"/>
          </a:p>
        </p:txBody>
      </p:sp>
      <p:sp>
        <p:nvSpPr>
          <p:cNvPr id="30" name="Shape 28"/>
          <p:cNvSpPr/>
          <p:nvPr/>
        </p:nvSpPr>
        <p:spPr>
          <a:xfrm>
            <a:off x="7575296" y="3173882"/>
            <a:ext cx="4068064" cy="633679"/>
          </a:xfrm>
          <a:prstGeom prst="rect">
            <a:avLst/>
          </a:prstGeom>
          <a:solidFill>
            <a:srgbClr val="142238"/>
          </a:solidFill>
          <a:ln w="8890">
            <a:solidFill>
              <a:srgbClr val="142238"/>
            </a:solidFill>
            <a:prstDash val="solid"/>
          </a:ln>
        </p:spPr>
        <p:txBody>
          <a:bodyPr/>
          <a:p/>
        </p:txBody>
      </p:sp>
      <p:sp>
        <p:nvSpPr>
          <p:cNvPr id="31" name="Text 29"/>
          <p:cNvSpPr txBox="1"/>
          <p:nvPr/>
        </p:nvSpPr>
        <p:spPr>
          <a:xfrm>
            <a:off x="7703312" y="3224174"/>
            <a:ext cx="3812032" cy="542239"/>
          </a:xfrm>
          <a:prstGeom prst="rect">
            <a:avLst/>
          </a:prstGeom>
          <a:noFill/>
          <a:ln/>
        </p:spPr>
        <p:txBody>
          <a:bodyPr wrap="square" lIns="0" tIns="0" rIns="0" bIns="0" rtlCol="0" anchor="t"/>
          <a:lstStyle/>
          <a:p>
            <a:pPr algn="l" indent="0" marL="0">
              <a:lnSpc>
                <a:spcPct val="104000"/>
              </a:lnSpc>
              <a:buNone/>
            </a:pPr>
            <a:r>
              <a:rPr lang="en-US" sz="1800" dirty="0">
                <a:solidFill>
                  <a:srgbClr val="B3C3D6"/>
                </a:solidFill>
                <a:latin typeface="Arial" pitchFamily="34" charset="0"/>
                <a:ea typeface="Arial" pitchFamily="34" charset="-122"/>
                <a:cs typeface="Arial" pitchFamily="34" charset="-120"/>
              </a:rPr>
              <a:t>Calling conventions and type</a:t>
            </a:r>
            <a:endParaRPr lang="en-US" sz="1800" dirty="0"/>
          </a:p>
          <a:p>
            <a:pPr algn="l" indent="0" marL="0">
              <a:lnSpc>
                <a:spcPct val="104000"/>
              </a:lnSpc>
              <a:buNone/>
            </a:pPr>
            <a:r>
              <a:rPr lang="en-US" sz="1800" dirty="0">
                <a:solidFill>
                  <a:srgbClr val="B3C3D6"/>
                </a:solidFill>
                <a:latin typeface="Arial" pitchFamily="34" charset="0"/>
                <a:ea typeface="Arial" pitchFamily="34" charset="-122"/>
                <a:cs typeface="Arial" pitchFamily="34" charset="-120"/>
              </a:rPr>
              <a:t>assumptions</a:t>
            </a:r>
            <a:endParaRPr lang="en-US" sz="1800" dirty="0"/>
          </a:p>
        </p:txBody>
      </p:sp>
      <p:sp>
        <p:nvSpPr>
          <p:cNvPr id="32" name="Shape 30"/>
          <p:cNvSpPr/>
          <p:nvPr/>
        </p:nvSpPr>
        <p:spPr>
          <a:xfrm>
            <a:off x="548640" y="3807562"/>
            <a:ext cx="11094720" cy="0"/>
          </a:xfrm>
          <a:prstGeom prst="line">
            <a:avLst/>
          </a:prstGeom>
          <a:noFill/>
          <a:ln w="12700">
            <a:solidFill>
              <a:srgbClr val="2B415A"/>
            </a:solidFill>
            <a:prstDash val="solid"/>
          </a:ln>
        </p:spPr>
        <p:txBody>
          <a:bodyPr/>
          <a:p/>
        </p:txBody>
      </p:sp>
      <p:sp>
        <p:nvSpPr>
          <p:cNvPr id="33" name="Shape 31"/>
          <p:cNvSpPr/>
          <p:nvPr/>
        </p:nvSpPr>
        <p:spPr>
          <a:xfrm>
            <a:off x="548640" y="3807562"/>
            <a:ext cx="3975608" cy="633679"/>
          </a:xfrm>
          <a:prstGeom prst="rect">
            <a:avLst/>
          </a:prstGeom>
          <a:solidFill>
            <a:srgbClr val="0B1322"/>
          </a:solidFill>
          <a:ln w="8890">
            <a:solidFill>
              <a:srgbClr val="0B1322"/>
            </a:solidFill>
            <a:prstDash val="solid"/>
          </a:ln>
        </p:spPr>
        <p:txBody>
          <a:bodyPr/>
          <a:p/>
        </p:txBody>
      </p:sp>
      <p:sp>
        <p:nvSpPr>
          <p:cNvPr id="34" name="Text 32"/>
          <p:cNvSpPr txBox="1"/>
          <p:nvPr/>
        </p:nvSpPr>
        <p:spPr>
          <a:xfrm>
            <a:off x="676656" y="3857854"/>
            <a:ext cx="3719576" cy="542239"/>
          </a:xfrm>
          <a:prstGeom prst="rect">
            <a:avLst/>
          </a:prstGeom>
          <a:noFill/>
          <a:ln/>
        </p:spPr>
        <p:txBody>
          <a:bodyPr wrap="square" lIns="0" tIns="0" rIns="0" bIns="0" rtlCol="0" anchor="t"/>
          <a:lstStyle/>
          <a:p>
            <a:pPr algn="l" indent="0" marL="0">
              <a:lnSpc>
                <a:spcPct val="104000"/>
              </a:lnSpc>
              <a:buNone/>
            </a:pPr>
            <a:r>
              <a:rPr lang="en-US" sz="1800" b="1" dirty="0">
                <a:solidFill>
                  <a:srgbClr val="F4F7FB"/>
                </a:solidFill>
                <a:latin typeface="Arial" pitchFamily="34" charset="0"/>
                <a:ea typeface="Arial" pitchFamily="34" charset="-122"/>
                <a:cs typeface="Arial" pitchFamily="34" charset="-120"/>
              </a:rPr>
              <a:t>Loaded program cannot open a</a:t>
            </a:r>
            <a:endParaRPr lang="en-US" sz="1800" dirty="0"/>
          </a:p>
          <a:p>
            <a:pPr algn="l" indent="0" marL="0">
              <a:lnSpc>
                <a:spcPct val="104000"/>
              </a:lnSpc>
              <a:buNone/>
            </a:pPr>
            <a:r>
              <a:rPr lang="en-US" sz="1800" b="1" dirty="0">
                <a:solidFill>
                  <a:srgbClr val="F4F7FB"/>
                </a:solidFill>
                <a:latin typeface="Arial" pitchFamily="34" charset="0"/>
                <a:ea typeface="Arial" pitchFamily="34" charset="-122"/>
                <a:cs typeface="Arial" pitchFamily="34" charset="-120"/>
              </a:rPr>
              <a:t>file</a:t>
            </a:r>
            <a:endParaRPr lang="en-US" sz="1800" dirty="0"/>
          </a:p>
        </p:txBody>
      </p:sp>
      <p:sp>
        <p:nvSpPr>
          <p:cNvPr id="35" name="Shape 33"/>
          <p:cNvSpPr/>
          <p:nvPr/>
        </p:nvSpPr>
        <p:spPr>
          <a:xfrm>
            <a:off x="4524248" y="3807562"/>
            <a:ext cx="3051048" cy="633679"/>
          </a:xfrm>
          <a:prstGeom prst="rect">
            <a:avLst/>
          </a:prstGeom>
          <a:solidFill>
            <a:srgbClr val="0B1322"/>
          </a:solidFill>
          <a:ln w="8890">
            <a:solidFill>
              <a:srgbClr val="0B1322"/>
            </a:solidFill>
            <a:prstDash val="solid"/>
          </a:ln>
        </p:spPr>
        <p:txBody>
          <a:bodyPr/>
          <a:p/>
        </p:txBody>
      </p:sp>
      <p:sp>
        <p:nvSpPr>
          <p:cNvPr id="36" name="Text 34"/>
          <p:cNvSpPr txBox="1"/>
          <p:nvPr/>
        </p:nvSpPr>
        <p:spPr>
          <a:xfrm>
            <a:off x="4652264" y="3857854"/>
            <a:ext cx="2795016" cy="542239"/>
          </a:xfrm>
          <a:prstGeom prst="rect">
            <a:avLst/>
          </a:prstGeom>
          <a:noFill/>
          <a:ln/>
        </p:spPr>
        <p:txBody>
          <a:bodyPr wrap="square" lIns="0" tIns="0" rIns="0" bIns="0" rtlCol="0" anchor="t"/>
          <a:lstStyle/>
          <a:p>
            <a:pPr algn="l" indent="0" marL="0">
              <a:lnSpc>
                <a:spcPct val="104000"/>
              </a:lnSpc>
              <a:buNone/>
            </a:pPr>
            <a:r>
              <a:rPr lang="en-US" sz="1800" dirty="0">
                <a:solidFill>
                  <a:srgbClr val="B3C3D6"/>
                </a:solidFill>
                <a:latin typeface="Arial" pitchFamily="34" charset="0"/>
                <a:ea typeface="Arial" pitchFamily="34" charset="-122"/>
                <a:cs typeface="Arial" pitchFamily="34" charset="-120"/>
              </a:rPr>
              <a:t>Runtime / OS resource</a:t>
            </a:r>
            <a:endParaRPr lang="en-US" sz="1800" dirty="0"/>
          </a:p>
          <a:p>
            <a:pPr algn="l" indent="0" marL="0">
              <a:lnSpc>
                <a:spcPct val="104000"/>
              </a:lnSpc>
              <a:buNone/>
            </a:pPr>
            <a:r>
              <a:rPr lang="en-US" sz="1800" dirty="0">
                <a:solidFill>
                  <a:srgbClr val="B3C3D6"/>
                </a:solidFill>
                <a:latin typeface="Arial" pitchFamily="34" charset="0"/>
                <a:ea typeface="Arial" pitchFamily="34" charset="-122"/>
                <a:cs typeface="Arial" pitchFamily="34" charset="-120"/>
              </a:rPr>
              <a:t>interface</a:t>
            </a:r>
            <a:endParaRPr lang="en-US" sz="1800" dirty="0"/>
          </a:p>
        </p:txBody>
      </p:sp>
      <p:sp>
        <p:nvSpPr>
          <p:cNvPr id="37" name="Shape 35"/>
          <p:cNvSpPr/>
          <p:nvPr/>
        </p:nvSpPr>
        <p:spPr>
          <a:xfrm>
            <a:off x="7575296" y="3807562"/>
            <a:ext cx="4068064" cy="633679"/>
          </a:xfrm>
          <a:prstGeom prst="rect">
            <a:avLst/>
          </a:prstGeom>
          <a:solidFill>
            <a:srgbClr val="0B1322"/>
          </a:solidFill>
          <a:ln w="8890">
            <a:solidFill>
              <a:srgbClr val="0B1322"/>
            </a:solidFill>
            <a:prstDash val="solid"/>
          </a:ln>
        </p:spPr>
        <p:txBody>
          <a:bodyPr/>
          <a:p/>
        </p:txBody>
      </p:sp>
      <p:sp>
        <p:nvSpPr>
          <p:cNvPr id="38" name="Text 36"/>
          <p:cNvSpPr txBox="1"/>
          <p:nvPr/>
        </p:nvSpPr>
        <p:spPr>
          <a:xfrm>
            <a:off x="7703312" y="3857854"/>
            <a:ext cx="3812032" cy="542239"/>
          </a:xfrm>
          <a:prstGeom prst="rect">
            <a:avLst/>
          </a:prstGeom>
          <a:noFill/>
          <a:ln/>
        </p:spPr>
        <p:txBody>
          <a:bodyPr wrap="square" lIns="0" tIns="0" rIns="0" bIns="0" rtlCol="0" anchor="t"/>
          <a:lstStyle/>
          <a:p>
            <a:pPr algn="l" indent="0" marL="0">
              <a:lnSpc>
                <a:spcPct val="104000"/>
              </a:lnSpc>
              <a:buNone/>
            </a:pPr>
            <a:r>
              <a:rPr lang="en-US" sz="1800" dirty="0">
                <a:solidFill>
                  <a:srgbClr val="B3C3D6"/>
                </a:solidFill>
                <a:latin typeface="Arial" pitchFamily="34" charset="0"/>
                <a:ea typeface="Arial" pitchFamily="34" charset="-122"/>
                <a:cs typeface="Arial" pitchFamily="34" charset="-120"/>
              </a:rPr>
              <a:t>Operation result and environment</a:t>
            </a:r>
            <a:endParaRPr lang="en-US" sz="1800" dirty="0"/>
          </a:p>
        </p:txBody>
      </p:sp>
      <p:sp>
        <p:nvSpPr>
          <p:cNvPr id="39" name="Shape 37"/>
          <p:cNvSpPr/>
          <p:nvPr/>
        </p:nvSpPr>
        <p:spPr>
          <a:xfrm>
            <a:off x="548640" y="4441241"/>
            <a:ext cx="11094720" cy="0"/>
          </a:xfrm>
          <a:prstGeom prst="line">
            <a:avLst/>
          </a:prstGeom>
          <a:noFill/>
          <a:ln w="12700">
            <a:solidFill>
              <a:srgbClr val="2B415A"/>
            </a:solidFill>
            <a:prstDash val="solid"/>
          </a:ln>
        </p:spPr>
        <p:txBody>
          <a:bodyPr/>
          <a:p/>
        </p:txBody>
      </p:sp>
      <p:sp>
        <p:nvSpPr>
          <p:cNvPr id="40" name="Shape 38"/>
          <p:cNvSpPr/>
          <p:nvPr/>
        </p:nvSpPr>
        <p:spPr>
          <a:xfrm>
            <a:off x="548640" y="4441241"/>
            <a:ext cx="3975608" cy="633679"/>
          </a:xfrm>
          <a:prstGeom prst="rect">
            <a:avLst/>
          </a:prstGeom>
          <a:solidFill>
            <a:srgbClr val="142238"/>
          </a:solidFill>
          <a:ln w="8890">
            <a:solidFill>
              <a:srgbClr val="142238"/>
            </a:solidFill>
            <a:prstDash val="solid"/>
          </a:ln>
        </p:spPr>
        <p:txBody>
          <a:bodyPr/>
          <a:p/>
        </p:txBody>
      </p:sp>
      <p:sp>
        <p:nvSpPr>
          <p:cNvPr id="41" name="Text 39"/>
          <p:cNvSpPr txBox="1"/>
          <p:nvPr/>
        </p:nvSpPr>
        <p:spPr>
          <a:xfrm>
            <a:off x="676656" y="4491533"/>
            <a:ext cx="3719576" cy="542239"/>
          </a:xfrm>
          <a:prstGeom prst="rect">
            <a:avLst/>
          </a:prstGeom>
          <a:noFill/>
          <a:ln/>
        </p:spPr>
        <p:txBody>
          <a:bodyPr wrap="square" lIns="0" tIns="0" rIns="0" bIns="0" rtlCol="0" anchor="t"/>
          <a:lstStyle/>
          <a:p>
            <a:pPr algn="l" indent="0" marL="0">
              <a:lnSpc>
                <a:spcPct val="104000"/>
              </a:lnSpc>
              <a:buNone/>
            </a:pPr>
            <a:r>
              <a:rPr lang="en-US" sz="1800" b="1" dirty="0">
                <a:solidFill>
                  <a:srgbClr val="F4F7FB"/>
                </a:solidFill>
                <a:latin typeface="Arial" pitchFamily="34" charset="0"/>
                <a:ea typeface="Arial" pitchFamily="34" charset="-122"/>
                <a:cs typeface="Arial" pitchFamily="34" charset="-120"/>
              </a:rPr>
              <a:t>Same binary runs at different</a:t>
            </a:r>
            <a:endParaRPr lang="en-US" sz="1800" dirty="0"/>
          </a:p>
          <a:p>
            <a:pPr algn="l" indent="0" marL="0">
              <a:lnSpc>
                <a:spcPct val="104000"/>
              </a:lnSpc>
              <a:buNone/>
            </a:pPr>
            <a:r>
              <a:rPr lang="en-US" sz="1800" b="1" dirty="0">
                <a:solidFill>
                  <a:srgbClr val="F4F7FB"/>
                </a:solidFill>
                <a:latin typeface="Arial" pitchFamily="34" charset="0"/>
                <a:ea typeface="Arial" pitchFamily="34" charset="-122"/>
                <a:cs typeface="Arial" pitchFamily="34" charset="-120"/>
              </a:rPr>
              <a:t>speeds</a:t>
            </a:r>
            <a:endParaRPr lang="en-US" sz="1800" dirty="0"/>
          </a:p>
        </p:txBody>
      </p:sp>
      <p:sp>
        <p:nvSpPr>
          <p:cNvPr id="42" name="Shape 40"/>
          <p:cNvSpPr/>
          <p:nvPr/>
        </p:nvSpPr>
        <p:spPr>
          <a:xfrm>
            <a:off x="4524248" y="4441241"/>
            <a:ext cx="3051048" cy="633679"/>
          </a:xfrm>
          <a:prstGeom prst="rect">
            <a:avLst/>
          </a:prstGeom>
          <a:solidFill>
            <a:srgbClr val="142238"/>
          </a:solidFill>
          <a:ln w="8890">
            <a:solidFill>
              <a:srgbClr val="142238"/>
            </a:solidFill>
            <a:prstDash val="solid"/>
          </a:ln>
        </p:spPr>
        <p:txBody>
          <a:bodyPr/>
          <a:p/>
        </p:txBody>
      </p:sp>
      <p:sp>
        <p:nvSpPr>
          <p:cNvPr id="43" name="Text 41"/>
          <p:cNvSpPr txBox="1"/>
          <p:nvPr/>
        </p:nvSpPr>
        <p:spPr>
          <a:xfrm>
            <a:off x="4652264" y="4491533"/>
            <a:ext cx="2795016" cy="542239"/>
          </a:xfrm>
          <a:prstGeom prst="rect">
            <a:avLst/>
          </a:prstGeom>
          <a:noFill/>
          <a:ln/>
        </p:spPr>
        <p:txBody>
          <a:bodyPr wrap="square" lIns="0" tIns="0" rIns="0" bIns="0" rtlCol="0" anchor="t"/>
          <a:lstStyle/>
          <a:p>
            <a:pPr algn="l" indent="0" marL="0">
              <a:lnSpc>
                <a:spcPct val="104000"/>
              </a:lnSpc>
              <a:buNone/>
            </a:pPr>
            <a:r>
              <a:rPr lang="en-US" sz="1800" dirty="0">
                <a:solidFill>
                  <a:srgbClr val="B3C3D6"/>
                </a:solidFill>
                <a:latin typeface="Arial" pitchFamily="34" charset="0"/>
                <a:ea typeface="Arial" pitchFamily="34" charset="-122"/>
                <a:cs typeface="Arial" pitchFamily="34" charset="-120"/>
              </a:rPr>
              <a:t>Implementation / workload</a:t>
            </a:r>
            <a:endParaRPr lang="en-US" sz="1800" dirty="0"/>
          </a:p>
        </p:txBody>
      </p:sp>
      <p:sp>
        <p:nvSpPr>
          <p:cNvPr id="44" name="Shape 42"/>
          <p:cNvSpPr/>
          <p:nvPr/>
        </p:nvSpPr>
        <p:spPr>
          <a:xfrm>
            <a:off x="7575296" y="4441241"/>
            <a:ext cx="4068064" cy="633679"/>
          </a:xfrm>
          <a:prstGeom prst="rect">
            <a:avLst/>
          </a:prstGeom>
          <a:solidFill>
            <a:srgbClr val="142238"/>
          </a:solidFill>
          <a:ln w="8890">
            <a:solidFill>
              <a:srgbClr val="142238"/>
            </a:solidFill>
            <a:prstDash val="solid"/>
          </a:ln>
        </p:spPr>
        <p:txBody>
          <a:bodyPr/>
          <a:p/>
        </p:txBody>
      </p:sp>
      <p:sp>
        <p:nvSpPr>
          <p:cNvPr id="45" name="Text 43"/>
          <p:cNvSpPr txBox="1"/>
          <p:nvPr/>
        </p:nvSpPr>
        <p:spPr>
          <a:xfrm>
            <a:off x="7703312" y="4491533"/>
            <a:ext cx="3812032" cy="542239"/>
          </a:xfrm>
          <a:prstGeom prst="rect">
            <a:avLst/>
          </a:prstGeom>
          <a:noFill/>
          <a:ln/>
        </p:spPr>
        <p:txBody>
          <a:bodyPr wrap="square" lIns="0" tIns="0" rIns="0" bIns="0" rtlCol="0" anchor="t"/>
          <a:lstStyle/>
          <a:p>
            <a:pPr algn="l" indent="0" marL="0">
              <a:lnSpc>
                <a:spcPct val="104000"/>
              </a:lnSpc>
              <a:buNone/>
            </a:pPr>
            <a:r>
              <a:rPr lang="en-US" sz="1800" dirty="0">
                <a:solidFill>
                  <a:srgbClr val="B3C3D6"/>
                </a:solidFill>
                <a:latin typeface="Arial" pitchFamily="34" charset="0"/>
                <a:ea typeface="Arial" pitchFamily="34" charset="-122"/>
                <a:cs typeface="Arial" pitchFamily="34" charset="-120"/>
              </a:rPr>
              <a:t>Controlled measurements</a:t>
            </a:r>
            <a:endParaRPr lang="en-US" sz="1800" dirty="0"/>
          </a:p>
        </p:txBody>
      </p:sp>
      <p:sp>
        <p:nvSpPr>
          <p:cNvPr id="46" name="Shape 44"/>
          <p:cNvSpPr/>
          <p:nvPr/>
        </p:nvSpPr>
        <p:spPr>
          <a:xfrm>
            <a:off x="548640" y="5074920"/>
            <a:ext cx="11094720" cy="0"/>
          </a:xfrm>
          <a:prstGeom prst="line">
            <a:avLst/>
          </a:prstGeom>
          <a:noFill/>
          <a:ln w="12700">
            <a:solidFill>
              <a:srgbClr val="2B415A"/>
            </a:solidFill>
            <a:prstDash val="solid"/>
          </a:ln>
        </p:spPr>
        <p:txBody>
          <a:bodyPr/>
          <a:p/>
        </p:txBody>
      </p:sp>
      <p:sp>
        <p:nvSpPr>
          <p:cNvPr id="51" name="Text 49"/>
          <p:cNvSpPr txBox="1"/>
          <p:nvPr/>
        </p:nvSpPr>
        <p:spPr>
          <a:xfrm>
            <a:off x="548640" y="6601968"/>
            <a:ext cx="10241280" cy="128016"/>
          </a:xfrm>
          <a:prstGeom prst="rect">
            <a:avLst/>
          </a:prstGeom>
          <a:noFill/>
          <a:ln/>
        </p:spPr>
        <p:txBody>
          <a:bodyPr wrap="square" lIns="0" tIns="0" rIns="0" bIns="0" rtlCol="0" anchor="t"/>
          <a:lstStyle/>
          <a:p>
            <a:pPr algn="l" indent="0" marL="0">
              <a:lnSpc>
                <a:spcPct val="104000"/>
              </a:lnSpc>
              <a:buNone/>
            </a:pPr>
            <a:r>
              <a:rPr lang="en-US" sz="830" dirty="0">
                <a:solidFill>
                  <a:srgbClr val="B3C3D6"/>
                </a:solidFill>
                <a:latin typeface="Arial" pitchFamily="34" charset="0"/>
                <a:ea typeface="Arial" pitchFamily="34" charset="-122"/>
                <a:cs typeface="Arial" pitchFamily="34" charset="-120"/>
              </a:rPr>
              <a:t>Source: original 6, 11, 12, 21 • Graduate extension</a:t>
            </a:r>
            <a:endParaRPr lang="en-US" sz="830" dirty="0"/>
          </a:p>
        </p:txBody>
      </p:sp>
      <p:sp>
        <p:nvSpPr>
          <p:cNvPr id="52" name="Text 50"/>
          <p:cNvSpPr txBox="1"/>
          <p:nvPr/>
        </p:nvSpPr>
        <p:spPr>
          <a:xfrm>
            <a:off x="10917936" y="6565392"/>
            <a:ext cx="722376" cy="219456"/>
          </a:xfrm>
          <a:prstGeom prst="rect">
            <a:avLst/>
          </a:prstGeom>
          <a:noFill/>
          <a:ln/>
        </p:spPr>
        <p:txBody>
          <a:bodyPr wrap="square" lIns="0" tIns="0" rIns="0" bIns="0" rtlCol="0" anchor="t"/>
          <a:lstStyle/>
          <a:p>
            <a:pPr algn="r" indent="0" marL="0">
              <a:lnSpc>
                <a:spcPct val="104000"/>
              </a:lnSpc>
              <a:buNone/>
            </a:pPr>
            <a:r>
              <a:rPr lang="en-US" sz="1050" dirty="0">
                <a:solidFill>
                  <a:srgbClr val="B3C3D6"/>
                </a:solidFill>
                <a:latin typeface="Arial" pitchFamily="34" charset="0"/>
                <a:ea typeface="Arial" pitchFamily="34" charset="-122"/>
                <a:cs typeface="Arial" pitchFamily="34" charset="-120"/>
              </a:rPr>
              <a:t>13 / 64</a:t>
            </a:r>
            <a:endParaRPr lang="en-US" sz="1050" dirty="0"/>
          </a:p>
        </p:txBody>
      </p:sp>
      <p:sp>
        <p:nvSpPr>
          <p:cNvPr id="53" name="Shape 51"/>
          <p:cNvSpPr/>
          <p:nvPr/>
        </p:nvSpPr>
        <p:spPr>
          <a:xfrm>
            <a:off x="0" y="6834226"/>
            <a:ext cx="12192000" cy="23774"/>
          </a:xfrm>
          <a:prstGeom prst="rect">
            <a:avLst/>
          </a:prstGeom>
          <a:solidFill>
            <a:srgbClr val="2B415A"/>
          </a:solidFill>
          <a:ln w="8890">
            <a:solidFill>
              <a:srgbClr val="2B415A"/>
            </a:solidFill>
            <a:prstDash val="solid"/>
          </a:ln>
        </p:spPr>
        <p:txBody>
          <a:bodyPr/>
          <a:p/>
        </p:txBody>
      </p:sp>
      <p:sp>
        <p:nvSpPr>
          <p:cNvPr id="54" name="Shape 52"/>
          <p:cNvSpPr/>
          <p:nvPr/>
        </p:nvSpPr>
        <p:spPr>
          <a:xfrm>
            <a:off x="0" y="6834226"/>
            <a:ext cx="2476500" cy="23774"/>
          </a:xfrm>
          <a:prstGeom prst="rect">
            <a:avLst/>
          </a:prstGeom>
          <a:solidFill>
            <a:srgbClr val="71D5DD"/>
          </a:solidFill>
          <a:ln w="8890">
            <a:solidFill>
              <a:srgbClr val="71D5DD"/>
            </a:solidFill>
            <a:prstDash val="solid"/>
          </a:ln>
        </p:spPr>
        <p:txBody>
          <a:body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219456"/>
            <a:ext cx="9875520" cy="192024"/>
          </a:xfrm>
          <a:prstGeom prst="rect">
            <a:avLst/>
          </a:prstGeom>
          <a:noFill/>
          <a:ln/>
        </p:spPr>
        <p:txBody>
          <a:bodyPr wrap="square" lIns="0" tIns="0" rIns="0" bIns="0" rtlCol="0" anchor="t"/>
          <a:lstStyle/>
          <a:p>
            <a:pPr algn="l" indent="0" marL="0">
              <a:lnSpc>
                <a:spcPct val="104000"/>
              </a:lnSpc>
              <a:buNone/>
            </a:pPr>
            <a:r>
              <a:rPr lang="en-US" sz="970" b="1" spc="135" kern="0" dirty="0">
                <a:solidFill>
                  <a:srgbClr val="B3C3D6"/>
                </a:solidFill>
                <a:latin typeface="Arial" pitchFamily="34" charset="0"/>
                <a:ea typeface="Arial" pitchFamily="34" charset="-122"/>
                <a:cs typeface="Arial" pitchFamily="34" charset="-120"/>
              </a:rPr>
              <a:t>SYSTEMS PROGRAMMING AND MACHINE ORGANIZATION</a:t>
            </a:r>
            <a:endParaRPr lang="en-US" sz="970" dirty="0"/>
          </a:p>
        </p:txBody>
      </p:sp>
      <p:sp>
        <p:nvSpPr>
          <p:cNvPr id="3" name="Text 1"/>
          <p:cNvSpPr txBox="1"/>
          <p:nvPr/>
        </p:nvSpPr>
        <p:spPr>
          <a:xfrm>
            <a:off x="9601200" y="219456"/>
            <a:ext cx="2039112" cy="192024"/>
          </a:xfrm>
          <a:prstGeom prst="rect">
            <a:avLst/>
          </a:prstGeom>
          <a:noFill/>
          <a:ln/>
        </p:spPr>
        <p:txBody>
          <a:bodyPr wrap="square" lIns="0" tIns="0" rIns="0" bIns="0" rtlCol="0" anchor="t"/>
          <a:lstStyle/>
          <a:p>
            <a:pPr algn="r" indent="0" marL="0">
              <a:lnSpc>
                <a:spcPct val="104000"/>
              </a:lnSpc>
              <a:buNone/>
            </a:pPr>
            <a:r>
              <a:rPr lang="en-US" sz="970" b="1" dirty="0">
                <a:solidFill>
                  <a:srgbClr val="B3C3D6"/>
                </a:solidFill>
                <a:latin typeface="Arial" pitchFamily="34" charset="0"/>
                <a:ea typeface="Arial" pitchFamily="34" charset="-122"/>
                <a:cs typeface="Arial" pitchFamily="34" charset="-120"/>
              </a:rPr>
              <a:t>CHARLES DORNER</a:t>
            </a:r>
            <a:endParaRPr lang="en-US" sz="970" dirty="0"/>
          </a:p>
        </p:txBody>
      </p:sp>
      <p:sp>
        <p:nvSpPr>
          <p:cNvPr id="4" name="Text 2"/>
          <p:cNvSpPr txBox="1"/>
          <p:nvPr/>
        </p:nvSpPr>
        <p:spPr>
          <a:xfrm>
            <a:off x="548640" y="566928"/>
            <a:ext cx="11109960" cy="237744"/>
          </a:xfrm>
          <a:prstGeom prst="rect">
            <a:avLst/>
          </a:prstGeom>
          <a:noFill/>
          <a:ln/>
        </p:spPr>
        <p:txBody>
          <a:bodyPr wrap="square" lIns="0" tIns="0" rIns="0" bIns="0" rtlCol="0" anchor="t"/>
          <a:lstStyle/>
          <a:p>
            <a:pPr algn="l" indent="0" marL="0">
              <a:lnSpc>
                <a:spcPct val="104000"/>
              </a:lnSpc>
              <a:buNone/>
            </a:pPr>
            <a:r>
              <a:rPr lang="en-US" sz="1150" b="1" dirty="0">
                <a:solidFill>
                  <a:srgbClr val="71D5DD"/>
                </a:solidFill>
                <a:latin typeface="Arial" pitchFamily="34" charset="0"/>
                <a:ea typeface="Arial" pitchFamily="34" charset="-122"/>
                <a:cs typeface="Arial" pitchFamily="34" charset="-120"/>
              </a:rPr>
              <a:t>1.2 · FROM SOURCE TO EXECUTION</a:t>
            </a:r>
            <a:endParaRPr lang="en-US" sz="1150" dirty="0"/>
          </a:p>
        </p:txBody>
      </p:sp>
      <p:sp>
        <p:nvSpPr>
          <p:cNvPr id="5" name="Text 3"/>
          <p:cNvSpPr txBox="1"/>
          <p:nvPr/>
        </p:nvSpPr>
        <p:spPr>
          <a:xfrm>
            <a:off x="548640" y="941832"/>
            <a:ext cx="11091672" cy="676656"/>
          </a:xfrm>
          <a:prstGeom prst="rect">
            <a:avLst/>
          </a:prstGeom>
          <a:noFill/>
          <a:ln/>
        </p:spPr>
        <p:txBody>
          <a:bodyPr wrap="square" lIns="0" tIns="0" rIns="0" bIns="0" rtlCol="0" anchor="t"/>
          <a:lstStyle/>
          <a:p>
            <a:pPr algn="l" indent="0" marL="0">
              <a:lnSpc>
                <a:spcPct val="104000"/>
              </a:lnSpc>
              <a:buNone/>
            </a:pPr>
            <a:r>
              <a:rPr lang="en-US" sz="3150" b="1" dirty="0">
                <a:solidFill>
                  <a:srgbClr val="F4F7FB"/>
                </a:solidFill>
                <a:latin typeface="Arial" pitchFamily="34" charset="0"/>
                <a:ea typeface="Arial" pitchFamily="34" charset="-122"/>
                <a:cs typeface="Arial" pitchFamily="34" charset="-120"/>
              </a:rPr>
              <a:t>Seven stages, seven different questions</a:t>
            </a:r>
            <a:endParaRPr lang="en-US" sz="3150" dirty="0"/>
          </a:p>
        </p:txBody>
      </p:sp>
      <p:sp>
        <p:nvSpPr>
          <p:cNvPr id="6" name="Shape 4"/>
          <p:cNvSpPr/>
          <p:nvPr/>
        </p:nvSpPr>
        <p:spPr>
          <a:xfrm>
            <a:off x="548640" y="1883664"/>
            <a:ext cx="1412530" cy="941832"/>
          </a:xfrm>
          <a:prstGeom prst="rect">
            <a:avLst/>
          </a:prstGeom>
          <a:solidFill>
            <a:srgbClr val="172940"/>
          </a:solidFill>
          <a:ln w="8890">
            <a:solidFill>
              <a:srgbClr val="2B415A"/>
            </a:solidFill>
            <a:prstDash val="solid"/>
          </a:ln>
        </p:spPr>
        <p:txBody>
          <a:bodyPr/>
          <a:p/>
        </p:txBody>
      </p:sp>
      <p:sp>
        <p:nvSpPr>
          <p:cNvPr id="7" name="Text 5"/>
          <p:cNvSpPr txBox="1"/>
          <p:nvPr/>
        </p:nvSpPr>
        <p:spPr>
          <a:xfrm>
            <a:off x="640080" y="2084832"/>
            <a:ext cx="1229650" cy="548640"/>
          </a:xfrm>
          <a:prstGeom prst="rect">
            <a:avLst/>
          </a:prstGeom>
          <a:noFill/>
          <a:ln/>
        </p:spPr>
        <p:txBody>
          <a:bodyPr wrap="square" lIns="0" tIns="0" rIns="0" bIns="0" rtlCol="0" anchor="t"/>
          <a:lstStyle/>
          <a:p>
            <a:pPr algn="ctr" indent="0" marL="0">
              <a:lnSpc>
                <a:spcPct val="104000"/>
              </a:lnSpc>
              <a:buNone/>
            </a:pPr>
            <a:r>
              <a:rPr lang="en-US" sz="1600" b="1" dirty="0">
                <a:solidFill>
                  <a:srgbClr val="F4F7FB"/>
                </a:solidFill>
                <a:latin typeface="Arial" pitchFamily="34" charset="0"/>
                <a:ea typeface="Arial" pitchFamily="34" charset="-122"/>
                <a:cs typeface="Arial" pitchFamily="34" charset="-120"/>
              </a:rPr>
              <a:t>Source</a:t>
            </a:r>
            <a:endParaRPr lang="en-US" sz="1600" dirty="0"/>
          </a:p>
        </p:txBody>
      </p:sp>
      <p:sp>
        <p:nvSpPr>
          <p:cNvPr id="8" name="Shape 6"/>
          <p:cNvSpPr/>
          <p:nvPr/>
        </p:nvSpPr>
        <p:spPr>
          <a:xfrm>
            <a:off x="1984030" y="2354580"/>
            <a:ext cx="155448" cy="0"/>
          </a:xfrm>
          <a:prstGeom prst="line">
            <a:avLst/>
          </a:prstGeom>
          <a:noFill/>
          <a:ln w="19050">
            <a:solidFill>
              <a:srgbClr val="71D5DD"/>
            </a:solidFill>
            <a:prstDash val="solid"/>
            <a:headEnd type="none"/>
            <a:tailEnd type="triangle"/>
          </a:ln>
        </p:spPr>
        <p:txBody>
          <a:bodyPr/>
          <a:p/>
        </p:txBody>
      </p:sp>
      <p:sp>
        <p:nvSpPr>
          <p:cNvPr id="9" name="Shape 7"/>
          <p:cNvSpPr/>
          <p:nvPr/>
        </p:nvSpPr>
        <p:spPr>
          <a:xfrm>
            <a:off x="2162338" y="1883664"/>
            <a:ext cx="1412530" cy="941832"/>
          </a:xfrm>
          <a:prstGeom prst="rect">
            <a:avLst/>
          </a:prstGeom>
          <a:solidFill>
            <a:srgbClr val="172940"/>
          </a:solidFill>
          <a:ln w="8890">
            <a:solidFill>
              <a:srgbClr val="2B415A"/>
            </a:solidFill>
            <a:prstDash val="solid"/>
          </a:ln>
        </p:spPr>
        <p:txBody>
          <a:bodyPr/>
          <a:p/>
        </p:txBody>
      </p:sp>
      <p:sp>
        <p:nvSpPr>
          <p:cNvPr id="10" name="Text 8"/>
          <p:cNvSpPr txBox="1"/>
          <p:nvPr/>
        </p:nvSpPr>
        <p:spPr>
          <a:xfrm>
            <a:off x="2253778" y="2084832"/>
            <a:ext cx="1229650" cy="548640"/>
          </a:xfrm>
          <a:prstGeom prst="rect">
            <a:avLst/>
          </a:prstGeom>
          <a:noFill/>
          <a:ln/>
        </p:spPr>
        <p:txBody>
          <a:bodyPr wrap="square" lIns="0" tIns="0" rIns="0" bIns="0" rtlCol="0" anchor="t"/>
          <a:lstStyle/>
          <a:p>
            <a:pPr algn="ctr" indent="0" marL="0">
              <a:lnSpc>
                <a:spcPct val="104000"/>
              </a:lnSpc>
              <a:buNone/>
            </a:pPr>
            <a:r>
              <a:rPr lang="en-US" sz="1600" b="1" dirty="0">
                <a:solidFill>
                  <a:srgbClr val="F4F7FB"/>
                </a:solidFill>
                <a:latin typeface="Arial" pitchFamily="34" charset="0"/>
                <a:ea typeface="Arial" pitchFamily="34" charset="-122"/>
                <a:cs typeface="Arial" pitchFamily="34" charset="-120"/>
              </a:rPr>
              <a:t>Preprocess</a:t>
            </a:r>
            <a:endParaRPr lang="en-US" sz="1600" dirty="0"/>
          </a:p>
        </p:txBody>
      </p:sp>
      <p:sp>
        <p:nvSpPr>
          <p:cNvPr id="11" name="Shape 9"/>
          <p:cNvSpPr/>
          <p:nvPr/>
        </p:nvSpPr>
        <p:spPr>
          <a:xfrm>
            <a:off x="3597728" y="2354580"/>
            <a:ext cx="155448" cy="0"/>
          </a:xfrm>
          <a:prstGeom prst="line">
            <a:avLst/>
          </a:prstGeom>
          <a:noFill/>
          <a:ln w="19050">
            <a:solidFill>
              <a:srgbClr val="71D5DD"/>
            </a:solidFill>
            <a:prstDash val="solid"/>
            <a:headEnd type="none"/>
            <a:tailEnd type="triangle"/>
          </a:ln>
        </p:spPr>
        <p:txBody>
          <a:bodyPr/>
          <a:p/>
        </p:txBody>
      </p:sp>
      <p:sp>
        <p:nvSpPr>
          <p:cNvPr id="12" name="Shape 10"/>
          <p:cNvSpPr/>
          <p:nvPr/>
        </p:nvSpPr>
        <p:spPr>
          <a:xfrm>
            <a:off x="3776036" y="1883664"/>
            <a:ext cx="1412530" cy="941832"/>
          </a:xfrm>
          <a:prstGeom prst="rect">
            <a:avLst/>
          </a:prstGeom>
          <a:solidFill>
            <a:srgbClr val="172940"/>
          </a:solidFill>
          <a:ln w="8890">
            <a:solidFill>
              <a:srgbClr val="2B415A"/>
            </a:solidFill>
            <a:prstDash val="solid"/>
          </a:ln>
        </p:spPr>
        <p:txBody>
          <a:bodyPr/>
          <a:p/>
        </p:txBody>
      </p:sp>
      <p:sp>
        <p:nvSpPr>
          <p:cNvPr id="13" name="Text 11"/>
          <p:cNvSpPr txBox="1"/>
          <p:nvPr/>
        </p:nvSpPr>
        <p:spPr>
          <a:xfrm>
            <a:off x="3867476" y="2084832"/>
            <a:ext cx="1229650" cy="548640"/>
          </a:xfrm>
          <a:prstGeom prst="rect">
            <a:avLst/>
          </a:prstGeom>
          <a:noFill/>
          <a:ln/>
        </p:spPr>
        <p:txBody>
          <a:bodyPr wrap="square" lIns="0" tIns="0" rIns="0" bIns="0" rtlCol="0" anchor="t"/>
          <a:lstStyle/>
          <a:p>
            <a:pPr algn="ctr" indent="0" marL="0">
              <a:lnSpc>
                <a:spcPct val="104000"/>
              </a:lnSpc>
              <a:buNone/>
            </a:pPr>
            <a:r>
              <a:rPr lang="en-US" sz="1600" b="1" dirty="0">
                <a:solidFill>
                  <a:srgbClr val="F4F7FB"/>
                </a:solidFill>
                <a:latin typeface="Arial" pitchFamily="34" charset="0"/>
                <a:ea typeface="Arial" pitchFamily="34" charset="-122"/>
                <a:cs typeface="Arial" pitchFamily="34" charset="-120"/>
              </a:rPr>
              <a:t>Compile</a:t>
            </a:r>
            <a:endParaRPr lang="en-US" sz="1600" dirty="0"/>
          </a:p>
        </p:txBody>
      </p:sp>
      <p:sp>
        <p:nvSpPr>
          <p:cNvPr id="14" name="Shape 12"/>
          <p:cNvSpPr/>
          <p:nvPr/>
        </p:nvSpPr>
        <p:spPr>
          <a:xfrm>
            <a:off x="5211427" y="2354580"/>
            <a:ext cx="155448" cy="0"/>
          </a:xfrm>
          <a:prstGeom prst="line">
            <a:avLst/>
          </a:prstGeom>
          <a:noFill/>
          <a:ln w="19050">
            <a:solidFill>
              <a:srgbClr val="71D5DD"/>
            </a:solidFill>
            <a:prstDash val="solid"/>
            <a:headEnd type="none"/>
            <a:tailEnd type="triangle"/>
          </a:ln>
        </p:spPr>
        <p:txBody>
          <a:bodyPr/>
          <a:p/>
        </p:txBody>
      </p:sp>
      <p:sp>
        <p:nvSpPr>
          <p:cNvPr id="15" name="Shape 13"/>
          <p:cNvSpPr/>
          <p:nvPr/>
        </p:nvSpPr>
        <p:spPr>
          <a:xfrm>
            <a:off x="5389735" y="1883664"/>
            <a:ext cx="1412530" cy="941832"/>
          </a:xfrm>
          <a:prstGeom prst="rect">
            <a:avLst/>
          </a:prstGeom>
          <a:solidFill>
            <a:srgbClr val="172940"/>
          </a:solidFill>
          <a:ln w="8890">
            <a:solidFill>
              <a:srgbClr val="2B415A"/>
            </a:solidFill>
            <a:prstDash val="solid"/>
          </a:ln>
        </p:spPr>
        <p:txBody>
          <a:bodyPr/>
          <a:p/>
        </p:txBody>
      </p:sp>
      <p:sp>
        <p:nvSpPr>
          <p:cNvPr id="16" name="Text 14"/>
          <p:cNvSpPr txBox="1"/>
          <p:nvPr/>
        </p:nvSpPr>
        <p:spPr>
          <a:xfrm>
            <a:off x="5481175" y="2084832"/>
            <a:ext cx="1229650" cy="548640"/>
          </a:xfrm>
          <a:prstGeom prst="rect">
            <a:avLst/>
          </a:prstGeom>
          <a:noFill/>
          <a:ln/>
        </p:spPr>
        <p:txBody>
          <a:bodyPr wrap="square" lIns="0" tIns="0" rIns="0" bIns="0" rtlCol="0" anchor="t"/>
          <a:lstStyle/>
          <a:p>
            <a:pPr algn="ctr" indent="0" marL="0">
              <a:lnSpc>
                <a:spcPct val="104000"/>
              </a:lnSpc>
              <a:buNone/>
            </a:pPr>
            <a:r>
              <a:rPr lang="en-US" sz="1600" b="1" dirty="0">
                <a:solidFill>
                  <a:srgbClr val="F4F7FB"/>
                </a:solidFill>
                <a:latin typeface="Arial" pitchFamily="34" charset="0"/>
                <a:ea typeface="Arial" pitchFamily="34" charset="-122"/>
                <a:cs typeface="Arial" pitchFamily="34" charset="-120"/>
              </a:rPr>
              <a:t>Assemble</a:t>
            </a:r>
            <a:endParaRPr lang="en-US" sz="1600" dirty="0"/>
          </a:p>
        </p:txBody>
      </p:sp>
      <p:sp>
        <p:nvSpPr>
          <p:cNvPr id="17" name="Shape 15"/>
          <p:cNvSpPr/>
          <p:nvPr/>
        </p:nvSpPr>
        <p:spPr>
          <a:xfrm>
            <a:off x="6825125" y="2354580"/>
            <a:ext cx="155448" cy="0"/>
          </a:xfrm>
          <a:prstGeom prst="line">
            <a:avLst/>
          </a:prstGeom>
          <a:noFill/>
          <a:ln w="19050">
            <a:solidFill>
              <a:srgbClr val="71D5DD"/>
            </a:solidFill>
            <a:prstDash val="solid"/>
            <a:headEnd type="none"/>
            <a:tailEnd type="triangle"/>
          </a:ln>
        </p:spPr>
        <p:txBody>
          <a:bodyPr/>
          <a:p/>
        </p:txBody>
      </p:sp>
      <p:sp>
        <p:nvSpPr>
          <p:cNvPr id="18" name="Shape 16"/>
          <p:cNvSpPr/>
          <p:nvPr/>
        </p:nvSpPr>
        <p:spPr>
          <a:xfrm>
            <a:off x="7003433" y="1883664"/>
            <a:ext cx="1412530" cy="941832"/>
          </a:xfrm>
          <a:prstGeom prst="rect">
            <a:avLst/>
          </a:prstGeom>
          <a:solidFill>
            <a:srgbClr val="172940"/>
          </a:solidFill>
          <a:ln w="8890">
            <a:solidFill>
              <a:srgbClr val="2B415A"/>
            </a:solidFill>
            <a:prstDash val="solid"/>
          </a:ln>
        </p:spPr>
        <p:txBody>
          <a:bodyPr/>
          <a:p/>
        </p:txBody>
      </p:sp>
      <p:sp>
        <p:nvSpPr>
          <p:cNvPr id="19" name="Text 17"/>
          <p:cNvSpPr txBox="1"/>
          <p:nvPr/>
        </p:nvSpPr>
        <p:spPr>
          <a:xfrm>
            <a:off x="7094873" y="2084832"/>
            <a:ext cx="1229650" cy="548640"/>
          </a:xfrm>
          <a:prstGeom prst="rect">
            <a:avLst/>
          </a:prstGeom>
          <a:noFill/>
          <a:ln/>
        </p:spPr>
        <p:txBody>
          <a:bodyPr wrap="square" lIns="0" tIns="0" rIns="0" bIns="0" rtlCol="0" anchor="t"/>
          <a:lstStyle/>
          <a:p>
            <a:pPr algn="ctr" indent="0" marL="0">
              <a:lnSpc>
                <a:spcPct val="104000"/>
              </a:lnSpc>
              <a:buNone/>
            </a:pPr>
            <a:r>
              <a:rPr lang="en-US" sz="1600" b="1" dirty="0">
                <a:solidFill>
                  <a:srgbClr val="F4F7FB"/>
                </a:solidFill>
                <a:latin typeface="Arial" pitchFamily="34" charset="0"/>
                <a:ea typeface="Arial" pitchFamily="34" charset="-122"/>
                <a:cs typeface="Arial" pitchFamily="34" charset="-120"/>
              </a:rPr>
              <a:t>Link</a:t>
            </a:r>
            <a:endParaRPr lang="en-US" sz="1600" dirty="0"/>
          </a:p>
        </p:txBody>
      </p:sp>
      <p:sp>
        <p:nvSpPr>
          <p:cNvPr id="20" name="Shape 18"/>
          <p:cNvSpPr/>
          <p:nvPr/>
        </p:nvSpPr>
        <p:spPr>
          <a:xfrm>
            <a:off x="8438823" y="2354580"/>
            <a:ext cx="155448" cy="0"/>
          </a:xfrm>
          <a:prstGeom prst="line">
            <a:avLst/>
          </a:prstGeom>
          <a:noFill/>
          <a:ln w="19050">
            <a:solidFill>
              <a:srgbClr val="71D5DD"/>
            </a:solidFill>
            <a:prstDash val="solid"/>
            <a:headEnd type="none"/>
            <a:tailEnd type="triangle"/>
          </a:ln>
        </p:spPr>
        <p:txBody>
          <a:bodyPr/>
          <a:p/>
        </p:txBody>
      </p:sp>
      <p:sp>
        <p:nvSpPr>
          <p:cNvPr id="21" name="Shape 19"/>
          <p:cNvSpPr/>
          <p:nvPr/>
        </p:nvSpPr>
        <p:spPr>
          <a:xfrm>
            <a:off x="8617131" y="1883664"/>
            <a:ext cx="1412530" cy="941832"/>
          </a:xfrm>
          <a:prstGeom prst="rect">
            <a:avLst/>
          </a:prstGeom>
          <a:solidFill>
            <a:srgbClr val="172940"/>
          </a:solidFill>
          <a:ln w="8890">
            <a:solidFill>
              <a:srgbClr val="2B415A"/>
            </a:solidFill>
            <a:prstDash val="solid"/>
          </a:ln>
        </p:spPr>
        <p:txBody>
          <a:bodyPr/>
          <a:p/>
        </p:txBody>
      </p:sp>
      <p:sp>
        <p:nvSpPr>
          <p:cNvPr id="22" name="Text 20"/>
          <p:cNvSpPr txBox="1"/>
          <p:nvPr/>
        </p:nvSpPr>
        <p:spPr>
          <a:xfrm>
            <a:off x="8708571" y="2084832"/>
            <a:ext cx="1229650" cy="548640"/>
          </a:xfrm>
          <a:prstGeom prst="rect">
            <a:avLst/>
          </a:prstGeom>
          <a:noFill/>
          <a:ln/>
        </p:spPr>
        <p:txBody>
          <a:bodyPr wrap="square" lIns="0" tIns="0" rIns="0" bIns="0" rtlCol="0" anchor="t"/>
          <a:lstStyle/>
          <a:p>
            <a:pPr algn="ctr" indent="0" marL="0">
              <a:lnSpc>
                <a:spcPct val="104000"/>
              </a:lnSpc>
              <a:buNone/>
            </a:pPr>
            <a:r>
              <a:rPr lang="en-US" sz="1600" b="1" dirty="0">
                <a:solidFill>
                  <a:srgbClr val="F4F7FB"/>
                </a:solidFill>
                <a:latin typeface="Arial" pitchFamily="34" charset="0"/>
                <a:ea typeface="Arial" pitchFamily="34" charset="-122"/>
                <a:cs typeface="Arial" pitchFamily="34" charset="-120"/>
              </a:rPr>
              <a:t>Load</a:t>
            </a:r>
            <a:endParaRPr lang="en-US" sz="1600" dirty="0"/>
          </a:p>
        </p:txBody>
      </p:sp>
      <p:sp>
        <p:nvSpPr>
          <p:cNvPr id="23" name="Shape 21"/>
          <p:cNvSpPr/>
          <p:nvPr/>
        </p:nvSpPr>
        <p:spPr>
          <a:xfrm>
            <a:off x="10052521" y="2354580"/>
            <a:ext cx="155448" cy="0"/>
          </a:xfrm>
          <a:prstGeom prst="line">
            <a:avLst/>
          </a:prstGeom>
          <a:noFill/>
          <a:ln w="19050">
            <a:solidFill>
              <a:srgbClr val="71D5DD"/>
            </a:solidFill>
            <a:prstDash val="solid"/>
            <a:headEnd type="none"/>
            <a:tailEnd type="triangle"/>
          </a:ln>
        </p:spPr>
        <p:txBody>
          <a:bodyPr/>
          <a:p/>
        </p:txBody>
      </p:sp>
      <p:sp>
        <p:nvSpPr>
          <p:cNvPr id="24" name="Shape 22"/>
          <p:cNvSpPr/>
          <p:nvPr/>
        </p:nvSpPr>
        <p:spPr>
          <a:xfrm>
            <a:off x="10230829" y="1883664"/>
            <a:ext cx="1412530" cy="941832"/>
          </a:xfrm>
          <a:prstGeom prst="rect">
            <a:avLst/>
          </a:prstGeom>
          <a:solidFill>
            <a:srgbClr val="172940"/>
          </a:solidFill>
          <a:ln w="8890">
            <a:solidFill>
              <a:srgbClr val="2B415A"/>
            </a:solidFill>
            <a:prstDash val="solid"/>
          </a:ln>
        </p:spPr>
        <p:txBody>
          <a:bodyPr/>
          <a:p/>
        </p:txBody>
      </p:sp>
      <p:sp>
        <p:nvSpPr>
          <p:cNvPr id="25" name="Text 23"/>
          <p:cNvSpPr txBox="1"/>
          <p:nvPr/>
        </p:nvSpPr>
        <p:spPr>
          <a:xfrm>
            <a:off x="10322269" y="2084832"/>
            <a:ext cx="1229650" cy="548640"/>
          </a:xfrm>
          <a:prstGeom prst="rect">
            <a:avLst/>
          </a:prstGeom>
          <a:noFill/>
          <a:ln/>
        </p:spPr>
        <p:txBody>
          <a:bodyPr wrap="square" lIns="0" tIns="0" rIns="0" bIns="0" rtlCol="0" anchor="t"/>
          <a:lstStyle/>
          <a:p>
            <a:pPr algn="ctr" indent="0" marL="0">
              <a:lnSpc>
                <a:spcPct val="104000"/>
              </a:lnSpc>
              <a:buNone/>
            </a:pPr>
            <a:r>
              <a:rPr lang="en-US" sz="1600" b="1" dirty="0">
                <a:solidFill>
                  <a:srgbClr val="F4F7FB"/>
                </a:solidFill>
                <a:latin typeface="Arial" pitchFamily="34" charset="0"/>
                <a:ea typeface="Arial" pitchFamily="34" charset="-122"/>
                <a:cs typeface="Arial" pitchFamily="34" charset="-120"/>
              </a:rPr>
              <a:t>Run</a:t>
            </a:r>
            <a:endParaRPr lang="en-US" sz="1600" dirty="0"/>
          </a:p>
        </p:txBody>
      </p:sp>
      <p:sp>
        <p:nvSpPr>
          <p:cNvPr id="26" name="Text 24"/>
          <p:cNvSpPr txBox="1"/>
          <p:nvPr/>
        </p:nvSpPr>
        <p:spPr>
          <a:xfrm>
            <a:off x="566928" y="3191256"/>
            <a:ext cx="384048" cy="237744"/>
          </a:xfrm>
          <a:prstGeom prst="rect">
            <a:avLst/>
          </a:prstGeom>
          <a:noFill/>
          <a:ln/>
        </p:spPr>
        <p:txBody>
          <a:bodyPr wrap="square" lIns="0" tIns="0" rIns="0" bIns="0" rtlCol="0" anchor="t"/>
          <a:lstStyle/>
          <a:p>
            <a:pPr algn="l" indent="0" marL="0">
              <a:lnSpc>
                <a:spcPct val="104000"/>
              </a:lnSpc>
              <a:buNone/>
            </a:pPr>
            <a:r>
              <a:rPr lang="en-US" sz="1350" b="1" dirty="0">
                <a:solidFill>
                  <a:srgbClr val="71D5DD"/>
                </a:solidFill>
                <a:latin typeface="Arial" pitchFamily="34" charset="0"/>
                <a:ea typeface="Arial" pitchFamily="34" charset="-122"/>
                <a:cs typeface="Arial" pitchFamily="34" charset="-120"/>
              </a:rPr>
              <a:t>01</a:t>
            </a:r>
            <a:endParaRPr lang="en-US" sz="1350" dirty="0"/>
          </a:p>
        </p:txBody>
      </p:sp>
      <p:sp>
        <p:nvSpPr>
          <p:cNvPr id="27" name="Text 25"/>
          <p:cNvSpPr txBox="1"/>
          <p:nvPr/>
        </p:nvSpPr>
        <p:spPr>
          <a:xfrm>
            <a:off x="1124712" y="3136392"/>
            <a:ext cx="10515600" cy="576072"/>
          </a:xfrm>
          <a:prstGeom prst="rect">
            <a:avLst/>
          </a:prstGeom>
          <a:noFill/>
          <a:ln/>
        </p:spPr>
        <p:txBody>
          <a:bodyPr wrap="square" lIns="0" tIns="0" rIns="0" bIns="0" rtlCol="0" anchor="t"/>
          <a:lstStyle/>
          <a:p>
            <a:pPr algn="l" indent="0" marL="0">
              <a:lnSpc>
                <a:spcPct val="104000"/>
              </a:lnSpc>
              <a:buNone/>
            </a:pPr>
            <a:r>
              <a:rPr lang="en-US" sz="2150" dirty="0">
                <a:solidFill>
                  <a:srgbClr val="F4F7FB"/>
                </a:solidFill>
                <a:latin typeface="Arial" pitchFamily="34" charset="0"/>
                <a:ea typeface="Arial" pitchFamily="34" charset="-122"/>
                <a:cs typeface="Arial" pitchFamily="34" charset="-120"/>
              </a:rPr>
              <a:t>Translation artifacts answer different questions from runtime observations.</a:t>
            </a:r>
            <a:endParaRPr lang="en-US" sz="2150" dirty="0"/>
          </a:p>
        </p:txBody>
      </p:sp>
      <p:sp>
        <p:nvSpPr>
          <p:cNvPr id="28" name="Text 26"/>
          <p:cNvSpPr txBox="1"/>
          <p:nvPr/>
        </p:nvSpPr>
        <p:spPr>
          <a:xfrm>
            <a:off x="566928" y="3803904"/>
            <a:ext cx="384048" cy="237744"/>
          </a:xfrm>
          <a:prstGeom prst="rect">
            <a:avLst/>
          </a:prstGeom>
          <a:noFill/>
          <a:ln/>
        </p:spPr>
        <p:txBody>
          <a:bodyPr wrap="square" lIns="0" tIns="0" rIns="0" bIns="0" rtlCol="0" anchor="t"/>
          <a:lstStyle/>
          <a:p>
            <a:pPr algn="l" indent="0" marL="0">
              <a:lnSpc>
                <a:spcPct val="104000"/>
              </a:lnSpc>
              <a:buNone/>
            </a:pPr>
            <a:r>
              <a:rPr lang="en-US" sz="1350" b="1" dirty="0">
                <a:solidFill>
                  <a:srgbClr val="71D5DD"/>
                </a:solidFill>
                <a:latin typeface="Arial" pitchFamily="34" charset="0"/>
                <a:ea typeface="Arial" pitchFamily="34" charset="-122"/>
                <a:cs typeface="Arial" pitchFamily="34" charset="-120"/>
              </a:rPr>
              <a:t>02</a:t>
            </a:r>
            <a:endParaRPr lang="en-US" sz="1350" dirty="0"/>
          </a:p>
        </p:txBody>
      </p:sp>
      <p:sp>
        <p:nvSpPr>
          <p:cNvPr id="29" name="Text 27"/>
          <p:cNvSpPr txBox="1"/>
          <p:nvPr/>
        </p:nvSpPr>
        <p:spPr>
          <a:xfrm>
            <a:off x="1124712" y="3749040"/>
            <a:ext cx="10515600" cy="576072"/>
          </a:xfrm>
          <a:prstGeom prst="rect">
            <a:avLst/>
          </a:prstGeom>
          <a:noFill/>
          <a:ln/>
        </p:spPr>
        <p:txBody>
          <a:bodyPr wrap="square" lIns="0" tIns="0" rIns="0" bIns="0" rtlCol="0" anchor="t"/>
          <a:lstStyle/>
          <a:p>
            <a:pPr algn="l" indent="0" marL="0">
              <a:lnSpc>
                <a:spcPct val="104000"/>
              </a:lnSpc>
              <a:buNone/>
            </a:pPr>
            <a:r>
              <a:rPr lang="en-US" sz="2150" dirty="0">
                <a:solidFill>
                  <a:srgbClr val="F4F7FB"/>
                </a:solidFill>
                <a:latin typeface="Arial" pitchFamily="34" charset="0"/>
                <a:ea typeface="Arial" pitchFamily="34" charset="-122"/>
                <a:cs typeface="Arial" pitchFamily="34" charset="-120"/>
              </a:rPr>
              <a:t>A compiler driver can invoke several tools; stages are conceptual responsibilities.</a:t>
            </a:r>
            <a:endParaRPr lang="en-US" sz="2150" dirty="0"/>
          </a:p>
        </p:txBody>
      </p:sp>
      <p:sp>
        <p:nvSpPr>
          <p:cNvPr id="30" name="Text 28"/>
          <p:cNvSpPr txBox="1"/>
          <p:nvPr/>
        </p:nvSpPr>
        <p:spPr>
          <a:xfrm>
            <a:off x="566928" y="4416552"/>
            <a:ext cx="384048" cy="237744"/>
          </a:xfrm>
          <a:prstGeom prst="rect">
            <a:avLst/>
          </a:prstGeom>
          <a:noFill/>
          <a:ln/>
        </p:spPr>
        <p:txBody>
          <a:bodyPr wrap="square" lIns="0" tIns="0" rIns="0" bIns="0" rtlCol="0" anchor="t"/>
          <a:lstStyle/>
          <a:p>
            <a:pPr algn="l" indent="0" marL="0">
              <a:lnSpc>
                <a:spcPct val="104000"/>
              </a:lnSpc>
              <a:buNone/>
            </a:pPr>
            <a:r>
              <a:rPr lang="en-US" sz="1350" b="1" dirty="0">
                <a:solidFill>
                  <a:srgbClr val="71D5DD"/>
                </a:solidFill>
                <a:latin typeface="Arial" pitchFamily="34" charset="0"/>
                <a:ea typeface="Arial" pitchFamily="34" charset="-122"/>
                <a:cs typeface="Arial" pitchFamily="34" charset="-120"/>
              </a:rPr>
              <a:t>03</a:t>
            </a:r>
            <a:endParaRPr lang="en-US" sz="1350" dirty="0"/>
          </a:p>
        </p:txBody>
      </p:sp>
      <p:sp>
        <p:nvSpPr>
          <p:cNvPr id="31" name="Text 29"/>
          <p:cNvSpPr txBox="1"/>
          <p:nvPr/>
        </p:nvSpPr>
        <p:spPr>
          <a:xfrm>
            <a:off x="1124712" y="4361688"/>
            <a:ext cx="10515600" cy="576072"/>
          </a:xfrm>
          <a:prstGeom prst="rect">
            <a:avLst/>
          </a:prstGeom>
          <a:noFill/>
          <a:ln/>
        </p:spPr>
        <p:txBody>
          <a:bodyPr wrap="square" lIns="0" tIns="0" rIns="0" bIns="0" rtlCol="0" anchor="t"/>
          <a:lstStyle/>
          <a:p>
            <a:pPr algn="l" indent="0" marL="0">
              <a:lnSpc>
                <a:spcPct val="104000"/>
              </a:lnSpc>
              <a:buNone/>
            </a:pPr>
            <a:r>
              <a:rPr lang="en-US" sz="2150" dirty="0">
                <a:solidFill>
                  <a:srgbClr val="F4F7FB"/>
                </a:solidFill>
                <a:latin typeface="Arial" pitchFamily="34" charset="0"/>
                <a:ea typeface="Arial" pitchFamily="34" charset="-122"/>
                <a:cs typeface="Arial" pitchFamily="34" charset="-120"/>
              </a:rPr>
              <a:t>Earlier-stage success does not establish later-stage success.</a:t>
            </a:r>
            <a:endParaRPr lang="en-US" sz="2150" dirty="0"/>
          </a:p>
        </p:txBody>
      </p:sp>
      <p:sp>
        <p:nvSpPr>
          <p:cNvPr id="36" name="Text 34"/>
          <p:cNvSpPr txBox="1"/>
          <p:nvPr/>
        </p:nvSpPr>
        <p:spPr>
          <a:xfrm>
            <a:off x="548640" y="6601968"/>
            <a:ext cx="10241280" cy="128016"/>
          </a:xfrm>
          <a:prstGeom prst="rect">
            <a:avLst/>
          </a:prstGeom>
          <a:noFill/>
          <a:ln/>
        </p:spPr>
        <p:txBody>
          <a:bodyPr wrap="square" lIns="0" tIns="0" rIns="0" bIns="0" rtlCol="0" anchor="t"/>
          <a:lstStyle/>
          <a:p>
            <a:pPr algn="l" indent="0" marL="0">
              <a:lnSpc>
                <a:spcPct val="104000"/>
              </a:lnSpc>
              <a:buNone/>
            </a:pPr>
            <a:r>
              <a:rPr lang="en-US" sz="830" dirty="0">
                <a:solidFill>
                  <a:srgbClr val="B3C3D6"/>
                </a:solidFill>
                <a:latin typeface="Arial" pitchFamily="34" charset="0"/>
                <a:ea typeface="Arial" pitchFamily="34" charset="-122"/>
                <a:cs typeface="Arial" pitchFamily="34" charset="-120"/>
              </a:rPr>
              <a:t>Source: original 7 • [GCC]</a:t>
            </a:r>
            <a:endParaRPr lang="en-US" sz="830" dirty="0"/>
          </a:p>
        </p:txBody>
      </p:sp>
      <p:sp>
        <p:nvSpPr>
          <p:cNvPr id="37" name="Text 35"/>
          <p:cNvSpPr txBox="1"/>
          <p:nvPr/>
        </p:nvSpPr>
        <p:spPr>
          <a:xfrm>
            <a:off x="10917936" y="6565392"/>
            <a:ext cx="722376" cy="219456"/>
          </a:xfrm>
          <a:prstGeom prst="rect">
            <a:avLst/>
          </a:prstGeom>
          <a:noFill/>
          <a:ln/>
        </p:spPr>
        <p:txBody>
          <a:bodyPr wrap="square" lIns="0" tIns="0" rIns="0" bIns="0" rtlCol="0" anchor="t"/>
          <a:lstStyle/>
          <a:p>
            <a:pPr algn="r" indent="0" marL="0">
              <a:lnSpc>
                <a:spcPct val="104000"/>
              </a:lnSpc>
              <a:buNone/>
            </a:pPr>
            <a:r>
              <a:rPr lang="en-US" sz="1050" dirty="0">
                <a:solidFill>
                  <a:srgbClr val="B3C3D6"/>
                </a:solidFill>
                <a:latin typeface="Arial" pitchFamily="34" charset="0"/>
                <a:ea typeface="Arial" pitchFamily="34" charset="-122"/>
                <a:cs typeface="Arial" pitchFamily="34" charset="-120"/>
              </a:rPr>
              <a:t>14 / 64</a:t>
            </a:r>
            <a:endParaRPr lang="en-US" sz="1050" dirty="0"/>
          </a:p>
        </p:txBody>
      </p:sp>
      <p:sp>
        <p:nvSpPr>
          <p:cNvPr id="38" name="Shape 36"/>
          <p:cNvSpPr/>
          <p:nvPr/>
        </p:nvSpPr>
        <p:spPr>
          <a:xfrm>
            <a:off x="0" y="6834226"/>
            <a:ext cx="12192000" cy="23774"/>
          </a:xfrm>
          <a:prstGeom prst="rect">
            <a:avLst/>
          </a:prstGeom>
          <a:solidFill>
            <a:srgbClr val="2B415A"/>
          </a:solidFill>
          <a:ln w="8890">
            <a:solidFill>
              <a:srgbClr val="2B415A"/>
            </a:solidFill>
            <a:prstDash val="solid"/>
          </a:ln>
        </p:spPr>
        <p:txBody>
          <a:bodyPr/>
          <a:p/>
        </p:txBody>
      </p:sp>
      <p:sp>
        <p:nvSpPr>
          <p:cNvPr id="39" name="Shape 37"/>
          <p:cNvSpPr/>
          <p:nvPr/>
        </p:nvSpPr>
        <p:spPr>
          <a:xfrm>
            <a:off x="0" y="6834226"/>
            <a:ext cx="2667000" cy="23774"/>
          </a:xfrm>
          <a:prstGeom prst="rect">
            <a:avLst/>
          </a:prstGeom>
          <a:solidFill>
            <a:srgbClr val="71D5DD"/>
          </a:solidFill>
          <a:ln w="8890">
            <a:solidFill>
              <a:srgbClr val="71D5DD"/>
            </a:solidFill>
            <a:prstDash val="solid"/>
          </a:ln>
        </p:spPr>
        <p:txBody>
          <a:body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219456"/>
            <a:ext cx="9875520" cy="192024"/>
          </a:xfrm>
          <a:prstGeom prst="rect">
            <a:avLst/>
          </a:prstGeom>
          <a:noFill/>
          <a:ln/>
        </p:spPr>
        <p:txBody>
          <a:bodyPr wrap="square" lIns="0" tIns="0" rIns="0" bIns="0" rtlCol="0" anchor="t"/>
          <a:lstStyle/>
          <a:p>
            <a:pPr algn="l" indent="0" marL="0">
              <a:lnSpc>
                <a:spcPct val="104000"/>
              </a:lnSpc>
              <a:buNone/>
            </a:pPr>
            <a:r>
              <a:rPr lang="en-US" sz="970" b="1" spc="135" kern="0" dirty="0">
                <a:solidFill>
                  <a:srgbClr val="B3C3D6"/>
                </a:solidFill>
                <a:latin typeface="Arial" pitchFamily="34" charset="0"/>
                <a:ea typeface="Arial" pitchFamily="34" charset="-122"/>
                <a:cs typeface="Arial" pitchFamily="34" charset="-120"/>
              </a:rPr>
              <a:t>SYSTEMS PROGRAMMING AND MACHINE ORGANIZATION</a:t>
            </a:r>
            <a:endParaRPr lang="en-US" sz="970" dirty="0"/>
          </a:p>
        </p:txBody>
      </p:sp>
      <p:sp>
        <p:nvSpPr>
          <p:cNvPr id="3" name="Text 1"/>
          <p:cNvSpPr txBox="1"/>
          <p:nvPr/>
        </p:nvSpPr>
        <p:spPr>
          <a:xfrm>
            <a:off x="9601200" y="219456"/>
            <a:ext cx="2039112" cy="192024"/>
          </a:xfrm>
          <a:prstGeom prst="rect">
            <a:avLst/>
          </a:prstGeom>
          <a:noFill/>
          <a:ln/>
        </p:spPr>
        <p:txBody>
          <a:bodyPr wrap="square" lIns="0" tIns="0" rIns="0" bIns="0" rtlCol="0" anchor="t"/>
          <a:lstStyle/>
          <a:p>
            <a:pPr algn="r" indent="0" marL="0">
              <a:lnSpc>
                <a:spcPct val="104000"/>
              </a:lnSpc>
              <a:buNone/>
            </a:pPr>
            <a:r>
              <a:rPr lang="en-US" sz="970" b="1" dirty="0">
                <a:solidFill>
                  <a:srgbClr val="B3C3D6"/>
                </a:solidFill>
                <a:latin typeface="Arial" pitchFamily="34" charset="0"/>
                <a:ea typeface="Arial" pitchFamily="34" charset="-122"/>
                <a:cs typeface="Arial" pitchFamily="34" charset="-120"/>
              </a:rPr>
              <a:t>CHARLES DORNER</a:t>
            </a:r>
            <a:endParaRPr lang="en-US" sz="970" dirty="0"/>
          </a:p>
        </p:txBody>
      </p:sp>
      <p:sp>
        <p:nvSpPr>
          <p:cNvPr id="4" name="Text 2"/>
          <p:cNvSpPr txBox="1"/>
          <p:nvPr/>
        </p:nvSpPr>
        <p:spPr>
          <a:xfrm>
            <a:off x="548640" y="566928"/>
            <a:ext cx="11109960" cy="237744"/>
          </a:xfrm>
          <a:prstGeom prst="rect">
            <a:avLst/>
          </a:prstGeom>
          <a:noFill/>
          <a:ln/>
        </p:spPr>
        <p:txBody>
          <a:bodyPr wrap="square" lIns="0" tIns="0" rIns="0" bIns="0" rtlCol="0" anchor="t"/>
          <a:lstStyle/>
          <a:p>
            <a:pPr algn="l" indent="0" marL="0">
              <a:lnSpc>
                <a:spcPct val="104000"/>
              </a:lnSpc>
              <a:buNone/>
            </a:pPr>
            <a:r>
              <a:rPr lang="en-US" sz="1150" b="1" dirty="0">
                <a:solidFill>
                  <a:srgbClr val="71D5DD"/>
                </a:solidFill>
                <a:latin typeface="Arial" pitchFamily="34" charset="0"/>
                <a:ea typeface="Arial" pitchFamily="34" charset="-122"/>
                <a:cs typeface="Arial" pitchFamily="34" charset="-120"/>
              </a:rPr>
              <a:t>1.2.1 · SOURCE-LEVEL CONTRACT</a:t>
            </a:r>
            <a:endParaRPr lang="en-US" sz="1150" dirty="0"/>
          </a:p>
        </p:txBody>
      </p:sp>
      <p:sp>
        <p:nvSpPr>
          <p:cNvPr id="5" name="Text 3"/>
          <p:cNvSpPr txBox="1"/>
          <p:nvPr/>
        </p:nvSpPr>
        <p:spPr>
          <a:xfrm>
            <a:off x="548640" y="941832"/>
            <a:ext cx="11091672" cy="676656"/>
          </a:xfrm>
          <a:prstGeom prst="rect">
            <a:avLst/>
          </a:prstGeom>
          <a:noFill/>
          <a:ln/>
        </p:spPr>
        <p:txBody>
          <a:bodyPr wrap="square" lIns="0" tIns="0" rIns="0" bIns="0" rtlCol="0" anchor="t"/>
          <a:lstStyle/>
          <a:p>
            <a:pPr algn="l" indent="0" marL="0">
              <a:lnSpc>
                <a:spcPct val="104000"/>
              </a:lnSpc>
              <a:buNone/>
            </a:pPr>
            <a:r>
              <a:rPr lang="en-US" sz="3150" b="1" dirty="0">
                <a:solidFill>
                  <a:srgbClr val="F4F7FB"/>
                </a:solidFill>
                <a:latin typeface="Arial" pitchFamily="34" charset="0"/>
                <a:ea typeface="Arial" pitchFamily="34" charset="-122"/>
                <a:cs typeface="Arial" pitchFamily="34" charset="-120"/>
              </a:rPr>
              <a:t>Source code describes an abstract computation</a:t>
            </a:r>
            <a:endParaRPr lang="en-US" sz="3150" dirty="0"/>
          </a:p>
        </p:txBody>
      </p:sp>
      <p:sp>
        <p:nvSpPr>
          <p:cNvPr id="6" name="Shape 4"/>
          <p:cNvSpPr/>
          <p:nvPr/>
        </p:nvSpPr>
        <p:spPr>
          <a:xfrm>
            <a:off x="548640" y="1764792"/>
            <a:ext cx="5446776" cy="3310128"/>
          </a:xfrm>
          <a:prstGeom prst="rect">
            <a:avLst/>
          </a:prstGeom>
          <a:solidFill>
            <a:srgbClr val="142238"/>
          </a:solidFill>
          <a:ln w="8890">
            <a:solidFill>
              <a:srgbClr val="2B415A"/>
            </a:solidFill>
            <a:prstDash val="solid"/>
          </a:ln>
        </p:spPr>
        <p:txBody>
          <a:bodyPr/>
          <a:p/>
        </p:txBody>
      </p:sp>
      <p:sp>
        <p:nvSpPr>
          <p:cNvPr id="7" name="Shape 5"/>
          <p:cNvSpPr/>
          <p:nvPr/>
        </p:nvSpPr>
        <p:spPr>
          <a:xfrm>
            <a:off x="548640" y="1764792"/>
            <a:ext cx="41148" cy="3310128"/>
          </a:xfrm>
          <a:prstGeom prst="rect">
            <a:avLst/>
          </a:prstGeom>
          <a:solidFill>
            <a:srgbClr val="71D5DD"/>
          </a:solidFill>
          <a:ln w="8890">
            <a:solidFill>
              <a:srgbClr val="71D5DD"/>
            </a:solidFill>
            <a:prstDash val="solid"/>
          </a:ln>
        </p:spPr>
        <p:txBody>
          <a:bodyPr/>
          <a:p/>
        </p:txBody>
      </p:sp>
      <p:sp>
        <p:nvSpPr>
          <p:cNvPr id="8" name="Text 6"/>
          <p:cNvSpPr txBox="1"/>
          <p:nvPr/>
        </p:nvSpPr>
        <p:spPr>
          <a:xfrm>
            <a:off x="758952" y="1975104"/>
            <a:ext cx="5017008" cy="557784"/>
          </a:xfrm>
          <a:prstGeom prst="rect">
            <a:avLst/>
          </a:prstGeom>
          <a:noFill/>
          <a:ln/>
        </p:spPr>
        <p:txBody>
          <a:bodyPr wrap="square" lIns="0" tIns="0" rIns="0" bIns="0" rtlCol="0" anchor="t"/>
          <a:lstStyle/>
          <a:p>
            <a:pPr algn="l" indent="0" marL="0">
              <a:lnSpc>
                <a:spcPct val="104000"/>
              </a:lnSpc>
              <a:buNone/>
            </a:pPr>
            <a:r>
              <a:rPr lang="en-US" sz="1750" b="1" dirty="0">
                <a:solidFill>
                  <a:srgbClr val="71D5DD"/>
                </a:solidFill>
                <a:latin typeface="Arial" pitchFamily="34" charset="0"/>
                <a:ea typeface="Arial" pitchFamily="34" charset="-122"/>
                <a:cs typeface="Arial" pitchFamily="34" charset="-120"/>
              </a:rPr>
              <a:t>SEMANTIC OBLIGATIONS</a:t>
            </a:r>
            <a:endParaRPr lang="en-US" sz="1750" dirty="0"/>
          </a:p>
        </p:txBody>
      </p:sp>
      <p:sp>
        <p:nvSpPr>
          <p:cNvPr id="9" name="Text 7"/>
          <p:cNvSpPr txBox="1"/>
          <p:nvPr/>
        </p:nvSpPr>
        <p:spPr>
          <a:xfrm>
            <a:off x="758952" y="2642616"/>
            <a:ext cx="5017008" cy="2267712"/>
          </a:xfrm>
          <a:prstGeom prst="rect">
            <a:avLst/>
          </a:prstGeom>
          <a:noFill/>
          <a:ln/>
        </p:spPr>
        <p:txBody>
          <a:bodyPr wrap="square" lIns="0" tIns="0" rIns="0" bIns="0" rtlCol="0" anchor="t"/>
          <a:lstStyle/>
          <a:p>
            <a:pPr algn="l" indent="0" marL="0">
              <a:lnSpc>
                <a:spcPct val="104000"/>
              </a:lnSpc>
              <a:buNone/>
            </a:pPr>
            <a:r>
              <a:rPr lang="en-US" sz="2300" dirty="0">
                <a:solidFill>
                  <a:srgbClr val="F4F7FB"/>
                </a:solidFill>
                <a:latin typeface="Arial" pitchFamily="34" charset="0"/>
                <a:ea typeface="Arial" pitchFamily="34" charset="-122"/>
                <a:cs typeface="Arial" pitchFamily="34" charset="-120"/>
              </a:rPr>
              <a:t>Types and valid values.</a:t>
            </a:r>
            <a:endParaRPr lang="en-US" sz="2300" dirty="0"/>
          </a:p>
          <a:p>
            <a:pPr algn="l" indent="0" marL="0">
              <a:lnSpc>
                <a:spcPct val="104000"/>
              </a:lnSpc>
              <a:buNone/>
            </a:pPr>
            <a:r>
              <a:rPr lang="en-US" sz="2300" dirty="0">
                <a:solidFill>
                  <a:srgbClr val="F4F7FB"/>
                </a:solidFill>
                <a:latin typeface="Arial" pitchFamily="34" charset="0"/>
                <a:ea typeface="Arial" pitchFamily="34" charset="-122"/>
                <a:cs typeface="Arial" pitchFamily="34" charset="-120"/>
              </a:rPr>
              <a:t>Object lifetime and access range.</a:t>
            </a:r>
            <a:endParaRPr lang="en-US" sz="2300" dirty="0"/>
          </a:p>
          <a:p>
            <a:pPr algn="l" indent="0" marL="0">
              <a:lnSpc>
                <a:spcPct val="104000"/>
              </a:lnSpc>
              <a:buNone/>
            </a:pPr>
            <a:r>
              <a:rPr lang="en-US" sz="2300" dirty="0">
                <a:solidFill>
                  <a:srgbClr val="F4F7FB"/>
                </a:solidFill>
                <a:latin typeface="Arial" pitchFamily="34" charset="0"/>
                <a:ea typeface="Arial" pitchFamily="34" charset="-122"/>
                <a:cs typeface="Arial" pitchFamily="34" charset="-120"/>
              </a:rPr>
              <a:t>Sequencing and synchronization.</a:t>
            </a:r>
            <a:endParaRPr lang="en-US" sz="2300" dirty="0"/>
          </a:p>
        </p:txBody>
      </p:sp>
      <p:sp>
        <p:nvSpPr>
          <p:cNvPr id="10" name="Shape 8"/>
          <p:cNvSpPr/>
          <p:nvPr/>
        </p:nvSpPr>
        <p:spPr>
          <a:xfrm>
            <a:off x="6196584" y="1764792"/>
            <a:ext cx="5446776" cy="3310128"/>
          </a:xfrm>
          <a:prstGeom prst="rect">
            <a:avLst/>
          </a:prstGeom>
          <a:solidFill>
            <a:srgbClr val="142238"/>
          </a:solidFill>
          <a:ln w="8890">
            <a:solidFill>
              <a:srgbClr val="2B415A"/>
            </a:solidFill>
            <a:prstDash val="solid"/>
          </a:ln>
        </p:spPr>
        <p:txBody>
          <a:bodyPr/>
          <a:p/>
        </p:txBody>
      </p:sp>
      <p:sp>
        <p:nvSpPr>
          <p:cNvPr id="11" name="Shape 9"/>
          <p:cNvSpPr/>
          <p:nvPr/>
        </p:nvSpPr>
        <p:spPr>
          <a:xfrm>
            <a:off x="6196584" y="1764792"/>
            <a:ext cx="41148" cy="3310128"/>
          </a:xfrm>
          <a:prstGeom prst="rect">
            <a:avLst/>
          </a:prstGeom>
          <a:solidFill>
            <a:srgbClr val="71D5DD"/>
          </a:solidFill>
          <a:ln w="8890">
            <a:solidFill>
              <a:srgbClr val="71D5DD"/>
            </a:solidFill>
            <a:prstDash val="solid"/>
          </a:ln>
        </p:spPr>
        <p:txBody>
          <a:bodyPr/>
          <a:p/>
        </p:txBody>
      </p:sp>
      <p:sp>
        <p:nvSpPr>
          <p:cNvPr id="12" name="Text 10"/>
          <p:cNvSpPr txBox="1"/>
          <p:nvPr/>
        </p:nvSpPr>
        <p:spPr>
          <a:xfrm>
            <a:off x="6406896" y="1975104"/>
            <a:ext cx="5017008" cy="557784"/>
          </a:xfrm>
          <a:prstGeom prst="rect">
            <a:avLst/>
          </a:prstGeom>
          <a:noFill/>
          <a:ln/>
        </p:spPr>
        <p:txBody>
          <a:bodyPr wrap="square" lIns="0" tIns="0" rIns="0" bIns="0" rtlCol="0" anchor="t"/>
          <a:lstStyle/>
          <a:p>
            <a:pPr algn="l" indent="0" marL="0">
              <a:lnSpc>
                <a:spcPct val="104000"/>
              </a:lnSpc>
              <a:buNone/>
            </a:pPr>
            <a:r>
              <a:rPr lang="en-US" sz="1750" b="1" dirty="0">
                <a:solidFill>
                  <a:srgbClr val="71D5DD"/>
                </a:solidFill>
                <a:latin typeface="Arial" pitchFamily="34" charset="0"/>
                <a:ea typeface="Arial" pitchFamily="34" charset="-122"/>
                <a:cs typeface="Arial" pitchFamily="34" charset="-120"/>
              </a:rPr>
              <a:t>IMPLEMENTATION FREEDOM</a:t>
            </a:r>
            <a:endParaRPr lang="en-US" sz="1750" dirty="0"/>
          </a:p>
        </p:txBody>
      </p:sp>
      <p:sp>
        <p:nvSpPr>
          <p:cNvPr id="13" name="Text 11"/>
          <p:cNvSpPr txBox="1"/>
          <p:nvPr/>
        </p:nvSpPr>
        <p:spPr>
          <a:xfrm>
            <a:off x="6406896" y="2642616"/>
            <a:ext cx="5017008" cy="2267712"/>
          </a:xfrm>
          <a:prstGeom prst="rect">
            <a:avLst/>
          </a:prstGeom>
          <a:noFill/>
          <a:ln/>
        </p:spPr>
        <p:txBody>
          <a:bodyPr wrap="square" lIns="0" tIns="0" rIns="0" bIns="0" rtlCol="0" anchor="t"/>
          <a:lstStyle/>
          <a:p>
            <a:pPr algn="l" indent="0" marL="0">
              <a:lnSpc>
                <a:spcPct val="104000"/>
              </a:lnSpc>
              <a:buNone/>
            </a:pPr>
            <a:r>
              <a:rPr lang="en-US" sz="2300" dirty="0">
                <a:solidFill>
                  <a:srgbClr val="F4F7FB"/>
                </a:solidFill>
                <a:latin typeface="Arial" pitchFamily="34" charset="0"/>
                <a:ea typeface="Arial" pitchFamily="34" charset="-122"/>
                <a:cs typeface="Arial" pitchFamily="34" charset="-120"/>
              </a:rPr>
              <a:t>Transform the implementation.</a:t>
            </a:r>
            <a:endParaRPr lang="en-US" sz="2300" dirty="0"/>
          </a:p>
          <a:p>
            <a:pPr algn="l" indent="0" marL="0">
              <a:lnSpc>
                <a:spcPct val="104000"/>
              </a:lnSpc>
              <a:buNone/>
            </a:pPr>
            <a:r>
              <a:rPr lang="en-US" sz="2300" dirty="0">
                <a:solidFill>
                  <a:srgbClr val="F4F7FB"/>
                </a:solidFill>
                <a:latin typeface="Arial" pitchFamily="34" charset="0"/>
                <a:ea typeface="Arial" pitchFamily="34" charset="-122"/>
                <a:cs typeface="Arial" pitchFamily="34" charset="-120"/>
              </a:rPr>
              <a:t>Preserve required observable</a:t>
            </a:r>
            <a:endParaRPr lang="en-US" sz="2300" dirty="0"/>
          </a:p>
          <a:p>
            <a:pPr algn="l" indent="0" marL="0">
              <a:lnSpc>
                <a:spcPct val="104000"/>
              </a:lnSpc>
              <a:buNone/>
            </a:pPr>
            <a:r>
              <a:rPr lang="en-US" sz="2300" dirty="0">
                <a:solidFill>
                  <a:srgbClr val="F4F7FB"/>
                </a:solidFill>
                <a:latin typeface="Arial" pitchFamily="34" charset="0"/>
                <a:ea typeface="Arial" pitchFamily="34" charset="-122"/>
                <a:cs typeface="Arial" pitchFamily="34" charset="-120"/>
              </a:rPr>
              <a:t>behavior.</a:t>
            </a:r>
            <a:endParaRPr lang="en-US" sz="2300" dirty="0"/>
          </a:p>
          <a:p>
            <a:pPr algn="l" indent="0" marL="0">
              <a:lnSpc>
                <a:spcPct val="104000"/>
              </a:lnSpc>
              <a:buNone/>
            </a:pPr>
            <a:r>
              <a:rPr lang="en-US" sz="2300" dirty="0">
                <a:solidFill>
                  <a:srgbClr val="F4F7FB"/>
                </a:solidFill>
                <a:latin typeface="Arial" pitchFamily="34" charset="0"/>
                <a:ea typeface="Arial" pitchFamily="34" charset="-122"/>
                <a:cs typeface="Arial" pitchFamily="34" charset="-120"/>
              </a:rPr>
              <a:t>Do not infer a literal machine</a:t>
            </a:r>
            <a:endParaRPr lang="en-US" sz="2300" dirty="0"/>
          </a:p>
          <a:p>
            <a:pPr algn="l" indent="0" marL="0">
              <a:lnSpc>
                <a:spcPct val="104000"/>
              </a:lnSpc>
              <a:buNone/>
            </a:pPr>
            <a:r>
              <a:rPr lang="en-US" sz="2300" dirty="0">
                <a:solidFill>
                  <a:srgbClr val="F4F7FB"/>
                </a:solidFill>
                <a:latin typeface="Arial" pitchFamily="34" charset="0"/>
                <a:ea typeface="Arial" pitchFamily="34" charset="-122"/>
                <a:cs typeface="Arial" pitchFamily="34" charset="-120"/>
              </a:rPr>
              <a:t>schedule.</a:t>
            </a:r>
            <a:endParaRPr lang="en-US" sz="2300" dirty="0"/>
          </a:p>
        </p:txBody>
      </p:sp>
      <p:sp>
        <p:nvSpPr>
          <p:cNvPr id="14" name="Text 12"/>
          <p:cNvSpPr txBox="1"/>
          <p:nvPr/>
        </p:nvSpPr>
        <p:spPr>
          <a:xfrm>
            <a:off x="548640" y="5193792"/>
            <a:ext cx="11094720" cy="274320"/>
          </a:xfrm>
          <a:prstGeom prst="rect">
            <a:avLst/>
          </a:prstGeom>
          <a:noFill/>
          <a:ln/>
        </p:spPr>
        <p:txBody>
          <a:bodyPr wrap="square" lIns="0" tIns="0" rIns="0" bIns="0" rtlCol="0" anchor="t"/>
          <a:lstStyle/>
          <a:p>
            <a:pPr algn="l" indent="0" marL="0">
              <a:lnSpc>
                <a:spcPct val="104000"/>
              </a:lnSpc>
              <a:buNone/>
            </a:pPr>
            <a:r>
              <a:rPr lang="en-US" sz="1140" dirty="0">
                <a:solidFill>
                  <a:srgbClr val="B3C3D6"/>
                </a:solidFill>
                <a:latin typeface="Arial" pitchFamily="34" charset="0"/>
                <a:ea typeface="Arial" pitchFamily="34" charset="-122"/>
                <a:cs typeface="Arial" pitchFamily="34" charset="-120"/>
              </a:rPr>
              <a:t>First establish defined source behavior. Then investigate its machine realization.</a:t>
            </a:r>
            <a:endParaRPr lang="en-US" sz="1140" dirty="0"/>
          </a:p>
        </p:txBody>
      </p:sp>
      <p:sp>
        <p:nvSpPr>
          <p:cNvPr id="19" name="Text 17"/>
          <p:cNvSpPr txBox="1"/>
          <p:nvPr/>
        </p:nvSpPr>
        <p:spPr>
          <a:xfrm>
            <a:off x="548640" y="6601968"/>
            <a:ext cx="10241280" cy="128016"/>
          </a:xfrm>
          <a:prstGeom prst="rect">
            <a:avLst/>
          </a:prstGeom>
          <a:noFill/>
          <a:ln/>
        </p:spPr>
        <p:txBody>
          <a:bodyPr wrap="square" lIns="0" tIns="0" rIns="0" bIns="0" rtlCol="0" anchor="t"/>
          <a:lstStyle/>
          <a:p>
            <a:pPr algn="l" indent="0" marL="0">
              <a:lnSpc>
                <a:spcPct val="104000"/>
              </a:lnSpc>
              <a:buNone/>
            </a:pPr>
            <a:r>
              <a:rPr lang="en-US" sz="830" dirty="0">
                <a:solidFill>
                  <a:srgbClr val="B3C3D6"/>
                </a:solidFill>
                <a:latin typeface="Arial" pitchFamily="34" charset="0"/>
                <a:ea typeface="Arial" pitchFamily="34" charset="-122"/>
                <a:cs typeface="Arial" pitchFamily="34" charset="-120"/>
              </a:rPr>
              <a:t>Source: original 8 • [LANG]</a:t>
            </a:r>
            <a:endParaRPr lang="en-US" sz="830" dirty="0"/>
          </a:p>
        </p:txBody>
      </p:sp>
      <p:sp>
        <p:nvSpPr>
          <p:cNvPr id="20" name="Text 18"/>
          <p:cNvSpPr txBox="1"/>
          <p:nvPr/>
        </p:nvSpPr>
        <p:spPr>
          <a:xfrm>
            <a:off x="10917936" y="6565392"/>
            <a:ext cx="722376" cy="219456"/>
          </a:xfrm>
          <a:prstGeom prst="rect">
            <a:avLst/>
          </a:prstGeom>
          <a:noFill/>
          <a:ln/>
        </p:spPr>
        <p:txBody>
          <a:bodyPr wrap="square" lIns="0" tIns="0" rIns="0" bIns="0" rtlCol="0" anchor="t"/>
          <a:lstStyle/>
          <a:p>
            <a:pPr algn="r" indent="0" marL="0">
              <a:lnSpc>
                <a:spcPct val="104000"/>
              </a:lnSpc>
              <a:buNone/>
            </a:pPr>
            <a:r>
              <a:rPr lang="en-US" sz="1050" dirty="0">
                <a:solidFill>
                  <a:srgbClr val="B3C3D6"/>
                </a:solidFill>
                <a:latin typeface="Arial" pitchFamily="34" charset="0"/>
                <a:ea typeface="Arial" pitchFamily="34" charset="-122"/>
                <a:cs typeface="Arial" pitchFamily="34" charset="-120"/>
              </a:rPr>
              <a:t>15 / 64</a:t>
            </a:r>
            <a:endParaRPr lang="en-US" sz="1050" dirty="0"/>
          </a:p>
        </p:txBody>
      </p:sp>
      <p:sp>
        <p:nvSpPr>
          <p:cNvPr id="21" name="Shape 19"/>
          <p:cNvSpPr/>
          <p:nvPr/>
        </p:nvSpPr>
        <p:spPr>
          <a:xfrm>
            <a:off x="0" y="6834226"/>
            <a:ext cx="12192000" cy="23774"/>
          </a:xfrm>
          <a:prstGeom prst="rect">
            <a:avLst/>
          </a:prstGeom>
          <a:solidFill>
            <a:srgbClr val="2B415A"/>
          </a:solidFill>
          <a:ln w="8890">
            <a:solidFill>
              <a:srgbClr val="2B415A"/>
            </a:solidFill>
            <a:prstDash val="solid"/>
          </a:ln>
        </p:spPr>
        <p:txBody>
          <a:bodyPr/>
          <a:p/>
        </p:txBody>
      </p:sp>
      <p:sp>
        <p:nvSpPr>
          <p:cNvPr id="22" name="Shape 20"/>
          <p:cNvSpPr/>
          <p:nvPr/>
        </p:nvSpPr>
        <p:spPr>
          <a:xfrm>
            <a:off x="0" y="6834226"/>
            <a:ext cx="2857500" cy="23774"/>
          </a:xfrm>
          <a:prstGeom prst="rect">
            <a:avLst/>
          </a:prstGeom>
          <a:solidFill>
            <a:srgbClr val="71D5DD"/>
          </a:solidFill>
          <a:ln w="8890">
            <a:solidFill>
              <a:srgbClr val="71D5DD"/>
            </a:solidFill>
            <a:prstDash val="solid"/>
          </a:ln>
        </p:spPr>
        <p:txBody>
          <a:body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219456"/>
            <a:ext cx="9875520" cy="192024"/>
          </a:xfrm>
          <a:prstGeom prst="rect">
            <a:avLst/>
          </a:prstGeom>
          <a:noFill/>
          <a:ln/>
        </p:spPr>
        <p:txBody>
          <a:bodyPr wrap="square" lIns="0" tIns="0" rIns="0" bIns="0" rtlCol="0" anchor="t"/>
          <a:lstStyle/>
          <a:p>
            <a:pPr algn="l" indent="0" marL="0">
              <a:lnSpc>
                <a:spcPct val="104000"/>
              </a:lnSpc>
              <a:buNone/>
            </a:pPr>
            <a:r>
              <a:rPr lang="en-US" sz="970" b="1" spc="135" kern="0" dirty="0">
                <a:solidFill>
                  <a:srgbClr val="B3C3D6"/>
                </a:solidFill>
                <a:latin typeface="Arial" pitchFamily="34" charset="0"/>
                <a:ea typeface="Arial" pitchFamily="34" charset="-122"/>
                <a:cs typeface="Arial" pitchFamily="34" charset="-120"/>
              </a:rPr>
              <a:t>SYSTEMS PROGRAMMING AND MACHINE ORGANIZATION</a:t>
            </a:r>
            <a:endParaRPr lang="en-US" sz="970" dirty="0"/>
          </a:p>
        </p:txBody>
      </p:sp>
      <p:sp>
        <p:nvSpPr>
          <p:cNvPr id="3" name="Text 1"/>
          <p:cNvSpPr txBox="1"/>
          <p:nvPr/>
        </p:nvSpPr>
        <p:spPr>
          <a:xfrm>
            <a:off x="9601200" y="219456"/>
            <a:ext cx="2039112" cy="192024"/>
          </a:xfrm>
          <a:prstGeom prst="rect">
            <a:avLst/>
          </a:prstGeom>
          <a:noFill/>
          <a:ln/>
        </p:spPr>
        <p:txBody>
          <a:bodyPr wrap="square" lIns="0" tIns="0" rIns="0" bIns="0" rtlCol="0" anchor="t"/>
          <a:lstStyle/>
          <a:p>
            <a:pPr algn="r" indent="0" marL="0">
              <a:lnSpc>
                <a:spcPct val="104000"/>
              </a:lnSpc>
              <a:buNone/>
            </a:pPr>
            <a:r>
              <a:rPr lang="en-US" sz="970" b="1" dirty="0">
                <a:solidFill>
                  <a:srgbClr val="B3C3D6"/>
                </a:solidFill>
                <a:latin typeface="Arial" pitchFamily="34" charset="0"/>
                <a:ea typeface="Arial" pitchFamily="34" charset="-122"/>
                <a:cs typeface="Arial" pitchFamily="34" charset="-120"/>
              </a:rPr>
              <a:t>CHARLES DORNER</a:t>
            </a:r>
            <a:endParaRPr lang="en-US" sz="970" dirty="0"/>
          </a:p>
        </p:txBody>
      </p:sp>
      <p:sp>
        <p:nvSpPr>
          <p:cNvPr id="4" name="Text 2"/>
          <p:cNvSpPr txBox="1"/>
          <p:nvPr/>
        </p:nvSpPr>
        <p:spPr>
          <a:xfrm>
            <a:off x="548640" y="566928"/>
            <a:ext cx="11109960" cy="237744"/>
          </a:xfrm>
          <a:prstGeom prst="rect">
            <a:avLst/>
          </a:prstGeom>
          <a:noFill/>
          <a:ln/>
        </p:spPr>
        <p:txBody>
          <a:bodyPr wrap="square" lIns="0" tIns="0" rIns="0" bIns="0" rtlCol="0" anchor="t"/>
          <a:lstStyle/>
          <a:p>
            <a:pPr algn="l" indent="0" marL="0">
              <a:lnSpc>
                <a:spcPct val="104000"/>
              </a:lnSpc>
              <a:buNone/>
            </a:pPr>
            <a:r>
              <a:rPr lang="en-US" sz="1150" b="1" dirty="0">
                <a:solidFill>
                  <a:srgbClr val="71D5DD"/>
                </a:solidFill>
                <a:latin typeface="Arial" pitchFamily="34" charset="0"/>
                <a:ea typeface="Arial" pitchFamily="34" charset="-122"/>
                <a:cs typeface="Arial" pitchFamily="34" charset="-120"/>
              </a:rPr>
              <a:t>1.2.1 · CLASSIFY THE RULE</a:t>
            </a:r>
            <a:endParaRPr lang="en-US" sz="1150" dirty="0"/>
          </a:p>
        </p:txBody>
      </p:sp>
      <p:sp>
        <p:nvSpPr>
          <p:cNvPr id="5" name="Text 3"/>
          <p:cNvSpPr txBox="1"/>
          <p:nvPr/>
        </p:nvSpPr>
        <p:spPr>
          <a:xfrm>
            <a:off x="548640" y="941832"/>
            <a:ext cx="11091672" cy="676656"/>
          </a:xfrm>
          <a:prstGeom prst="rect">
            <a:avLst/>
          </a:prstGeom>
          <a:noFill/>
          <a:ln/>
        </p:spPr>
        <p:txBody>
          <a:bodyPr wrap="square" lIns="0" tIns="0" rIns="0" bIns="0" rtlCol="0" anchor="t"/>
          <a:lstStyle/>
          <a:p>
            <a:pPr algn="l" indent="0" marL="0">
              <a:lnSpc>
                <a:spcPct val="104000"/>
              </a:lnSpc>
              <a:buNone/>
            </a:pPr>
            <a:r>
              <a:rPr lang="en-US" sz="3150" b="1" dirty="0">
                <a:solidFill>
                  <a:srgbClr val="F4F7FB"/>
                </a:solidFill>
                <a:latin typeface="Arial" pitchFamily="34" charset="0"/>
                <a:ea typeface="Arial" pitchFamily="34" charset="-122"/>
                <a:cs typeface="Arial" pitchFamily="34" charset="-120"/>
              </a:rPr>
              <a:t>Not all language uncertainty is undefined behavior</a:t>
            </a:r>
            <a:endParaRPr lang="en-US" sz="3150" dirty="0"/>
          </a:p>
        </p:txBody>
      </p:sp>
      <p:sp>
        <p:nvSpPr>
          <p:cNvPr id="6" name="Shape 4"/>
          <p:cNvSpPr/>
          <p:nvPr/>
        </p:nvSpPr>
        <p:spPr>
          <a:xfrm>
            <a:off x="548640" y="1764792"/>
            <a:ext cx="2773680" cy="402336"/>
          </a:xfrm>
          <a:prstGeom prst="rect">
            <a:avLst/>
          </a:prstGeom>
          <a:solidFill>
            <a:srgbClr val="172940"/>
          </a:solidFill>
          <a:ln w="8890">
            <a:solidFill>
              <a:srgbClr val="172940"/>
            </a:solidFill>
            <a:prstDash val="solid"/>
          </a:ln>
        </p:spPr>
        <p:txBody>
          <a:bodyPr/>
          <a:p/>
        </p:txBody>
      </p:sp>
      <p:sp>
        <p:nvSpPr>
          <p:cNvPr id="7" name="Text 5"/>
          <p:cNvSpPr txBox="1"/>
          <p:nvPr/>
        </p:nvSpPr>
        <p:spPr>
          <a:xfrm>
            <a:off x="676656" y="1851660"/>
            <a:ext cx="2517648" cy="301752"/>
          </a:xfrm>
          <a:prstGeom prst="rect">
            <a:avLst/>
          </a:prstGeom>
          <a:noFill/>
          <a:ln/>
        </p:spPr>
        <p:txBody>
          <a:bodyPr wrap="square" lIns="0" tIns="0" rIns="0" bIns="0" rtlCol="0" anchor="t"/>
          <a:lstStyle/>
          <a:p>
            <a:pPr algn="l" indent="0" marL="0">
              <a:lnSpc>
                <a:spcPct val="104000"/>
              </a:lnSpc>
              <a:buNone/>
            </a:pPr>
            <a:r>
              <a:rPr lang="en-US" sz="1240" b="1" dirty="0">
                <a:solidFill>
                  <a:srgbClr val="71D5DD"/>
                </a:solidFill>
                <a:latin typeface="Arial" pitchFamily="34" charset="0"/>
                <a:ea typeface="Arial" pitchFamily="34" charset="-122"/>
                <a:cs typeface="Arial" pitchFamily="34" charset="-120"/>
              </a:rPr>
              <a:t>Category</a:t>
            </a:r>
            <a:endParaRPr lang="en-US" sz="1240" dirty="0"/>
          </a:p>
        </p:txBody>
      </p:sp>
      <p:sp>
        <p:nvSpPr>
          <p:cNvPr id="8" name="Shape 6"/>
          <p:cNvSpPr/>
          <p:nvPr/>
        </p:nvSpPr>
        <p:spPr>
          <a:xfrm>
            <a:off x="3322320" y="1764792"/>
            <a:ext cx="4715256" cy="402336"/>
          </a:xfrm>
          <a:prstGeom prst="rect">
            <a:avLst/>
          </a:prstGeom>
          <a:solidFill>
            <a:srgbClr val="172940"/>
          </a:solidFill>
          <a:ln w="8890">
            <a:solidFill>
              <a:srgbClr val="172940"/>
            </a:solidFill>
            <a:prstDash val="solid"/>
          </a:ln>
        </p:spPr>
        <p:txBody>
          <a:bodyPr/>
          <a:p/>
        </p:txBody>
      </p:sp>
      <p:sp>
        <p:nvSpPr>
          <p:cNvPr id="9" name="Text 7"/>
          <p:cNvSpPr txBox="1"/>
          <p:nvPr/>
        </p:nvSpPr>
        <p:spPr>
          <a:xfrm>
            <a:off x="3450336" y="1851660"/>
            <a:ext cx="4459224" cy="301752"/>
          </a:xfrm>
          <a:prstGeom prst="rect">
            <a:avLst/>
          </a:prstGeom>
          <a:noFill/>
          <a:ln/>
        </p:spPr>
        <p:txBody>
          <a:bodyPr wrap="square" lIns="0" tIns="0" rIns="0" bIns="0" rtlCol="0" anchor="t"/>
          <a:lstStyle/>
          <a:p>
            <a:pPr algn="l" indent="0" marL="0">
              <a:lnSpc>
                <a:spcPct val="104000"/>
              </a:lnSpc>
              <a:buNone/>
            </a:pPr>
            <a:r>
              <a:rPr lang="en-US" sz="1240" b="1" dirty="0">
                <a:solidFill>
                  <a:srgbClr val="71D5DD"/>
                </a:solidFill>
                <a:latin typeface="Arial" pitchFamily="34" charset="0"/>
                <a:ea typeface="Arial" pitchFamily="34" charset="-122"/>
                <a:cs typeface="Arial" pitchFamily="34" charset="-120"/>
              </a:rPr>
              <a:t>What it means for reasoning</a:t>
            </a:r>
            <a:endParaRPr lang="en-US" sz="1240" dirty="0"/>
          </a:p>
        </p:txBody>
      </p:sp>
      <p:sp>
        <p:nvSpPr>
          <p:cNvPr id="10" name="Shape 8"/>
          <p:cNvSpPr/>
          <p:nvPr/>
        </p:nvSpPr>
        <p:spPr>
          <a:xfrm>
            <a:off x="8037576" y="1764792"/>
            <a:ext cx="3605784" cy="402336"/>
          </a:xfrm>
          <a:prstGeom prst="rect">
            <a:avLst/>
          </a:prstGeom>
          <a:solidFill>
            <a:srgbClr val="172940"/>
          </a:solidFill>
          <a:ln w="8890">
            <a:solidFill>
              <a:srgbClr val="172940"/>
            </a:solidFill>
            <a:prstDash val="solid"/>
          </a:ln>
        </p:spPr>
        <p:txBody>
          <a:bodyPr/>
          <a:p/>
        </p:txBody>
      </p:sp>
      <p:sp>
        <p:nvSpPr>
          <p:cNvPr id="11" name="Text 9"/>
          <p:cNvSpPr txBox="1"/>
          <p:nvPr/>
        </p:nvSpPr>
        <p:spPr>
          <a:xfrm>
            <a:off x="8165592" y="1851660"/>
            <a:ext cx="3349752" cy="301752"/>
          </a:xfrm>
          <a:prstGeom prst="rect">
            <a:avLst/>
          </a:prstGeom>
          <a:noFill/>
          <a:ln/>
        </p:spPr>
        <p:txBody>
          <a:bodyPr wrap="square" lIns="0" tIns="0" rIns="0" bIns="0" rtlCol="0" anchor="t"/>
          <a:lstStyle/>
          <a:p>
            <a:pPr algn="l" indent="0" marL="0">
              <a:lnSpc>
                <a:spcPct val="104000"/>
              </a:lnSpc>
              <a:buNone/>
            </a:pPr>
            <a:r>
              <a:rPr lang="en-US" sz="1240" b="1" dirty="0">
                <a:solidFill>
                  <a:srgbClr val="71D5DD"/>
                </a:solidFill>
                <a:latin typeface="Arial" pitchFamily="34" charset="0"/>
                <a:ea typeface="Arial" pitchFamily="34" charset="-122"/>
                <a:cs typeface="Arial" pitchFamily="34" charset="-120"/>
              </a:rPr>
              <a:t>Required response</a:t>
            </a:r>
            <a:endParaRPr lang="en-US" sz="1240" dirty="0"/>
          </a:p>
        </p:txBody>
      </p:sp>
      <p:sp>
        <p:nvSpPr>
          <p:cNvPr id="12" name="Shape 10"/>
          <p:cNvSpPr/>
          <p:nvPr/>
        </p:nvSpPr>
        <p:spPr>
          <a:xfrm>
            <a:off x="548640" y="2167128"/>
            <a:ext cx="2773680" cy="596646"/>
          </a:xfrm>
          <a:prstGeom prst="rect">
            <a:avLst/>
          </a:prstGeom>
          <a:solidFill>
            <a:srgbClr val="142238"/>
          </a:solidFill>
          <a:ln w="8890">
            <a:solidFill>
              <a:srgbClr val="142238"/>
            </a:solidFill>
            <a:prstDash val="solid"/>
          </a:ln>
        </p:spPr>
        <p:txBody>
          <a:bodyPr/>
          <a:p/>
        </p:txBody>
      </p:sp>
      <p:sp>
        <p:nvSpPr>
          <p:cNvPr id="13" name="Text 11"/>
          <p:cNvSpPr txBox="1"/>
          <p:nvPr/>
        </p:nvSpPr>
        <p:spPr>
          <a:xfrm>
            <a:off x="676656" y="2217420"/>
            <a:ext cx="2517648" cy="505206"/>
          </a:xfrm>
          <a:prstGeom prst="rect">
            <a:avLst/>
          </a:prstGeom>
          <a:noFill/>
          <a:ln/>
        </p:spPr>
        <p:txBody>
          <a:bodyPr wrap="square" lIns="0" tIns="0" rIns="0" bIns="0" rtlCol="0" anchor="t"/>
          <a:lstStyle/>
          <a:p>
            <a:pPr algn="l" indent="0" marL="0">
              <a:lnSpc>
                <a:spcPct val="104000"/>
              </a:lnSpc>
              <a:buNone/>
            </a:pPr>
            <a:r>
              <a:rPr lang="en-US" sz="1800" b="1" dirty="0">
                <a:solidFill>
                  <a:srgbClr val="F4F7FB"/>
                </a:solidFill>
                <a:latin typeface="Arial" pitchFamily="34" charset="0"/>
                <a:ea typeface="Arial" pitchFamily="34" charset="-122"/>
                <a:cs typeface="Arial" pitchFamily="34" charset="-120"/>
              </a:rPr>
              <a:t>Defined / constrained</a:t>
            </a:r>
            <a:endParaRPr lang="en-US" sz="1800" dirty="0"/>
          </a:p>
        </p:txBody>
      </p:sp>
      <p:sp>
        <p:nvSpPr>
          <p:cNvPr id="14" name="Shape 12"/>
          <p:cNvSpPr/>
          <p:nvPr/>
        </p:nvSpPr>
        <p:spPr>
          <a:xfrm>
            <a:off x="3322320" y="2167128"/>
            <a:ext cx="4715256" cy="596646"/>
          </a:xfrm>
          <a:prstGeom prst="rect">
            <a:avLst/>
          </a:prstGeom>
          <a:solidFill>
            <a:srgbClr val="142238"/>
          </a:solidFill>
          <a:ln w="8890">
            <a:solidFill>
              <a:srgbClr val="142238"/>
            </a:solidFill>
            <a:prstDash val="solid"/>
          </a:ln>
        </p:spPr>
        <p:txBody>
          <a:bodyPr/>
          <a:p/>
        </p:txBody>
      </p:sp>
      <p:sp>
        <p:nvSpPr>
          <p:cNvPr id="15" name="Text 13"/>
          <p:cNvSpPr txBox="1"/>
          <p:nvPr/>
        </p:nvSpPr>
        <p:spPr>
          <a:xfrm>
            <a:off x="3450336" y="2217420"/>
            <a:ext cx="4459224" cy="505206"/>
          </a:xfrm>
          <a:prstGeom prst="rect">
            <a:avLst/>
          </a:prstGeom>
          <a:noFill/>
          <a:ln/>
        </p:spPr>
        <p:txBody>
          <a:bodyPr wrap="square" lIns="0" tIns="0" rIns="0" bIns="0" rtlCol="0" anchor="t"/>
          <a:lstStyle/>
          <a:p>
            <a:pPr algn="l" indent="0" marL="0">
              <a:lnSpc>
                <a:spcPct val="104000"/>
              </a:lnSpc>
              <a:buNone/>
            </a:pPr>
            <a:r>
              <a:rPr lang="en-US" sz="1800" dirty="0">
                <a:solidFill>
                  <a:srgbClr val="B3C3D6"/>
                </a:solidFill>
                <a:latin typeface="Arial" pitchFamily="34" charset="0"/>
                <a:ea typeface="Arial" pitchFamily="34" charset="-122"/>
                <a:cs typeface="Arial" pitchFamily="34" charset="-120"/>
              </a:rPr>
              <a:t>Language rules constrain the behavior</a:t>
            </a:r>
            <a:endParaRPr lang="en-US" sz="1800" dirty="0"/>
          </a:p>
        </p:txBody>
      </p:sp>
      <p:sp>
        <p:nvSpPr>
          <p:cNvPr id="16" name="Shape 14"/>
          <p:cNvSpPr/>
          <p:nvPr/>
        </p:nvSpPr>
        <p:spPr>
          <a:xfrm>
            <a:off x="8037576" y="2167128"/>
            <a:ext cx="3605784" cy="596646"/>
          </a:xfrm>
          <a:prstGeom prst="rect">
            <a:avLst/>
          </a:prstGeom>
          <a:solidFill>
            <a:srgbClr val="142238"/>
          </a:solidFill>
          <a:ln w="8890">
            <a:solidFill>
              <a:srgbClr val="142238"/>
            </a:solidFill>
            <a:prstDash val="solid"/>
          </a:ln>
        </p:spPr>
        <p:txBody>
          <a:bodyPr/>
          <a:p/>
        </p:txBody>
      </p:sp>
      <p:sp>
        <p:nvSpPr>
          <p:cNvPr id="17" name="Text 15"/>
          <p:cNvSpPr txBox="1"/>
          <p:nvPr/>
        </p:nvSpPr>
        <p:spPr>
          <a:xfrm>
            <a:off x="8165592" y="2217420"/>
            <a:ext cx="3349752" cy="505206"/>
          </a:xfrm>
          <a:prstGeom prst="rect">
            <a:avLst/>
          </a:prstGeom>
          <a:noFill/>
          <a:ln/>
        </p:spPr>
        <p:txBody>
          <a:bodyPr wrap="square" lIns="0" tIns="0" rIns="0" bIns="0" rtlCol="0" anchor="t"/>
          <a:lstStyle/>
          <a:p>
            <a:pPr algn="l" indent="0" marL="0">
              <a:lnSpc>
                <a:spcPct val="104000"/>
              </a:lnSpc>
              <a:buNone/>
            </a:pPr>
            <a:r>
              <a:rPr lang="en-US" sz="1800" dirty="0">
                <a:solidFill>
                  <a:srgbClr val="B3C3D6"/>
                </a:solidFill>
                <a:latin typeface="Arial" pitchFamily="34" charset="0"/>
                <a:ea typeface="Arial" pitchFamily="34" charset="-122"/>
                <a:cs typeface="Arial" pitchFamily="34" charset="-120"/>
              </a:rPr>
              <a:t>Meet the preconditions</a:t>
            </a:r>
            <a:endParaRPr lang="en-US" sz="1800" dirty="0"/>
          </a:p>
        </p:txBody>
      </p:sp>
      <p:sp>
        <p:nvSpPr>
          <p:cNvPr id="18" name="Shape 16"/>
          <p:cNvSpPr/>
          <p:nvPr/>
        </p:nvSpPr>
        <p:spPr>
          <a:xfrm>
            <a:off x="548640" y="2763774"/>
            <a:ext cx="11094720" cy="0"/>
          </a:xfrm>
          <a:prstGeom prst="line">
            <a:avLst/>
          </a:prstGeom>
          <a:noFill/>
          <a:ln w="12700">
            <a:solidFill>
              <a:srgbClr val="2B415A"/>
            </a:solidFill>
            <a:prstDash val="solid"/>
          </a:ln>
        </p:spPr>
        <p:txBody>
          <a:bodyPr/>
          <a:p/>
        </p:txBody>
      </p:sp>
      <p:sp>
        <p:nvSpPr>
          <p:cNvPr id="19" name="Shape 17"/>
          <p:cNvSpPr/>
          <p:nvPr/>
        </p:nvSpPr>
        <p:spPr>
          <a:xfrm>
            <a:off x="548640" y="2763774"/>
            <a:ext cx="2773680" cy="857250"/>
          </a:xfrm>
          <a:prstGeom prst="rect">
            <a:avLst/>
          </a:prstGeom>
          <a:solidFill>
            <a:srgbClr val="0B1322"/>
          </a:solidFill>
          <a:ln w="8890">
            <a:solidFill>
              <a:srgbClr val="0B1322"/>
            </a:solidFill>
            <a:prstDash val="solid"/>
          </a:ln>
        </p:spPr>
        <p:txBody>
          <a:bodyPr/>
          <a:p/>
        </p:txBody>
      </p:sp>
      <p:sp>
        <p:nvSpPr>
          <p:cNvPr id="20" name="Text 18"/>
          <p:cNvSpPr txBox="1"/>
          <p:nvPr/>
        </p:nvSpPr>
        <p:spPr>
          <a:xfrm>
            <a:off x="676656" y="2814066"/>
            <a:ext cx="2517648" cy="765810"/>
          </a:xfrm>
          <a:prstGeom prst="rect">
            <a:avLst/>
          </a:prstGeom>
          <a:noFill/>
          <a:ln/>
        </p:spPr>
        <p:txBody>
          <a:bodyPr wrap="square" lIns="0" tIns="0" rIns="0" bIns="0" rtlCol="0" anchor="t"/>
          <a:lstStyle/>
          <a:p>
            <a:pPr algn="l" indent="0" marL="0">
              <a:lnSpc>
                <a:spcPct val="104000"/>
              </a:lnSpc>
              <a:buNone/>
            </a:pPr>
            <a:r>
              <a:rPr lang="en-US" sz="1800" b="1" dirty="0">
                <a:solidFill>
                  <a:srgbClr val="F4F7FB"/>
                </a:solidFill>
                <a:latin typeface="Arial" pitchFamily="34" charset="0"/>
                <a:ea typeface="Arial" pitchFamily="34" charset="-122"/>
                <a:cs typeface="Arial" pitchFamily="34" charset="-120"/>
              </a:rPr>
              <a:t>Implementation-</a:t>
            </a:r>
            <a:endParaRPr lang="en-US" sz="1800" dirty="0"/>
          </a:p>
          <a:p>
            <a:pPr algn="l" indent="0" marL="0">
              <a:lnSpc>
                <a:spcPct val="104000"/>
              </a:lnSpc>
              <a:buNone/>
            </a:pPr>
            <a:r>
              <a:rPr lang="en-US" sz="1800" b="1" dirty="0">
                <a:solidFill>
                  <a:srgbClr val="F4F7FB"/>
                </a:solidFill>
                <a:latin typeface="Arial" pitchFamily="34" charset="0"/>
                <a:ea typeface="Arial" pitchFamily="34" charset="-122"/>
                <a:cs typeface="Arial" pitchFamily="34" charset="-120"/>
              </a:rPr>
              <a:t>defined</a:t>
            </a:r>
            <a:endParaRPr lang="en-US" sz="1800" dirty="0"/>
          </a:p>
        </p:txBody>
      </p:sp>
      <p:sp>
        <p:nvSpPr>
          <p:cNvPr id="21" name="Shape 19"/>
          <p:cNvSpPr/>
          <p:nvPr/>
        </p:nvSpPr>
        <p:spPr>
          <a:xfrm>
            <a:off x="3322320" y="2763774"/>
            <a:ext cx="4715256" cy="857250"/>
          </a:xfrm>
          <a:prstGeom prst="rect">
            <a:avLst/>
          </a:prstGeom>
          <a:solidFill>
            <a:srgbClr val="0B1322"/>
          </a:solidFill>
          <a:ln w="8890">
            <a:solidFill>
              <a:srgbClr val="0B1322"/>
            </a:solidFill>
            <a:prstDash val="solid"/>
          </a:ln>
        </p:spPr>
        <p:txBody>
          <a:bodyPr/>
          <a:p/>
        </p:txBody>
      </p:sp>
      <p:sp>
        <p:nvSpPr>
          <p:cNvPr id="22" name="Text 20"/>
          <p:cNvSpPr txBox="1"/>
          <p:nvPr/>
        </p:nvSpPr>
        <p:spPr>
          <a:xfrm>
            <a:off x="3450336" y="2814066"/>
            <a:ext cx="4459224" cy="765810"/>
          </a:xfrm>
          <a:prstGeom prst="rect">
            <a:avLst/>
          </a:prstGeom>
          <a:noFill/>
          <a:ln/>
        </p:spPr>
        <p:txBody>
          <a:bodyPr wrap="square" lIns="0" tIns="0" rIns="0" bIns="0" rtlCol="0" anchor="t"/>
          <a:lstStyle/>
          <a:p>
            <a:pPr algn="l" indent="0" marL="0">
              <a:lnSpc>
                <a:spcPct val="104000"/>
              </a:lnSpc>
              <a:buNone/>
            </a:pPr>
            <a:r>
              <a:rPr lang="en-US" sz="1800" dirty="0">
                <a:solidFill>
                  <a:srgbClr val="B3C3D6"/>
                </a:solidFill>
                <a:latin typeface="Arial" pitchFamily="34" charset="0"/>
                <a:ea typeface="Arial" pitchFamily="34" charset="-122"/>
                <a:cs typeface="Arial" pitchFamily="34" charset="-120"/>
              </a:rPr>
              <a:t>A permitted choice is documented</a:t>
            </a:r>
            <a:endParaRPr lang="en-US" sz="1800" dirty="0"/>
          </a:p>
        </p:txBody>
      </p:sp>
      <p:sp>
        <p:nvSpPr>
          <p:cNvPr id="23" name="Shape 21"/>
          <p:cNvSpPr/>
          <p:nvPr/>
        </p:nvSpPr>
        <p:spPr>
          <a:xfrm>
            <a:off x="8037576" y="2763774"/>
            <a:ext cx="3605784" cy="857250"/>
          </a:xfrm>
          <a:prstGeom prst="rect">
            <a:avLst/>
          </a:prstGeom>
          <a:solidFill>
            <a:srgbClr val="0B1322"/>
          </a:solidFill>
          <a:ln w="8890">
            <a:solidFill>
              <a:srgbClr val="0B1322"/>
            </a:solidFill>
            <a:prstDash val="solid"/>
          </a:ln>
        </p:spPr>
        <p:txBody>
          <a:bodyPr/>
          <a:p/>
        </p:txBody>
      </p:sp>
      <p:sp>
        <p:nvSpPr>
          <p:cNvPr id="24" name="Text 22"/>
          <p:cNvSpPr txBox="1"/>
          <p:nvPr/>
        </p:nvSpPr>
        <p:spPr>
          <a:xfrm>
            <a:off x="8165592" y="2814066"/>
            <a:ext cx="3349752" cy="765810"/>
          </a:xfrm>
          <a:prstGeom prst="rect">
            <a:avLst/>
          </a:prstGeom>
          <a:noFill/>
          <a:ln/>
        </p:spPr>
        <p:txBody>
          <a:bodyPr wrap="square" lIns="0" tIns="0" rIns="0" bIns="0" rtlCol="0" anchor="t"/>
          <a:lstStyle/>
          <a:p>
            <a:pPr algn="l" indent="0" marL="0">
              <a:lnSpc>
                <a:spcPct val="104000"/>
              </a:lnSpc>
              <a:buNone/>
            </a:pPr>
            <a:r>
              <a:rPr lang="en-US" sz="1800" dirty="0">
                <a:solidFill>
                  <a:srgbClr val="B3C3D6"/>
                </a:solidFill>
                <a:latin typeface="Arial" pitchFamily="34" charset="0"/>
                <a:ea typeface="Arial" pitchFamily="34" charset="-122"/>
                <a:cs typeface="Arial" pitchFamily="34" charset="-120"/>
              </a:rPr>
              <a:t>Read and record that choice</a:t>
            </a:r>
            <a:endParaRPr lang="en-US" sz="1800" dirty="0"/>
          </a:p>
        </p:txBody>
      </p:sp>
      <p:sp>
        <p:nvSpPr>
          <p:cNvPr id="25" name="Shape 23"/>
          <p:cNvSpPr/>
          <p:nvPr/>
        </p:nvSpPr>
        <p:spPr>
          <a:xfrm>
            <a:off x="548640" y="3621024"/>
            <a:ext cx="11094720" cy="0"/>
          </a:xfrm>
          <a:prstGeom prst="line">
            <a:avLst/>
          </a:prstGeom>
          <a:noFill/>
          <a:ln w="12700">
            <a:solidFill>
              <a:srgbClr val="2B415A"/>
            </a:solidFill>
            <a:prstDash val="solid"/>
          </a:ln>
        </p:spPr>
        <p:txBody>
          <a:bodyPr/>
          <a:p/>
        </p:txBody>
      </p:sp>
      <p:sp>
        <p:nvSpPr>
          <p:cNvPr id="26" name="Shape 24"/>
          <p:cNvSpPr/>
          <p:nvPr/>
        </p:nvSpPr>
        <p:spPr>
          <a:xfrm>
            <a:off x="548640" y="3621024"/>
            <a:ext cx="2773680" cy="596646"/>
          </a:xfrm>
          <a:prstGeom prst="rect">
            <a:avLst/>
          </a:prstGeom>
          <a:solidFill>
            <a:srgbClr val="142238"/>
          </a:solidFill>
          <a:ln w="8890">
            <a:solidFill>
              <a:srgbClr val="142238"/>
            </a:solidFill>
            <a:prstDash val="solid"/>
          </a:ln>
        </p:spPr>
        <p:txBody>
          <a:bodyPr/>
          <a:p/>
        </p:txBody>
      </p:sp>
      <p:sp>
        <p:nvSpPr>
          <p:cNvPr id="27" name="Text 25"/>
          <p:cNvSpPr txBox="1"/>
          <p:nvPr/>
        </p:nvSpPr>
        <p:spPr>
          <a:xfrm>
            <a:off x="676656" y="3671316"/>
            <a:ext cx="2517648" cy="505206"/>
          </a:xfrm>
          <a:prstGeom prst="rect">
            <a:avLst/>
          </a:prstGeom>
          <a:noFill/>
          <a:ln/>
        </p:spPr>
        <p:txBody>
          <a:bodyPr wrap="square" lIns="0" tIns="0" rIns="0" bIns="0" rtlCol="0" anchor="t"/>
          <a:lstStyle/>
          <a:p>
            <a:pPr algn="l" indent="0" marL="0">
              <a:lnSpc>
                <a:spcPct val="104000"/>
              </a:lnSpc>
              <a:buNone/>
            </a:pPr>
            <a:r>
              <a:rPr lang="en-US" sz="1800" b="1" dirty="0">
                <a:solidFill>
                  <a:srgbClr val="F4F7FB"/>
                </a:solidFill>
                <a:latin typeface="Arial" pitchFamily="34" charset="0"/>
                <a:ea typeface="Arial" pitchFamily="34" charset="-122"/>
                <a:cs typeface="Arial" pitchFamily="34" charset="-120"/>
              </a:rPr>
              <a:t>Unspecified</a:t>
            </a:r>
            <a:endParaRPr lang="en-US" sz="1800" dirty="0"/>
          </a:p>
        </p:txBody>
      </p:sp>
      <p:sp>
        <p:nvSpPr>
          <p:cNvPr id="28" name="Shape 26"/>
          <p:cNvSpPr/>
          <p:nvPr/>
        </p:nvSpPr>
        <p:spPr>
          <a:xfrm>
            <a:off x="3322320" y="3621024"/>
            <a:ext cx="4715256" cy="596646"/>
          </a:xfrm>
          <a:prstGeom prst="rect">
            <a:avLst/>
          </a:prstGeom>
          <a:solidFill>
            <a:srgbClr val="142238"/>
          </a:solidFill>
          <a:ln w="8890">
            <a:solidFill>
              <a:srgbClr val="142238"/>
            </a:solidFill>
            <a:prstDash val="solid"/>
          </a:ln>
        </p:spPr>
        <p:txBody>
          <a:bodyPr/>
          <a:p/>
        </p:txBody>
      </p:sp>
      <p:sp>
        <p:nvSpPr>
          <p:cNvPr id="29" name="Text 27"/>
          <p:cNvSpPr txBox="1"/>
          <p:nvPr/>
        </p:nvSpPr>
        <p:spPr>
          <a:xfrm>
            <a:off x="3450336" y="3671316"/>
            <a:ext cx="4459224" cy="505206"/>
          </a:xfrm>
          <a:prstGeom prst="rect">
            <a:avLst/>
          </a:prstGeom>
          <a:noFill/>
          <a:ln/>
        </p:spPr>
        <p:txBody>
          <a:bodyPr wrap="square" lIns="0" tIns="0" rIns="0" bIns="0" rtlCol="0" anchor="t"/>
          <a:lstStyle/>
          <a:p>
            <a:pPr algn="l" indent="0" marL="0">
              <a:lnSpc>
                <a:spcPct val="104000"/>
              </a:lnSpc>
              <a:buNone/>
            </a:pPr>
            <a:r>
              <a:rPr lang="en-US" sz="1800" dirty="0">
                <a:solidFill>
                  <a:srgbClr val="B3C3D6"/>
                </a:solidFill>
                <a:latin typeface="Arial" pitchFamily="34" charset="0"/>
                <a:ea typeface="Arial" pitchFamily="34" charset="-122"/>
                <a:cs typeface="Arial" pitchFamily="34" charset="-120"/>
              </a:rPr>
              <a:t>One of the permitted choices may occur</a:t>
            </a:r>
            <a:endParaRPr lang="en-US" sz="1800" dirty="0"/>
          </a:p>
        </p:txBody>
      </p:sp>
      <p:sp>
        <p:nvSpPr>
          <p:cNvPr id="30" name="Shape 28"/>
          <p:cNvSpPr/>
          <p:nvPr/>
        </p:nvSpPr>
        <p:spPr>
          <a:xfrm>
            <a:off x="8037576" y="3621024"/>
            <a:ext cx="3605784" cy="596646"/>
          </a:xfrm>
          <a:prstGeom prst="rect">
            <a:avLst/>
          </a:prstGeom>
          <a:solidFill>
            <a:srgbClr val="142238"/>
          </a:solidFill>
          <a:ln w="8890">
            <a:solidFill>
              <a:srgbClr val="142238"/>
            </a:solidFill>
            <a:prstDash val="solid"/>
          </a:ln>
        </p:spPr>
        <p:txBody>
          <a:bodyPr/>
          <a:p/>
        </p:txBody>
      </p:sp>
      <p:sp>
        <p:nvSpPr>
          <p:cNvPr id="31" name="Text 29"/>
          <p:cNvSpPr txBox="1"/>
          <p:nvPr/>
        </p:nvSpPr>
        <p:spPr>
          <a:xfrm>
            <a:off x="8165592" y="3671316"/>
            <a:ext cx="3349752" cy="505206"/>
          </a:xfrm>
          <a:prstGeom prst="rect">
            <a:avLst/>
          </a:prstGeom>
          <a:noFill/>
          <a:ln/>
        </p:spPr>
        <p:txBody>
          <a:bodyPr wrap="square" lIns="0" tIns="0" rIns="0" bIns="0" rtlCol="0" anchor="t"/>
          <a:lstStyle/>
          <a:p>
            <a:pPr algn="l" indent="0" marL="0">
              <a:lnSpc>
                <a:spcPct val="104000"/>
              </a:lnSpc>
              <a:buNone/>
            </a:pPr>
            <a:r>
              <a:rPr lang="en-US" sz="1800" dirty="0">
                <a:solidFill>
                  <a:srgbClr val="B3C3D6"/>
                </a:solidFill>
                <a:latin typeface="Arial" pitchFamily="34" charset="0"/>
                <a:ea typeface="Arial" pitchFamily="34" charset="-122"/>
                <a:cs typeface="Arial" pitchFamily="34" charset="-120"/>
              </a:rPr>
              <a:t>Tolerate the allowed alternatives</a:t>
            </a:r>
            <a:endParaRPr lang="en-US" sz="1800" dirty="0"/>
          </a:p>
        </p:txBody>
      </p:sp>
      <p:sp>
        <p:nvSpPr>
          <p:cNvPr id="32" name="Shape 30"/>
          <p:cNvSpPr/>
          <p:nvPr/>
        </p:nvSpPr>
        <p:spPr>
          <a:xfrm>
            <a:off x="548640" y="4217670"/>
            <a:ext cx="11094720" cy="0"/>
          </a:xfrm>
          <a:prstGeom prst="line">
            <a:avLst/>
          </a:prstGeom>
          <a:noFill/>
          <a:ln w="12700">
            <a:solidFill>
              <a:srgbClr val="2B415A"/>
            </a:solidFill>
            <a:prstDash val="solid"/>
          </a:ln>
        </p:spPr>
        <p:txBody>
          <a:bodyPr/>
          <a:p/>
        </p:txBody>
      </p:sp>
      <p:sp>
        <p:nvSpPr>
          <p:cNvPr id="33" name="Shape 31"/>
          <p:cNvSpPr/>
          <p:nvPr/>
        </p:nvSpPr>
        <p:spPr>
          <a:xfrm>
            <a:off x="548640" y="4217670"/>
            <a:ext cx="2773680" cy="857250"/>
          </a:xfrm>
          <a:prstGeom prst="rect">
            <a:avLst/>
          </a:prstGeom>
          <a:solidFill>
            <a:srgbClr val="0B1322"/>
          </a:solidFill>
          <a:ln w="8890">
            <a:solidFill>
              <a:srgbClr val="0B1322"/>
            </a:solidFill>
            <a:prstDash val="solid"/>
          </a:ln>
        </p:spPr>
        <p:txBody>
          <a:bodyPr/>
          <a:p/>
        </p:txBody>
      </p:sp>
      <p:sp>
        <p:nvSpPr>
          <p:cNvPr id="34" name="Text 32"/>
          <p:cNvSpPr txBox="1"/>
          <p:nvPr/>
        </p:nvSpPr>
        <p:spPr>
          <a:xfrm>
            <a:off x="676656" y="4267962"/>
            <a:ext cx="2517648" cy="765810"/>
          </a:xfrm>
          <a:prstGeom prst="rect">
            <a:avLst/>
          </a:prstGeom>
          <a:noFill/>
          <a:ln/>
        </p:spPr>
        <p:txBody>
          <a:bodyPr wrap="square" lIns="0" tIns="0" rIns="0" bIns="0" rtlCol="0" anchor="t"/>
          <a:lstStyle/>
          <a:p>
            <a:pPr algn="l" indent="0" marL="0">
              <a:lnSpc>
                <a:spcPct val="104000"/>
              </a:lnSpc>
              <a:buNone/>
            </a:pPr>
            <a:r>
              <a:rPr lang="en-US" sz="1800" b="1" dirty="0">
                <a:solidFill>
                  <a:srgbClr val="F4F7FB"/>
                </a:solidFill>
                <a:latin typeface="Arial" pitchFamily="34" charset="0"/>
                <a:ea typeface="Arial" pitchFamily="34" charset="-122"/>
                <a:cs typeface="Arial" pitchFamily="34" charset="-120"/>
              </a:rPr>
              <a:t>Undefined behavior</a:t>
            </a:r>
            <a:endParaRPr lang="en-US" sz="1800" dirty="0"/>
          </a:p>
        </p:txBody>
      </p:sp>
      <p:sp>
        <p:nvSpPr>
          <p:cNvPr id="35" name="Shape 33"/>
          <p:cNvSpPr/>
          <p:nvPr/>
        </p:nvSpPr>
        <p:spPr>
          <a:xfrm>
            <a:off x="3322320" y="4217670"/>
            <a:ext cx="4715256" cy="857250"/>
          </a:xfrm>
          <a:prstGeom prst="rect">
            <a:avLst/>
          </a:prstGeom>
          <a:solidFill>
            <a:srgbClr val="0B1322"/>
          </a:solidFill>
          <a:ln w="8890">
            <a:solidFill>
              <a:srgbClr val="0B1322"/>
            </a:solidFill>
            <a:prstDash val="solid"/>
          </a:ln>
        </p:spPr>
        <p:txBody>
          <a:bodyPr/>
          <a:p/>
        </p:txBody>
      </p:sp>
      <p:sp>
        <p:nvSpPr>
          <p:cNvPr id="36" name="Text 34"/>
          <p:cNvSpPr txBox="1"/>
          <p:nvPr/>
        </p:nvSpPr>
        <p:spPr>
          <a:xfrm>
            <a:off x="3450336" y="4267962"/>
            <a:ext cx="4459224" cy="765810"/>
          </a:xfrm>
          <a:prstGeom prst="rect">
            <a:avLst/>
          </a:prstGeom>
          <a:noFill/>
          <a:ln/>
        </p:spPr>
        <p:txBody>
          <a:bodyPr wrap="square" lIns="0" tIns="0" rIns="0" bIns="0" rtlCol="0" anchor="t"/>
          <a:lstStyle/>
          <a:p>
            <a:pPr algn="l" indent="0" marL="0">
              <a:lnSpc>
                <a:spcPct val="104000"/>
              </a:lnSpc>
              <a:buNone/>
            </a:pPr>
            <a:r>
              <a:rPr lang="en-US" sz="1800" dirty="0">
                <a:solidFill>
                  <a:srgbClr val="B3C3D6"/>
                </a:solidFill>
                <a:latin typeface="Arial" pitchFamily="34" charset="0"/>
                <a:ea typeface="Arial" pitchFamily="34" charset="-122"/>
                <a:cs typeface="Arial" pitchFamily="34" charset="-120"/>
              </a:rPr>
              <a:t>No ordinary guarantee from that language</a:t>
            </a:r>
            <a:endParaRPr lang="en-US" sz="1800" dirty="0"/>
          </a:p>
          <a:p>
            <a:pPr algn="l" indent="0" marL="0">
              <a:lnSpc>
                <a:spcPct val="104000"/>
              </a:lnSpc>
              <a:buNone/>
            </a:pPr>
            <a:r>
              <a:rPr lang="en-US" sz="1800" dirty="0">
                <a:solidFill>
                  <a:srgbClr val="B3C3D6"/>
                </a:solidFill>
                <a:latin typeface="Arial" pitchFamily="34" charset="0"/>
                <a:ea typeface="Arial" pitchFamily="34" charset="-122"/>
                <a:cs typeface="Arial" pitchFamily="34" charset="-120"/>
              </a:rPr>
              <a:t>rule</a:t>
            </a:r>
            <a:endParaRPr lang="en-US" sz="1800" dirty="0"/>
          </a:p>
        </p:txBody>
      </p:sp>
      <p:sp>
        <p:nvSpPr>
          <p:cNvPr id="37" name="Shape 35"/>
          <p:cNvSpPr/>
          <p:nvPr/>
        </p:nvSpPr>
        <p:spPr>
          <a:xfrm>
            <a:off x="8037576" y="4217670"/>
            <a:ext cx="3605784" cy="857250"/>
          </a:xfrm>
          <a:prstGeom prst="rect">
            <a:avLst/>
          </a:prstGeom>
          <a:solidFill>
            <a:srgbClr val="0B1322"/>
          </a:solidFill>
          <a:ln w="8890">
            <a:solidFill>
              <a:srgbClr val="0B1322"/>
            </a:solidFill>
            <a:prstDash val="solid"/>
          </a:ln>
        </p:spPr>
        <p:txBody>
          <a:bodyPr/>
          <a:p/>
        </p:txBody>
      </p:sp>
      <p:sp>
        <p:nvSpPr>
          <p:cNvPr id="38" name="Text 36"/>
          <p:cNvSpPr txBox="1"/>
          <p:nvPr/>
        </p:nvSpPr>
        <p:spPr>
          <a:xfrm>
            <a:off x="8165592" y="4267962"/>
            <a:ext cx="3349752" cy="765810"/>
          </a:xfrm>
          <a:prstGeom prst="rect">
            <a:avLst/>
          </a:prstGeom>
          <a:noFill/>
          <a:ln/>
        </p:spPr>
        <p:txBody>
          <a:bodyPr wrap="square" lIns="0" tIns="0" rIns="0" bIns="0" rtlCol="0" anchor="t"/>
          <a:lstStyle/>
          <a:p>
            <a:pPr algn="l" indent="0" marL="0">
              <a:lnSpc>
                <a:spcPct val="104000"/>
              </a:lnSpc>
              <a:buNone/>
            </a:pPr>
            <a:r>
              <a:rPr lang="en-US" sz="1800" dirty="0">
                <a:solidFill>
                  <a:srgbClr val="B3C3D6"/>
                </a:solidFill>
                <a:latin typeface="Arial" pitchFamily="34" charset="0"/>
                <a:ea typeface="Arial" pitchFamily="34" charset="-122"/>
                <a:cs typeface="Arial" pitchFamily="34" charset="-120"/>
              </a:rPr>
              <a:t>Repair the violated obligation</a:t>
            </a:r>
            <a:endParaRPr lang="en-US" sz="1800" dirty="0"/>
          </a:p>
        </p:txBody>
      </p:sp>
      <p:sp>
        <p:nvSpPr>
          <p:cNvPr id="39" name="Shape 37"/>
          <p:cNvSpPr/>
          <p:nvPr/>
        </p:nvSpPr>
        <p:spPr>
          <a:xfrm>
            <a:off x="548640" y="5074920"/>
            <a:ext cx="11094720" cy="0"/>
          </a:xfrm>
          <a:prstGeom prst="line">
            <a:avLst/>
          </a:prstGeom>
          <a:noFill/>
          <a:ln w="12700">
            <a:solidFill>
              <a:srgbClr val="2B415A"/>
            </a:solidFill>
            <a:prstDash val="solid"/>
          </a:ln>
        </p:spPr>
        <p:txBody>
          <a:bodyPr/>
          <a:p/>
        </p:txBody>
      </p:sp>
      <p:sp>
        <p:nvSpPr>
          <p:cNvPr id="40" name="Text 38"/>
          <p:cNvSpPr txBox="1"/>
          <p:nvPr/>
        </p:nvSpPr>
        <p:spPr>
          <a:xfrm>
            <a:off x="548640" y="5193792"/>
            <a:ext cx="11094720" cy="274320"/>
          </a:xfrm>
          <a:prstGeom prst="rect">
            <a:avLst/>
          </a:prstGeom>
          <a:noFill/>
          <a:ln/>
        </p:spPr>
        <p:txBody>
          <a:bodyPr wrap="square" lIns="0" tIns="0" rIns="0" bIns="0" rtlCol="0" anchor="t"/>
          <a:lstStyle/>
          <a:p>
            <a:pPr algn="l" indent="0" marL="0">
              <a:lnSpc>
                <a:spcPct val="104000"/>
              </a:lnSpc>
              <a:buNone/>
            </a:pPr>
            <a:r>
              <a:rPr lang="en-US" sz="1140" dirty="0">
                <a:solidFill>
                  <a:srgbClr val="B3C3D6"/>
                </a:solidFill>
                <a:latin typeface="Arial" pitchFamily="34" charset="0"/>
                <a:ea typeface="Arial" pitchFamily="34" charset="-122"/>
                <a:cs typeface="Arial" pitchFamily="34" charset="-120"/>
              </a:rPr>
              <a:t>Do not confuse “the language allows a choice” with “the program violated its rules.”</a:t>
            </a:r>
            <a:endParaRPr lang="en-US" sz="1140" dirty="0"/>
          </a:p>
        </p:txBody>
      </p:sp>
      <p:sp>
        <p:nvSpPr>
          <p:cNvPr id="45" name="Text 43"/>
          <p:cNvSpPr txBox="1"/>
          <p:nvPr/>
        </p:nvSpPr>
        <p:spPr>
          <a:xfrm>
            <a:off x="548640" y="6601968"/>
            <a:ext cx="10241280" cy="128016"/>
          </a:xfrm>
          <a:prstGeom prst="rect">
            <a:avLst/>
          </a:prstGeom>
          <a:noFill/>
          <a:ln/>
        </p:spPr>
        <p:txBody>
          <a:bodyPr wrap="square" lIns="0" tIns="0" rIns="0" bIns="0" rtlCol="0" anchor="t"/>
          <a:lstStyle/>
          <a:p>
            <a:pPr algn="l" indent="0" marL="0">
              <a:lnSpc>
                <a:spcPct val="104000"/>
              </a:lnSpc>
              <a:buNone/>
            </a:pPr>
            <a:r>
              <a:rPr lang="en-US" sz="830" dirty="0">
                <a:solidFill>
                  <a:srgbClr val="B3C3D6"/>
                </a:solidFill>
                <a:latin typeface="Arial" pitchFamily="34" charset="0"/>
                <a:ea typeface="Arial" pitchFamily="34" charset="-122"/>
                <a:cs typeface="Arial" pitchFamily="34" charset="-120"/>
              </a:rPr>
              <a:t>Source: original 8, 19, 21 • Graduate extension • [LANG]</a:t>
            </a:r>
            <a:endParaRPr lang="en-US" sz="830" dirty="0"/>
          </a:p>
        </p:txBody>
      </p:sp>
      <p:sp>
        <p:nvSpPr>
          <p:cNvPr id="46" name="Text 44"/>
          <p:cNvSpPr txBox="1"/>
          <p:nvPr/>
        </p:nvSpPr>
        <p:spPr>
          <a:xfrm>
            <a:off x="10917936" y="6565392"/>
            <a:ext cx="722376" cy="219456"/>
          </a:xfrm>
          <a:prstGeom prst="rect">
            <a:avLst/>
          </a:prstGeom>
          <a:noFill/>
          <a:ln/>
        </p:spPr>
        <p:txBody>
          <a:bodyPr wrap="square" lIns="0" tIns="0" rIns="0" bIns="0" rtlCol="0" anchor="t"/>
          <a:lstStyle/>
          <a:p>
            <a:pPr algn="r" indent="0" marL="0">
              <a:lnSpc>
                <a:spcPct val="104000"/>
              </a:lnSpc>
              <a:buNone/>
            </a:pPr>
            <a:r>
              <a:rPr lang="en-US" sz="1050" dirty="0">
                <a:solidFill>
                  <a:srgbClr val="B3C3D6"/>
                </a:solidFill>
                <a:latin typeface="Arial" pitchFamily="34" charset="0"/>
                <a:ea typeface="Arial" pitchFamily="34" charset="-122"/>
                <a:cs typeface="Arial" pitchFamily="34" charset="-120"/>
              </a:rPr>
              <a:t>16 / 64</a:t>
            </a:r>
            <a:endParaRPr lang="en-US" sz="1050" dirty="0"/>
          </a:p>
        </p:txBody>
      </p:sp>
      <p:sp>
        <p:nvSpPr>
          <p:cNvPr id="47" name="Shape 45"/>
          <p:cNvSpPr/>
          <p:nvPr/>
        </p:nvSpPr>
        <p:spPr>
          <a:xfrm>
            <a:off x="0" y="6834226"/>
            <a:ext cx="12192000" cy="23774"/>
          </a:xfrm>
          <a:prstGeom prst="rect">
            <a:avLst/>
          </a:prstGeom>
          <a:solidFill>
            <a:srgbClr val="2B415A"/>
          </a:solidFill>
          <a:ln w="8890">
            <a:solidFill>
              <a:srgbClr val="2B415A"/>
            </a:solidFill>
            <a:prstDash val="solid"/>
          </a:ln>
        </p:spPr>
        <p:txBody>
          <a:bodyPr/>
          <a:p/>
        </p:txBody>
      </p:sp>
      <p:sp>
        <p:nvSpPr>
          <p:cNvPr id="48" name="Shape 46"/>
          <p:cNvSpPr/>
          <p:nvPr/>
        </p:nvSpPr>
        <p:spPr>
          <a:xfrm>
            <a:off x="0" y="6834226"/>
            <a:ext cx="3048000" cy="23774"/>
          </a:xfrm>
          <a:prstGeom prst="rect">
            <a:avLst/>
          </a:prstGeom>
          <a:solidFill>
            <a:srgbClr val="71D5DD"/>
          </a:solidFill>
          <a:ln w="8890">
            <a:solidFill>
              <a:srgbClr val="71D5DD"/>
            </a:solidFill>
            <a:prstDash val="solid"/>
          </a:ln>
        </p:spPr>
        <p:txBody>
          <a:body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219456"/>
            <a:ext cx="9875520" cy="192024"/>
          </a:xfrm>
          <a:prstGeom prst="rect">
            <a:avLst/>
          </a:prstGeom>
          <a:noFill/>
          <a:ln/>
        </p:spPr>
        <p:txBody>
          <a:bodyPr wrap="square" lIns="0" tIns="0" rIns="0" bIns="0" rtlCol="0" anchor="t"/>
          <a:lstStyle/>
          <a:p>
            <a:pPr algn="l" indent="0" marL="0">
              <a:lnSpc>
                <a:spcPct val="104000"/>
              </a:lnSpc>
              <a:buNone/>
            </a:pPr>
            <a:r>
              <a:rPr lang="en-US" sz="970" b="1" spc="135" kern="0" dirty="0">
                <a:solidFill>
                  <a:srgbClr val="B3C3D6"/>
                </a:solidFill>
                <a:latin typeface="Arial" pitchFamily="34" charset="0"/>
                <a:ea typeface="Arial" pitchFamily="34" charset="-122"/>
                <a:cs typeface="Arial" pitchFamily="34" charset="-120"/>
              </a:rPr>
              <a:t>SYSTEMS PROGRAMMING AND MACHINE ORGANIZATION</a:t>
            </a:r>
            <a:endParaRPr lang="en-US" sz="970" dirty="0"/>
          </a:p>
        </p:txBody>
      </p:sp>
      <p:sp>
        <p:nvSpPr>
          <p:cNvPr id="3" name="Text 1"/>
          <p:cNvSpPr txBox="1"/>
          <p:nvPr/>
        </p:nvSpPr>
        <p:spPr>
          <a:xfrm>
            <a:off x="9601200" y="219456"/>
            <a:ext cx="2039112" cy="192024"/>
          </a:xfrm>
          <a:prstGeom prst="rect">
            <a:avLst/>
          </a:prstGeom>
          <a:noFill/>
          <a:ln/>
        </p:spPr>
        <p:txBody>
          <a:bodyPr wrap="square" lIns="0" tIns="0" rIns="0" bIns="0" rtlCol="0" anchor="t"/>
          <a:lstStyle/>
          <a:p>
            <a:pPr algn="r" indent="0" marL="0">
              <a:lnSpc>
                <a:spcPct val="104000"/>
              </a:lnSpc>
              <a:buNone/>
            </a:pPr>
            <a:r>
              <a:rPr lang="en-US" sz="970" b="1" dirty="0">
                <a:solidFill>
                  <a:srgbClr val="B3C3D6"/>
                </a:solidFill>
                <a:latin typeface="Arial" pitchFamily="34" charset="0"/>
                <a:ea typeface="Arial" pitchFamily="34" charset="-122"/>
                <a:cs typeface="Arial" pitchFamily="34" charset="-120"/>
              </a:rPr>
              <a:t>CHARLES DORNER</a:t>
            </a:r>
            <a:endParaRPr lang="en-US" sz="970" dirty="0"/>
          </a:p>
        </p:txBody>
      </p:sp>
      <p:sp>
        <p:nvSpPr>
          <p:cNvPr id="4" name="Text 2"/>
          <p:cNvSpPr txBox="1"/>
          <p:nvPr/>
        </p:nvSpPr>
        <p:spPr>
          <a:xfrm>
            <a:off x="548640" y="566928"/>
            <a:ext cx="11109960" cy="237744"/>
          </a:xfrm>
          <a:prstGeom prst="rect">
            <a:avLst/>
          </a:prstGeom>
          <a:noFill/>
          <a:ln/>
        </p:spPr>
        <p:txBody>
          <a:bodyPr wrap="square" lIns="0" tIns="0" rIns="0" bIns="0" rtlCol="0" anchor="t"/>
          <a:lstStyle/>
          <a:p>
            <a:pPr algn="l" indent="0" marL="0">
              <a:lnSpc>
                <a:spcPct val="104000"/>
              </a:lnSpc>
              <a:buNone/>
            </a:pPr>
            <a:r>
              <a:rPr lang="en-US" sz="1150" b="1" dirty="0">
                <a:solidFill>
                  <a:srgbClr val="71D5DD"/>
                </a:solidFill>
                <a:latin typeface="Arial" pitchFamily="34" charset="0"/>
                <a:ea typeface="Arial" pitchFamily="34" charset="-122"/>
                <a:cs typeface="Arial" pitchFamily="34" charset="-120"/>
              </a:rPr>
              <a:t>1.2.2 · HEADERS, MACROS &amp; CONDITIONALS</a:t>
            </a:r>
            <a:endParaRPr lang="en-US" sz="1150" dirty="0"/>
          </a:p>
        </p:txBody>
      </p:sp>
      <p:sp>
        <p:nvSpPr>
          <p:cNvPr id="5" name="Text 3"/>
          <p:cNvSpPr txBox="1"/>
          <p:nvPr/>
        </p:nvSpPr>
        <p:spPr>
          <a:xfrm>
            <a:off x="548640" y="941832"/>
            <a:ext cx="11091672" cy="676656"/>
          </a:xfrm>
          <a:prstGeom prst="rect">
            <a:avLst/>
          </a:prstGeom>
          <a:noFill/>
          <a:ln/>
        </p:spPr>
        <p:txBody>
          <a:bodyPr wrap="square" lIns="0" tIns="0" rIns="0" bIns="0" rtlCol="0" anchor="t"/>
          <a:lstStyle/>
          <a:p>
            <a:pPr algn="l" indent="0" marL="0">
              <a:lnSpc>
                <a:spcPct val="104000"/>
              </a:lnSpc>
              <a:buNone/>
            </a:pPr>
            <a:r>
              <a:rPr lang="en-US" sz="3150" b="1" dirty="0">
                <a:solidFill>
                  <a:srgbClr val="F4F7FB"/>
                </a:solidFill>
                <a:latin typeface="Arial" pitchFamily="34" charset="0"/>
                <a:ea typeface="Arial" pitchFamily="34" charset="-122"/>
                <a:cs typeface="Arial" pitchFamily="34" charset="-120"/>
              </a:rPr>
              <a:t>Preprocessing works on directives and tokens</a:t>
            </a:r>
            <a:endParaRPr lang="en-US" sz="3150" dirty="0"/>
          </a:p>
        </p:txBody>
      </p:sp>
      <p:sp>
        <p:nvSpPr>
          <p:cNvPr id="6" name="Shape 4"/>
          <p:cNvSpPr/>
          <p:nvPr/>
        </p:nvSpPr>
        <p:spPr>
          <a:xfrm>
            <a:off x="548640" y="1764792"/>
            <a:ext cx="7178040" cy="3310128"/>
          </a:xfrm>
          <a:prstGeom prst="rect">
            <a:avLst/>
          </a:prstGeom>
          <a:solidFill>
            <a:srgbClr val="142238"/>
          </a:solidFill>
          <a:ln w="8890">
            <a:solidFill>
              <a:srgbClr val="2B415A"/>
            </a:solidFill>
            <a:prstDash val="solid"/>
          </a:ln>
        </p:spPr>
        <p:txBody>
          <a:bodyPr/>
          <a:p/>
        </p:txBody>
      </p:sp>
      <p:sp>
        <p:nvSpPr>
          <p:cNvPr id="7" name="Text 5"/>
          <p:cNvSpPr txBox="1"/>
          <p:nvPr/>
        </p:nvSpPr>
        <p:spPr>
          <a:xfrm>
            <a:off x="749808" y="1938528"/>
            <a:ext cx="6775704" cy="237744"/>
          </a:xfrm>
          <a:prstGeom prst="rect">
            <a:avLst/>
          </a:prstGeom>
          <a:noFill/>
          <a:ln/>
        </p:spPr>
        <p:txBody>
          <a:bodyPr wrap="square" lIns="0" tIns="0" rIns="0" bIns="0" rtlCol="0" anchor="t"/>
          <a:lstStyle/>
          <a:p>
            <a:pPr algn="l" indent="0" marL="0">
              <a:lnSpc>
                <a:spcPct val="104000"/>
              </a:lnSpc>
              <a:buNone/>
            </a:pPr>
            <a:r>
              <a:rPr lang="en-US" sz="1160" b="1" dirty="0">
                <a:solidFill>
                  <a:srgbClr val="F1C984"/>
                </a:solidFill>
                <a:latin typeface="Arial" pitchFamily="34" charset="0"/>
                <a:ea typeface="Arial" pitchFamily="34" charset="-122"/>
                <a:cs typeface="Arial" pitchFamily="34" charset="-120"/>
              </a:rPr>
              <a:t>Source example from the original chapter</a:t>
            </a:r>
            <a:endParaRPr lang="en-US" sz="1160" dirty="0"/>
          </a:p>
        </p:txBody>
      </p:sp>
      <p:sp>
        <p:nvSpPr>
          <p:cNvPr id="8" name="Shape 6"/>
          <p:cNvSpPr/>
          <p:nvPr/>
        </p:nvSpPr>
        <p:spPr>
          <a:xfrm>
            <a:off x="749808" y="2276856"/>
            <a:ext cx="6775704" cy="0"/>
          </a:xfrm>
          <a:prstGeom prst="line">
            <a:avLst/>
          </a:prstGeom>
          <a:noFill/>
          <a:ln w="12700">
            <a:solidFill>
              <a:srgbClr val="2B415A"/>
            </a:solidFill>
            <a:prstDash val="solid"/>
          </a:ln>
        </p:spPr>
        <p:txBody>
          <a:bodyPr/>
          <a:p/>
        </p:txBody>
      </p:sp>
      <p:sp>
        <p:nvSpPr>
          <p:cNvPr id="9" name="Text 7"/>
          <p:cNvSpPr txBox="1"/>
          <p:nvPr/>
        </p:nvSpPr>
        <p:spPr>
          <a:xfrm>
            <a:off x="749808" y="2478024"/>
            <a:ext cx="6775704" cy="2450592"/>
          </a:xfrm>
          <a:prstGeom prst="rect">
            <a:avLst/>
          </a:prstGeom>
          <a:noFill/>
          <a:ln/>
        </p:spPr>
        <p:txBody>
          <a:bodyPr wrap="square" lIns="0" tIns="0" rIns="0" bIns="0" rtlCol="0" anchor="t"/>
          <a:lstStyle/>
          <a:p>
            <a:pPr algn="l" indent="0" marL="0">
              <a:lnSpc>
                <a:spcPct val="104000"/>
              </a:lnSpc>
              <a:buNone/>
            </a:pPr>
            <a:r>
              <a:rPr lang="en-US" sz="1830" dirty="0">
                <a:solidFill>
                  <a:srgbClr val="DCE8F4"/>
                </a:solidFill>
                <a:latin typeface="DejaVu Sans Mono" pitchFamily="34" charset="0"/>
                <a:ea typeface="DejaVu Sans Mono" pitchFamily="34" charset="-122"/>
                <a:cs typeface="DejaVu Sans Mono" pitchFamily="34" charset="-120"/>
              </a:rPr>
              <a:t>#include &lt;stdio.h&gt;</a:t>
            </a:r>
            <a:endParaRPr lang="en-US" sz="1830" dirty="0"/>
          </a:p>
          <a:p>
            <a:pPr algn="l" indent="0" marL="0">
              <a:lnSpc>
                <a:spcPct val="104000"/>
              </a:lnSpc>
              <a:buNone/>
            </a:pPr>
            <a:r>
              <a:rPr lang="en-US" sz="1830" dirty="0">
                <a:solidFill>
                  <a:srgbClr val="DCE8F4"/>
                </a:solidFill>
                <a:latin typeface="DejaVu Sans Mono" pitchFamily="34" charset="0"/>
                <a:ea typeface="DejaVu Sans Mono" pitchFamily="34" charset="-122"/>
                <a:cs typeface="DejaVu Sans Mono" pitchFamily="34" charset="-120"/>
              </a:rPr>
              <a:t>#define BUFFER_SIZE 4096</a:t>
            </a:r>
            <a:endParaRPr lang="en-US" sz="1830" dirty="0"/>
          </a:p>
          <a:p>
            <a:pPr algn="l" indent="0" marL="0">
              <a:lnSpc>
                <a:spcPct val="104000"/>
              </a:lnSpc>
              <a:buNone/>
            </a:pPr>
            <a:endParaRPr lang="en-US" sz="1830" dirty="0"/>
          </a:p>
          <a:p>
            <a:pPr algn="l" indent="0" marL="0">
              <a:lnSpc>
                <a:spcPct val="104000"/>
              </a:lnSpc>
              <a:buNone/>
            </a:pPr>
            <a:r>
              <a:rPr lang="en-US" sz="1830" dirty="0">
                <a:solidFill>
                  <a:srgbClr val="DCE8F4"/>
                </a:solidFill>
                <a:latin typeface="DejaVu Sans Mono" pitchFamily="34" charset="0"/>
                <a:ea typeface="DejaVu Sans Mono" pitchFamily="34" charset="-122"/>
                <a:cs typeface="DejaVu Sans Mono" pitchFamily="34" charset="-120"/>
              </a:rPr>
              <a:t>#if defined(__linux__)</a:t>
            </a:r>
            <a:endParaRPr lang="en-US" sz="1830" dirty="0"/>
          </a:p>
          <a:p>
            <a:pPr algn="l" indent="0" marL="0">
              <a:lnSpc>
                <a:spcPct val="104000"/>
              </a:lnSpc>
              <a:buNone/>
            </a:pPr>
            <a:r>
              <a:rPr lang="en-US" sz="1830" dirty="0">
                <a:solidFill>
                  <a:srgbClr val="DCE8F4"/>
                </a:solidFill>
                <a:latin typeface="DejaVu Sans Mono" pitchFamily="34" charset="0"/>
                <a:ea typeface="DejaVu Sans Mono" pitchFamily="34" charset="-122"/>
                <a:cs typeface="DejaVu Sans Mono" pitchFamily="34" charset="-120"/>
              </a:rPr>
              <a:t>  /* Translation-time choice. */</a:t>
            </a:r>
            <a:endParaRPr lang="en-US" sz="1830" dirty="0"/>
          </a:p>
          <a:p>
            <a:pPr algn="l" indent="0" marL="0">
              <a:lnSpc>
                <a:spcPct val="104000"/>
              </a:lnSpc>
              <a:buNone/>
            </a:pPr>
            <a:r>
              <a:rPr lang="en-US" sz="1830" dirty="0">
                <a:solidFill>
                  <a:srgbClr val="DCE8F4"/>
                </a:solidFill>
                <a:latin typeface="DejaVu Sans Mono" pitchFamily="34" charset="0"/>
                <a:ea typeface="DejaVu Sans Mono" pitchFamily="34" charset="-122"/>
                <a:cs typeface="DejaVu Sans Mono" pitchFamily="34" charset="-120"/>
              </a:rPr>
              <a:t>#endif</a:t>
            </a:r>
            <a:endParaRPr lang="en-US" sz="1830" dirty="0"/>
          </a:p>
        </p:txBody>
      </p:sp>
      <p:sp>
        <p:nvSpPr>
          <p:cNvPr id="10" name="Text 8"/>
          <p:cNvSpPr txBox="1"/>
          <p:nvPr/>
        </p:nvSpPr>
        <p:spPr>
          <a:xfrm>
            <a:off x="7946136" y="1883664"/>
            <a:ext cx="3696919" cy="237744"/>
          </a:xfrm>
          <a:prstGeom prst="rect">
            <a:avLst/>
          </a:prstGeom>
          <a:noFill/>
          <a:ln/>
        </p:spPr>
        <p:txBody>
          <a:bodyPr wrap="square" lIns="0" tIns="0" rIns="0" bIns="0" rtlCol="0" anchor="t"/>
          <a:lstStyle/>
          <a:p>
            <a:pPr algn="l" indent="0" marL="0">
              <a:lnSpc>
                <a:spcPct val="104000"/>
              </a:lnSpc>
              <a:buNone/>
            </a:pPr>
            <a:r>
              <a:rPr lang="en-US" sz="1330" b="1" dirty="0">
                <a:solidFill>
                  <a:srgbClr val="71D5DD"/>
                </a:solidFill>
                <a:latin typeface="Arial" pitchFamily="34" charset="0"/>
                <a:ea typeface="Arial" pitchFamily="34" charset="-122"/>
                <a:cs typeface="Arial" pitchFamily="34" charset="-120"/>
              </a:rPr>
              <a:t>WHAT CHANGED?</a:t>
            </a:r>
            <a:endParaRPr lang="en-US" sz="1330" dirty="0"/>
          </a:p>
        </p:txBody>
      </p:sp>
      <p:sp>
        <p:nvSpPr>
          <p:cNvPr id="11" name="Shape 9"/>
          <p:cNvSpPr/>
          <p:nvPr/>
        </p:nvSpPr>
        <p:spPr>
          <a:xfrm>
            <a:off x="7946136" y="2386584"/>
            <a:ext cx="41148" cy="374904"/>
          </a:xfrm>
          <a:prstGeom prst="rect">
            <a:avLst/>
          </a:prstGeom>
          <a:solidFill>
            <a:srgbClr val="71D5DD"/>
          </a:solidFill>
          <a:ln w="8890">
            <a:solidFill>
              <a:srgbClr val="71D5DD"/>
            </a:solidFill>
            <a:prstDash val="solid"/>
          </a:ln>
        </p:spPr>
        <p:txBody>
          <a:bodyPr/>
          <a:p/>
        </p:txBody>
      </p:sp>
      <p:sp>
        <p:nvSpPr>
          <p:cNvPr id="12" name="Text 10"/>
          <p:cNvSpPr txBox="1"/>
          <p:nvPr/>
        </p:nvSpPr>
        <p:spPr>
          <a:xfrm>
            <a:off x="8110728" y="2350008"/>
            <a:ext cx="3532327" cy="662940"/>
          </a:xfrm>
          <a:prstGeom prst="rect">
            <a:avLst/>
          </a:prstGeom>
          <a:noFill/>
          <a:ln/>
        </p:spPr>
        <p:txBody>
          <a:bodyPr wrap="square" lIns="0" tIns="0" rIns="0" bIns="0" rtlCol="0" anchor="t"/>
          <a:lstStyle/>
          <a:p>
            <a:pPr algn="l" indent="0" marL="0">
              <a:lnSpc>
                <a:spcPct val="104000"/>
              </a:lnSpc>
              <a:buNone/>
            </a:pPr>
            <a:r>
              <a:rPr lang="en-US" sz="2010" dirty="0">
                <a:solidFill>
                  <a:srgbClr val="F4F7FB"/>
                </a:solidFill>
                <a:latin typeface="Arial" pitchFamily="34" charset="0"/>
                <a:ea typeface="Arial" pitchFamily="34" charset="-122"/>
                <a:cs typeface="Arial" pitchFamily="34" charset="-120"/>
              </a:rPr>
              <a:t>Header content becomes</a:t>
            </a:r>
            <a:endParaRPr lang="en-US" sz="2010" dirty="0"/>
          </a:p>
          <a:p>
            <a:pPr algn="l" indent="0" marL="0">
              <a:lnSpc>
                <a:spcPct val="104000"/>
              </a:lnSpc>
              <a:buNone/>
            </a:pPr>
            <a:r>
              <a:rPr lang="en-US" sz="2010" dirty="0">
                <a:solidFill>
                  <a:srgbClr val="F4F7FB"/>
                </a:solidFill>
                <a:latin typeface="Arial" pitchFamily="34" charset="0"/>
                <a:ea typeface="Arial" pitchFamily="34" charset="-122"/>
                <a:cs typeface="Arial" pitchFamily="34" charset="-120"/>
              </a:rPr>
              <a:t>visible.</a:t>
            </a:r>
            <a:endParaRPr lang="en-US" sz="2010" dirty="0"/>
          </a:p>
        </p:txBody>
      </p:sp>
      <p:sp>
        <p:nvSpPr>
          <p:cNvPr id="13" name="Shape 11"/>
          <p:cNvSpPr/>
          <p:nvPr/>
        </p:nvSpPr>
        <p:spPr>
          <a:xfrm>
            <a:off x="7946136" y="3099816"/>
            <a:ext cx="41148" cy="374904"/>
          </a:xfrm>
          <a:prstGeom prst="rect">
            <a:avLst/>
          </a:prstGeom>
          <a:solidFill>
            <a:srgbClr val="71D5DD"/>
          </a:solidFill>
          <a:ln w="8890">
            <a:solidFill>
              <a:srgbClr val="71D5DD"/>
            </a:solidFill>
            <a:prstDash val="solid"/>
          </a:ln>
        </p:spPr>
        <p:txBody>
          <a:bodyPr/>
          <a:p/>
        </p:txBody>
      </p:sp>
      <p:sp>
        <p:nvSpPr>
          <p:cNvPr id="14" name="Text 12"/>
          <p:cNvSpPr txBox="1"/>
          <p:nvPr/>
        </p:nvSpPr>
        <p:spPr>
          <a:xfrm>
            <a:off x="8110728" y="3063240"/>
            <a:ext cx="3532327" cy="662940"/>
          </a:xfrm>
          <a:prstGeom prst="rect">
            <a:avLst/>
          </a:prstGeom>
          <a:noFill/>
          <a:ln/>
        </p:spPr>
        <p:txBody>
          <a:bodyPr wrap="square" lIns="0" tIns="0" rIns="0" bIns="0" rtlCol="0" anchor="t"/>
          <a:lstStyle/>
          <a:p>
            <a:pPr algn="l" indent="0" marL="0">
              <a:lnSpc>
                <a:spcPct val="104000"/>
              </a:lnSpc>
              <a:buNone/>
            </a:pPr>
            <a:r>
              <a:rPr lang="en-US" sz="2010" dirty="0">
                <a:solidFill>
                  <a:srgbClr val="F4F7FB"/>
                </a:solidFill>
                <a:latin typeface="Arial" pitchFamily="34" charset="0"/>
                <a:ea typeface="Arial" pitchFamily="34" charset="-122"/>
                <a:cs typeface="Arial" pitchFamily="34" charset="-120"/>
              </a:rPr>
              <a:t>Tokens may be replaced or</a:t>
            </a:r>
            <a:endParaRPr lang="en-US" sz="2010" dirty="0"/>
          </a:p>
          <a:p>
            <a:pPr algn="l" indent="0" marL="0">
              <a:lnSpc>
                <a:spcPct val="104000"/>
              </a:lnSpc>
              <a:buNone/>
            </a:pPr>
            <a:r>
              <a:rPr lang="en-US" sz="2010" dirty="0">
                <a:solidFill>
                  <a:srgbClr val="F4F7FB"/>
                </a:solidFill>
                <a:latin typeface="Arial" pitchFamily="34" charset="0"/>
                <a:ea typeface="Arial" pitchFamily="34" charset="-122"/>
                <a:cs typeface="Arial" pitchFamily="34" charset="-120"/>
              </a:rPr>
              <a:t>excluded.</a:t>
            </a:r>
            <a:endParaRPr lang="en-US" sz="2010" dirty="0"/>
          </a:p>
        </p:txBody>
      </p:sp>
      <p:sp>
        <p:nvSpPr>
          <p:cNvPr id="15" name="Shape 13"/>
          <p:cNvSpPr/>
          <p:nvPr/>
        </p:nvSpPr>
        <p:spPr>
          <a:xfrm>
            <a:off x="7946136" y="3813048"/>
            <a:ext cx="41148" cy="374904"/>
          </a:xfrm>
          <a:prstGeom prst="rect">
            <a:avLst/>
          </a:prstGeom>
          <a:solidFill>
            <a:srgbClr val="71D5DD"/>
          </a:solidFill>
          <a:ln w="8890">
            <a:solidFill>
              <a:srgbClr val="71D5DD"/>
            </a:solidFill>
            <a:prstDash val="solid"/>
          </a:ln>
        </p:spPr>
        <p:txBody>
          <a:bodyPr/>
          <a:p/>
        </p:txBody>
      </p:sp>
      <p:sp>
        <p:nvSpPr>
          <p:cNvPr id="16" name="Text 14"/>
          <p:cNvSpPr txBox="1"/>
          <p:nvPr/>
        </p:nvSpPr>
        <p:spPr>
          <a:xfrm>
            <a:off x="8110728" y="3776472"/>
            <a:ext cx="3532327" cy="662940"/>
          </a:xfrm>
          <a:prstGeom prst="rect">
            <a:avLst/>
          </a:prstGeom>
          <a:noFill/>
          <a:ln/>
        </p:spPr>
        <p:txBody>
          <a:bodyPr wrap="square" lIns="0" tIns="0" rIns="0" bIns="0" rtlCol="0" anchor="t"/>
          <a:lstStyle/>
          <a:p>
            <a:pPr algn="l" indent="0" marL="0">
              <a:lnSpc>
                <a:spcPct val="104000"/>
              </a:lnSpc>
              <a:buNone/>
            </a:pPr>
            <a:r>
              <a:rPr lang="en-US" sz="1860" dirty="0">
                <a:solidFill>
                  <a:srgbClr val="F4F7FB"/>
                </a:solidFill>
                <a:latin typeface="Arial" pitchFamily="34" charset="0"/>
                <a:ea typeface="Arial" pitchFamily="34" charset="-122"/>
                <a:cs typeface="Arial" pitchFamily="34" charset="-120"/>
              </a:rPr>
              <a:t>A declaration is not automatically</a:t>
            </a:r>
            <a:endParaRPr lang="en-US" sz="1860" dirty="0"/>
          </a:p>
          <a:p>
            <a:pPr algn="l" indent="0" marL="0">
              <a:lnSpc>
                <a:spcPct val="104000"/>
              </a:lnSpc>
              <a:buNone/>
            </a:pPr>
            <a:r>
              <a:rPr lang="en-US" sz="1860" dirty="0">
                <a:solidFill>
                  <a:srgbClr val="F4F7FB"/>
                </a:solidFill>
                <a:latin typeface="Arial" pitchFamily="34" charset="0"/>
                <a:ea typeface="Arial" pitchFamily="34" charset="-122"/>
                <a:cs typeface="Arial" pitchFamily="34" charset="-120"/>
              </a:rPr>
              <a:t>a linked implementation.</a:t>
            </a:r>
            <a:endParaRPr lang="en-US" sz="1860" dirty="0"/>
          </a:p>
        </p:txBody>
      </p:sp>
      <p:sp>
        <p:nvSpPr>
          <p:cNvPr id="17" name="Text 15"/>
          <p:cNvSpPr txBox="1"/>
          <p:nvPr/>
        </p:nvSpPr>
        <p:spPr>
          <a:xfrm>
            <a:off x="548640" y="5193792"/>
            <a:ext cx="11094720" cy="274320"/>
          </a:xfrm>
          <a:prstGeom prst="rect">
            <a:avLst/>
          </a:prstGeom>
          <a:noFill/>
          <a:ln/>
        </p:spPr>
        <p:txBody>
          <a:bodyPr wrap="square" lIns="0" tIns="0" rIns="0" bIns="0" rtlCol="0" anchor="t"/>
          <a:lstStyle/>
          <a:p>
            <a:pPr algn="l" indent="0" marL="0">
              <a:lnSpc>
                <a:spcPct val="104000"/>
              </a:lnSpc>
              <a:buNone/>
            </a:pPr>
            <a:r>
              <a:rPr lang="en-US" sz="1140" dirty="0">
                <a:solidFill>
                  <a:srgbClr val="B3C3D6"/>
                </a:solidFill>
                <a:latin typeface="Arial" pitchFamily="34" charset="0"/>
                <a:ea typeface="Arial" pitchFamily="34" charset="-122"/>
                <a:cs typeface="Arial" pitchFamily="34" charset="-120"/>
              </a:rPr>
              <a:t>Inspect with: cc -std=c17 -E main.c -o main.i</a:t>
            </a:r>
            <a:endParaRPr lang="en-US" sz="1140" dirty="0"/>
          </a:p>
        </p:txBody>
      </p:sp>
      <p:sp>
        <p:nvSpPr>
          <p:cNvPr id="22" name="Text 20"/>
          <p:cNvSpPr txBox="1"/>
          <p:nvPr/>
        </p:nvSpPr>
        <p:spPr>
          <a:xfrm>
            <a:off x="548640" y="6601968"/>
            <a:ext cx="10241280" cy="128016"/>
          </a:xfrm>
          <a:prstGeom prst="rect">
            <a:avLst/>
          </a:prstGeom>
          <a:noFill/>
          <a:ln/>
        </p:spPr>
        <p:txBody>
          <a:bodyPr wrap="square" lIns="0" tIns="0" rIns="0" bIns="0" rtlCol="0" anchor="t"/>
          <a:lstStyle/>
          <a:p>
            <a:pPr algn="l" indent="0" marL="0">
              <a:lnSpc>
                <a:spcPct val="104000"/>
              </a:lnSpc>
              <a:buNone/>
            </a:pPr>
            <a:r>
              <a:rPr lang="en-US" sz="830" dirty="0">
                <a:solidFill>
                  <a:srgbClr val="B3C3D6"/>
                </a:solidFill>
                <a:latin typeface="Arial" pitchFamily="34" charset="0"/>
                <a:ea typeface="Arial" pitchFamily="34" charset="-122"/>
                <a:cs typeface="Arial" pitchFamily="34" charset="-120"/>
              </a:rPr>
              <a:t>Source: original 9 • [GCC, CPP]</a:t>
            </a:r>
            <a:endParaRPr lang="en-US" sz="830" dirty="0"/>
          </a:p>
        </p:txBody>
      </p:sp>
      <p:sp>
        <p:nvSpPr>
          <p:cNvPr id="23" name="Text 21"/>
          <p:cNvSpPr txBox="1"/>
          <p:nvPr/>
        </p:nvSpPr>
        <p:spPr>
          <a:xfrm>
            <a:off x="10917936" y="6565392"/>
            <a:ext cx="722376" cy="219456"/>
          </a:xfrm>
          <a:prstGeom prst="rect">
            <a:avLst/>
          </a:prstGeom>
          <a:noFill/>
          <a:ln/>
        </p:spPr>
        <p:txBody>
          <a:bodyPr wrap="square" lIns="0" tIns="0" rIns="0" bIns="0" rtlCol="0" anchor="t"/>
          <a:lstStyle/>
          <a:p>
            <a:pPr algn="r" indent="0" marL="0">
              <a:lnSpc>
                <a:spcPct val="104000"/>
              </a:lnSpc>
              <a:buNone/>
            </a:pPr>
            <a:r>
              <a:rPr lang="en-US" sz="1050" dirty="0">
                <a:solidFill>
                  <a:srgbClr val="B3C3D6"/>
                </a:solidFill>
                <a:latin typeface="Arial" pitchFamily="34" charset="0"/>
                <a:ea typeface="Arial" pitchFamily="34" charset="-122"/>
                <a:cs typeface="Arial" pitchFamily="34" charset="-120"/>
              </a:rPr>
              <a:t>17 / 64</a:t>
            </a:r>
            <a:endParaRPr lang="en-US" sz="1050" dirty="0"/>
          </a:p>
        </p:txBody>
      </p:sp>
      <p:sp>
        <p:nvSpPr>
          <p:cNvPr id="24" name="Shape 22"/>
          <p:cNvSpPr/>
          <p:nvPr/>
        </p:nvSpPr>
        <p:spPr>
          <a:xfrm>
            <a:off x="0" y="6834226"/>
            <a:ext cx="12192000" cy="23774"/>
          </a:xfrm>
          <a:prstGeom prst="rect">
            <a:avLst/>
          </a:prstGeom>
          <a:solidFill>
            <a:srgbClr val="2B415A"/>
          </a:solidFill>
          <a:ln w="8890">
            <a:solidFill>
              <a:srgbClr val="2B415A"/>
            </a:solidFill>
            <a:prstDash val="solid"/>
          </a:ln>
        </p:spPr>
        <p:txBody>
          <a:bodyPr/>
          <a:p/>
        </p:txBody>
      </p:sp>
      <p:sp>
        <p:nvSpPr>
          <p:cNvPr id="25" name="Shape 23"/>
          <p:cNvSpPr/>
          <p:nvPr/>
        </p:nvSpPr>
        <p:spPr>
          <a:xfrm>
            <a:off x="0" y="6834226"/>
            <a:ext cx="3238500" cy="23774"/>
          </a:xfrm>
          <a:prstGeom prst="rect">
            <a:avLst/>
          </a:prstGeom>
          <a:solidFill>
            <a:srgbClr val="71D5DD"/>
          </a:solidFill>
          <a:ln w="8890">
            <a:solidFill>
              <a:srgbClr val="71D5DD"/>
            </a:solidFill>
            <a:prstDash val="solid"/>
          </a:ln>
        </p:spPr>
        <p:txBody>
          <a:body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219456"/>
            <a:ext cx="9875520" cy="192024"/>
          </a:xfrm>
          <a:prstGeom prst="rect">
            <a:avLst/>
          </a:prstGeom>
          <a:noFill/>
          <a:ln/>
        </p:spPr>
        <p:txBody>
          <a:bodyPr wrap="square" lIns="0" tIns="0" rIns="0" bIns="0" rtlCol="0" anchor="t"/>
          <a:lstStyle/>
          <a:p>
            <a:pPr algn="l" indent="0" marL="0">
              <a:lnSpc>
                <a:spcPct val="104000"/>
              </a:lnSpc>
              <a:buNone/>
            </a:pPr>
            <a:r>
              <a:rPr lang="en-US" sz="970" b="1" spc="135" kern="0" dirty="0">
                <a:solidFill>
                  <a:srgbClr val="B3C3D6"/>
                </a:solidFill>
                <a:latin typeface="Arial" pitchFamily="34" charset="0"/>
                <a:ea typeface="Arial" pitchFamily="34" charset="-122"/>
                <a:cs typeface="Arial" pitchFamily="34" charset="-120"/>
              </a:rPr>
              <a:t>SYSTEMS PROGRAMMING AND MACHINE ORGANIZATION</a:t>
            </a:r>
            <a:endParaRPr lang="en-US" sz="970" dirty="0"/>
          </a:p>
        </p:txBody>
      </p:sp>
      <p:sp>
        <p:nvSpPr>
          <p:cNvPr id="3" name="Text 1"/>
          <p:cNvSpPr txBox="1"/>
          <p:nvPr/>
        </p:nvSpPr>
        <p:spPr>
          <a:xfrm>
            <a:off x="9601200" y="219456"/>
            <a:ext cx="2039112" cy="192024"/>
          </a:xfrm>
          <a:prstGeom prst="rect">
            <a:avLst/>
          </a:prstGeom>
          <a:noFill/>
          <a:ln/>
        </p:spPr>
        <p:txBody>
          <a:bodyPr wrap="square" lIns="0" tIns="0" rIns="0" bIns="0" rtlCol="0" anchor="t"/>
          <a:lstStyle/>
          <a:p>
            <a:pPr algn="r" indent="0" marL="0">
              <a:lnSpc>
                <a:spcPct val="104000"/>
              </a:lnSpc>
              <a:buNone/>
            </a:pPr>
            <a:r>
              <a:rPr lang="en-US" sz="970" b="1" dirty="0">
                <a:solidFill>
                  <a:srgbClr val="B3C3D6"/>
                </a:solidFill>
                <a:latin typeface="Arial" pitchFamily="34" charset="0"/>
                <a:ea typeface="Arial" pitchFamily="34" charset="-122"/>
                <a:cs typeface="Arial" pitchFamily="34" charset="-120"/>
              </a:rPr>
              <a:t>CHARLES DORNER</a:t>
            </a:r>
            <a:endParaRPr lang="en-US" sz="970" dirty="0"/>
          </a:p>
        </p:txBody>
      </p:sp>
      <p:sp>
        <p:nvSpPr>
          <p:cNvPr id="4" name="Text 2"/>
          <p:cNvSpPr txBox="1"/>
          <p:nvPr/>
        </p:nvSpPr>
        <p:spPr>
          <a:xfrm>
            <a:off x="548640" y="566928"/>
            <a:ext cx="11109960" cy="237744"/>
          </a:xfrm>
          <a:prstGeom prst="rect">
            <a:avLst/>
          </a:prstGeom>
          <a:noFill/>
          <a:ln/>
        </p:spPr>
        <p:txBody>
          <a:bodyPr wrap="square" lIns="0" tIns="0" rIns="0" bIns="0" rtlCol="0" anchor="t"/>
          <a:lstStyle/>
          <a:p>
            <a:pPr algn="l" indent="0" marL="0">
              <a:lnSpc>
                <a:spcPct val="104000"/>
              </a:lnSpc>
              <a:buNone/>
            </a:pPr>
            <a:r>
              <a:rPr lang="en-US" sz="1150" b="1" dirty="0">
                <a:solidFill>
                  <a:srgbClr val="71D5DD"/>
                </a:solidFill>
                <a:latin typeface="Arial" pitchFamily="34" charset="0"/>
                <a:ea typeface="Arial" pitchFamily="34" charset="-122"/>
                <a:cs typeface="Arial" pitchFamily="34" charset="-120"/>
              </a:rPr>
              <a:t>1.2.2 · PREPROCESSOR COUNTEREXAMPLE</a:t>
            </a:r>
            <a:endParaRPr lang="en-US" sz="1150" dirty="0"/>
          </a:p>
        </p:txBody>
      </p:sp>
      <p:sp>
        <p:nvSpPr>
          <p:cNvPr id="5" name="Text 3"/>
          <p:cNvSpPr txBox="1"/>
          <p:nvPr/>
        </p:nvSpPr>
        <p:spPr>
          <a:xfrm>
            <a:off x="548640" y="941832"/>
            <a:ext cx="11091672" cy="676656"/>
          </a:xfrm>
          <a:prstGeom prst="rect">
            <a:avLst/>
          </a:prstGeom>
          <a:noFill/>
          <a:ln/>
        </p:spPr>
        <p:txBody>
          <a:bodyPr wrap="square" lIns="0" tIns="0" rIns="0" bIns="0" rtlCol="0" anchor="t"/>
          <a:lstStyle/>
          <a:p>
            <a:pPr algn="l" indent="0" marL="0">
              <a:lnSpc>
                <a:spcPct val="104000"/>
              </a:lnSpc>
              <a:buNone/>
            </a:pPr>
            <a:r>
              <a:rPr lang="en-US" sz="3150" b="1" dirty="0">
                <a:solidFill>
                  <a:srgbClr val="F4F7FB"/>
                </a:solidFill>
                <a:latin typeface="Arial" pitchFamily="34" charset="0"/>
                <a:ea typeface="Arial" pitchFamily="34" charset="-122"/>
                <a:cs typeface="Arial" pitchFamily="34" charset="-120"/>
              </a:rPr>
              <a:t>A macro can duplicate an operation</a:t>
            </a:r>
            <a:endParaRPr lang="en-US" sz="3150" dirty="0"/>
          </a:p>
        </p:txBody>
      </p:sp>
      <p:sp>
        <p:nvSpPr>
          <p:cNvPr id="6" name="Shape 4"/>
          <p:cNvSpPr/>
          <p:nvPr/>
        </p:nvSpPr>
        <p:spPr>
          <a:xfrm>
            <a:off x="548640" y="1764792"/>
            <a:ext cx="7178040" cy="3310128"/>
          </a:xfrm>
          <a:prstGeom prst="rect">
            <a:avLst/>
          </a:prstGeom>
          <a:solidFill>
            <a:srgbClr val="142238"/>
          </a:solidFill>
          <a:ln w="8890">
            <a:solidFill>
              <a:srgbClr val="2B415A"/>
            </a:solidFill>
            <a:prstDash val="solid"/>
          </a:ln>
        </p:spPr>
        <p:txBody>
          <a:bodyPr/>
          <a:p/>
        </p:txBody>
      </p:sp>
      <p:sp>
        <p:nvSpPr>
          <p:cNvPr id="7" name="Text 5"/>
          <p:cNvSpPr txBox="1"/>
          <p:nvPr/>
        </p:nvSpPr>
        <p:spPr>
          <a:xfrm>
            <a:off x="749808" y="1938528"/>
            <a:ext cx="6775704" cy="237744"/>
          </a:xfrm>
          <a:prstGeom prst="rect">
            <a:avLst/>
          </a:prstGeom>
          <a:noFill/>
          <a:ln/>
        </p:spPr>
        <p:txBody>
          <a:bodyPr wrap="square" lIns="0" tIns="0" rIns="0" bIns="0" rtlCol="0" anchor="t"/>
          <a:lstStyle/>
          <a:p>
            <a:pPr algn="l" indent="0" marL="0">
              <a:lnSpc>
                <a:spcPct val="104000"/>
              </a:lnSpc>
              <a:buNone/>
            </a:pPr>
            <a:r>
              <a:rPr lang="en-US" sz="1160" b="1" dirty="0">
                <a:solidFill>
                  <a:srgbClr val="F1C984"/>
                </a:solidFill>
                <a:latin typeface="Arial" pitchFamily="34" charset="0"/>
                <a:ea typeface="Arial" pitchFamily="34" charset="-122"/>
                <a:cs typeface="Arial" pitchFamily="34" charset="-120"/>
              </a:rPr>
              <a:t>Deliberately invalid C example — do not run as a result test</a:t>
            </a:r>
            <a:endParaRPr lang="en-US" sz="1160" dirty="0"/>
          </a:p>
        </p:txBody>
      </p:sp>
      <p:sp>
        <p:nvSpPr>
          <p:cNvPr id="8" name="Shape 6"/>
          <p:cNvSpPr/>
          <p:nvPr/>
        </p:nvSpPr>
        <p:spPr>
          <a:xfrm>
            <a:off x="749808" y="2276856"/>
            <a:ext cx="6775704" cy="0"/>
          </a:xfrm>
          <a:prstGeom prst="line">
            <a:avLst/>
          </a:prstGeom>
          <a:noFill/>
          <a:ln w="12700">
            <a:solidFill>
              <a:srgbClr val="2B415A"/>
            </a:solidFill>
            <a:prstDash val="solid"/>
          </a:ln>
        </p:spPr>
        <p:txBody>
          <a:bodyPr/>
          <a:p/>
        </p:txBody>
      </p:sp>
      <p:sp>
        <p:nvSpPr>
          <p:cNvPr id="9" name="Text 7"/>
          <p:cNvSpPr txBox="1"/>
          <p:nvPr/>
        </p:nvSpPr>
        <p:spPr>
          <a:xfrm>
            <a:off x="749808" y="2478024"/>
            <a:ext cx="6775704" cy="2450592"/>
          </a:xfrm>
          <a:prstGeom prst="rect">
            <a:avLst/>
          </a:prstGeom>
          <a:noFill/>
          <a:ln/>
        </p:spPr>
        <p:txBody>
          <a:bodyPr wrap="square" lIns="0" tIns="0" rIns="0" bIns="0" rtlCol="0" anchor="t"/>
          <a:lstStyle/>
          <a:p>
            <a:pPr algn="l" indent="0" marL="0">
              <a:lnSpc>
                <a:spcPct val="104000"/>
              </a:lnSpc>
              <a:buNone/>
            </a:pPr>
            <a:r>
              <a:rPr lang="en-US" sz="1830" dirty="0">
                <a:solidFill>
                  <a:srgbClr val="DCE8F4"/>
                </a:solidFill>
                <a:latin typeface="DejaVu Sans Mono" pitchFamily="34" charset="0"/>
                <a:ea typeface="DejaVu Sans Mono" pitchFamily="34" charset="-122"/>
                <a:cs typeface="DejaVu Sans Mono" pitchFamily="34" charset="-120"/>
              </a:rPr>
              <a:t>#define SQUARE(x) ((x) * (x))</a:t>
            </a:r>
            <a:endParaRPr lang="en-US" sz="1830" dirty="0"/>
          </a:p>
          <a:p>
            <a:pPr algn="l" indent="0" marL="0">
              <a:lnSpc>
                <a:spcPct val="104000"/>
              </a:lnSpc>
              <a:buNone/>
            </a:pPr>
            <a:endParaRPr lang="en-US" sz="1830" dirty="0"/>
          </a:p>
          <a:p>
            <a:pPr algn="l" indent="0" marL="0">
              <a:lnSpc>
                <a:spcPct val="104000"/>
              </a:lnSpc>
              <a:buNone/>
            </a:pPr>
            <a:r>
              <a:rPr lang="en-US" sz="1830" dirty="0">
                <a:solidFill>
                  <a:srgbClr val="DCE8F4"/>
                </a:solidFill>
                <a:latin typeface="DejaVu Sans Mono" pitchFamily="34" charset="0"/>
                <a:ea typeface="DejaVu Sans Mono" pitchFamily="34" charset="-122"/>
                <a:cs typeface="DejaVu Sans Mono" pitchFamily="34" charset="-120"/>
              </a:rPr>
              <a:t>int i = 3;</a:t>
            </a:r>
            <a:endParaRPr lang="en-US" sz="1830" dirty="0"/>
          </a:p>
          <a:p>
            <a:pPr algn="l" indent="0" marL="0">
              <a:lnSpc>
                <a:spcPct val="104000"/>
              </a:lnSpc>
              <a:buNone/>
            </a:pPr>
            <a:r>
              <a:rPr lang="en-US" sz="1830" dirty="0">
                <a:solidFill>
                  <a:srgbClr val="DCE8F4"/>
                </a:solidFill>
                <a:latin typeface="DejaVu Sans Mono" pitchFamily="34" charset="0"/>
                <a:ea typeface="DejaVu Sans Mono" pitchFamily="34" charset="-122"/>
                <a:cs typeface="DejaVu Sans Mono" pitchFamily="34" charset="-120"/>
              </a:rPr>
              <a:t>int y = SQUARE(i++);</a:t>
            </a:r>
            <a:endParaRPr lang="en-US" sz="1830" dirty="0"/>
          </a:p>
          <a:p>
            <a:pPr algn="l" indent="0" marL="0">
              <a:lnSpc>
                <a:spcPct val="104000"/>
              </a:lnSpc>
              <a:buNone/>
            </a:pPr>
            <a:endParaRPr lang="en-US" sz="1830" dirty="0"/>
          </a:p>
          <a:p>
            <a:pPr algn="l" indent="0" marL="0">
              <a:lnSpc>
                <a:spcPct val="104000"/>
              </a:lnSpc>
              <a:buNone/>
            </a:pPr>
            <a:r>
              <a:rPr lang="en-US" sz="1830" dirty="0">
                <a:solidFill>
                  <a:srgbClr val="DCE8F4"/>
                </a:solidFill>
                <a:latin typeface="DejaVu Sans Mono" pitchFamily="34" charset="0"/>
                <a:ea typeface="DejaVu Sans Mono" pitchFamily="34" charset="-122"/>
                <a:cs typeface="DejaVu Sans Mono" pitchFamily="34" charset="-120"/>
              </a:rPr>
              <a:t>/* Expands to: */</a:t>
            </a:r>
            <a:endParaRPr lang="en-US" sz="1830" dirty="0"/>
          </a:p>
          <a:p>
            <a:pPr algn="l" indent="0" marL="0">
              <a:lnSpc>
                <a:spcPct val="104000"/>
              </a:lnSpc>
              <a:buNone/>
            </a:pPr>
            <a:r>
              <a:rPr lang="en-US" sz="1830" dirty="0">
                <a:solidFill>
                  <a:srgbClr val="DCE8F4"/>
                </a:solidFill>
                <a:latin typeface="DejaVu Sans Mono" pitchFamily="34" charset="0"/>
                <a:ea typeface="DejaVu Sans Mono" pitchFamily="34" charset="-122"/>
                <a:cs typeface="DejaVu Sans Mono" pitchFamily="34" charset="-120"/>
              </a:rPr>
              <a:t>int y = ((i++) * (i++));</a:t>
            </a:r>
            <a:endParaRPr lang="en-US" sz="1830" dirty="0"/>
          </a:p>
        </p:txBody>
      </p:sp>
      <p:sp>
        <p:nvSpPr>
          <p:cNvPr id="10" name="Text 8"/>
          <p:cNvSpPr txBox="1"/>
          <p:nvPr/>
        </p:nvSpPr>
        <p:spPr>
          <a:xfrm>
            <a:off x="7946136" y="1883664"/>
            <a:ext cx="3696919" cy="237744"/>
          </a:xfrm>
          <a:prstGeom prst="rect">
            <a:avLst/>
          </a:prstGeom>
          <a:noFill/>
          <a:ln/>
        </p:spPr>
        <p:txBody>
          <a:bodyPr wrap="square" lIns="0" tIns="0" rIns="0" bIns="0" rtlCol="0" anchor="t"/>
          <a:lstStyle/>
          <a:p>
            <a:pPr algn="l" indent="0" marL="0">
              <a:lnSpc>
                <a:spcPct val="104000"/>
              </a:lnSpc>
              <a:buNone/>
            </a:pPr>
            <a:r>
              <a:rPr lang="en-US" sz="1330" b="1" dirty="0">
                <a:solidFill>
                  <a:srgbClr val="71D5DD"/>
                </a:solidFill>
                <a:latin typeface="Arial" pitchFamily="34" charset="0"/>
                <a:ea typeface="Arial" pitchFamily="34" charset="-122"/>
                <a:cs typeface="Arial" pitchFamily="34" charset="-120"/>
              </a:rPr>
              <a:t>WHY THE REASONING FAILS</a:t>
            </a:r>
            <a:endParaRPr lang="en-US" sz="1330" dirty="0"/>
          </a:p>
        </p:txBody>
      </p:sp>
      <p:sp>
        <p:nvSpPr>
          <p:cNvPr id="11" name="Shape 9"/>
          <p:cNvSpPr/>
          <p:nvPr/>
        </p:nvSpPr>
        <p:spPr>
          <a:xfrm>
            <a:off x="7946136" y="2386584"/>
            <a:ext cx="41148" cy="374904"/>
          </a:xfrm>
          <a:prstGeom prst="rect">
            <a:avLst/>
          </a:prstGeom>
          <a:solidFill>
            <a:srgbClr val="71D5DD"/>
          </a:solidFill>
          <a:ln w="8890">
            <a:solidFill>
              <a:srgbClr val="71D5DD"/>
            </a:solidFill>
            <a:prstDash val="solid"/>
          </a:ln>
        </p:spPr>
        <p:txBody>
          <a:bodyPr/>
          <a:p/>
        </p:txBody>
      </p:sp>
      <p:sp>
        <p:nvSpPr>
          <p:cNvPr id="12" name="Text 10"/>
          <p:cNvSpPr txBox="1"/>
          <p:nvPr/>
        </p:nvSpPr>
        <p:spPr>
          <a:xfrm>
            <a:off x="8110728" y="2350008"/>
            <a:ext cx="3532327" cy="662940"/>
          </a:xfrm>
          <a:prstGeom prst="rect">
            <a:avLst/>
          </a:prstGeom>
          <a:noFill/>
          <a:ln/>
        </p:spPr>
        <p:txBody>
          <a:bodyPr wrap="square" lIns="0" tIns="0" rIns="0" bIns="0" rtlCol="0" anchor="t"/>
          <a:lstStyle/>
          <a:p>
            <a:pPr algn="l" indent="0" marL="0">
              <a:lnSpc>
                <a:spcPct val="104000"/>
              </a:lnSpc>
              <a:buNone/>
            </a:pPr>
            <a:r>
              <a:rPr lang="en-US" sz="2010" dirty="0">
                <a:solidFill>
                  <a:srgbClr val="F4F7FB"/>
                </a:solidFill>
                <a:latin typeface="Arial" pitchFamily="34" charset="0"/>
                <a:ea typeface="Arial" pitchFamily="34" charset="-122"/>
                <a:cs typeface="Arial" pitchFamily="34" charset="-120"/>
              </a:rPr>
              <a:t>The macro repeats its</a:t>
            </a:r>
            <a:endParaRPr lang="en-US" sz="2010" dirty="0"/>
          </a:p>
          <a:p>
            <a:pPr algn="l" indent="0" marL="0">
              <a:lnSpc>
                <a:spcPct val="104000"/>
              </a:lnSpc>
              <a:buNone/>
            </a:pPr>
            <a:r>
              <a:rPr lang="en-US" sz="2010" dirty="0">
                <a:solidFill>
                  <a:srgbClr val="F4F7FB"/>
                </a:solidFill>
                <a:latin typeface="Arial" pitchFamily="34" charset="0"/>
                <a:ea typeface="Arial" pitchFamily="34" charset="-122"/>
                <a:cs typeface="Arial" pitchFamily="34" charset="-120"/>
              </a:rPr>
              <a:t>argument tokens.</a:t>
            </a:r>
            <a:endParaRPr lang="en-US" sz="2010" dirty="0"/>
          </a:p>
        </p:txBody>
      </p:sp>
      <p:sp>
        <p:nvSpPr>
          <p:cNvPr id="13" name="Shape 11"/>
          <p:cNvSpPr/>
          <p:nvPr/>
        </p:nvSpPr>
        <p:spPr>
          <a:xfrm>
            <a:off x="7946136" y="3099816"/>
            <a:ext cx="41148" cy="374904"/>
          </a:xfrm>
          <a:prstGeom prst="rect">
            <a:avLst/>
          </a:prstGeom>
          <a:solidFill>
            <a:srgbClr val="71D5DD"/>
          </a:solidFill>
          <a:ln w="8890">
            <a:solidFill>
              <a:srgbClr val="71D5DD"/>
            </a:solidFill>
            <a:prstDash val="solid"/>
          </a:ln>
        </p:spPr>
        <p:txBody>
          <a:bodyPr/>
          <a:p/>
        </p:txBody>
      </p:sp>
      <p:sp>
        <p:nvSpPr>
          <p:cNvPr id="14" name="Text 12"/>
          <p:cNvSpPr txBox="1"/>
          <p:nvPr/>
        </p:nvSpPr>
        <p:spPr>
          <a:xfrm>
            <a:off x="8110728" y="3063240"/>
            <a:ext cx="3532327" cy="662940"/>
          </a:xfrm>
          <a:prstGeom prst="rect">
            <a:avLst/>
          </a:prstGeom>
          <a:noFill/>
          <a:ln/>
        </p:spPr>
        <p:txBody>
          <a:bodyPr wrap="square" lIns="0" tIns="0" rIns="0" bIns="0" rtlCol="0" anchor="t"/>
          <a:lstStyle/>
          <a:p>
            <a:pPr algn="l" indent="0" marL="0">
              <a:lnSpc>
                <a:spcPct val="104000"/>
              </a:lnSpc>
              <a:buNone/>
            </a:pPr>
            <a:r>
              <a:rPr lang="en-US" sz="2010" dirty="0">
                <a:solidFill>
                  <a:srgbClr val="F4F7FB"/>
                </a:solidFill>
                <a:latin typeface="Arial" pitchFamily="34" charset="0"/>
                <a:ea typeface="Arial" pitchFamily="34" charset="-122"/>
                <a:cs typeface="Arial" pitchFamily="34" charset="-120"/>
              </a:rPr>
              <a:t>Two unsequenced</a:t>
            </a:r>
            <a:endParaRPr lang="en-US" sz="2010" dirty="0"/>
          </a:p>
          <a:p>
            <a:pPr algn="l" indent="0" marL="0">
              <a:lnSpc>
                <a:spcPct val="104000"/>
              </a:lnSpc>
              <a:buNone/>
            </a:pPr>
            <a:r>
              <a:rPr lang="en-US" sz="2010" dirty="0">
                <a:solidFill>
                  <a:srgbClr val="F4F7FB"/>
                </a:solidFill>
                <a:latin typeface="Arial" pitchFamily="34" charset="0"/>
                <a:ea typeface="Arial" pitchFamily="34" charset="-122"/>
                <a:cs typeface="Arial" pitchFamily="34" charset="-120"/>
              </a:rPr>
              <a:t>modifications target i.</a:t>
            </a:r>
            <a:endParaRPr lang="en-US" sz="2010" dirty="0"/>
          </a:p>
        </p:txBody>
      </p:sp>
      <p:sp>
        <p:nvSpPr>
          <p:cNvPr id="15" name="Shape 13"/>
          <p:cNvSpPr/>
          <p:nvPr/>
        </p:nvSpPr>
        <p:spPr>
          <a:xfrm>
            <a:off x="7946136" y="3813048"/>
            <a:ext cx="41148" cy="374904"/>
          </a:xfrm>
          <a:prstGeom prst="rect">
            <a:avLst/>
          </a:prstGeom>
          <a:solidFill>
            <a:srgbClr val="71D5DD"/>
          </a:solidFill>
          <a:ln w="8890">
            <a:solidFill>
              <a:srgbClr val="71D5DD"/>
            </a:solidFill>
            <a:prstDash val="solid"/>
          </a:ln>
        </p:spPr>
        <p:txBody>
          <a:bodyPr/>
          <a:p/>
        </p:txBody>
      </p:sp>
      <p:sp>
        <p:nvSpPr>
          <p:cNvPr id="16" name="Text 14"/>
          <p:cNvSpPr txBox="1"/>
          <p:nvPr/>
        </p:nvSpPr>
        <p:spPr>
          <a:xfrm>
            <a:off x="8110728" y="3776472"/>
            <a:ext cx="3532327" cy="662940"/>
          </a:xfrm>
          <a:prstGeom prst="rect">
            <a:avLst/>
          </a:prstGeom>
          <a:noFill/>
          <a:ln/>
        </p:spPr>
        <p:txBody>
          <a:bodyPr wrap="square" lIns="0" tIns="0" rIns="0" bIns="0" rtlCol="0" anchor="t"/>
          <a:lstStyle/>
          <a:p>
            <a:pPr algn="l" indent="0" marL="0">
              <a:lnSpc>
                <a:spcPct val="104000"/>
              </a:lnSpc>
              <a:buNone/>
            </a:pPr>
            <a:r>
              <a:rPr lang="en-US" sz="2010" dirty="0">
                <a:solidFill>
                  <a:srgbClr val="F4F7FB"/>
                </a:solidFill>
                <a:latin typeface="Arial" pitchFamily="34" charset="0"/>
                <a:ea typeface="Arial" pitchFamily="34" charset="-122"/>
                <a:cs typeface="Arial" pitchFamily="34" charset="-120"/>
              </a:rPr>
              <a:t>Parentheses do not fix</a:t>
            </a:r>
            <a:endParaRPr lang="en-US" sz="2010" dirty="0"/>
          </a:p>
          <a:p>
            <a:pPr algn="l" indent="0" marL="0">
              <a:lnSpc>
                <a:spcPct val="104000"/>
              </a:lnSpc>
              <a:buNone/>
            </a:pPr>
            <a:r>
              <a:rPr lang="en-US" sz="2010" dirty="0">
                <a:solidFill>
                  <a:srgbClr val="F4F7FB"/>
                </a:solidFill>
                <a:latin typeface="Arial" pitchFamily="34" charset="0"/>
                <a:ea typeface="Arial" pitchFamily="34" charset="-122"/>
                <a:cs typeface="Arial" pitchFamily="34" charset="-120"/>
              </a:rPr>
              <a:t>repeated evaluation.</a:t>
            </a:r>
            <a:endParaRPr lang="en-US" sz="2010" dirty="0"/>
          </a:p>
        </p:txBody>
      </p:sp>
      <p:sp>
        <p:nvSpPr>
          <p:cNvPr id="17" name="Text 15"/>
          <p:cNvSpPr txBox="1"/>
          <p:nvPr/>
        </p:nvSpPr>
        <p:spPr>
          <a:xfrm>
            <a:off x="548640" y="5193792"/>
            <a:ext cx="11094720" cy="274320"/>
          </a:xfrm>
          <a:prstGeom prst="rect">
            <a:avLst/>
          </a:prstGeom>
          <a:noFill/>
          <a:ln/>
        </p:spPr>
        <p:txBody>
          <a:bodyPr wrap="square" lIns="0" tIns="0" rIns="0" bIns="0" rtlCol="0" anchor="t"/>
          <a:lstStyle/>
          <a:p>
            <a:pPr algn="l" indent="0" marL="0">
              <a:lnSpc>
                <a:spcPct val="104000"/>
              </a:lnSpc>
              <a:buNone/>
            </a:pPr>
            <a:r>
              <a:rPr lang="en-US" sz="1140" dirty="0">
                <a:solidFill>
                  <a:srgbClr val="B3C3D6"/>
                </a:solidFill>
                <a:latin typeface="Arial" pitchFamily="34" charset="0"/>
                <a:ea typeface="Arial" pitchFamily="34" charset="-122"/>
                <a:cs typeface="Arial" pitchFamily="34" charset="-120"/>
              </a:rPr>
              <a:t>The last declaration shows the expansion; it is not an additional statement to compile.</a:t>
            </a:r>
            <a:endParaRPr lang="en-US" sz="1140" dirty="0"/>
          </a:p>
        </p:txBody>
      </p:sp>
      <p:sp>
        <p:nvSpPr>
          <p:cNvPr id="22" name="Text 20"/>
          <p:cNvSpPr txBox="1"/>
          <p:nvPr/>
        </p:nvSpPr>
        <p:spPr>
          <a:xfrm>
            <a:off x="548640" y="6601968"/>
            <a:ext cx="10241280" cy="128016"/>
          </a:xfrm>
          <a:prstGeom prst="rect">
            <a:avLst/>
          </a:prstGeom>
          <a:noFill/>
          <a:ln/>
        </p:spPr>
        <p:txBody>
          <a:bodyPr wrap="square" lIns="0" tIns="0" rIns="0" bIns="0" rtlCol="0" anchor="t"/>
          <a:lstStyle/>
          <a:p>
            <a:pPr algn="l" indent="0" marL="0">
              <a:lnSpc>
                <a:spcPct val="104000"/>
              </a:lnSpc>
              <a:buNone/>
            </a:pPr>
            <a:r>
              <a:rPr lang="en-US" sz="830" dirty="0">
                <a:solidFill>
                  <a:srgbClr val="B3C3D6"/>
                </a:solidFill>
                <a:latin typeface="Arial" pitchFamily="34" charset="0"/>
                <a:ea typeface="Arial" pitchFamily="34" charset="-122"/>
                <a:cs typeface="Arial" pitchFamily="34" charset="-120"/>
              </a:rPr>
              <a:t>Source: original 9 • Graduate extension • [CPP, LANG]</a:t>
            </a:r>
            <a:endParaRPr lang="en-US" sz="830" dirty="0"/>
          </a:p>
        </p:txBody>
      </p:sp>
      <p:sp>
        <p:nvSpPr>
          <p:cNvPr id="23" name="Text 21"/>
          <p:cNvSpPr txBox="1"/>
          <p:nvPr/>
        </p:nvSpPr>
        <p:spPr>
          <a:xfrm>
            <a:off x="10917936" y="6565392"/>
            <a:ext cx="722376" cy="219456"/>
          </a:xfrm>
          <a:prstGeom prst="rect">
            <a:avLst/>
          </a:prstGeom>
          <a:noFill/>
          <a:ln/>
        </p:spPr>
        <p:txBody>
          <a:bodyPr wrap="square" lIns="0" tIns="0" rIns="0" bIns="0" rtlCol="0" anchor="t"/>
          <a:lstStyle/>
          <a:p>
            <a:pPr algn="r" indent="0" marL="0">
              <a:lnSpc>
                <a:spcPct val="104000"/>
              </a:lnSpc>
              <a:buNone/>
            </a:pPr>
            <a:r>
              <a:rPr lang="en-US" sz="1050" dirty="0">
                <a:solidFill>
                  <a:srgbClr val="B3C3D6"/>
                </a:solidFill>
                <a:latin typeface="Arial" pitchFamily="34" charset="0"/>
                <a:ea typeface="Arial" pitchFamily="34" charset="-122"/>
                <a:cs typeface="Arial" pitchFamily="34" charset="-120"/>
              </a:rPr>
              <a:t>18 / 64</a:t>
            </a:r>
            <a:endParaRPr lang="en-US" sz="1050" dirty="0"/>
          </a:p>
        </p:txBody>
      </p:sp>
      <p:sp>
        <p:nvSpPr>
          <p:cNvPr id="24" name="Shape 22"/>
          <p:cNvSpPr/>
          <p:nvPr/>
        </p:nvSpPr>
        <p:spPr>
          <a:xfrm>
            <a:off x="0" y="6834226"/>
            <a:ext cx="12192000" cy="23774"/>
          </a:xfrm>
          <a:prstGeom prst="rect">
            <a:avLst/>
          </a:prstGeom>
          <a:solidFill>
            <a:srgbClr val="2B415A"/>
          </a:solidFill>
          <a:ln w="8890">
            <a:solidFill>
              <a:srgbClr val="2B415A"/>
            </a:solidFill>
            <a:prstDash val="solid"/>
          </a:ln>
        </p:spPr>
        <p:txBody>
          <a:bodyPr/>
          <a:p/>
        </p:txBody>
      </p:sp>
      <p:sp>
        <p:nvSpPr>
          <p:cNvPr id="25" name="Shape 23"/>
          <p:cNvSpPr/>
          <p:nvPr/>
        </p:nvSpPr>
        <p:spPr>
          <a:xfrm>
            <a:off x="0" y="6834226"/>
            <a:ext cx="3429000" cy="23774"/>
          </a:xfrm>
          <a:prstGeom prst="rect">
            <a:avLst/>
          </a:prstGeom>
          <a:solidFill>
            <a:srgbClr val="71D5DD"/>
          </a:solidFill>
          <a:ln w="8890">
            <a:solidFill>
              <a:srgbClr val="71D5DD"/>
            </a:solidFill>
            <a:prstDash val="solid"/>
          </a:ln>
        </p:spPr>
        <p:txBody>
          <a:body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219456"/>
            <a:ext cx="9875520" cy="192024"/>
          </a:xfrm>
          <a:prstGeom prst="rect">
            <a:avLst/>
          </a:prstGeom>
          <a:noFill/>
          <a:ln/>
        </p:spPr>
        <p:txBody>
          <a:bodyPr wrap="square" lIns="0" tIns="0" rIns="0" bIns="0" rtlCol="0" anchor="t"/>
          <a:lstStyle/>
          <a:p>
            <a:pPr algn="l" indent="0" marL="0">
              <a:lnSpc>
                <a:spcPct val="104000"/>
              </a:lnSpc>
              <a:buNone/>
            </a:pPr>
            <a:r>
              <a:rPr lang="en-US" sz="970" b="1" spc="135" kern="0" dirty="0">
                <a:solidFill>
                  <a:srgbClr val="B3C3D6"/>
                </a:solidFill>
                <a:latin typeface="Arial" pitchFamily="34" charset="0"/>
                <a:ea typeface="Arial" pitchFamily="34" charset="-122"/>
                <a:cs typeface="Arial" pitchFamily="34" charset="-120"/>
              </a:rPr>
              <a:t>SYSTEMS PROGRAMMING AND MACHINE ORGANIZATION</a:t>
            </a:r>
            <a:endParaRPr lang="en-US" sz="970" dirty="0"/>
          </a:p>
        </p:txBody>
      </p:sp>
      <p:sp>
        <p:nvSpPr>
          <p:cNvPr id="3" name="Text 1"/>
          <p:cNvSpPr txBox="1"/>
          <p:nvPr/>
        </p:nvSpPr>
        <p:spPr>
          <a:xfrm>
            <a:off x="9601200" y="219456"/>
            <a:ext cx="2039112" cy="192024"/>
          </a:xfrm>
          <a:prstGeom prst="rect">
            <a:avLst/>
          </a:prstGeom>
          <a:noFill/>
          <a:ln/>
        </p:spPr>
        <p:txBody>
          <a:bodyPr wrap="square" lIns="0" tIns="0" rIns="0" bIns="0" rtlCol="0" anchor="t"/>
          <a:lstStyle/>
          <a:p>
            <a:pPr algn="r" indent="0" marL="0">
              <a:lnSpc>
                <a:spcPct val="104000"/>
              </a:lnSpc>
              <a:buNone/>
            </a:pPr>
            <a:r>
              <a:rPr lang="en-US" sz="970" b="1" dirty="0">
                <a:solidFill>
                  <a:srgbClr val="B3C3D6"/>
                </a:solidFill>
                <a:latin typeface="Arial" pitchFamily="34" charset="0"/>
                <a:ea typeface="Arial" pitchFamily="34" charset="-122"/>
                <a:cs typeface="Arial" pitchFamily="34" charset="-120"/>
              </a:rPr>
              <a:t>CHARLES DORNER</a:t>
            </a:r>
            <a:endParaRPr lang="en-US" sz="970" dirty="0"/>
          </a:p>
        </p:txBody>
      </p:sp>
      <p:sp>
        <p:nvSpPr>
          <p:cNvPr id="4" name="Text 2"/>
          <p:cNvSpPr txBox="1"/>
          <p:nvPr/>
        </p:nvSpPr>
        <p:spPr>
          <a:xfrm>
            <a:off x="548640" y="566928"/>
            <a:ext cx="11109960" cy="237744"/>
          </a:xfrm>
          <a:prstGeom prst="rect">
            <a:avLst/>
          </a:prstGeom>
          <a:noFill/>
          <a:ln/>
        </p:spPr>
        <p:txBody>
          <a:bodyPr wrap="square" lIns="0" tIns="0" rIns="0" bIns="0" rtlCol="0" anchor="t"/>
          <a:lstStyle/>
          <a:p>
            <a:pPr algn="l" indent="0" marL="0">
              <a:lnSpc>
                <a:spcPct val="104000"/>
              </a:lnSpc>
              <a:buNone/>
            </a:pPr>
            <a:r>
              <a:rPr lang="en-US" sz="1150" b="1" dirty="0">
                <a:solidFill>
                  <a:srgbClr val="71D5DD"/>
                </a:solidFill>
                <a:latin typeface="Arial" pitchFamily="34" charset="0"/>
                <a:ea typeface="Arial" pitchFamily="34" charset="-122"/>
                <a:cs typeface="Arial" pitchFamily="34" charset="-120"/>
              </a:rPr>
              <a:t>1.2.2 · TRANSLATION UNITS</a:t>
            </a:r>
            <a:endParaRPr lang="en-US" sz="1150" dirty="0"/>
          </a:p>
        </p:txBody>
      </p:sp>
      <p:sp>
        <p:nvSpPr>
          <p:cNvPr id="5" name="Text 3"/>
          <p:cNvSpPr txBox="1"/>
          <p:nvPr/>
        </p:nvSpPr>
        <p:spPr>
          <a:xfrm>
            <a:off x="548640" y="941832"/>
            <a:ext cx="11091672" cy="676656"/>
          </a:xfrm>
          <a:prstGeom prst="rect">
            <a:avLst/>
          </a:prstGeom>
          <a:noFill/>
          <a:ln/>
        </p:spPr>
        <p:txBody>
          <a:bodyPr wrap="square" lIns="0" tIns="0" rIns="0" bIns="0" rtlCol="0" anchor="t"/>
          <a:lstStyle/>
          <a:p>
            <a:pPr algn="l" indent="0" marL="0">
              <a:lnSpc>
                <a:spcPct val="104000"/>
              </a:lnSpc>
              <a:buNone/>
            </a:pPr>
            <a:r>
              <a:rPr lang="en-US" sz="3150" b="1" dirty="0">
                <a:solidFill>
                  <a:srgbClr val="F4F7FB"/>
                </a:solidFill>
                <a:latin typeface="Arial" pitchFamily="34" charset="0"/>
                <a:ea typeface="Arial" pitchFamily="34" charset="-122"/>
                <a:cs typeface="Arial" pitchFamily="34" charset="-120"/>
              </a:rPr>
              <a:t>Declarations enable checking; definitions supply entities</a:t>
            </a:r>
            <a:endParaRPr lang="en-US" sz="3150" dirty="0"/>
          </a:p>
        </p:txBody>
      </p:sp>
      <p:sp>
        <p:nvSpPr>
          <p:cNvPr id="6" name="Shape 4"/>
          <p:cNvSpPr/>
          <p:nvPr/>
        </p:nvSpPr>
        <p:spPr>
          <a:xfrm>
            <a:off x="548640" y="1764792"/>
            <a:ext cx="5446776" cy="3310128"/>
          </a:xfrm>
          <a:prstGeom prst="rect">
            <a:avLst/>
          </a:prstGeom>
          <a:solidFill>
            <a:srgbClr val="142238"/>
          </a:solidFill>
          <a:ln w="8890">
            <a:solidFill>
              <a:srgbClr val="2B415A"/>
            </a:solidFill>
            <a:prstDash val="solid"/>
          </a:ln>
        </p:spPr>
        <p:txBody>
          <a:bodyPr/>
          <a:p/>
        </p:txBody>
      </p:sp>
      <p:sp>
        <p:nvSpPr>
          <p:cNvPr id="7" name="Shape 5"/>
          <p:cNvSpPr/>
          <p:nvPr/>
        </p:nvSpPr>
        <p:spPr>
          <a:xfrm>
            <a:off x="548640" y="1764792"/>
            <a:ext cx="41148" cy="3310128"/>
          </a:xfrm>
          <a:prstGeom prst="rect">
            <a:avLst/>
          </a:prstGeom>
          <a:solidFill>
            <a:srgbClr val="71D5DD"/>
          </a:solidFill>
          <a:ln w="8890">
            <a:solidFill>
              <a:srgbClr val="71D5DD"/>
            </a:solidFill>
            <a:prstDash val="solid"/>
          </a:ln>
        </p:spPr>
        <p:txBody>
          <a:bodyPr/>
          <a:p/>
        </p:txBody>
      </p:sp>
      <p:sp>
        <p:nvSpPr>
          <p:cNvPr id="8" name="Text 6"/>
          <p:cNvSpPr txBox="1"/>
          <p:nvPr/>
        </p:nvSpPr>
        <p:spPr>
          <a:xfrm>
            <a:off x="758952" y="1975104"/>
            <a:ext cx="5017008" cy="557784"/>
          </a:xfrm>
          <a:prstGeom prst="rect">
            <a:avLst/>
          </a:prstGeom>
          <a:noFill/>
          <a:ln/>
        </p:spPr>
        <p:txBody>
          <a:bodyPr wrap="square" lIns="0" tIns="0" rIns="0" bIns="0" rtlCol="0" anchor="t"/>
          <a:lstStyle/>
          <a:p>
            <a:pPr algn="l" indent="0" marL="0">
              <a:lnSpc>
                <a:spcPct val="104000"/>
              </a:lnSpc>
              <a:buNone/>
            </a:pPr>
            <a:r>
              <a:rPr lang="en-US" sz="1750" b="1" dirty="0">
                <a:solidFill>
                  <a:srgbClr val="71D5DD"/>
                </a:solidFill>
                <a:latin typeface="Arial" pitchFamily="34" charset="0"/>
                <a:ea typeface="Arial" pitchFamily="34" charset="-122"/>
                <a:cs typeface="Arial" pitchFamily="34" charset="-120"/>
              </a:rPr>
              <a:t>DECLARATION</a:t>
            </a:r>
            <a:endParaRPr lang="en-US" sz="1750" dirty="0"/>
          </a:p>
        </p:txBody>
      </p:sp>
      <p:sp>
        <p:nvSpPr>
          <p:cNvPr id="9" name="Text 7"/>
          <p:cNvSpPr txBox="1"/>
          <p:nvPr/>
        </p:nvSpPr>
        <p:spPr>
          <a:xfrm>
            <a:off x="758952" y="2642616"/>
            <a:ext cx="5017008" cy="2267712"/>
          </a:xfrm>
          <a:prstGeom prst="rect">
            <a:avLst/>
          </a:prstGeom>
          <a:noFill/>
          <a:ln/>
        </p:spPr>
        <p:txBody>
          <a:bodyPr wrap="square" lIns="0" tIns="0" rIns="0" bIns="0" rtlCol="0" anchor="t"/>
          <a:lstStyle/>
          <a:p>
            <a:pPr algn="l" indent="0" marL="0">
              <a:lnSpc>
                <a:spcPct val="104000"/>
              </a:lnSpc>
              <a:buNone/>
            </a:pPr>
            <a:r>
              <a:rPr lang="en-US" sz="2300" dirty="0">
                <a:solidFill>
                  <a:srgbClr val="F4F7FB"/>
                </a:solidFill>
                <a:latin typeface="Arial" pitchFamily="34" charset="0"/>
                <a:ea typeface="Arial" pitchFamily="34" charset="-122"/>
                <a:cs typeface="Arial" pitchFamily="34" charset="-120"/>
              </a:rPr>
              <a:t>int add(int a, int b);</a:t>
            </a:r>
            <a:endParaRPr lang="en-US" sz="2300" dirty="0"/>
          </a:p>
          <a:p>
            <a:pPr algn="l" indent="0" marL="0">
              <a:lnSpc>
                <a:spcPct val="104000"/>
              </a:lnSpc>
              <a:buNone/>
            </a:pPr>
            <a:endParaRPr lang="en-US" sz="2300" dirty="0"/>
          </a:p>
          <a:p>
            <a:pPr algn="l" indent="0" marL="0">
              <a:lnSpc>
                <a:spcPct val="104000"/>
              </a:lnSpc>
              <a:buNone/>
            </a:pPr>
            <a:r>
              <a:rPr lang="en-US" sz="2300" dirty="0">
                <a:solidFill>
                  <a:srgbClr val="F4F7FB"/>
                </a:solidFill>
                <a:latin typeface="Arial" pitchFamily="34" charset="0"/>
                <a:ea typeface="Arial" pitchFamily="34" charset="-122"/>
                <a:cs typeface="Arial" pitchFamily="34" charset="-120"/>
              </a:rPr>
              <a:t>Describes the function interface.</a:t>
            </a:r>
            <a:endParaRPr lang="en-US" sz="2300" dirty="0"/>
          </a:p>
          <a:p>
            <a:pPr algn="l" indent="0" marL="0">
              <a:lnSpc>
                <a:spcPct val="104000"/>
              </a:lnSpc>
              <a:buNone/>
            </a:pPr>
            <a:r>
              <a:rPr lang="en-US" sz="2300" dirty="0">
                <a:solidFill>
                  <a:srgbClr val="F4F7FB"/>
                </a:solidFill>
                <a:latin typeface="Arial" pitchFamily="34" charset="0"/>
                <a:ea typeface="Arial" pitchFamily="34" charset="-122"/>
                <a:cs typeface="Arial" pitchFamily="34" charset="-120"/>
              </a:rPr>
              <a:t>Used by the caller and definition.</a:t>
            </a:r>
            <a:endParaRPr lang="en-US" sz="2300" dirty="0"/>
          </a:p>
        </p:txBody>
      </p:sp>
      <p:sp>
        <p:nvSpPr>
          <p:cNvPr id="10" name="Shape 8"/>
          <p:cNvSpPr/>
          <p:nvPr/>
        </p:nvSpPr>
        <p:spPr>
          <a:xfrm>
            <a:off x="6196584" y="1764792"/>
            <a:ext cx="5446776" cy="3310128"/>
          </a:xfrm>
          <a:prstGeom prst="rect">
            <a:avLst/>
          </a:prstGeom>
          <a:solidFill>
            <a:srgbClr val="142238"/>
          </a:solidFill>
          <a:ln w="8890">
            <a:solidFill>
              <a:srgbClr val="2B415A"/>
            </a:solidFill>
            <a:prstDash val="solid"/>
          </a:ln>
        </p:spPr>
        <p:txBody>
          <a:bodyPr/>
          <a:p/>
        </p:txBody>
      </p:sp>
      <p:sp>
        <p:nvSpPr>
          <p:cNvPr id="11" name="Shape 9"/>
          <p:cNvSpPr/>
          <p:nvPr/>
        </p:nvSpPr>
        <p:spPr>
          <a:xfrm>
            <a:off x="6196584" y="1764792"/>
            <a:ext cx="41148" cy="3310128"/>
          </a:xfrm>
          <a:prstGeom prst="rect">
            <a:avLst/>
          </a:prstGeom>
          <a:solidFill>
            <a:srgbClr val="71D5DD"/>
          </a:solidFill>
          <a:ln w="8890">
            <a:solidFill>
              <a:srgbClr val="71D5DD"/>
            </a:solidFill>
            <a:prstDash val="solid"/>
          </a:ln>
        </p:spPr>
        <p:txBody>
          <a:bodyPr/>
          <a:p/>
        </p:txBody>
      </p:sp>
      <p:sp>
        <p:nvSpPr>
          <p:cNvPr id="12" name="Text 10"/>
          <p:cNvSpPr txBox="1"/>
          <p:nvPr/>
        </p:nvSpPr>
        <p:spPr>
          <a:xfrm>
            <a:off x="6406896" y="1975104"/>
            <a:ext cx="5017008" cy="557784"/>
          </a:xfrm>
          <a:prstGeom prst="rect">
            <a:avLst/>
          </a:prstGeom>
          <a:noFill/>
          <a:ln/>
        </p:spPr>
        <p:txBody>
          <a:bodyPr wrap="square" lIns="0" tIns="0" rIns="0" bIns="0" rtlCol="0" anchor="t"/>
          <a:lstStyle/>
          <a:p>
            <a:pPr algn="l" indent="0" marL="0">
              <a:lnSpc>
                <a:spcPct val="104000"/>
              </a:lnSpc>
              <a:buNone/>
            </a:pPr>
            <a:r>
              <a:rPr lang="en-US" sz="1750" b="1" dirty="0">
                <a:solidFill>
                  <a:srgbClr val="71D5DD"/>
                </a:solidFill>
                <a:latin typeface="Arial" pitchFamily="34" charset="0"/>
                <a:ea typeface="Arial" pitchFamily="34" charset="-122"/>
                <a:cs typeface="Arial" pitchFamily="34" charset="-120"/>
              </a:rPr>
              <a:t>DEFINITION</a:t>
            </a:r>
            <a:endParaRPr lang="en-US" sz="1750" dirty="0"/>
          </a:p>
        </p:txBody>
      </p:sp>
      <p:sp>
        <p:nvSpPr>
          <p:cNvPr id="13" name="Text 11"/>
          <p:cNvSpPr txBox="1"/>
          <p:nvPr/>
        </p:nvSpPr>
        <p:spPr>
          <a:xfrm>
            <a:off x="6406896" y="2642616"/>
            <a:ext cx="5017008" cy="2267712"/>
          </a:xfrm>
          <a:prstGeom prst="rect">
            <a:avLst/>
          </a:prstGeom>
          <a:noFill/>
          <a:ln/>
        </p:spPr>
        <p:txBody>
          <a:bodyPr wrap="square" lIns="0" tIns="0" rIns="0" bIns="0" rtlCol="0" anchor="t"/>
          <a:lstStyle/>
          <a:p>
            <a:pPr algn="l" indent="0" marL="0">
              <a:lnSpc>
                <a:spcPct val="104000"/>
              </a:lnSpc>
              <a:buNone/>
            </a:pPr>
            <a:r>
              <a:rPr lang="en-US" sz="2300" dirty="0">
                <a:solidFill>
                  <a:srgbClr val="F4F7FB"/>
                </a:solidFill>
                <a:latin typeface="Arial" pitchFamily="34" charset="0"/>
                <a:ea typeface="Arial" pitchFamily="34" charset="-122"/>
                <a:cs typeface="Arial" pitchFamily="34" charset="-120"/>
              </a:rPr>
              <a:t>int add(int a, int b) {</a:t>
            </a:r>
            <a:endParaRPr lang="en-US" sz="2300" dirty="0"/>
          </a:p>
          <a:p>
            <a:pPr algn="l" indent="0" marL="0">
              <a:lnSpc>
                <a:spcPct val="104000"/>
              </a:lnSpc>
              <a:buNone/>
            </a:pPr>
            <a:r>
              <a:rPr lang="en-US" sz="2300" dirty="0">
                <a:solidFill>
                  <a:srgbClr val="F4F7FB"/>
                </a:solidFill>
                <a:latin typeface="Arial" pitchFamily="34" charset="0"/>
                <a:ea typeface="Arial" pitchFamily="34" charset="-122"/>
                <a:cs typeface="Arial" pitchFamily="34" charset="-120"/>
              </a:rPr>
              <a:t>return a + b;</a:t>
            </a:r>
            <a:endParaRPr lang="en-US" sz="2300" dirty="0"/>
          </a:p>
          <a:p>
            <a:pPr algn="l" indent="0" marL="0">
              <a:lnSpc>
                <a:spcPct val="104000"/>
              </a:lnSpc>
              <a:buNone/>
            </a:pPr>
            <a:r>
              <a:rPr lang="en-US" sz="2300" dirty="0">
                <a:solidFill>
                  <a:srgbClr val="F4F7FB"/>
                </a:solidFill>
                <a:latin typeface="Arial" pitchFamily="34" charset="0"/>
                <a:ea typeface="Arial" pitchFamily="34" charset="-122"/>
                <a:cs typeface="Arial" pitchFamily="34" charset="-120"/>
              </a:rPr>
              <a:t>}</a:t>
            </a:r>
            <a:endParaRPr lang="en-US" sz="2300" dirty="0"/>
          </a:p>
          <a:p>
            <a:pPr algn="l" indent="0" marL="0">
              <a:lnSpc>
                <a:spcPct val="104000"/>
              </a:lnSpc>
              <a:buNone/>
            </a:pPr>
            <a:endParaRPr lang="en-US" sz="2300" dirty="0"/>
          </a:p>
          <a:p>
            <a:pPr algn="l" indent="0" marL="0">
              <a:lnSpc>
                <a:spcPct val="104000"/>
              </a:lnSpc>
              <a:buNone/>
            </a:pPr>
            <a:r>
              <a:rPr lang="en-US" sz="2300" dirty="0">
                <a:solidFill>
                  <a:srgbClr val="F4F7FB"/>
                </a:solidFill>
                <a:latin typeface="Arial" pitchFamily="34" charset="0"/>
                <a:ea typeface="Arial" pitchFamily="34" charset="-122"/>
                <a:cs typeface="Arial" pitchFamily="34" charset="-120"/>
              </a:rPr>
              <a:t>Supplies the function body.</a:t>
            </a:r>
            <a:endParaRPr lang="en-US" sz="2300" dirty="0"/>
          </a:p>
        </p:txBody>
      </p:sp>
      <p:sp>
        <p:nvSpPr>
          <p:cNvPr id="14" name="Text 12"/>
          <p:cNvSpPr txBox="1"/>
          <p:nvPr/>
        </p:nvSpPr>
        <p:spPr>
          <a:xfrm>
            <a:off x="548640" y="5193792"/>
            <a:ext cx="11094720" cy="274320"/>
          </a:xfrm>
          <a:prstGeom prst="rect">
            <a:avLst/>
          </a:prstGeom>
          <a:noFill/>
          <a:ln/>
        </p:spPr>
        <p:txBody>
          <a:bodyPr wrap="square" lIns="0" tIns="0" rIns="0" bIns="0" rtlCol="0" anchor="t"/>
          <a:lstStyle/>
          <a:p>
            <a:pPr algn="l" indent="0" marL="0">
              <a:lnSpc>
                <a:spcPct val="104000"/>
              </a:lnSpc>
              <a:buNone/>
            </a:pPr>
            <a:r>
              <a:rPr lang="en-US" sz="1140" dirty="0">
                <a:solidFill>
                  <a:srgbClr val="B3C3D6"/>
                </a:solidFill>
                <a:latin typeface="Arial" pitchFamily="34" charset="0"/>
                <a:ea typeface="Arial" pitchFamily="34" charset="-122"/>
                <a:cs typeface="Arial" pitchFamily="34" charset="-120"/>
              </a:rPr>
              <a:t>This project uses a header for the declaration; headers can also contain permitted definitions.</a:t>
            </a:r>
            <a:endParaRPr lang="en-US" sz="1140" dirty="0"/>
          </a:p>
        </p:txBody>
      </p:sp>
      <p:sp>
        <p:nvSpPr>
          <p:cNvPr id="19" name="Text 17"/>
          <p:cNvSpPr txBox="1"/>
          <p:nvPr/>
        </p:nvSpPr>
        <p:spPr>
          <a:xfrm>
            <a:off x="548640" y="6601968"/>
            <a:ext cx="10241280" cy="128016"/>
          </a:xfrm>
          <a:prstGeom prst="rect">
            <a:avLst/>
          </a:prstGeom>
          <a:noFill/>
          <a:ln/>
        </p:spPr>
        <p:txBody>
          <a:bodyPr wrap="square" lIns="0" tIns="0" rIns="0" bIns="0" rtlCol="0" anchor="t"/>
          <a:lstStyle/>
          <a:p>
            <a:pPr algn="l" indent="0" marL="0">
              <a:lnSpc>
                <a:spcPct val="104000"/>
              </a:lnSpc>
              <a:buNone/>
            </a:pPr>
            <a:r>
              <a:rPr lang="en-US" sz="830" dirty="0">
                <a:solidFill>
                  <a:srgbClr val="B3C3D6"/>
                </a:solidFill>
                <a:latin typeface="Arial" pitchFamily="34" charset="0"/>
                <a:ea typeface="Arial" pitchFamily="34" charset="-122"/>
                <a:cs typeface="Arial" pitchFamily="34" charset="-120"/>
              </a:rPr>
              <a:t>Source: original 9, 16 • Graduate extension • [LANG, LD]</a:t>
            </a:r>
            <a:endParaRPr lang="en-US" sz="830" dirty="0"/>
          </a:p>
        </p:txBody>
      </p:sp>
      <p:sp>
        <p:nvSpPr>
          <p:cNvPr id="20" name="Text 18"/>
          <p:cNvSpPr txBox="1"/>
          <p:nvPr/>
        </p:nvSpPr>
        <p:spPr>
          <a:xfrm>
            <a:off x="10917936" y="6565392"/>
            <a:ext cx="722376" cy="219456"/>
          </a:xfrm>
          <a:prstGeom prst="rect">
            <a:avLst/>
          </a:prstGeom>
          <a:noFill/>
          <a:ln/>
        </p:spPr>
        <p:txBody>
          <a:bodyPr wrap="square" lIns="0" tIns="0" rIns="0" bIns="0" rtlCol="0" anchor="t"/>
          <a:lstStyle/>
          <a:p>
            <a:pPr algn="r" indent="0" marL="0">
              <a:lnSpc>
                <a:spcPct val="104000"/>
              </a:lnSpc>
              <a:buNone/>
            </a:pPr>
            <a:r>
              <a:rPr lang="en-US" sz="1050" dirty="0">
                <a:solidFill>
                  <a:srgbClr val="B3C3D6"/>
                </a:solidFill>
                <a:latin typeface="Arial" pitchFamily="34" charset="0"/>
                <a:ea typeface="Arial" pitchFamily="34" charset="-122"/>
                <a:cs typeface="Arial" pitchFamily="34" charset="-120"/>
              </a:rPr>
              <a:t>19 / 64</a:t>
            </a:r>
            <a:endParaRPr lang="en-US" sz="1050" dirty="0"/>
          </a:p>
        </p:txBody>
      </p:sp>
      <p:sp>
        <p:nvSpPr>
          <p:cNvPr id="21" name="Shape 19"/>
          <p:cNvSpPr/>
          <p:nvPr/>
        </p:nvSpPr>
        <p:spPr>
          <a:xfrm>
            <a:off x="0" y="6834226"/>
            <a:ext cx="12192000" cy="23774"/>
          </a:xfrm>
          <a:prstGeom prst="rect">
            <a:avLst/>
          </a:prstGeom>
          <a:solidFill>
            <a:srgbClr val="2B415A"/>
          </a:solidFill>
          <a:ln w="8890">
            <a:solidFill>
              <a:srgbClr val="2B415A"/>
            </a:solidFill>
            <a:prstDash val="solid"/>
          </a:ln>
        </p:spPr>
        <p:txBody>
          <a:bodyPr/>
          <a:p/>
        </p:txBody>
      </p:sp>
      <p:sp>
        <p:nvSpPr>
          <p:cNvPr id="22" name="Shape 20"/>
          <p:cNvSpPr/>
          <p:nvPr/>
        </p:nvSpPr>
        <p:spPr>
          <a:xfrm>
            <a:off x="0" y="6834226"/>
            <a:ext cx="3619500" cy="23774"/>
          </a:xfrm>
          <a:prstGeom prst="rect">
            <a:avLst/>
          </a:prstGeom>
          <a:solidFill>
            <a:srgbClr val="71D5DD"/>
          </a:solidFill>
          <a:ln w="8890">
            <a:solidFill>
              <a:srgbClr val="71D5DD"/>
            </a:solidFill>
            <a:prstDash val="solid"/>
          </a:ln>
        </p:spPr>
        <p:txBody>
          <a:body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219456"/>
            <a:ext cx="9875520" cy="192024"/>
          </a:xfrm>
          <a:prstGeom prst="rect">
            <a:avLst/>
          </a:prstGeom>
          <a:noFill/>
          <a:ln/>
        </p:spPr>
        <p:txBody>
          <a:bodyPr wrap="square" lIns="0" tIns="0" rIns="0" bIns="0" rtlCol="0" anchor="t"/>
          <a:lstStyle/>
          <a:p>
            <a:pPr algn="l" indent="0" marL="0">
              <a:lnSpc>
                <a:spcPct val="104000"/>
              </a:lnSpc>
              <a:buNone/>
            </a:pPr>
            <a:r>
              <a:rPr lang="en-US" sz="970" b="1" spc="135" kern="0" dirty="0">
                <a:solidFill>
                  <a:srgbClr val="B3C3D6"/>
                </a:solidFill>
                <a:latin typeface="Arial" pitchFamily="34" charset="0"/>
                <a:ea typeface="Arial" pitchFamily="34" charset="-122"/>
                <a:cs typeface="Arial" pitchFamily="34" charset="-120"/>
              </a:rPr>
              <a:t>SYSTEMS PROGRAMMING AND MACHINE ORGANIZATION</a:t>
            </a:r>
            <a:endParaRPr lang="en-US" sz="970" dirty="0"/>
          </a:p>
        </p:txBody>
      </p:sp>
      <p:sp>
        <p:nvSpPr>
          <p:cNvPr id="3" name="Text 1"/>
          <p:cNvSpPr txBox="1"/>
          <p:nvPr/>
        </p:nvSpPr>
        <p:spPr>
          <a:xfrm>
            <a:off x="9601200" y="219456"/>
            <a:ext cx="2039112" cy="192024"/>
          </a:xfrm>
          <a:prstGeom prst="rect">
            <a:avLst/>
          </a:prstGeom>
          <a:noFill/>
          <a:ln/>
        </p:spPr>
        <p:txBody>
          <a:bodyPr wrap="square" lIns="0" tIns="0" rIns="0" bIns="0" rtlCol="0" anchor="t"/>
          <a:lstStyle/>
          <a:p>
            <a:pPr algn="r" indent="0" marL="0">
              <a:lnSpc>
                <a:spcPct val="104000"/>
              </a:lnSpc>
              <a:buNone/>
            </a:pPr>
            <a:r>
              <a:rPr lang="en-US" sz="970" b="1" dirty="0">
                <a:solidFill>
                  <a:srgbClr val="B3C3D6"/>
                </a:solidFill>
                <a:latin typeface="Arial" pitchFamily="34" charset="0"/>
                <a:ea typeface="Arial" pitchFamily="34" charset="-122"/>
                <a:cs typeface="Arial" pitchFamily="34" charset="-120"/>
              </a:rPr>
              <a:t>CHARLES DORNER</a:t>
            </a:r>
            <a:endParaRPr lang="en-US" sz="970" dirty="0"/>
          </a:p>
        </p:txBody>
      </p:sp>
      <p:sp>
        <p:nvSpPr>
          <p:cNvPr id="4" name="Text 2"/>
          <p:cNvSpPr txBox="1"/>
          <p:nvPr/>
        </p:nvSpPr>
        <p:spPr>
          <a:xfrm>
            <a:off x="548640" y="566928"/>
            <a:ext cx="11109960" cy="237744"/>
          </a:xfrm>
          <a:prstGeom prst="rect">
            <a:avLst/>
          </a:prstGeom>
          <a:noFill/>
          <a:ln/>
        </p:spPr>
        <p:txBody>
          <a:bodyPr wrap="square" lIns="0" tIns="0" rIns="0" bIns="0" rtlCol="0" anchor="t"/>
          <a:lstStyle/>
          <a:p>
            <a:pPr algn="l" indent="0" marL="0">
              <a:lnSpc>
                <a:spcPct val="104000"/>
              </a:lnSpc>
              <a:buNone/>
            </a:pPr>
            <a:r>
              <a:rPr lang="en-US" sz="1150" b="1" dirty="0">
                <a:solidFill>
                  <a:srgbClr val="71D5DD"/>
                </a:solidFill>
                <a:latin typeface="Arial" pitchFamily="34" charset="0"/>
                <a:ea typeface="Arial" pitchFamily="34" charset="-122"/>
                <a:cs typeface="Arial" pitchFamily="34" charset="-120"/>
              </a:rPr>
              <a:t>1.2.3 · COMPILATION</a:t>
            </a:r>
            <a:endParaRPr lang="en-US" sz="1150" dirty="0"/>
          </a:p>
        </p:txBody>
      </p:sp>
      <p:sp>
        <p:nvSpPr>
          <p:cNvPr id="5" name="Text 3"/>
          <p:cNvSpPr txBox="1"/>
          <p:nvPr/>
        </p:nvSpPr>
        <p:spPr>
          <a:xfrm>
            <a:off x="548640" y="941832"/>
            <a:ext cx="11091672" cy="676656"/>
          </a:xfrm>
          <a:prstGeom prst="rect">
            <a:avLst/>
          </a:prstGeom>
          <a:noFill/>
          <a:ln/>
        </p:spPr>
        <p:txBody>
          <a:bodyPr wrap="square" lIns="0" tIns="0" rIns="0" bIns="0" rtlCol="0" anchor="t"/>
          <a:lstStyle/>
          <a:p>
            <a:pPr algn="l" indent="0" marL="0">
              <a:lnSpc>
                <a:spcPct val="104000"/>
              </a:lnSpc>
              <a:buNone/>
            </a:pPr>
            <a:r>
              <a:rPr lang="en-US" sz="3150" b="1" dirty="0">
                <a:solidFill>
                  <a:srgbClr val="F4F7FB"/>
                </a:solidFill>
                <a:latin typeface="Arial" pitchFamily="34" charset="0"/>
                <a:ea typeface="Arial" pitchFamily="34" charset="-122"/>
                <a:cs typeface="Arial" pitchFamily="34" charset="-120"/>
              </a:rPr>
              <a:t>The compiler transforms meaning into a target program</a:t>
            </a:r>
            <a:endParaRPr lang="en-US" sz="3150" dirty="0"/>
          </a:p>
        </p:txBody>
      </p:sp>
      <p:sp>
        <p:nvSpPr>
          <p:cNvPr id="6" name="Shape 4"/>
          <p:cNvSpPr/>
          <p:nvPr/>
        </p:nvSpPr>
        <p:spPr>
          <a:xfrm>
            <a:off x="548640" y="1883664"/>
            <a:ext cx="2058010" cy="941832"/>
          </a:xfrm>
          <a:prstGeom prst="rect">
            <a:avLst/>
          </a:prstGeom>
          <a:solidFill>
            <a:srgbClr val="172940"/>
          </a:solidFill>
          <a:ln w="8890">
            <a:solidFill>
              <a:srgbClr val="2B415A"/>
            </a:solidFill>
            <a:prstDash val="solid"/>
          </a:ln>
        </p:spPr>
        <p:txBody>
          <a:bodyPr/>
          <a:p/>
        </p:txBody>
      </p:sp>
      <p:sp>
        <p:nvSpPr>
          <p:cNvPr id="7" name="Text 5"/>
          <p:cNvSpPr txBox="1"/>
          <p:nvPr/>
        </p:nvSpPr>
        <p:spPr>
          <a:xfrm>
            <a:off x="640080" y="2084832"/>
            <a:ext cx="1875130" cy="548640"/>
          </a:xfrm>
          <a:prstGeom prst="rect">
            <a:avLst/>
          </a:prstGeom>
          <a:noFill/>
          <a:ln/>
        </p:spPr>
        <p:txBody>
          <a:bodyPr wrap="square" lIns="0" tIns="0" rIns="0" bIns="0" rtlCol="0" anchor="t"/>
          <a:lstStyle/>
          <a:p>
            <a:pPr algn="ctr" indent="0" marL="0">
              <a:lnSpc>
                <a:spcPct val="104000"/>
              </a:lnSpc>
              <a:buNone/>
            </a:pPr>
            <a:r>
              <a:rPr lang="en-US" sz="1800" b="1" dirty="0">
                <a:solidFill>
                  <a:srgbClr val="F4F7FB"/>
                </a:solidFill>
                <a:latin typeface="Arial" pitchFamily="34" charset="0"/>
                <a:ea typeface="Arial" pitchFamily="34" charset="-122"/>
                <a:cs typeface="Arial" pitchFamily="34" charset="-120"/>
              </a:rPr>
              <a:t>Parse</a:t>
            </a:r>
            <a:endParaRPr lang="en-US" sz="1800" dirty="0"/>
          </a:p>
        </p:txBody>
      </p:sp>
      <p:sp>
        <p:nvSpPr>
          <p:cNvPr id="8" name="Shape 6"/>
          <p:cNvSpPr/>
          <p:nvPr/>
        </p:nvSpPr>
        <p:spPr>
          <a:xfrm>
            <a:off x="2629510" y="2354580"/>
            <a:ext cx="155448" cy="0"/>
          </a:xfrm>
          <a:prstGeom prst="line">
            <a:avLst/>
          </a:prstGeom>
          <a:noFill/>
          <a:ln w="19050">
            <a:solidFill>
              <a:srgbClr val="71D5DD"/>
            </a:solidFill>
            <a:prstDash val="solid"/>
            <a:headEnd type="none"/>
            <a:tailEnd type="triangle"/>
          </a:ln>
        </p:spPr>
        <p:txBody>
          <a:bodyPr/>
          <a:p/>
        </p:txBody>
      </p:sp>
      <p:sp>
        <p:nvSpPr>
          <p:cNvPr id="9" name="Shape 7"/>
          <p:cNvSpPr/>
          <p:nvPr/>
        </p:nvSpPr>
        <p:spPr>
          <a:xfrm>
            <a:off x="2807818" y="1883664"/>
            <a:ext cx="2058010" cy="941832"/>
          </a:xfrm>
          <a:prstGeom prst="rect">
            <a:avLst/>
          </a:prstGeom>
          <a:solidFill>
            <a:srgbClr val="172940"/>
          </a:solidFill>
          <a:ln w="8890">
            <a:solidFill>
              <a:srgbClr val="2B415A"/>
            </a:solidFill>
            <a:prstDash val="solid"/>
          </a:ln>
        </p:spPr>
        <p:txBody>
          <a:bodyPr/>
          <a:p/>
        </p:txBody>
      </p:sp>
      <p:sp>
        <p:nvSpPr>
          <p:cNvPr id="10" name="Text 8"/>
          <p:cNvSpPr txBox="1"/>
          <p:nvPr/>
        </p:nvSpPr>
        <p:spPr>
          <a:xfrm>
            <a:off x="2899258" y="2084832"/>
            <a:ext cx="1875130" cy="548640"/>
          </a:xfrm>
          <a:prstGeom prst="rect">
            <a:avLst/>
          </a:prstGeom>
          <a:noFill/>
          <a:ln/>
        </p:spPr>
        <p:txBody>
          <a:bodyPr wrap="square" lIns="0" tIns="0" rIns="0" bIns="0" rtlCol="0" anchor="t"/>
          <a:lstStyle/>
          <a:p>
            <a:pPr algn="ctr" indent="0" marL="0">
              <a:lnSpc>
                <a:spcPct val="104000"/>
              </a:lnSpc>
              <a:buNone/>
            </a:pPr>
            <a:r>
              <a:rPr lang="en-US" sz="1800" b="1" dirty="0">
                <a:solidFill>
                  <a:srgbClr val="F4F7FB"/>
                </a:solidFill>
                <a:latin typeface="Arial" pitchFamily="34" charset="0"/>
                <a:ea typeface="Arial" pitchFamily="34" charset="-122"/>
                <a:cs typeface="Arial" pitchFamily="34" charset="-120"/>
              </a:rPr>
              <a:t>Check</a:t>
            </a:r>
            <a:endParaRPr lang="en-US" sz="1800" dirty="0"/>
          </a:p>
          <a:p>
            <a:pPr algn="ctr" indent="0" marL="0">
              <a:lnSpc>
                <a:spcPct val="104000"/>
              </a:lnSpc>
              <a:buNone/>
            </a:pPr>
            <a:r>
              <a:rPr lang="en-US" sz="1800" b="1" dirty="0">
                <a:solidFill>
                  <a:srgbClr val="F4F7FB"/>
                </a:solidFill>
                <a:latin typeface="Arial" pitchFamily="34" charset="0"/>
                <a:ea typeface="Arial" pitchFamily="34" charset="-122"/>
                <a:cs typeface="Arial" pitchFamily="34" charset="-120"/>
              </a:rPr>
              <a:t>constraints</a:t>
            </a:r>
            <a:endParaRPr lang="en-US" sz="1800" dirty="0"/>
          </a:p>
        </p:txBody>
      </p:sp>
      <p:sp>
        <p:nvSpPr>
          <p:cNvPr id="11" name="Shape 9"/>
          <p:cNvSpPr/>
          <p:nvPr/>
        </p:nvSpPr>
        <p:spPr>
          <a:xfrm>
            <a:off x="4888687" y="2354580"/>
            <a:ext cx="155448" cy="0"/>
          </a:xfrm>
          <a:prstGeom prst="line">
            <a:avLst/>
          </a:prstGeom>
          <a:noFill/>
          <a:ln w="19050">
            <a:solidFill>
              <a:srgbClr val="71D5DD"/>
            </a:solidFill>
            <a:prstDash val="solid"/>
            <a:headEnd type="none"/>
            <a:tailEnd type="triangle"/>
          </a:ln>
        </p:spPr>
        <p:txBody>
          <a:bodyPr/>
          <a:p/>
        </p:txBody>
      </p:sp>
      <p:sp>
        <p:nvSpPr>
          <p:cNvPr id="12" name="Shape 10"/>
          <p:cNvSpPr/>
          <p:nvPr/>
        </p:nvSpPr>
        <p:spPr>
          <a:xfrm>
            <a:off x="5066995" y="1883664"/>
            <a:ext cx="2058010" cy="941832"/>
          </a:xfrm>
          <a:prstGeom prst="rect">
            <a:avLst/>
          </a:prstGeom>
          <a:solidFill>
            <a:srgbClr val="172940"/>
          </a:solidFill>
          <a:ln w="8890">
            <a:solidFill>
              <a:srgbClr val="2B415A"/>
            </a:solidFill>
            <a:prstDash val="solid"/>
          </a:ln>
        </p:spPr>
        <p:txBody>
          <a:bodyPr/>
          <a:p/>
        </p:txBody>
      </p:sp>
      <p:sp>
        <p:nvSpPr>
          <p:cNvPr id="13" name="Text 11"/>
          <p:cNvSpPr txBox="1"/>
          <p:nvPr/>
        </p:nvSpPr>
        <p:spPr>
          <a:xfrm>
            <a:off x="5158435" y="2084832"/>
            <a:ext cx="1875130" cy="548640"/>
          </a:xfrm>
          <a:prstGeom prst="rect">
            <a:avLst/>
          </a:prstGeom>
          <a:noFill/>
          <a:ln/>
        </p:spPr>
        <p:txBody>
          <a:bodyPr wrap="square" lIns="0" tIns="0" rIns="0" bIns="0" rtlCol="0" anchor="t"/>
          <a:lstStyle/>
          <a:p>
            <a:pPr algn="ctr" indent="0" marL="0">
              <a:lnSpc>
                <a:spcPct val="104000"/>
              </a:lnSpc>
              <a:buNone/>
            </a:pPr>
            <a:r>
              <a:rPr lang="en-US" sz="1800" b="1" dirty="0">
                <a:solidFill>
                  <a:srgbClr val="F4F7FB"/>
                </a:solidFill>
                <a:latin typeface="Arial" pitchFamily="34" charset="0"/>
                <a:ea typeface="Arial" pitchFamily="34" charset="-122"/>
                <a:cs typeface="Arial" pitchFamily="34" charset="-120"/>
              </a:rPr>
              <a:t>Build IR</a:t>
            </a:r>
            <a:endParaRPr lang="en-US" sz="1800" dirty="0"/>
          </a:p>
        </p:txBody>
      </p:sp>
      <p:sp>
        <p:nvSpPr>
          <p:cNvPr id="14" name="Shape 12"/>
          <p:cNvSpPr/>
          <p:nvPr/>
        </p:nvSpPr>
        <p:spPr>
          <a:xfrm>
            <a:off x="7147865" y="2354580"/>
            <a:ext cx="155448" cy="0"/>
          </a:xfrm>
          <a:prstGeom prst="line">
            <a:avLst/>
          </a:prstGeom>
          <a:noFill/>
          <a:ln w="19050">
            <a:solidFill>
              <a:srgbClr val="71D5DD"/>
            </a:solidFill>
            <a:prstDash val="solid"/>
            <a:headEnd type="none"/>
            <a:tailEnd type="triangle"/>
          </a:ln>
        </p:spPr>
        <p:txBody>
          <a:bodyPr/>
          <a:p/>
        </p:txBody>
      </p:sp>
      <p:sp>
        <p:nvSpPr>
          <p:cNvPr id="15" name="Shape 13"/>
          <p:cNvSpPr/>
          <p:nvPr/>
        </p:nvSpPr>
        <p:spPr>
          <a:xfrm>
            <a:off x="7326173" y="1883664"/>
            <a:ext cx="2058010" cy="941832"/>
          </a:xfrm>
          <a:prstGeom prst="rect">
            <a:avLst/>
          </a:prstGeom>
          <a:solidFill>
            <a:srgbClr val="172940"/>
          </a:solidFill>
          <a:ln w="8890">
            <a:solidFill>
              <a:srgbClr val="2B415A"/>
            </a:solidFill>
            <a:prstDash val="solid"/>
          </a:ln>
        </p:spPr>
        <p:txBody>
          <a:bodyPr/>
          <a:p/>
        </p:txBody>
      </p:sp>
      <p:sp>
        <p:nvSpPr>
          <p:cNvPr id="16" name="Text 14"/>
          <p:cNvSpPr txBox="1"/>
          <p:nvPr/>
        </p:nvSpPr>
        <p:spPr>
          <a:xfrm>
            <a:off x="7417613" y="2084832"/>
            <a:ext cx="1875130" cy="548640"/>
          </a:xfrm>
          <a:prstGeom prst="rect">
            <a:avLst/>
          </a:prstGeom>
          <a:noFill/>
          <a:ln/>
        </p:spPr>
        <p:txBody>
          <a:bodyPr wrap="square" lIns="0" tIns="0" rIns="0" bIns="0" rtlCol="0" anchor="t"/>
          <a:lstStyle/>
          <a:p>
            <a:pPr algn="ctr" indent="0" marL="0">
              <a:lnSpc>
                <a:spcPct val="104000"/>
              </a:lnSpc>
              <a:buNone/>
            </a:pPr>
            <a:r>
              <a:rPr lang="en-US" sz="1800" b="1" dirty="0">
                <a:solidFill>
                  <a:srgbClr val="F4F7FB"/>
                </a:solidFill>
                <a:latin typeface="Arial" pitchFamily="34" charset="0"/>
                <a:ea typeface="Arial" pitchFamily="34" charset="-122"/>
                <a:cs typeface="Arial" pitchFamily="34" charset="-120"/>
              </a:rPr>
              <a:t>Transform</a:t>
            </a:r>
            <a:endParaRPr lang="en-US" sz="1800" dirty="0"/>
          </a:p>
        </p:txBody>
      </p:sp>
      <p:sp>
        <p:nvSpPr>
          <p:cNvPr id="17" name="Shape 15"/>
          <p:cNvSpPr/>
          <p:nvPr/>
        </p:nvSpPr>
        <p:spPr>
          <a:xfrm>
            <a:off x="9407042" y="2354580"/>
            <a:ext cx="155448" cy="0"/>
          </a:xfrm>
          <a:prstGeom prst="line">
            <a:avLst/>
          </a:prstGeom>
          <a:noFill/>
          <a:ln w="19050">
            <a:solidFill>
              <a:srgbClr val="71D5DD"/>
            </a:solidFill>
            <a:prstDash val="solid"/>
            <a:headEnd type="none"/>
            <a:tailEnd type="triangle"/>
          </a:ln>
        </p:spPr>
        <p:txBody>
          <a:bodyPr/>
          <a:p/>
        </p:txBody>
      </p:sp>
      <p:sp>
        <p:nvSpPr>
          <p:cNvPr id="18" name="Shape 16"/>
          <p:cNvSpPr/>
          <p:nvPr/>
        </p:nvSpPr>
        <p:spPr>
          <a:xfrm>
            <a:off x="9585350" y="1883664"/>
            <a:ext cx="2058010" cy="941832"/>
          </a:xfrm>
          <a:prstGeom prst="rect">
            <a:avLst/>
          </a:prstGeom>
          <a:solidFill>
            <a:srgbClr val="172940"/>
          </a:solidFill>
          <a:ln w="8890">
            <a:solidFill>
              <a:srgbClr val="2B415A"/>
            </a:solidFill>
            <a:prstDash val="solid"/>
          </a:ln>
        </p:spPr>
        <p:txBody>
          <a:bodyPr/>
          <a:p/>
        </p:txBody>
      </p:sp>
      <p:sp>
        <p:nvSpPr>
          <p:cNvPr id="19" name="Text 17"/>
          <p:cNvSpPr txBox="1"/>
          <p:nvPr/>
        </p:nvSpPr>
        <p:spPr>
          <a:xfrm>
            <a:off x="9676790" y="2084832"/>
            <a:ext cx="1875130" cy="548640"/>
          </a:xfrm>
          <a:prstGeom prst="rect">
            <a:avLst/>
          </a:prstGeom>
          <a:noFill/>
          <a:ln/>
        </p:spPr>
        <p:txBody>
          <a:bodyPr wrap="square" lIns="0" tIns="0" rIns="0" bIns="0" rtlCol="0" anchor="t"/>
          <a:lstStyle/>
          <a:p>
            <a:pPr algn="ctr" indent="0" marL="0">
              <a:lnSpc>
                <a:spcPct val="104000"/>
              </a:lnSpc>
              <a:buNone/>
            </a:pPr>
            <a:r>
              <a:rPr lang="en-US" sz="1800" b="1" dirty="0">
                <a:solidFill>
                  <a:srgbClr val="F4F7FB"/>
                </a:solidFill>
                <a:latin typeface="Arial" pitchFamily="34" charset="0"/>
                <a:ea typeface="Arial" pitchFamily="34" charset="-122"/>
                <a:cs typeface="Arial" pitchFamily="34" charset="-120"/>
              </a:rPr>
              <a:t>Select</a:t>
            </a:r>
            <a:endParaRPr lang="en-US" sz="1800" dirty="0"/>
          </a:p>
          <a:p>
            <a:pPr algn="ctr" indent="0" marL="0">
              <a:lnSpc>
                <a:spcPct val="104000"/>
              </a:lnSpc>
              <a:buNone/>
            </a:pPr>
            <a:r>
              <a:rPr lang="en-US" sz="1800" b="1" dirty="0">
                <a:solidFill>
                  <a:srgbClr val="F4F7FB"/>
                </a:solidFill>
                <a:latin typeface="Arial" pitchFamily="34" charset="0"/>
                <a:ea typeface="Arial" pitchFamily="34" charset="-122"/>
                <a:cs typeface="Arial" pitchFamily="34" charset="-120"/>
              </a:rPr>
              <a:t>instructions</a:t>
            </a:r>
            <a:endParaRPr lang="en-US" sz="1800" dirty="0"/>
          </a:p>
        </p:txBody>
      </p:sp>
      <p:sp>
        <p:nvSpPr>
          <p:cNvPr id="20" name="Text 18"/>
          <p:cNvSpPr txBox="1"/>
          <p:nvPr/>
        </p:nvSpPr>
        <p:spPr>
          <a:xfrm>
            <a:off x="566928" y="3191256"/>
            <a:ext cx="384048" cy="237744"/>
          </a:xfrm>
          <a:prstGeom prst="rect">
            <a:avLst/>
          </a:prstGeom>
          <a:noFill/>
          <a:ln/>
        </p:spPr>
        <p:txBody>
          <a:bodyPr wrap="square" lIns="0" tIns="0" rIns="0" bIns="0" rtlCol="0" anchor="t"/>
          <a:lstStyle/>
          <a:p>
            <a:pPr algn="l" indent="0" marL="0">
              <a:lnSpc>
                <a:spcPct val="104000"/>
              </a:lnSpc>
              <a:buNone/>
            </a:pPr>
            <a:r>
              <a:rPr lang="en-US" sz="1350" b="1" dirty="0">
                <a:solidFill>
                  <a:srgbClr val="71D5DD"/>
                </a:solidFill>
                <a:latin typeface="Arial" pitchFamily="34" charset="0"/>
                <a:ea typeface="Arial" pitchFamily="34" charset="-122"/>
                <a:cs typeface="Arial" pitchFamily="34" charset="-120"/>
              </a:rPr>
              <a:t>01</a:t>
            </a:r>
            <a:endParaRPr lang="en-US" sz="1350" dirty="0"/>
          </a:p>
        </p:txBody>
      </p:sp>
      <p:sp>
        <p:nvSpPr>
          <p:cNvPr id="21" name="Text 19"/>
          <p:cNvSpPr txBox="1"/>
          <p:nvPr/>
        </p:nvSpPr>
        <p:spPr>
          <a:xfrm>
            <a:off x="1124712" y="3136392"/>
            <a:ext cx="10515600" cy="576072"/>
          </a:xfrm>
          <a:prstGeom prst="rect">
            <a:avLst/>
          </a:prstGeom>
          <a:noFill/>
          <a:ln/>
        </p:spPr>
        <p:txBody>
          <a:bodyPr wrap="square" lIns="0" tIns="0" rIns="0" bIns="0" rtlCol="0" anchor="t"/>
          <a:lstStyle/>
          <a:p>
            <a:pPr algn="l" indent="0" marL="0">
              <a:lnSpc>
                <a:spcPct val="104000"/>
              </a:lnSpc>
              <a:buNone/>
            </a:pPr>
            <a:r>
              <a:rPr lang="en-US" sz="2150" dirty="0">
                <a:solidFill>
                  <a:srgbClr val="F4F7FB"/>
                </a:solidFill>
                <a:latin typeface="Arial" pitchFamily="34" charset="0"/>
                <a:ea typeface="Arial" pitchFamily="34" charset="-122"/>
                <a:cs typeface="Arial" pitchFamily="34" charset="-120"/>
              </a:rPr>
              <a:t>A translation unit is the compiler’s immediate input.</a:t>
            </a:r>
            <a:endParaRPr lang="en-US" sz="2150" dirty="0"/>
          </a:p>
        </p:txBody>
      </p:sp>
      <p:sp>
        <p:nvSpPr>
          <p:cNvPr id="22" name="Text 20"/>
          <p:cNvSpPr txBox="1"/>
          <p:nvPr/>
        </p:nvSpPr>
        <p:spPr>
          <a:xfrm>
            <a:off x="566928" y="3803904"/>
            <a:ext cx="384048" cy="237744"/>
          </a:xfrm>
          <a:prstGeom prst="rect">
            <a:avLst/>
          </a:prstGeom>
          <a:noFill/>
          <a:ln/>
        </p:spPr>
        <p:txBody>
          <a:bodyPr wrap="square" lIns="0" tIns="0" rIns="0" bIns="0" rtlCol="0" anchor="t"/>
          <a:lstStyle/>
          <a:p>
            <a:pPr algn="l" indent="0" marL="0">
              <a:lnSpc>
                <a:spcPct val="104000"/>
              </a:lnSpc>
              <a:buNone/>
            </a:pPr>
            <a:r>
              <a:rPr lang="en-US" sz="1350" b="1" dirty="0">
                <a:solidFill>
                  <a:srgbClr val="71D5DD"/>
                </a:solidFill>
                <a:latin typeface="Arial" pitchFamily="34" charset="0"/>
                <a:ea typeface="Arial" pitchFamily="34" charset="-122"/>
                <a:cs typeface="Arial" pitchFamily="34" charset="-120"/>
              </a:rPr>
              <a:t>02</a:t>
            </a:r>
            <a:endParaRPr lang="en-US" sz="1350" dirty="0"/>
          </a:p>
        </p:txBody>
      </p:sp>
      <p:sp>
        <p:nvSpPr>
          <p:cNvPr id="23" name="Text 21"/>
          <p:cNvSpPr txBox="1"/>
          <p:nvPr/>
        </p:nvSpPr>
        <p:spPr>
          <a:xfrm>
            <a:off x="1124712" y="3749040"/>
            <a:ext cx="10515600" cy="576072"/>
          </a:xfrm>
          <a:prstGeom prst="rect">
            <a:avLst/>
          </a:prstGeom>
          <a:noFill/>
          <a:ln/>
        </p:spPr>
        <p:txBody>
          <a:bodyPr wrap="square" lIns="0" tIns="0" rIns="0" bIns="0" rtlCol="0" anchor="t"/>
          <a:lstStyle/>
          <a:p>
            <a:pPr algn="l" indent="0" marL="0">
              <a:lnSpc>
                <a:spcPct val="104000"/>
              </a:lnSpc>
              <a:buNone/>
            </a:pPr>
            <a:r>
              <a:rPr lang="en-US" sz="2150" dirty="0">
                <a:solidFill>
                  <a:srgbClr val="F4F7FB"/>
                </a:solidFill>
                <a:latin typeface="Arial" pitchFamily="34" charset="0"/>
                <a:ea typeface="Arial" pitchFamily="34" charset="-122"/>
                <a:cs typeface="Arial" pitchFamily="34" charset="-120"/>
              </a:rPr>
              <a:t>Intermediate representations expose structure for analysis and transformation.</a:t>
            </a:r>
            <a:endParaRPr lang="en-US" sz="2150" dirty="0"/>
          </a:p>
        </p:txBody>
      </p:sp>
      <p:sp>
        <p:nvSpPr>
          <p:cNvPr id="24" name="Text 22"/>
          <p:cNvSpPr txBox="1"/>
          <p:nvPr/>
        </p:nvSpPr>
        <p:spPr>
          <a:xfrm>
            <a:off x="566928" y="4416552"/>
            <a:ext cx="384048" cy="237744"/>
          </a:xfrm>
          <a:prstGeom prst="rect">
            <a:avLst/>
          </a:prstGeom>
          <a:noFill/>
          <a:ln/>
        </p:spPr>
        <p:txBody>
          <a:bodyPr wrap="square" lIns="0" tIns="0" rIns="0" bIns="0" rtlCol="0" anchor="t"/>
          <a:lstStyle/>
          <a:p>
            <a:pPr algn="l" indent="0" marL="0">
              <a:lnSpc>
                <a:spcPct val="104000"/>
              </a:lnSpc>
              <a:buNone/>
            </a:pPr>
            <a:r>
              <a:rPr lang="en-US" sz="1350" b="1" dirty="0">
                <a:solidFill>
                  <a:srgbClr val="71D5DD"/>
                </a:solidFill>
                <a:latin typeface="Arial" pitchFamily="34" charset="0"/>
                <a:ea typeface="Arial" pitchFamily="34" charset="-122"/>
                <a:cs typeface="Arial" pitchFamily="34" charset="-120"/>
              </a:rPr>
              <a:t>03</a:t>
            </a:r>
            <a:endParaRPr lang="en-US" sz="1350" dirty="0"/>
          </a:p>
        </p:txBody>
      </p:sp>
      <p:sp>
        <p:nvSpPr>
          <p:cNvPr id="25" name="Text 23"/>
          <p:cNvSpPr txBox="1"/>
          <p:nvPr/>
        </p:nvSpPr>
        <p:spPr>
          <a:xfrm>
            <a:off x="1124712" y="4361688"/>
            <a:ext cx="10515600" cy="576072"/>
          </a:xfrm>
          <a:prstGeom prst="rect">
            <a:avLst/>
          </a:prstGeom>
          <a:noFill/>
          <a:ln/>
        </p:spPr>
        <p:txBody>
          <a:bodyPr wrap="square" lIns="0" tIns="0" rIns="0" bIns="0" rtlCol="0" anchor="t"/>
          <a:lstStyle/>
          <a:p>
            <a:pPr algn="l" indent="0" marL="0">
              <a:lnSpc>
                <a:spcPct val="104000"/>
              </a:lnSpc>
              <a:buNone/>
            </a:pPr>
            <a:r>
              <a:rPr lang="en-US" sz="2150" dirty="0">
                <a:solidFill>
                  <a:srgbClr val="F4F7FB"/>
                </a:solidFill>
                <a:latin typeface="Arial" pitchFamily="34" charset="0"/>
                <a:ea typeface="Arial" pitchFamily="34" charset="-122"/>
                <a:cs typeface="Arial" pitchFamily="34" charset="-120"/>
              </a:rPr>
              <a:t>Compilation success is not proof of whole-program correctness.</a:t>
            </a:r>
            <a:endParaRPr lang="en-US" sz="2150" dirty="0"/>
          </a:p>
        </p:txBody>
      </p:sp>
      <p:sp>
        <p:nvSpPr>
          <p:cNvPr id="30" name="Text 28"/>
          <p:cNvSpPr txBox="1"/>
          <p:nvPr/>
        </p:nvSpPr>
        <p:spPr>
          <a:xfrm>
            <a:off x="548640" y="6601968"/>
            <a:ext cx="10241280" cy="128016"/>
          </a:xfrm>
          <a:prstGeom prst="rect">
            <a:avLst/>
          </a:prstGeom>
          <a:noFill/>
          <a:ln/>
        </p:spPr>
        <p:txBody>
          <a:bodyPr wrap="square" lIns="0" tIns="0" rIns="0" bIns="0" rtlCol="0" anchor="t"/>
          <a:lstStyle/>
          <a:p>
            <a:pPr algn="l" indent="0" marL="0">
              <a:lnSpc>
                <a:spcPct val="104000"/>
              </a:lnSpc>
              <a:buNone/>
            </a:pPr>
            <a:r>
              <a:rPr lang="en-US" sz="830" dirty="0">
                <a:solidFill>
                  <a:srgbClr val="B3C3D6"/>
                </a:solidFill>
                <a:latin typeface="Arial" pitchFamily="34" charset="0"/>
                <a:ea typeface="Arial" pitchFamily="34" charset="-122"/>
                <a:cs typeface="Arial" pitchFamily="34" charset="-120"/>
              </a:rPr>
              <a:t>Source: original 10 • [GCC, OPT]</a:t>
            </a:r>
            <a:endParaRPr lang="en-US" sz="830" dirty="0"/>
          </a:p>
        </p:txBody>
      </p:sp>
      <p:sp>
        <p:nvSpPr>
          <p:cNvPr id="31" name="Text 29"/>
          <p:cNvSpPr txBox="1"/>
          <p:nvPr/>
        </p:nvSpPr>
        <p:spPr>
          <a:xfrm>
            <a:off x="10917936" y="6565392"/>
            <a:ext cx="722376" cy="219456"/>
          </a:xfrm>
          <a:prstGeom prst="rect">
            <a:avLst/>
          </a:prstGeom>
          <a:noFill/>
          <a:ln/>
        </p:spPr>
        <p:txBody>
          <a:bodyPr wrap="square" lIns="0" tIns="0" rIns="0" bIns="0" rtlCol="0" anchor="t"/>
          <a:lstStyle/>
          <a:p>
            <a:pPr algn="r" indent="0" marL="0">
              <a:lnSpc>
                <a:spcPct val="104000"/>
              </a:lnSpc>
              <a:buNone/>
            </a:pPr>
            <a:r>
              <a:rPr lang="en-US" sz="1050" dirty="0">
                <a:solidFill>
                  <a:srgbClr val="B3C3D6"/>
                </a:solidFill>
                <a:latin typeface="Arial" pitchFamily="34" charset="0"/>
                <a:ea typeface="Arial" pitchFamily="34" charset="-122"/>
                <a:cs typeface="Arial" pitchFamily="34" charset="-120"/>
              </a:rPr>
              <a:t>20 / 64</a:t>
            </a:r>
            <a:endParaRPr lang="en-US" sz="1050" dirty="0"/>
          </a:p>
        </p:txBody>
      </p:sp>
      <p:sp>
        <p:nvSpPr>
          <p:cNvPr id="32" name="Shape 30"/>
          <p:cNvSpPr/>
          <p:nvPr/>
        </p:nvSpPr>
        <p:spPr>
          <a:xfrm>
            <a:off x="0" y="6834226"/>
            <a:ext cx="12192000" cy="23774"/>
          </a:xfrm>
          <a:prstGeom prst="rect">
            <a:avLst/>
          </a:prstGeom>
          <a:solidFill>
            <a:srgbClr val="2B415A"/>
          </a:solidFill>
          <a:ln w="8890">
            <a:solidFill>
              <a:srgbClr val="2B415A"/>
            </a:solidFill>
            <a:prstDash val="solid"/>
          </a:ln>
        </p:spPr>
        <p:txBody>
          <a:bodyPr/>
          <a:p/>
        </p:txBody>
      </p:sp>
      <p:sp>
        <p:nvSpPr>
          <p:cNvPr id="33" name="Shape 31"/>
          <p:cNvSpPr/>
          <p:nvPr/>
        </p:nvSpPr>
        <p:spPr>
          <a:xfrm>
            <a:off x="0" y="6834226"/>
            <a:ext cx="3810000" cy="23774"/>
          </a:xfrm>
          <a:prstGeom prst="rect">
            <a:avLst/>
          </a:prstGeom>
          <a:solidFill>
            <a:srgbClr val="71D5DD"/>
          </a:solidFill>
          <a:ln w="8890">
            <a:solidFill>
              <a:srgbClr val="71D5DD"/>
            </a:solidFill>
            <a:prstDash val="solid"/>
          </a:ln>
        </p:spPr>
        <p:txBody>
          <a:body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219456"/>
            <a:ext cx="9875520" cy="192024"/>
          </a:xfrm>
          <a:prstGeom prst="rect">
            <a:avLst/>
          </a:prstGeom>
          <a:noFill/>
          <a:ln/>
        </p:spPr>
        <p:txBody>
          <a:bodyPr wrap="square" lIns="0" tIns="0" rIns="0" bIns="0" rtlCol="0" anchor="t"/>
          <a:lstStyle/>
          <a:p>
            <a:pPr algn="l" indent="0" marL="0">
              <a:lnSpc>
                <a:spcPct val="104000"/>
              </a:lnSpc>
              <a:buNone/>
            </a:pPr>
            <a:r>
              <a:rPr lang="en-US" sz="970" b="1" spc="135" kern="0" dirty="0">
                <a:solidFill>
                  <a:srgbClr val="B3C3D6"/>
                </a:solidFill>
                <a:latin typeface="Arial" pitchFamily="34" charset="0"/>
                <a:ea typeface="Arial" pitchFamily="34" charset="-122"/>
                <a:cs typeface="Arial" pitchFamily="34" charset="-120"/>
              </a:rPr>
              <a:t>SYSTEMS PROGRAMMING AND MACHINE ORGANIZATION</a:t>
            </a:r>
            <a:endParaRPr lang="en-US" sz="970" dirty="0"/>
          </a:p>
        </p:txBody>
      </p:sp>
      <p:sp>
        <p:nvSpPr>
          <p:cNvPr id="3" name="Text 1"/>
          <p:cNvSpPr txBox="1"/>
          <p:nvPr/>
        </p:nvSpPr>
        <p:spPr>
          <a:xfrm>
            <a:off x="9601200" y="219456"/>
            <a:ext cx="2039112" cy="192024"/>
          </a:xfrm>
          <a:prstGeom prst="rect">
            <a:avLst/>
          </a:prstGeom>
          <a:noFill/>
          <a:ln/>
        </p:spPr>
        <p:txBody>
          <a:bodyPr wrap="square" lIns="0" tIns="0" rIns="0" bIns="0" rtlCol="0" anchor="t"/>
          <a:lstStyle/>
          <a:p>
            <a:pPr algn="r" indent="0" marL="0">
              <a:lnSpc>
                <a:spcPct val="104000"/>
              </a:lnSpc>
              <a:buNone/>
            </a:pPr>
            <a:r>
              <a:rPr lang="en-US" sz="970" b="1" dirty="0">
                <a:solidFill>
                  <a:srgbClr val="B3C3D6"/>
                </a:solidFill>
                <a:latin typeface="Arial" pitchFamily="34" charset="0"/>
                <a:ea typeface="Arial" pitchFamily="34" charset="-122"/>
                <a:cs typeface="Arial" pitchFamily="34" charset="-120"/>
              </a:rPr>
              <a:t>CHARLES DORNER</a:t>
            </a:r>
            <a:endParaRPr lang="en-US" sz="970" dirty="0"/>
          </a:p>
        </p:txBody>
      </p:sp>
      <p:sp>
        <p:nvSpPr>
          <p:cNvPr id="4" name="Text 2"/>
          <p:cNvSpPr txBox="1"/>
          <p:nvPr/>
        </p:nvSpPr>
        <p:spPr>
          <a:xfrm>
            <a:off x="548640" y="566928"/>
            <a:ext cx="11109960" cy="237744"/>
          </a:xfrm>
          <a:prstGeom prst="rect">
            <a:avLst/>
          </a:prstGeom>
          <a:noFill/>
          <a:ln/>
        </p:spPr>
        <p:txBody>
          <a:bodyPr wrap="square" lIns="0" tIns="0" rIns="0" bIns="0" rtlCol="0" anchor="t"/>
          <a:lstStyle/>
          <a:p>
            <a:pPr algn="l" indent="0" marL="0">
              <a:lnSpc>
                <a:spcPct val="104000"/>
              </a:lnSpc>
              <a:buNone/>
            </a:pPr>
            <a:r>
              <a:rPr lang="en-US" sz="1150" b="1" dirty="0">
                <a:solidFill>
                  <a:srgbClr val="71D5DD"/>
                </a:solidFill>
                <a:latin typeface="Arial" pitchFamily="34" charset="0"/>
                <a:ea typeface="Arial" pitchFamily="34" charset="-122"/>
                <a:cs typeface="Arial" pitchFamily="34" charset="-120"/>
              </a:rPr>
              <a:t>1.2.3 · SEMANTICS VS. MACHINE SCHEDULE</a:t>
            </a:r>
            <a:endParaRPr lang="en-US" sz="1150" dirty="0"/>
          </a:p>
        </p:txBody>
      </p:sp>
      <p:sp>
        <p:nvSpPr>
          <p:cNvPr id="5" name="Text 3"/>
          <p:cNvSpPr txBox="1"/>
          <p:nvPr/>
        </p:nvSpPr>
        <p:spPr>
          <a:xfrm>
            <a:off x="548640" y="941832"/>
            <a:ext cx="11091672" cy="676656"/>
          </a:xfrm>
          <a:prstGeom prst="rect">
            <a:avLst/>
          </a:prstGeom>
          <a:noFill/>
          <a:ln/>
        </p:spPr>
        <p:txBody>
          <a:bodyPr wrap="square" lIns="0" tIns="0" rIns="0" bIns="0" rtlCol="0" anchor="t"/>
          <a:lstStyle/>
          <a:p>
            <a:pPr algn="l" indent="0" marL="0">
              <a:lnSpc>
                <a:spcPct val="104000"/>
              </a:lnSpc>
              <a:buNone/>
            </a:pPr>
            <a:r>
              <a:rPr lang="en-US" sz="3150" b="1" dirty="0">
                <a:solidFill>
                  <a:srgbClr val="F4F7FB"/>
                </a:solidFill>
                <a:latin typeface="Arial" pitchFamily="34" charset="0"/>
                <a:ea typeface="Arial" pitchFamily="34" charset="-122"/>
                <a:cs typeface="Arial" pitchFamily="34" charset="-120"/>
              </a:rPr>
              <a:t>Optimization does not preserve source appearance</a:t>
            </a:r>
            <a:endParaRPr lang="en-US" sz="3150" dirty="0"/>
          </a:p>
        </p:txBody>
      </p:sp>
      <p:sp>
        <p:nvSpPr>
          <p:cNvPr id="6" name="Shape 4"/>
          <p:cNvSpPr/>
          <p:nvPr/>
        </p:nvSpPr>
        <p:spPr>
          <a:xfrm>
            <a:off x="548640" y="1764792"/>
            <a:ext cx="7178040" cy="3310128"/>
          </a:xfrm>
          <a:prstGeom prst="rect">
            <a:avLst/>
          </a:prstGeom>
          <a:solidFill>
            <a:srgbClr val="142238"/>
          </a:solidFill>
          <a:ln w="8890">
            <a:solidFill>
              <a:srgbClr val="2B415A"/>
            </a:solidFill>
            <a:prstDash val="solid"/>
          </a:ln>
        </p:spPr>
        <p:txBody>
          <a:bodyPr/>
          <a:p/>
        </p:txBody>
      </p:sp>
      <p:sp>
        <p:nvSpPr>
          <p:cNvPr id="7" name="Text 5"/>
          <p:cNvSpPr txBox="1"/>
          <p:nvPr/>
        </p:nvSpPr>
        <p:spPr>
          <a:xfrm>
            <a:off x="749808" y="1938528"/>
            <a:ext cx="6775704" cy="237744"/>
          </a:xfrm>
          <a:prstGeom prst="rect">
            <a:avLst/>
          </a:prstGeom>
          <a:noFill/>
          <a:ln/>
        </p:spPr>
        <p:txBody>
          <a:bodyPr wrap="square" lIns="0" tIns="0" rIns="0" bIns="0" rtlCol="0" anchor="t"/>
          <a:lstStyle/>
          <a:p>
            <a:pPr algn="l" indent="0" marL="0">
              <a:lnSpc>
                <a:spcPct val="104000"/>
              </a:lnSpc>
              <a:buNone/>
            </a:pPr>
            <a:r>
              <a:rPr lang="en-US" sz="1160" b="1" dirty="0">
                <a:solidFill>
                  <a:srgbClr val="F1C984"/>
                </a:solidFill>
                <a:latin typeface="Arial" pitchFamily="34" charset="0"/>
                <a:ea typeface="Arial" pitchFamily="34" charset="-122"/>
                <a:cs typeface="Arial" pitchFamily="34" charset="-120"/>
              </a:rPr>
              <a:t>One computation; several legal realizations</a:t>
            </a:r>
            <a:endParaRPr lang="en-US" sz="1160" dirty="0"/>
          </a:p>
        </p:txBody>
      </p:sp>
      <p:sp>
        <p:nvSpPr>
          <p:cNvPr id="8" name="Shape 6"/>
          <p:cNvSpPr/>
          <p:nvPr/>
        </p:nvSpPr>
        <p:spPr>
          <a:xfrm>
            <a:off x="749808" y="2276856"/>
            <a:ext cx="6775704" cy="0"/>
          </a:xfrm>
          <a:prstGeom prst="line">
            <a:avLst/>
          </a:prstGeom>
          <a:noFill/>
          <a:ln w="12700">
            <a:solidFill>
              <a:srgbClr val="2B415A"/>
            </a:solidFill>
            <a:prstDash val="solid"/>
          </a:ln>
        </p:spPr>
        <p:txBody>
          <a:bodyPr/>
          <a:p/>
        </p:txBody>
      </p:sp>
      <p:sp>
        <p:nvSpPr>
          <p:cNvPr id="9" name="Text 7"/>
          <p:cNvSpPr txBox="1"/>
          <p:nvPr/>
        </p:nvSpPr>
        <p:spPr>
          <a:xfrm>
            <a:off x="749808" y="2478024"/>
            <a:ext cx="6775704" cy="2450592"/>
          </a:xfrm>
          <a:prstGeom prst="rect">
            <a:avLst/>
          </a:prstGeom>
          <a:noFill/>
          <a:ln/>
        </p:spPr>
        <p:txBody>
          <a:bodyPr wrap="square" lIns="0" tIns="0" rIns="0" bIns="0" rtlCol="0" anchor="t"/>
          <a:lstStyle/>
          <a:p>
            <a:pPr algn="l" indent="0" marL="0">
              <a:lnSpc>
                <a:spcPct val="104000"/>
              </a:lnSpc>
              <a:buNone/>
            </a:pPr>
            <a:r>
              <a:rPr lang="en-US" sz="1830" dirty="0">
                <a:solidFill>
                  <a:srgbClr val="DCE8F4"/>
                </a:solidFill>
                <a:latin typeface="DejaVu Sans Mono" pitchFamily="34" charset="0"/>
                <a:ea typeface="DejaVu Sans Mono" pitchFamily="34" charset="-122"/>
                <a:cs typeface="DejaVu Sans Mono" pitchFamily="34" charset="-120"/>
              </a:rPr>
              <a:t>int add3(int x) {</a:t>
            </a:r>
            <a:endParaRPr lang="en-US" sz="1830" dirty="0"/>
          </a:p>
          <a:p>
            <a:pPr algn="l" indent="0" marL="0">
              <a:lnSpc>
                <a:spcPct val="104000"/>
              </a:lnSpc>
              <a:buNone/>
            </a:pPr>
            <a:r>
              <a:rPr lang="en-US" sz="1830" dirty="0">
                <a:solidFill>
                  <a:srgbClr val="DCE8F4"/>
                </a:solidFill>
                <a:latin typeface="DejaVu Sans Mono" pitchFamily="34" charset="0"/>
                <a:ea typeface="DejaVu Sans Mono" pitchFamily="34" charset="-122"/>
                <a:cs typeface="DejaVu Sans Mono" pitchFamily="34" charset="-120"/>
              </a:rPr>
              <a:t>    int y = x + 3;</a:t>
            </a:r>
            <a:endParaRPr lang="en-US" sz="1830" dirty="0"/>
          </a:p>
          <a:p>
            <a:pPr algn="l" indent="0" marL="0">
              <a:lnSpc>
                <a:spcPct val="104000"/>
              </a:lnSpc>
              <a:buNone/>
            </a:pPr>
            <a:r>
              <a:rPr lang="en-US" sz="1830" dirty="0">
                <a:solidFill>
                  <a:srgbClr val="DCE8F4"/>
                </a:solidFill>
                <a:latin typeface="DejaVu Sans Mono" pitchFamily="34" charset="0"/>
                <a:ea typeface="DejaVu Sans Mono" pitchFamily="34" charset="-122"/>
                <a:cs typeface="DejaVu Sans Mono" pitchFamily="34" charset="-120"/>
              </a:rPr>
              <a:t>    return y;</a:t>
            </a:r>
            <a:endParaRPr lang="en-US" sz="1830" dirty="0"/>
          </a:p>
          <a:p>
            <a:pPr algn="l" indent="0" marL="0">
              <a:lnSpc>
                <a:spcPct val="104000"/>
              </a:lnSpc>
              <a:buNone/>
            </a:pPr>
            <a:r>
              <a:rPr lang="en-US" sz="1830" dirty="0">
                <a:solidFill>
                  <a:srgbClr val="DCE8F4"/>
                </a:solidFill>
                <a:latin typeface="DejaVu Sans Mono" pitchFamily="34" charset="0"/>
                <a:ea typeface="DejaVu Sans Mono" pitchFamily="34" charset="-122"/>
                <a:cs typeface="DejaVu Sans Mono" pitchFamily="34" charset="-120"/>
              </a:rPr>
              <a:t>}</a:t>
            </a:r>
            <a:endParaRPr lang="en-US" sz="1830" dirty="0"/>
          </a:p>
        </p:txBody>
      </p:sp>
      <p:sp>
        <p:nvSpPr>
          <p:cNvPr id="10" name="Text 8"/>
          <p:cNvSpPr txBox="1"/>
          <p:nvPr/>
        </p:nvSpPr>
        <p:spPr>
          <a:xfrm>
            <a:off x="7946136" y="1883664"/>
            <a:ext cx="3696919" cy="237744"/>
          </a:xfrm>
          <a:prstGeom prst="rect">
            <a:avLst/>
          </a:prstGeom>
          <a:noFill/>
          <a:ln/>
        </p:spPr>
        <p:txBody>
          <a:bodyPr wrap="square" lIns="0" tIns="0" rIns="0" bIns="0" rtlCol="0" anchor="t"/>
          <a:lstStyle/>
          <a:p>
            <a:pPr algn="l" indent="0" marL="0">
              <a:lnSpc>
                <a:spcPct val="104000"/>
              </a:lnSpc>
              <a:buNone/>
            </a:pPr>
            <a:r>
              <a:rPr lang="en-US" sz="1330" b="1" dirty="0">
                <a:solidFill>
                  <a:srgbClr val="71D5DD"/>
                </a:solidFill>
                <a:latin typeface="Arial" pitchFamily="34" charset="0"/>
                <a:ea typeface="Arial" pitchFamily="34" charset="-122"/>
                <a:cs typeface="Arial" pitchFamily="34" charset="-120"/>
              </a:rPr>
              <a:t>REASON ABOUT OBLIGATIONS</a:t>
            </a:r>
            <a:endParaRPr lang="en-US" sz="1330" dirty="0"/>
          </a:p>
        </p:txBody>
      </p:sp>
      <p:sp>
        <p:nvSpPr>
          <p:cNvPr id="11" name="Shape 9"/>
          <p:cNvSpPr/>
          <p:nvPr/>
        </p:nvSpPr>
        <p:spPr>
          <a:xfrm>
            <a:off x="7946136" y="2386584"/>
            <a:ext cx="41148" cy="374904"/>
          </a:xfrm>
          <a:prstGeom prst="rect">
            <a:avLst/>
          </a:prstGeom>
          <a:solidFill>
            <a:srgbClr val="71D5DD"/>
          </a:solidFill>
          <a:ln w="8890">
            <a:solidFill>
              <a:srgbClr val="71D5DD"/>
            </a:solidFill>
            <a:prstDash val="solid"/>
          </a:ln>
        </p:spPr>
        <p:txBody>
          <a:bodyPr/>
          <a:p/>
        </p:txBody>
      </p:sp>
      <p:sp>
        <p:nvSpPr>
          <p:cNvPr id="12" name="Text 10"/>
          <p:cNvSpPr txBox="1"/>
          <p:nvPr/>
        </p:nvSpPr>
        <p:spPr>
          <a:xfrm>
            <a:off x="8110728" y="2350008"/>
            <a:ext cx="3532327" cy="662940"/>
          </a:xfrm>
          <a:prstGeom prst="rect">
            <a:avLst/>
          </a:prstGeom>
          <a:noFill/>
          <a:ln/>
        </p:spPr>
        <p:txBody>
          <a:bodyPr wrap="square" lIns="0" tIns="0" rIns="0" bIns="0" rtlCol="0" anchor="t"/>
          <a:lstStyle/>
          <a:p>
            <a:pPr algn="l" indent="0" marL="0">
              <a:lnSpc>
                <a:spcPct val="104000"/>
              </a:lnSpc>
              <a:buNone/>
            </a:pPr>
            <a:r>
              <a:rPr lang="en-US" sz="2010" dirty="0">
                <a:solidFill>
                  <a:srgbClr val="F4F7FB"/>
                </a:solidFill>
                <a:latin typeface="Arial" pitchFamily="34" charset="0"/>
                <a:ea typeface="Arial" pitchFamily="34" charset="-122"/>
                <a:cs typeface="Arial" pitchFamily="34" charset="-120"/>
              </a:rPr>
              <a:t>y need not have a permanent</a:t>
            </a:r>
            <a:endParaRPr lang="en-US" sz="2010" dirty="0"/>
          </a:p>
          <a:p>
            <a:pPr algn="l" indent="0" marL="0">
              <a:lnSpc>
                <a:spcPct val="104000"/>
              </a:lnSpc>
              <a:buNone/>
            </a:pPr>
            <a:r>
              <a:rPr lang="en-US" sz="2010" dirty="0">
                <a:solidFill>
                  <a:srgbClr val="F4F7FB"/>
                </a:solidFill>
                <a:latin typeface="Arial" pitchFamily="34" charset="0"/>
                <a:ea typeface="Arial" pitchFamily="34" charset="-122"/>
                <a:cs typeface="Arial" pitchFamily="34" charset="-120"/>
              </a:rPr>
              <a:t>memory slot.</a:t>
            </a:r>
            <a:endParaRPr lang="en-US" sz="2010" dirty="0"/>
          </a:p>
        </p:txBody>
      </p:sp>
      <p:sp>
        <p:nvSpPr>
          <p:cNvPr id="13" name="Shape 11"/>
          <p:cNvSpPr/>
          <p:nvPr/>
        </p:nvSpPr>
        <p:spPr>
          <a:xfrm>
            <a:off x="7946136" y="3099816"/>
            <a:ext cx="41148" cy="374904"/>
          </a:xfrm>
          <a:prstGeom prst="rect">
            <a:avLst/>
          </a:prstGeom>
          <a:solidFill>
            <a:srgbClr val="71D5DD"/>
          </a:solidFill>
          <a:ln w="8890">
            <a:solidFill>
              <a:srgbClr val="71D5DD"/>
            </a:solidFill>
            <a:prstDash val="solid"/>
          </a:ln>
        </p:spPr>
        <p:txBody>
          <a:bodyPr/>
          <a:p/>
        </p:txBody>
      </p:sp>
      <p:sp>
        <p:nvSpPr>
          <p:cNvPr id="14" name="Text 12"/>
          <p:cNvSpPr txBox="1"/>
          <p:nvPr/>
        </p:nvSpPr>
        <p:spPr>
          <a:xfrm>
            <a:off x="8110728" y="3063240"/>
            <a:ext cx="3532327" cy="662940"/>
          </a:xfrm>
          <a:prstGeom prst="rect">
            <a:avLst/>
          </a:prstGeom>
          <a:noFill/>
          <a:ln/>
        </p:spPr>
        <p:txBody>
          <a:bodyPr wrap="square" lIns="0" tIns="0" rIns="0" bIns="0" rtlCol="0" anchor="t"/>
          <a:lstStyle/>
          <a:p>
            <a:pPr algn="l" indent="0" marL="0">
              <a:lnSpc>
                <a:spcPct val="104000"/>
              </a:lnSpc>
              <a:buNone/>
            </a:pPr>
            <a:r>
              <a:rPr lang="en-US" sz="2010" dirty="0">
                <a:solidFill>
                  <a:srgbClr val="F4F7FB"/>
                </a:solidFill>
                <a:latin typeface="Arial" pitchFamily="34" charset="0"/>
                <a:ea typeface="Arial" pitchFamily="34" charset="-122"/>
                <a:cs typeface="Arial" pitchFamily="34" charset="-120"/>
              </a:rPr>
              <a:t>The implementation may</a:t>
            </a:r>
            <a:endParaRPr lang="en-US" sz="2010" dirty="0"/>
          </a:p>
          <a:p>
            <a:pPr algn="l" indent="0" marL="0">
              <a:lnSpc>
                <a:spcPct val="104000"/>
              </a:lnSpc>
              <a:buNone/>
            </a:pPr>
            <a:r>
              <a:rPr lang="en-US" sz="2010" dirty="0">
                <a:solidFill>
                  <a:srgbClr val="F4F7FB"/>
                </a:solidFill>
                <a:latin typeface="Arial" pitchFamily="34" charset="0"/>
                <a:ea typeface="Arial" pitchFamily="34" charset="-122"/>
                <a:cs typeface="Arial" pitchFamily="34" charset="-120"/>
              </a:rPr>
              <a:t>combine or remove steps.</a:t>
            </a:r>
            <a:endParaRPr lang="en-US" sz="2010" dirty="0"/>
          </a:p>
        </p:txBody>
      </p:sp>
      <p:sp>
        <p:nvSpPr>
          <p:cNvPr id="15" name="Shape 13"/>
          <p:cNvSpPr/>
          <p:nvPr/>
        </p:nvSpPr>
        <p:spPr>
          <a:xfrm>
            <a:off x="7946136" y="3813048"/>
            <a:ext cx="41148" cy="374904"/>
          </a:xfrm>
          <a:prstGeom prst="rect">
            <a:avLst/>
          </a:prstGeom>
          <a:solidFill>
            <a:srgbClr val="71D5DD"/>
          </a:solidFill>
          <a:ln w="8890">
            <a:solidFill>
              <a:srgbClr val="71D5DD"/>
            </a:solidFill>
            <a:prstDash val="solid"/>
          </a:ln>
        </p:spPr>
        <p:txBody>
          <a:bodyPr/>
          <a:p/>
        </p:txBody>
      </p:sp>
      <p:sp>
        <p:nvSpPr>
          <p:cNvPr id="16" name="Text 14"/>
          <p:cNvSpPr txBox="1"/>
          <p:nvPr/>
        </p:nvSpPr>
        <p:spPr>
          <a:xfrm>
            <a:off x="8110728" y="3776472"/>
            <a:ext cx="3532327" cy="662940"/>
          </a:xfrm>
          <a:prstGeom prst="rect">
            <a:avLst/>
          </a:prstGeom>
          <a:noFill/>
          <a:ln/>
        </p:spPr>
        <p:txBody>
          <a:bodyPr wrap="square" lIns="0" tIns="0" rIns="0" bIns="0" rtlCol="0" anchor="t"/>
          <a:lstStyle/>
          <a:p>
            <a:pPr algn="l" indent="0" marL="0">
              <a:lnSpc>
                <a:spcPct val="104000"/>
              </a:lnSpc>
              <a:buNone/>
            </a:pPr>
            <a:r>
              <a:rPr lang="en-US" sz="2010" dirty="0">
                <a:solidFill>
                  <a:srgbClr val="F4F7FB"/>
                </a:solidFill>
                <a:latin typeface="Arial" pitchFamily="34" charset="0"/>
                <a:ea typeface="Arial" pitchFamily="34" charset="-122"/>
                <a:cs typeface="Arial" pitchFamily="34" charset="-120"/>
              </a:rPr>
              <a:t>The arithmetic must first be</a:t>
            </a:r>
            <a:endParaRPr lang="en-US" sz="2010" dirty="0"/>
          </a:p>
          <a:p>
            <a:pPr algn="l" indent="0" marL="0">
              <a:lnSpc>
                <a:spcPct val="104000"/>
              </a:lnSpc>
              <a:buNone/>
            </a:pPr>
            <a:r>
              <a:rPr lang="en-US" sz="2010" dirty="0">
                <a:solidFill>
                  <a:srgbClr val="F4F7FB"/>
                </a:solidFill>
                <a:latin typeface="Arial" pitchFamily="34" charset="0"/>
                <a:ea typeface="Arial" pitchFamily="34" charset="-122"/>
                <a:cs typeface="Arial" pitchFamily="34" charset="-120"/>
              </a:rPr>
              <a:t>defined.</a:t>
            </a:r>
            <a:endParaRPr lang="en-US" sz="2010" dirty="0"/>
          </a:p>
        </p:txBody>
      </p:sp>
      <p:sp>
        <p:nvSpPr>
          <p:cNvPr id="17" name="Text 15"/>
          <p:cNvSpPr txBox="1"/>
          <p:nvPr/>
        </p:nvSpPr>
        <p:spPr>
          <a:xfrm>
            <a:off x="548640" y="5193792"/>
            <a:ext cx="11094720" cy="274320"/>
          </a:xfrm>
          <a:prstGeom prst="rect">
            <a:avLst/>
          </a:prstGeom>
          <a:noFill/>
          <a:ln/>
        </p:spPr>
        <p:txBody>
          <a:bodyPr wrap="square" lIns="0" tIns="0" rIns="0" bIns="0" rtlCol="0" anchor="t"/>
          <a:lstStyle/>
          <a:p>
            <a:pPr algn="l" indent="0" marL="0">
              <a:lnSpc>
                <a:spcPct val="104000"/>
              </a:lnSpc>
              <a:buNone/>
            </a:pPr>
            <a:r>
              <a:rPr lang="en-US" sz="1140" dirty="0">
                <a:solidFill>
                  <a:srgbClr val="B3C3D6"/>
                </a:solidFill>
                <a:latin typeface="Arial" pitchFamily="34" charset="0"/>
                <a:ea typeface="Arial" pitchFamily="34" charset="-122"/>
                <a:cs typeface="Arial" pitchFamily="34" charset="-120"/>
              </a:rPr>
              <a:t>Assume valid int input and x &lt;= INT_MAX - 3. Exact assembly is target- and build-dependent.</a:t>
            </a:r>
            <a:endParaRPr lang="en-US" sz="1140" dirty="0"/>
          </a:p>
        </p:txBody>
      </p:sp>
      <p:sp>
        <p:nvSpPr>
          <p:cNvPr id="22" name="Text 20"/>
          <p:cNvSpPr txBox="1"/>
          <p:nvPr/>
        </p:nvSpPr>
        <p:spPr>
          <a:xfrm>
            <a:off x="548640" y="6601968"/>
            <a:ext cx="10241280" cy="128016"/>
          </a:xfrm>
          <a:prstGeom prst="rect">
            <a:avLst/>
          </a:prstGeom>
          <a:noFill/>
          <a:ln/>
        </p:spPr>
        <p:txBody>
          <a:bodyPr wrap="square" lIns="0" tIns="0" rIns="0" bIns="0" rtlCol="0" anchor="t"/>
          <a:lstStyle/>
          <a:p>
            <a:pPr algn="l" indent="0" marL="0">
              <a:lnSpc>
                <a:spcPct val="104000"/>
              </a:lnSpc>
              <a:buNone/>
            </a:pPr>
            <a:r>
              <a:rPr lang="en-US" sz="830" dirty="0">
                <a:solidFill>
                  <a:srgbClr val="B3C3D6"/>
                </a:solidFill>
                <a:latin typeface="Arial" pitchFamily="34" charset="0"/>
                <a:ea typeface="Arial" pitchFamily="34" charset="-122"/>
                <a:cs typeface="Arial" pitchFamily="34" charset="-120"/>
              </a:rPr>
              <a:t>Source: original 8, 10, 18 • Graduate extension • [OPT, LANG]</a:t>
            </a:r>
            <a:endParaRPr lang="en-US" sz="830" dirty="0"/>
          </a:p>
        </p:txBody>
      </p:sp>
      <p:sp>
        <p:nvSpPr>
          <p:cNvPr id="23" name="Text 21"/>
          <p:cNvSpPr txBox="1"/>
          <p:nvPr/>
        </p:nvSpPr>
        <p:spPr>
          <a:xfrm>
            <a:off x="10917936" y="6565392"/>
            <a:ext cx="722376" cy="219456"/>
          </a:xfrm>
          <a:prstGeom prst="rect">
            <a:avLst/>
          </a:prstGeom>
          <a:noFill/>
          <a:ln/>
        </p:spPr>
        <p:txBody>
          <a:bodyPr wrap="square" lIns="0" tIns="0" rIns="0" bIns="0" rtlCol="0" anchor="t"/>
          <a:lstStyle/>
          <a:p>
            <a:pPr algn="r" indent="0" marL="0">
              <a:lnSpc>
                <a:spcPct val="104000"/>
              </a:lnSpc>
              <a:buNone/>
            </a:pPr>
            <a:r>
              <a:rPr lang="en-US" sz="1050" dirty="0">
                <a:solidFill>
                  <a:srgbClr val="B3C3D6"/>
                </a:solidFill>
                <a:latin typeface="Arial" pitchFamily="34" charset="0"/>
                <a:ea typeface="Arial" pitchFamily="34" charset="-122"/>
                <a:cs typeface="Arial" pitchFamily="34" charset="-120"/>
              </a:rPr>
              <a:t>21 / 64</a:t>
            </a:r>
            <a:endParaRPr lang="en-US" sz="1050" dirty="0"/>
          </a:p>
        </p:txBody>
      </p:sp>
      <p:sp>
        <p:nvSpPr>
          <p:cNvPr id="24" name="Shape 22"/>
          <p:cNvSpPr/>
          <p:nvPr/>
        </p:nvSpPr>
        <p:spPr>
          <a:xfrm>
            <a:off x="0" y="6834226"/>
            <a:ext cx="12192000" cy="23774"/>
          </a:xfrm>
          <a:prstGeom prst="rect">
            <a:avLst/>
          </a:prstGeom>
          <a:solidFill>
            <a:srgbClr val="2B415A"/>
          </a:solidFill>
          <a:ln w="8890">
            <a:solidFill>
              <a:srgbClr val="2B415A"/>
            </a:solidFill>
            <a:prstDash val="solid"/>
          </a:ln>
        </p:spPr>
        <p:txBody>
          <a:bodyPr/>
          <a:p/>
        </p:txBody>
      </p:sp>
      <p:sp>
        <p:nvSpPr>
          <p:cNvPr id="25" name="Shape 23"/>
          <p:cNvSpPr/>
          <p:nvPr/>
        </p:nvSpPr>
        <p:spPr>
          <a:xfrm>
            <a:off x="0" y="6834226"/>
            <a:ext cx="4000500" cy="23774"/>
          </a:xfrm>
          <a:prstGeom prst="rect">
            <a:avLst/>
          </a:prstGeom>
          <a:solidFill>
            <a:srgbClr val="71D5DD"/>
          </a:solidFill>
          <a:ln w="8890">
            <a:solidFill>
              <a:srgbClr val="71D5DD"/>
            </a:solidFill>
            <a:prstDash val="solid"/>
          </a:ln>
        </p:spPr>
        <p:txBody>
          <a:body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219456"/>
            <a:ext cx="9875520" cy="192024"/>
          </a:xfrm>
          <a:prstGeom prst="rect">
            <a:avLst/>
          </a:prstGeom>
          <a:noFill/>
          <a:ln/>
        </p:spPr>
        <p:txBody>
          <a:bodyPr wrap="square" lIns="0" tIns="0" rIns="0" bIns="0" rtlCol="0" anchor="t"/>
          <a:lstStyle/>
          <a:p>
            <a:pPr algn="l" indent="0" marL="0">
              <a:lnSpc>
                <a:spcPct val="104000"/>
              </a:lnSpc>
              <a:buNone/>
            </a:pPr>
            <a:r>
              <a:rPr lang="en-US" sz="970" b="1" spc="135" kern="0" dirty="0">
                <a:solidFill>
                  <a:srgbClr val="B3C3D6"/>
                </a:solidFill>
                <a:latin typeface="Arial" pitchFamily="34" charset="0"/>
                <a:ea typeface="Arial" pitchFamily="34" charset="-122"/>
                <a:cs typeface="Arial" pitchFamily="34" charset="-120"/>
              </a:rPr>
              <a:t>SYSTEMS PROGRAMMING AND MACHINE ORGANIZATION</a:t>
            </a:r>
            <a:endParaRPr lang="en-US" sz="970" dirty="0"/>
          </a:p>
        </p:txBody>
      </p:sp>
      <p:sp>
        <p:nvSpPr>
          <p:cNvPr id="3" name="Text 1"/>
          <p:cNvSpPr txBox="1"/>
          <p:nvPr/>
        </p:nvSpPr>
        <p:spPr>
          <a:xfrm>
            <a:off x="9601200" y="219456"/>
            <a:ext cx="2039112" cy="192024"/>
          </a:xfrm>
          <a:prstGeom prst="rect">
            <a:avLst/>
          </a:prstGeom>
          <a:noFill/>
          <a:ln/>
        </p:spPr>
        <p:txBody>
          <a:bodyPr wrap="square" lIns="0" tIns="0" rIns="0" bIns="0" rtlCol="0" anchor="t"/>
          <a:lstStyle/>
          <a:p>
            <a:pPr algn="r" indent="0" marL="0">
              <a:lnSpc>
                <a:spcPct val="104000"/>
              </a:lnSpc>
              <a:buNone/>
            </a:pPr>
            <a:r>
              <a:rPr lang="en-US" sz="970" b="1" dirty="0">
                <a:solidFill>
                  <a:srgbClr val="B3C3D6"/>
                </a:solidFill>
                <a:latin typeface="Arial" pitchFamily="34" charset="0"/>
                <a:ea typeface="Arial" pitchFamily="34" charset="-122"/>
                <a:cs typeface="Arial" pitchFamily="34" charset="-120"/>
              </a:rPr>
              <a:t>CHARLES DORNER</a:t>
            </a:r>
            <a:endParaRPr lang="en-US" sz="970" dirty="0"/>
          </a:p>
        </p:txBody>
      </p:sp>
      <p:sp>
        <p:nvSpPr>
          <p:cNvPr id="4" name="Text 2"/>
          <p:cNvSpPr txBox="1"/>
          <p:nvPr/>
        </p:nvSpPr>
        <p:spPr>
          <a:xfrm>
            <a:off x="548640" y="566928"/>
            <a:ext cx="11109960" cy="237744"/>
          </a:xfrm>
          <a:prstGeom prst="rect">
            <a:avLst/>
          </a:prstGeom>
          <a:noFill/>
          <a:ln/>
        </p:spPr>
        <p:txBody>
          <a:bodyPr wrap="square" lIns="0" tIns="0" rIns="0" bIns="0" rtlCol="0" anchor="t"/>
          <a:lstStyle/>
          <a:p>
            <a:pPr algn="l" indent="0" marL="0">
              <a:lnSpc>
                <a:spcPct val="104000"/>
              </a:lnSpc>
              <a:buNone/>
            </a:pPr>
            <a:r>
              <a:rPr lang="en-US" sz="1150" b="1" dirty="0">
                <a:solidFill>
                  <a:srgbClr val="71D5DD"/>
                </a:solidFill>
                <a:latin typeface="Arial" pitchFamily="34" charset="0"/>
                <a:ea typeface="Arial" pitchFamily="34" charset="-122"/>
                <a:cs typeface="Arial" pitchFamily="34" charset="-120"/>
              </a:rPr>
              <a:t>1.2.4 · ASSEMBLY &amp; OBJECT FILES</a:t>
            </a:r>
            <a:endParaRPr lang="en-US" sz="1150" dirty="0"/>
          </a:p>
        </p:txBody>
      </p:sp>
      <p:sp>
        <p:nvSpPr>
          <p:cNvPr id="5" name="Text 3"/>
          <p:cNvSpPr txBox="1"/>
          <p:nvPr/>
        </p:nvSpPr>
        <p:spPr>
          <a:xfrm>
            <a:off x="548640" y="941832"/>
            <a:ext cx="11091672" cy="676656"/>
          </a:xfrm>
          <a:prstGeom prst="rect">
            <a:avLst/>
          </a:prstGeom>
          <a:noFill/>
          <a:ln/>
        </p:spPr>
        <p:txBody>
          <a:bodyPr wrap="square" lIns="0" tIns="0" rIns="0" bIns="0" rtlCol="0" anchor="t"/>
          <a:lstStyle/>
          <a:p>
            <a:pPr algn="l" indent="0" marL="0">
              <a:lnSpc>
                <a:spcPct val="104000"/>
              </a:lnSpc>
              <a:buNone/>
            </a:pPr>
            <a:r>
              <a:rPr lang="en-US" sz="3150" b="1" dirty="0">
                <a:solidFill>
                  <a:srgbClr val="F4F7FB"/>
                </a:solidFill>
                <a:latin typeface="Arial" pitchFamily="34" charset="0"/>
                <a:ea typeface="Arial" pitchFamily="34" charset="-122"/>
                <a:cs typeface="Arial" pitchFamily="34" charset="-120"/>
              </a:rPr>
              <a:t>The assembler produces more than instruction bytes</a:t>
            </a:r>
            <a:endParaRPr lang="en-US" sz="3150" dirty="0"/>
          </a:p>
        </p:txBody>
      </p:sp>
      <p:sp>
        <p:nvSpPr>
          <p:cNvPr id="6" name="Shape 4"/>
          <p:cNvSpPr/>
          <p:nvPr/>
        </p:nvSpPr>
        <p:spPr>
          <a:xfrm>
            <a:off x="548640" y="1764792"/>
            <a:ext cx="3564128" cy="3310128"/>
          </a:xfrm>
          <a:prstGeom prst="rect">
            <a:avLst/>
          </a:prstGeom>
          <a:solidFill>
            <a:srgbClr val="142238"/>
          </a:solidFill>
          <a:ln w="8890">
            <a:solidFill>
              <a:srgbClr val="2B415A"/>
            </a:solidFill>
            <a:prstDash val="solid"/>
          </a:ln>
        </p:spPr>
        <p:txBody>
          <a:bodyPr/>
          <a:p/>
        </p:txBody>
      </p:sp>
      <p:sp>
        <p:nvSpPr>
          <p:cNvPr id="7" name="Shape 5"/>
          <p:cNvSpPr/>
          <p:nvPr/>
        </p:nvSpPr>
        <p:spPr>
          <a:xfrm>
            <a:off x="548640" y="1764792"/>
            <a:ext cx="41148" cy="3310128"/>
          </a:xfrm>
          <a:prstGeom prst="rect">
            <a:avLst/>
          </a:prstGeom>
          <a:solidFill>
            <a:srgbClr val="71D5DD"/>
          </a:solidFill>
          <a:ln w="8890">
            <a:solidFill>
              <a:srgbClr val="71D5DD"/>
            </a:solidFill>
            <a:prstDash val="solid"/>
          </a:ln>
        </p:spPr>
        <p:txBody>
          <a:bodyPr/>
          <a:p/>
        </p:txBody>
      </p:sp>
      <p:sp>
        <p:nvSpPr>
          <p:cNvPr id="8" name="Text 6"/>
          <p:cNvSpPr txBox="1"/>
          <p:nvPr/>
        </p:nvSpPr>
        <p:spPr>
          <a:xfrm>
            <a:off x="758952" y="1975104"/>
            <a:ext cx="3134360" cy="557784"/>
          </a:xfrm>
          <a:prstGeom prst="rect">
            <a:avLst/>
          </a:prstGeom>
          <a:noFill/>
          <a:ln/>
        </p:spPr>
        <p:txBody>
          <a:bodyPr wrap="square" lIns="0" tIns="0" rIns="0" bIns="0" rtlCol="0" anchor="t"/>
          <a:lstStyle/>
          <a:p>
            <a:pPr algn="l" indent="0" marL="0">
              <a:lnSpc>
                <a:spcPct val="104000"/>
              </a:lnSpc>
              <a:buNone/>
            </a:pPr>
            <a:r>
              <a:rPr lang="en-US" sz="1750" b="1" dirty="0">
                <a:solidFill>
                  <a:srgbClr val="71D5DD"/>
                </a:solidFill>
                <a:latin typeface="Arial" pitchFamily="34" charset="0"/>
                <a:ea typeface="Arial" pitchFamily="34" charset="-122"/>
                <a:cs typeface="Arial" pitchFamily="34" charset="-120"/>
              </a:rPr>
              <a:t>ENCODED CONTENT</a:t>
            </a:r>
            <a:endParaRPr lang="en-US" sz="1750" dirty="0"/>
          </a:p>
        </p:txBody>
      </p:sp>
      <p:sp>
        <p:nvSpPr>
          <p:cNvPr id="9" name="Text 7"/>
          <p:cNvSpPr txBox="1"/>
          <p:nvPr/>
        </p:nvSpPr>
        <p:spPr>
          <a:xfrm>
            <a:off x="758952" y="2642616"/>
            <a:ext cx="3134360" cy="2267712"/>
          </a:xfrm>
          <a:prstGeom prst="rect">
            <a:avLst/>
          </a:prstGeom>
          <a:noFill/>
          <a:ln/>
        </p:spPr>
        <p:txBody>
          <a:bodyPr wrap="square" lIns="0" tIns="0" rIns="0" bIns="0" rtlCol="0" anchor="t"/>
          <a:lstStyle/>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Machine instructions.</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Initialized data.</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Space and alignment</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requirements.</a:t>
            </a:r>
            <a:endParaRPr lang="en-US" sz="2200" dirty="0"/>
          </a:p>
        </p:txBody>
      </p:sp>
      <p:sp>
        <p:nvSpPr>
          <p:cNvPr id="10" name="Shape 8"/>
          <p:cNvSpPr/>
          <p:nvPr/>
        </p:nvSpPr>
        <p:spPr>
          <a:xfrm>
            <a:off x="4313936" y="1764792"/>
            <a:ext cx="3564128" cy="3310128"/>
          </a:xfrm>
          <a:prstGeom prst="rect">
            <a:avLst/>
          </a:prstGeom>
          <a:solidFill>
            <a:srgbClr val="142238"/>
          </a:solidFill>
          <a:ln w="8890">
            <a:solidFill>
              <a:srgbClr val="2B415A"/>
            </a:solidFill>
            <a:prstDash val="solid"/>
          </a:ln>
        </p:spPr>
        <p:txBody>
          <a:bodyPr/>
          <a:p/>
        </p:txBody>
      </p:sp>
      <p:sp>
        <p:nvSpPr>
          <p:cNvPr id="11" name="Shape 9"/>
          <p:cNvSpPr/>
          <p:nvPr/>
        </p:nvSpPr>
        <p:spPr>
          <a:xfrm>
            <a:off x="4313936" y="1764792"/>
            <a:ext cx="41148" cy="3310128"/>
          </a:xfrm>
          <a:prstGeom prst="rect">
            <a:avLst/>
          </a:prstGeom>
          <a:solidFill>
            <a:srgbClr val="71D5DD"/>
          </a:solidFill>
          <a:ln w="8890">
            <a:solidFill>
              <a:srgbClr val="71D5DD"/>
            </a:solidFill>
            <a:prstDash val="solid"/>
          </a:ln>
        </p:spPr>
        <p:txBody>
          <a:bodyPr/>
          <a:p/>
        </p:txBody>
      </p:sp>
      <p:sp>
        <p:nvSpPr>
          <p:cNvPr id="12" name="Text 10"/>
          <p:cNvSpPr txBox="1"/>
          <p:nvPr/>
        </p:nvSpPr>
        <p:spPr>
          <a:xfrm>
            <a:off x="4524248" y="1975104"/>
            <a:ext cx="3134360" cy="557784"/>
          </a:xfrm>
          <a:prstGeom prst="rect">
            <a:avLst/>
          </a:prstGeom>
          <a:noFill/>
          <a:ln/>
        </p:spPr>
        <p:txBody>
          <a:bodyPr wrap="square" lIns="0" tIns="0" rIns="0" bIns="0" rtlCol="0" anchor="t"/>
          <a:lstStyle/>
          <a:p>
            <a:pPr algn="l" indent="0" marL="0">
              <a:lnSpc>
                <a:spcPct val="104000"/>
              </a:lnSpc>
              <a:buNone/>
            </a:pPr>
            <a:r>
              <a:rPr lang="en-US" sz="1750" b="1" dirty="0">
                <a:solidFill>
                  <a:srgbClr val="71D5DD"/>
                </a:solidFill>
                <a:latin typeface="Arial" pitchFamily="34" charset="0"/>
                <a:ea typeface="Arial" pitchFamily="34" charset="-122"/>
                <a:cs typeface="Arial" pitchFamily="34" charset="-120"/>
              </a:rPr>
              <a:t>SYMBOLS</a:t>
            </a:r>
            <a:endParaRPr lang="en-US" sz="1750" dirty="0"/>
          </a:p>
        </p:txBody>
      </p:sp>
      <p:sp>
        <p:nvSpPr>
          <p:cNvPr id="13" name="Text 11"/>
          <p:cNvSpPr txBox="1"/>
          <p:nvPr/>
        </p:nvSpPr>
        <p:spPr>
          <a:xfrm>
            <a:off x="4524248" y="2642616"/>
            <a:ext cx="3134360" cy="2267712"/>
          </a:xfrm>
          <a:prstGeom prst="rect">
            <a:avLst/>
          </a:prstGeom>
          <a:noFill/>
          <a:ln/>
        </p:spPr>
        <p:txBody>
          <a:bodyPr wrap="square" lIns="0" tIns="0" rIns="0" bIns="0" rtlCol="0" anchor="t"/>
          <a:lstStyle/>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Definitions and</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references.</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Names, values, and</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binding information.</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Labels are not</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themselves instructions.</a:t>
            </a:r>
            <a:endParaRPr lang="en-US" sz="2200" dirty="0"/>
          </a:p>
        </p:txBody>
      </p:sp>
      <p:sp>
        <p:nvSpPr>
          <p:cNvPr id="14" name="Shape 12"/>
          <p:cNvSpPr/>
          <p:nvPr/>
        </p:nvSpPr>
        <p:spPr>
          <a:xfrm>
            <a:off x="8079232" y="1764792"/>
            <a:ext cx="3564128" cy="3310128"/>
          </a:xfrm>
          <a:prstGeom prst="rect">
            <a:avLst/>
          </a:prstGeom>
          <a:solidFill>
            <a:srgbClr val="142238"/>
          </a:solidFill>
          <a:ln w="8890">
            <a:solidFill>
              <a:srgbClr val="2B415A"/>
            </a:solidFill>
            <a:prstDash val="solid"/>
          </a:ln>
        </p:spPr>
        <p:txBody>
          <a:bodyPr/>
          <a:p/>
        </p:txBody>
      </p:sp>
      <p:sp>
        <p:nvSpPr>
          <p:cNvPr id="15" name="Shape 13"/>
          <p:cNvSpPr/>
          <p:nvPr/>
        </p:nvSpPr>
        <p:spPr>
          <a:xfrm>
            <a:off x="8079232" y="1764792"/>
            <a:ext cx="41148" cy="3310128"/>
          </a:xfrm>
          <a:prstGeom prst="rect">
            <a:avLst/>
          </a:prstGeom>
          <a:solidFill>
            <a:srgbClr val="71D5DD"/>
          </a:solidFill>
          <a:ln w="8890">
            <a:solidFill>
              <a:srgbClr val="71D5DD"/>
            </a:solidFill>
            <a:prstDash val="solid"/>
          </a:ln>
        </p:spPr>
        <p:txBody>
          <a:bodyPr/>
          <a:p/>
        </p:txBody>
      </p:sp>
      <p:sp>
        <p:nvSpPr>
          <p:cNvPr id="16" name="Text 14"/>
          <p:cNvSpPr txBox="1"/>
          <p:nvPr/>
        </p:nvSpPr>
        <p:spPr>
          <a:xfrm>
            <a:off x="8289544" y="1975104"/>
            <a:ext cx="3134360" cy="557784"/>
          </a:xfrm>
          <a:prstGeom prst="rect">
            <a:avLst/>
          </a:prstGeom>
          <a:noFill/>
          <a:ln/>
        </p:spPr>
        <p:txBody>
          <a:bodyPr wrap="square" lIns="0" tIns="0" rIns="0" bIns="0" rtlCol="0" anchor="t"/>
          <a:lstStyle/>
          <a:p>
            <a:pPr algn="l" indent="0" marL="0">
              <a:lnSpc>
                <a:spcPct val="104000"/>
              </a:lnSpc>
              <a:buNone/>
            </a:pPr>
            <a:r>
              <a:rPr lang="en-US" sz="1750" b="1" dirty="0">
                <a:solidFill>
                  <a:srgbClr val="71D5DD"/>
                </a:solidFill>
                <a:latin typeface="Arial" pitchFamily="34" charset="0"/>
                <a:ea typeface="Arial" pitchFamily="34" charset="-122"/>
                <a:cs typeface="Arial" pitchFamily="34" charset="-120"/>
              </a:rPr>
              <a:t>RELOCATIONS</a:t>
            </a:r>
            <a:endParaRPr lang="en-US" sz="1750" dirty="0"/>
          </a:p>
        </p:txBody>
      </p:sp>
      <p:sp>
        <p:nvSpPr>
          <p:cNvPr id="17" name="Text 15"/>
          <p:cNvSpPr txBox="1"/>
          <p:nvPr/>
        </p:nvSpPr>
        <p:spPr>
          <a:xfrm>
            <a:off x="8289544" y="2642616"/>
            <a:ext cx="3134360" cy="2267712"/>
          </a:xfrm>
          <a:prstGeom prst="rect">
            <a:avLst/>
          </a:prstGeom>
          <a:noFill/>
          <a:ln/>
        </p:spPr>
        <p:txBody>
          <a:bodyPr wrap="square" lIns="0" tIns="0" rIns="0" bIns="0" rtlCol="0" anchor="t"/>
          <a:lstStyle/>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Records of</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address-dependent</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work.</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A later stage may finish</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the reference.</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Exact encodings are</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target-specific.</a:t>
            </a:r>
            <a:endParaRPr lang="en-US" sz="2200" dirty="0"/>
          </a:p>
        </p:txBody>
      </p:sp>
      <p:sp>
        <p:nvSpPr>
          <p:cNvPr id="18" name="Text 16"/>
          <p:cNvSpPr txBox="1"/>
          <p:nvPr/>
        </p:nvSpPr>
        <p:spPr>
          <a:xfrm>
            <a:off x="548640" y="5193792"/>
            <a:ext cx="11094720" cy="274320"/>
          </a:xfrm>
          <a:prstGeom prst="rect">
            <a:avLst/>
          </a:prstGeom>
          <a:noFill/>
          <a:ln/>
        </p:spPr>
        <p:txBody>
          <a:bodyPr wrap="square" lIns="0" tIns="0" rIns="0" bIns="0" rtlCol="0" anchor="t"/>
          <a:lstStyle/>
          <a:p>
            <a:pPr algn="l" indent="0" marL="0">
              <a:lnSpc>
                <a:spcPct val="104000"/>
              </a:lnSpc>
              <a:buNone/>
            </a:pPr>
            <a:r>
              <a:rPr lang="en-US" sz="1140" dirty="0">
                <a:solidFill>
                  <a:srgbClr val="B3C3D6"/>
                </a:solidFill>
                <a:latin typeface="Arial" pitchFamily="34" charset="0"/>
                <a:ea typeface="Arial" pitchFamily="34" charset="-122"/>
                <a:cs typeface="Arial" pitchFamily="34" charset="-120"/>
              </a:rPr>
              <a:t>An object file can be valid even though it is not yet a complete executable.</a:t>
            </a:r>
            <a:endParaRPr lang="en-US" sz="1140" dirty="0"/>
          </a:p>
        </p:txBody>
      </p:sp>
      <p:sp>
        <p:nvSpPr>
          <p:cNvPr id="23" name="Text 21"/>
          <p:cNvSpPr txBox="1"/>
          <p:nvPr/>
        </p:nvSpPr>
        <p:spPr>
          <a:xfrm>
            <a:off x="548640" y="6601968"/>
            <a:ext cx="10241280" cy="128016"/>
          </a:xfrm>
          <a:prstGeom prst="rect">
            <a:avLst/>
          </a:prstGeom>
          <a:noFill/>
          <a:ln/>
        </p:spPr>
        <p:txBody>
          <a:bodyPr wrap="square" lIns="0" tIns="0" rIns="0" bIns="0" rtlCol="0" anchor="t"/>
          <a:lstStyle/>
          <a:p>
            <a:pPr algn="l" indent="0" marL="0">
              <a:lnSpc>
                <a:spcPct val="104000"/>
              </a:lnSpc>
              <a:buNone/>
            </a:pPr>
            <a:r>
              <a:rPr lang="en-US" sz="830" dirty="0">
                <a:solidFill>
                  <a:srgbClr val="B3C3D6"/>
                </a:solidFill>
                <a:latin typeface="Arial" pitchFamily="34" charset="0"/>
                <a:ea typeface="Arial" pitchFamily="34" charset="-122"/>
                <a:cs typeface="Arial" pitchFamily="34" charset="-120"/>
              </a:rPr>
              <a:t>Source: original 10, 11 • [AS, ELF]</a:t>
            </a:r>
            <a:endParaRPr lang="en-US" sz="830" dirty="0"/>
          </a:p>
        </p:txBody>
      </p:sp>
      <p:sp>
        <p:nvSpPr>
          <p:cNvPr id="24" name="Text 22"/>
          <p:cNvSpPr txBox="1"/>
          <p:nvPr/>
        </p:nvSpPr>
        <p:spPr>
          <a:xfrm>
            <a:off x="10917936" y="6565392"/>
            <a:ext cx="722376" cy="219456"/>
          </a:xfrm>
          <a:prstGeom prst="rect">
            <a:avLst/>
          </a:prstGeom>
          <a:noFill/>
          <a:ln/>
        </p:spPr>
        <p:txBody>
          <a:bodyPr wrap="square" lIns="0" tIns="0" rIns="0" bIns="0" rtlCol="0" anchor="t"/>
          <a:lstStyle/>
          <a:p>
            <a:pPr algn="r" indent="0" marL="0">
              <a:lnSpc>
                <a:spcPct val="104000"/>
              </a:lnSpc>
              <a:buNone/>
            </a:pPr>
            <a:r>
              <a:rPr lang="en-US" sz="1050" dirty="0">
                <a:solidFill>
                  <a:srgbClr val="B3C3D6"/>
                </a:solidFill>
                <a:latin typeface="Arial" pitchFamily="34" charset="0"/>
                <a:ea typeface="Arial" pitchFamily="34" charset="-122"/>
                <a:cs typeface="Arial" pitchFamily="34" charset="-120"/>
              </a:rPr>
              <a:t>22 / 64</a:t>
            </a:r>
            <a:endParaRPr lang="en-US" sz="1050" dirty="0"/>
          </a:p>
        </p:txBody>
      </p:sp>
      <p:sp>
        <p:nvSpPr>
          <p:cNvPr id="25" name="Shape 23"/>
          <p:cNvSpPr/>
          <p:nvPr/>
        </p:nvSpPr>
        <p:spPr>
          <a:xfrm>
            <a:off x="0" y="6834226"/>
            <a:ext cx="12192000" cy="23774"/>
          </a:xfrm>
          <a:prstGeom prst="rect">
            <a:avLst/>
          </a:prstGeom>
          <a:solidFill>
            <a:srgbClr val="2B415A"/>
          </a:solidFill>
          <a:ln w="8890">
            <a:solidFill>
              <a:srgbClr val="2B415A"/>
            </a:solidFill>
            <a:prstDash val="solid"/>
          </a:ln>
        </p:spPr>
        <p:txBody>
          <a:bodyPr/>
          <a:p/>
        </p:txBody>
      </p:sp>
      <p:sp>
        <p:nvSpPr>
          <p:cNvPr id="26" name="Shape 24"/>
          <p:cNvSpPr/>
          <p:nvPr/>
        </p:nvSpPr>
        <p:spPr>
          <a:xfrm>
            <a:off x="0" y="6834226"/>
            <a:ext cx="4191000" cy="23774"/>
          </a:xfrm>
          <a:prstGeom prst="rect">
            <a:avLst/>
          </a:prstGeom>
          <a:solidFill>
            <a:srgbClr val="71D5DD"/>
          </a:solidFill>
          <a:ln w="8890">
            <a:solidFill>
              <a:srgbClr val="71D5DD"/>
            </a:solidFill>
            <a:prstDash val="solid"/>
          </a:ln>
        </p:spPr>
        <p:txBody>
          <a:body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219456"/>
            <a:ext cx="9875520" cy="192024"/>
          </a:xfrm>
          <a:prstGeom prst="rect">
            <a:avLst/>
          </a:prstGeom>
          <a:noFill/>
          <a:ln/>
        </p:spPr>
        <p:txBody>
          <a:bodyPr wrap="square" lIns="0" tIns="0" rIns="0" bIns="0" rtlCol="0" anchor="t"/>
          <a:lstStyle/>
          <a:p>
            <a:pPr algn="l" indent="0" marL="0">
              <a:lnSpc>
                <a:spcPct val="104000"/>
              </a:lnSpc>
              <a:buNone/>
            </a:pPr>
            <a:r>
              <a:rPr lang="en-US" sz="970" b="1" spc="135" kern="0" dirty="0">
                <a:solidFill>
                  <a:srgbClr val="B3C3D6"/>
                </a:solidFill>
                <a:latin typeface="Arial" pitchFamily="34" charset="0"/>
                <a:ea typeface="Arial" pitchFamily="34" charset="-122"/>
                <a:cs typeface="Arial" pitchFamily="34" charset="-120"/>
              </a:rPr>
              <a:t>SYSTEMS PROGRAMMING AND MACHINE ORGANIZATION</a:t>
            </a:r>
            <a:endParaRPr lang="en-US" sz="970" dirty="0"/>
          </a:p>
        </p:txBody>
      </p:sp>
      <p:sp>
        <p:nvSpPr>
          <p:cNvPr id="3" name="Text 1"/>
          <p:cNvSpPr txBox="1"/>
          <p:nvPr/>
        </p:nvSpPr>
        <p:spPr>
          <a:xfrm>
            <a:off x="9601200" y="219456"/>
            <a:ext cx="2039112" cy="192024"/>
          </a:xfrm>
          <a:prstGeom prst="rect">
            <a:avLst/>
          </a:prstGeom>
          <a:noFill/>
          <a:ln/>
        </p:spPr>
        <p:txBody>
          <a:bodyPr wrap="square" lIns="0" tIns="0" rIns="0" bIns="0" rtlCol="0" anchor="t"/>
          <a:lstStyle/>
          <a:p>
            <a:pPr algn="r" indent="0" marL="0">
              <a:lnSpc>
                <a:spcPct val="104000"/>
              </a:lnSpc>
              <a:buNone/>
            </a:pPr>
            <a:r>
              <a:rPr lang="en-US" sz="970" b="1" dirty="0">
                <a:solidFill>
                  <a:srgbClr val="B3C3D6"/>
                </a:solidFill>
                <a:latin typeface="Arial" pitchFamily="34" charset="0"/>
                <a:ea typeface="Arial" pitchFamily="34" charset="-122"/>
                <a:cs typeface="Arial" pitchFamily="34" charset="-120"/>
              </a:rPr>
              <a:t>CHARLES DORNER</a:t>
            </a:r>
            <a:endParaRPr lang="en-US" sz="970" dirty="0"/>
          </a:p>
        </p:txBody>
      </p:sp>
      <p:sp>
        <p:nvSpPr>
          <p:cNvPr id="4" name="Text 2"/>
          <p:cNvSpPr txBox="1"/>
          <p:nvPr/>
        </p:nvSpPr>
        <p:spPr>
          <a:xfrm>
            <a:off x="548640" y="566928"/>
            <a:ext cx="11109960" cy="237744"/>
          </a:xfrm>
          <a:prstGeom prst="rect">
            <a:avLst/>
          </a:prstGeom>
          <a:noFill/>
          <a:ln/>
        </p:spPr>
        <p:txBody>
          <a:bodyPr wrap="square" lIns="0" tIns="0" rIns="0" bIns="0" rtlCol="0" anchor="t"/>
          <a:lstStyle/>
          <a:p>
            <a:pPr algn="l" indent="0" marL="0">
              <a:lnSpc>
                <a:spcPct val="104000"/>
              </a:lnSpc>
              <a:buNone/>
            </a:pPr>
            <a:r>
              <a:rPr lang="en-US" sz="1150" b="1" dirty="0">
                <a:solidFill>
                  <a:srgbClr val="71D5DD"/>
                </a:solidFill>
                <a:latin typeface="Arial" pitchFamily="34" charset="0"/>
                <a:ea typeface="Arial" pitchFamily="34" charset="-122"/>
                <a:cs typeface="Arial" pitchFamily="34" charset="-120"/>
              </a:rPr>
              <a:t>1.2.5 · SYMBOLS, SECTIONS &amp; LIBRARIES</a:t>
            </a:r>
            <a:endParaRPr lang="en-US" sz="1150" dirty="0"/>
          </a:p>
        </p:txBody>
      </p:sp>
      <p:sp>
        <p:nvSpPr>
          <p:cNvPr id="5" name="Text 3"/>
          <p:cNvSpPr txBox="1"/>
          <p:nvPr/>
        </p:nvSpPr>
        <p:spPr>
          <a:xfrm>
            <a:off x="548640" y="941832"/>
            <a:ext cx="11091672" cy="676656"/>
          </a:xfrm>
          <a:prstGeom prst="rect">
            <a:avLst/>
          </a:prstGeom>
          <a:noFill/>
          <a:ln/>
        </p:spPr>
        <p:txBody>
          <a:bodyPr wrap="square" lIns="0" tIns="0" rIns="0" bIns="0" rtlCol="0" anchor="t"/>
          <a:lstStyle/>
          <a:p>
            <a:pPr algn="l" indent="0" marL="0">
              <a:lnSpc>
                <a:spcPct val="104000"/>
              </a:lnSpc>
              <a:buNone/>
            </a:pPr>
            <a:r>
              <a:rPr lang="en-US" sz="3150" b="1" dirty="0">
                <a:solidFill>
                  <a:srgbClr val="F4F7FB"/>
                </a:solidFill>
                <a:latin typeface="Arial" pitchFamily="34" charset="0"/>
                <a:ea typeface="Arial" pitchFamily="34" charset="-122"/>
                <a:cs typeface="Arial" pitchFamily="34" charset="-120"/>
              </a:rPr>
              <a:t>Linking connects separate compiled responsibilities</a:t>
            </a:r>
            <a:endParaRPr lang="en-US" sz="3150" dirty="0"/>
          </a:p>
        </p:txBody>
      </p:sp>
      <p:sp>
        <p:nvSpPr>
          <p:cNvPr id="6" name="Shape 4"/>
          <p:cNvSpPr/>
          <p:nvPr/>
        </p:nvSpPr>
        <p:spPr>
          <a:xfrm>
            <a:off x="548640" y="1883664"/>
            <a:ext cx="2058010" cy="941832"/>
          </a:xfrm>
          <a:prstGeom prst="rect">
            <a:avLst/>
          </a:prstGeom>
          <a:solidFill>
            <a:srgbClr val="172940"/>
          </a:solidFill>
          <a:ln w="8890">
            <a:solidFill>
              <a:srgbClr val="2B415A"/>
            </a:solidFill>
            <a:prstDash val="solid"/>
          </a:ln>
        </p:spPr>
        <p:txBody>
          <a:bodyPr/>
          <a:p/>
        </p:txBody>
      </p:sp>
      <p:sp>
        <p:nvSpPr>
          <p:cNvPr id="7" name="Text 5"/>
          <p:cNvSpPr txBox="1"/>
          <p:nvPr/>
        </p:nvSpPr>
        <p:spPr>
          <a:xfrm>
            <a:off x="640080" y="2084832"/>
            <a:ext cx="1875130" cy="548640"/>
          </a:xfrm>
          <a:prstGeom prst="rect">
            <a:avLst/>
          </a:prstGeom>
          <a:noFill/>
          <a:ln/>
        </p:spPr>
        <p:txBody>
          <a:bodyPr wrap="square" lIns="0" tIns="0" rIns="0" bIns="0" rtlCol="0" anchor="t"/>
          <a:lstStyle/>
          <a:p>
            <a:pPr algn="ctr" indent="0" marL="0">
              <a:lnSpc>
                <a:spcPct val="104000"/>
              </a:lnSpc>
              <a:buNone/>
            </a:pPr>
            <a:r>
              <a:rPr lang="en-US" sz="1800" b="1" dirty="0">
                <a:solidFill>
                  <a:srgbClr val="F4F7FB"/>
                </a:solidFill>
                <a:latin typeface="Arial" pitchFamily="34" charset="0"/>
                <a:ea typeface="Arial" pitchFamily="34" charset="-122"/>
                <a:cs typeface="Arial" pitchFamily="34" charset="-120"/>
              </a:rPr>
              <a:t>main.o</a:t>
            </a:r>
            <a:endParaRPr lang="en-US" sz="1800" dirty="0"/>
          </a:p>
        </p:txBody>
      </p:sp>
      <p:sp>
        <p:nvSpPr>
          <p:cNvPr id="8" name="Shape 6"/>
          <p:cNvSpPr/>
          <p:nvPr/>
        </p:nvSpPr>
        <p:spPr>
          <a:xfrm>
            <a:off x="2629510" y="2354580"/>
            <a:ext cx="155448" cy="0"/>
          </a:xfrm>
          <a:prstGeom prst="line">
            <a:avLst/>
          </a:prstGeom>
          <a:noFill/>
          <a:ln w="19050">
            <a:solidFill>
              <a:srgbClr val="71D5DD"/>
            </a:solidFill>
            <a:prstDash val="solid"/>
            <a:headEnd type="none"/>
            <a:tailEnd type="triangle"/>
          </a:ln>
        </p:spPr>
        <p:txBody>
          <a:bodyPr/>
          <a:p/>
        </p:txBody>
      </p:sp>
      <p:sp>
        <p:nvSpPr>
          <p:cNvPr id="9" name="Shape 7"/>
          <p:cNvSpPr/>
          <p:nvPr/>
        </p:nvSpPr>
        <p:spPr>
          <a:xfrm>
            <a:off x="2807818" y="1883664"/>
            <a:ext cx="2058010" cy="941832"/>
          </a:xfrm>
          <a:prstGeom prst="rect">
            <a:avLst/>
          </a:prstGeom>
          <a:solidFill>
            <a:srgbClr val="172940"/>
          </a:solidFill>
          <a:ln w="8890">
            <a:solidFill>
              <a:srgbClr val="2B415A"/>
            </a:solidFill>
            <a:prstDash val="solid"/>
          </a:ln>
        </p:spPr>
        <p:txBody>
          <a:bodyPr/>
          <a:p/>
        </p:txBody>
      </p:sp>
      <p:sp>
        <p:nvSpPr>
          <p:cNvPr id="10" name="Text 8"/>
          <p:cNvSpPr txBox="1"/>
          <p:nvPr/>
        </p:nvSpPr>
        <p:spPr>
          <a:xfrm>
            <a:off x="2899258" y="2084832"/>
            <a:ext cx="1875130" cy="548640"/>
          </a:xfrm>
          <a:prstGeom prst="rect">
            <a:avLst/>
          </a:prstGeom>
          <a:noFill/>
          <a:ln/>
        </p:spPr>
        <p:txBody>
          <a:bodyPr wrap="square" lIns="0" tIns="0" rIns="0" bIns="0" rtlCol="0" anchor="t"/>
          <a:lstStyle/>
          <a:p>
            <a:pPr algn="ctr" indent="0" marL="0">
              <a:lnSpc>
                <a:spcPct val="104000"/>
              </a:lnSpc>
              <a:buNone/>
            </a:pPr>
            <a:r>
              <a:rPr lang="en-US" sz="1800" b="1" dirty="0">
                <a:solidFill>
                  <a:srgbClr val="F4F7FB"/>
                </a:solidFill>
                <a:latin typeface="Arial" pitchFamily="34" charset="0"/>
                <a:ea typeface="Arial" pitchFamily="34" charset="-122"/>
                <a:cs typeface="Arial" pitchFamily="34" charset="-120"/>
              </a:rPr>
              <a:t>sum.o + libraries</a:t>
            </a:r>
            <a:endParaRPr lang="en-US" sz="1800" dirty="0"/>
          </a:p>
        </p:txBody>
      </p:sp>
      <p:sp>
        <p:nvSpPr>
          <p:cNvPr id="11" name="Shape 9"/>
          <p:cNvSpPr/>
          <p:nvPr/>
        </p:nvSpPr>
        <p:spPr>
          <a:xfrm>
            <a:off x="4888687" y="2354580"/>
            <a:ext cx="155448" cy="0"/>
          </a:xfrm>
          <a:prstGeom prst="line">
            <a:avLst/>
          </a:prstGeom>
          <a:noFill/>
          <a:ln w="19050">
            <a:solidFill>
              <a:srgbClr val="71D5DD"/>
            </a:solidFill>
            <a:prstDash val="solid"/>
            <a:headEnd type="none"/>
            <a:tailEnd type="triangle"/>
          </a:ln>
        </p:spPr>
        <p:txBody>
          <a:bodyPr/>
          <a:p/>
        </p:txBody>
      </p:sp>
      <p:sp>
        <p:nvSpPr>
          <p:cNvPr id="12" name="Shape 10"/>
          <p:cNvSpPr/>
          <p:nvPr/>
        </p:nvSpPr>
        <p:spPr>
          <a:xfrm>
            <a:off x="5066995" y="1883664"/>
            <a:ext cx="2058010" cy="941832"/>
          </a:xfrm>
          <a:prstGeom prst="rect">
            <a:avLst/>
          </a:prstGeom>
          <a:solidFill>
            <a:srgbClr val="172940"/>
          </a:solidFill>
          <a:ln w="8890">
            <a:solidFill>
              <a:srgbClr val="2B415A"/>
            </a:solidFill>
            <a:prstDash val="solid"/>
          </a:ln>
        </p:spPr>
        <p:txBody>
          <a:bodyPr/>
          <a:p/>
        </p:txBody>
      </p:sp>
      <p:sp>
        <p:nvSpPr>
          <p:cNvPr id="13" name="Text 11"/>
          <p:cNvSpPr txBox="1"/>
          <p:nvPr/>
        </p:nvSpPr>
        <p:spPr>
          <a:xfrm>
            <a:off x="5158435" y="2084832"/>
            <a:ext cx="1875130" cy="548640"/>
          </a:xfrm>
          <a:prstGeom prst="rect">
            <a:avLst/>
          </a:prstGeom>
          <a:noFill/>
          <a:ln/>
        </p:spPr>
        <p:txBody>
          <a:bodyPr wrap="square" lIns="0" tIns="0" rIns="0" bIns="0" rtlCol="0" anchor="t"/>
          <a:lstStyle/>
          <a:p>
            <a:pPr algn="ctr" indent="0" marL="0">
              <a:lnSpc>
                <a:spcPct val="104000"/>
              </a:lnSpc>
              <a:buNone/>
            </a:pPr>
            <a:r>
              <a:rPr lang="en-US" sz="1800" b="1" dirty="0">
                <a:solidFill>
                  <a:srgbClr val="F4F7FB"/>
                </a:solidFill>
                <a:latin typeface="Arial" pitchFamily="34" charset="0"/>
                <a:ea typeface="Arial" pitchFamily="34" charset="-122"/>
                <a:cs typeface="Arial" pitchFamily="34" charset="-120"/>
              </a:rPr>
              <a:t>Resolve</a:t>
            </a:r>
            <a:endParaRPr lang="en-US" sz="1800" dirty="0"/>
          </a:p>
          <a:p>
            <a:pPr algn="ctr" indent="0" marL="0">
              <a:lnSpc>
                <a:spcPct val="104000"/>
              </a:lnSpc>
              <a:buNone/>
            </a:pPr>
            <a:r>
              <a:rPr lang="en-US" sz="1800" b="1" dirty="0">
                <a:solidFill>
                  <a:srgbClr val="F4F7FB"/>
                </a:solidFill>
                <a:latin typeface="Arial" pitchFamily="34" charset="0"/>
                <a:ea typeface="Arial" pitchFamily="34" charset="-122"/>
                <a:cs typeface="Arial" pitchFamily="34" charset="-120"/>
              </a:rPr>
              <a:t>symbols</a:t>
            </a:r>
            <a:endParaRPr lang="en-US" sz="1800" dirty="0"/>
          </a:p>
        </p:txBody>
      </p:sp>
      <p:sp>
        <p:nvSpPr>
          <p:cNvPr id="14" name="Shape 12"/>
          <p:cNvSpPr/>
          <p:nvPr/>
        </p:nvSpPr>
        <p:spPr>
          <a:xfrm>
            <a:off x="7147865" y="2354580"/>
            <a:ext cx="155448" cy="0"/>
          </a:xfrm>
          <a:prstGeom prst="line">
            <a:avLst/>
          </a:prstGeom>
          <a:noFill/>
          <a:ln w="19050">
            <a:solidFill>
              <a:srgbClr val="71D5DD"/>
            </a:solidFill>
            <a:prstDash val="solid"/>
            <a:headEnd type="none"/>
            <a:tailEnd type="triangle"/>
          </a:ln>
        </p:spPr>
        <p:txBody>
          <a:bodyPr/>
          <a:p/>
        </p:txBody>
      </p:sp>
      <p:sp>
        <p:nvSpPr>
          <p:cNvPr id="15" name="Shape 13"/>
          <p:cNvSpPr/>
          <p:nvPr/>
        </p:nvSpPr>
        <p:spPr>
          <a:xfrm>
            <a:off x="7326173" y="1883664"/>
            <a:ext cx="2058010" cy="941832"/>
          </a:xfrm>
          <a:prstGeom prst="rect">
            <a:avLst/>
          </a:prstGeom>
          <a:solidFill>
            <a:srgbClr val="172940"/>
          </a:solidFill>
          <a:ln w="8890">
            <a:solidFill>
              <a:srgbClr val="2B415A"/>
            </a:solidFill>
            <a:prstDash val="solid"/>
          </a:ln>
        </p:spPr>
        <p:txBody>
          <a:bodyPr/>
          <a:p/>
        </p:txBody>
      </p:sp>
      <p:sp>
        <p:nvSpPr>
          <p:cNvPr id="16" name="Text 14"/>
          <p:cNvSpPr txBox="1"/>
          <p:nvPr/>
        </p:nvSpPr>
        <p:spPr>
          <a:xfrm>
            <a:off x="7417613" y="2084832"/>
            <a:ext cx="1875130" cy="548640"/>
          </a:xfrm>
          <a:prstGeom prst="rect">
            <a:avLst/>
          </a:prstGeom>
          <a:noFill/>
          <a:ln/>
        </p:spPr>
        <p:txBody>
          <a:bodyPr wrap="square" lIns="0" tIns="0" rIns="0" bIns="0" rtlCol="0" anchor="t"/>
          <a:lstStyle/>
          <a:p>
            <a:pPr algn="ctr" indent="0" marL="0">
              <a:lnSpc>
                <a:spcPct val="104000"/>
              </a:lnSpc>
              <a:buNone/>
            </a:pPr>
            <a:r>
              <a:rPr lang="en-US" sz="1800" b="1" dirty="0">
                <a:solidFill>
                  <a:srgbClr val="F4F7FB"/>
                </a:solidFill>
                <a:latin typeface="Arial" pitchFamily="34" charset="0"/>
                <a:ea typeface="Arial" pitchFamily="34" charset="-122"/>
                <a:cs typeface="Arial" pitchFamily="34" charset="-120"/>
              </a:rPr>
              <a:t>Lay out sections</a:t>
            </a:r>
            <a:endParaRPr lang="en-US" sz="1800" dirty="0"/>
          </a:p>
        </p:txBody>
      </p:sp>
      <p:sp>
        <p:nvSpPr>
          <p:cNvPr id="17" name="Shape 15"/>
          <p:cNvSpPr/>
          <p:nvPr/>
        </p:nvSpPr>
        <p:spPr>
          <a:xfrm>
            <a:off x="9407042" y="2354580"/>
            <a:ext cx="155448" cy="0"/>
          </a:xfrm>
          <a:prstGeom prst="line">
            <a:avLst/>
          </a:prstGeom>
          <a:noFill/>
          <a:ln w="19050">
            <a:solidFill>
              <a:srgbClr val="71D5DD"/>
            </a:solidFill>
            <a:prstDash val="solid"/>
            <a:headEnd type="none"/>
            <a:tailEnd type="triangle"/>
          </a:ln>
        </p:spPr>
        <p:txBody>
          <a:bodyPr/>
          <a:p/>
        </p:txBody>
      </p:sp>
      <p:sp>
        <p:nvSpPr>
          <p:cNvPr id="18" name="Shape 16"/>
          <p:cNvSpPr/>
          <p:nvPr/>
        </p:nvSpPr>
        <p:spPr>
          <a:xfrm>
            <a:off x="9585350" y="1883664"/>
            <a:ext cx="2058010" cy="941832"/>
          </a:xfrm>
          <a:prstGeom prst="rect">
            <a:avLst/>
          </a:prstGeom>
          <a:solidFill>
            <a:srgbClr val="172940"/>
          </a:solidFill>
          <a:ln w="8890">
            <a:solidFill>
              <a:srgbClr val="2B415A"/>
            </a:solidFill>
            <a:prstDash val="solid"/>
          </a:ln>
        </p:spPr>
        <p:txBody>
          <a:bodyPr/>
          <a:p/>
        </p:txBody>
      </p:sp>
      <p:sp>
        <p:nvSpPr>
          <p:cNvPr id="19" name="Text 17"/>
          <p:cNvSpPr txBox="1"/>
          <p:nvPr/>
        </p:nvSpPr>
        <p:spPr>
          <a:xfrm>
            <a:off x="9676790" y="2084832"/>
            <a:ext cx="1875130" cy="548640"/>
          </a:xfrm>
          <a:prstGeom prst="rect">
            <a:avLst/>
          </a:prstGeom>
          <a:noFill/>
          <a:ln/>
        </p:spPr>
        <p:txBody>
          <a:bodyPr wrap="square" lIns="0" tIns="0" rIns="0" bIns="0" rtlCol="0" anchor="t"/>
          <a:lstStyle/>
          <a:p>
            <a:pPr algn="ctr" indent="0" marL="0">
              <a:lnSpc>
                <a:spcPct val="104000"/>
              </a:lnSpc>
              <a:buNone/>
            </a:pPr>
            <a:r>
              <a:rPr lang="en-US" sz="1800" b="1" dirty="0">
                <a:solidFill>
                  <a:srgbClr val="F4F7FB"/>
                </a:solidFill>
                <a:latin typeface="Arial" pitchFamily="34" charset="0"/>
                <a:ea typeface="Arial" pitchFamily="34" charset="-122"/>
                <a:cs typeface="Arial" pitchFamily="34" charset="-120"/>
              </a:rPr>
              <a:t>Executable</a:t>
            </a:r>
            <a:endParaRPr lang="en-US" sz="1800" dirty="0"/>
          </a:p>
        </p:txBody>
      </p:sp>
      <p:sp>
        <p:nvSpPr>
          <p:cNvPr id="20" name="Text 18"/>
          <p:cNvSpPr txBox="1"/>
          <p:nvPr/>
        </p:nvSpPr>
        <p:spPr>
          <a:xfrm>
            <a:off x="566928" y="3191256"/>
            <a:ext cx="384048" cy="237744"/>
          </a:xfrm>
          <a:prstGeom prst="rect">
            <a:avLst/>
          </a:prstGeom>
          <a:noFill/>
          <a:ln/>
        </p:spPr>
        <p:txBody>
          <a:bodyPr wrap="square" lIns="0" tIns="0" rIns="0" bIns="0" rtlCol="0" anchor="t"/>
          <a:lstStyle/>
          <a:p>
            <a:pPr algn="l" indent="0" marL="0">
              <a:lnSpc>
                <a:spcPct val="104000"/>
              </a:lnSpc>
              <a:buNone/>
            </a:pPr>
            <a:r>
              <a:rPr lang="en-US" sz="1350" b="1" dirty="0">
                <a:solidFill>
                  <a:srgbClr val="71D5DD"/>
                </a:solidFill>
                <a:latin typeface="Arial" pitchFamily="34" charset="0"/>
                <a:ea typeface="Arial" pitchFamily="34" charset="-122"/>
                <a:cs typeface="Arial" pitchFamily="34" charset="-120"/>
              </a:rPr>
              <a:t>01</a:t>
            </a:r>
            <a:endParaRPr lang="en-US" sz="1350" dirty="0"/>
          </a:p>
        </p:txBody>
      </p:sp>
      <p:sp>
        <p:nvSpPr>
          <p:cNvPr id="21" name="Text 19"/>
          <p:cNvSpPr txBox="1"/>
          <p:nvPr/>
        </p:nvSpPr>
        <p:spPr>
          <a:xfrm>
            <a:off x="1124712" y="3136392"/>
            <a:ext cx="10515600" cy="576072"/>
          </a:xfrm>
          <a:prstGeom prst="rect">
            <a:avLst/>
          </a:prstGeom>
          <a:noFill/>
          <a:ln/>
        </p:spPr>
        <p:txBody>
          <a:bodyPr wrap="square" lIns="0" tIns="0" rIns="0" bIns="0" rtlCol="0" anchor="t"/>
          <a:lstStyle/>
          <a:p>
            <a:pPr algn="l" indent="0" marL="0">
              <a:lnSpc>
                <a:spcPct val="104000"/>
              </a:lnSpc>
              <a:buNone/>
            </a:pPr>
            <a:r>
              <a:rPr lang="en-US" sz="2150" dirty="0">
                <a:solidFill>
                  <a:srgbClr val="F4F7FB"/>
                </a:solidFill>
                <a:latin typeface="Arial" pitchFamily="34" charset="0"/>
                <a:ea typeface="Arial" pitchFamily="34" charset="-122"/>
                <a:cs typeface="Arial" pitchFamily="34" charset="-120"/>
              </a:rPr>
              <a:t>Combine required definitions and references.</a:t>
            </a:r>
            <a:endParaRPr lang="en-US" sz="2150" dirty="0"/>
          </a:p>
        </p:txBody>
      </p:sp>
      <p:sp>
        <p:nvSpPr>
          <p:cNvPr id="22" name="Text 20"/>
          <p:cNvSpPr txBox="1"/>
          <p:nvPr/>
        </p:nvSpPr>
        <p:spPr>
          <a:xfrm>
            <a:off x="566928" y="3803904"/>
            <a:ext cx="384048" cy="237744"/>
          </a:xfrm>
          <a:prstGeom prst="rect">
            <a:avLst/>
          </a:prstGeom>
          <a:noFill/>
          <a:ln/>
        </p:spPr>
        <p:txBody>
          <a:bodyPr wrap="square" lIns="0" tIns="0" rIns="0" bIns="0" rtlCol="0" anchor="t"/>
          <a:lstStyle/>
          <a:p>
            <a:pPr algn="l" indent="0" marL="0">
              <a:lnSpc>
                <a:spcPct val="104000"/>
              </a:lnSpc>
              <a:buNone/>
            </a:pPr>
            <a:r>
              <a:rPr lang="en-US" sz="1350" b="1" dirty="0">
                <a:solidFill>
                  <a:srgbClr val="71D5DD"/>
                </a:solidFill>
                <a:latin typeface="Arial" pitchFamily="34" charset="0"/>
                <a:ea typeface="Arial" pitchFamily="34" charset="-122"/>
                <a:cs typeface="Arial" pitchFamily="34" charset="-120"/>
              </a:rPr>
              <a:t>02</a:t>
            </a:r>
            <a:endParaRPr lang="en-US" sz="1350" dirty="0"/>
          </a:p>
        </p:txBody>
      </p:sp>
      <p:sp>
        <p:nvSpPr>
          <p:cNvPr id="23" name="Text 21"/>
          <p:cNvSpPr txBox="1"/>
          <p:nvPr/>
        </p:nvSpPr>
        <p:spPr>
          <a:xfrm>
            <a:off x="1124712" y="3749040"/>
            <a:ext cx="10515600" cy="576072"/>
          </a:xfrm>
          <a:prstGeom prst="rect">
            <a:avLst/>
          </a:prstGeom>
          <a:noFill/>
          <a:ln/>
        </p:spPr>
        <p:txBody>
          <a:bodyPr wrap="square" lIns="0" tIns="0" rIns="0" bIns="0" rtlCol="0" anchor="t"/>
          <a:lstStyle/>
          <a:p>
            <a:pPr algn="l" indent="0" marL="0">
              <a:lnSpc>
                <a:spcPct val="104000"/>
              </a:lnSpc>
              <a:buNone/>
            </a:pPr>
            <a:r>
              <a:rPr lang="en-US" sz="2150" dirty="0">
                <a:solidFill>
                  <a:srgbClr val="F4F7FB"/>
                </a:solidFill>
                <a:latin typeface="Arial" pitchFamily="34" charset="0"/>
                <a:ea typeface="Arial" pitchFamily="34" charset="-122"/>
                <a:cs typeface="Arial" pitchFamily="34" charset="-120"/>
              </a:rPr>
              <a:t>Resolve address-dependent work under the binary format.</a:t>
            </a:r>
            <a:endParaRPr lang="en-US" sz="2150" dirty="0"/>
          </a:p>
        </p:txBody>
      </p:sp>
      <p:sp>
        <p:nvSpPr>
          <p:cNvPr id="24" name="Text 22"/>
          <p:cNvSpPr txBox="1"/>
          <p:nvPr/>
        </p:nvSpPr>
        <p:spPr>
          <a:xfrm>
            <a:off x="566928" y="4416552"/>
            <a:ext cx="384048" cy="237744"/>
          </a:xfrm>
          <a:prstGeom prst="rect">
            <a:avLst/>
          </a:prstGeom>
          <a:noFill/>
          <a:ln/>
        </p:spPr>
        <p:txBody>
          <a:bodyPr wrap="square" lIns="0" tIns="0" rIns="0" bIns="0" rtlCol="0" anchor="t"/>
          <a:lstStyle/>
          <a:p>
            <a:pPr algn="l" indent="0" marL="0">
              <a:lnSpc>
                <a:spcPct val="104000"/>
              </a:lnSpc>
              <a:buNone/>
            </a:pPr>
            <a:r>
              <a:rPr lang="en-US" sz="1350" b="1" dirty="0">
                <a:solidFill>
                  <a:srgbClr val="71D5DD"/>
                </a:solidFill>
                <a:latin typeface="Arial" pitchFamily="34" charset="0"/>
                <a:ea typeface="Arial" pitchFamily="34" charset="-122"/>
                <a:cs typeface="Arial" pitchFamily="34" charset="-120"/>
              </a:rPr>
              <a:t>03</a:t>
            </a:r>
            <a:endParaRPr lang="en-US" sz="1350" dirty="0"/>
          </a:p>
        </p:txBody>
      </p:sp>
      <p:sp>
        <p:nvSpPr>
          <p:cNvPr id="25" name="Text 23"/>
          <p:cNvSpPr txBox="1"/>
          <p:nvPr/>
        </p:nvSpPr>
        <p:spPr>
          <a:xfrm>
            <a:off x="1124712" y="4361688"/>
            <a:ext cx="10515600" cy="576072"/>
          </a:xfrm>
          <a:prstGeom prst="rect">
            <a:avLst/>
          </a:prstGeom>
          <a:noFill/>
          <a:ln/>
        </p:spPr>
        <p:txBody>
          <a:bodyPr wrap="square" lIns="0" tIns="0" rIns="0" bIns="0" rtlCol="0" anchor="t"/>
          <a:lstStyle/>
          <a:p>
            <a:pPr algn="l" indent="0" marL="0">
              <a:lnSpc>
                <a:spcPct val="104000"/>
              </a:lnSpc>
              <a:buNone/>
            </a:pPr>
            <a:r>
              <a:rPr lang="en-US" sz="2150" dirty="0">
                <a:solidFill>
                  <a:srgbClr val="F4F7FB"/>
                </a:solidFill>
                <a:latin typeface="Arial" pitchFamily="34" charset="0"/>
                <a:ea typeface="Arial" pitchFamily="34" charset="-122"/>
                <a:cs typeface="Arial" pitchFamily="34" charset="-120"/>
              </a:rPr>
              <a:t>Treat an unresolved symbol as a missing obligation—not a source syntax error.</a:t>
            </a:r>
            <a:endParaRPr lang="en-US" sz="2150" dirty="0"/>
          </a:p>
        </p:txBody>
      </p:sp>
      <p:sp>
        <p:nvSpPr>
          <p:cNvPr id="30" name="Text 28"/>
          <p:cNvSpPr txBox="1"/>
          <p:nvPr/>
        </p:nvSpPr>
        <p:spPr>
          <a:xfrm>
            <a:off x="548640" y="6601968"/>
            <a:ext cx="10241280" cy="128016"/>
          </a:xfrm>
          <a:prstGeom prst="rect">
            <a:avLst/>
          </a:prstGeom>
          <a:noFill/>
          <a:ln/>
        </p:spPr>
        <p:txBody>
          <a:bodyPr wrap="square" lIns="0" tIns="0" rIns="0" bIns="0" rtlCol="0" anchor="t"/>
          <a:lstStyle/>
          <a:p>
            <a:pPr algn="l" indent="0" marL="0">
              <a:lnSpc>
                <a:spcPct val="104000"/>
              </a:lnSpc>
              <a:buNone/>
            </a:pPr>
            <a:r>
              <a:rPr lang="en-US" sz="830" dirty="0">
                <a:solidFill>
                  <a:srgbClr val="B3C3D6"/>
                </a:solidFill>
                <a:latin typeface="Arial" pitchFamily="34" charset="0"/>
                <a:ea typeface="Arial" pitchFamily="34" charset="-122"/>
                <a:cs typeface="Arial" pitchFamily="34" charset="-120"/>
              </a:rPr>
              <a:t>Source: original 11, 16, 17 • [LD, ELF]</a:t>
            </a:r>
            <a:endParaRPr lang="en-US" sz="830" dirty="0"/>
          </a:p>
        </p:txBody>
      </p:sp>
      <p:sp>
        <p:nvSpPr>
          <p:cNvPr id="31" name="Text 29"/>
          <p:cNvSpPr txBox="1"/>
          <p:nvPr/>
        </p:nvSpPr>
        <p:spPr>
          <a:xfrm>
            <a:off x="10917936" y="6565392"/>
            <a:ext cx="722376" cy="219456"/>
          </a:xfrm>
          <a:prstGeom prst="rect">
            <a:avLst/>
          </a:prstGeom>
          <a:noFill/>
          <a:ln/>
        </p:spPr>
        <p:txBody>
          <a:bodyPr wrap="square" lIns="0" tIns="0" rIns="0" bIns="0" rtlCol="0" anchor="t"/>
          <a:lstStyle/>
          <a:p>
            <a:pPr algn="r" indent="0" marL="0">
              <a:lnSpc>
                <a:spcPct val="104000"/>
              </a:lnSpc>
              <a:buNone/>
            </a:pPr>
            <a:r>
              <a:rPr lang="en-US" sz="1050" dirty="0">
                <a:solidFill>
                  <a:srgbClr val="B3C3D6"/>
                </a:solidFill>
                <a:latin typeface="Arial" pitchFamily="34" charset="0"/>
                <a:ea typeface="Arial" pitchFamily="34" charset="-122"/>
                <a:cs typeface="Arial" pitchFamily="34" charset="-120"/>
              </a:rPr>
              <a:t>23 / 64</a:t>
            </a:r>
            <a:endParaRPr lang="en-US" sz="1050" dirty="0"/>
          </a:p>
        </p:txBody>
      </p:sp>
      <p:sp>
        <p:nvSpPr>
          <p:cNvPr id="32" name="Shape 30"/>
          <p:cNvSpPr/>
          <p:nvPr/>
        </p:nvSpPr>
        <p:spPr>
          <a:xfrm>
            <a:off x="0" y="6834226"/>
            <a:ext cx="12192000" cy="23774"/>
          </a:xfrm>
          <a:prstGeom prst="rect">
            <a:avLst/>
          </a:prstGeom>
          <a:solidFill>
            <a:srgbClr val="2B415A"/>
          </a:solidFill>
          <a:ln w="8890">
            <a:solidFill>
              <a:srgbClr val="2B415A"/>
            </a:solidFill>
            <a:prstDash val="solid"/>
          </a:ln>
        </p:spPr>
        <p:txBody>
          <a:bodyPr/>
          <a:p/>
        </p:txBody>
      </p:sp>
      <p:sp>
        <p:nvSpPr>
          <p:cNvPr id="33" name="Shape 31"/>
          <p:cNvSpPr/>
          <p:nvPr/>
        </p:nvSpPr>
        <p:spPr>
          <a:xfrm>
            <a:off x="0" y="6834226"/>
            <a:ext cx="4381500" cy="23774"/>
          </a:xfrm>
          <a:prstGeom prst="rect">
            <a:avLst/>
          </a:prstGeom>
          <a:solidFill>
            <a:srgbClr val="71D5DD"/>
          </a:solidFill>
          <a:ln w="8890">
            <a:solidFill>
              <a:srgbClr val="71D5DD"/>
            </a:solidFill>
            <a:prstDash val="solid"/>
          </a:ln>
        </p:spPr>
        <p:txBody>
          <a:body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219456"/>
            <a:ext cx="9875520" cy="192024"/>
          </a:xfrm>
          <a:prstGeom prst="rect">
            <a:avLst/>
          </a:prstGeom>
          <a:noFill/>
          <a:ln/>
        </p:spPr>
        <p:txBody>
          <a:bodyPr wrap="square" lIns="0" tIns="0" rIns="0" bIns="0" rtlCol="0" anchor="t"/>
          <a:lstStyle/>
          <a:p>
            <a:pPr algn="l" indent="0" marL="0">
              <a:lnSpc>
                <a:spcPct val="104000"/>
              </a:lnSpc>
              <a:buNone/>
            </a:pPr>
            <a:r>
              <a:rPr lang="en-US" sz="970" b="1" spc="135" kern="0" dirty="0">
                <a:solidFill>
                  <a:srgbClr val="B3C3D6"/>
                </a:solidFill>
                <a:latin typeface="Arial" pitchFamily="34" charset="0"/>
                <a:ea typeface="Arial" pitchFamily="34" charset="-122"/>
                <a:cs typeface="Arial" pitchFamily="34" charset="-120"/>
              </a:rPr>
              <a:t>SYSTEMS PROGRAMMING AND MACHINE ORGANIZATION</a:t>
            </a:r>
            <a:endParaRPr lang="en-US" sz="970" dirty="0"/>
          </a:p>
        </p:txBody>
      </p:sp>
      <p:sp>
        <p:nvSpPr>
          <p:cNvPr id="3" name="Text 1"/>
          <p:cNvSpPr txBox="1"/>
          <p:nvPr/>
        </p:nvSpPr>
        <p:spPr>
          <a:xfrm>
            <a:off x="9601200" y="219456"/>
            <a:ext cx="2039112" cy="192024"/>
          </a:xfrm>
          <a:prstGeom prst="rect">
            <a:avLst/>
          </a:prstGeom>
          <a:noFill/>
          <a:ln/>
        </p:spPr>
        <p:txBody>
          <a:bodyPr wrap="square" lIns="0" tIns="0" rIns="0" bIns="0" rtlCol="0" anchor="t"/>
          <a:lstStyle/>
          <a:p>
            <a:pPr algn="r" indent="0" marL="0">
              <a:lnSpc>
                <a:spcPct val="104000"/>
              </a:lnSpc>
              <a:buNone/>
            </a:pPr>
            <a:r>
              <a:rPr lang="en-US" sz="970" b="1" dirty="0">
                <a:solidFill>
                  <a:srgbClr val="B3C3D6"/>
                </a:solidFill>
                <a:latin typeface="Arial" pitchFamily="34" charset="0"/>
                <a:ea typeface="Arial" pitchFamily="34" charset="-122"/>
                <a:cs typeface="Arial" pitchFamily="34" charset="-120"/>
              </a:rPr>
              <a:t>CHARLES DORNER</a:t>
            </a:r>
            <a:endParaRPr lang="en-US" sz="970" dirty="0"/>
          </a:p>
        </p:txBody>
      </p:sp>
      <p:sp>
        <p:nvSpPr>
          <p:cNvPr id="4" name="Text 2"/>
          <p:cNvSpPr txBox="1"/>
          <p:nvPr/>
        </p:nvSpPr>
        <p:spPr>
          <a:xfrm>
            <a:off x="548640" y="566928"/>
            <a:ext cx="11109960" cy="237744"/>
          </a:xfrm>
          <a:prstGeom prst="rect">
            <a:avLst/>
          </a:prstGeom>
          <a:noFill/>
          <a:ln/>
        </p:spPr>
        <p:txBody>
          <a:bodyPr wrap="square" lIns="0" tIns="0" rIns="0" bIns="0" rtlCol="0" anchor="t"/>
          <a:lstStyle/>
          <a:p>
            <a:pPr algn="l" indent="0" marL="0">
              <a:lnSpc>
                <a:spcPct val="104000"/>
              </a:lnSpc>
              <a:buNone/>
            </a:pPr>
            <a:r>
              <a:rPr lang="en-US" sz="1150" b="1" dirty="0">
                <a:solidFill>
                  <a:srgbClr val="71D5DD"/>
                </a:solidFill>
                <a:latin typeface="Arial" pitchFamily="34" charset="0"/>
                <a:ea typeface="Arial" pitchFamily="34" charset="-122"/>
                <a:cs typeface="Arial" pitchFamily="34" charset="-120"/>
              </a:rPr>
              <a:t>1.2.5 · GRADUATE WORKED MODEL</a:t>
            </a:r>
            <a:endParaRPr lang="en-US" sz="1150" dirty="0"/>
          </a:p>
        </p:txBody>
      </p:sp>
      <p:sp>
        <p:nvSpPr>
          <p:cNvPr id="5" name="Text 3"/>
          <p:cNvSpPr txBox="1"/>
          <p:nvPr/>
        </p:nvSpPr>
        <p:spPr>
          <a:xfrm>
            <a:off x="548640" y="941832"/>
            <a:ext cx="11091672" cy="676656"/>
          </a:xfrm>
          <a:prstGeom prst="rect">
            <a:avLst/>
          </a:prstGeom>
          <a:noFill/>
          <a:ln/>
        </p:spPr>
        <p:txBody>
          <a:bodyPr wrap="square" lIns="0" tIns="0" rIns="0" bIns="0" rtlCol="0" anchor="t"/>
          <a:lstStyle/>
          <a:p>
            <a:pPr algn="l" indent="0" marL="0">
              <a:lnSpc>
                <a:spcPct val="104000"/>
              </a:lnSpc>
              <a:buNone/>
            </a:pPr>
            <a:r>
              <a:rPr lang="en-US" sz="3150" b="1" dirty="0">
                <a:solidFill>
                  <a:srgbClr val="F4F7FB"/>
                </a:solidFill>
                <a:latin typeface="Arial" pitchFamily="34" charset="0"/>
                <a:ea typeface="Arial" pitchFamily="34" charset="-122"/>
                <a:cs typeface="Arial" pitchFamily="34" charset="-120"/>
              </a:rPr>
              <a:t>Relocation: finish an address-dependent calculation</a:t>
            </a:r>
            <a:endParaRPr lang="en-US" sz="3150" dirty="0"/>
          </a:p>
        </p:txBody>
      </p:sp>
      <p:sp>
        <p:nvSpPr>
          <p:cNvPr id="6" name="Shape 4"/>
          <p:cNvSpPr/>
          <p:nvPr/>
        </p:nvSpPr>
        <p:spPr>
          <a:xfrm>
            <a:off x="548640" y="1764792"/>
            <a:ext cx="11094720" cy="1225296"/>
          </a:xfrm>
          <a:prstGeom prst="rect">
            <a:avLst/>
          </a:prstGeom>
          <a:solidFill>
            <a:srgbClr val="172940"/>
          </a:solidFill>
          <a:ln w="8890">
            <a:solidFill>
              <a:srgbClr val="2B415A"/>
            </a:solidFill>
            <a:prstDash val="solid"/>
          </a:ln>
        </p:spPr>
        <p:txBody>
          <a:bodyPr/>
          <a:p/>
        </p:txBody>
      </p:sp>
      <p:sp>
        <p:nvSpPr>
          <p:cNvPr id="7" name="Text 5"/>
          <p:cNvSpPr txBox="1"/>
          <p:nvPr/>
        </p:nvSpPr>
        <p:spPr>
          <a:xfrm>
            <a:off x="777240" y="1924812"/>
            <a:ext cx="10637520" cy="475488"/>
          </a:xfrm>
          <a:prstGeom prst="rect">
            <a:avLst/>
          </a:prstGeom>
          <a:noFill/>
          <a:ln/>
        </p:spPr>
        <p:txBody>
          <a:bodyPr wrap="square" lIns="0" tIns="0" rIns="0" bIns="0" rtlCol="0" anchor="t"/>
          <a:lstStyle/>
          <a:p>
            <a:pPr algn="ctr" indent="0" marL="0">
              <a:lnSpc>
                <a:spcPct val="104000"/>
              </a:lnSpc>
              <a:buNone/>
            </a:pPr>
            <a:r>
              <a:rPr lang="en-US" sz="2900" b="1" dirty="0">
                <a:solidFill>
                  <a:srgbClr val="F1C984"/>
                </a:solidFill>
                <a:latin typeface="Arial" pitchFamily="34" charset="0"/>
                <a:ea typeface="Arial" pitchFamily="34" charset="-122"/>
                <a:cs typeface="Arial" pitchFamily="34" charset="-120"/>
              </a:rPr>
              <a:t>R = S + A − P</a:t>
            </a:r>
            <a:endParaRPr lang="en-US" sz="2900" dirty="0"/>
          </a:p>
        </p:txBody>
      </p:sp>
      <p:sp>
        <p:nvSpPr>
          <p:cNvPr id="8" name="Text 6"/>
          <p:cNvSpPr txBox="1"/>
          <p:nvPr/>
        </p:nvSpPr>
        <p:spPr>
          <a:xfrm>
            <a:off x="777240" y="2496312"/>
            <a:ext cx="10637520" cy="365760"/>
          </a:xfrm>
          <a:prstGeom prst="rect">
            <a:avLst/>
          </a:prstGeom>
          <a:noFill/>
          <a:ln/>
        </p:spPr>
        <p:txBody>
          <a:bodyPr wrap="square" lIns="0" tIns="0" rIns="0" bIns="0" rtlCol="0" anchor="t"/>
          <a:lstStyle/>
          <a:p>
            <a:pPr algn="ctr" indent="0" marL="0">
              <a:lnSpc>
                <a:spcPct val="104000"/>
              </a:lnSpc>
              <a:buNone/>
            </a:pPr>
            <a:r>
              <a:rPr lang="en-US" sz="2280" dirty="0">
                <a:solidFill>
                  <a:srgbClr val="F4F7FB"/>
                </a:solidFill>
                <a:latin typeface="Arial" pitchFamily="34" charset="0"/>
                <a:ea typeface="Arial" pitchFamily="34" charset="-122"/>
                <a:cs typeface="Arial" pitchFamily="34" charset="-120"/>
              </a:rPr>
              <a:t>0x1200 + 0 − 0x1000 = 0x0200 = 512</a:t>
            </a:r>
            <a:endParaRPr lang="en-US" sz="2280" dirty="0"/>
          </a:p>
        </p:txBody>
      </p:sp>
      <p:sp>
        <p:nvSpPr>
          <p:cNvPr id="9" name="Shape 7"/>
          <p:cNvSpPr/>
          <p:nvPr/>
        </p:nvSpPr>
        <p:spPr>
          <a:xfrm>
            <a:off x="548640" y="3227832"/>
            <a:ext cx="3564128" cy="1847088"/>
          </a:xfrm>
          <a:prstGeom prst="rect">
            <a:avLst/>
          </a:prstGeom>
          <a:solidFill>
            <a:srgbClr val="142238"/>
          </a:solidFill>
          <a:ln w="8890">
            <a:solidFill>
              <a:srgbClr val="2B415A"/>
            </a:solidFill>
            <a:prstDash val="solid"/>
          </a:ln>
        </p:spPr>
        <p:txBody>
          <a:bodyPr/>
          <a:p/>
        </p:txBody>
      </p:sp>
      <p:sp>
        <p:nvSpPr>
          <p:cNvPr id="10" name="Shape 8"/>
          <p:cNvSpPr/>
          <p:nvPr/>
        </p:nvSpPr>
        <p:spPr>
          <a:xfrm>
            <a:off x="548640" y="3227832"/>
            <a:ext cx="41148" cy="1847088"/>
          </a:xfrm>
          <a:prstGeom prst="rect">
            <a:avLst/>
          </a:prstGeom>
          <a:solidFill>
            <a:srgbClr val="71D5DD"/>
          </a:solidFill>
          <a:ln w="8890">
            <a:solidFill>
              <a:srgbClr val="71D5DD"/>
            </a:solidFill>
            <a:prstDash val="solid"/>
          </a:ln>
        </p:spPr>
        <p:txBody>
          <a:bodyPr/>
          <a:p/>
        </p:txBody>
      </p:sp>
      <p:sp>
        <p:nvSpPr>
          <p:cNvPr id="11" name="Text 9"/>
          <p:cNvSpPr txBox="1"/>
          <p:nvPr/>
        </p:nvSpPr>
        <p:spPr>
          <a:xfrm>
            <a:off x="758952" y="3438144"/>
            <a:ext cx="3134360" cy="557784"/>
          </a:xfrm>
          <a:prstGeom prst="rect">
            <a:avLst/>
          </a:prstGeom>
          <a:noFill/>
          <a:ln/>
        </p:spPr>
        <p:txBody>
          <a:bodyPr wrap="square" lIns="0" tIns="0" rIns="0" bIns="0" rtlCol="0" anchor="t"/>
          <a:lstStyle/>
          <a:p>
            <a:pPr algn="l" indent="0" marL="0">
              <a:lnSpc>
                <a:spcPct val="104000"/>
              </a:lnSpc>
              <a:buNone/>
            </a:pPr>
            <a:r>
              <a:rPr lang="en-US" sz="1550" b="1" dirty="0">
                <a:solidFill>
                  <a:srgbClr val="71D5DD"/>
                </a:solidFill>
                <a:latin typeface="Arial" pitchFamily="34" charset="0"/>
                <a:ea typeface="Arial" pitchFamily="34" charset="-122"/>
                <a:cs typeface="Arial" pitchFamily="34" charset="-120"/>
              </a:rPr>
              <a:t>S</a:t>
            </a:r>
            <a:endParaRPr lang="en-US" sz="1550" dirty="0"/>
          </a:p>
        </p:txBody>
      </p:sp>
      <p:sp>
        <p:nvSpPr>
          <p:cNvPr id="12" name="Text 10"/>
          <p:cNvSpPr txBox="1"/>
          <p:nvPr/>
        </p:nvSpPr>
        <p:spPr>
          <a:xfrm>
            <a:off x="758952" y="4105656"/>
            <a:ext cx="3134360" cy="804672"/>
          </a:xfrm>
          <a:prstGeom prst="rect">
            <a:avLst/>
          </a:prstGeom>
          <a:noFill/>
          <a:ln/>
        </p:spPr>
        <p:txBody>
          <a:bodyPr wrap="square" lIns="0" tIns="0" rIns="0" bIns="0" rtlCol="0" anchor="t"/>
          <a:lstStyle/>
          <a:p>
            <a:pPr algn="l" indent="0" marL="0">
              <a:lnSpc>
                <a:spcPct val="104000"/>
              </a:lnSpc>
              <a:buNone/>
            </a:pPr>
            <a:r>
              <a:rPr lang="en-US" sz="1950" dirty="0">
                <a:solidFill>
                  <a:srgbClr val="F4F7FB"/>
                </a:solidFill>
                <a:latin typeface="Arial" pitchFamily="34" charset="0"/>
                <a:ea typeface="Arial" pitchFamily="34" charset="-122"/>
                <a:cs typeface="Arial" pitchFamily="34" charset="-120"/>
              </a:rPr>
              <a:t>Chosen symbol address</a:t>
            </a:r>
            <a:endParaRPr lang="en-US" sz="1950" dirty="0"/>
          </a:p>
        </p:txBody>
      </p:sp>
      <p:sp>
        <p:nvSpPr>
          <p:cNvPr id="13" name="Shape 11"/>
          <p:cNvSpPr/>
          <p:nvPr/>
        </p:nvSpPr>
        <p:spPr>
          <a:xfrm>
            <a:off x="4313936" y="3227832"/>
            <a:ext cx="3564128" cy="1847088"/>
          </a:xfrm>
          <a:prstGeom prst="rect">
            <a:avLst/>
          </a:prstGeom>
          <a:solidFill>
            <a:srgbClr val="142238"/>
          </a:solidFill>
          <a:ln w="8890">
            <a:solidFill>
              <a:srgbClr val="2B415A"/>
            </a:solidFill>
            <a:prstDash val="solid"/>
          </a:ln>
        </p:spPr>
        <p:txBody>
          <a:bodyPr/>
          <a:p/>
        </p:txBody>
      </p:sp>
      <p:sp>
        <p:nvSpPr>
          <p:cNvPr id="14" name="Shape 12"/>
          <p:cNvSpPr/>
          <p:nvPr/>
        </p:nvSpPr>
        <p:spPr>
          <a:xfrm>
            <a:off x="4313936" y="3227832"/>
            <a:ext cx="41148" cy="1847088"/>
          </a:xfrm>
          <a:prstGeom prst="rect">
            <a:avLst/>
          </a:prstGeom>
          <a:solidFill>
            <a:srgbClr val="71D5DD"/>
          </a:solidFill>
          <a:ln w="8890">
            <a:solidFill>
              <a:srgbClr val="71D5DD"/>
            </a:solidFill>
            <a:prstDash val="solid"/>
          </a:ln>
        </p:spPr>
        <p:txBody>
          <a:bodyPr/>
          <a:p/>
        </p:txBody>
      </p:sp>
      <p:sp>
        <p:nvSpPr>
          <p:cNvPr id="15" name="Text 13"/>
          <p:cNvSpPr txBox="1"/>
          <p:nvPr/>
        </p:nvSpPr>
        <p:spPr>
          <a:xfrm>
            <a:off x="4524248" y="3438144"/>
            <a:ext cx="3134360" cy="557784"/>
          </a:xfrm>
          <a:prstGeom prst="rect">
            <a:avLst/>
          </a:prstGeom>
          <a:noFill/>
          <a:ln/>
        </p:spPr>
        <p:txBody>
          <a:bodyPr wrap="square" lIns="0" tIns="0" rIns="0" bIns="0" rtlCol="0" anchor="t"/>
          <a:lstStyle/>
          <a:p>
            <a:pPr algn="l" indent="0" marL="0">
              <a:lnSpc>
                <a:spcPct val="104000"/>
              </a:lnSpc>
              <a:buNone/>
            </a:pPr>
            <a:r>
              <a:rPr lang="en-US" sz="1550" b="1" dirty="0">
                <a:solidFill>
                  <a:srgbClr val="71D5DD"/>
                </a:solidFill>
                <a:latin typeface="Arial" pitchFamily="34" charset="0"/>
                <a:ea typeface="Arial" pitchFamily="34" charset="-122"/>
                <a:cs typeface="Arial" pitchFamily="34" charset="-120"/>
              </a:rPr>
              <a:t>A</a:t>
            </a:r>
            <a:endParaRPr lang="en-US" sz="1550" dirty="0"/>
          </a:p>
        </p:txBody>
      </p:sp>
      <p:sp>
        <p:nvSpPr>
          <p:cNvPr id="16" name="Text 14"/>
          <p:cNvSpPr txBox="1"/>
          <p:nvPr/>
        </p:nvSpPr>
        <p:spPr>
          <a:xfrm>
            <a:off x="4524248" y="4105656"/>
            <a:ext cx="3134360" cy="804672"/>
          </a:xfrm>
          <a:prstGeom prst="rect">
            <a:avLst/>
          </a:prstGeom>
          <a:noFill/>
          <a:ln/>
        </p:spPr>
        <p:txBody>
          <a:bodyPr wrap="square" lIns="0" tIns="0" rIns="0" bIns="0" rtlCol="0" anchor="t"/>
          <a:lstStyle/>
          <a:p>
            <a:pPr algn="l" indent="0" marL="0">
              <a:lnSpc>
                <a:spcPct val="104000"/>
              </a:lnSpc>
              <a:buNone/>
            </a:pPr>
            <a:r>
              <a:rPr lang="en-US" sz="1950" dirty="0">
                <a:solidFill>
                  <a:srgbClr val="F4F7FB"/>
                </a:solidFill>
                <a:latin typeface="Arial" pitchFamily="34" charset="0"/>
                <a:ea typeface="Arial" pitchFamily="34" charset="-122"/>
                <a:cs typeface="Arial" pitchFamily="34" charset="-120"/>
              </a:rPr>
              <a:t>Relocation addend</a:t>
            </a:r>
            <a:endParaRPr lang="en-US" sz="1950" dirty="0"/>
          </a:p>
        </p:txBody>
      </p:sp>
      <p:sp>
        <p:nvSpPr>
          <p:cNvPr id="17" name="Shape 15"/>
          <p:cNvSpPr/>
          <p:nvPr/>
        </p:nvSpPr>
        <p:spPr>
          <a:xfrm>
            <a:off x="8079232" y="3227832"/>
            <a:ext cx="3564128" cy="1847088"/>
          </a:xfrm>
          <a:prstGeom prst="rect">
            <a:avLst/>
          </a:prstGeom>
          <a:solidFill>
            <a:srgbClr val="142238"/>
          </a:solidFill>
          <a:ln w="8890">
            <a:solidFill>
              <a:srgbClr val="2B415A"/>
            </a:solidFill>
            <a:prstDash val="solid"/>
          </a:ln>
        </p:spPr>
        <p:txBody>
          <a:bodyPr/>
          <a:p/>
        </p:txBody>
      </p:sp>
      <p:sp>
        <p:nvSpPr>
          <p:cNvPr id="18" name="Shape 16"/>
          <p:cNvSpPr/>
          <p:nvPr/>
        </p:nvSpPr>
        <p:spPr>
          <a:xfrm>
            <a:off x="8079232" y="3227832"/>
            <a:ext cx="41148" cy="1847088"/>
          </a:xfrm>
          <a:prstGeom prst="rect">
            <a:avLst/>
          </a:prstGeom>
          <a:solidFill>
            <a:srgbClr val="71D5DD"/>
          </a:solidFill>
          <a:ln w="8890">
            <a:solidFill>
              <a:srgbClr val="71D5DD"/>
            </a:solidFill>
            <a:prstDash val="solid"/>
          </a:ln>
        </p:spPr>
        <p:txBody>
          <a:bodyPr/>
          <a:p/>
        </p:txBody>
      </p:sp>
      <p:sp>
        <p:nvSpPr>
          <p:cNvPr id="19" name="Text 17"/>
          <p:cNvSpPr txBox="1"/>
          <p:nvPr/>
        </p:nvSpPr>
        <p:spPr>
          <a:xfrm>
            <a:off x="8289544" y="3438144"/>
            <a:ext cx="3134360" cy="557784"/>
          </a:xfrm>
          <a:prstGeom prst="rect">
            <a:avLst/>
          </a:prstGeom>
          <a:noFill/>
          <a:ln/>
        </p:spPr>
        <p:txBody>
          <a:bodyPr wrap="square" lIns="0" tIns="0" rIns="0" bIns="0" rtlCol="0" anchor="t"/>
          <a:lstStyle/>
          <a:p>
            <a:pPr algn="l" indent="0" marL="0">
              <a:lnSpc>
                <a:spcPct val="104000"/>
              </a:lnSpc>
              <a:buNone/>
            </a:pPr>
            <a:r>
              <a:rPr lang="en-US" sz="1550" b="1" dirty="0">
                <a:solidFill>
                  <a:srgbClr val="71D5DD"/>
                </a:solidFill>
                <a:latin typeface="Arial" pitchFamily="34" charset="0"/>
                <a:ea typeface="Arial" pitchFamily="34" charset="-122"/>
                <a:cs typeface="Arial" pitchFamily="34" charset="-120"/>
              </a:rPr>
              <a:t>P</a:t>
            </a:r>
            <a:endParaRPr lang="en-US" sz="1550" dirty="0"/>
          </a:p>
        </p:txBody>
      </p:sp>
      <p:sp>
        <p:nvSpPr>
          <p:cNvPr id="20" name="Text 18"/>
          <p:cNvSpPr txBox="1"/>
          <p:nvPr/>
        </p:nvSpPr>
        <p:spPr>
          <a:xfrm>
            <a:off x="8289544" y="4105656"/>
            <a:ext cx="3134360" cy="804672"/>
          </a:xfrm>
          <a:prstGeom prst="rect">
            <a:avLst/>
          </a:prstGeom>
          <a:noFill/>
          <a:ln/>
        </p:spPr>
        <p:txBody>
          <a:bodyPr wrap="square" lIns="0" tIns="0" rIns="0" bIns="0" rtlCol="0" anchor="t"/>
          <a:lstStyle/>
          <a:p>
            <a:pPr algn="l" indent="0" marL="0">
              <a:lnSpc>
                <a:spcPct val="104000"/>
              </a:lnSpc>
              <a:buNone/>
            </a:pPr>
            <a:r>
              <a:rPr lang="en-US" sz="1950" dirty="0">
                <a:solidFill>
                  <a:srgbClr val="F4F7FB"/>
                </a:solidFill>
                <a:latin typeface="Arial" pitchFamily="34" charset="0"/>
                <a:ea typeface="Arial" pitchFamily="34" charset="-122"/>
                <a:cs typeface="Arial" pitchFamily="34" charset="-120"/>
              </a:rPr>
              <a:t>Location defined by the</a:t>
            </a:r>
            <a:endParaRPr lang="en-US" sz="1950" dirty="0"/>
          </a:p>
          <a:p>
            <a:pPr algn="l" indent="0" marL="0">
              <a:lnSpc>
                <a:spcPct val="104000"/>
              </a:lnSpc>
              <a:buNone/>
            </a:pPr>
            <a:r>
              <a:rPr lang="en-US" sz="1950" dirty="0">
                <a:solidFill>
                  <a:srgbClr val="F4F7FB"/>
                </a:solidFill>
                <a:latin typeface="Arial" pitchFamily="34" charset="0"/>
                <a:ea typeface="Arial" pitchFamily="34" charset="-122"/>
                <a:cs typeface="Arial" pitchFamily="34" charset="-120"/>
              </a:rPr>
              <a:t>relocation type</a:t>
            </a:r>
            <a:endParaRPr lang="en-US" sz="1950" dirty="0"/>
          </a:p>
        </p:txBody>
      </p:sp>
      <p:sp>
        <p:nvSpPr>
          <p:cNvPr id="21" name="Text 19"/>
          <p:cNvSpPr txBox="1"/>
          <p:nvPr/>
        </p:nvSpPr>
        <p:spPr>
          <a:xfrm>
            <a:off x="548640" y="5193792"/>
            <a:ext cx="11094720" cy="274320"/>
          </a:xfrm>
          <a:prstGeom prst="rect">
            <a:avLst/>
          </a:prstGeom>
          <a:noFill/>
          <a:ln/>
        </p:spPr>
        <p:txBody>
          <a:bodyPr wrap="square" lIns="0" tIns="0" rIns="0" bIns="0" rtlCol="0" anchor="t"/>
          <a:lstStyle/>
          <a:p>
            <a:pPr algn="l" indent="0" marL="0">
              <a:lnSpc>
                <a:spcPct val="104000"/>
              </a:lnSpc>
              <a:buNone/>
            </a:pPr>
            <a:r>
              <a:rPr lang="en-US" sz="1140" dirty="0">
                <a:solidFill>
                  <a:srgbClr val="B3C3D6"/>
                </a:solidFill>
                <a:latin typeface="Arial" pitchFamily="34" charset="0"/>
                <a:ea typeface="Arial" pitchFamily="34" charset="-122"/>
                <a:cs typeface="Arial" pitchFamily="34" charset="-120"/>
              </a:rPr>
              <a:t>Illustrative PC-relative model. Real relocation types define field width, addends, range, and encoding.</a:t>
            </a:r>
            <a:endParaRPr lang="en-US" sz="1140" dirty="0"/>
          </a:p>
        </p:txBody>
      </p:sp>
      <p:sp>
        <p:nvSpPr>
          <p:cNvPr id="26" name="Text 24"/>
          <p:cNvSpPr txBox="1"/>
          <p:nvPr/>
        </p:nvSpPr>
        <p:spPr>
          <a:xfrm>
            <a:off x="548640" y="6601968"/>
            <a:ext cx="10241280" cy="128016"/>
          </a:xfrm>
          <a:prstGeom prst="rect">
            <a:avLst/>
          </a:prstGeom>
          <a:noFill/>
          <a:ln/>
        </p:spPr>
        <p:txBody>
          <a:bodyPr wrap="square" lIns="0" tIns="0" rIns="0" bIns="0" rtlCol="0" anchor="t"/>
          <a:lstStyle/>
          <a:p>
            <a:pPr algn="l" indent="0" marL="0">
              <a:lnSpc>
                <a:spcPct val="104000"/>
              </a:lnSpc>
              <a:buNone/>
            </a:pPr>
            <a:r>
              <a:rPr lang="en-US" sz="830" dirty="0">
                <a:solidFill>
                  <a:srgbClr val="B3C3D6"/>
                </a:solidFill>
                <a:latin typeface="Arial" pitchFamily="34" charset="0"/>
                <a:ea typeface="Arial" pitchFamily="34" charset="-122"/>
                <a:cs typeface="Arial" pitchFamily="34" charset="-120"/>
              </a:rPr>
              <a:t>Source: original 11 • Graduate extension • [ELF, ABI]</a:t>
            </a:r>
            <a:endParaRPr lang="en-US" sz="830" dirty="0"/>
          </a:p>
        </p:txBody>
      </p:sp>
      <p:sp>
        <p:nvSpPr>
          <p:cNvPr id="27" name="Text 25"/>
          <p:cNvSpPr txBox="1"/>
          <p:nvPr/>
        </p:nvSpPr>
        <p:spPr>
          <a:xfrm>
            <a:off x="10917936" y="6565392"/>
            <a:ext cx="722376" cy="219456"/>
          </a:xfrm>
          <a:prstGeom prst="rect">
            <a:avLst/>
          </a:prstGeom>
          <a:noFill/>
          <a:ln/>
        </p:spPr>
        <p:txBody>
          <a:bodyPr wrap="square" lIns="0" tIns="0" rIns="0" bIns="0" rtlCol="0" anchor="t"/>
          <a:lstStyle/>
          <a:p>
            <a:pPr algn="r" indent="0" marL="0">
              <a:lnSpc>
                <a:spcPct val="104000"/>
              </a:lnSpc>
              <a:buNone/>
            </a:pPr>
            <a:r>
              <a:rPr lang="en-US" sz="1050" dirty="0">
                <a:solidFill>
                  <a:srgbClr val="B3C3D6"/>
                </a:solidFill>
                <a:latin typeface="Arial" pitchFamily="34" charset="0"/>
                <a:ea typeface="Arial" pitchFamily="34" charset="-122"/>
                <a:cs typeface="Arial" pitchFamily="34" charset="-120"/>
              </a:rPr>
              <a:t>24 / 64</a:t>
            </a:r>
            <a:endParaRPr lang="en-US" sz="1050" dirty="0"/>
          </a:p>
        </p:txBody>
      </p:sp>
      <p:sp>
        <p:nvSpPr>
          <p:cNvPr id="28" name="Shape 26"/>
          <p:cNvSpPr/>
          <p:nvPr/>
        </p:nvSpPr>
        <p:spPr>
          <a:xfrm>
            <a:off x="0" y="6834226"/>
            <a:ext cx="12192000" cy="23774"/>
          </a:xfrm>
          <a:prstGeom prst="rect">
            <a:avLst/>
          </a:prstGeom>
          <a:solidFill>
            <a:srgbClr val="2B415A"/>
          </a:solidFill>
          <a:ln w="8890">
            <a:solidFill>
              <a:srgbClr val="2B415A"/>
            </a:solidFill>
            <a:prstDash val="solid"/>
          </a:ln>
        </p:spPr>
        <p:txBody>
          <a:bodyPr/>
          <a:p/>
        </p:txBody>
      </p:sp>
      <p:sp>
        <p:nvSpPr>
          <p:cNvPr id="29" name="Shape 27"/>
          <p:cNvSpPr/>
          <p:nvPr/>
        </p:nvSpPr>
        <p:spPr>
          <a:xfrm>
            <a:off x="0" y="6834226"/>
            <a:ext cx="4572000" cy="23774"/>
          </a:xfrm>
          <a:prstGeom prst="rect">
            <a:avLst/>
          </a:prstGeom>
          <a:solidFill>
            <a:srgbClr val="71D5DD"/>
          </a:solidFill>
          <a:ln w="8890">
            <a:solidFill>
              <a:srgbClr val="71D5DD"/>
            </a:solidFill>
            <a:prstDash val="solid"/>
          </a:ln>
        </p:spPr>
        <p:txBody>
          <a:body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219456"/>
            <a:ext cx="9875520" cy="192024"/>
          </a:xfrm>
          <a:prstGeom prst="rect">
            <a:avLst/>
          </a:prstGeom>
          <a:noFill/>
          <a:ln/>
        </p:spPr>
        <p:txBody>
          <a:bodyPr wrap="square" lIns="0" tIns="0" rIns="0" bIns="0" rtlCol="0" anchor="t"/>
          <a:lstStyle/>
          <a:p>
            <a:pPr algn="l" indent="0" marL="0">
              <a:lnSpc>
                <a:spcPct val="104000"/>
              </a:lnSpc>
              <a:buNone/>
            </a:pPr>
            <a:r>
              <a:rPr lang="en-US" sz="970" b="1" spc="135" kern="0" dirty="0">
                <a:solidFill>
                  <a:srgbClr val="B3C3D6"/>
                </a:solidFill>
                <a:latin typeface="Arial" pitchFamily="34" charset="0"/>
                <a:ea typeface="Arial" pitchFamily="34" charset="-122"/>
                <a:cs typeface="Arial" pitchFamily="34" charset="-120"/>
              </a:rPr>
              <a:t>SYSTEMS PROGRAMMING AND MACHINE ORGANIZATION</a:t>
            </a:r>
            <a:endParaRPr lang="en-US" sz="970" dirty="0"/>
          </a:p>
        </p:txBody>
      </p:sp>
      <p:sp>
        <p:nvSpPr>
          <p:cNvPr id="3" name="Text 1"/>
          <p:cNvSpPr txBox="1"/>
          <p:nvPr/>
        </p:nvSpPr>
        <p:spPr>
          <a:xfrm>
            <a:off x="9601200" y="219456"/>
            <a:ext cx="2039112" cy="192024"/>
          </a:xfrm>
          <a:prstGeom prst="rect">
            <a:avLst/>
          </a:prstGeom>
          <a:noFill/>
          <a:ln/>
        </p:spPr>
        <p:txBody>
          <a:bodyPr wrap="square" lIns="0" tIns="0" rIns="0" bIns="0" rtlCol="0" anchor="t"/>
          <a:lstStyle/>
          <a:p>
            <a:pPr algn="r" indent="0" marL="0">
              <a:lnSpc>
                <a:spcPct val="104000"/>
              </a:lnSpc>
              <a:buNone/>
            </a:pPr>
            <a:r>
              <a:rPr lang="en-US" sz="970" b="1" dirty="0">
                <a:solidFill>
                  <a:srgbClr val="B3C3D6"/>
                </a:solidFill>
                <a:latin typeface="Arial" pitchFamily="34" charset="0"/>
                <a:ea typeface="Arial" pitchFamily="34" charset="-122"/>
                <a:cs typeface="Arial" pitchFamily="34" charset="-120"/>
              </a:rPr>
              <a:t>CHARLES DORNER</a:t>
            </a:r>
            <a:endParaRPr lang="en-US" sz="970" dirty="0"/>
          </a:p>
        </p:txBody>
      </p:sp>
      <p:sp>
        <p:nvSpPr>
          <p:cNvPr id="4" name="Text 2"/>
          <p:cNvSpPr txBox="1"/>
          <p:nvPr/>
        </p:nvSpPr>
        <p:spPr>
          <a:xfrm>
            <a:off x="548640" y="566928"/>
            <a:ext cx="11109960" cy="237744"/>
          </a:xfrm>
          <a:prstGeom prst="rect">
            <a:avLst/>
          </a:prstGeom>
          <a:noFill/>
          <a:ln/>
        </p:spPr>
        <p:txBody>
          <a:bodyPr wrap="square" lIns="0" tIns="0" rIns="0" bIns="0" rtlCol="0" anchor="t"/>
          <a:lstStyle/>
          <a:p>
            <a:pPr algn="l" indent="0" marL="0">
              <a:lnSpc>
                <a:spcPct val="104000"/>
              </a:lnSpc>
              <a:buNone/>
            </a:pPr>
            <a:r>
              <a:rPr lang="en-US" sz="1150" b="1" dirty="0">
                <a:solidFill>
                  <a:srgbClr val="71D5DD"/>
                </a:solidFill>
                <a:latin typeface="Arial" pitchFamily="34" charset="0"/>
                <a:ea typeface="Arial" pitchFamily="34" charset="-122"/>
                <a:cs typeface="Arial" pitchFamily="34" charset="-120"/>
              </a:rPr>
              <a:t>1.2.5–1.2.6 · LINK-TIME VS. LOAD-TIME WORK</a:t>
            </a:r>
            <a:endParaRPr lang="en-US" sz="1150" dirty="0"/>
          </a:p>
        </p:txBody>
      </p:sp>
      <p:sp>
        <p:nvSpPr>
          <p:cNvPr id="5" name="Text 3"/>
          <p:cNvSpPr txBox="1"/>
          <p:nvPr/>
        </p:nvSpPr>
        <p:spPr>
          <a:xfrm>
            <a:off x="548640" y="941832"/>
            <a:ext cx="11091672" cy="676656"/>
          </a:xfrm>
          <a:prstGeom prst="rect">
            <a:avLst/>
          </a:prstGeom>
          <a:noFill/>
          <a:ln/>
        </p:spPr>
        <p:txBody>
          <a:bodyPr wrap="square" lIns="0" tIns="0" rIns="0" bIns="0" rtlCol="0" anchor="t"/>
          <a:lstStyle/>
          <a:p>
            <a:pPr algn="l" indent="0" marL="0">
              <a:lnSpc>
                <a:spcPct val="104000"/>
              </a:lnSpc>
              <a:buNone/>
            </a:pPr>
            <a:r>
              <a:rPr lang="en-US" sz="3150" b="1" dirty="0">
                <a:solidFill>
                  <a:srgbClr val="F4F7FB"/>
                </a:solidFill>
                <a:latin typeface="Arial" pitchFamily="34" charset="0"/>
                <a:ea typeface="Arial" pitchFamily="34" charset="-122"/>
                <a:cs typeface="Arial" pitchFamily="34" charset="-120"/>
              </a:rPr>
              <a:t>Static and dynamic linking resolve work at different times</a:t>
            </a:r>
            <a:endParaRPr lang="en-US" sz="3150" dirty="0"/>
          </a:p>
        </p:txBody>
      </p:sp>
      <p:sp>
        <p:nvSpPr>
          <p:cNvPr id="6" name="Shape 4"/>
          <p:cNvSpPr/>
          <p:nvPr/>
        </p:nvSpPr>
        <p:spPr>
          <a:xfrm>
            <a:off x="548640" y="1764792"/>
            <a:ext cx="5446776" cy="3310128"/>
          </a:xfrm>
          <a:prstGeom prst="rect">
            <a:avLst/>
          </a:prstGeom>
          <a:solidFill>
            <a:srgbClr val="142238"/>
          </a:solidFill>
          <a:ln w="8890">
            <a:solidFill>
              <a:srgbClr val="2B415A"/>
            </a:solidFill>
            <a:prstDash val="solid"/>
          </a:ln>
        </p:spPr>
        <p:txBody>
          <a:bodyPr/>
          <a:p/>
        </p:txBody>
      </p:sp>
      <p:sp>
        <p:nvSpPr>
          <p:cNvPr id="7" name="Shape 5"/>
          <p:cNvSpPr/>
          <p:nvPr/>
        </p:nvSpPr>
        <p:spPr>
          <a:xfrm>
            <a:off x="548640" y="1764792"/>
            <a:ext cx="41148" cy="3310128"/>
          </a:xfrm>
          <a:prstGeom prst="rect">
            <a:avLst/>
          </a:prstGeom>
          <a:solidFill>
            <a:srgbClr val="71D5DD"/>
          </a:solidFill>
          <a:ln w="8890">
            <a:solidFill>
              <a:srgbClr val="71D5DD"/>
            </a:solidFill>
            <a:prstDash val="solid"/>
          </a:ln>
        </p:spPr>
        <p:txBody>
          <a:bodyPr/>
          <a:p/>
        </p:txBody>
      </p:sp>
      <p:sp>
        <p:nvSpPr>
          <p:cNvPr id="8" name="Text 6"/>
          <p:cNvSpPr txBox="1"/>
          <p:nvPr/>
        </p:nvSpPr>
        <p:spPr>
          <a:xfrm>
            <a:off x="758952" y="1975104"/>
            <a:ext cx="5017008" cy="557784"/>
          </a:xfrm>
          <a:prstGeom prst="rect">
            <a:avLst/>
          </a:prstGeom>
          <a:noFill/>
          <a:ln/>
        </p:spPr>
        <p:txBody>
          <a:bodyPr wrap="square" lIns="0" tIns="0" rIns="0" bIns="0" rtlCol="0" anchor="t"/>
          <a:lstStyle/>
          <a:p>
            <a:pPr algn="l" indent="0" marL="0">
              <a:lnSpc>
                <a:spcPct val="104000"/>
              </a:lnSpc>
              <a:buNone/>
            </a:pPr>
            <a:r>
              <a:rPr lang="en-US" sz="1750" b="1" dirty="0">
                <a:solidFill>
                  <a:srgbClr val="71D5DD"/>
                </a:solidFill>
                <a:latin typeface="Arial" pitchFamily="34" charset="0"/>
                <a:ea typeface="Arial" pitchFamily="34" charset="-122"/>
                <a:cs typeface="Arial" pitchFamily="34" charset="-120"/>
              </a:rPr>
              <a:t>STATIC LINK-TIME WORK</a:t>
            </a:r>
            <a:endParaRPr lang="en-US" sz="1750" dirty="0"/>
          </a:p>
        </p:txBody>
      </p:sp>
      <p:sp>
        <p:nvSpPr>
          <p:cNvPr id="9" name="Text 7"/>
          <p:cNvSpPr txBox="1"/>
          <p:nvPr/>
        </p:nvSpPr>
        <p:spPr>
          <a:xfrm>
            <a:off x="758952" y="2642616"/>
            <a:ext cx="5017008" cy="2267712"/>
          </a:xfrm>
          <a:prstGeom prst="rect">
            <a:avLst/>
          </a:prstGeom>
          <a:noFill/>
          <a:ln/>
        </p:spPr>
        <p:txBody>
          <a:bodyPr wrap="square" lIns="0" tIns="0" rIns="0" bIns="0" rtlCol="0" anchor="t"/>
          <a:lstStyle/>
          <a:p>
            <a:pPr algn="l" indent="0" marL="0">
              <a:lnSpc>
                <a:spcPct val="104000"/>
              </a:lnSpc>
              <a:buNone/>
            </a:pPr>
            <a:r>
              <a:rPr lang="en-US" sz="2300" dirty="0">
                <a:solidFill>
                  <a:srgbClr val="F4F7FB"/>
                </a:solidFill>
                <a:latin typeface="Arial" pitchFamily="34" charset="0"/>
                <a:ea typeface="Arial" pitchFamily="34" charset="-122"/>
                <a:cs typeface="Arial" pitchFamily="34" charset="-120"/>
              </a:rPr>
              <a:t>Combine object inputs.</a:t>
            </a:r>
            <a:endParaRPr lang="en-US" sz="2300" dirty="0"/>
          </a:p>
          <a:p>
            <a:pPr algn="l" indent="0" marL="0">
              <a:lnSpc>
                <a:spcPct val="104000"/>
              </a:lnSpc>
              <a:buNone/>
            </a:pPr>
            <a:r>
              <a:rPr lang="en-US" sz="2300" dirty="0">
                <a:solidFill>
                  <a:srgbClr val="F4F7FB"/>
                </a:solidFill>
                <a:latin typeface="Arial" pitchFamily="34" charset="0"/>
                <a:ea typeface="Arial" pitchFamily="34" charset="-122"/>
                <a:cs typeface="Arial" pitchFamily="34" charset="-120"/>
              </a:rPr>
              <a:t>Select required archive content.</a:t>
            </a:r>
            <a:endParaRPr lang="en-US" sz="2300" dirty="0"/>
          </a:p>
          <a:p>
            <a:pPr algn="l" indent="0" marL="0">
              <a:lnSpc>
                <a:spcPct val="104000"/>
              </a:lnSpc>
              <a:buNone/>
            </a:pPr>
            <a:r>
              <a:rPr lang="en-US" sz="2300" dirty="0">
                <a:solidFill>
                  <a:srgbClr val="F4F7FB"/>
                </a:solidFill>
                <a:latin typeface="Arial" pitchFamily="34" charset="0"/>
                <a:ea typeface="Arial" pitchFamily="34" charset="-122"/>
                <a:cs typeface="Arial" pitchFamily="34" charset="-120"/>
              </a:rPr>
              <a:t>Resolve work possible before</a:t>
            </a:r>
            <a:endParaRPr lang="en-US" sz="2300" dirty="0"/>
          </a:p>
          <a:p>
            <a:pPr algn="l" indent="0" marL="0">
              <a:lnSpc>
                <a:spcPct val="104000"/>
              </a:lnSpc>
              <a:buNone/>
            </a:pPr>
            <a:r>
              <a:rPr lang="en-US" sz="2300" dirty="0">
                <a:solidFill>
                  <a:srgbClr val="F4F7FB"/>
                </a:solidFill>
                <a:latin typeface="Arial" pitchFamily="34" charset="0"/>
                <a:ea typeface="Arial" pitchFamily="34" charset="-122"/>
                <a:cs typeface="Arial" pitchFamily="34" charset="-120"/>
              </a:rPr>
              <a:t>execution.</a:t>
            </a:r>
            <a:endParaRPr lang="en-US" sz="2300" dirty="0"/>
          </a:p>
        </p:txBody>
      </p:sp>
      <p:sp>
        <p:nvSpPr>
          <p:cNvPr id="10" name="Shape 8"/>
          <p:cNvSpPr/>
          <p:nvPr/>
        </p:nvSpPr>
        <p:spPr>
          <a:xfrm>
            <a:off x="6196584" y="1764792"/>
            <a:ext cx="5446776" cy="3310128"/>
          </a:xfrm>
          <a:prstGeom prst="rect">
            <a:avLst/>
          </a:prstGeom>
          <a:solidFill>
            <a:srgbClr val="142238"/>
          </a:solidFill>
          <a:ln w="8890">
            <a:solidFill>
              <a:srgbClr val="2B415A"/>
            </a:solidFill>
            <a:prstDash val="solid"/>
          </a:ln>
        </p:spPr>
        <p:txBody>
          <a:bodyPr/>
          <a:p/>
        </p:txBody>
      </p:sp>
      <p:sp>
        <p:nvSpPr>
          <p:cNvPr id="11" name="Shape 9"/>
          <p:cNvSpPr/>
          <p:nvPr/>
        </p:nvSpPr>
        <p:spPr>
          <a:xfrm>
            <a:off x="6196584" y="1764792"/>
            <a:ext cx="41148" cy="3310128"/>
          </a:xfrm>
          <a:prstGeom prst="rect">
            <a:avLst/>
          </a:prstGeom>
          <a:solidFill>
            <a:srgbClr val="71D5DD"/>
          </a:solidFill>
          <a:ln w="8890">
            <a:solidFill>
              <a:srgbClr val="71D5DD"/>
            </a:solidFill>
            <a:prstDash val="solid"/>
          </a:ln>
        </p:spPr>
        <p:txBody>
          <a:bodyPr/>
          <a:p/>
        </p:txBody>
      </p:sp>
      <p:sp>
        <p:nvSpPr>
          <p:cNvPr id="12" name="Text 10"/>
          <p:cNvSpPr txBox="1"/>
          <p:nvPr/>
        </p:nvSpPr>
        <p:spPr>
          <a:xfrm>
            <a:off x="6406896" y="1975104"/>
            <a:ext cx="5017008" cy="557784"/>
          </a:xfrm>
          <a:prstGeom prst="rect">
            <a:avLst/>
          </a:prstGeom>
          <a:noFill/>
          <a:ln/>
        </p:spPr>
        <p:txBody>
          <a:bodyPr wrap="square" lIns="0" tIns="0" rIns="0" bIns="0" rtlCol="0" anchor="t"/>
          <a:lstStyle/>
          <a:p>
            <a:pPr algn="l" indent="0" marL="0">
              <a:lnSpc>
                <a:spcPct val="104000"/>
              </a:lnSpc>
              <a:buNone/>
            </a:pPr>
            <a:r>
              <a:rPr lang="en-US" sz="1750" b="1" dirty="0">
                <a:solidFill>
                  <a:srgbClr val="71D5DD"/>
                </a:solidFill>
                <a:latin typeface="Arial" pitchFamily="34" charset="0"/>
                <a:ea typeface="Arial" pitchFamily="34" charset="-122"/>
                <a:cs typeface="Arial" pitchFamily="34" charset="-120"/>
              </a:rPr>
              <a:t>DYNAMIC RUNTIME WORK</a:t>
            </a:r>
            <a:endParaRPr lang="en-US" sz="1750" dirty="0"/>
          </a:p>
        </p:txBody>
      </p:sp>
      <p:sp>
        <p:nvSpPr>
          <p:cNvPr id="13" name="Text 11"/>
          <p:cNvSpPr txBox="1"/>
          <p:nvPr/>
        </p:nvSpPr>
        <p:spPr>
          <a:xfrm>
            <a:off x="6406896" y="2642616"/>
            <a:ext cx="5017008" cy="2267712"/>
          </a:xfrm>
          <a:prstGeom prst="rect">
            <a:avLst/>
          </a:prstGeom>
          <a:noFill/>
          <a:ln/>
        </p:spPr>
        <p:txBody>
          <a:bodyPr wrap="square" lIns="0" tIns="0" rIns="0" bIns="0" rtlCol="0" anchor="t"/>
          <a:lstStyle/>
          <a:p>
            <a:pPr algn="l" indent="0" marL="0">
              <a:lnSpc>
                <a:spcPct val="104000"/>
              </a:lnSpc>
              <a:buNone/>
            </a:pPr>
            <a:r>
              <a:rPr lang="en-US" sz="2300" dirty="0">
                <a:solidFill>
                  <a:srgbClr val="F4F7FB"/>
                </a:solidFill>
                <a:latin typeface="Arial" pitchFamily="34" charset="0"/>
                <a:ea typeface="Arial" pitchFamily="34" charset="-122"/>
                <a:cs typeface="Arial" pitchFamily="34" charset="-120"/>
              </a:rPr>
              <a:t>Locate and map shared objects.</a:t>
            </a:r>
            <a:endParaRPr lang="en-US" sz="2300" dirty="0"/>
          </a:p>
          <a:p>
            <a:pPr algn="l" indent="0" marL="0">
              <a:lnSpc>
                <a:spcPct val="104000"/>
              </a:lnSpc>
              <a:buNone/>
            </a:pPr>
            <a:r>
              <a:rPr lang="en-US" sz="2300" dirty="0">
                <a:solidFill>
                  <a:srgbClr val="F4F7FB"/>
                </a:solidFill>
                <a:latin typeface="Arial" pitchFamily="34" charset="0"/>
                <a:ea typeface="Arial" pitchFamily="34" charset="-122"/>
                <a:cs typeface="Arial" pitchFamily="34" charset="-120"/>
              </a:rPr>
              <a:t>Perform required runtime linking.</a:t>
            </a:r>
            <a:endParaRPr lang="en-US" sz="2300" dirty="0"/>
          </a:p>
          <a:p>
            <a:pPr algn="l" indent="0" marL="0">
              <a:lnSpc>
                <a:spcPct val="104000"/>
              </a:lnSpc>
              <a:buNone/>
            </a:pPr>
            <a:r>
              <a:rPr lang="en-US" sz="2300" dirty="0">
                <a:solidFill>
                  <a:srgbClr val="F4F7FB"/>
                </a:solidFill>
                <a:latin typeface="Arial" pitchFamily="34" charset="0"/>
                <a:ea typeface="Arial" pitchFamily="34" charset="-122"/>
                <a:cs typeface="Arial" pitchFamily="34" charset="-120"/>
              </a:rPr>
              <a:t>Check the deployment environment.</a:t>
            </a:r>
            <a:endParaRPr lang="en-US" sz="2300" dirty="0"/>
          </a:p>
        </p:txBody>
      </p:sp>
      <p:sp>
        <p:nvSpPr>
          <p:cNvPr id="14" name="Text 12"/>
          <p:cNvSpPr txBox="1"/>
          <p:nvPr/>
        </p:nvSpPr>
        <p:spPr>
          <a:xfrm>
            <a:off x="548640" y="5193792"/>
            <a:ext cx="11094720" cy="274320"/>
          </a:xfrm>
          <a:prstGeom prst="rect">
            <a:avLst/>
          </a:prstGeom>
          <a:noFill/>
          <a:ln/>
        </p:spPr>
        <p:txBody>
          <a:bodyPr wrap="square" lIns="0" tIns="0" rIns="0" bIns="0" rtlCol="0" anchor="t"/>
          <a:lstStyle/>
          <a:p>
            <a:pPr algn="l" indent="0" marL="0">
              <a:lnSpc>
                <a:spcPct val="104000"/>
              </a:lnSpc>
              <a:buNone/>
            </a:pPr>
            <a:r>
              <a:rPr lang="en-US" sz="1140" dirty="0">
                <a:solidFill>
                  <a:srgbClr val="B3C3D6"/>
                </a:solidFill>
                <a:latin typeface="Arial" pitchFamily="34" charset="0"/>
                <a:ea typeface="Arial" pitchFamily="34" charset="-122"/>
                <a:cs typeface="Arial" pitchFamily="34" charset="-120"/>
              </a:rPr>
              <a:t>Link success does not imply that every deployment-time dependency is available.</a:t>
            </a:r>
            <a:endParaRPr lang="en-US" sz="1140" dirty="0"/>
          </a:p>
        </p:txBody>
      </p:sp>
      <p:sp>
        <p:nvSpPr>
          <p:cNvPr id="19" name="Text 17"/>
          <p:cNvSpPr txBox="1"/>
          <p:nvPr/>
        </p:nvSpPr>
        <p:spPr>
          <a:xfrm>
            <a:off x="548640" y="6601968"/>
            <a:ext cx="10241280" cy="128016"/>
          </a:xfrm>
          <a:prstGeom prst="rect">
            <a:avLst/>
          </a:prstGeom>
          <a:noFill/>
          <a:ln/>
        </p:spPr>
        <p:txBody>
          <a:bodyPr wrap="square" lIns="0" tIns="0" rIns="0" bIns="0" rtlCol="0" anchor="t"/>
          <a:lstStyle/>
          <a:p>
            <a:pPr algn="l" indent="0" marL="0">
              <a:lnSpc>
                <a:spcPct val="104000"/>
              </a:lnSpc>
              <a:buNone/>
            </a:pPr>
            <a:r>
              <a:rPr lang="en-US" sz="830" dirty="0">
                <a:solidFill>
                  <a:srgbClr val="B3C3D6"/>
                </a:solidFill>
                <a:latin typeface="Arial" pitchFamily="34" charset="0"/>
                <a:ea typeface="Arial" pitchFamily="34" charset="-122"/>
                <a:cs typeface="Arial" pitchFamily="34" charset="-120"/>
              </a:rPr>
              <a:t>Source: original 11, 12 • Graduate extension • [LD, DYNL]</a:t>
            </a:r>
            <a:endParaRPr lang="en-US" sz="830" dirty="0"/>
          </a:p>
        </p:txBody>
      </p:sp>
      <p:sp>
        <p:nvSpPr>
          <p:cNvPr id="20" name="Text 18"/>
          <p:cNvSpPr txBox="1"/>
          <p:nvPr/>
        </p:nvSpPr>
        <p:spPr>
          <a:xfrm>
            <a:off x="10917936" y="6565392"/>
            <a:ext cx="722376" cy="219456"/>
          </a:xfrm>
          <a:prstGeom prst="rect">
            <a:avLst/>
          </a:prstGeom>
          <a:noFill/>
          <a:ln/>
        </p:spPr>
        <p:txBody>
          <a:bodyPr wrap="square" lIns="0" tIns="0" rIns="0" bIns="0" rtlCol="0" anchor="t"/>
          <a:lstStyle/>
          <a:p>
            <a:pPr algn="r" indent="0" marL="0">
              <a:lnSpc>
                <a:spcPct val="104000"/>
              </a:lnSpc>
              <a:buNone/>
            </a:pPr>
            <a:r>
              <a:rPr lang="en-US" sz="1050" dirty="0">
                <a:solidFill>
                  <a:srgbClr val="B3C3D6"/>
                </a:solidFill>
                <a:latin typeface="Arial" pitchFamily="34" charset="0"/>
                <a:ea typeface="Arial" pitchFamily="34" charset="-122"/>
                <a:cs typeface="Arial" pitchFamily="34" charset="-120"/>
              </a:rPr>
              <a:t>25 / 64</a:t>
            </a:r>
            <a:endParaRPr lang="en-US" sz="1050" dirty="0"/>
          </a:p>
        </p:txBody>
      </p:sp>
      <p:sp>
        <p:nvSpPr>
          <p:cNvPr id="21" name="Shape 19"/>
          <p:cNvSpPr/>
          <p:nvPr/>
        </p:nvSpPr>
        <p:spPr>
          <a:xfrm>
            <a:off x="0" y="6834226"/>
            <a:ext cx="12192000" cy="23774"/>
          </a:xfrm>
          <a:prstGeom prst="rect">
            <a:avLst/>
          </a:prstGeom>
          <a:solidFill>
            <a:srgbClr val="2B415A"/>
          </a:solidFill>
          <a:ln w="8890">
            <a:solidFill>
              <a:srgbClr val="2B415A"/>
            </a:solidFill>
            <a:prstDash val="solid"/>
          </a:ln>
        </p:spPr>
        <p:txBody>
          <a:bodyPr/>
          <a:p/>
        </p:txBody>
      </p:sp>
      <p:sp>
        <p:nvSpPr>
          <p:cNvPr id="22" name="Shape 20"/>
          <p:cNvSpPr/>
          <p:nvPr/>
        </p:nvSpPr>
        <p:spPr>
          <a:xfrm>
            <a:off x="0" y="6834226"/>
            <a:ext cx="4762500" cy="23774"/>
          </a:xfrm>
          <a:prstGeom prst="rect">
            <a:avLst/>
          </a:prstGeom>
          <a:solidFill>
            <a:srgbClr val="71D5DD"/>
          </a:solidFill>
          <a:ln w="8890">
            <a:solidFill>
              <a:srgbClr val="71D5DD"/>
            </a:solidFill>
            <a:prstDash val="solid"/>
          </a:ln>
        </p:spPr>
        <p:txBody>
          <a:body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48640" y="219456"/>
            <a:ext cx="9875520" cy="192024"/>
          </a:xfrm>
          <a:prstGeom prst="rect">
            <a:avLst/>
          </a:prstGeom>
          <a:noFill/>
          <a:ln/>
        </p:spPr>
        <p:txBody>
          <a:bodyPr wrap="square" lIns="0" tIns="0" rIns="0" bIns="0" rtlCol="0" anchor="t"/>
          <a:lstStyle/>
          <a:p>
            <a:pPr algn="l" indent="0" marL="0">
              <a:lnSpc>
                <a:spcPct val="104000"/>
              </a:lnSpc>
              <a:buNone/>
            </a:pPr>
            <a:r>
              <a:rPr lang="en-US" sz="970" b="1" spc="135" kern="0" dirty="0">
                <a:solidFill>
                  <a:srgbClr val="B3C3D6"/>
                </a:solidFill>
                <a:latin typeface="Arial" pitchFamily="34" charset="0"/>
                <a:ea typeface="Arial" pitchFamily="34" charset="-122"/>
                <a:cs typeface="Arial" pitchFamily="34" charset="-120"/>
              </a:rPr>
              <a:t>SYSTEMS PROGRAMMING AND MACHINE ORGANIZATION</a:t>
            </a:r>
            <a:endParaRPr lang="en-US" sz="970" dirty="0"/>
          </a:p>
        </p:txBody>
      </p:sp>
      <p:sp>
        <p:nvSpPr>
          <p:cNvPr id="3" name="Text 1"/>
          <p:cNvSpPr txBox="1"/>
          <p:nvPr/>
        </p:nvSpPr>
        <p:spPr>
          <a:xfrm>
            <a:off x="9601200" y="219456"/>
            <a:ext cx="2039112" cy="192024"/>
          </a:xfrm>
          <a:prstGeom prst="rect">
            <a:avLst/>
          </a:prstGeom>
          <a:noFill/>
          <a:ln/>
        </p:spPr>
        <p:txBody>
          <a:bodyPr wrap="square" lIns="0" tIns="0" rIns="0" bIns="0" rtlCol="0" anchor="t"/>
          <a:lstStyle/>
          <a:p>
            <a:pPr algn="r" indent="0" marL="0">
              <a:lnSpc>
                <a:spcPct val="104000"/>
              </a:lnSpc>
              <a:buNone/>
            </a:pPr>
            <a:r>
              <a:rPr lang="en-US" sz="970" b="1" dirty="0">
                <a:solidFill>
                  <a:srgbClr val="B3C3D6"/>
                </a:solidFill>
                <a:latin typeface="Arial" pitchFamily="34" charset="0"/>
                <a:ea typeface="Arial" pitchFamily="34" charset="-122"/>
                <a:cs typeface="Arial" pitchFamily="34" charset="-120"/>
              </a:rPr>
              <a:t>CHARLES DORNER</a:t>
            </a:r>
            <a:endParaRPr lang="en-US" sz="970" dirty="0"/>
          </a:p>
        </p:txBody>
      </p:sp>
      <p:sp>
        <p:nvSpPr>
          <p:cNvPr id="4" name="Text 2"/>
          <p:cNvSpPr txBox="1"/>
          <p:nvPr/>
        </p:nvSpPr>
        <p:spPr>
          <a:xfrm>
            <a:off x="548640" y="566928"/>
            <a:ext cx="11109960" cy="237744"/>
          </a:xfrm>
          <a:prstGeom prst="rect">
            <a:avLst/>
          </a:prstGeom>
          <a:noFill/>
          <a:ln/>
        </p:spPr>
        <p:txBody>
          <a:bodyPr wrap="square" lIns="0" tIns="0" rIns="0" bIns="0" rtlCol="0" anchor="t"/>
          <a:lstStyle/>
          <a:p>
            <a:pPr algn="l" indent="0" marL="0">
              <a:lnSpc>
                <a:spcPct val="104000"/>
              </a:lnSpc>
              <a:buNone/>
            </a:pPr>
            <a:r>
              <a:rPr lang="en-US" sz="1150" b="1" dirty="0">
                <a:solidFill>
                  <a:srgbClr val="71D5DD"/>
                </a:solidFill>
                <a:latin typeface="Arial" pitchFamily="34" charset="0"/>
                <a:ea typeface="Arial" pitchFamily="34" charset="-122"/>
                <a:cs typeface="Arial" pitchFamily="34" charset="-120"/>
              </a:rPr>
              <a:t>1.2.6 · LOADING</a:t>
            </a:r>
            <a:endParaRPr lang="en-US" sz="1150" dirty="0"/>
          </a:p>
        </p:txBody>
      </p:sp>
      <p:sp>
        <p:nvSpPr>
          <p:cNvPr id="5" name="Text 3"/>
          <p:cNvSpPr txBox="1"/>
          <p:nvPr/>
        </p:nvSpPr>
        <p:spPr>
          <a:xfrm>
            <a:off x="548640" y="941832"/>
            <a:ext cx="11091672" cy="676656"/>
          </a:xfrm>
          <a:prstGeom prst="rect">
            <a:avLst/>
          </a:prstGeom>
          <a:noFill/>
          <a:ln/>
        </p:spPr>
        <p:txBody>
          <a:bodyPr wrap="square" lIns="0" tIns="0" rIns="0" bIns="0" rtlCol="0" anchor="t"/>
          <a:lstStyle/>
          <a:p>
            <a:pPr algn="l" indent="0" marL="0">
              <a:lnSpc>
                <a:spcPct val="104000"/>
              </a:lnSpc>
              <a:buNone/>
            </a:pPr>
            <a:r>
              <a:rPr lang="en-US" sz="3150" b="1" dirty="0">
                <a:solidFill>
                  <a:srgbClr val="F4F7FB"/>
                </a:solidFill>
                <a:latin typeface="Arial" pitchFamily="34" charset="0"/>
                <a:ea typeface="Arial" pitchFamily="34" charset="-122"/>
                <a:cs typeface="Arial" pitchFamily="34" charset="-120"/>
              </a:rPr>
              <a:t>Loading establishes the executable process image</a:t>
            </a:r>
            <a:endParaRPr lang="en-US" sz="3150" dirty="0"/>
          </a:p>
        </p:txBody>
      </p:sp>
      <p:sp>
        <p:nvSpPr>
          <p:cNvPr id="6" name="Shape 4"/>
          <p:cNvSpPr/>
          <p:nvPr/>
        </p:nvSpPr>
        <p:spPr>
          <a:xfrm>
            <a:off x="548640" y="1883664"/>
            <a:ext cx="2622804" cy="941832"/>
          </a:xfrm>
          <a:prstGeom prst="rect">
            <a:avLst/>
          </a:prstGeom>
          <a:solidFill>
            <a:srgbClr val="172940"/>
          </a:solidFill>
          <a:ln w="8890">
            <a:solidFill>
              <a:srgbClr val="2B415A"/>
            </a:solidFill>
            <a:prstDash val="solid"/>
          </a:ln>
        </p:spPr>
        <p:txBody>
          <a:bodyPr/>
          <a:p/>
        </p:txBody>
      </p:sp>
      <p:sp>
        <p:nvSpPr>
          <p:cNvPr id="7" name="Text 5"/>
          <p:cNvSpPr txBox="1"/>
          <p:nvPr/>
        </p:nvSpPr>
        <p:spPr>
          <a:xfrm>
            <a:off x="640080" y="2084832"/>
            <a:ext cx="2439924" cy="548640"/>
          </a:xfrm>
          <a:prstGeom prst="rect">
            <a:avLst/>
          </a:prstGeom>
          <a:noFill/>
          <a:ln/>
        </p:spPr>
        <p:txBody>
          <a:bodyPr wrap="square" lIns="0" tIns="0" rIns="0" bIns="0" rtlCol="0" anchor="t"/>
          <a:lstStyle/>
          <a:p>
            <a:pPr algn="ctr" indent="0" marL="0">
              <a:lnSpc>
                <a:spcPct val="104000"/>
              </a:lnSpc>
              <a:buNone/>
            </a:pPr>
            <a:r>
              <a:rPr lang="en-US" sz="1800" b="1" dirty="0">
                <a:solidFill>
                  <a:srgbClr val="F4F7FB"/>
                </a:solidFill>
                <a:latin typeface="Arial" pitchFamily="34" charset="0"/>
                <a:ea typeface="Arial" pitchFamily="34" charset="-122"/>
                <a:cs typeface="Arial" pitchFamily="34" charset="-120"/>
              </a:rPr>
              <a:t>Executable metadata</a:t>
            </a:r>
            <a:endParaRPr lang="en-US" sz="1800" dirty="0"/>
          </a:p>
        </p:txBody>
      </p:sp>
      <p:sp>
        <p:nvSpPr>
          <p:cNvPr id="8" name="Shape 6"/>
          <p:cNvSpPr/>
          <p:nvPr/>
        </p:nvSpPr>
        <p:spPr>
          <a:xfrm>
            <a:off x="3194304" y="2354580"/>
            <a:ext cx="155448" cy="0"/>
          </a:xfrm>
          <a:prstGeom prst="line">
            <a:avLst/>
          </a:prstGeom>
          <a:noFill/>
          <a:ln w="19050">
            <a:solidFill>
              <a:srgbClr val="71D5DD"/>
            </a:solidFill>
            <a:prstDash val="solid"/>
            <a:headEnd type="none"/>
            <a:tailEnd type="triangle"/>
          </a:ln>
        </p:spPr>
        <p:txBody>
          <a:bodyPr/>
          <a:p/>
        </p:txBody>
      </p:sp>
      <p:sp>
        <p:nvSpPr>
          <p:cNvPr id="9" name="Shape 7"/>
          <p:cNvSpPr/>
          <p:nvPr/>
        </p:nvSpPr>
        <p:spPr>
          <a:xfrm>
            <a:off x="3372612" y="1883664"/>
            <a:ext cx="2622804" cy="941832"/>
          </a:xfrm>
          <a:prstGeom prst="rect">
            <a:avLst/>
          </a:prstGeom>
          <a:solidFill>
            <a:srgbClr val="172940"/>
          </a:solidFill>
          <a:ln w="8890">
            <a:solidFill>
              <a:srgbClr val="2B415A"/>
            </a:solidFill>
            <a:prstDash val="solid"/>
          </a:ln>
        </p:spPr>
        <p:txBody>
          <a:bodyPr/>
          <a:p/>
        </p:txBody>
      </p:sp>
      <p:sp>
        <p:nvSpPr>
          <p:cNvPr id="10" name="Text 8"/>
          <p:cNvSpPr txBox="1"/>
          <p:nvPr/>
        </p:nvSpPr>
        <p:spPr>
          <a:xfrm>
            <a:off x="3464052" y="2084832"/>
            <a:ext cx="2439924" cy="548640"/>
          </a:xfrm>
          <a:prstGeom prst="rect">
            <a:avLst/>
          </a:prstGeom>
          <a:noFill/>
          <a:ln/>
        </p:spPr>
        <p:txBody>
          <a:bodyPr wrap="square" lIns="0" tIns="0" rIns="0" bIns="0" rtlCol="0" anchor="t"/>
          <a:lstStyle/>
          <a:p>
            <a:pPr algn="ctr" indent="0" marL="0">
              <a:lnSpc>
                <a:spcPct val="104000"/>
              </a:lnSpc>
              <a:buNone/>
            </a:pPr>
            <a:r>
              <a:rPr lang="en-US" sz="1800" b="1" dirty="0">
                <a:solidFill>
                  <a:srgbClr val="F4F7FB"/>
                </a:solidFill>
                <a:latin typeface="Arial" pitchFamily="34" charset="0"/>
                <a:ea typeface="Arial" pitchFamily="34" charset="-122"/>
                <a:cs typeface="Arial" pitchFamily="34" charset="-120"/>
              </a:rPr>
              <a:t>Address mappings</a:t>
            </a:r>
            <a:endParaRPr lang="en-US" sz="1800" dirty="0"/>
          </a:p>
        </p:txBody>
      </p:sp>
      <p:sp>
        <p:nvSpPr>
          <p:cNvPr id="11" name="Shape 9"/>
          <p:cNvSpPr/>
          <p:nvPr/>
        </p:nvSpPr>
        <p:spPr>
          <a:xfrm>
            <a:off x="6018276" y="2354580"/>
            <a:ext cx="155448" cy="0"/>
          </a:xfrm>
          <a:prstGeom prst="line">
            <a:avLst/>
          </a:prstGeom>
          <a:noFill/>
          <a:ln w="19050">
            <a:solidFill>
              <a:srgbClr val="71D5DD"/>
            </a:solidFill>
            <a:prstDash val="solid"/>
            <a:headEnd type="none"/>
            <a:tailEnd type="triangle"/>
          </a:ln>
        </p:spPr>
        <p:txBody>
          <a:bodyPr/>
          <a:p/>
        </p:txBody>
      </p:sp>
      <p:sp>
        <p:nvSpPr>
          <p:cNvPr id="12" name="Shape 10"/>
          <p:cNvSpPr/>
          <p:nvPr/>
        </p:nvSpPr>
        <p:spPr>
          <a:xfrm>
            <a:off x="6196584" y="1883664"/>
            <a:ext cx="2622804" cy="941832"/>
          </a:xfrm>
          <a:prstGeom prst="rect">
            <a:avLst/>
          </a:prstGeom>
          <a:solidFill>
            <a:srgbClr val="172940"/>
          </a:solidFill>
          <a:ln w="8890">
            <a:solidFill>
              <a:srgbClr val="2B415A"/>
            </a:solidFill>
            <a:prstDash val="solid"/>
          </a:ln>
        </p:spPr>
        <p:txBody>
          <a:bodyPr/>
          <a:p/>
        </p:txBody>
      </p:sp>
      <p:sp>
        <p:nvSpPr>
          <p:cNvPr id="13" name="Text 11"/>
          <p:cNvSpPr txBox="1"/>
          <p:nvPr/>
        </p:nvSpPr>
        <p:spPr>
          <a:xfrm>
            <a:off x="6288024" y="2084832"/>
            <a:ext cx="2439924" cy="548640"/>
          </a:xfrm>
          <a:prstGeom prst="rect">
            <a:avLst/>
          </a:prstGeom>
          <a:noFill/>
          <a:ln/>
        </p:spPr>
        <p:txBody>
          <a:bodyPr wrap="square" lIns="0" tIns="0" rIns="0" bIns="0" rtlCol="0" anchor="t"/>
          <a:lstStyle/>
          <a:p>
            <a:pPr algn="ctr" indent="0" marL="0">
              <a:lnSpc>
                <a:spcPct val="104000"/>
              </a:lnSpc>
              <a:buNone/>
            </a:pPr>
            <a:r>
              <a:rPr lang="en-US" sz="1800" b="1" dirty="0">
                <a:solidFill>
                  <a:srgbClr val="F4F7FB"/>
                </a:solidFill>
                <a:latin typeface="Arial" pitchFamily="34" charset="0"/>
                <a:ea typeface="Arial" pitchFamily="34" charset="-122"/>
                <a:cs typeface="Arial" pitchFamily="34" charset="-120"/>
              </a:rPr>
              <a:t>Dynamic-loader work</a:t>
            </a:r>
            <a:endParaRPr lang="en-US" sz="1800" dirty="0"/>
          </a:p>
        </p:txBody>
      </p:sp>
      <p:sp>
        <p:nvSpPr>
          <p:cNvPr id="14" name="Shape 12"/>
          <p:cNvSpPr/>
          <p:nvPr/>
        </p:nvSpPr>
        <p:spPr>
          <a:xfrm>
            <a:off x="8842248" y="2354580"/>
            <a:ext cx="155448" cy="0"/>
          </a:xfrm>
          <a:prstGeom prst="line">
            <a:avLst/>
          </a:prstGeom>
          <a:noFill/>
          <a:ln w="19050">
            <a:solidFill>
              <a:srgbClr val="71D5DD"/>
            </a:solidFill>
            <a:prstDash val="solid"/>
            <a:headEnd type="none"/>
            <a:tailEnd type="triangle"/>
          </a:ln>
        </p:spPr>
        <p:txBody>
          <a:bodyPr/>
          <a:p/>
        </p:txBody>
      </p:sp>
      <p:sp>
        <p:nvSpPr>
          <p:cNvPr id="15" name="Shape 13"/>
          <p:cNvSpPr/>
          <p:nvPr/>
        </p:nvSpPr>
        <p:spPr>
          <a:xfrm>
            <a:off x="9020556" y="1883664"/>
            <a:ext cx="2622804" cy="941832"/>
          </a:xfrm>
          <a:prstGeom prst="rect">
            <a:avLst/>
          </a:prstGeom>
          <a:solidFill>
            <a:srgbClr val="172940"/>
          </a:solidFill>
          <a:ln w="8890">
            <a:solidFill>
              <a:srgbClr val="2B415A"/>
            </a:solidFill>
            <a:prstDash val="solid"/>
          </a:ln>
        </p:spPr>
        <p:txBody>
          <a:bodyPr/>
          <a:p/>
        </p:txBody>
      </p:sp>
      <p:sp>
        <p:nvSpPr>
          <p:cNvPr id="16" name="Text 14"/>
          <p:cNvSpPr txBox="1"/>
          <p:nvPr/>
        </p:nvSpPr>
        <p:spPr>
          <a:xfrm>
            <a:off x="9111996" y="2084832"/>
            <a:ext cx="2439924" cy="548640"/>
          </a:xfrm>
          <a:prstGeom prst="rect">
            <a:avLst/>
          </a:prstGeom>
          <a:noFill/>
          <a:ln/>
        </p:spPr>
        <p:txBody>
          <a:bodyPr wrap="square" lIns="0" tIns="0" rIns="0" bIns="0" rtlCol="0" anchor="t"/>
          <a:lstStyle/>
          <a:p>
            <a:pPr algn="ctr" indent="0" marL="0">
              <a:lnSpc>
                <a:spcPct val="104000"/>
              </a:lnSpc>
              <a:buNone/>
            </a:pPr>
            <a:r>
              <a:rPr lang="en-US" sz="1800" b="1" dirty="0">
                <a:solidFill>
                  <a:srgbClr val="F4F7FB"/>
                </a:solidFill>
                <a:latin typeface="Arial" pitchFamily="34" charset="0"/>
                <a:ea typeface="Arial" pitchFamily="34" charset="-122"/>
                <a:cs typeface="Arial" pitchFamily="34" charset="-120"/>
              </a:rPr>
              <a:t>Entry point / startup</a:t>
            </a:r>
            <a:endParaRPr lang="en-US" sz="1800" dirty="0"/>
          </a:p>
        </p:txBody>
      </p:sp>
      <p:sp>
        <p:nvSpPr>
          <p:cNvPr id="17" name="Text 15"/>
          <p:cNvSpPr txBox="1"/>
          <p:nvPr/>
        </p:nvSpPr>
        <p:spPr>
          <a:xfrm>
            <a:off x="566928" y="3191256"/>
            <a:ext cx="384048" cy="237744"/>
          </a:xfrm>
          <a:prstGeom prst="rect">
            <a:avLst/>
          </a:prstGeom>
          <a:noFill/>
          <a:ln/>
        </p:spPr>
        <p:txBody>
          <a:bodyPr wrap="square" lIns="0" tIns="0" rIns="0" bIns="0" rtlCol="0" anchor="t"/>
          <a:lstStyle/>
          <a:p>
            <a:pPr algn="l" indent="0" marL="0">
              <a:lnSpc>
                <a:spcPct val="104000"/>
              </a:lnSpc>
              <a:buNone/>
            </a:pPr>
            <a:r>
              <a:rPr lang="en-US" sz="1350" b="1" dirty="0">
                <a:solidFill>
                  <a:srgbClr val="71D5DD"/>
                </a:solidFill>
                <a:latin typeface="Arial" pitchFamily="34" charset="0"/>
                <a:ea typeface="Arial" pitchFamily="34" charset="-122"/>
                <a:cs typeface="Arial" pitchFamily="34" charset="-120"/>
              </a:rPr>
              <a:t>01</a:t>
            </a:r>
            <a:endParaRPr lang="en-US" sz="1350" dirty="0"/>
          </a:p>
        </p:txBody>
      </p:sp>
      <p:sp>
        <p:nvSpPr>
          <p:cNvPr id="18" name="Text 16"/>
          <p:cNvSpPr txBox="1"/>
          <p:nvPr/>
        </p:nvSpPr>
        <p:spPr>
          <a:xfrm>
            <a:off x="1124712" y="3136392"/>
            <a:ext cx="10515600" cy="576072"/>
          </a:xfrm>
          <a:prstGeom prst="rect">
            <a:avLst/>
          </a:prstGeom>
          <a:noFill/>
          <a:ln/>
        </p:spPr>
        <p:txBody>
          <a:bodyPr wrap="square" lIns="0" tIns="0" rIns="0" bIns="0" rtlCol="0" anchor="t"/>
          <a:lstStyle/>
          <a:p>
            <a:pPr algn="l" indent="0" marL="0">
              <a:lnSpc>
                <a:spcPct val="104000"/>
              </a:lnSpc>
              <a:buNone/>
            </a:pPr>
            <a:r>
              <a:rPr lang="en-US" sz="2150" dirty="0">
                <a:solidFill>
                  <a:srgbClr val="F4F7FB"/>
                </a:solidFill>
                <a:latin typeface="Arial" pitchFamily="34" charset="0"/>
                <a:ea typeface="Arial" pitchFamily="34" charset="-122"/>
                <a:cs typeface="Arial" pitchFamily="34" charset="-120"/>
              </a:rPr>
              <a:t>Linux execve replaces a process image; it does not itself create a new process.</a:t>
            </a:r>
            <a:endParaRPr lang="en-US" sz="2150" dirty="0"/>
          </a:p>
        </p:txBody>
      </p:sp>
      <p:sp>
        <p:nvSpPr>
          <p:cNvPr id="19" name="Text 17"/>
          <p:cNvSpPr txBox="1"/>
          <p:nvPr/>
        </p:nvSpPr>
        <p:spPr>
          <a:xfrm>
            <a:off x="566928" y="3803904"/>
            <a:ext cx="384048" cy="237744"/>
          </a:xfrm>
          <a:prstGeom prst="rect">
            <a:avLst/>
          </a:prstGeom>
          <a:noFill/>
          <a:ln/>
        </p:spPr>
        <p:txBody>
          <a:bodyPr wrap="square" lIns="0" tIns="0" rIns="0" bIns="0" rtlCol="0" anchor="t"/>
          <a:lstStyle/>
          <a:p>
            <a:pPr algn="l" indent="0" marL="0">
              <a:lnSpc>
                <a:spcPct val="104000"/>
              </a:lnSpc>
              <a:buNone/>
            </a:pPr>
            <a:r>
              <a:rPr lang="en-US" sz="1350" b="1" dirty="0">
                <a:solidFill>
                  <a:srgbClr val="71D5DD"/>
                </a:solidFill>
                <a:latin typeface="Arial" pitchFamily="34" charset="0"/>
                <a:ea typeface="Arial" pitchFamily="34" charset="-122"/>
                <a:cs typeface="Arial" pitchFamily="34" charset="-120"/>
              </a:rPr>
              <a:t>02</a:t>
            </a:r>
            <a:endParaRPr lang="en-US" sz="1350" dirty="0"/>
          </a:p>
        </p:txBody>
      </p:sp>
      <p:sp>
        <p:nvSpPr>
          <p:cNvPr id="20" name="Text 18"/>
          <p:cNvSpPr txBox="1"/>
          <p:nvPr/>
        </p:nvSpPr>
        <p:spPr>
          <a:xfrm>
            <a:off x="1124712" y="3749040"/>
            <a:ext cx="10515600" cy="576072"/>
          </a:xfrm>
          <a:prstGeom prst="rect">
            <a:avLst/>
          </a:prstGeom>
          <a:noFill/>
          <a:ln/>
        </p:spPr>
        <p:txBody>
          <a:bodyPr wrap="square" lIns="0" tIns="0" rIns="0" bIns="0" rtlCol="0" anchor="t"/>
          <a:lstStyle/>
          <a:p>
            <a:pPr algn="l" indent="0" marL="0">
              <a:lnSpc>
                <a:spcPct val="104000"/>
              </a:lnSpc>
              <a:buNone/>
            </a:pPr>
            <a:r>
              <a:rPr lang="en-US" sz="2150" dirty="0">
                <a:solidFill>
                  <a:srgbClr val="F4F7FB"/>
                </a:solidFill>
                <a:latin typeface="Arial" pitchFamily="34" charset="0"/>
                <a:ea typeface="Arial" pitchFamily="34" charset="-122"/>
                <a:cs typeface="Arial" pitchFamily="34" charset="-120"/>
              </a:rPr>
              <a:t>ELF program headers describe load-relevant segments.</a:t>
            </a:r>
            <a:endParaRPr lang="en-US" sz="2150" dirty="0"/>
          </a:p>
        </p:txBody>
      </p:sp>
      <p:sp>
        <p:nvSpPr>
          <p:cNvPr id="21" name="Text 19"/>
          <p:cNvSpPr txBox="1"/>
          <p:nvPr/>
        </p:nvSpPr>
        <p:spPr>
          <a:xfrm>
            <a:off x="566928" y="4416552"/>
            <a:ext cx="384048" cy="237744"/>
          </a:xfrm>
          <a:prstGeom prst="rect">
            <a:avLst/>
          </a:prstGeom>
          <a:noFill/>
          <a:ln/>
        </p:spPr>
        <p:txBody>
          <a:bodyPr wrap="square" lIns="0" tIns="0" rIns="0" bIns="0" rtlCol="0" anchor="t"/>
          <a:lstStyle/>
          <a:p>
            <a:pPr algn="l" indent="0" marL="0">
              <a:lnSpc>
                <a:spcPct val="104000"/>
              </a:lnSpc>
              <a:buNone/>
            </a:pPr>
            <a:r>
              <a:rPr lang="en-US" sz="1350" b="1" dirty="0">
                <a:solidFill>
                  <a:srgbClr val="71D5DD"/>
                </a:solidFill>
                <a:latin typeface="Arial" pitchFamily="34" charset="0"/>
                <a:ea typeface="Arial" pitchFamily="34" charset="-122"/>
                <a:cs typeface="Arial" pitchFamily="34" charset="-120"/>
              </a:rPr>
              <a:t>03</a:t>
            </a:r>
            <a:endParaRPr lang="en-US" sz="1350" dirty="0"/>
          </a:p>
        </p:txBody>
      </p:sp>
      <p:sp>
        <p:nvSpPr>
          <p:cNvPr id="22" name="Text 20"/>
          <p:cNvSpPr txBox="1"/>
          <p:nvPr/>
        </p:nvSpPr>
        <p:spPr>
          <a:xfrm>
            <a:off x="1124712" y="4361688"/>
            <a:ext cx="10515600" cy="576072"/>
          </a:xfrm>
          <a:prstGeom prst="rect">
            <a:avLst/>
          </a:prstGeom>
          <a:noFill/>
          <a:ln/>
        </p:spPr>
        <p:txBody>
          <a:bodyPr wrap="square" lIns="0" tIns="0" rIns="0" bIns="0" rtlCol="0" anchor="t"/>
          <a:lstStyle/>
          <a:p>
            <a:pPr algn="l" indent="0" marL="0">
              <a:lnSpc>
                <a:spcPct val="104000"/>
              </a:lnSpc>
              <a:buNone/>
            </a:pPr>
            <a:r>
              <a:rPr lang="en-US" sz="2150" dirty="0">
                <a:solidFill>
                  <a:srgbClr val="F4F7FB"/>
                </a:solidFill>
                <a:latin typeface="Arial" pitchFamily="34" charset="0"/>
                <a:ea typeface="Arial" pitchFamily="34" charset="-122"/>
                <a:cs typeface="Arial" pitchFamily="34" charset="-120"/>
              </a:rPr>
              <a:t>A successful launch is not a guarantee of later resource access.</a:t>
            </a:r>
            <a:endParaRPr lang="en-US" sz="2150" dirty="0"/>
          </a:p>
        </p:txBody>
      </p:sp>
      <p:sp>
        <p:nvSpPr>
          <p:cNvPr id="27" name="Text 25"/>
          <p:cNvSpPr txBox="1"/>
          <p:nvPr/>
        </p:nvSpPr>
        <p:spPr>
          <a:xfrm>
            <a:off x="548640" y="6601968"/>
            <a:ext cx="10241280" cy="128016"/>
          </a:xfrm>
          <a:prstGeom prst="rect">
            <a:avLst/>
          </a:prstGeom>
          <a:noFill/>
          <a:ln/>
        </p:spPr>
        <p:txBody>
          <a:bodyPr wrap="square" lIns="0" tIns="0" rIns="0" bIns="0" rtlCol="0" anchor="t"/>
          <a:lstStyle/>
          <a:p>
            <a:pPr algn="l" indent="0" marL="0">
              <a:lnSpc>
                <a:spcPct val="104000"/>
              </a:lnSpc>
              <a:buNone/>
            </a:pPr>
            <a:r>
              <a:rPr lang="en-US" sz="830" dirty="0">
                <a:solidFill>
                  <a:srgbClr val="B3C3D6"/>
                </a:solidFill>
                <a:latin typeface="Arial" pitchFamily="34" charset="0"/>
                <a:ea typeface="Arial" pitchFamily="34" charset="-122"/>
                <a:cs typeface="Arial" pitchFamily="34" charset="-120"/>
              </a:rPr>
              <a:t>Source: original 12 • Graduate extension • [EXEC, PH, DYNL]</a:t>
            </a:r>
            <a:endParaRPr lang="en-US" sz="830" dirty="0"/>
          </a:p>
        </p:txBody>
      </p:sp>
      <p:sp>
        <p:nvSpPr>
          <p:cNvPr id="28" name="Text 26"/>
          <p:cNvSpPr txBox="1"/>
          <p:nvPr/>
        </p:nvSpPr>
        <p:spPr>
          <a:xfrm>
            <a:off x="10917936" y="6565392"/>
            <a:ext cx="722376" cy="219456"/>
          </a:xfrm>
          <a:prstGeom prst="rect">
            <a:avLst/>
          </a:prstGeom>
          <a:noFill/>
          <a:ln/>
        </p:spPr>
        <p:txBody>
          <a:bodyPr wrap="square" lIns="0" tIns="0" rIns="0" bIns="0" rtlCol="0" anchor="t"/>
          <a:lstStyle/>
          <a:p>
            <a:pPr algn="r" indent="0" marL="0">
              <a:lnSpc>
                <a:spcPct val="104000"/>
              </a:lnSpc>
              <a:buNone/>
            </a:pPr>
            <a:r>
              <a:rPr lang="en-US" sz="1050" dirty="0">
                <a:solidFill>
                  <a:srgbClr val="B3C3D6"/>
                </a:solidFill>
                <a:latin typeface="Arial" pitchFamily="34" charset="0"/>
                <a:ea typeface="Arial" pitchFamily="34" charset="-122"/>
                <a:cs typeface="Arial" pitchFamily="34" charset="-120"/>
              </a:rPr>
              <a:t>26 / 64</a:t>
            </a:r>
            <a:endParaRPr lang="en-US" sz="1050" dirty="0"/>
          </a:p>
        </p:txBody>
      </p:sp>
      <p:sp>
        <p:nvSpPr>
          <p:cNvPr id="29" name="Shape 27"/>
          <p:cNvSpPr/>
          <p:nvPr/>
        </p:nvSpPr>
        <p:spPr>
          <a:xfrm>
            <a:off x="0" y="6834226"/>
            <a:ext cx="12192000" cy="23774"/>
          </a:xfrm>
          <a:prstGeom prst="rect">
            <a:avLst/>
          </a:prstGeom>
          <a:solidFill>
            <a:srgbClr val="2B415A"/>
          </a:solidFill>
          <a:ln w="8890">
            <a:solidFill>
              <a:srgbClr val="2B415A"/>
            </a:solidFill>
            <a:prstDash val="solid"/>
          </a:ln>
        </p:spPr>
        <p:txBody>
          <a:bodyPr/>
          <a:p/>
        </p:txBody>
      </p:sp>
      <p:sp>
        <p:nvSpPr>
          <p:cNvPr id="30" name="Shape 28"/>
          <p:cNvSpPr/>
          <p:nvPr/>
        </p:nvSpPr>
        <p:spPr>
          <a:xfrm>
            <a:off x="0" y="6834226"/>
            <a:ext cx="4953000" cy="23774"/>
          </a:xfrm>
          <a:prstGeom prst="rect">
            <a:avLst/>
          </a:prstGeom>
          <a:solidFill>
            <a:srgbClr val="71D5DD"/>
          </a:solidFill>
          <a:ln w="8890">
            <a:solidFill>
              <a:srgbClr val="71D5DD"/>
            </a:solidFill>
            <a:prstDash val="solid"/>
          </a:ln>
        </p:spPr>
        <p:txBody>
          <a:body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48640" y="219456"/>
            <a:ext cx="9875520" cy="192024"/>
          </a:xfrm>
          <a:prstGeom prst="rect">
            <a:avLst/>
          </a:prstGeom>
          <a:noFill/>
          <a:ln/>
        </p:spPr>
        <p:txBody>
          <a:bodyPr wrap="square" lIns="0" tIns="0" rIns="0" bIns="0" rtlCol="0" anchor="t"/>
          <a:lstStyle/>
          <a:p>
            <a:pPr algn="l" indent="0" marL="0">
              <a:lnSpc>
                <a:spcPct val="104000"/>
              </a:lnSpc>
              <a:buNone/>
            </a:pPr>
            <a:r>
              <a:rPr lang="en-US" sz="970" b="1" spc="135" kern="0" dirty="0">
                <a:solidFill>
                  <a:srgbClr val="B3C3D6"/>
                </a:solidFill>
                <a:latin typeface="Arial" pitchFamily="34" charset="0"/>
                <a:ea typeface="Arial" pitchFamily="34" charset="-122"/>
                <a:cs typeface="Arial" pitchFamily="34" charset="-120"/>
              </a:rPr>
              <a:t>SYSTEMS PROGRAMMING AND MACHINE ORGANIZATION</a:t>
            </a:r>
            <a:endParaRPr lang="en-US" sz="970" dirty="0"/>
          </a:p>
        </p:txBody>
      </p:sp>
      <p:sp>
        <p:nvSpPr>
          <p:cNvPr id="3" name="Text 1"/>
          <p:cNvSpPr txBox="1"/>
          <p:nvPr/>
        </p:nvSpPr>
        <p:spPr>
          <a:xfrm>
            <a:off x="9601200" y="219456"/>
            <a:ext cx="2039112" cy="192024"/>
          </a:xfrm>
          <a:prstGeom prst="rect">
            <a:avLst/>
          </a:prstGeom>
          <a:noFill/>
          <a:ln/>
        </p:spPr>
        <p:txBody>
          <a:bodyPr wrap="square" lIns="0" tIns="0" rIns="0" bIns="0" rtlCol="0" anchor="t"/>
          <a:lstStyle/>
          <a:p>
            <a:pPr algn="r" indent="0" marL="0">
              <a:lnSpc>
                <a:spcPct val="104000"/>
              </a:lnSpc>
              <a:buNone/>
            </a:pPr>
            <a:r>
              <a:rPr lang="en-US" sz="970" b="1" dirty="0">
                <a:solidFill>
                  <a:srgbClr val="B3C3D6"/>
                </a:solidFill>
                <a:latin typeface="Arial" pitchFamily="34" charset="0"/>
                <a:ea typeface="Arial" pitchFamily="34" charset="-122"/>
                <a:cs typeface="Arial" pitchFamily="34" charset="-120"/>
              </a:rPr>
              <a:t>CHARLES DORNER</a:t>
            </a:r>
            <a:endParaRPr lang="en-US" sz="970" dirty="0"/>
          </a:p>
        </p:txBody>
      </p:sp>
      <p:sp>
        <p:nvSpPr>
          <p:cNvPr id="4" name="Text 2"/>
          <p:cNvSpPr txBox="1"/>
          <p:nvPr/>
        </p:nvSpPr>
        <p:spPr>
          <a:xfrm>
            <a:off x="548640" y="566928"/>
            <a:ext cx="11109960" cy="237744"/>
          </a:xfrm>
          <a:prstGeom prst="rect">
            <a:avLst/>
          </a:prstGeom>
          <a:noFill/>
          <a:ln/>
        </p:spPr>
        <p:txBody>
          <a:bodyPr wrap="square" lIns="0" tIns="0" rIns="0" bIns="0" rtlCol="0" anchor="t"/>
          <a:lstStyle/>
          <a:p>
            <a:pPr algn="l" indent="0" marL="0">
              <a:lnSpc>
                <a:spcPct val="104000"/>
              </a:lnSpc>
              <a:buNone/>
            </a:pPr>
            <a:r>
              <a:rPr lang="en-US" sz="1150" b="1" dirty="0">
                <a:solidFill>
                  <a:srgbClr val="71D5DD"/>
                </a:solidFill>
                <a:latin typeface="Arial" pitchFamily="34" charset="0"/>
                <a:ea typeface="Arial" pitchFamily="34" charset="-122"/>
                <a:cs typeface="Arial" pitchFamily="34" charset="-120"/>
              </a:rPr>
              <a:t>1.2.6 · DEMAND PAGING</a:t>
            </a:r>
            <a:endParaRPr lang="en-US" sz="1150" dirty="0"/>
          </a:p>
        </p:txBody>
      </p:sp>
      <p:sp>
        <p:nvSpPr>
          <p:cNvPr id="5" name="Text 3"/>
          <p:cNvSpPr txBox="1"/>
          <p:nvPr/>
        </p:nvSpPr>
        <p:spPr>
          <a:xfrm>
            <a:off x="548640" y="941832"/>
            <a:ext cx="11091672" cy="676656"/>
          </a:xfrm>
          <a:prstGeom prst="rect">
            <a:avLst/>
          </a:prstGeom>
          <a:noFill/>
          <a:ln/>
        </p:spPr>
        <p:txBody>
          <a:bodyPr wrap="square" lIns="0" tIns="0" rIns="0" bIns="0" rtlCol="0" anchor="t"/>
          <a:lstStyle/>
          <a:p>
            <a:pPr algn="l" indent="0" marL="0">
              <a:lnSpc>
                <a:spcPct val="104000"/>
              </a:lnSpc>
              <a:buNone/>
            </a:pPr>
            <a:r>
              <a:rPr lang="en-US" sz="3150" b="1" dirty="0">
                <a:solidFill>
                  <a:srgbClr val="F4F7FB"/>
                </a:solidFill>
                <a:latin typeface="Arial" pitchFamily="34" charset="0"/>
                <a:ea typeface="Arial" pitchFamily="34" charset="-122"/>
                <a:cs typeface="Arial" pitchFamily="34" charset="-120"/>
              </a:rPr>
              <a:t>Mapped memory is not necessarily resident memory</a:t>
            </a:r>
            <a:endParaRPr lang="en-US" sz="3150" dirty="0"/>
          </a:p>
        </p:txBody>
      </p:sp>
      <p:sp>
        <p:nvSpPr>
          <p:cNvPr id="6" name="Shape 4"/>
          <p:cNvSpPr/>
          <p:nvPr/>
        </p:nvSpPr>
        <p:spPr>
          <a:xfrm>
            <a:off x="548640" y="1764792"/>
            <a:ext cx="3564128" cy="3310128"/>
          </a:xfrm>
          <a:prstGeom prst="rect">
            <a:avLst/>
          </a:prstGeom>
          <a:solidFill>
            <a:srgbClr val="142238"/>
          </a:solidFill>
          <a:ln w="8890">
            <a:solidFill>
              <a:srgbClr val="2B415A"/>
            </a:solidFill>
            <a:prstDash val="solid"/>
          </a:ln>
        </p:spPr>
        <p:txBody>
          <a:bodyPr/>
          <a:p/>
        </p:txBody>
      </p:sp>
      <p:sp>
        <p:nvSpPr>
          <p:cNvPr id="7" name="Shape 5"/>
          <p:cNvSpPr/>
          <p:nvPr/>
        </p:nvSpPr>
        <p:spPr>
          <a:xfrm>
            <a:off x="548640" y="1764792"/>
            <a:ext cx="41148" cy="3310128"/>
          </a:xfrm>
          <a:prstGeom prst="rect">
            <a:avLst/>
          </a:prstGeom>
          <a:solidFill>
            <a:srgbClr val="71D5DD"/>
          </a:solidFill>
          <a:ln w="8890">
            <a:solidFill>
              <a:srgbClr val="71D5DD"/>
            </a:solidFill>
            <a:prstDash val="solid"/>
          </a:ln>
        </p:spPr>
        <p:txBody>
          <a:bodyPr/>
          <a:p/>
        </p:txBody>
      </p:sp>
      <p:sp>
        <p:nvSpPr>
          <p:cNvPr id="8" name="Text 6"/>
          <p:cNvSpPr txBox="1"/>
          <p:nvPr/>
        </p:nvSpPr>
        <p:spPr>
          <a:xfrm>
            <a:off x="758952" y="1975104"/>
            <a:ext cx="3134360" cy="557784"/>
          </a:xfrm>
          <a:prstGeom prst="rect">
            <a:avLst/>
          </a:prstGeom>
          <a:noFill/>
          <a:ln/>
        </p:spPr>
        <p:txBody>
          <a:bodyPr wrap="square" lIns="0" tIns="0" rIns="0" bIns="0" rtlCol="0" anchor="t"/>
          <a:lstStyle/>
          <a:p>
            <a:pPr algn="l" indent="0" marL="0">
              <a:lnSpc>
                <a:spcPct val="104000"/>
              </a:lnSpc>
              <a:buNone/>
            </a:pPr>
            <a:r>
              <a:rPr lang="en-US" sz="1750" b="1" dirty="0">
                <a:solidFill>
                  <a:srgbClr val="71D5DD"/>
                </a:solidFill>
                <a:latin typeface="Arial" pitchFamily="34" charset="0"/>
                <a:ea typeface="Arial" pitchFamily="34" charset="-122"/>
                <a:cs typeface="Arial" pitchFamily="34" charset="-120"/>
              </a:rPr>
              <a:t>MAPPED</a:t>
            </a:r>
            <a:endParaRPr lang="en-US" sz="1750" dirty="0"/>
          </a:p>
        </p:txBody>
      </p:sp>
      <p:sp>
        <p:nvSpPr>
          <p:cNvPr id="9" name="Text 7"/>
          <p:cNvSpPr txBox="1"/>
          <p:nvPr/>
        </p:nvSpPr>
        <p:spPr>
          <a:xfrm>
            <a:off x="758952" y="2642616"/>
            <a:ext cx="3134360" cy="2267712"/>
          </a:xfrm>
          <a:prstGeom prst="rect">
            <a:avLst/>
          </a:prstGeom>
          <a:noFill/>
          <a:ln/>
        </p:spPr>
        <p:txBody>
          <a:bodyPr wrap="square" lIns="0" tIns="0" rIns="0" bIns="0" rtlCol="0" anchor="t"/>
          <a:lstStyle/>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The virtual range has an</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established meaning</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and permissions.</a:t>
            </a:r>
            <a:endParaRPr lang="en-US" sz="2200" dirty="0"/>
          </a:p>
        </p:txBody>
      </p:sp>
      <p:sp>
        <p:nvSpPr>
          <p:cNvPr id="10" name="Shape 8"/>
          <p:cNvSpPr/>
          <p:nvPr/>
        </p:nvSpPr>
        <p:spPr>
          <a:xfrm>
            <a:off x="4313936" y="1764792"/>
            <a:ext cx="3564128" cy="3310128"/>
          </a:xfrm>
          <a:prstGeom prst="rect">
            <a:avLst/>
          </a:prstGeom>
          <a:solidFill>
            <a:srgbClr val="142238"/>
          </a:solidFill>
          <a:ln w="8890">
            <a:solidFill>
              <a:srgbClr val="2B415A"/>
            </a:solidFill>
            <a:prstDash val="solid"/>
          </a:ln>
        </p:spPr>
        <p:txBody>
          <a:bodyPr/>
          <a:p/>
        </p:txBody>
      </p:sp>
      <p:sp>
        <p:nvSpPr>
          <p:cNvPr id="11" name="Shape 9"/>
          <p:cNvSpPr/>
          <p:nvPr/>
        </p:nvSpPr>
        <p:spPr>
          <a:xfrm>
            <a:off x="4313936" y="1764792"/>
            <a:ext cx="41148" cy="3310128"/>
          </a:xfrm>
          <a:prstGeom prst="rect">
            <a:avLst/>
          </a:prstGeom>
          <a:solidFill>
            <a:srgbClr val="71D5DD"/>
          </a:solidFill>
          <a:ln w="8890">
            <a:solidFill>
              <a:srgbClr val="71D5DD"/>
            </a:solidFill>
            <a:prstDash val="solid"/>
          </a:ln>
        </p:spPr>
        <p:txBody>
          <a:bodyPr/>
          <a:p/>
        </p:txBody>
      </p:sp>
      <p:sp>
        <p:nvSpPr>
          <p:cNvPr id="12" name="Text 10"/>
          <p:cNvSpPr txBox="1"/>
          <p:nvPr/>
        </p:nvSpPr>
        <p:spPr>
          <a:xfrm>
            <a:off x="4524248" y="1975104"/>
            <a:ext cx="3134360" cy="557784"/>
          </a:xfrm>
          <a:prstGeom prst="rect">
            <a:avLst/>
          </a:prstGeom>
          <a:noFill/>
          <a:ln/>
        </p:spPr>
        <p:txBody>
          <a:bodyPr wrap="square" lIns="0" tIns="0" rIns="0" bIns="0" rtlCol="0" anchor="t"/>
          <a:lstStyle/>
          <a:p>
            <a:pPr algn="l" indent="0" marL="0">
              <a:lnSpc>
                <a:spcPct val="104000"/>
              </a:lnSpc>
              <a:buNone/>
            </a:pPr>
            <a:r>
              <a:rPr lang="en-US" sz="1750" b="1" dirty="0">
                <a:solidFill>
                  <a:srgbClr val="71D5DD"/>
                </a:solidFill>
                <a:latin typeface="Arial" pitchFamily="34" charset="0"/>
                <a:ea typeface="Arial" pitchFamily="34" charset="-122"/>
                <a:cs typeface="Arial" pitchFamily="34" charset="-120"/>
              </a:rPr>
              <a:t>RESIDENT</a:t>
            </a:r>
            <a:endParaRPr lang="en-US" sz="1750" dirty="0"/>
          </a:p>
        </p:txBody>
      </p:sp>
      <p:sp>
        <p:nvSpPr>
          <p:cNvPr id="13" name="Text 11"/>
          <p:cNvSpPr txBox="1"/>
          <p:nvPr/>
        </p:nvSpPr>
        <p:spPr>
          <a:xfrm>
            <a:off x="4524248" y="2642616"/>
            <a:ext cx="3134360" cy="2267712"/>
          </a:xfrm>
          <a:prstGeom prst="rect">
            <a:avLst/>
          </a:prstGeom>
          <a:noFill/>
          <a:ln/>
        </p:spPr>
        <p:txBody>
          <a:bodyPr wrap="square" lIns="0" tIns="0" rIns="0" bIns="0" rtlCol="0" anchor="t"/>
          <a:lstStyle/>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The relevant contents</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are currently available in</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physical memory.</a:t>
            </a:r>
            <a:endParaRPr lang="en-US" sz="2200" dirty="0"/>
          </a:p>
        </p:txBody>
      </p:sp>
      <p:sp>
        <p:nvSpPr>
          <p:cNvPr id="14" name="Shape 12"/>
          <p:cNvSpPr/>
          <p:nvPr/>
        </p:nvSpPr>
        <p:spPr>
          <a:xfrm>
            <a:off x="8079232" y="1764792"/>
            <a:ext cx="3564128" cy="3310128"/>
          </a:xfrm>
          <a:prstGeom prst="rect">
            <a:avLst/>
          </a:prstGeom>
          <a:solidFill>
            <a:srgbClr val="142238"/>
          </a:solidFill>
          <a:ln w="8890">
            <a:solidFill>
              <a:srgbClr val="2B415A"/>
            </a:solidFill>
            <a:prstDash val="solid"/>
          </a:ln>
        </p:spPr>
        <p:txBody>
          <a:bodyPr/>
          <a:p/>
        </p:txBody>
      </p:sp>
      <p:sp>
        <p:nvSpPr>
          <p:cNvPr id="15" name="Shape 13"/>
          <p:cNvSpPr/>
          <p:nvPr/>
        </p:nvSpPr>
        <p:spPr>
          <a:xfrm>
            <a:off x="8079232" y="1764792"/>
            <a:ext cx="41148" cy="3310128"/>
          </a:xfrm>
          <a:prstGeom prst="rect">
            <a:avLst/>
          </a:prstGeom>
          <a:solidFill>
            <a:srgbClr val="71D5DD"/>
          </a:solidFill>
          <a:ln w="8890">
            <a:solidFill>
              <a:srgbClr val="71D5DD"/>
            </a:solidFill>
            <a:prstDash val="solid"/>
          </a:ln>
        </p:spPr>
        <p:txBody>
          <a:bodyPr/>
          <a:p/>
        </p:txBody>
      </p:sp>
      <p:sp>
        <p:nvSpPr>
          <p:cNvPr id="16" name="Text 14"/>
          <p:cNvSpPr txBox="1"/>
          <p:nvPr/>
        </p:nvSpPr>
        <p:spPr>
          <a:xfrm>
            <a:off x="8289544" y="1975104"/>
            <a:ext cx="3134360" cy="557784"/>
          </a:xfrm>
          <a:prstGeom prst="rect">
            <a:avLst/>
          </a:prstGeom>
          <a:noFill/>
          <a:ln/>
        </p:spPr>
        <p:txBody>
          <a:bodyPr wrap="square" lIns="0" tIns="0" rIns="0" bIns="0" rtlCol="0" anchor="t"/>
          <a:lstStyle/>
          <a:p>
            <a:pPr algn="l" indent="0" marL="0">
              <a:lnSpc>
                <a:spcPct val="104000"/>
              </a:lnSpc>
              <a:buNone/>
            </a:pPr>
            <a:r>
              <a:rPr lang="en-US" sz="1750" b="1" dirty="0">
                <a:solidFill>
                  <a:srgbClr val="71D5DD"/>
                </a:solidFill>
                <a:latin typeface="Arial" pitchFamily="34" charset="0"/>
                <a:ea typeface="Arial" pitchFamily="34" charset="-122"/>
                <a:cs typeface="Arial" pitchFamily="34" charset="-120"/>
              </a:rPr>
              <a:t>FIRST ACCESS</a:t>
            </a:r>
            <a:endParaRPr lang="en-US" sz="1750" dirty="0"/>
          </a:p>
        </p:txBody>
      </p:sp>
      <p:sp>
        <p:nvSpPr>
          <p:cNvPr id="17" name="Text 15"/>
          <p:cNvSpPr txBox="1"/>
          <p:nvPr/>
        </p:nvSpPr>
        <p:spPr>
          <a:xfrm>
            <a:off x="8289544" y="2642616"/>
            <a:ext cx="3134360" cy="2267712"/>
          </a:xfrm>
          <a:prstGeom prst="rect">
            <a:avLst/>
          </a:prstGeom>
          <a:noFill/>
          <a:ln/>
        </p:spPr>
        <p:txBody>
          <a:bodyPr wrap="square" lIns="0" tIns="0" rIns="0" bIns="0" rtlCol="0" anchor="t"/>
          <a:lstStyle/>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A permitted access may</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require fault handling</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before it completes.</a:t>
            </a:r>
            <a:endParaRPr lang="en-US" sz="2200" dirty="0"/>
          </a:p>
        </p:txBody>
      </p:sp>
      <p:sp>
        <p:nvSpPr>
          <p:cNvPr id="18" name="Text 16"/>
          <p:cNvSpPr txBox="1"/>
          <p:nvPr/>
        </p:nvSpPr>
        <p:spPr>
          <a:xfrm>
            <a:off x="548640" y="5193792"/>
            <a:ext cx="11094720" cy="274320"/>
          </a:xfrm>
          <a:prstGeom prst="rect">
            <a:avLst/>
          </a:prstGeom>
          <a:noFill/>
          <a:ln/>
        </p:spPr>
        <p:txBody>
          <a:bodyPr wrap="square" lIns="0" tIns="0" rIns="0" bIns="0" rtlCol="0" anchor="t"/>
          <a:lstStyle/>
          <a:p>
            <a:pPr algn="l" indent="0" marL="0">
              <a:lnSpc>
                <a:spcPct val="104000"/>
              </a:lnSpc>
              <a:buNone/>
            </a:pPr>
            <a:r>
              <a:rPr lang="en-US" sz="1140" dirty="0">
                <a:solidFill>
                  <a:srgbClr val="B3C3D6"/>
                </a:solidFill>
                <a:latin typeface="Arial" pitchFamily="34" charset="0"/>
                <a:ea typeface="Arial" pitchFamily="34" charset="-122"/>
                <a:cs typeface="Arial" pitchFamily="34" charset="-120"/>
              </a:rPr>
              <a:t>Normal demand handling ≠ invalid access. A page fault does not necessarily require disk I/O.</a:t>
            </a:r>
            <a:endParaRPr lang="en-US" sz="1140" dirty="0"/>
          </a:p>
        </p:txBody>
      </p:sp>
      <p:sp>
        <p:nvSpPr>
          <p:cNvPr id="23" name="Text 21"/>
          <p:cNvSpPr txBox="1"/>
          <p:nvPr/>
        </p:nvSpPr>
        <p:spPr>
          <a:xfrm>
            <a:off x="548640" y="6601968"/>
            <a:ext cx="10241280" cy="128016"/>
          </a:xfrm>
          <a:prstGeom prst="rect">
            <a:avLst/>
          </a:prstGeom>
          <a:noFill/>
          <a:ln/>
        </p:spPr>
        <p:txBody>
          <a:bodyPr wrap="square" lIns="0" tIns="0" rIns="0" bIns="0" rtlCol="0" anchor="t"/>
          <a:lstStyle/>
          <a:p>
            <a:pPr algn="l" indent="0" marL="0">
              <a:lnSpc>
                <a:spcPct val="104000"/>
              </a:lnSpc>
              <a:buNone/>
            </a:pPr>
            <a:r>
              <a:rPr lang="en-US" sz="830" dirty="0">
                <a:solidFill>
                  <a:srgbClr val="B3C3D6"/>
                </a:solidFill>
                <a:latin typeface="Arial" pitchFamily="34" charset="0"/>
                <a:ea typeface="Arial" pitchFamily="34" charset="-122"/>
                <a:cs typeface="Arial" pitchFamily="34" charset="-120"/>
              </a:rPr>
              <a:t>Source: original 12 • [MMAP]</a:t>
            </a:r>
            <a:endParaRPr lang="en-US" sz="830" dirty="0"/>
          </a:p>
        </p:txBody>
      </p:sp>
      <p:sp>
        <p:nvSpPr>
          <p:cNvPr id="24" name="Text 22"/>
          <p:cNvSpPr txBox="1"/>
          <p:nvPr/>
        </p:nvSpPr>
        <p:spPr>
          <a:xfrm>
            <a:off x="10917936" y="6565392"/>
            <a:ext cx="722376" cy="219456"/>
          </a:xfrm>
          <a:prstGeom prst="rect">
            <a:avLst/>
          </a:prstGeom>
          <a:noFill/>
          <a:ln/>
        </p:spPr>
        <p:txBody>
          <a:bodyPr wrap="square" lIns="0" tIns="0" rIns="0" bIns="0" rtlCol="0" anchor="t"/>
          <a:lstStyle/>
          <a:p>
            <a:pPr algn="r" indent="0" marL="0">
              <a:lnSpc>
                <a:spcPct val="104000"/>
              </a:lnSpc>
              <a:buNone/>
            </a:pPr>
            <a:r>
              <a:rPr lang="en-US" sz="1050" dirty="0">
                <a:solidFill>
                  <a:srgbClr val="B3C3D6"/>
                </a:solidFill>
                <a:latin typeface="Arial" pitchFamily="34" charset="0"/>
                <a:ea typeface="Arial" pitchFamily="34" charset="-122"/>
                <a:cs typeface="Arial" pitchFamily="34" charset="-120"/>
              </a:rPr>
              <a:t>27 / 64</a:t>
            </a:r>
            <a:endParaRPr lang="en-US" sz="1050" dirty="0"/>
          </a:p>
        </p:txBody>
      </p:sp>
      <p:sp>
        <p:nvSpPr>
          <p:cNvPr id="25" name="Shape 23"/>
          <p:cNvSpPr/>
          <p:nvPr/>
        </p:nvSpPr>
        <p:spPr>
          <a:xfrm>
            <a:off x="0" y="6834226"/>
            <a:ext cx="12192000" cy="23774"/>
          </a:xfrm>
          <a:prstGeom prst="rect">
            <a:avLst/>
          </a:prstGeom>
          <a:solidFill>
            <a:srgbClr val="2B415A"/>
          </a:solidFill>
          <a:ln w="8890">
            <a:solidFill>
              <a:srgbClr val="2B415A"/>
            </a:solidFill>
            <a:prstDash val="solid"/>
          </a:ln>
        </p:spPr>
        <p:txBody>
          <a:bodyPr/>
          <a:p/>
        </p:txBody>
      </p:sp>
      <p:sp>
        <p:nvSpPr>
          <p:cNvPr id="26" name="Shape 24"/>
          <p:cNvSpPr/>
          <p:nvPr/>
        </p:nvSpPr>
        <p:spPr>
          <a:xfrm>
            <a:off x="0" y="6834226"/>
            <a:ext cx="5143500" cy="23774"/>
          </a:xfrm>
          <a:prstGeom prst="rect">
            <a:avLst/>
          </a:prstGeom>
          <a:solidFill>
            <a:srgbClr val="71D5DD"/>
          </a:solidFill>
          <a:ln w="8890">
            <a:solidFill>
              <a:srgbClr val="71D5DD"/>
            </a:solidFill>
            <a:prstDash val="solid"/>
          </a:ln>
        </p:spPr>
        <p:txBody>
          <a:body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548640" y="219456"/>
            <a:ext cx="9875520" cy="192024"/>
          </a:xfrm>
          <a:prstGeom prst="rect">
            <a:avLst/>
          </a:prstGeom>
          <a:noFill/>
          <a:ln/>
        </p:spPr>
        <p:txBody>
          <a:bodyPr wrap="square" lIns="0" tIns="0" rIns="0" bIns="0" rtlCol="0" anchor="t"/>
          <a:lstStyle/>
          <a:p>
            <a:pPr algn="l" indent="0" marL="0">
              <a:lnSpc>
                <a:spcPct val="104000"/>
              </a:lnSpc>
              <a:buNone/>
            </a:pPr>
            <a:r>
              <a:rPr lang="en-US" sz="970" b="1" spc="135" kern="0" dirty="0">
                <a:solidFill>
                  <a:srgbClr val="B3C3D6"/>
                </a:solidFill>
                <a:latin typeface="Arial" pitchFamily="34" charset="0"/>
                <a:ea typeface="Arial" pitchFamily="34" charset="-122"/>
                <a:cs typeface="Arial" pitchFamily="34" charset="-120"/>
              </a:rPr>
              <a:t>SYSTEMS PROGRAMMING AND MACHINE ORGANIZATION</a:t>
            </a:r>
            <a:endParaRPr lang="en-US" sz="970" dirty="0"/>
          </a:p>
        </p:txBody>
      </p:sp>
      <p:sp>
        <p:nvSpPr>
          <p:cNvPr id="3" name="Text 1"/>
          <p:cNvSpPr txBox="1"/>
          <p:nvPr/>
        </p:nvSpPr>
        <p:spPr>
          <a:xfrm>
            <a:off x="9601200" y="219456"/>
            <a:ext cx="2039112" cy="192024"/>
          </a:xfrm>
          <a:prstGeom prst="rect">
            <a:avLst/>
          </a:prstGeom>
          <a:noFill/>
          <a:ln/>
        </p:spPr>
        <p:txBody>
          <a:bodyPr wrap="square" lIns="0" tIns="0" rIns="0" bIns="0" rtlCol="0" anchor="t"/>
          <a:lstStyle/>
          <a:p>
            <a:pPr algn="r" indent="0" marL="0">
              <a:lnSpc>
                <a:spcPct val="104000"/>
              </a:lnSpc>
              <a:buNone/>
            </a:pPr>
            <a:r>
              <a:rPr lang="en-US" sz="970" b="1" dirty="0">
                <a:solidFill>
                  <a:srgbClr val="B3C3D6"/>
                </a:solidFill>
                <a:latin typeface="Arial" pitchFamily="34" charset="0"/>
                <a:ea typeface="Arial" pitchFamily="34" charset="-122"/>
                <a:cs typeface="Arial" pitchFamily="34" charset="-120"/>
              </a:rPr>
              <a:t>CHARLES DORNER</a:t>
            </a:r>
            <a:endParaRPr lang="en-US" sz="970" dirty="0"/>
          </a:p>
        </p:txBody>
      </p:sp>
      <p:sp>
        <p:nvSpPr>
          <p:cNvPr id="4" name="Text 2"/>
          <p:cNvSpPr txBox="1"/>
          <p:nvPr/>
        </p:nvSpPr>
        <p:spPr>
          <a:xfrm>
            <a:off x="548640" y="566928"/>
            <a:ext cx="11109960" cy="237744"/>
          </a:xfrm>
          <a:prstGeom prst="rect">
            <a:avLst/>
          </a:prstGeom>
          <a:noFill/>
          <a:ln/>
        </p:spPr>
        <p:txBody>
          <a:bodyPr wrap="square" lIns="0" tIns="0" rIns="0" bIns="0" rtlCol="0" anchor="t"/>
          <a:lstStyle/>
          <a:p>
            <a:pPr algn="l" indent="0" marL="0">
              <a:lnSpc>
                <a:spcPct val="104000"/>
              </a:lnSpc>
              <a:buNone/>
            </a:pPr>
            <a:r>
              <a:rPr lang="en-US" sz="1150" b="1" dirty="0">
                <a:solidFill>
                  <a:srgbClr val="71D5DD"/>
                </a:solidFill>
                <a:latin typeface="Arial" pitchFamily="34" charset="0"/>
                <a:ea typeface="Arial" pitchFamily="34" charset="-122"/>
                <a:cs typeface="Arial" pitchFamily="34" charset="-120"/>
              </a:rPr>
              <a:t>1.2.7 · RUNTIME EXECUTION</a:t>
            </a:r>
            <a:endParaRPr lang="en-US" sz="1150" dirty="0"/>
          </a:p>
        </p:txBody>
      </p:sp>
      <p:sp>
        <p:nvSpPr>
          <p:cNvPr id="5" name="Text 3"/>
          <p:cNvSpPr txBox="1"/>
          <p:nvPr/>
        </p:nvSpPr>
        <p:spPr>
          <a:xfrm>
            <a:off x="548640" y="941832"/>
            <a:ext cx="11091672" cy="676656"/>
          </a:xfrm>
          <a:prstGeom prst="rect">
            <a:avLst/>
          </a:prstGeom>
          <a:noFill/>
          <a:ln/>
        </p:spPr>
        <p:txBody>
          <a:bodyPr wrap="square" lIns="0" tIns="0" rIns="0" bIns="0" rtlCol="0" anchor="t"/>
          <a:lstStyle/>
          <a:p>
            <a:pPr algn="l" indent="0" marL="0">
              <a:lnSpc>
                <a:spcPct val="104000"/>
              </a:lnSpc>
              <a:buNone/>
            </a:pPr>
            <a:r>
              <a:rPr lang="en-US" sz="2950" b="1" dirty="0">
                <a:solidFill>
                  <a:srgbClr val="F4F7FB"/>
                </a:solidFill>
                <a:latin typeface="Arial" pitchFamily="34" charset="0"/>
                <a:ea typeface="Arial" pitchFamily="34" charset="-122"/>
                <a:cs typeface="Arial" pitchFamily="34" charset="-120"/>
              </a:rPr>
              <a:t>Runtime begins before main and extends through termination</a:t>
            </a:r>
            <a:endParaRPr lang="en-US" sz="2950" dirty="0"/>
          </a:p>
        </p:txBody>
      </p:sp>
      <p:sp>
        <p:nvSpPr>
          <p:cNvPr id="6" name="Shape 4"/>
          <p:cNvSpPr/>
          <p:nvPr/>
        </p:nvSpPr>
        <p:spPr>
          <a:xfrm>
            <a:off x="548640" y="1883664"/>
            <a:ext cx="2058010" cy="941832"/>
          </a:xfrm>
          <a:prstGeom prst="rect">
            <a:avLst/>
          </a:prstGeom>
          <a:solidFill>
            <a:srgbClr val="172940"/>
          </a:solidFill>
          <a:ln w="8890">
            <a:solidFill>
              <a:srgbClr val="2B415A"/>
            </a:solidFill>
            <a:prstDash val="solid"/>
          </a:ln>
        </p:spPr>
        <p:txBody>
          <a:bodyPr/>
          <a:p/>
        </p:txBody>
      </p:sp>
      <p:sp>
        <p:nvSpPr>
          <p:cNvPr id="7" name="Text 5"/>
          <p:cNvSpPr txBox="1"/>
          <p:nvPr/>
        </p:nvSpPr>
        <p:spPr>
          <a:xfrm>
            <a:off x="640080" y="2084832"/>
            <a:ext cx="1875130" cy="548640"/>
          </a:xfrm>
          <a:prstGeom prst="rect">
            <a:avLst/>
          </a:prstGeom>
          <a:noFill/>
          <a:ln/>
        </p:spPr>
        <p:txBody>
          <a:bodyPr wrap="square" lIns="0" tIns="0" rIns="0" bIns="0" rtlCol="0" anchor="t"/>
          <a:lstStyle/>
          <a:p>
            <a:pPr algn="ctr" indent="0" marL="0">
              <a:lnSpc>
                <a:spcPct val="104000"/>
              </a:lnSpc>
              <a:buNone/>
            </a:pPr>
            <a:r>
              <a:rPr lang="en-US" sz="1800" b="1" dirty="0">
                <a:solidFill>
                  <a:srgbClr val="F4F7FB"/>
                </a:solidFill>
                <a:latin typeface="Arial" pitchFamily="34" charset="0"/>
                <a:ea typeface="Arial" pitchFamily="34" charset="-122"/>
                <a:cs typeface="Arial" pitchFamily="34" charset="-120"/>
              </a:rPr>
              <a:t>Startup</a:t>
            </a:r>
            <a:endParaRPr lang="en-US" sz="1800" dirty="0"/>
          </a:p>
        </p:txBody>
      </p:sp>
      <p:sp>
        <p:nvSpPr>
          <p:cNvPr id="8" name="Shape 6"/>
          <p:cNvSpPr/>
          <p:nvPr/>
        </p:nvSpPr>
        <p:spPr>
          <a:xfrm>
            <a:off x="2629510" y="2354580"/>
            <a:ext cx="155448" cy="0"/>
          </a:xfrm>
          <a:prstGeom prst="line">
            <a:avLst/>
          </a:prstGeom>
          <a:noFill/>
          <a:ln w="19050">
            <a:solidFill>
              <a:srgbClr val="71D5DD"/>
            </a:solidFill>
            <a:prstDash val="solid"/>
            <a:headEnd type="none"/>
            <a:tailEnd type="triangle"/>
          </a:ln>
        </p:spPr>
        <p:txBody>
          <a:bodyPr/>
          <a:p/>
        </p:txBody>
      </p:sp>
      <p:sp>
        <p:nvSpPr>
          <p:cNvPr id="9" name="Shape 7"/>
          <p:cNvSpPr/>
          <p:nvPr/>
        </p:nvSpPr>
        <p:spPr>
          <a:xfrm>
            <a:off x="2807818" y="1883664"/>
            <a:ext cx="2058010" cy="941832"/>
          </a:xfrm>
          <a:prstGeom prst="rect">
            <a:avLst/>
          </a:prstGeom>
          <a:solidFill>
            <a:srgbClr val="172940"/>
          </a:solidFill>
          <a:ln w="8890">
            <a:solidFill>
              <a:srgbClr val="2B415A"/>
            </a:solidFill>
            <a:prstDash val="solid"/>
          </a:ln>
        </p:spPr>
        <p:txBody>
          <a:bodyPr/>
          <a:p/>
        </p:txBody>
      </p:sp>
      <p:sp>
        <p:nvSpPr>
          <p:cNvPr id="10" name="Text 8"/>
          <p:cNvSpPr txBox="1"/>
          <p:nvPr/>
        </p:nvSpPr>
        <p:spPr>
          <a:xfrm>
            <a:off x="2899258" y="2084832"/>
            <a:ext cx="1875130" cy="548640"/>
          </a:xfrm>
          <a:prstGeom prst="rect">
            <a:avLst/>
          </a:prstGeom>
          <a:noFill/>
          <a:ln/>
        </p:spPr>
        <p:txBody>
          <a:bodyPr wrap="square" lIns="0" tIns="0" rIns="0" bIns="0" rtlCol="0" anchor="t"/>
          <a:lstStyle/>
          <a:p>
            <a:pPr algn="ctr" indent="0" marL="0">
              <a:lnSpc>
                <a:spcPct val="104000"/>
              </a:lnSpc>
              <a:buNone/>
            </a:pPr>
            <a:r>
              <a:rPr lang="en-US" sz="1800" b="1" dirty="0">
                <a:solidFill>
                  <a:srgbClr val="F4F7FB"/>
                </a:solidFill>
                <a:latin typeface="Arial" pitchFamily="34" charset="0"/>
                <a:ea typeface="Arial" pitchFamily="34" charset="-122"/>
                <a:cs typeface="Arial" pitchFamily="34" charset="-120"/>
              </a:rPr>
              <a:t>main + libraries</a:t>
            </a:r>
            <a:endParaRPr lang="en-US" sz="1800" dirty="0"/>
          </a:p>
        </p:txBody>
      </p:sp>
      <p:sp>
        <p:nvSpPr>
          <p:cNvPr id="11" name="Shape 9"/>
          <p:cNvSpPr/>
          <p:nvPr/>
        </p:nvSpPr>
        <p:spPr>
          <a:xfrm>
            <a:off x="4888687" y="2354580"/>
            <a:ext cx="155448" cy="0"/>
          </a:xfrm>
          <a:prstGeom prst="line">
            <a:avLst/>
          </a:prstGeom>
          <a:noFill/>
          <a:ln w="19050">
            <a:solidFill>
              <a:srgbClr val="71D5DD"/>
            </a:solidFill>
            <a:prstDash val="solid"/>
            <a:headEnd type="none"/>
            <a:tailEnd type="triangle"/>
          </a:ln>
        </p:spPr>
        <p:txBody>
          <a:bodyPr/>
          <a:p/>
        </p:txBody>
      </p:sp>
      <p:sp>
        <p:nvSpPr>
          <p:cNvPr id="12" name="Shape 10"/>
          <p:cNvSpPr/>
          <p:nvPr/>
        </p:nvSpPr>
        <p:spPr>
          <a:xfrm>
            <a:off x="5066995" y="1883664"/>
            <a:ext cx="2058010" cy="941832"/>
          </a:xfrm>
          <a:prstGeom prst="rect">
            <a:avLst/>
          </a:prstGeom>
          <a:solidFill>
            <a:srgbClr val="172940"/>
          </a:solidFill>
          <a:ln w="8890">
            <a:solidFill>
              <a:srgbClr val="2B415A"/>
            </a:solidFill>
            <a:prstDash val="solid"/>
          </a:ln>
        </p:spPr>
        <p:txBody>
          <a:bodyPr/>
          <a:p/>
        </p:txBody>
      </p:sp>
      <p:sp>
        <p:nvSpPr>
          <p:cNvPr id="13" name="Text 11"/>
          <p:cNvSpPr txBox="1"/>
          <p:nvPr/>
        </p:nvSpPr>
        <p:spPr>
          <a:xfrm>
            <a:off x="5158435" y="2084832"/>
            <a:ext cx="1875130" cy="548640"/>
          </a:xfrm>
          <a:prstGeom prst="rect">
            <a:avLst/>
          </a:prstGeom>
          <a:noFill/>
          <a:ln/>
        </p:spPr>
        <p:txBody>
          <a:bodyPr wrap="square" lIns="0" tIns="0" rIns="0" bIns="0" rtlCol="0" anchor="t"/>
          <a:lstStyle/>
          <a:p>
            <a:pPr algn="ctr" indent="0" marL="0">
              <a:lnSpc>
                <a:spcPct val="104000"/>
              </a:lnSpc>
              <a:buNone/>
            </a:pPr>
            <a:r>
              <a:rPr lang="en-US" sz="1800" b="1" dirty="0">
                <a:solidFill>
                  <a:srgbClr val="F4F7FB"/>
                </a:solidFill>
                <a:latin typeface="Arial" pitchFamily="34" charset="0"/>
                <a:ea typeface="Arial" pitchFamily="34" charset="-122"/>
                <a:cs typeface="Arial" pitchFamily="34" charset="-120"/>
              </a:rPr>
              <a:t>Kernel requests</a:t>
            </a:r>
            <a:endParaRPr lang="en-US" sz="1800" dirty="0"/>
          </a:p>
        </p:txBody>
      </p:sp>
      <p:sp>
        <p:nvSpPr>
          <p:cNvPr id="14" name="Shape 12"/>
          <p:cNvSpPr/>
          <p:nvPr/>
        </p:nvSpPr>
        <p:spPr>
          <a:xfrm>
            <a:off x="7147865" y="2354580"/>
            <a:ext cx="155448" cy="0"/>
          </a:xfrm>
          <a:prstGeom prst="line">
            <a:avLst/>
          </a:prstGeom>
          <a:noFill/>
          <a:ln w="19050">
            <a:solidFill>
              <a:srgbClr val="71D5DD"/>
            </a:solidFill>
            <a:prstDash val="solid"/>
            <a:headEnd type="none"/>
            <a:tailEnd type="triangle"/>
          </a:ln>
        </p:spPr>
        <p:txBody>
          <a:bodyPr/>
          <a:p/>
        </p:txBody>
      </p:sp>
      <p:sp>
        <p:nvSpPr>
          <p:cNvPr id="15" name="Shape 13"/>
          <p:cNvSpPr/>
          <p:nvPr/>
        </p:nvSpPr>
        <p:spPr>
          <a:xfrm>
            <a:off x="7326173" y="1883664"/>
            <a:ext cx="2058010" cy="941832"/>
          </a:xfrm>
          <a:prstGeom prst="rect">
            <a:avLst/>
          </a:prstGeom>
          <a:solidFill>
            <a:srgbClr val="172940"/>
          </a:solidFill>
          <a:ln w="8890">
            <a:solidFill>
              <a:srgbClr val="2B415A"/>
            </a:solidFill>
            <a:prstDash val="solid"/>
          </a:ln>
        </p:spPr>
        <p:txBody>
          <a:bodyPr/>
          <a:p/>
        </p:txBody>
      </p:sp>
      <p:sp>
        <p:nvSpPr>
          <p:cNvPr id="16" name="Text 14"/>
          <p:cNvSpPr txBox="1"/>
          <p:nvPr/>
        </p:nvSpPr>
        <p:spPr>
          <a:xfrm>
            <a:off x="7417613" y="2084832"/>
            <a:ext cx="1875130" cy="548640"/>
          </a:xfrm>
          <a:prstGeom prst="rect">
            <a:avLst/>
          </a:prstGeom>
          <a:noFill/>
          <a:ln/>
        </p:spPr>
        <p:txBody>
          <a:bodyPr wrap="square" lIns="0" tIns="0" rIns="0" bIns="0" rtlCol="0" anchor="t"/>
          <a:lstStyle/>
          <a:p>
            <a:pPr algn="ctr" indent="0" marL="0">
              <a:lnSpc>
                <a:spcPct val="104000"/>
              </a:lnSpc>
              <a:buNone/>
            </a:pPr>
            <a:r>
              <a:rPr lang="en-US" sz="1800" b="1" dirty="0">
                <a:solidFill>
                  <a:srgbClr val="F4F7FB"/>
                </a:solidFill>
                <a:latin typeface="Arial" pitchFamily="34" charset="0"/>
                <a:ea typeface="Arial" pitchFamily="34" charset="-122"/>
                <a:cs typeface="Arial" pitchFamily="34" charset="-120"/>
              </a:rPr>
              <a:t>Pause / resume</a:t>
            </a:r>
            <a:endParaRPr lang="en-US" sz="1800" dirty="0"/>
          </a:p>
        </p:txBody>
      </p:sp>
      <p:sp>
        <p:nvSpPr>
          <p:cNvPr id="17" name="Shape 15"/>
          <p:cNvSpPr/>
          <p:nvPr/>
        </p:nvSpPr>
        <p:spPr>
          <a:xfrm>
            <a:off x="9407042" y="2354580"/>
            <a:ext cx="155448" cy="0"/>
          </a:xfrm>
          <a:prstGeom prst="line">
            <a:avLst/>
          </a:prstGeom>
          <a:noFill/>
          <a:ln w="19050">
            <a:solidFill>
              <a:srgbClr val="71D5DD"/>
            </a:solidFill>
            <a:prstDash val="solid"/>
            <a:headEnd type="none"/>
            <a:tailEnd type="triangle"/>
          </a:ln>
        </p:spPr>
        <p:txBody>
          <a:bodyPr/>
          <a:p/>
        </p:txBody>
      </p:sp>
      <p:sp>
        <p:nvSpPr>
          <p:cNvPr id="18" name="Shape 16"/>
          <p:cNvSpPr/>
          <p:nvPr/>
        </p:nvSpPr>
        <p:spPr>
          <a:xfrm>
            <a:off x="9585350" y="1883664"/>
            <a:ext cx="2058010" cy="941832"/>
          </a:xfrm>
          <a:prstGeom prst="rect">
            <a:avLst/>
          </a:prstGeom>
          <a:solidFill>
            <a:srgbClr val="172940"/>
          </a:solidFill>
          <a:ln w="8890">
            <a:solidFill>
              <a:srgbClr val="2B415A"/>
            </a:solidFill>
            <a:prstDash val="solid"/>
          </a:ln>
        </p:spPr>
        <p:txBody>
          <a:bodyPr/>
          <a:p/>
        </p:txBody>
      </p:sp>
      <p:sp>
        <p:nvSpPr>
          <p:cNvPr id="19" name="Text 17"/>
          <p:cNvSpPr txBox="1"/>
          <p:nvPr/>
        </p:nvSpPr>
        <p:spPr>
          <a:xfrm>
            <a:off x="9676790" y="2084832"/>
            <a:ext cx="1875130" cy="548640"/>
          </a:xfrm>
          <a:prstGeom prst="rect">
            <a:avLst/>
          </a:prstGeom>
          <a:noFill/>
          <a:ln/>
        </p:spPr>
        <p:txBody>
          <a:bodyPr wrap="square" lIns="0" tIns="0" rIns="0" bIns="0" rtlCol="0" anchor="t"/>
          <a:lstStyle/>
          <a:p>
            <a:pPr algn="ctr" indent="0" marL="0">
              <a:lnSpc>
                <a:spcPct val="104000"/>
              </a:lnSpc>
              <a:buNone/>
            </a:pPr>
            <a:r>
              <a:rPr lang="en-US" sz="1800" b="1" dirty="0">
                <a:solidFill>
                  <a:srgbClr val="F4F7FB"/>
                </a:solidFill>
                <a:latin typeface="Arial" pitchFamily="34" charset="0"/>
                <a:ea typeface="Arial" pitchFamily="34" charset="-122"/>
                <a:cs typeface="Arial" pitchFamily="34" charset="-120"/>
              </a:rPr>
              <a:t>Termination</a:t>
            </a:r>
            <a:endParaRPr lang="en-US" sz="1800" dirty="0"/>
          </a:p>
        </p:txBody>
      </p:sp>
      <p:sp>
        <p:nvSpPr>
          <p:cNvPr id="20" name="Text 18"/>
          <p:cNvSpPr txBox="1"/>
          <p:nvPr/>
        </p:nvSpPr>
        <p:spPr>
          <a:xfrm>
            <a:off x="566928" y="3191256"/>
            <a:ext cx="384048" cy="237744"/>
          </a:xfrm>
          <a:prstGeom prst="rect">
            <a:avLst/>
          </a:prstGeom>
          <a:noFill/>
          <a:ln/>
        </p:spPr>
        <p:txBody>
          <a:bodyPr wrap="square" lIns="0" tIns="0" rIns="0" bIns="0" rtlCol="0" anchor="t"/>
          <a:lstStyle/>
          <a:p>
            <a:pPr algn="l" indent="0" marL="0">
              <a:lnSpc>
                <a:spcPct val="104000"/>
              </a:lnSpc>
              <a:buNone/>
            </a:pPr>
            <a:r>
              <a:rPr lang="en-US" sz="1350" b="1" dirty="0">
                <a:solidFill>
                  <a:srgbClr val="71D5DD"/>
                </a:solidFill>
                <a:latin typeface="Arial" pitchFamily="34" charset="0"/>
                <a:ea typeface="Arial" pitchFamily="34" charset="-122"/>
                <a:cs typeface="Arial" pitchFamily="34" charset="-120"/>
              </a:rPr>
              <a:t>01</a:t>
            </a:r>
            <a:endParaRPr lang="en-US" sz="1350" dirty="0"/>
          </a:p>
        </p:txBody>
      </p:sp>
      <p:sp>
        <p:nvSpPr>
          <p:cNvPr id="21" name="Text 19"/>
          <p:cNvSpPr txBox="1"/>
          <p:nvPr/>
        </p:nvSpPr>
        <p:spPr>
          <a:xfrm>
            <a:off x="1124712" y="3136392"/>
            <a:ext cx="10515600" cy="576072"/>
          </a:xfrm>
          <a:prstGeom prst="rect">
            <a:avLst/>
          </a:prstGeom>
          <a:noFill/>
          <a:ln/>
        </p:spPr>
        <p:txBody>
          <a:bodyPr wrap="square" lIns="0" tIns="0" rIns="0" bIns="0" rtlCol="0" anchor="t"/>
          <a:lstStyle/>
          <a:p>
            <a:pPr algn="l" indent="0" marL="0">
              <a:lnSpc>
                <a:spcPct val="104000"/>
              </a:lnSpc>
              <a:buNone/>
            </a:pPr>
            <a:r>
              <a:rPr lang="en-US" sz="2150" dirty="0">
                <a:solidFill>
                  <a:srgbClr val="F4F7FB"/>
                </a:solidFill>
                <a:latin typeface="Arial" pitchFamily="34" charset="0"/>
                <a:ea typeface="Arial" pitchFamily="34" charset="-122"/>
                <a:cs typeface="Arial" pitchFamily="34" charset="-120"/>
              </a:rPr>
              <a:t>Libraries and system calls are different interfaces.</a:t>
            </a:r>
            <a:endParaRPr lang="en-US" sz="2150" dirty="0"/>
          </a:p>
        </p:txBody>
      </p:sp>
      <p:sp>
        <p:nvSpPr>
          <p:cNvPr id="22" name="Text 20"/>
          <p:cNvSpPr txBox="1"/>
          <p:nvPr/>
        </p:nvSpPr>
        <p:spPr>
          <a:xfrm>
            <a:off x="566928" y="3803904"/>
            <a:ext cx="384048" cy="237744"/>
          </a:xfrm>
          <a:prstGeom prst="rect">
            <a:avLst/>
          </a:prstGeom>
          <a:noFill/>
          <a:ln/>
        </p:spPr>
        <p:txBody>
          <a:bodyPr wrap="square" lIns="0" tIns="0" rIns="0" bIns="0" rtlCol="0" anchor="t"/>
          <a:lstStyle/>
          <a:p>
            <a:pPr algn="l" indent="0" marL="0">
              <a:lnSpc>
                <a:spcPct val="104000"/>
              </a:lnSpc>
              <a:buNone/>
            </a:pPr>
            <a:r>
              <a:rPr lang="en-US" sz="1350" b="1" dirty="0">
                <a:solidFill>
                  <a:srgbClr val="71D5DD"/>
                </a:solidFill>
                <a:latin typeface="Arial" pitchFamily="34" charset="0"/>
                <a:ea typeface="Arial" pitchFamily="34" charset="-122"/>
                <a:cs typeface="Arial" pitchFamily="34" charset="-120"/>
              </a:rPr>
              <a:t>02</a:t>
            </a:r>
            <a:endParaRPr lang="en-US" sz="1350" dirty="0"/>
          </a:p>
        </p:txBody>
      </p:sp>
      <p:sp>
        <p:nvSpPr>
          <p:cNvPr id="23" name="Text 21"/>
          <p:cNvSpPr txBox="1"/>
          <p:nvPr/>
        </p:nvSpPr>
        <p:spPr>
          <a:xfrm>
            <a:off x="1124712" y="3749040"/>
            <a:ext cx="10515600" cy="576072"/>
          </a:xfrm>
          <a:prstGeom prst="rect">
            <a:avLst/>
          </a:prstGeom>
          <a:noFill/>
          <a:ln/>
        </p:spPr>
        <p:txBody>
          <a:bodyPr wrap="square" lIns="0" tIns="0" rIns="0" bIns="0" rtlCol="0" anchor="t"/>
          <a:lstStyle/>
          <a:p>
            <a:pPr algn="l" indent="0" marL="0">
              <a:lnSpc>
                <a:spcPct val="104000"/>
              </a:lnSpc>
              <a:buNone/>
            </a:pPr>
            <a:r>
              <a:rPr lang="en-US" sz="2150" dirty="0">
                <a:solidFill>
                  <a:srgbClr val="F4F7FB"/>
                </a:solidFill>
                <a:latin typeface="Arial" pitchFamily="34" charset="0"/>
                <a:ea typeface="Arial" pitchFamily="34" charset="-122"/>
                <a:cs typeface="Arial" pitchFamily="34" charset="-120"/>
              </a:rPr>
              <a:t>Scheduling affects elapsed progress without changing the source text.</a:t>
            </a:r>
            <a:endParaRPr lang="en-US" sz="2150" dirty="0"/>
          </a:p>
        </p:txBody>
      </p:sp>
      <p:sp>
        <p:nvSpPr>
          <p:cNvPr id="24" name="Text 22"/>
          <p:cNvSpPr txBox="1"/>
          <p:nvPr/>
        </p:nvSpPr>
        <p:spPr>
          <a:xfrm>
            <a:off x="566928" y="4416552"/>
            <a:ext cx="384048" cy="237744"/>
          </a:xfrm>
          <a:prstGeom prst="rect">
            <a:avLst/>
          </a:prstGeom>
          <a:noFill/>
          <a:ln/>
        </p:spPr>
        <p:txBody>
          <a:bodyPr wrap="square" lIns="0" tIns="0" rIns="0" bIns="0" rtlCol="0" anchor="t"/>
          <a:lstStyle/>
          <a:p>
            <a:pPr algn="l" indent="0" marL="0">
              <a:lnSpc>
                <a:spcPct val="104000"/>
              </a:lnSpc>
              <a:buNone/>
            </a:pPr>
            <a:r>
              <a:rPr lang="en-US" sz="1350" b="1" dirty="0">
                <a:solidFill>
                  <a:srgbClr val="71D5DD"/>
                </a:solidFill>
                <a:latin typeface="Arial" pitchFamily="34" charset="0"/>
                <a:ea typeface="Arial" pitchFamily="34" charset="-122"/>
                <a:cs typeface="Arial" pitchFamily="34" charset="-120"/>
              </a:rPr>
              <a:t>03</a:t>
            </a:r>
            <a:endParaRPr lang="en-US" sz="1350" dirty="0"/>
          </a:p>
        </p:txBody>
      </p:sp>
      <p:sp>
        <p:nvSpPr>
          <p:cNvPr id="25" name="Text 23"/>
          <p:cNvSpPr txBox="1"/>
          <p:nvPr/>
        </p:nvSpPr>
        <p:spPr>
          <a:xfrm>
            <a:off x="1124712" y="4361688"/>
            <a:ext cx="10515600" cy="576072"/>
          </a:xfrm>
          <a:prstGeom prst="rect">
            <a:avLst/>
          </a:prstGeom>
          <a:noFill/>
          <a:ln/>
        </p:spPr>
        <p:txBody>
          <a:bodyPr wrap="square" lIns="0" tIns="0" rIns="0" bIns="0" rtlCol="0" anchor="t"/>
          <a:lstStyle/>
          <a:p>
            <a:pPr algn="l" indent="0" marL="0">
              <a:lnSpc>
                <a:spcPct val="104000"/>
              </a:lnSpc>
              <a:buNone/>
            </a:pPr>
            <a:r>
              <a:rPr lang="en-US" sz="2150" dirty="0">
                <a:solidFill>
                  <a:srgbClr val="F4F7FB"/>
                </a:solidFill>
                <a:latin typeface="Arial" pitchFamily="34" charset="0"/>
                <a:ea typeface="Arial" pitchFamily="34" charset="-122"/>
                <a:cs typeface="Arial" pitchFamily="34" charset="-120"/>
              </a:rPr>
              <a:t>Normal completion and abrupt termination have different cleanup guarantees.</a:t>
            </a:r>
            <a:endParaRPr lang="en-US" sz="2150" dirty="0"/>
          </a:p>
        </p:txBody>
      </p:sp>
      <p:sp>
        <p:nvSpPr>
          <p:cNvPr id="30" name="Text 28"/>
          <p:cNvSpPr txBox="1"/>
          <p:nvPr/>
        </p:nvSpPr>
        <p:spPr>
          <a:xfrm>
            <a:off x="548640" y="6601968"/>
            <a:ext cx="10241280" cy="128016"/>
          </a:xfrm>
          <a:prstGeom prst="rect">
            <a:avLst/>
          </a:prstGeom>
          <a:noFill/>
          <a:ln/>
        </p:spPr>
        <p:txBody>
          <a:bodyPr wrap="square" lIns="0" tIns="0" rIns="0" bIns="0" rtlCol="0" anchor="t"/>
          <a:lstStyle/>
          <a:p>
            <a:pPr algn="l" indent="0" marL="0">
              <a:lnSpc>
                <a:spcPct val="104000"/>
              </a:lnSpc>
              <a:buNone/>
            </a:pPr>
            <a:r>
              <a:rPr lang="en-US" sz="830" dirty="0">
                <a:solidFill>
                  <a:srgbClr val="B3C3D6"/>
                </a:solidFill>
                <a:latin typeface="Arial" pitchFamily="34" charset="0"/>
                <a:ea typeface="Arial" pitchFamily="34" charset="-122"/>
                <a:cs typeface="Arial" pitchFamily="34" charset="-120"/>
              </a:rPr>
              <a:t>Source: original 12 • [EXIT, LANG]</a:t>
            </a:r>
            <a:endParaRPr lang="en-US" sz="830" dirty="0"/>
          </a:p>
        </p:txBody>
      </p:sp>
      <p:sp>
        <p:nvSpPr>
          <p:cNvPr id="31" name="Text 29"/>
          <p:cNvSpPr txBox="1"/>
          <p:nvPr/>
        </p:nvSpPr>
        <p:spPr>
          <a:xfrm>
            <a:off x="10917936" y="6565392"/>
            <a:ext cx="722376" cy="219456"/>
          </a:xfrm>
          <a:prstGeom prst="rect">
            <a:avLst/>
          </a:prstGeom>
          <a:noFill/>
          <a:ln/>
        </p:spPr>
        <p:txBody>
          <a:bodyPr wrap="square" lIns="0" tIns="0" rIns="0" bIns="0" rtlCol="0" anchor="t"/>
          <a:lstStyle/>
          <a:p>
            <a:pPr algn="r" indent="0" marL="0">
              <a:lnSpc>
                <a:spcPct val="104000"/>
              </a:lnSpc>
              <a:buNone/>
            </a:pPr>
            <a:r>
              <a:rPr lang="en-US" sz="1050" dirty="0">
                <a:solidFill>
                  <a:srgbClr val="B3C3D6"/>
                </a:solidFill>
                <a:latin typeface="Arial" pitchFamily="34" charset="0"/>
                <a:ea typeface="Arial" pitchFamily="34" charset="-122"/>
                <a:cs typeface="Arial" pitchFamily="34" charset="-120"/>
              </a:rPr>
              <a:t>28 / 64</a:t>
            </a:r>
            <a:endParaRPr lang="en-US" sz="1050" dirty="0"/>
          </a:p>
        </p:txBody>
      </p:sp>
      <p:sp>
        <p:nvSpPr>
          <p:cNvPr id="32" name="Shape 30"/>
          <p:cNvSpPr/>
          <p:nvPr/>
        </p:nvSpPr>
        <p:spPr>
          <a:xfrm>
            <a:off x="0" y="6834226"/>
            <a:ext cx="12192000" cy="23774"/>
          </a:xfrm>
          <a:prstGeom prst="rect">
            <a:avLst/>
          </a:prstGeom>
          <a:solidFill>
            <a:srgbClr val="2B415A"/>
          </a:solidFill>
          <a:ln w="8890">
            <a:solidFill>
              <a:srgbClr val="2B415A"/>
            </a:solidFill>
            <a:prstDash val="solid"/>
          </a:ln>
        </p:spPr>
        <p:txBody>
          <a:bodyPr/>
          <a:p/>
        </p:txBody>
      </p:sp>
      <p:sp>
        <p:nvSpPr>
          <p:cNvPr id="33" name="Shape 31"/>
          <p:cNvSpPr/>
          <p:nvPr/>
        </p:nvSpPr>
        <p:spPr>
          <a:xfrm>
            <a:off x="0" y="6834226"/>
            <a:ext cx="5334000" cy="23774"/>
          </a:xfrm>
          <a:prstGeom prst="rect">
            <a:avLst/>
          </a:prstGeom>
          <a:solidFill>
            <a:srgbClr val="71D5DD"/>
          </a:solidFill>
          <a:ln w="8890">
            <a:solidFill>
              <a:srgbClr val="71D5DD"/>
            </a:solidFill>
            <a:prstDash val="solid"/>
          </a:ln>
        </p:spPr>
        <p:txBody>
          <a:body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548640" y="219456"/>
            <a:ext cx="9875520" cy="192024"/>
          </a:xfrm>
          <a:prstGeom prst="rect">
            <a:avLst/>
          </a:prstGeom>
          <a:noFill/>
          <a:ln/>
        </p:spPr>
        <p:txBody>
          <a:bodyPr wrap="square" lIns="0" tIns="0" rIns="0" bIns="0" rtlCol="0" anchor="t"/>
          <a:lstStyle/>
          <a:p>
            <a:pPr algn="l" indent="0" marL="0">
              <a:lnSpc>
                <a:spcPct val="104000"/>
              </a:lnSpc>
              <a:buNone/>
            </a:pPr>
            <a:r>
              <a:rPr lang="en-US" sz="970" b="1" spc="135" kern="0" dirty="0">
                <a:solidFill>
                  <a:srgbClr val="B3C3D6"/>
                </a:solidFill>
                <a:latin typeface="Arial" pitchFamily="34" charset="0"/>
                <a:ea typeface="Arial" pitchFamily="34" charset="-122"/>
                <a:cs typeface="Arial" pitchFamily="34" charset="-120"/>
              </a:rPr>
              <a:t>SYSTEMS PROGRAMMING AND MACHINE ORGANIZATION</a:t>
            </a:r>
            <a:endParaRPr lang="en-US" sz="970" dirty="0"/>
          </a:p>
        </p:txBody>
      </p:sp>
      <p:sp>
        <p:nvSpPr>
          <p:cNvPr id="3" name="Text 1"/>
          <p:cNvSpPr txBox="1"/>
          <p:nvPr/>
        </p:nvSpPr>
        <p:spPr>
          <a:xfrm>
            <a:off x="9601200" y="219456"/>
            <a:ext cx="2039112" cy="192024"/>
          </a:xfrm>
          <a:prstGeom prst="rect">
            <a:avLst/>
          </a:prstGeom>
          <a:noFill/>
          <a:ln/>
        </p:spPr>
        <p:txBody>
          <a:bodyPr wrap="square" lIns="0" tIns="0" rIns="0" bIns="0" rtlCol="0" anchor="t"/>
          <a:lstStyle/>
          <a:p>
            <a:pPr algn="r" indent="0" marL="0">
              <a:lnSpc>
                <a:spcPct val="104000"/>
              </a:lnSpc>
              <a:buNone/>
            </a:pPr>
            <a:r>
              <a:rPr lang="en-US" sz="970" b="1" dirty="0">
                <a:solidFill>
                  <a:srgbClr val="B3C3D6"/>
                </a:solidFill>
                <a:latin typeface="Arial" pitchFamily="34" charset="0"/>
                <a:ea typeface="Arial" pitchFamily="34" charset="-122"/>
                <a:cs typeface="Arial" pitchFamily="34" charset="-120"/>
              </a:rPr>
              <a:t>CHARLES DORNER</a:t>
            </a:r>
            <a:endParaRPr lang="en-US" sz="970" dirty="0"/>
          </a:p>
        </p:txBody>
      </p:sp>
      <p:sp>
        <p:nvSpPr>
          <p:cNvPr id="4" name="Text 2"/>
          <p:cNvSpPr txBox="1"/>
          <p:nvPr/>
        </p:nvSpPr>
        <p:spPr>
          <a:xfrm>
            <a:off x="548640" y="566928"/>
            <a:ext cx="11109960" cy="237744"/>
          </a:xfrm>
          <a:prstGeom prst="rect">
            <a:avLst/>
          </a:prstGeom>
          <a:noFill/>
          <a:ln/>
        </p:spPr>
        <p:txBody>
          <a:bodyPr wrap="square" lIns="0" tIns="0" rIns="0" bIns="0" rtlCol="0" anchor="t"/>
          <a:lstStyle/>
          <a:p>
            <a:pPr algn="l" indent="0" marL="0">
              <a:lnSpc>
                <a:spcPct val="104000"/>
              </a:lnSpc>
              <a:buNone/>
            </a:pPr>
            <a:r>
              <a:rPr lang="en-US" sz="1150" b="1" dirty="0">
                <a:solidFill>
                  <a:srgbClr val="71D5DD"/>
                </a:solidFill>
                <a:latin typeface="Arial" pitchFamily="34" charset="0"/>
                <a:ea typeface="Arial" pitchFamily="34" charset="-122"/>
                <a:cs typeface="Arial" pitchFamily="34" charset="-120"/>
              </a:rPr>
              <a:t>1.2.7 · END-TO-END EXECUTION TRACE</a:t>
            </a:r>
            <a:endParaRPr lang="en-US" sz="1150" dirty="0"/>
          </a:p>
        </p:txBody>
      </p:sp>
      <p:sp>
        <p:nvSpPr>
          <p:cNvPr id="5" name="Text 3"/>
          <p:cNvSpPr txBox="1"/>
          <p:nvPr/>
        </p:nvSpPr>
        <p:spPr>
          <a:xfrm>
            <a:off x="548640" y="941832"/>
            <a:ext cx="11091672" cy="676656"/>
          </a:xfrm>
          <a:prstGeom prst="rect">
            <a:avLst/>
          </a:prstGeom>
          <a:noFill/>
          <a:ln/>
        </p:spPr>
        <p:txBody>
          <a:bodyPr wrap="square" lIns="0" tIns="0" rIns="0" bIns="0" rtlCol="0" anchor="t"/>
          <a:lstStyle/>
          <a:p>
            <a:pPr algn="l" indent="0" marL="0">
              <a:lnSpc>
                <a:spcPct val="104000"/>
              </a:lnSpc>
              <a:buNone/>
            </a:pPr>
            <a:r>
              <a:rPr lang="en-US" sz="3150" b="1" dirty="0">
                <a:solidFill>
                  <a:srgbClr val="F4F7FB"/>
                </a:solidFill>
                <a:latin typeface="Arial" pitchFamily="34" charset="0"/>
                <a:ea typeface="Arial" pitchFamily="34" charset="-122"/>
                <a:cs typeface="Arial" pitchFamily="34" charset="-120"/>
              </a:rPr>
              <a:t>Printing 42 crosses several contracts</a:t>
            </a:r>
            <a:endParaRPr lang="en-US" sz="3150" dirty="0"/>
          </a:p>
        </p:txBody>
      </p:sp>
      <p:sp>
        <p:nvSpPr>
          <p:cNvPr id="6" name="Shape 4"/>
          <p:cNvSpPr/>
          <p:nvPr/>
        </p:nvSpPr>
        <p:spPr>
          <a:xfrm>
            <a:off x="548640" y="1883664"/>
            <a:ext cx="2058010" cy="941832"/>
          </a:xfrm>
          <a:prstGeom prst="rect">
            <a:avLst/>
          </a:prstGeom>
          <a:solidFill>
            <a:srgbClr val="172940"/>
          </a:solidFill>
          <a:ln w="8890">
            <a:solidFill>
              <a:srgbClr val="2B415A"/>
            </a:solidFill>
            <a:prstDash val="solid"/>
          </a:ln>
        </p:spPr>
        <p:txBody>
          <a:bodyPr/>
          <a:p/>
        </p:txBody>
      </p:sp>
      <p:sp>
        <p:nvSpPr>
          <p:cNvPr id="7" name="Text 5"/>
          <p:cNvSpPr txBox="1"/>
          <p:nvPr/>
        </p:nvSpPr>
        <p:spPr>
          <a:xfrm>
            <a:off x="640080" y="2084832"/>
            <a:ext cx="1875130" cy="548640"/>
          </a:xfrm>
          <a:prstGeom prst="rect">
            <a:avLst/>
          </a:prstGeom>
          <a:noFill/>
          <a:ln/>
        </p:spPr>
        <p:txBody>
          <a:bodyPr wrap="square" lIns="0" tIns="0" rIns="0" bIns="0" rtlCol="0" anchor="t"/>
          <a:lstStyle/>
          <a:p>
            <a:pPr algn="ctr" indent="0" marL="0">
              <a:lnSpc>
                <a:spcPct val="104000"/>
              </a:lnSpc>
              <a:buNone/>
            </a:pPr>
            <a:r>
              <a:rPr lang="en-US" sz="1800" b="1" dirty="0">
                <a:solidFill>
                  <a:srgbClr val="F4F7FB"/>
                </a:solidFill>
                <a:latin typeface="Arial" pitchFamily="34" charset="0"/>
                <a:ea typeface="Arial" pitchFamily="34" charset="-122"/>
                <a:cs typeface="Arial" pitchFamily="34" charset="-120"/>
              </a:rPr>
              <a:t>add(17, 25)</a:t>
            </a:r>
            <a:endParaRPr lang="en-US" sz="1800" dirty="0"/>
          </a:p>
        </p:txBody>
      </p:sp>
      <p:sp>
        <p:nvSpPr>
          <p:cNvPr id="8" name="Shape 6"/>
          <p:cNvSpPr/>
          <p:nvPr/>
        </p:nvSpPr>
        <p:spPr>
          <a:xfrm>
            <a:off x="2629510" y="2354580"/>
            <a:ext cx="155448" cy="0"/>
          </a:xfrm>
          <a:prstGeom prst="line">
            <a:avLst/>
          </a:prstGeom>
          <a:noFill/>
          <a:ln w="19050">
            <a:solidFill>
              <a:srgbClr val="71D5DD"/>
            </a:solidFill>
            <a:prstDash val="solid"/>
            <a:headEnd type="none"/>
            <a:tailEnd type="triangle"/>
          </a:ln>
        </p:spPr>
        <p:txBody>
          <a:bodyPr/>
          <a:p/>
        </p:txBody>
      </p:sp>
      <p:sp>
        <p:nvSpPr>
          <p:cNvPr id="9" name="Shape 7"/>
          <p:cNvSpPr/>
          <p:nvPr/>
        </p:nvSpPr>
        <p:spPr>
          <a:xfrm>
            <a:off x="2807818" y="1883664"/>
            <a:ext cx="2058010" cy="941832"/>
          </a:xfrm>
          <a:prstGeom prst="rect">
            <a:avLst/>
          </a:prstGeom>
          <a:solidFill>
            <a:srgbClr val="172940"/>
          </a:solidFill>
          <a:ln w="8890">
            <a:solidFill>
              <a:srgbClr val="2B415A"/>
            </a:solidFill>
            <a:prstDash val="solid"/>
          </a:ln>
        </p:spPr>
        <p:txBody>
          <a:bodyPr/>
          <a:p/>
        </p:txBody>
      </p:sp>
      <p:sp>
        <p:nvSpPr>
          <p:cNvPr id="10" name="Text 8"/>
          <p:cNvSpPr txBox="1"/>
          <p:nvPr/>
        </p:nvSpPr>
        <p:spPr>
          <a:xfrm>
            <a:off x="2899258" y="2084832"/>
            <a:ext cx="1875130" cy="548640"/>
          </a:xfrm>
          <a:prstGeom prst="rect">
            <a:avLst/>
          </a:prstGeom>
          <a:noFill/>
          <a:ln/>
        </p:spPr>
        <p:txBody>
          <a:bodyPr wrap="square" lIns="0" tIns="0" rIns="0" bIns="0" rtlCol="0" anchor="t"/>
          <a:lstStyle/>
          <a:p>
            <a:pPr algn="ctr" indent="0" marL="0">
              <a:lnSpc>
                <a:spcPct val="104000"/>
              </a:lnSpc>
              <a:buNone/>
            </a:pPr>
            <a:r>
              <a:rPr lang="en-US" sz="1800" b="1" dirty="0">
                <a:solidFill>
                  <a:srgbClr val="F4F7FB"/>
                </a:solidFill>
                <a:latin typeface="Arial" pitchFamily="34" charset="0"/>
                <a:ea typeface="Arial" pitchFamily="34" charset="-122"/>
                <a:cs typeface="Arial" pitchFamily="34" charset="-120"/>
              </a:rPr>
              <a:t>printf formatting</a:t>
            </a:r>
            <a:endParaRPr lang="en-US" sz="1800" dirty="0"/>
          </a:p>
        </p:txBody>
      </p:sp>
      <p:sp>
        <p:nvSpPr>
          <p:cNvPr id="11" name="Shape 9"/>
          <p:cNvSpPr/>
          <p:nvPr/>
        </p:nvSpPr>
        <p:spPr>
          <a:xfrm>
            <a:off x="4888687" y="2354580"/>
            <a:ext cx="155448" cy="0"/>
          </a:xfrm>
          <a:prstGeom prst="line">
            <a:avLst/>
          </a:prstGeom>
          <a:noFill/>
          <a:ln w="19050">
            <a:solidFill>
              <a:srgbClr val="71D5DD"/>
            </a:solidFill>
            <a:prstDash val="solid"/>
            <a:headEnd type="none"/>
            <a:tailEnd type="triangle"/>
          </a:ln>
        </p:spPr>
        <p:txBody>
          <a:bodyPr/>
          <a:p/>
        </p:txBody>
      </p:sp>
      <p:sp>
        <p:nvSpPr>
          <p:cNvPr id="12" name="Shape 10"/>
          <p:cNvSpPr/>
          <p:nvPr/>
        </p:nvSpPr>
        <p:spPr>
          <a:xfrm>
            <a:off x="5066995" y="1883664"/>
            <a:ext cx="2058010" cy="941832"/>
          </a:xfrm>
          <a:prstGeom prst="rect">
            <a:avLst/>
          </a:prstGeom>
          <a:solidFill>
            <a:srgbClr val="172940"/>
          </a:solidFill>
          <a:ln w="8890">
            <a:solidFill>
              <a:srgbClr val="2B415A"/>
            </a:solidFill>
            <a:prstDash val="solid"/>
          </a:ln>
        </p:spPr>
        <p:txBody>
          <a:bodyPr/>
          <a:p/>
        </p:txBody>
      </p:sp>
      <p:sp>
        <p:nvSpPr>
          <p:cNvPr id="13" name="Text 11"/>
          <p:cNvSpPr txBox="1"/>
          <p:nvPr/>
        </p:nvSpPr>
        <p:spPr>
          <a:xfrm>
            <a:off x="5158435" y="2084832"/>
            <a:ext cx="1875130" cy="548640"/>
          </a:xfrm>
          <a:prstGeom prst="rect">
            <a:avLst/>
          </a:prstGeom>
          <a:noFill/>
          <a:ln/>
        </p:spPr>
        <p:txBody>
          <a:bodyPr wrap="square" lIns="0" tIns="0" rIns="0" bIns="0" rtlCol="0" anchor="t"/>
          <a:lstStyle/>
          <a:p>
            <a:pPr algn="ctr" indent="0" marL="0">
              <a:lnSpc>
                <a:spcPct val="104000"/>
              </a:lnSpc>
              <a:buNone/>
            </a:pPr>
            <a:r>
              <a:rPr lang="en-US" sz="1800" b="1" dirty="0">
                <a:solidFill>
                  <a:srgbClr val="F4F7FB"/>
                </a:solidFill>
                <a:latin typeface="Arial" pitchFamily="34" charset="0"/>
                <a:ea typeface="Arial" pitchFamily="34" charset="-122"/>
                <a:cs typeface="Arial" pitchFamily="34" charset="-120"/>
              </a:rPr>
              <a:t>Library output</a:t>
            </a:r>
            <a:endParaRPr lang="en-US" sz="1800" dirty="0"/>
          </a:p>
          <a:p>
            <a:pPr algn="ctr" indent="0" marL="0">
              <a:lnSpc>
                <a:spcPct val="104000"/>
              </a:lnSpc>
              <a:buNone/>
            </a:pPr>
            <a:r>
              <a:rPr lang="en-US" sz="1800" b="1" dirty="0">
                <a:solidFill>
                  <a:srgbClr val="F4F7FB"/>
                </a:solidFill>
                <a:latin typeface="Arial" pitchFamily="34" charset="0"/>
                <a:ea typeface="Arial" pitchFamily="34" charset="-122"/>
                <a:cs typeface="Arial" pitchFamily="34" charset="-120"/>
              </a:rPr>
              <a:t>state</a:t>
            </a:r>
            <a:endParaRPr lang="en-US" sz="1800" dirty="0"/>
          </a:p>
        </p:txBody>
      </p:sp>
      <p:sp>
        <p:nvSpPr>
          <p:cNvPr id="14" name="Shape 12"/>
          <p:cNvSpPr/>
          <p:nvPr/>
        </p:nvSpPr>
        <p:spPr>
          <a:xfrm>
            <a:off x="7147865" y="2354580"/>
            <a:ext cx="155448" cy="0"/>
          </a:xfrm>
          <a:prstGeom prst="line">
            <a:avLst/>
          </a:prstGeom>
          <a:noFill/>
          <a:ln w="19050">
            <a:solidFill>
              <a:srgbClr val="71D5DD"/>
            </a:solidFill>
            <a:prstDash val="solid"/>
            <a:headEnd type="none"/>
            <a:tailEnd type="triangle"/>
          </a:ln>
        </p:spPr>
        <p:txBody>
          <a:bodyPr/>
          <a:p/>
        </p:txBody>
      </p:sp>
      <p:sp>
        <p:nvSpPr>
          <p:cNvPr id="15" name="Shape 13"/>
          <p:cNvSpPr/>
          <p:nvPr/>
        </p:nvSpPr>
        <p:spPr>
          <a:xfrm>
            <a:off x="7326173" y="1883664"/>
            <a:ext cx="2058010" cy="941832"/>
          </a:xfrm>
          <a:prstGeom prst="rect">
            <a:avLst/>
          </a:prstGeom>
          <a:solidFill>
            <a:srgbClr val="172940"/>
          </a:solidFill>
          <a:ln w="8890">
            <a:solidFill>
              <a:srgbClr val="2B415A"/>
            </a:solidFill>
            <a:prstDash val="solid"/>
          </a:ln>
        </p:spPr>
        <p:txBody>
          <a:bodyPr/>
          <a:p/>
        </p:txBody>
      </p:sp>
      <p:sp>
        <p:nvSpPr>
          <p:cNvPr id="16" name="Text 14"/>
          <p:cNvSpPr txBox="1"/>
          <p:nvPr/>
        </p:nvSpPr>
        <p:spPr>
          <a:xfrm>
            <a:off x="7417613" y="2084832"/>
            <a:ext cx="1875130" cy="548640"/>
          </a:xfrm>
          <a:prstGeom prst="rect">
            <a:avLst/>
          </a:prstGeom>
          <a:noFill/>
          <a:ln/>
        </p:spPr>
        <p:txBody>
          <a:bodyPr wrap="square" lIns="0" tIns="0" rIns="0" bIns="0" rtlCol="0" anchor="t"/>
          <a:lstStyle/>
          <a:p>
            <a:pPr algn="ctr" indent="0" marL="0">
              <a:lnSpc>
                <a:spcPct val="104000"/>
              </a:lnSpc>
              <a:buNone/>
            </a:pPr>
            <a:r>
              <a:rPr lang="en-US" sz="1800" b="1" dirty="0">
                <a:solidFill>
                  <a:srgbClr val="F4F7FB"/>
                </a:solidFill>
                <a:latin typeface="Arial" pitchFamily="34" charset="0"/>
                <a:ea typeface="Arial" pitchFamily="34" charset="-122"/>
                <a:cs typeface="Arial" pitchFamily="34" charset="-120"/>
              </a:rPr>
              <a:t>Kernel I/O</a:t>
            </a:r>
            <a:endParaRPr lang="en-US" sz="1800" dirty="0"/>
          </a:p>
        </p:txBody>
      </p:sp>
      <p:sp>
        <p:nvSpPr>
          <p:cNvPr id="17" name="Shape 15"/>
          <p:cNvSpPr/>
          <p:nvPr/>
        </p:nvSpPr>
        <p:spPr>
          <a:xfrm>
            <a:off x="9407042" y="2354580"/>
            <a:ext cx="155448" cy="0"/>
          </a:xfrm>
          <a:prstGeom prst="line">
            <a:avLst/>
          </a:prstGeom>
          <a:noFill/>
          <a:ln w="19050">
            <a:solidFill>
              <a:srgbClr val="71D5DD"/>
            </a:solidFill>
            <a:prstDash val="solid"/>
            <a:headEnd type="none"/>
            <a:tailEnd type="triangle"/>
          </a:ln>
        </p:spPr>
        <p:txBody>
          <a:bodyPr/>
          <a:p/>
        </p:txBody>
      </p:sp>
      <p:sp>
        <p:nvSpPr>
          <p:cNvPr id="18" name="Shape 16"/>
          <p:cNvSpPr/>
          <p:nvPr/>
        </p:nvSpPr>
        <p:spPr>
          <a:xfrm>
            <a:off x="9585350" y="1883664"/>
            <a:ext cx="2058010" cy="941832"/>
          </a:xfrm>
          <a:prstGeom prst="rect">
            <a:avLst/>
          </a:prstGeom>
          <a:solidFill>
            <a:srgbClr val="172940"/>
          </a:solidFill>
          <a:ln w="8890">
            <a:solidFill>
              <a:srgbClr val="2B415A"/>
            </a:solidFill>
            <a:prstDash val="solid"/>
          </a:ln>
        </p:spPr>
        <p:txBody>
          <a:bodyPr/>
          <a:p/>
        </p:txBody>
      </p:sp>
      <p:sp>
        <p:nvSpPr>
          <p:cNvPr id="19" name="Text 17"/>
          <p:cNvSpPr txBox="1"/>
          <p:nvPr/>
        </p:nvSpPr>
        <p:spPr>
          <a:xfrm>
            <a:off x="9676790" y="2084832"/>
            <a:ext cx="1875130" cy="548640"/>
          </a:xfrm>
          <a:prstGeom prst="rect">
            <a:avLst/>
          </a:prstGeom>
          <a:noFill/>
          <a:ln/>
        </p:spPr>
        <p:txBody>
          <a:bodyPr wrap="square" lIns="0" tIns="0" rIns="0" bIns="0" rtlCol="0" anchor="t"/>
          <a:lstStyle/>
          <a:p>
            <a:pPr algn="ctr" indent="0" marL="0">
              <a:lnSpc>
                <a:spcPct val="104000"/>
              </a:lnSpc>
              <a:buNone/>
            </a:pPr>
            <a:r>
              <a:rPr lang="en-US" sz="1800" b="1" dirty="0">
                <a:solidFill>
                  <a:srgbClr val="F4F7FB"/>
                </a:solidFill>
                <a:latin typeface="Arial" pitchFamily="34" charset="0"/>
                <a:ea typeface="Arial" pitchFamily="34" charset="-122"/>
                <a:cs typeface="Arial" pitchFamily="34" charset="-120"/>
              </a:rPr>
              <a:t>Destination</a:t>
            </a:r>
            <a:endParaRPr lang="en-US" sz="1800" dirty="0"/>
          </a:p>
        </p:txBody>
      </p:sp>
      <p:sp>
        <p:nvSpPr>
          <p:cNvPr id="20" name="Text 18"/>
          <p:cNvSpPr txBox="1"/>
          <p:nvPr/>
        </p:nvSpPr>
        <p:spPr>
          <a:xfrm>
            <a:off x="566928" y="3191256"/>
            <a:ext cx="384048" cy="237744"/>
          </a:xfrm>
          <a:prstGeom prst="rect">
            <a:avLst/>
          </a:prstGeom>
          <a:noFill/>
          <a:ln/>
        </p:spPr>
        <p:txBody>
          <a:bodyPr wrap="square" lIns="0" tIns="0" rIns="0" bIns="0" rtlCol="0" anchor="t"/>
          <a:lstStyle/>
          <a:p>
            <a:pPr algn="l" indent="0" marL="0">
              <a:lnSpc>
                <a:spcPct val="104000"/>
              </a:lnSpc>
              <a:buNone/>
            </a:pPr>
            <a:r>
              <a:rPr lang="en-US" sz="1350" b="1" dirty="0">
                <a:solidFill>
                  <a:srgbClr val="71D5DD"/>
                </a:solidFill>
                <a:latin typeface="Arial" pitchFamily="34" charset="0"/>
                <a:ea typeface="Arial" pitchFamily="34" charset="-122"/>
                <a:cs typeface="Arial" pitchFamily="34" charset="-120"/>
              </a:rPr>
              <a:t>01</a:t>
            </a:r>
            <a:endParaRPr lang="en-US" sz="1350" dirty="0"/>
          </a:p>
        </p:txBody>
      </p:sp>
      <p:sp>
        <p:nvSpPr>
          <p:cNvPr id="21" name="Text 19"/>
          <p:cNvSpPr txBox="1"/>
          <p:nvPr/>
        </p:nvSpPr>
        <p:spPr>
          <a:xfrm>
            <a:off x="1124712" y="3136392"/>
            <a:ext cx="10515600" cy="576072"/>
          </a:xfrm>
          <a:prstGeom prst="rect">
            <a:avLst/>
          </a:prstGeom>
          <a:noFill/>
          <a:ln/>
        </p:spPr>
        <p:txBody>
          <a:bodyPr wrap="square" lIns="0" tIns="0" rIns="0" bIns="0" rtlCol="0" anchor="t"/>
          <a:lstStyle/>
          <a:p>
            <a:pPr algn="l" indent="0" marL="0">
              <a:lnSpc>
                <a:spcPct val="104000"/>
              </a:lnSpc>
              <a:buNone/>
            </a:pPr>
            <a:r>
              <a:rPr lang="en-US" sz="2150" dirty="0">
                <a:solidFill>
                  <a:srgbClr val="F4F7FB"/>
                </a:solidFill>
                <a:latin typeface="Arial" pitchFamily="34" charset="0"/>
                <a:ea typeface="Arial" pitchFamily="34" charset="-122"/>
                <a:cs typeface="Arial" pitchFamily="34" charset="-120"/>
              </a:rPr>
              <a:t>Expected arithmetic result: 42.</a:t>
            </a:r>
            <a:endParaRPr lang="en-US" sz="2150" dirty="0"/>
          </a:p>
        </p:txBody>
      </p:sp>
      <p:sp>
        <p:nvSpPr>
          <p:cNvPr id="22" name="Text 20"/>
          <p:cNvSpPr txBox="1"/>
          <p:nvPr/>
        </p:nvSpPr>
        <p:spPr>
          <a:xfrm>
            <a:off x="566928" y="3803904"/>
            <a:ext cx="384048" cy="237744"/>
          </a:xfrm>
          <a:prstGeom prst="rect">
            <a:avLst/>
          </a:prstGeom>
          <a:noFill/>
          <a:ln/>
        </p:spPr>
        <p:txBody>
          <a:bodyPr wrap="square" lIns="0" tIns="0" rIns="0" bIns="0" rtlCol="0" anchor="t"/>
          <a:lstStyle/>
          <a:p>
            <a:pPr algn="l" indent="0" marL="0">
              <a:lnSpc>
                <a:spcPct val="104000"/>
              </a:lnSpc>
              <a:buNone/>
            </a:pPr>
            <a:r>
              <a:rPr lang="en-US" sz="1350" b="1" dirty="0">
                <a:solidFill>
                  <a:srgbClr val="71D5DD"/>
                </a:solidFill>
                <a:latin typeface="Arial" pitchFamily="34" charset="0"/>
                <a:ea typeface="Arial" pitchFamily="34" charset="-122"/>
                <a:cs typeface="Arial" pitchFamily="34" charset="-120"/>
              </a:rPr>
              <a:t>02</a:t>
            </a:r>
            <a:endParaRPr lang="en-US" sz="1350" dirty="0"/>
          </a:p>
        </p:txBody>
      </p:sp>
      <p:sp>
        <p:nvSpPr>
          <p:cNvPr id="23" name="Text 21"/>
          <p:cNvSpPr txBox="1"/>
          <p:nvPr/>
        </p:nvSpPr>
        <p:spPr>
          <a:xfrm>
            <a:off x="1124712" y="3749040"/>
            <a:ext cx="10515600" cy="576072"/>
          </a:xfrm>
          <a:prstGeom prst="rect">
            <a:avLst/>
          </a:prstGeom>
          <a:noFill/>
          <a:ln/>
        </p:spPr>
        <p:txBody>
          <a:bodyPr wrap="square" lIns="0" tIns="0" rIns="0" bIns="0" rtlCol="0" anchor="t"/>
          <a:lstStyle/>
          <a:p>
            <a:pPr algn="l" indent="0" marL="0">
              <a:lnSpc>
                <a:spcPct val="104000"/>
              </a:lnSpc>
              <a:buNone/>
            </a:pPr>
            <a:r>
              <a:rPr lang="en-US" sz="2150" dirty="0">
                <a:solidFill>
                  <a:srgbClr val="F4F7FB"/>
                </a:solidFill>
                <a:latin typeface="Arial" pitchFamily="34" charset="0"/>
                <a:ea typeface="Arial" pitchFamily="34" charset="-122"/>
                <a:cs typeface="Arial" pitchFamily="34" charset="-120"/>
              </a:rPr>
              <a:t>A library call need not correspond to exactly one system call.</a:t>
            </a:r>
            <a:endParaRPr lang="en-US" sz="2150" dirty="0"/>
          </a:p>
        </p:txBody>
      </p:sp>
      <p:sp>
        <p:nvSpPr>
          <p:cNvPr id="24" name="Text 22"/>
          <p:cNvSpPr txBox="1"/>
          <p:nvPr/>
        </p:nvSpPr>
        <p:spPr>
          <a:xfrm>
            <a:off x="566928" y="4416552"/>
            <a:ext cx="384048" cy="237744"/>
          </a:xfrm>
          <a:prstGeom prst="rect">
            <a:avLst/>
          </a:prstGeom>
          <a:noFill/>
          <a:ln/>
        </p:spPr>
        <p:txBody>
          <a:bodyPr wrap="square" lIns="0" tIns="0" rIns="0" bIns="0" rtlCol="0" anchor="t"/>
          <a:lstStyle/>
          <a:p>
            <a:pPr algn="l" indent="0" marL="0">
              <a:lnSpc>
                <a:spcPct val="104000"/>
              </a:lnSpc>
              <a:buNone/>
            </a:pPr>
            <a:r>
              <a:rPr lang="en-US" sz="1350" b="1" dirty="0">
                <a:solidFill>
                  <a:srgbClr val="71D5DD"/>
                </a:solidFill>
                <a:latin typeface="Arial" pitchFamily="34" charset="0"/>
                <a:ea typeface="Arial" pitchFamily="34" charset="-122"/>
                <a:cs typeface="Arial" pitchFamily="34" charset="-120"/>
              </a:rPr>
              <a:t>03</a:t>
            </a:r>
            <a:endParaRPr lang="en-US" sz="1350" dirty="0"/>
          </a:p>
        </p:txBody>
      </p:sp>
      <p:sp>
        <p:nvSpPr>
          <p:cNvPr id="25" name="Text 23"/>
          <p:cNvSpPr txBox="1"/>
          <p:nvPr/>
        </p:nvSpPr>
        <p:spPr>
          <a:xfrm>
            <a:off x="1124712" y="4361688"/>
            <a:ext cx="10515600" cy="576072"/>
          </a:xfrm>
          <a:prstGeom prst="rect">
            <a:avLst/>
          </a:prstGeom>
          <a:noFill/>
          <a:ln/>
        </p:spPr>
        <p:txBody>
          <a:bodyPr wrap="square" lIns="0" tIns="0" rIns="0" bIns="0" rtlCol="0" anchor="t"/>
          <a:lstStyle/>
          <a:p>
            <a:pPr algn="l" indent="0" marL="0">
              <a:lnSpc>
                <a:spcPct val="104000"/>
              </a:lnSpc>
              <a:buNone/>
            </a:pPr>
            <a:r>
              <a:rPr lang="en-US" sz="2150" dirty="0">
                <a:solidFill>
                  <a:srgbClr val="F4F7FB"/>
                </a:solidFill>
                <a:latin typeface="Arial" pitchFamily="34" charset="0"/>
                <a:ea typeface="Arial" pitchFamily="34" charset="-122"/>
                <a:cs typeface="Arial" pitchFamily="34" charset="-120"/>
              </a:rPr>
              <a:t>Output success is an environmental assumption of the minimal demo.</a:t>
            </a:r>
            <a:endParaRPr lang="en-US" sz="2150" dirty="0"/>
          </a:p>
        </p:txBody>
      </p:sp>
      <p:sp>
        <p:nvSpPr>
          <p:cNvPr id="30" name="Text 28"/>
          <p:cNvSpPr txBox="1"/>
          <p:nvPr/>
        </p:nvSpPr>
        <p:spPr>
          <a:xfrm>
            <a:off x="548640" y="6601968"/>
            <a:ext cx="10241280" cy="128016"/>
          </a:xfrm>
          <a:prstGeom prst="rect">
            <a:avLst/>
          </a:prstGeom>
          <a:noFill/>
          <a:ln/>
        </p:spPr>
        <p:txBody>
          <a:bodyPr wrap="square" lIns="0" tIns="0" rIns="0" bIns="0" rtlCol="0" anchor="t"/>
          <a:lstStyle/>
          <a:p>
            <a:pPr algn="l" indent="0" marL="0">
              <a:lnSpc>
                <a:spcPct val="104000"/>
              </a:lnSpc>
              <a:buNone/>
            </a:pPr>
            <a:r>
              <a:rPr lang="en-US" sz="830" dirty="0">
                <a:solidFill>
                  <a:srgbClr val="B3C3D6"/>
                </a:solidFill>
                <a:latin typeface="Arial" pitchFamily="34" charset="0"/>
                <a:ea typeface="Arial" pitchFamily="34" charset="-122"/>
                <a:cs typeface="Arial" pitchFamily="34" charset="-120"/>
              </a:rPr>
              <a:t>Source: original 2, 12, 16 • Graduate extension • [W, EXIT]</a:t>
            </a:r>
            <a:endParaRPr lang="en-US" sz="830" dirty="0"/>
          </a:p>
        </p:txBody>
      </p:sp>
      <p:sp>
        <p:nvSpPr>
          <p:cNvPr id="31" name="Text 29"/>
          <p:cNvSpPr txBox="1"/>
          <p:nvPr/>
        </p:nvSpPr>
        <p:spPr>
          <a:xfrm>
            <a:off x="10917936" y="6565392"/>
            <a:ext cx="722376" cy="219456"/>
          </a:xfrm>
          <a:prstGeom prst="rect">
            <a:avLst/>
          </a:prstGeom>
          <a:noFill/>
          <a:ln/>
        </p:spPr>
        <p:txBody>
          <a:bodyPr wrap="square" lIns="0" tIns="0" rIns="0" bIns="0" rtlCol="0" anchor="t"/>
          <a:lstStyle/>
          <a:p>
            <a:pPr algn="r" indent="0" marL="0">
              <a:lnSpc>
                <a:spcPct val="104000"/>
              </a:lnSpc>
              <a:buNone/>
            </a:pPr>
            <a:r>
              <a:rPr lang="en-US" sz="1050" dirty="0">
                <a:solidFill>
                  <a:srgbClr val="B3C3D6"/>
                </a:solidFill>
                <a:latin typeface="Arial" pitchFamily="34" charset="0"/>
                <a:ea typeface="Arial" pitchFamily="34" charset="-122"/>
                <a:cs typeface="Arial" pitchFamily="34" charset="-120"/>
              </a:rPr>
              <a:t>29 / 64</a:t>
            </a:r>
            <a:endParaRPr lang="en-US" sz="1050" dirty="0"/>
          </a:p>
        </p:txBody>
      </p:sp>
      <p:sp>
        <p:nvSpPr>
          <p:cNvPr id="32" name="Shape 30"/>
          <p:cNvSpPr/>
          <p:nvPr/>
        </p:nvSpPr>
        <p:spPr>
          <a:xfrm>
            <a:off x="0" y="6834226"/>
            <a:ext cx="12192000" cy="23774"/>
          </a:xfrm>
          <a:prstGeom prst="rect">
            <a:avLst/>
          </a:prstGeom>
          <a:solidFill>
            <a:srgbClr val="2B415A"/>
          </a:solidFill>
          <a:ln w="8890">
            <a:solidFill>
              <a:srgbClr val="2B415A"/>
            </a:solidFill>
            <a:prstDash val="solid"/>
          </a:ln>
        </p:spPr>
        <p:txBody>
          <a:bodyPr/>
          <a:p/>
        </p:txBody>
      </p:sp>
      <p:sp>
        <p:nvSpPr>
          <p:cNvPr id="33" name="Shape 31"/>
          <p:cNvSpPr/>
          <p:nvPr/>
        </p:nvSpPr>
        <p:spPr>
          <a:xfrm>
            <a:off x="0" y="6834226"/>
            <a:ext cx="5524500" cy="23774"/>
          </a:xfrm>
          <a:prstGeom prst="rect">
            <a:avLst/>
          </a:prstGeom>
          <a:solidFill>
            <a:srgbClr val="71D5DD"/>
          </a:solidFill>
          <a:ln w="8890">
            <a:solidFill>
              <a:srgbClr val="71D5DD"/>
            </a:solidFill>
            <a:prstDash val="solid"/>
          </a:ln>
        </p:spPr>
        <p:txBody>
          <a:body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48640" y="219456"/>
            <a:ext cx="9875520" cy="192024"/>
          </a:xfrm>
          <a:prstGeom prst="rect">
            <a:avLst/>
          </a:prstGeom>
          <a:noFill/>
          <a:ln/>
        </p:spPr>
        <p:txBody>
          <a:bodyPr wrap="square" lIns="0" tIns="0" rIns="0" bIns="0" rtlCol="0" anchor="t"/>
          <a:lstStyle/>
          <a:p>
            <a:pPr algn="l" indent="0" marL="0">
              <a:lnSpc>
                <a:spcPct val="104000"/>
              </a:lnSpc>
              <a:buNone/>
            </a:pPr>
            <a:r>
              <a:rPr lang="en-US" sz="970" b="1" spc="135" kern="0" dirty="0">
                <a:solidFill>
                  <a:srgbClr val="B3C3D6"/>
                </a:solidFill>
                <a:latin typeface="Arial" pitchFamily="34" charset="0"/>
                <a:ea typeface="Arial" pitchFamily="34" charset="-122"/>
                <a:cs typeface="Arial" pitchFamily="34" charset="-120"/>
              </a:rPr>
              <a:t>SYSTEMS PROGRAMMING AND MACHINE ORGANIZATION</a:t>
            </a:r>
            <a:endParaRPr lang="en-US" sz="970" dirty="0"/>
          </a:p>
        </p:txBody>
      </p:sp>
      <p:sp>
        <p:nvSpPr>
          <p:cNvPr id="3" name="Text 1"/>
          <p:cNvSpPr txBox="1"/>
          <p:nvPr/>
        </p:nvSpPr>
        <p:spPr>
          <a:xfrm>
            <a:off x="9601200" y="219456"/>
            <a:ext cx="2039112" cy="192024"/>
          </a:xfrm>
          <a:prstGeom prst="rect">
            <a:avLst/>
          </a:prstGeom>
          <a:noFill/>
          <a:ln/>
        </p:spPr>
        <p:txBody>
          <a:bodyPr wrap="square" lIns="0" tIns="0" rIns="0" bIns="0" rtlCol="0" anchor="t"/>
          <a:lstStyle/>
          <a:p>
            <a:pPr algn="r" indent="0" marL="0">
              <a:lnSpc>
                <a:spcPct val="104000"/>
              </a:lnSpc>
              <a:buNone/>
            </a:pPr>
            <a:r>
              <a:rPr lang="en-US" sz="970" b="1" dirty="0">
                <a:solidFill>
                  <a:srgbClr val="B3C3D6"/>
                </a:solidFill>
                <a:latin typeface="Arial" pitchFamily="34" charset="0"/>
                <a:ea typeface="Arial" pitchFamily="34" charset="-122"/>
                <a:cs typeface="Arial" pitchFamily="34" charset="-120"/>
              </a:rPr>
              <a:t>CHARLES DORNER</a:t>
            </a:r>
            <a:endParaRPr lang="en-US" sz="970" dirty="0"/>
          </a:p>
        </p:txBody>
      </p:sp>
      <p:sp>
        <p:nvSpPr>
          <p:cNvPr id="4" name="Text 2"/>
          <p:cNvSpPr txBox="1"/>
          <p:nvPr/>
        </p:nvSpPr>
        <p:spPr>
          <a:xfrm>
            <a:off x="548640" y="566928"/>
            <a:ext cx="11109960" cy="237744"/>
          </a:xfrm>
          <a:prstGeom prst="rect">
            <a:avLst/>
          </a:prstGeom>
          <a:noFill/>
          <a:ln/>
        </p:spPr>
        <p:txBody>
          <a:bodyPr wrap="square" lIns="0" tIns="0" rIns="0" bIns="0" rtlCol="0" anchor="t"/>
          <a:lstStyle/>
          <a:p>
            <a:pPr algn="l" indent="0" marL="0">
              <a:lnSpc>
                <a:spcPct val="104000"/>
              </a:lnSpc>
              <a:buNone/>
            </a:pPr>
            <a:r>
              <a:rPr lang="en-US" sz="1150" b="1" dirty="0">
                <a:solidFill>
                  <a:srgbClr val="71D5DD"/>
                </a:solidFill>
                <a:latin typeface="Arial" pitchFamily="34" charset="0"/>
                <a:ea typeface="Arial" pitchFamily="34" charset="-122"/>
                <a:cs typeface="Arial" pitchFamily="34" charset="-120"/>
              </a:rPr>
              <a:t>WORKED EXAMPLE · ORIGINAL CHAPTER PROGRAM</a:t>
            </a:r>
            <a:endParaRPr lang="en-US" sz="1150" dirty="0"/>
          </a:p>
        </p:txBody>
      </p:sp>
      <p:sp>
        <p:nvSpPr>
          <p:cNvPr id="5" name="Text 3"/>
          <p:cNvSpPr txBox="1"/>
          <p:nvPr/>
        </p:nvSpPr>
        <p:spPr>
          <a:xfrm>
            <a:off x="548640" y="941832"/>
            <a:ext cx="11091672" cy="676656"/>
          </a:xfrm>
          <a:prstGeom prst="rect">
            <a:avLst/>
          </a:prstGeom>
          <a:noFill/>
          <a:ln/>
        </p:spPr>
        <p:txBody>
          <a:bodyPr wrap="square" lIns="0" tIns="0" rIns="0" bIns="0" rtlCol="0" anchor="t"/>
          <a:lstStyle/>
          <a:p>
            <a:pPr algn="l" indent="0" marL="0">
              <a:lnSpc>
                <a:spcPct val="104000"/>
              </a:lnSpc>
              <a:buNone/>
            </a:pPr>
            <a:r>
              <a:rPr lang="en-US" sz="3150" b="1" dirty="0">
                <a:solidFill>
                  <a:srgbClr val="F4F7FB"/>
                </a:solidFill>
                <a:latin typeface="Arial" pitchFamily="34" charset="0"/>
                <a:ea typeface="Arial" pitchFamily="34" charset="-122"/>
                <a:cs typeface="Arial" pitchFamily="34" charset="-120"/>
              </a:rPr>
              <a:t>The two-file program: a declaration and its definition</a:t>
            </a:r>
            <a:endParaRPr lang="en-US" sz="3150" dirty="0"/>
          </a:p>
        </p:txBody>
      </p:sp>
      <p:sp>
        <p:nvSpPr>
          <p:cNvPr id="6" name="Shape 4"/>
          <p:cNvSpPr/>
          <p:nvPr/>
        </p:nvSpPr>
        <p:spPr>
          <a:xfrm>
            <a:off x="548640" y="1764792"/>
            <a:ext cx="11094720" cy="621792"/>
          </a:xfrm>
          <a:prstGeom prst="rect">
            <a:avLst/>
          </a:prstGeom>
          <a:solidFill>
            <a:srgbClr val="172940"/>
          </a:solidFill>
          <a:ln w="8890">
            <a:solidFill>
              <a:srgbClr val="2B415A"/>
            </a:solidFill>
            <a:prstDash val="solid"/>
          </a:ln>
        </p:spPr>
        <p:txBody>
          <a:bodyPr/>
          <a:p/>
        </p:txBody>
      </p:sp>
      <p:sp>
        <p:nvSpPr>
          <p:cNvPr id="7" name="Text 5"/>
          <p:cNvSpPr txBox="1"/>
          <p:nvPr/>
        </p:nvSpPr>
        <p:spPr>
          <a:xfrm>
            <a:off x="731520" y="1956816"/>
            <a:ext cx="1005840" cy="237744"/>
          </a:xfrm>
          <a:prstGeom prst="rect">
            <a:avLst/>
          </a:prstGeom>
          <a:noFill/>
          <a:ln/>
        </p:spPr>
        <p:txBody>
          <a:bodyPr wrap="square" lIns="0" tIns="0" rIns="0" bIns="0" rtlCol="0" anchor="t"/>
          <a:lstStyle/>
          <a:p>
            <a:pPr algn="l" indent="0" marL="0">
              <a:lnSpc>
                <a:spcPct val="104000"/>
              </a:lnSpc>
              <a:buNone/>
            </a:pPr>
            <a:r>
              <a:rPr lang="en-US" sz="1220" b="1" dirty="0">
                <a:solidFill>
                  <a:srgbClr val="F1C984"/>
                </a:solidFill>
                <a:latin typeface="Arial" pitchFamily="34" charset="0"/>
                <a:ea typeface="Arial" pitchFamily="34" charset="-122"/>
                <a:cs typeface="Arial" pitchFamily="34" charset="-120"/>
              </a:rPr>
              <a:t>sum.h</a:t>
            </a:r>
            <a:endParaRPr lang="en-US" sz="1220" dirty="0"/>
          </a:p>
        </p:txBody>
      </p:sp>
      <p:sp>
        <p:nvSpPr>
          <p:cNvPr id="8" name="Text 6"/>
          <p:cNvSpPr txBox="1"/>
          <p:nvPr/>
        </p:nvSpPr>
        <p:spPr>
          <a:xfrm>
            <a:off x="1965960" y="1947672"/>
            <a:ext cx="9052560" cy="274320"/>
          </a:xfrm>
          <a:prstGeom prst="rect">
            <a:avLst/>
          </a:prstGeom>
          <a:noFill/>
          <a:ln/>
        </p:spPr>
        <p:txBody>
          <a:bodyPr wrap="square" lIns="0" tIns="0" rIns="0" bIns="0" rtlCol="0" anchor="t"/>
          <a:lstStyle/>
          <a:p>
            <a:pPr algn="l" indent="0" marL="0">
              <a:lnSpc>
                <a:spcPct val="104000"/>
              </a:lnSpc>
              <a:buNone/>
            </a:pPr>
            <a:r>
              <a:rPr lang="en-US" sz="1840" dirty="0">
                <a:solidFill>
                  <a:srgbClr val="F4F7FB"/>
                </a:solidFill>
                <a:latin typeface="DejaVu Sans Mono" pitchFamily="34" charset="0"/>
                <a:ea typeface="DejaVu Sans Mono" pitchFamily="34" charset="-122"/>
                <a:cs typeface="DejaVu Sans Mono" pitchFamily="34" charset="-120"/>
              </a:rPr>
              <a:t>int add(int a, int b);</a:t>
            </a:r>
            <a:endParaRPr lang="en-US" sz="1840" dirty="0"/>
          </a:p>
        </p:txBody>
      </p:sp>
      <p:sp>
        <p:nvSpPr>
          <p:cNvPr id="9" name="Shape 7"/>
          <p:cNvSpPr/>
          <p:nvPr/>
        </p:nvSpPr>
        <p:spPr>
          <a:xfrm>
            <a:off x="548640" y="2578608"/>
            <a:ext cx="5093208" cy="2496312"/>
          </a:xfrm>
          <a:prstGeom prst="rect">
            <a:avLst/>
          </a:prstGeom>
          <a:solidFill>
            <a:srgbClr val="142238"/>
          </a:solidFill>
          <a:ln w="8890">
            <a:solidFill>
              <a:srgbClr val="2B415A"/>
            </a:solidFill>
            <a:prstDash val="solid"/>
          </a:ln>
        </p:spPr>
        <p:txBody>
          <a:bodyPr/>
          <a:p/>
        </p:txBody>
      </p:sp>
      <p:sp>
        <p:nvSpPr>
          <p:cNvPr id="10" name="Text 8"/>
          <p:cNvSpPr txBox="1"/>
          <p:nvPr/>
        </p:nvSpPr>
        <p:spPr>
          <a:xfrm>
            <a:off x="749808" y="2752344"/>
            <a:ext cx="4690872" cy="237744"/>
          </a:xfrm>
          <a:prstGeom prst="rect">
            <a:avLst/>
          </a:prstGeom>
          <a:noFill/>
          <a:ln/>
        </p:spPr>
        <p:txBody>
          <a:bodyPr wrap="square" lIns="0" tIns="0" rIns="0" bIns="0" rtlCol="0" anchor="t"/>
          <a:lstStyle/>
          <a:p>
            <a:pPr algn="l" indent="0" marL="0">
              <a:lnSpc>
                <a:spcPct val="104000"/>
              </a:lnSpc>
              <a:buNone/>
            </a:pPr>
            <a:r>
              <a:rPr lang="en-US" sz="1160" b="1" dirty="0">
                <a:solidFill>
                  <a:srgbClr val="F1C984"/>
                </a:solidFill>
                <a:latin typeface="Arial" pitchFamily="34" charset="0"/>
                <a:ea typeface="Arial" pitchFamily="34" charset="-122"/>
                <a:cs typeface="Arial" pitchFamily="34" charset="-120"/>
              </a:rPr>
              <a:t>sum.c</a:t>
            </a:r>
            <a:endParaRPr lang="en-US" sz="1160" dirty="0"/>
          </a:p>
        </p:txBody>
      </p:sp>
      <p:sp>
        <p:nvSpPr>
          <p:cNvPr id="11" name="Shape 9"/>
          <p:cNvSpPr/>
          <p:nvPr/>
        </p:nvSpPr>
        <p:spPr>
          <a:xfrm>
            <a:off x="749808" y="3090672"/>
            <a:ext cx="4690872" cy="0"/>
          </a:xfrm>
          <a:prstGeom prst="line">
            <a:avLst/>
          </a:prstGeom>
          <a:noFill/>
          <a:ln w="12700">
            <a:solidFill>
              <a:srgbClr val="2B415A"/>
            </a:solidFill>
            <a:prstDash val="solid"/>
          </a:ln>
        </p:spPr>
        <p:txBody>
          <a:bodyPr/>
          <a:p/>
        </p:txBody>
      </p:sp>
      <p:sp>
        <p:nvSpPr>
          <p:cNvPr id="12" name="Text 10"/>
          <p:cNvSpPr txBox="1"/>
          <p:nvPr/>
        </p:nvSpPr>
        <p:spPr>
          <a:xfrm>
            <a:off x="749808" y="3291840"/>
            <a:ext cx="4690872" cy="1636776"/>
          </a:xfrm>
          <a:prstGeom prst="rect">
            <a:avLst/>
          </a:prstGeom>
          <a:noFill/>
          <a:ln/>
        </p:spPr>
        <p:txBody>
          <a:bodyPr wrap="square" lIns="0" tIns="0" rIns="0" bIns="0" rtlCol="0" anchor="t"/>
          <a:lstStyle/>
          <a:p>
            <a:pPr algn="l" indent="0" marL="0">
              <a:lnSpc>
                <a:spcPct val="104000"/>
              </a:lnSpc>
              <a:buNone/>
            </a:pPr>
            <a:r>
              <a:rPr lang="en-US" sz="1800" dirty="0">
                <a:solidFill>
                  <a:srgbClr val="DCE8F4"/>
                </a:solidFill>
                <a:latin typeface="DejaVu Sans Mono" pitchFamily="34" charset="0"/>
                <a:ea typeface="DejaVu Sans Mono" pitchFamily="34" charset="-122"/>
                <a:cs typeface="DejaVu Sans Mono" pitchFamily="34" charset="-120"/>
              </a:rPr>
              <a:t>#include "sum.h"</a:t>
            </a:r>
            <a:endParaRPr lang="en-US" sz="1800" dirty="0"/>
          </a:p>
          <a:p>
            <a:pPr algn="l" indent="0" marL="0">
              <a:lnSpc>
                <a:spcPct val="104000"/>
              </a:lnSpc>
              <a:buNone/>
            </a:pPr>
            <a:endParaRPr lang="en-US" sz="1800" dirty="0"/>
          </a:p>
          <a:p>
            <a:pPr algn="l" indent="0" marL="0">
              <a:lnSpc>
                <a:spcPct val="104000"/>
              </a:lnSpc>
              <a:buNone/>
            </a:pPr>
            <a:r>
              <a:rPr lang="en-US" sz="1800" dirty="0">
                <a:solidFill>
                  <a:srgbClr val="DCE8F4"/>
                </a:solidFill>
                <a:latin typeface="DejaVu Sans Mono" pitchFamily="34" charset="0"/>
                <a:ea typeface="DejaVu Sans Mono" pitchFamily="34" charset="-122"/>
                <a:cs typeface="DejaVu Sans Mono" pitchFamily="34" charset="-120"/>
              </a:rPr>
              <a:t>int add(int a, int b) {</a:t>
            </a:r>
            <a:endParaRPr lang="en-US" sz="1800" dirty="0"/>
          </a:p>
          <a:p>
            <a:pPr algn="l" indent="0" marL="0">
              <a:lnSpc>
                <a:spcPct val="104000"/>
              </a:lnSpc>
              <a:buNone/>
            </a:pPr>
            <a:r>
              <a:rPr lang="en-US" sz="1800" dirty="0">
                <a:solidFill>
                  <a:srgbClr val="DCE8F4"/>
                </a:solidFill>
                <a:latin typeface="DejaVu Sans Mono" pitchFamily="34" charset="0"/>
                <a:ea typeface="DejaVu Sans Mono" pitchFamily="34" charset="-122"/>
                <a:cs typeface="DejaVu Sans Mono" pitchFamily="34" charset="-120"/>
              </a:rPr>
              <a:t>    return a + b;</a:t>
            </a:r>
            <a:endParaRPr lang="en-US" sz="1800" dirty="0"/>
          </a:p>
          <a:p>
            <a:pPr algn="l" indent="0" marL="0">
              <a:lnSpc>
                <a:spcPct val="104000"/>
              </a:lnSpc>
              <a:buNone/>
            </a:pPr>
            <a:r>
              <a:rPr lang="en-US" sz="1800" dirty="0">
                <a:solidFill>
                  <a:srgbClr val="DCE8F4"/>
                </a:solidFill>
                <a:latin typeface="DejaVu Sans Mono" pitchFamily="34" charset="0"/>
                <a:ea typeface="DejaVu Sans Mono" pitchFamily="34" charset="-122"/>
                <a:cs typeface="DejaVu Sans Mono" pitchFamily="34" charset="-120"/>
              </a:rPr>
              <a:t>}</a:t>
            </a:r>
            <a:endParaRPr lang="en-US" sz="1800" dirty="0"/>
          </a:p>
        </p:txBody>
      </p:sp>
      <p:sp>
        <p:nvSpPr>
          <p:cNvPr id="13" name="Shape 11"/>
          <p:cNvSpPr/>
          <p:nvPr/>
        </p:nvSpPr>
        <p:spPr>
          <a:xfrm>
            <a:off x="5843016" y="2578608"/>
            <a:ext cx="5797296" cy="2496312"/>
          </a:xfrm>
          <a:prstGeom prst="rect">
            <a:avLst/>
          </a:prstGeom>
          <a:solidFill>
            <a:srgbClr val="142238"/>
          </a:solidFill>
          <a:ln w="8890">
            <a:solidFill>
              <a:srgbClr val="2B415A"/>
            </a:solidFill>
            <a:prstDash val="solid"/>
          </a:ln>
        </p:spPr>
        <p:txBody>
          <a:bodyPr/>
          <a:p/>
        </p:txBody>
      </p:sp>
      <p:sp>
        <p:nvSpPr>
          <p:cNvPr id="14" name="Text 12"/>
          <p:cNvSpPr txBox="1"/>
          <p:nvPr/>
        </p:nvSpPr>
        <p:spPr>
          <a:xfrm>
            <a:off x="6044184" y="2752344"/>
            <a:ext cx="5394960" cy="237744"/>
          </a:xfrm>
          <a:prstGeom prst="rect">
            <a:avLst/>
          </a:prstGeom>
          <a:noFill/>
          <a:ln/>
        </p:spPr>
        <p:txBody>
          <a:bodyPr wrap="square" lIns="0" tIns="0" rIns="0" bIns="0" rtlCol="0" anchor="t"/>
          <a:lstStyle/>
          <a:p>
            <a:pPr algn="l" indent="0" marL="0">
              <a:lnSpc>
                <a:spcPct val="104000"/>
              </a:lnSpc>
              <a:buNone/>
            </a:pPr>
            <a:r>
              <a:rPr lang="en-US" sz="1160" b="1" dirty="0">
                <a:solidFill>
                  <a:srgbClr val="F1C984"/>
                </a:solidFill>
                <a:latin typeface="Arial" pitchFamily="34" charset="0"/>
                <a:ea typeface="Arial" pitchFamily="34" charset="-122"/>
                <a:cs typeface="Arial" pitchFamily="34" charset="-120"/>
              </a:rPr>
              <a:t>main.c</a:t>
            </a:r>
            <a:endParaRPr lang="en-US" sz="1160" dirty="0"/>
          </a:p>
        </p:txBody>
      </p:sp>
      <p:sp>
        <p:nvSpPr>
          <p:cNvPr id="15" name="Shape 13"/>
          <p:cNvSpPr/>
          <p:nvPr/>
        </p:nvSpPr>
        <p:spPr>
          <a:xfrm>
            <a:off x="6044184" y="3090672"/>
            <a:ext cx="5394960" cy="0"/>
          </a:xfrm>
          <a:prstGeom prst="line">
            <a:avLst/>
          </a:prstGeom>
          <a:noFill/>
          <a:ln w="12700">
            <a:solidFill>
              <a:srgbClr val="2B415A"/>
            </a:solidFill>
            <a:prstDash val="solid"/>
          </a:ln>
        </p:spPr>
        <p:txBody>
          <a:bodyPr/>
          <a:p/>
        </p:txBody>
      </p:sp>
      <p:sp>
        <p:nvSpPr>
          <p:cNvPr id="16" name="Text 14"/>
          <p:cNvSpPr txBox="1"/>
          <p:nvPr/>
        </p:nvSpPr>
        <p:spPr>
          <a:xfrm>
            <a:off x="6044184" y="3291840"/>
            <a:ext cx="5394960" cy="1636776"/>
          </a:xfrm>
          <a:prstGeom prst="rect">
            <a:avLst/>
          </a:prstGeom>
          <a:noFill/>
          <a:ln/>
        </p:spPr>
        <p:txBody>
          <a:bodyPr wrap="square" lIns="0" tIns="0" rIns="0" bIns="0" rtlCol="0" anchor="t"/>
          <a:lstStyle/>
          <a:p>
            <a:pPr algn="l" indent="0" marL="0">
              <a:lnSpc>
                <a:spcPct val="104000"/>
              </a:lnSpc>
              <a:buNone/>
            </a:pPr>
            <a:r>
              <a:rPr lang="en-US" sz="1600" dirty="0">
                <a:solidFill>
                  <a:srgbClr val="DCE8F4"/>
                </a:solidFill>
                <a:latin typeface="DejaVu Sans Mono" pitchFamily="34" charset="0"/>
                <a:ea typeface="DejaVu Sans Mono" pitchFamily="34" charset="-122"/>
                <a:cs typeface="DejaVu Sans Mono" pitchFamily="34" charset="-120"/>
              </a:rPr>
              <a:t>#include &lt;stdio.h&gt;</a:t>
            </a:r>
            <a:endParaRPr lang="en-US" sz="1600" dirty="0"/>
          </a:p>
          <a:p>
            <a:pPr algn="l" indent="0" marL="0">
              <a:lnSpc>
                <a:spcPct val="104000"/>
              </a:lnSpc>
              <a:buNone/>
            </a:pPr>
            <a:r>
              <a:rPr lang="en-US" sz="1600" dirty="0">
                <a:solidFill>
                  <a:srgbClr val="DCE8F4"/>
                </a:solidFill>
                <a:latin typeface="DejaVu Sans Mono" pitchFamily="34" charset="0"/>
                <a:ea typeface="DejaVu Sans Mono" pitchFamily="34" charset="-122"/>
                <a:cs typeface="DejaVu Sans Mono" pitchFamily="34" charset="-120"/>
              </a:rPr>
              <a:t>#include "sum.h"</a:t>
            </a:r>
            <a:endParaRPr lang="en-US" sz="1600" dirty="0"/>
          </a:p>
          <a:p>
            <a:pPr algn="l" indent="0" marL="0">
              <a:lnSpc>
                <a:spcPct val="104000"/>
              </a:lnSpc>
              <a:buNone/>
            </a:pPr>
            <a:endParaRPr lang="en-US" sz="1600" dirty="0"/>
          </a:p>
          <a:p>
            <a:pPr algn="l" indent="0" marL="0">
              <a:lnSpc>
                <a:spcPct val="104000"/>
              </a:lnSpc>
              <a:buNone/>
            </a:pPr>
            <a:r>
              <a:rPr lang="en-US" sz="1600" dirty="0">
                <a:solidFill>
                  <a:srgbClr val="DCE8F4"/>
                </a:solidFill>
                <a:latin typeface="DejaVu Sans Mono" pitchFamily="34" charset="0"/>
                <a:ea typeface="DejaVu Sans Mono" pitchFamily="34" charset="-122"/>
                <a:cs typeface="DejaVu Sans Mono" pitchFamily="34" charset="-120"/>
              </a:rPr>
              <a:t>int main(void) {</a:t>
            </a:r>
            <a:endParaRPr lang="en-US" sz="1600" dirty="0"/>
          </a:p>
          <a:p>
            <a:pPr algn="l" indent="0" marL="0">
              <a:lnSpc>
                <a:spcPct val="104000"/>
              </a:lnSpc>
              <a:buNone/>
            </a:pPr>
            <a:r>
              <a:rPr lang="en-US" sz="1600" dirty="0">
                <a:solidFill>
                  <a:srgbClr val="DCE8F4"/>
                </a:solidFill>
                <a:latin typeface="DejaVu Sans Mono" pitchFamily="34" charset="0"/>
                <a:ea typeface="DejaVu Sans Mono" pitchFamily="34" charset="-122"/>
                <a:cs typeface="DejaVu Sans Mono" pitchFamily="34" charset="-120"/>
              </a:rPr>
              <a:t>    printf("%d\n", add(17, 25));</a:t>
            </a:r>
            <a:endParaRPr lang="en-US" sz="1600" dirty="0"/>
          </a:p>
          <a:p>
            <a:pPr algn="l" indent="0" marL="0">
              <a:lnSpc>
                <a:spcPct val="104000"/>
              </a:lnSpc>
              <a:buNone/>
            </a:pPr>
            <a:r>
              <a:rPr lang="en-US" sz="1600" dirty="0">
                <a:solidFill>
                  <a:srgbClr val="DCE8F4"/>
                </a:solidFill>
                <a:latin typeface="DejaVu Sans Mono" pitchFamily="34" charset="0"/>
                <a:ea typeface="DejaVu Sans Mono" pitchFamily="34" charset="-122"/>
                <a:cs typeface="DejaVu Sans Mono" pitchFamily="34" charset="-120"/>
              </a:rPr>
              <a:t>    return 0;</a:t>
            </a:r>
            <a:endParaRPr lang="en-US" sz="1600" dirty="0"/>
          </a:p>
          <a:p>
            <a:pPr algn="l" indent="0" marL="0">
              <a:lnSpc>
                <a:spcPct val="104000"/>
              </a:lnSpc>
              <a:buNone/>
            </a:pPr>
            <a:r>
              <a:rPr lang="en-US" sz="1600" dirty="0">
                <a:solidFill>
                  <a:srgbClr val="DCE8F4"/>
                </a:solidFill>
                <a:latin typeface="DejaVu Sans Mono" pitchFamily="34" charset="0"/>
                <a:ea typeface="DejaVu Sans Mono" pitchFamily="34" charset="-122"/>
                <a:cs typeface="DejaVu Sans Mono" pitchFamily="34" charset="-120"/>
              </a:rPr>
              <a:t>}</a:t>
            </a:r>
            <a:endParaRPr lang="en-US" sz="1600" dirty="0"/>
          </a:p>
        </p:txBody>
      </p:sp>
      <p:sp>
        <p:nvSpPr>
          <p:cNvPr id="17" name="Text 15"/>
          <p:cNvSpPr txBox="1"/>
          <p:nvPr/>
        </p:nvSpPr>
        <p:spPr>
          <a:xfrm>
            <a:off x="548640" y="5193792"/>
            <a:ext cx="11094720" cy="274320"/>
          </a:xfrm>
          <a:prstGeom prst="rect">
            <a:avLst/>
          </a:prstGeom>
          <a:noFill/>
          <a:ln/>
        </p:spPr>
        <p:txBody>
          <a:bodyPr wrap="square" lIns="0" tIns="0" rIns="0" bIns="0" rtlCol="0" anchor="t"/>
          <a:lstStyle/>
          <a:p>
            <a:pPr algn="l" indent="0" marL="0">
              <a:lnSpc>
                <a:spcPct val="104000"/>
              </a:lnSpc>
              <a:buNone/>
            </a:pPr>
            <a:r>
              <a:rPr lang="en-US" sz="1140" dirty="0">
                <a:solidFill>
                  <a:srgbClr val="B3C3D6"/>
                </a:solidFill>
                <a:latin typeface="Arial" pitchFamily="34" charset="0"/>
                <a:ea typeface="Arial" pitchFamily="34" charset="-122"/>
                <a:cs typeface="Arial" pitchFamily="34" charset="-120"/>
              </a:rPr>
              <a:t>Expected and tested output: 42. The full companion header includes an include guard.</a:t>
            </a:r>
            <a:endParaRPr lang="en-US" sz="1140" dirty="0"/>
          </a:p>
        </p:txBody>
      </p:sp>
      <p:sp>
        <p:nvSpPr>
          <p:cNvPr id="22" name="Text 20"/>
          <p:cNvSpPr txBox="1"/>
          <p:nvPr/>
        </p:nvSpPr>
        <p:spPr>
          <a:xfrm>
            <a:off x="548640" y="6601968"/>
            <a:ext cx="10241280" cy="128016"/>
          </a:xfrm>
          <a:prstGeom prst="rect">
            <a:avLst/>
          </a:prstGeom>
          <a:noFill/>
          <a:ln/>
        </p:spPr>
        <p:txBody>
          <a:bodyPr wrap="square" lIns="0" tIns="0" rIns="0" bIns="0" rtlCol="0" anchor="t"/>
          <a:lstStyle/>
          <a:p>
            <a:pPr algn="l" indent="0" marL="0">
              <a:lnSpc>
                <a:spcPct val="104000"/>
              </a:lnSpc>
              <a:buNone/>
            </a:pPr>
            <a:r>
              <a:rPr lang="en-US" sz="830" dirty="0">
                <a:solidFill>
                  <a:srgbClr val="B3C3D6"/>
                </a:solidFill>
                <a:latin typeface="Arial" pitchFamily="34" charset="0"/>
                <a:ea typeface="Arial" pitchFamily="34" charset="-122"/>
                <a:cs typeface="Arial" pitchFamily="34" charset="-120"/>
              </a:rPr>
              <a:t>Source: original 16</a:t>
            </a:r>
            <a:endParaRPr lang="en-US" sz="830" dirty="0"/>
          </a:p>
        </p:txBody>
      </p:sp>
      <p:sp>
        <p:nvSpPr>
          <p:cNvPr id="23" name="Text 21"/>
          <p:cNvSpPr txBox="1"/>
          <p:nvPr/>
        </p:nvSpPr>
        <p:spPr>
          <a:xfrm>
            <a:off x="10917936" y="6565392"/>
            <a:ext cx="722376" cy="219456"/>
          </a:xfrm>
          <a:prstGeom prst="rect">
            <a:avLst/>
          </a:prstGeom>
          <a:noFill/>
          <a:ln/>
        </p:spPr>
        <p:txBody>
          <a:bodyPr wrap="square" lIns="0" tIns="0" rIns="0" bIns="0" rtlCol="0" anchor="t"/>
          <a:lstStyle/>
          <a:p>
            <a:pPr algn="r" indent="0" marL="0">
              <a:lnSpc>
                <a:spcPct val="104000"/>
              </a:lnSpc>
              <a:buNone/>
            </a:pPr>
            <a:r>
              <a:rPr lang="en-US" sz="1050" dirty="0">
                <a:solidFill>
                  <a:srgbClr val="B3C3D6"/>
                </a:solidFill>
                <a:latin typeface="Arial" pitchFamily="34" charset="0"/>
                <a:ea typeface="Arial" pitchFamily="34" charset="-122"/>
                <a:cs typeface="Arial" pitchFamily="34" charset="-120"/>
              </a:rPr>
              <a:t>30 / 64</a:t>
            </a:r>
            <a:endParaRPr lang="en-US" sz="1050" dirty="0"/>
          </a:p>
        </p:txBody>
      </p:sp>
      <p:sp>
        <p:nvSpPr>
          <p:cNvPr id="24" name="Shape 22"/>
          <p:cNvSpPr/>
          <p:nvPr/>
        </p:nvSpPr>
        <p:spPr>
          <a:xfrm>
            <a:off x="0" y="6834226"/>
            <a:ext cx="12192000" cy="23774"/>
          </a:xfrm>
          <a:prstGeom prst="rect">
            <a:avLst/>
          </a:prstGeom>
          <a:solidFill>
            <a:srgbClr val="2B415A"/>
          </a:solidFill>
          <a:ln w="8890">
            <a:solidFill>
              <a:srgbClr val="2B415A"/>
            </a:solidFill>
            <a:prstDash val="solid"/>
          </a:ln>
        </p:spPr>
        <p:txBody>
          <a:bodyPr/>
          <a:p/>
        </p:txBody>
      </p:sp>
      <p:sp>
        <p:nvSpPr>
          <p:cNvPr id="25" name="Shape 23"/>
          <p:cNvSpPr/>
          <p:nvPr/>
        </p:nvSpPr>
        <p:spPr>
          <a:xfrm>
            <a:off x="0" y="6834226"/>
            <a:ext cx="5715000" cy="23774"/>
          </a:xfrm>
          <a:prstGeom prst="rect">
            <a:avLst/>
          </a:prstGeom>
          <a:solidFill>
            <a:srgbClr val="71D5DD"/>
          </a:solidFill>
          <a:ln w="8890">
            <a:solidFill>
              <a:srgbClr val="71D5DD"/>
            </a:solidFill>
            <a:prstDash val="solid"/>
          </a:ln>
        </p:spPr>
        <p:txBody>
          <a:body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548640" y="219456"/>
            <a:ext cx="9875520" cy="192024"/>
          </a:xfrm>
          <a:prstGeom prst="rect">
            <a:avLst/>
          </a:prstGeom>
          <a:noFill/>
          <a:ln/>
        </p:spPr>
        <p:txBody>
          <a:bodyPr wrap="square" lIns="0" tIns="0" rIns="0" bIns="0" rtlCol="0" anchor="t"/>
          <a:lstStyle/>
          <a:p>
            <a:pPr algn="l" indent="0" marL="0">
              <a:lnSpc>
                <a:spcPct val="104000"/>
              </a:lnSpc>
              <a:buNone/>
            </a:pPr>
            <a:r>
              <a:rPr lang="en-US" sz="970" b="1" spc="135" kern="0" dirty="0">
                <a:solidFill>
                  <a:srgbClr val="B3C3D6"/>
                </a:solidFill>
                <a:latin typeface="Arial" pitchFamily="34" charset="0"/>
                <a:ea typeface="Arial" pitchFamily="34" charset="-122"/>
                <a:cs typeface="Arial" pitchFamily="34" charset="-120"/>
              </a:rPr>
              <a:t>SYSTEMS PROGRAMMING AND MACHINE ORGANIZATION</a:t>
            </a:r>
            <a:endParaRPr lang="en-US" sz="970" dirty="0"/>
          </a:p>
        </p:txBody>
      </p:sp>
      <p:sp>
        <p:nvSpPr>
          <p:cNvPr id="3" name="Text 1"/>
          <p:cNvSpPr txBox="1"/>
          <p:nvPr/>
        </p:nvSpPr>
        <p:spPr>
          <a:xfrm>
            <a:off x="9601200" y="219456"/>
            <a:ext cx="2039112" cy="192024"/>
          </a:xfrm>
          <a:prstGeom prst="rect">
            <a:avLst/>
          </a:prstGeom>
          <a:noFill/>
          <a:ln/>
        </p:spPr>
        <p:txBody>
          <a:bodyPr wrap="square" lIns="0" tIns="0" rIns="0" bIns="0" rtlCol="0" anchor="t"/>
          <a:lstStyle/>
          <a:p>
            <a:pPr algn="r" indent="0" marL="0">
              <a:lnSpc>
                <a:spcPct val="104000"/>
              </a:lnSpc>
              <a:buNone/>
            </a:pPr>
            <a:r>
              <a:rPr lang="en-US" sz="970" b="1" dirty="0">
                <a:solidFill>
                  <a:srgbClr val="B3C3D6"/>
                </a:solidFill>
                <a:latin typeface="Arial" pitchFamily="34" charset="0"/>
                <a:ea typeface="Arial" pitchFamily="34" charset="-122"/>
                <a:cs typeface="Arial" pitchFamily="34" charset="-120"/>
              </a:rPr>
              <a:t>CHARLES DORNER</a:t>
            </a:r>
            <a:endParaRPr lang="en-US" sz="970" dirty="0"/>
          </a:p>
        </p:txBody>
      </p:sp>
      <p:sp>
        <p:nvSpPr>
          <p:cNvPr id="4" name="Text 2"/>
          <p:cNvSpPr txBox="1"/>
          <p:nvPr/>
        </p:nvSpPr>
        <p:spPr>
          <a:xfrm>
            <a:off x="548640" y="566928"/>
            <a:ext cx="11109960" cy="237744"/>
          </a:xfrm>
          <a:prstGeom prst="rect">
            <a:avLst/>
          </a:prstGeom>
          <a:noFill/>
          <a:ln/>
        </p:spPr>
        <p:txBody>
          <a:bodyPr wrap="square" lIns="0" tIns="0" rIns="0" bIns="0" rtlCol="0" anchor="t"/>
          <a:lstStyle/>
          <a:p>
            <a:pPr algn="l" indent="0" marL="0">
              <a:lnSpc>
                <a:spcPct val="104000"/>
              </a:lnSpc>
              <a:buNone/>
            </a:pPr>
            <a:r>
              <a:rPr lang="en-US" sz="1150" b="1" dirty="0">
                <a:solidFill>
                  <a:srgbClr val="71D5DD"/>
                </a:solidFill>
                <a:latin typeface="Arial" pitchFamily="34" charset="0"/>
                <a:ea typeface="Arial" pitchFamily="34" charset="-122"/>
                <a:cs typeface="Arial" pitchFamily="34" charset="-120"/>
              </a:rPr>
              <a:t>WORKED EXAMPLE · BUILD STAGES</a:t>
            </a:r>
            <a:endParaRPr lang="en-US" sz="1150" dirty="0"/>
          </a:p>
        </p:txBody>
      </p:sp>
      <p:sp>
        <p:nvSpPr>
          <p:cNvPr id="5" name="Text 3"/>
          <p:cNvSpPr txBox="1"/>
          <p:nvPr/>
        </p:nvSpPr>
        <p:spPr>
          <a:xfrm>
            <a:off x="548640" y="941832"/>
            <a:ext cx="11091672" cy="676656"/>
          </a:xfrm>
          <a:prstGeom prst="rect">
            <a:avLst/>
          </a:prstGeom>
          <a:noFill/>
          <a:ln/>
        </p:spPr>
        <p:txBody>
          <a:bodyPr wrap="square" lIns="0" tIns="0" rIns="0" bIns="0" rtlCol="0" anchor="t"/>
          <a:lstStyle/>
          <a:p>
            <a:pPr algn="l" indent="0" marL="0">
              <a:lnSpc>
                <a:spcPct val="104000"/>
              </a:lnSpc>
              <a:buNone/>
            </a:pPr>
            <a:r>
              <a:rPr lang="en-US" sz="3150" b="1" dirty="0">
                <a:solidFill>
                  <a:srgbClr val="F4F7FB"/>
                </a:solidFill>
                <a:latin typeface="Arial" pitchFamily="34" charset="0"/>
                <a:ea typeface="Arial" pitchFamily="34" charset="-122"/>
                <a:cs typeface="Arial" pitchFamily="34" charset="-120"/>
              </a:rPr>
              <a:t>Stop the pipeline at each observable artifact</a:t>
            </a:r>
            <a:endParaRPr lang="en-US" sz="3150" dirty="0"/>
          </a:p>
        </p:txBody>
      </p:sp>
      <p:sp>
        <p:nvSpPr>
          <p:cNvPr id="6" name="Shape 4"/>
          <p:cNvSpPr/>
          <p:nvPr/>
        </p:nvSpPr>
        <p:spPr>
          <a:xfrm>
            <a:off x="548640" y="1764792"/>
            <a:ext cx="7178040" cy="3310128"/>
          </a:xfrm>
          <a:prstGeom prst="rect">
            <a:avLst/>
          </a:prstGeom>
          <a:solidFill>
            <a:srgbClr val="142238"/>
          </a:solidFill>
          <a:ln w="8890">
            <a:solidFill>
              <a:srgbClr val="2B415A"/>
            </a:solidFill>
            <a:prstDash val="solid"/>
          </a:ln>
        </p:spPr>
        <p:txBody>
          <a:bodyPr/>
          <a:p/>
        </p:txBody>
      </p:sp>
      <p:sp>
        <p:nvSpPr>
          <p:cNvPr id="7" name="Text 5"/>
          <p:cNvSpPr txBox="1"/>
          <p:nvPr/>
        </p:nvSpPr>
        <p:spPr>
          <a:xfrm>
            <a:off x="749808" y="1938528"/>
            <a:ext cx="6775704" cy="237744"/>
          </a:xfrm>
          <a:prstGeom prst="rect">
            <a:avLst/>
          </a:prstGeom>
          <a:noFill/>
          <a:ln/>
        </p:spPr>
        <p:txBody>
          <a:bodyPr wrap="square" lIns="0" tIns="0" rIns="0" bIns="0" rtlCol="0" anchor="t"/>
          <a:lstStyle/>
          <a:p>
            <a:pPr algn="l" indent="0" marL="0">
              <a:lnSpc>
                <a:spcPct val="104000"/>
              </a:lnSpc>
              <a:buNone/>
            </a:pPr>
            <a:r>
              <a:rPr lang="en-US" sz="1160" b="1" dirty="0">
                <a:solidFill>
                  <a:srgbClr val="F1C984"/>
                </a:solidFill>
                <a:latin typeface="Arial" pitchFamily="34" charset="0"/>
                <a:ea typeface="Arial" pitchFamily="34" charset="-122"/>
                <a:cs typeface="Arial" pitchFamily="34" charset="-120"/>
              </a:rPr>
              <a:t>Run from a directory containing main.c, sum.c, and sum.h</a:t>
            </a:r>
            <a:endParaRPr lang="en-US" sz="1160" dirty="0"/>
          </a:p>
        </p:txBody>
      </p:sp>
      <p:sp>
        <p:nvSpPr>
          <p:cNvPr id="8" name="Shape 6"/>
          <p:cNvSpPr/>
          <p:nvPr/>
        </p:nvSpPr>
        <p:spPr>
          <a:xfrm>
            <a:off x="749808" y="2276856"/>
            <a:ext cx="6775704" cy="0"/>
          </a:xfrm>
          <a:prstGeom prst="line">
            <a:avLst/>
          </a:prstGeom>
          <a:noFill/>
          <a:ln w="12700">
            <a:solidFill>
              <a:srgbClr val="2B415A"/>
            </a:solidFill>
            <a:prstDash val="solid"/>
          </a:ln>
        </p:spPr>
        <p:txBody>
          <a:bodyPr/>
          <a:p/>
        </p:txBody>
      </p:sp>
      <p:sp>
        <p:nvSpPr>
          <p:cNvPr id="9" name="Text 7"/>
          <p:cNvSpPr txBox="1"/>
          <p:nvPr/>
        </p:nvSpPr>
        <p:spPr>
          <a:xfrm>
            <a:off x="749808" y="2478024"/>
            <a:ext cx="6775704" cy="2450592"/>
          </a:xfrm>
          <a:prstGeom prst="rect">
            <a:avLst/>
          </a:prstGeom>
          <a:noFill/>
          <a:ln/>
        </p:spPr>
        <p:txBody>
          <a:bodyPr wrap="square" lIns="0" tIns="0" rIns="0" bIns="0" rtlCol="0" anchor="t"/>
          <a:lstStyle/>
          <a:p>
            <a:pPr algn="l" indent="0" marL="0">
              <a:lnSpc>
                <a:spcPct val="104000"/>
              </a:lnSpc>
              <a:buNone/>
            </a:pPr>
            <a:r>
              <a:rPr lang="en-US" sz="1830" dirty="0">
                <a:solidFill>
                  <a:srgbClr val="DCE8F4"/>
                </a:solidFill>
                <a:latin typeface="DejaVu Sans Mono" pitchFamily="34" charset="0"/>
                <a:ea typeface="DejaVu Sans Mono" pitchFamily="34" charset="-122"/>
                <a:cs typeface="DejaVu Sans Mono" pitchFamily="34" charset="-120"/>
              </a:rPr>
              <a:t>cc -std=c17 -E main.c -o main.i</a:t>
            </a:r>
            <a:endParaRPr lang="en-US" sz="1830" dirty="0"/>
          </a:p>
          <a:p>
            <a:pPr algn="l" indent="0" marL="0">
              <a:lnSpc>
                <a:spcPct val="104000"/>
              </a:lnSpc>
              <a:buNone/>
            </a:pPr>
            <a:r>
              <a:rPr lang="en-US" sz="1830" dirty="0">
                <a:solidFill>
                  <a:srgbClr val="DCE8F4"/>
                </a:solidFill>
                <a:latin typeface="DejaVu Sans Mono" pitchFamily="34" charset="0"/>
                <a:ea typeface="DejaVu Sans Mono" pitchFamily="34" charset="-122"/>
                <a:cs typeface="DejaVu Sans Mono" pitchFamily="34" charset="-120"/>
              </a:rPr>
              <a:t>cc -std=c17 -O0 -S main.i -o main.s</a:t>
            </a:r>
            <a:endParaRPr lang="en-US" sz="1830" dirty="0"/>
          </a:p>
          <a:p>
            <a:pPr algn="l" indent="0" marL="0">
              <a:lnSpc>
                <a:spcPct val="104000"/>
              </a:lnSpc>
              <a:buNone/>
            </a:pPr>
            <a:r>
              <a:rPr lang="en-US" sz="1830" dirty="0">
                <a:solidFill>
                  <a:srgbClr val="DCE8F4"/>
                </a:solidFill>
                <a:latin typeface="DejaVu Sans Mono" pitchFamily="34" charset="0"/>
                <a:ea typeface="DejaVu Sans Mono" pitchFamily="34" charset="-122"/>
                <a:cs typeface="DejaVu Sans Mono" pitchFamily="34" charset="-120"/>
              </a:rPr>
              <a:t>cc -c main.s -o main.o</a:t>
            </a:r>
            <a:endParaRPr lang="en-US" sz="1830" dirty="0"/>
          </a:p>
          <a:p>
            <a:pPr algn="l" indent="0" marL="0">
              <a:lnSpc>
                <a:spcPct val="104000"/>
              </a:lnSpc>
              <a:buNone/>
            </a:pPr>
            <a:r>
              <a:rPr lang="en-US" sz="1830" dirty="0">
                <a:solidFill>
                  <a:srgbClr val="DCE8F4"/>
                </a:solidFill>
                <a:latin typeface="DejaVu Sans Mono" pitchFamily="34" charset="0"/>
                <a:ea typeface="DejaVu Sans Mono" pitchFamily="34" charset="-122"/>
                <a:cs typeface="DejaVu Sans Mono" pitchFamily="34" charset="-120"/>
              </a:rPr>
              <a:t>cc -std=c17 -O0 -c sum.c -o sum.o</a:t>
            </a:r>
            <a:endParaRPr lang="en-US" sz="1830" dirty="0"/>
          </a:p>
          <a:p>
            <a:pPr algn="l" indent="0" marL="0">
              <a:lnSpc>
                <a:spcPct val="104000"/>
              </a:lnSpc>
              <a:buNone/>
            </a:pPr>
            <a:r>
              <a:rPr lang="en-US" sz="1830" dirty="0">
                <a:solidFill>
                  <a:srgbClr val="DCE8F4"/>
                </a:solidFill>
                <a:latin typeface="DejaVu Sans Mono" pitchFamily="34" charset="0"/>
                <a:ea typeface="DejaVu Sans Mono" pitchFamily="34" charset="-122"/>
                <a:cs typeface="DejaVu Sans Mono" pitchFamily="34" charset="-120"/>
              </a:rPr>
              <a:t>cc main.o sum.o -o sum_demo</a:t>
            </a:r>
            <a:endParaRPr lang="en-US" sz="1830" dirty="0"/>
          </a:p>
          <a:p>
            <a:pPr algn="l" indent="0" marL="0">
              <a:lnSpc>
                <a:spcPct val="104000"/>
              </a:lnSpc>
              <a:buNone/>
            </a:pPr>
            <a:r>
              <a:rPr lang="en-US" sz="1830" dirty="0">
                <a:solidFill>
                  <a:srgbClr val="DCE8F4"/>
                </a:solidFill>
                <a:latin typeface="DejaVu Sans Mono" pitchFamily="34" charset="0"/>
                <a:ea typeface="DejaVu Sans Mono" pitchFamily="34" charset="-122"/>
                <a:cs typeface="DejaVu Sans Mono" pitchFamily="34" charset="-120"/>
              </a:rPr>
              <a:t>./sum_demo</a:t>
            </a:r>
            <a:endParaRPr lang="en-US" sz="1830" dirty="0"/>
          </a:p>
        </p:txBody>
      </p:sp>
      <p:sp>
        <p:nvSpPr>
          <p:cNvPr id="10" name="Text 8"/>
          <p:cNvSpPr txBox="1"/>
          <p:nvPr/>
        </p:nvSpPr>
        <p:spPr>
          <a:xfrm>
            <a:off x="7946136" y="1883664"/>
            <a:ext cx="3696919" cy="237744"/>
          </a:xfrm>
          <a:prstGeom prst="rect">
            <a:avLst/>
          </a:prstGeom>
          <a:noFill/>
          <a:ln/>
        </p:spPr>
        <p:txBody>
          <a:bodyPr wrap="square" lIns="0" tIns="0" rIns="0" bIns="0" rtlCol="0" anchor="t"/>
          <a:lstStyle/>
          <a:p>
            <a:pPr algn="l" indent="0" marL="0">
              <a:lnSpc>
                <a:spcPct val="104000"/>
              </a:lnSpc>
              <a:buNone/>
            </a:pPr>
            <a:r>
              <a:rPr lang="en-US" sz="1330" b="1" dirty="0">
                <a:solidFill>
                  <a:srgbClr val="71D5DD"/>
                </a:solidFill>
                <a:latin typeface="Arial" pitchFamily="34" charset="0"/>
                <a:ea typeface="Arial" pitchFamily="34" charset="-122"/>
                <a:cs typeface="Arial" pitchFamily="34" charset="-120"/>
              </a:rPr>
              <a:t>ARTIFACTS TO EXPLAIN</a:t>
            </a:r>
            <a:endParaRPr lang="en-US" sz="1330" dirty="0"/>
          </a:p>
        </p:txBody>
      </p:sp>
      <p:sp>
        <p:nvSpPr>
          <p:cNvPr id="11" name="Shape 9"/>
          <p:cNvSpPr/>
          <p:nvPr/>
        </p:nvSpPr>
        <p:spPr>
          <a:xfrm>
            <a:off x="7946136" y="2386584"/>
            <a:ext cx="41148" cy="374904"/>
          </a:xfrm>
          <a:prstGeom prst="rect">
            <a:avLst/>
          </a:prstGeom>
          <a:solidFill>
            <a:srgbClr val="71D5DD"/>
          </a:solidFill>
          <a:ln w="8890">
            <a:solidFill>
              <a:srgbClr val="71D5DD"/>
            </a:solidFill>
            <a:prstDash val="solid"/>
          </a:ln>
        </p:spPr>
        <p:txBody>
          <a:bodyPr/>
          <a:p/>
        </p:txBody>
      </p:sp>
      <p:sp>
        <p:nvSpPr>
          <p:cNvPr id="12" name="Text 10"/>
          <p:cNvSpPr txBox="1"/>
          <p:nvPr/>
        </p:nvSpPr>
        <p:spPr>
          <a:xfrm>
            <a:off x="8110728" y="2350008"/>
            <a:ext cx="3532327" cy="617220"/>
          </a:xfrm>
          <a:prstGeom prst="rect">
            <a:avLst/>
          </a:prstGeom>
          <a:noFill/>
          <a:ln/>
        </p:spPr>
        <p:txBody>
          <a:bodyPr wrap="square" lIns="0" tIns="0" rIns="0" bIns="0" rtlCol="0" anchor="t"/>
          <a:lstStyle/>
          <a:p>
            <a:pPr algn="l" indent="0" marL="0">
              <a:lnSpc>
                <a:spcPct val="104000"/>
              </a:lnSpc>
              <a:buNone/>
            </a:pPr>
            <a:r>
              <a:rPr lang="en-US" sz="2010" dirty="0">
                <a:solidFill>
                  <a:srgbClr val="F4F7FB"/>
                </a:solidFill>
                <a:latin typeface="Arial" pitchFamily="34" charset="0"/>
                <a:ea typeface="Arial" pitchFamily="34" charset="-122"/>
                <a:cs typeface="Arial" pitchFamily="34" charset="-120"/>
              </a:rPr>
              <a:t>main.i: preprocessed</a:t>
            </a:r>
            <a:endParaRPr lang="en-US" sz="2010" dirty="0"/>
          </a:p>
          <a:p>
            <a:pPr algn="l" indent="0" marL="0">
              <a:lnSpc>
                <a:spcPct val="104000"/>
              </a:lnSpc>
              <a:buNone/>
            </a:pPr>
            <a:r>
              <a:rPr lang="en-US" sz="2010" dirty="0">
                <a:solidFill>
                  <a:srgbClr val="F4F7FB"/>
                </a:solidFill>
                <a:latin typeface="Arial" pitchFamily="34" charset="0"/>
                <a:ea typeface="Arial" pitchFamily="34" charset="-122"/>
                <a:cs typeface="Arial" pitchFamily="34" charset="-120"/>
              </a:rPr>
              <a:t>translation unit.</a:t>
            </a:r>
            <a:endParaRPr lang="en-US" sz="2010" dirty="0"/>
          </a:p>
        </p:txBody>
      </p:sp>
      <p:sp>
        <p:nvSpPr>
          <p:cNvPr id="13" name="Shape 11"/>
          <p:cNvSpPr/>
          <p:nvPr/>
        </p:nvSpPr>
        <p:spPr>
          <a:xfrm>
            <a:off x="7946136" y="3054096"/>
            <a:ext cx="41148" cy="374904"/>
          </a:xfrm>
          <a:prstGeom prst="rect">
            <a:avLst/>
          </a:prstGeom>
          <a:solidFill>
            <a:srgbClr val="71D5DD"/>
          </a:solidFill>
          <a:ln w="8890">
            <a:solidFill>
              <a:srgbClr val="71D5DD"/>
            </a:solidFill>
            <a:prstDash val="solid"/>
          </a:ln>
        </p:spPr>
        <p:txBody>
          <a:bodyPr/>
          <a:p/>
        </p:txBody>
      </p:sp>
      <p:sp>
        <p:nvSpPr>
          <p:cNvPr id="14" name="Text 12"/>
          <p:cNvSpPr txBox="1"/>
          <p:nvPr/>
        </p:nvSpPr>
        <p:spPr>
          <a:xfrm>
            <a:off x="8110728" y="3017520"/>
            <a:ext cx="3532327" cy="617220"/>
          </a:xfrm>
          <a:prstGeom prst="rect">
            <a:avLst/>
          </a:prstGeom>
          <a:noFill/>
          <a:ln/>
        </p:spPr>
        <p:txBody>
          <a:bodyPr wrap="square" lIns="0" tIns="0" rIns="0" bIns="0" rtlCol="0" anchor="t"/>
          <a:lstStyle/>
          <a:p>
            <a:pPr algn="l" indent="0" marL="0">
              <a:lnSpc>
                <a:spcPct val="104000"/>
              </a:lnSpc>
              <a:buNone/>
            </a:pPr>
            <a:r>
              <a:rPr lang="en-US" sz="2010" dirty="0">
                <a:solidFill>
                  <a:srgbClr val="F4F7FB"/>
                </a:solidFill>
                <a:latin typeface="Arial" pitchFamily="34" charset="0"/>
                <a:ea typeface="Arial" pitchFamily="34" charset="-122"/>
                <a:cs typeface="Arial" pitchFamily="34" charset="-120"/>
              </a:rPr>
              <a:t>main.s: symbolic assembly.</a:t>
            </a:r>
            <a:endParaRPr lang="en-US" sz="2010" dirty="0"/>
          </a:p>
        </p:txBody>
      </p:sp>
      <p:sp>
        <p:nvSpPr>
          <p:cNvPr id="15" name="Shape 13"/>
          <p:cNvSpPr/>
          <p:nvPr/>
        </p:nvSpPr>
        <p:spPr>
          <a:xfrm>
            <a:off x="7946136" y="3721608"/>
            <a:ext cx="41148" cy="374904"/>
          </a:xfrm>
          <a:prstGeom prst="rect">
            <a:avLst/>
          </a:prstGeom>
          <a:solidFill>
            <a:srgbClr val="71D5DD"/>
          </a:solidFill>
          <a:ln w="8890">
            <a:solidFill>
              <a:srgbClr val="71D5DD"/>
            </a:solidFill>
            <a:prstDash val="solid"/>
          </a:ln>
        </p:spPr>
        <p:txBody>
          <a:bodyPr/>
          <a:p/>
        </p:txBody>
      </p:sp>
      <p:sp>
        <p:nvSpPr>
          <p:cNvPr id="16" name="Text 14"/>
          <p:cNvSpPr txBox="1"/>
          <p:nvPr/>
        </p:nvSpPr>
        <p:spPr>
          <a:xfrm>
            <a:off x="8110728" y="3685032"/>
            <a:ext cx="3532327" cy="617220"/>
          </a:xfrm>
          <a:prstGeom prst="rect">
            <a:avLst/>
          </a:prstGeom>
          <a:noFill/>
          <a:ln/>
        </p:spPr>
        <p:txBody>
          <a:bodyPr wrap="square" lIns="0" tIns="0" rIns="0" bIns="0" rtlCol="0" anchor="t"/>
          <a:lstStyle/>
          <a:p>
            <a:pPr algn="l" indent="0" marL="0">
              <a:lnSpc>
                <a:spcPct val="104000"/>
              </a:lnSpc>
              <a:buNone/>
            </a:pPr>
            <a:r>
              <a:rPr lang="en-US" sz="2010" dirty="0">
                <a:solidFill>
                  <a:srgbClr val="F4F7FB"/>
                </a:solidFill>
                <a:latin typeface="Arial" pitchFamily="34" charset="0"/>
                <a:ea typeface="Arial" pitchFamily="34" charset="-122"/>
                <a:cs typeface="Arial" pitchFamily="34" charset="-120"/>
              </a:rPr>
              <a:t>main.o: relocatable object.</a:t>
            </a:r>
            <a:endParaRPr lang="en-US" sz="2010" dirty="0"/>
          </a:p>
        </p:txBody>
      </p:sp>
      <p:sp>
        <p:nvSpPr>
          <p:cNvPr id="17" name="Shape 15"/>
          <p:cNvSpPr/>
          <p:nvPr/>
        </p:nvSpPr>
        <p:spPr>
          <a:xfrm>
            <a:off x="7946136" y="4389120"/>
            <a:ext cx="41148" cy="374904"/>
          </a:xfrm>
          <a:prstGeom prst="rect">
            <a:avLst/>
          </a:prstGeom>
          <a:solidFill>
            <a:srgbClr val="71D5DD"/>
          </a:solidFill>
          <a:ln w="8890">
            <a:solidFill>
              <a:srgbClr val="71D5DD"/>
            </a:solidFill>
            <a:prstDash val="solid"/>
          </a:ln>
        </p:spPr>
        <p:txBody>
          <a:bodyPr/>
          <a:p/>
        </p:txBody>
      </p:sp>
      <p:sp>
        <p:nvSpPr>
          <p:cNvPr id="18" name="Text 16"/>
          <p:cNvSpPr txBox="1"/>
          <p:nvPr/>
        </p:nvSpPr>
        <p:spPr>
          <a:xfrm>
            <a:off x="8110728" y="4352544"/>
            <a:ext cx="3532327" cy="617220"/>
          </a:xfrm>
          <a:prstGeom prst="rect">
            <a:avLst/>
          </a:prstGeom>
          <a:noFill/>
          <a:ln/>
        </p:spPr>
        <p:txBody>
          <a:bodyPr wrap="square" lIns="0" tIns="0" rIns="0" bIns="0" rtlCol="0" anchor="t"/>
          <a:lstStyle/>
          <a:p>
            <a:pPr algn="l" indent="0" marL="0">
              <a:lnSpc>
                <a:spcPct val="104000"/>
              </a:lnSpc>
              <a:buNone/>
            </a:pPr>
            <a:r>
              <a:rPr lang="en-US" sz="2010" dirty="0">
                <a:solidFill>
                  <a:srgbClr val="F4F7FB"/>
                </a:solidFill>
                <a:latin typeface="Arial" pitchFamily="34" charset="0"/>
                <a:ea typeface="Arial" pitchFamily="34" charset="-122"/>
                <a:cs typeface="Arial" pitchFamily="34" charset="-120"/>
              </a:rPr>
              <a:t>sum_demo: linked executable.</a:t>
            </a:r>
            <a:endParaRPr lang="en-US" sz="2010" dirty="0"/>
          </a:p>
        </p:txBody>
      </p:sp>
      <p:sp>
        <p:nvSpPr>
          <p:cNvPr id="19" name="Text 17"/>
          <p:cNvSpPr txBox="1"/>
          <p:nvPr/>
        </p:nvSpPr>
        <p:spPr>
          <a:xfrm>
            <a:off x="548640" y="5193792"/>
            <a:ext cx="11094720" cy="274320"/>
          </a:xfrm>
          <a:prstGeom prst="rect">
            <a:avLst/>
          </a:prstGeom>
          <a:noFill/>
          <a:ln/>
        </p:spPr>
        <p:txBody>
          <a:bodyPr wrap="square" lIns="0" tIns="0" rIns="0" bIns="0" rtlCol="0" anchor="t"/>
          <a:lstStyle/>
          <a:p>
            <a:pPr algn="l" indent="0" marL="0">
              <a:lnSpc>
                <a:spcPct val="104000"/>
              </a:lnSpc>
              <a:buNone/>
            </a:pPr>
            <a:r>
              <a:rPr lang="en-US" sz="1140" dirty="0">
                <a:solidFill>
                  <a:srgbClr val="B3C3D6"/>
                </a:solidFill>
                <a:latin typeface="Arial" pitchFamily="34" charset="0"/>
                <a:ea typeface="Arial" pitchFamily="34" charset="-122"/>
                <a:cs typeface="Arial" pitchFamily="34" charset="-120"/>
              </a:rPr>
              <a:t>GCC-compatible driver syntax. The companion script stores these files under build/.</a:t>
            </a:r>
            <a:endParaRPr lang="en-US" sz="1140" dirty="0"/>
          </a:p>
        </p:txBody>
      </p:sp>
      <p:sp>
        <p:nvSpPr>
          <p:cNvPr id="24" name="Text 22"/>
          <p:cNvSpPr txBox="1"/>
          <p:nvPr/>
        </p:nvSpPr>
        <p:spPr>
          <a:xfrm>
            <a:off x="548640" y="6601968"/>
            <a:ext cx="10241280" cy="128016"/>
          </a:xfrm>
          <a:prstGeom prst="rect">
            <a:avLst/>
          </a:prstGeom>
          <a:noFill/>
          <a:ln/>
        </p:spPr>
        <p:txBody>
          <a:bodyPr wrap="square" lIns="0" tIns="0" rIns="0" bIns="0" rtlCol="0" anchor="t"/>
          <a:lstStyle/>
          <a:p>
            <a:pPr algn="l" indent="0" marL="0">
              <a:lnSpc>
                <a:spcPct val="104000"/>
              </a:lnSpc>
              <a:buNone/>
            </a:pPr>
            <a:r>
              <a:rPr lang="en-US" sz="830" dirty="0">
                <a:solidFill>
                  <a:srgbClr val="B3C3D6"/>
                </a:solidFill>
                <a:latin typeface="Arial" pitchFamily="34" charset="0"/>
                <a:ea typeface="Arial" pitchFamily="34" charset="-122"/>
                <a:cs typeface="Arial" pitchFamily="34" charset="-120"/>
              </a:rPr>
              <a:t>Source: original 17 • Graduate extension • [GCC]</a:t>
            </a:r>
            <a:endParaRPr lang="en-US" sz="830" dirty="0"/>
          </a:p>
        </p:txBody>
      </p:sp>
      <p:sp>
        <p:nvSpPr>
          <p:cNvPr id="25" name="Text 23"/>
          <p:cNvSpPr txBox="1"/>
          <p:nvPr/>
        </p:nvSpPr>
        <p:spPr>
          <a:xfrm>
            <a:off x="10917936" y="6565392"/>
            <a:ext cx="722376" cy="219456"/>
          </a:xfrm>
          <a:prstGeom prst="rect">
            <a:avLst/>
          </a:prstGeom>
          <a:noFill/>
          <a:ln/>
        </p:spPr>
        <p:txBody>
          <a:bodyPr wrap="square" lIns="0" tIns="0" rIns="0" bIns="0" rtlCol="0" anchor="t"/>
          <a:lstStyle/>
          <a:p>
            <a:pPr algn="r" indent="0" marL="0">
              <a:lnSpc>
                <a:spcPct val="104000"/>
              </a:lnSpc>
              <a:buNone/>
            </a:pPr>
            <a:r>
              <a:rPr lang="en-US" sz="1050" dirty="0">
                <a:solidFill>
                  <a:srgbClr val="B3C3D6"/>
                </a:solidFill>
                <a:latin typeface="Arial" pitchFamily="34" charset="0"/>
                <a:ea typeface="Arial" pitchFamily="34" charset="-122"/>
                <a:cs typeface="Arial" pitchFamily="34" charset="-120"/>
              </a:rPr>
              <a:t>31 / 64</a:t>
            </a:r>
            <a:endParaRPr lang="en-US" sz="1050" dirty="0"/>
          </a:p>
        </p:txBody>
      </p:sp>
      <p:sp>
        <p:nvSpPr>
          <p:cNvPr id="26" name="Shape 24"/>
          <p:cNvSpPr/>
          <p:nvPr/>
        </p:nvSpPr>
        <p:spPr>
          <a:xfrm>
            <a:off x="0" y="6834226"/>
            <a:ext cx="12192000" cy="23774"/>
          </a:xfrm>
          <a:prstGeom prst="rect">
            <a:avLst/>
          </a:prstGeom>
          <a:solidFill>
            <a:srgbClr val="2B415A"/>
          </a:solidFill>
          <a:ln w="8890">
            <a:solidFill>
              <a:srgbClr val="2B415A"/>
            </a:solidFill>
            <a:prstDash val="solid"/>
          </a:ln>
        </p:spPr>
        <p:txBody>
          <a:bodyPr/>
          <a:p/>
        </p:txBody>
      </p:sp>
      <p:sp>
        <p:nvSpPr>
          <p:cNvPr id="27" name="Shape 25"/>
          <p:cNvSpPr/>
          <p:nvPr/>
        </p:nvSpPr>
        <p:spPr>
          <a:xfrm>
            <a:off x="0" y="6834226"/>
            <a:ext cx="5905500" cy="23774"/>
          </a:xfrm>
          <a:prstGeom prst="rect">
            <a:avLst/>
          </a:prstGeom>
          <a:solidFill>
            <a:srgbClr val="71D5DD"/>
          </a:solidFill>
          <a:ln w="8890">
            <a:solidFill>
              <a:srgbClr val="71D5DD"/>
            </a:solidFill>
            <a:prstDash val="solid"/>
          </a:ln>
        </p:spPr>
        <p:txBody>
          <a:body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48640" y="219456"/>
            <a:ext cx="9875520" cy="192024"/>
          </a:xfrm>
          <a:prstGeom prst="rect">
            <a:avLst/>
          </a:prstGeom>
          <a:noFill/>
          <a:ln/>
        </p:spPr>
        <p:txBody>
          <a:bodyPr wrap="square" lIns="0" tIns="0" rIns="0" bIns="0" rtlCol="0" anchor="t"/>
          <a:lstStyle/>
          <a:p>
            <a:pPr algn="l" indent="0" marL="0">
              <a:lnSpc>
                <a:spcPct val="104000"/>
              </a:lnSpc>
              <a:buNone/>
            </a:pPr>
            <a:r>
              <a:rPr lang="en-US" sz="970" b="1" spc="135" kern="0" dirty="0">
                <a:solidFill>
                  <a:srgbClr val="B3C3D6"/>
                </a:solidFill>
                <a:latin typeface="Arial" pitchFamily="34" charset="0"/>
                <a:ea typeface="Arial" pitchFamily="34" charset="-122"/>
                <a:cs typeface="Arial" pitchFamily="34" charset="-120"/>
              </a:rPr>
              <a:t>SYSTEMS PROGRAMMING AND MACHINE ORGANIZATION</a:t>
            </a:r>
            <a:endParaRPr lang="en-US" sz="970" dirty="0"/>
          </a:p>
        </p:txBody>
      </p:sp>
      <p:sp>
        <p:nvSpPr>
          <p:cNvPr id="3" name="Text 1"/>
          <p:cNvSpPr txBox="1"/>
          <p:nvPr/>
        </p:nvSpPr>
        <p:spPr>
          <a:xfrm>
            <a:off x="9601200" y="219456"/>
            <a:ext cx="2039112" cy="192024"/>
          </a:xfrm>
          <a:prstGeom prst="rect">
            <a:avLst/>
          </a:prstGeom>
          <a:noFill/>
          <a:ln/>
        </p:spPr>
        <p:txBody>
          <a:bodyPr wrap="square" lIns="0" tIns="0" rIns="0" bIns="0" rtlCol="0" anchor="t"/>
          <a:lstStyle/>
          <a:p>
            <a:pPr algn="r" indent="0" marL="0">
              <a:lnSpc>
                <a:spcPct val="104000"/>
              </a:lnSpc>
              <a:buNone/>
            </a:pPr>
            <a:r>
              <a:rPr lang="en-US" sz="970" b="1" dirty="0">
                <a:solidFill>
                  <a:srgbClr val="B3C3D6"/>
                </a:solidFill>
                <a:latin typeface="Arial" pitchFamily="34" charset="0"/>
                <a:ea typeface="Arial" pitchFamily="34" charset="-122"/>
                <a:cs typeface="Arial" pitchFamily="34" charset="-120"/>
              </a:rPr>
              <a:t>CHARLES DORNER</a:t>
            </a:r>
            <a:endParaRPr lang="en-US" sz="970" dirty="0"/>
          </a:p>
        </p:txBody>
      </p:sp>
      <p:sp>
        <p:nvSpPr>
          <p:cNvPr id="4" name="Text 2"/>
          <p:cNvSpPr txBox="1"/>
          <p:nvPr/>
        </p:nvSpPr>
        <p:spPr>
          <a:xfrm>
            <a:off x="548640" y="566928"/>
            <a:ext cx="11109960" cy="237744"/>
          </a:xfrm>
          <a:prstGeom prst="rect">
            <a:avLst/>
          </a:prstGeom>
          <a:noFill/>
          <a:ln/>
        </p:spPr>
        <p:txBody>
          <a:bodyPr wrap="square" lIns="0" tIns="0" rIns="0" bIns="0" rtlCol="0" anchor="t"/>
          <a:lstStyle/>
          <a:p>
            <a:pPr algn="l" indent="0" marL="0">
              <a:lnSpc>
                <a:spcPct val="104000"/>
              </a:lnSpc>
              <a:buNone/>
            </a:pPr>
            <a:r>
              <a:rPr lang="en-US" sz="1150" b="1" dirty="0">
                <a:solidFill>
                  <a:srgbClr val="71D5DD"/>
                </a:solidFill>
                <a:latin typeface="Arial" pitchFamily="34" charset="0"/>
                <a:ea typeface="Arial" pitchFamily="34" charset="-122"/>
                <a:cs typeface="Arial" pitchFamily="34" charset="-120"/>
              </a:rPr>
              <a:t>WORKED EXAMPLE · GNU BINARY TOOLS</a:t>
            </a:r>
            <a:endParaRPr lang="en-US" sz="1150" dirty="0"/>
          </a:p>
        </p:txBody>
      </p:sp>
      <p:sp>
        <p:nvSpPr>
          <p:cNvPr id="5" name="Text 3"/>
          <p:cNvSpPr txBox="1"/>
          <p:nvPr/>
        </p:nvSpPr>
        <p:spPr>
          <a:xfrm>
            <a:off x="548640" y="941832"/>
            <a:ext cx="11091672" cy="676656"/>
          </a:xfrm>
          <a:prstGeom prst="rect">
            <a:avLst/>
          </a:prstGeom>
          <a:noFill/>
          <a:ln/>
        </p:spPr>
        <p:txBody>
          <a:bodyPr wrap="square" lIns="0" tIns="0" rIns="0" bIns="0" rtlCol="0" anchor="t"/>
          <a:lstStyle/>
          <a:p>
            <a:pPr algn="l" indent="0" marL="0">
              <a:lnSpc>
                <a:spcPct val="104000"/>
              </a:lnSpc>
              <a:buNone/>
            </a:pPr>
            <a:r>
              <a:rPr lang="en-US" sz="3150" b="1" dirty="0">
                <a:solidFill>
                  <a:srgbClr val="F4F7FB"/>
                </a:solidFill>
                <a:latin typeface="Arial" pitchFamily="34" charset="0"/>
                <a:ea typeface="Arial" pitchFamily="34" charset="-122"/>
                <a:cs typeface="Arial" pitchFamily="34" charset="-120"/>
              </a:rPr>
              <a:t>Inspect evidence: symbols, relocations, and segments</a:t>
            </a:r>
            <a:endParaRPr lang="en-US" sz="3150" dirty="0"/>
          </a:p>
        </p:txBody>
      </p:sp>
      <p:sp>
        <p:nvSpPr>
          <p:cNvPr id="6" name="Shape 4"/>
          <p:cNvSpPr/>
          <p:nvPr/>
        </p:nvSpPr>
        <p:spPr>
          <a:xfrm>
            <a:off x="548640" y="1764792"/>
            <a:ext cx="7178040" cy="3310128"/>
          </a:xfrm>
          <a:prstGeom prst="rect">
            <a:avLst/>
          </a:prstGeom>
          <a:solidFill>
            <a:srgbClr val="142238"/>
          </a:solidFill>
          <a:ln w="8890">
            <a:solidFill>
              <a:srgbClr val="2B415A"/>
            </a:solidFill>
            <a:prstDash val="solid"/>
          </a:ln>
        </p:spPr>
        <p:txBody>
          <a:bodyPr/>
          <a:p/>
        </p:txBody>
      </p:sp>
      <p:sp>
        <p:nvSpPr>
          <p:cNvPr id="7" name="Text 5"/>
          <p:cNvSpPr txBox="1"/>
          <p:nvPr/>
        </p:nvSpPr>
        <p:spPr>
          <a:xfrm>
            <a:off x="749808" y="1938528"/>
            <a:ext cx="6775704" cy="237744"/>
          </a:xfrm>
          <a:prstGeom prst="rect">
            <a:avLst/>
          </a:prstGeom>
          <a:noFill/>
          <a:ln/>
        </p:spPr>
        <p:txBody>
          <a:bodyPr wrap="square" lIns="0" tIns="0" rIns="0" bIns="0" rtlCol="0" anchor="t"/>
          <a:lstStyle/>
          <a:p>
            <a:pPr algn="l" indent="0" marL="0">
              <a:lnSpc>
                <a:spcPct val="104000"/>
              </a:lnSpc>
              <a:buNone/>
            </a:pPr>
            <a:r>
              <a:rPr lang="en-US" sz="1160" b="1" dirty="0">
                <a:solidFill>
                  <a:srgbClr val="F1C984"/>
                </a:solidFill>
                <a:latin typeface="Arial" pitchFamily="34" charset="0"/>
                <a:ea typeface="Arial" pitchFamily="34" charset="-122"/>
                <a:cs typeface="Arial" pitchFamily="34" charset="-120"/>
              </a:rPr>
              <a:t>Inspect the artifacts produced by the previous slide</a:t>
            </a:r>
            <a:endParaRPr lang="en-US" sz="1160" dirty="0"/>
          </a:p>
        </p:txBody>
      </p:sp>
      <p:sp>
        <p:nvSpPr>
          <p:cNvPr id="8" name="Shape 6"/>
          <p:cNvSpPr/>
          <p:nvPr/>
        </p:nvSpPr>
        <p:spPr>
          <a:xfrm>
            <a:off x="749808" y="2276856"/>
            <a:ext cx="6775704" cy="0"/>
          </a:xfrm>
          <a:prstGeom prst="line">
            <a:avLst/>
          </a:prstGeom>
          <a:noFill/>
          <a:ln w="12700">
            <a:solidFill>
              <a:srgbClr val="2B415A"/>
            </a:solidFill>
            <a:prstDash val="solid"/>
          </a:ln>
        </p:spPr>
        <p:txBody>
          <a:bodyPr/>
          <a:p/>
        </p:txBody>
      </p:sp>
      <p:sp>
        <p:nvSpPr>
          <p:cNvPr id="9" name="Text 7"/>
          <p:cNvSpPr txBox="1"/>
          <p:nvPr/>
        </p:nvSpPr>
        <p:spPr>
          <a:xfrm>
            <a:off x="749808" y="2478024"/>
            <a:ext cx="6775704" cy="2450592"/>
          </a:xfrm>
          <a:prstGeom prst="rect">
            <a:avLst/>
          </a:prstGeom>
          <a:noFill/>
          <a:ln/>
        </p:spPr>
        <p:txBody>
          <a:bodyPr wrap="square" lIns="0" tIns="0" rIns="0" bIns="0" rtlCol="0" anchor="t"/>
          <a:lstStyle/>
          <a:p>
            <a:pPr algn="l" indent="0" marL="0">
              <a:lnSpc>
                <a:spcPct val="104000"/>
              </a:lnSpc>
              <a:buNone/>
            </a:pPr>
            <a:r>
              <a:rPr lang="en-US" sz="1830" dirty="0">
                <a:solidFill>
                  <a:srgbClr val="DCE8F4"/>
                </a:solidFill>
                <a:latin typeface="DejaVu Sans Mono" pitchFamily="34" charset="0"/>
                <a:ea typeface="DejaVu Sans Mono" pitchFamily="34" charset="-122"/>
                <a:cs typeface="DejaVu Sans Mono" pitchFamily="34" charset="-120"/>
              </a:rPr>
              <a:t>nm main.o sum.o</a:t>
            </a:r>
            <a:endParaRPr lang="en-US" sz="1830" dirty="0"/>
          </a:p>
          <a:p>
            <a:pPr algn="l" indent="0" marL="0">
              <a:lnSpc>
                <a:spcPct val="104000"/>
              </a:lnSpc>
              <a:buNone/>
            </a:pPr>
            <a:r>
              <a:rPr lang="en-US" sz="1830" dirty="0">
                <a:solidFill>
                  <a:srgbClr val="DCE8F4"/>
                </a:solidFill>
                <a:latin typeface="DejaVu Sans Mono" pitchFamily="34" charset="0"/>
                <a:ea typeface="DejaVu Sans Mono" pitchFamily="34" charset="-122"/>
                <a:cs typeface="DejaVu Sans Mono" pitchFamily="34" charset="-120"/>
              </a:rPr>
              <a:t>readelf -r main.o</a:t>
            </a:r>
            <a:endParaRPr lang="en-US" sz="1830" dirty="0"/>
          </a:p>
          <a:p>
            <a:pPr algn="l" indent="0" marL="0">
              <a:lnSpc>
                <a:spcPct val="104000"/>
              </a:lnSpc>
              <a:buNone/>
            </a:pPr>
            <a:r>
              <a:rPr lang="en-US" sz="1830" dirty="0">
                <a:solidFill>
                  <a:srgbClr val="DCE8F4"/>
                </a:solidFill>
                <a:latin typeface="DejaVu Sans Mono" pitchFamily="34" charset="0"/>
                <a:ea typeface="DejaVu Sans Mono" pitchFamily="34" charset="-122"/>
                <a:cs typeface="DejaVu Sans Mono" pitchFamily="34" charset="-120"/>
              </a:rPr>
              <a:t>objdump -dr main.o</a:t>
            </a:r>
            <a:endParaRPr lang="en-US" sz="1830" dirty="0"/>
          </a:p>
          <a:p>
            <a:pPr algn="l" indent="0" marL="0">
              <a:lnSpc>
                <a:spcPct val="104000"/>
              </a:lnSpc>
              <a:buNone/>
            </a:pPr>
            <a:r>
              <a:rPr lang="en-US" sz="1830" dirty="0">
                <a:solidFill>
                  <a:srgbClr val="DCE8F4"/>
                </a:solidFill>
                <a:latin typeface="DejaVu Sans Mono" pitchFamily="34" charset="0"/>
                <a:ea typeface="DejaVu Sans Mono" pitchFamily="34" charset="-122"/>
                <a:cs typeface="DejaVu Sans Mono" pitchFamily="34" charset="-120"/>
              </a:rPr>
              <a:t>readelf -l sum_demo</a:t>
            </a:r>
            <a:endParaRPr lang="en-US" sz="1830" dirty="0"/>
          </a:p>
          <a:p>
            <a:pPr algn="l" indent="0" marL="0">
              <a:lnSpc>
                <a:spcPct val="104000"/>
              </a:lnSpc>
              <a:buNone/>
            </a:pPr>
            <a:endParaRPr lang="en-US" sz="1830" dirty="0"/>
          </a:p>
          <a:p>
            <a:pPr algn="l" indent="0" marL="0">
              <a:lnSpc>
                <a:spcPct val="104000"/>
              </a:lnSpc>
              <a:buNone/>
            </a:pPr>
            <a:r>
              <a:rPr lang="en-US" sz="1830" dirty="0">
                <a:solidFill>
                  <a:srgbClr val="DCE8F4"/>
                </a:solidFill>
                <a:latin typeface="DejaVu Sans Mono" pitchFamily="34" charset="0"/>
                <a:ea typeface="DejaVu Sans Mono" pitchFamily="34" charset="-122"/>
                <a:cs typeface="DejaVu Sans Mono" pitchFamily="34" charset="-120"/>
              </a:rPr>
              <a:t># Tested relationship:</a:t>
            </a:r>
            <a:endParaRPr lang="en-US" sz="1830" dirty="0"/>
          </a:p>
          <a:p>
            <a:pPr algn="l" indent="0" marL="0">
              <a:lnSpc>
                <a:spcPct val="104000"/>
              </a:lnSpc>
              <a:buNone/>
            </a:pPr>
            <a:r>
              <a:rPr lang="en-US" sz="1830" dirty="0">
                <a:solidFill>
                  <a:srgbClr val="DCE8F4"/>
                </a:solidFill>
                <a:latin typeface="DejaVu Sans Mono" pitchFamily="34" charset="0"/>
                <a:ea typeface="DejaVu Sans Mono" pitchFamily="34" charset="-122"/>
                <a:cs typeface="DejaVu Sans Mono" pitchFamily="34" charset="-120"/>
              </a:rPr>
              <a:t># main.o: U add</a:t>
            </a:r>
            <a:endParaRPr lang="en-US" sz="1830" dirty="0"/>
          </a:p>
          <a:p>
            <a:pPr algn="l" indent="0" marL="0">
              <a:lnSpc>
                <a:spcPct val="104000"/>
              </a:lnSpc>
              <a:buNone/>
            </a:pPr>
            <a:r>
              <a:rPr lang="en-US" sz="1830" dirty="0">
                <a:solidFill>
                  <a:srgbClr val="DCE8F4"/>
                </a:solidFill>
                <a:latin typeface="DejaVu Sans Mono" pitchFamily="34" charset="0"/>
                <a:ea typeface="DejaVu Sans Mono" pitchFamily="34" charset="-122"/>
                <a:cs typeface="DejaVu Sans Mono" pitchFamily="34" charset="-120"/>
              </a:rPr>
              <a:t># sum.o:  T add</a:t>
            </a:r>
            <a:endParaRPr lang="en-US" sz="1830" dirty="0"/>
          </a:p>
        </p:txBody>
      </p:sp>
      <p:sp>
        <p:nvSpPr>
          <p:cNvPr id="10" name="Text 8"/>
          <p:cNvSpPr txBox="1"/>
          <p:nvPr/>
        </p:nvSpPr>
        <p:spPr>
          <a:xfrm>
            <a:off x="7946136" y="1883664"/>
            <a:ext cx="3696919" cy="237744"/>
          </a:xfrm>
          <a:prstGeom prst="rect">
            <a:avLst/>
          </a:prstGeom>
          <a:noFill/>
          <a:ln/>
        </p:spPr>
        <p:txBody>
          <a:bodyPr wrap="square" lIns="0" tIns="0" rIns="0" bIns="0" rtlCol="0" anchor="t"/>
          <a:lstStyle/>
          <a:p>
            <a:pPr algn="l" indent="0" marL="0">
              <a:lnSpc>
                <a:spcPct val="104000"/>
              </a:lnSpc>
              <a:buNone/>
            </a:pPr>
            <a:r>
              <a:rPr lang="en-US" sz="1330" b="1" dirty="0">
                <a:solidFill>
                  <a:srgbClr val="71D5DD"/>
                </a:solidFill>
                <a:latin typeface="Arial" pitchFamily="34" charset="0"/>
                <a:ea typeface="Arial" pitchFamily="34" charset="-122"/>
                <a:cs typeface="Arial" pitchFamily="34" charset="-120"/>
              </a:rPr>
              <a:t>QUESTION → TOOL</a:t>
            </a:r>
            <a:endParaRPr lang="en-US" sz="1330" dirty="0"/>
          </a:p>
        </p:txBody>
      </p:sp>
      <p:sp>
        <p:nvSpPr>
          <p:cNvPr id="11" name="Shape 9"/>
          <p:cNvSpPr/>
          <p:nvPr/>
        </p:nvSpPr>
        <p:spPr>
          <a:xfrm>
            <a:off x="7946136" y="2386584"/>
            <a:ext cx="41148" cy="374904"/>
          </a:xfrm>
          <a:prstGeom prst="rect">
            <a:avLst/>
          </a:prstGeom>
          <a:solidFill>
            <a:srgbClr val="71D5DD"/>
          </a:solidFill>
          <a:ln w="8890">
            <a:solidFill>
              <a:srgbClr val="71D5DD"/>
            </a:solidFill>
            <a:prstDash val="solid"/>
          </a:ln>
        </p:spPr>
        <p:txBody>
          <a:bodyPr/>
          <a:p/>
        </p:txBody>
      </p:sp>
      <p:sp>
        <p:nvSpPr>
          <p:cNvPr id="12" name="Text 10"/>
          <p:cNvSpPr txBox="1"/>
          <p:nvPr/>
        </p:nvSpPr>
        <p:spPr>
          <a:xfrm>
            <a:off x="8110728" y="2350008"/>
            <a:ext cx="3532327" cy="662940"/>
          </a:xfrm>
          <a:prstGeom prst="rect">
            <a:avLst/>
          </a:prstGeom>
          <a:noFill/>
          <a:ln/>
        </p:spPr>
        <p:txBody>
          <a:bodyPr wrap="square" lIns="0" tIns="0" rIns="0" bIns="0" rtlCol="0" anchor="t"/>
          <a:lstStyle/>
          <a:p>
            <a:pPr algn="l" indent="0" marL="0">
              <a:lnSpc>
                <a:spcPct val="104000"/>
              </a:lnSpc>
              <a:buNone/>
            </a:pPr>
            <a:r>
              <a:rPr lang="en-US" sz="2010" dirty="0">
                <a:solidFill>
                  <a:srgbClr val="F4F7FB"/>
                </a:solidFill>
                <a:latin typeface="Arial" pitchFamily="34" charset="0"/>
                <a:ea typeface="Arial" pitchFamily="34" charset="-122"/>
                <a:cs typeface="Arial" pitchFamily="34" charset="-120"/>
              </a:rPr>
              <a:t>Who refers to or defines add?</a:t>
            </a:r>
            <a:endParaRPr lang="en-US" sz="2010" dirty="0"/>
          </a:p>
          <a:p>
            <a:pPr algn="l" indent="0" marL="0">
              <a:lnSpc>
                <a:spcPct val="104000"/>
              </a:lnSpc>
              <a:buNone/>
            </a:pPr>
            <a:r>
              <a:rPr lang="en-US" sz="2010" dirty="0">
                <a:solidFill>
                  <a:srgbClr val="F4F7FB"/>
                </a:solidFill>
                <a:latin typeface="Arial" pitchFamily="34" charset="0"/>
                <a:ea typeface="Arial" pitchFamily="34" charset="-122"/>
                <a:cs typeface="Arial" pitchFamily="34" charset="-120"/>
              </a:rPr>
              <a:t>→ nm</a:t>
            </a:r>
            <a:endParaRPr lang="en-US" sz="2010" dirty="0"/>
          </a:p>
        </p:txBody>
      </p:sp>
      <p:sp>
        <p:nvSpPr>
          <p:cNvPr id="13" name="Shape 11"/>
          <p:cNvSpPr/>
          <p:nvPr/>
        </p:nvSpPr>
        <p:spPr>
          <a:xfrm>
            <a:off x="7946136" y="3099816"/>
            <a:ext cx="41148" cy="374904"/>
          </a:xfrm>
          <a:prstGeom prst="rect">
            <a:avLst/>
          </a:prstGeom>
          <a:solidFill>
            <a:srgbClr val="71D5DD"/>
          </a:solidFill>
          <a:ln w="8890">
            <a:solidFill>
              <a:srgbClr val="71D5DD"/>
            </a:solidFill>
            <a:prstDash val="solid"/>
          </a:ln>
        </p:spPr>
        <p:txBody>
          <a:bodyPr/>
          <a:p/>
        </p:txBody>
      </p:sp>
      <p:sp>
        <p:nvSpPr>
          <p:cNvPr id="14" name="Text 12"/>
          <p:cNvSpPr txBox="1"/>
          <p:nvPr/>
        </p:nvSpPr>
        <p:spPr>
          <a:xfrm>
            <a:off x="8110728" y="3063240"/>
            <a:ext cx="3532327" cy="662940"/>
          </a:xfrm>
          <a:prstGeom prst="rect">
            <a:avLst/>
          </a:prstGeom>
          <a:noFill/>
          <a:ln/>
        </p:spPr>
        <p:txBody>
          <a:bodyPr wrap="square" lIns="0" tIns="0" rIns="0" bIns="0" rtlCol="0" anchor="t"/>
          <a:lstStyle/>
          <a:p>
            <a:pPr algn="l" indent="0" marL="0">
              <a:lnSpc>
                <a:spcPct val="104000"/>
              </a:lnSpc>
              <a:buNone/>
            </a:pPr>
            <a:r>
              <a:rPr lang="en-US" sz="2010" dirty="0">
                <a:solidFill>
                  <a:srgbClr val="F4F7FB"/>
                </a:solidFill>
                <a:latin typeface="Arial" pitchFamily="34" charset="0"/>
                <a:ea typeface="Arial" pitchFamily="34" charset="-122"/>
                <a:cs typeface="Arial" pitchFamily="34" charset="-120"/>
              </a:rPr>
              <a:t>What still needs address</a:t>
            </a:r>
            <a:endParaRPr lang="en-US" sz="2010" dirty="0"/>
          </a:p>
          <a:p>
            <a:pPr algn="l" indent="0" marL="0">
              <a:lnSpc>
                <a:spcPct val="104000"/>
              </a:lnSpc>
              <a:buNone/>
            </a:pPr>
            <a:r>
              <a:rPr lang="en-US" sz="2010" dirty="0">
                <a:solidFill>
                  <a:srgbClr val="F4F7FB"/>
                </a:solidFill>
                <a:latin typeface="Arial" pitchFamily="34" charset="0"/>
                <a:ea typeface="Arial" pitchFamily="34" charset="-122"/>
                <a:cs typeface="Arial" pitchFamily="34" charset="-120"/>
              </a:rPr>
              <a:t>adjustment? → readelf -r</a:t>
            </a:r>
            <a:endParaRPr lang="en-US" sz="2010" dirty="0"/>
          </a:p>
        </p:txBody>
      </p:sp>
      <p:sp>
        <p:nvSpPr>
          <p:cNvPr id="15" name="Shape 13"/>
          <p:cNvSpPr/>
          <p:nvPr/>
        </p:nvSpPr>
        <p:spPr>
          <a:xfrm>
            <a:off x="7946136" y="3813048"/>
            <a:ext cx="41148" cy="374904"/>
          </a:xfrm>
          <a:prstGeom prst="rect">
            <a:avLst/>
          </a:prstGeom>
          <a:solidFill>
            <a:srgbClr val="71D5DD"/>
          </a:solidFill>
          <a:ln w="8890">
            <a:solidFill>
              <a:srgbClr val="71D5DD"/>
            </a:solidFill>
            <a:prstDash val="solid"/>
          </a:ln>
        </p:spPr>
        <p:txBody>
          <a:bodyPr/>
          <a:p/>
        </p:txBody>
      </p:sp>
      <p:sp>
        <p:nvSpPr>
          <p:cNvPr id="16" name="Text 14"/>
          <p:cNvSpPr txBox="1"/>
          <p:nvPr/>
        </p:nvSpPr>
        <p:spPr>
          <a:xfrm>
            <a:off x="8110728" y="3776472"/>
            <a:ext cx="3532327" cy="662940"/>
          </a:xfrm>
          <a:prstGeom prst="rect">
            <a:avLst/>
          </a:prstGeom>
          <a:noFill/>
          <a:ln/>
        </p:spPr>
        <p:txBody>
          <a:bodyPr wrap="square" lIns="0" tIns="0" rIns="0" bIns="0" rtlCol="0" anchor="t"/>
          <a:lstStyle/>
          <a:p>
            <a:pPr algn="l" indent="0" marL="0">
              <a:lnSpc>
                <a:spcPct val="104000"/>
              </a:lnSpc>
              <a:buNone/>
            </a:pPr>
            <a:r>
              <a:rPr lang="en-US" sz="2010" dirty="0">
                <a:solidFill>
                  <a:srgbClr val="F4F7FB"/>
                </a:solidFill>
                <a:latin typeface="Arial" pitchFamily="34" charset="0"/>
                <a:ea typeface="Arial" pitchFamily="34" charset="-122"/>
                <a:cs typeface="Arial" pitchFamily="34" charset="-120"/>
              </a:rPr>
              <a:t>What is load-relevant? →</a:t>
            </a:r>
            <a:endParaRPr lang="en-US" sz="2010" dirty="0"/>
          </a:p>
          <a:p>
            <a:pPr algn="l" indent="0" marL="0">
              <a:lnSpc>
                <a:spcPct val="104000"/>
              </a:lnSpc>
              <a:buNone/>
            </a:pPr>
            <a:r>
              <a:rPr lang="en-US" sz="2010" dirty="0">
                <a:solidFill>
                  <a:srgbClr val="F4F7FB"/>
                </a:solidFill>
                <a:latin typeface="Arial" pitchFamily="34" charset="0"/>
                <a:ea typeface="Arial" pitchFamily="34" charset="-122"/>
                <a:cs typeface="Arial" pitchFamily="34" charset="-120"/>
              </a:rPr>
              <a:t>readelf -l</a:t>
            </a:r>
            <a:endParaRPr lang="en-US" sz="2010" dirty="0"/>
          </a:p>
        </p:txBody>
      </p:sp>
      <p:sp>
        <p:nvSpPr>
          <p:cNvPr id="17" name="Text 15"/>
          <p:cNvSpPr txBox="1"/>
          <p:nvPr/>
        </p:nvSpPr>
        <p:spPr>
          <a:xfrm>
            <a:off x="548640" y="5193792"/>
            <a:ext cx="11094720" cy="274320"/>
          </a:xfrm>
          <a:prstGeom prst="rect">
            <a:avLst/>
          </a:prstGeom>
          <a:noFill/>
          <a:ln/>
        </p:spPr>
        <p:txBody>
          <a:bodyPr wrap="square" lIns="0" tIns="0" rIns="0" bIns="0" rtlCol="0" anchor="t"/>
          <a:lstStyle/>
          <a:p>
            <a:pPr algn="l" indent="0" marL="0">
              <a:lnSpc>
                <a:spcPct val="104000"/>
              </a:lnSpc>
              <a:buNone/>
            </a:pPr>
            <a:r>
              <a:rPr lang="en-US" sz="1140" dirty="0">
                <a:solidFill>
                  <a:srgbClr val="B3C3D6"/>
                </a:solidFill>
                <a:latin typeface="Arial" pitchFamily="34" charset="0"/>
                <a:ea typeface="Arial" pitchFamily="34" charset="-122"/>
                <a:cs typeface="Arial" pitchFamily="34" charset="-120"/>
              </a:rPr>
              <a:t>The shown symbol relationship was observed; exact addresses and disassembly depend on the build.</a:t>
            </a:r>
            <a:endParaRPr lang="en-US" sz="1140" dirty="0"/>
          </a:p>
        </p:txBody>
      </p:sp>
      <p:sp>
        <p:nvSpPr>
          <p:cNvPr id="22" name="Text 20"/>
          <p:cNvSpPr txBox="1"/>
          <p:nvPr/>
        </p:nvSpPr>
        <p:spPr>
          <a:xfrm>
            <a:off x="548640" y="6601968"/>
            <a:ext cx="10241280" cy="128016"/>
          </a:xfrm>
          <a:prstGeom prst="rect">
            <a:avLst/>
          </a:prstGeom>
          <a:noFill/>
          <a:ln/>
        </p:spPr>
        <p:txBody>
          <a:bodyPr wrap="square" lIns="0" tIns="0" rIns="0" bIns="0" rtlCol="0" anchor="t"/>
          <a:lstStyle/>
          <a:p>
            <a:pPr algn="l" indent="0" marL="0">
              <a:lnSpc>
                <a:spcPct val="104000"/>
              </a:lnSpc>
              <a:buNone/>
            </a:pPr>
            <a:r>
              <a:rPr lang="en-US" sz="830" dirty="0">
                <a:solidFill>
                  <a:srgbClr val="B3C3D6"/>
                </a:solidFill>
                <a:latin typeface="Arial" pitchFamily="34" charset="0"/>
                <a:ea typeface="Arial" pitchFamily="34" charset="-122"/>
                <a:cs typeface="Arial" pitchFamily="34" charset="-120"/>
              </a:rPr>
              <a:t>Source: original 11, 17 • Graduate extension • [NM, READELF, AS]</a:t>
            </a:r>
            <a:endParaRPr lang="en-US" sz="830" dirty="0"/>
          </a:p>
        </p:txBody>
      </p:sp>
      <p:sp>
        <p:nvSpPr>
          <p:cNvPr id="23" name="Text 21"/>
          <p:cNvSpPr txBox="1"/>
          <p:nvPr/>
        </p:nvSpPr>
        <p:spPr>
          <a:xfrm>
            <a:off x="10917936" y="6565392"/>
            <a:ext cx="722376" cy="219456"/>
          </a:xfrm>
          <a:prstGeom prst="rect">
            <a:avLst/>
          </a:prstGeom>
          <a:noFill/>
          <a:ln/>
        </p:spPr>
        <p:txBody>
          <a:bodyPr wrap="square" lIns="0" tIns="0" rIns="0" bIns="0" rtlCol="0" anchor="t"/>
          <a:lstStyle/>
          <a:p>
            <a:pPr algn="r" indent="0" marL="0">
              <a:lnSpc>
                <a:spcPct val="104000"/>
              </a:lnSpc>
              <a:buNone/>
            </a:pPr>
            <a:r>
              <a:rPr lang="en-US" sz="1050" dirty="0">
                <a:solidFill>
                  <a:srgbClr val="B3C3D6"/>
                </a:solidFill>
                <a:latin typeface="Arial" pitchFamily="34" charset="0"/>
                <a:ea typeface="Arial" pitchFamily="34" charset="-122"/>
                <a:cs typeface="Arial" pitchFamily="34" charset="-120"/>
              </a:rPr>
              <a:t>32 / 64</a:t>
            </a:r>
            <a:endParaRPr lang="en-US" sz="1050" dirty="0"/>
          </a:p>
        </p:txBody>
      </p:sp>
      <p:sp>
        <p:nvSpPr>
          <p:cNvPr id="24" name="Shape 22"/>
          <p:cNvSpPr/>
          <p:nvPr/>
        </p:nvSpPr>
        <p:spPr>
          <a:xfrm>
            <a:off x="0" y="6834226"/>
            <a:ext cx="12192000" cy="23774"/>
          </a:xfrm>
          <a:prstGeom prst="rect">
            <a:avLst/>
          </a:prstGeom>
          <a:solidFill>
            <a:srgbClr val="2B415A"/>
          </a:solidFill>
          <a:ln w="8890">
            <a:solidFill>
              <a:srgbClr val="2B415A"/>
            </a:solidFill>
            <a:prstDash val="solid"/>
          </a:ln>
        </p:spPr>
        <p:txBody>
          <a:bodyPr/>
          <a:p/>
        </p:txBody>
      </p:sp>
      <p:sp>
        <p:nvSpPr>
          <p:cNvPr id="25" name="Shape 23"/>
          <p:cNvSpPr/>
          <p:nvPr/>
        </p:nvSpPr>
        <p:spPr>
          <a:xfrm>
            <a:off x="0" y="6834226"/>
            <a:ext cx="6096000" cy="23774"/>
          </a:xfrm>
          <a:prstGeom prst="rect">
            <a:avLst/>
          </a:prstGeom>
          <a:solidFill>
            <a:srgbClr val="71D5DD"/>
          </a:solidFill>
          <a:ln w="8890">
            <a:solidFill>
              <a:srgbClr val="71D5DD"/>
            </a:solidFill>
            <a:prstDash val="solid"/>
          </a:ln>
        </p:spPr>
        <p:txBody>
          <a:body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548640" y="219456"/>
            <a:ext cx="9875520" cy="192024"/>
          </a:xfrm>
          <a:prstGeom prst="rect">
            <a:avLst/>
          </a:prstGeom>
          <a:noFill/>
          <a:ln/>
        </p:spPr>
        <p:txBody>
          <a:bodyPr wrap="square" lIns="0" tIns="0" rIns="0" bIns="0" rtlCol="0" anchor="t"/>
          <a:lstStyle/>
          <a:p>
            <a:pPr algn="l" indent="0" marL="0">
              <a:lnSpc>
                <a:spcPct val="104000"/>
              </a:lnSpc>
              <a:buNone/>
            </a:pPr>
            <a:r>
              <a:rPr lang="en-US" sz="970" b="1" spc="135" kern="0" dirty="0">
                <a:solidFill>
                  <a:srgbClr val="B3C3D6"/>
                </a:solidFill>
                <a:latin typeface="Arial" pitchFamily="34" charset="0"/>
                <a:ea typeface="Arial" pitchFamily="34" charset="-122"/>
                <a:cs typeface="Arial" pitchFamily="34" charset="-120"/>
              </a:rPr>
              <a:t>SYSTEMS PROGRAMMING AND MACHINE ORGANIZATION</a:t>
            </a:r>
            <a:endParaRPr lang="en-US" sz="970" dirty="0"/>
          </a:p>
        </p:txBody>
      </p:sp>
      <p:sp>
        <p:nvSpPr>
          <p:cNvPr id="3" name="Text 1"/>
          <p:cNvSpPr txBox="1"/>
          <p:nvPr/>
        </p:nvSpPr>
        <p:spPr>
          <a:xfrm>
            <a:off x="9601200" y="219456"/>
            <a:ext cx="2039112" cy="192024"/>
          </a:xfrm>
          <a:prstGeom prst="rect">
            <a:avLst/>
          </a:prstGeom>
          <a:noFill/>
          <a:ln/>
        </p:spPr>
        <p:txBody>
          <a:bodyPr wrap="square" lIns="0" tIns="0" rIns="0" bIns="0" rtlCol="0" anchor="t"/>
          <a:lstStyle/>
          <a:p>
            <a:pPr algn="r" indent="0" marL="0">
              <a:lnSpc>
                <a:spcPct val="104000"/>
              </a:lnSpc>
              <a:buNone/>
            </a:pPr>
            <a:r>
              <a:rPr lang="en-US" sz="970" b="1" dirty="0">
                <a:solidFill>
                  <a:srgbClr val="B3C3D6"/>
                </a:solidFill>
                <a:latin typeface="Arial" pitchFamily="34" charset="0"/>
                <a:ea typeface="Arial" pitchFamily="34" charset="-122"/>
                <a:cs typeface="Arial" pitchFamily="34" charset="-120"/>
              </a:rPr>
              <a:t>CHARLES DORNER</a:t>
            </a:r>
            <a:endParaRPr lang="en-US" sz="970" dirty="0"/>
          </a:p>
        </p:txBody>
      </p:sp>
      <p:sp>
        <p:nvSpPr>
          <p:cNvPr id="4" name="Text 2"/>
          <p:cNvSpPr txBox="1"/>
          <p:nvPr/>
        </p:nvSpPr>
        <p:spPr>
          <a:xfrm>
            <a:off x="548640" y="566928"/>
            <a:ext cx="11109960" cy="237744"/>
          </a:xfrm>
          <a:prstGeom prst="rect">
            <a:avLst/>
          </a:prstGeom>
          <a:noFill/>
          <a:ln/>
        </p:spPr>
        <p:txBody>
          <a:bodyPr wrap="square" lIns="0" tIns="0" rIns="0" bIns="0" rtlCol="0" anchor="t"/>
          <a:lstStyle/>
          <a:p>
            <a:pPr algn="l" indent="0" marL="0">
              <a:lnSpc>
                <a:spcPct val="104000"/>
              </a:lnSpc>
              <a:buNone/>
            </a:pPr>
            <a:r>
              <a:rPr lang="en-US" sz="1150" b="1" dirty="0">
                <a:solidFill>
                  <a:srgbClr val="71D5DD"/>
                </a:solidFill>
                <a:latin typeface="Arial" pitchFamily="34" charset="0"/>
                <a:ea typeface="Arial" pitchFamily="34" charset="-122"/>
                <a:cs typeface="Arial" pitchFamily="34" charset="-120"/>
              </a:rPr>
              <a:t>WORKED EXAMPLE · CONTROLLED FAILURE</a:t>
            </a:r>
            <a:endParaRPr lang="en-US" sz="1150" dirty="0"/>
          </a:p>
        </p:txBody>
      </p:sp>
      <p:sp>
        <p:nvSpPr>
          <p:cNvPr id="5" name="Text 3"/>
          <p:cNvSpPr txBox="1"/>
          <p:nvPr/>
        </p:nvSpPr>
        <p:spPr>
          <a:xfrm>
            <a:off x="548640" y="941832"/>
            <a:ext cx="11091672" cy="676656"/>
          </a:xfrm>
          <a:prstGeom prst="rect">
            <a:avLst/>
          </a:prstGeom>
          <a:noFill/>
          <a:ln/>
        </p:spPr>
        <p:txBody>
          <a:bodyPr wrap="square" lIns="0" tIns="0" rIns="0" bIns="0" rtlCol="0" anchor="t"/>
          <a:lstStyle/>
          <a:p>
            <a:pPr algn="l" indent="0" marL="0">
              <a:lnSpc>
                <a:spcPct val="104000"/>
              </a:lnSpc>
              <a:buNone/>
            </a:pPr>
            <a:r>
              <a:rPr lang="en-US" sz="3150" b="1" dirty="0">
                <a:solidFill>
                  <a:srgbClr val="F4F7FB"/>
                </a:solidFill>
                <a:latin typeface="Arial" pitchFamily="34" charset="0"/>
                <a:ea typeface="Arial" pitchFamily="34" charset="-122"/>
                <a:cs typeface="Arial" pitchFamily="34" charset="-120"/>
              </a:rPr>
              <a:t>Break only the link contract</a:t>
            </a:r>
            <a:endParaRPr lang="en-US" sz="3150" dirty="0"/>
          </a:p>
        </p:txBody>
      </p:sp>
      <p:sp>
        <p:nvSpPr>
          <p:cNvPr id="6" name="Shape 4"/>
          <p:cNvSpPr/>
          <p:nvPr/>
        </p:nvSpPr>
        <p:spPr>
          <a:xfrm>
            <a:off x="548640" y="1764792"/>
            <a:ext cx="7178040" cy="3310128"/>
          </a:xfrm>
          <a:prstGeom prst="rect">
            <a:avLst/>
          </a:prstGeom>
          <a:solidFill>
            <a:srgbClr val="142238"/>
          </a:solidFill>
          <a:ln w="8890">
            <a:solidFill>
              <a:srgbClr val="2B415A"/>
            </a:solidFill>
            <a:prstDash val="solid"/>
          </a:ln>
        </p:spPr>
        <p:txBody>
          <a:bodyPr/>
          <a:p/>
        </p:txBody>
      </p:sp>
      <p:sp>
        <p:nvSpPr>
          <p:cNvPr id="7" name="Text 5"/>
          <p:cNvSpPr txBox="1"/>
          <p:nvPr/>
        </p:nvSpPr>
        <p:spPr>
          <a:xfrm>
            <a:off x="749808" y="1938528"/>
            <a:ext cx="6775704" cy="237744"/>
          </a:xfrm>
          <a:prstGeom prst="rect">
            <a:avLst/>
          </a:prstGeom>
          <a:noFill/>
          <a:ln/>
        </p:spPr>
        <p:txBody>
          <a:bodyPr wrap="square" lIns="0" tIns="0" rIns="0" bIns="0" rtlCol="0" anchor="t"/>
          <a:lstStyle/>
          <a:p>
            <a:pPr algn="l" indent="0" marL="0">
              <a:lnSpc>
                <a:spcPct val="104000"/>
              </a:lnSpc>
              <a:buNone/>
            </a:pPr>
            <a:r>
              <a:rPr lang="en-US" sz="1160" b="1" dirty="0">
                <a:solidFill>
                  <a:srgbClr val="F1C984"/>
                </a:solidFill>
                <a:latin typeface="Arial" pitchFamily="34" charset="0"/>
                <a:ea typeface="Arial" pitchFamily="34" charset="-122"/>
                <a:cs typeface="Arial" pitchFamily="34" charset="-120"/>
              </a:rPr>
              <a:t>Intentional failure, followed by the repair</a:t>
            </a:r>
            <a:endParaRPr lang="en-US" sz="1160" dirty="0"/>
          </a:p>
        </p:txBody>
      </p:sp>
      <p:sp>
        <p:nvSpPr>
          <p:cNvPr id="8" name="Shape 6"/>
          <p:cNvSpPr/>
          <p:nvPr/>
        </p:nvSpPr>
        <p:spPr>
          <a:xfrm>
            <a:off x="749808" y="2276856"/>
            <a:ext cx="6775704" cy="0"/>
          </a:xfrm>
          <a:prstGeom prst="line">
            <a:avLst/>
          </a:prstGeom>
          <a:noFill/>
          <a:ln w="12700">
            <a:solidFill>
              <a:srgbClr val="2B415A"/>
            </a:solidFill>
            <a:prstDash val="solid"/>
          </a:ln>
        </p:spPr>
        <p:txBody>
          <a:bodyPr/>
          <a:p/>
        </p:txBody>
      </p:sp>
      <p:sp>
        <p:nvSpPr>
          <p:cNvPr id="9" name="Text 7"/>
          <p:cNvSpPr txBox="1"/>
          <p:nvPr/>
        </p:nvSpPr>
        <p:spPr>
          <a:xfrm>
            <a:off x="749808" y="2478024"/>
            <a:ext cx="6775704" cy="2450592"/>
          </a:xfrm>
          <a:prstGeom prst="rect">
            <a:avLst/>
          </a:prstGeom>
          <a:noFill/>
          <a:ln/>
        </p:spPr>
        <p:txBody>
          <a:bodyPr wrap="square" lIns="0" tIns="0" rIns="0" bIns="0" rtlCol="0" anchor="t"/>
          <a:lstStyle/>
          <a:p>
            <a:pPr algn="l" indent="0" marL="0">
              <a:lnSpc>
                <a:spcPct val="104000"/>
              </a:lnSpc>
              <a:buNone/>
            </a:pPr>
            <a:r>
              <a:rPr lang="en-US" sz="1830" dirty="0">
                <a:solidFill>
                  <a:srgbClr val="DCE8F4"/>
                </a:solidFill>
                <a:latin typeface="DejaVu Sans Mono" pitchFamily="34" charset="0"/>
                <a:ea typeface="DejaVu Sans Mono" pitchFamily="34" charset="-122"/>
                <a:cs typeface="DejaVu Sans Mono" pitchFamily="34" charset="-120"/>
              </a:rPr>
              <a:t># Missing definition: expected to fail</a:t>
            </a:r>
            <a:endParaRPr lang="en-US" sz="1830" dirty="0"/>
          </a:p>
          <a:p>
            <a:pPr algn="l" indent="0" marL="0">
              <a:lnSpc>
                <a:spcPct val="104000"/>
              </a:lnSpc>
              <a:buNone/>
            </a:pPr>
            <a:r>
              <a:rPr lang="en-US" sz="1830" dirty="0">
                <a:solidFill>
                  <a:srgbClr val="DCE8F4"/>
                </a:solidFill>
                <a:latin typeface="DejaVu Sans Mono" pitchFamily="34" charset="0"/>
                <a:ea typeface="DejaVu Sans Mono" pitchFamily="34" charset="-122"/>
                <a:cs typeface="DejaVu Sans Mono" pitchFamily="34" charset="-120"/>
              </a:rPr>
              <a:t>cc main.o -o broken_demo</a:t>
            </a:r>
            <a:endParaRPr lang="en-US" sz="1830" dirty="0"/>
          </a:p>
          <a:p>
            <a:pPr algn="l" indent="0" marL="0">
              <a:lnSpc>
                <a:spcPct val="104000"/>
              </a:lnSpc>
              <a:buNone/>
            </a:pPr>
            <a:endParaRPr lang="en-US" sz="1830" dirty="0"/>
          </a:p>
          <a:p>
            <a:pPr algn="l" indent="0" marL="0">
              <a:lnSpc>
                <a:spcPct val="104000"/>
              </a:lnSpc>
              <a:buNone/>
            </a:pPr>
            <a:r>
              <a:rPr lang="en-US" sz="1830" dirty="0">
                <a:solidFill>
                  <a:srgbClr val="DCE8F4"/>
                </a:solidFill>
                <a:latin typeface="DejaVu Sans Mono" pitchFamily="34" charset="0"/>
                <a:ea typeface="DejaVu Sans Mono" pitchFamily="34" charset="-122"/>
                <a:cs typeface="DejaVu Sans Mono" pitchFamily="34" charset="-120"/>
              </a:rPr>
              <a:t># Required definition restored</a:t>
            </a:r>
            <a:endParaRPr lang="en-US" sz="1830" dirty="0"/>
          </a:p>
          <a:p>
            <a:pPr algn="l" indent="0" marL="0">
              <a:lnSpc>
                <a:spcPct val="104000"/>
              </a:lnSpc>
              <a:buNone/>
            </a:pPr>
            <a:r>
              <a:rPr lang="en-US" sz="1830" dirty="0">
                <a:solidFill>
                  <a:srgbClr val="DCE8F4"/>
                </a:solidFill>
                <a:latin typeface="DejaVu Sans Mono" pitchFamily="34" charset="0"/>
                <a:ea typeface="DejaVu Sans Mono" pitchFamily="34" charset="-122"/>
                <a:cs typeface="DejaVu Sans Mono" pitchFamily="34" charset="-120"/>
              </a:rPr>
              <a:t>cc main.o sum.o -o sum_demo</a:t>
            </a:r>
            <a:endParaRPr lang="en-US" sz="1830" dirty="0"/>
          </a:p>
          <a:p>
            <a:pPr algn="l" indent="0" marL="0">
              <a:lnSpc>
                <a:spcPct val="104000"/>
              </a:lnSpc>
              <a:buNone/>
            </a:pPr>
            <a:r>
              <a:rPr lang="en-US" sz="1830" dirty="0">
                <a:solidFill>
                  <a:srgbClr val="DCE8F4"/>
                </a:solidFill>
                <a:latin typeface="DejaVu Sans Mono" pitchFamily="34" charset="0"/>
                <a:ea typeface="DejaVu Sans Mono" pitchFamily="34" charset="-122"/>
                <a:cs typeface="DejaVu Sans Mono" pitchFamily="34" charset="-120"/>
              </a:rPr>
              <a:t>./sum_demo</a:t>
            </a:r>
            <a:endParaRPr lang="en-US" sz="1830" dirty="0"/>
          </a:p>
        </p:txBody>
      </p:sp>
      <p:sp>
        <p:nvSpPr>
          <p:cNvPr id="10" name="Text 8"/>
          <p:cNvSpPr txBox="1"/>
          <p:nvPr/>
        </p:nvSpPr>
        <p:spPr>
          <a:xfrm>
            <a:off x="7946136" y="1883664"/>
            <a:ext cx="3696919" cy="237744"/>
          </a:xfrm>
          <a:prstGeom prst="rect">
            <a:avLst/>
          </a:prstGeom>
          <a:noFill/>
          <a:ln/>
        </p:spPr>
        <p:txBody>
          <a:bodyPr wrap="square" lIns="0" tIns="0" rIns="0" bIns="0" rtlCol="0" anchor="t"/>
          <a:lstStyle/>
          <a:p>
            <a:pPr algn="l" indent="0" marL="0">
              <a:lnSpc>
                <a:spcPct val="104000"/>
              </a:lnSpc>
              <a:buNone/>
            </a:pPr>
            <a:r>
              <a:rPr lang="en-US" sz="1330" b="1" dirty="0">
                <a:solidFill>
                  <a:srgbClr val="71D5DD"/>
                </a:solidFill>
                <a:latin typeface="Arial" pitchFamily="34" charset="0"/>
                <a:ea typeface="Arial" pitchFamily="34" charset="-122"/>
                <a:cs typeface="Arial" pitchFamily="34" charset="-120"/>
              </a:rPr>
              <a:t>EXPLAIN THE FAILURE</a:t>
            </a:r>
            <a:endParaRPr lang="en-US" sz="1330" dirty="0"/>
          </a:p>
        </p:txBody>
      </p:sp>
      <p:sp>
        <p:nvSpPr>
          <p:cNvPr id="11" name="Shape 9"/>
          <p:cNvSpPr/>
          <p:nvPr/>
        </p:nvSpPr>
        <p:spPr>
          <a:xfrm>
            <a:off x="7946136" y="2386584"/>
            <a:ext cx="41148" cy="374904"/>
          </a:xfrm>
          <a:prstGeom prst="rect">
            <a:avLst/>
          </a:prstGeom>
          <a:solidFill>
            <a:srgbClr val="71D5DD"/>
          </a:solidFill>
          <a:ln w="8890">
            <a:solidFill>
              <a:srgbClr val="71D5DD"/>
            </a:solidFill>
            <a:prstDash val="solid"/>
          </a:ln>
        </p:spPr>
        <p:txBody>
          <a:bodyPr/>
          <a:p/>
        </p:txBody>
      </p:sp>
      <p:sp>
        <p:nvSpPr>
          <p:cNvPr id="12" name="Text 10"/>
          <p:cNvSpPr txBox="1"/>
          <p:nvPr/>
        </p:nvSpPr>
        <p:spPr>
          <a:xfrm>
            <a:off x="8110728" y="2350008"/>
            <a:ext cx="3532327" cy="662940"/>
          </a:xfrm>
          <a:prstGeom prst="rect">
            <a:avLst/>
          </a:prstGeom>
          <a:noFill/>
          <a:ln/>
        </p:spPr>
        <p:txBody>
          <a:bodyPr wrap="square" lIns="0" tIns="0" rIns="0" bIns="0" rtlCol="0" anchor="t"/>
          <a:lstStyle/>
          <a:p>
            <a:pPr algn="l" indent="0" marL="0">
              <a:lnSpc>
                <a:spcPct val="104000"/>
              </a:lnSpc>
              <a:buNone/>
            </a:pPr>
            <a:r>
              <a:rPr lang="en-US" sz="2010" dirty="0">
                <a:solidFill>
                  <a:srgbClr val="F4F7FB"/>
                </a:solidFill>
                <a:latin typeface="Arial" pitchFamily="34" charset="0"/>
                <a:ea typeface="Arial" pitchFamily="34" charset="-122"/>
                <a:cs typeface="Arial" pitchFamily="34" charset="-120"/>
              </a:rPr>
              <a:t>The declaration was visible</a:t>
            </a:r>
            <a:endParaRPr lang="en-US" sz="2010" dirty="0"/>
          </a:p>
          <a:p>
            <a:pPr algn="l" indent="0" marL="0">
              <a:lnSpc>
                <a:spcPct val="104000"/>
              </a:lnSpc>
              <a:buNone/>
            </a:pPr>
            <a:r>
              <a:rPr lang="en-US" sz="2010" dirty="0">
                <a:solidFill>
                  <a:srgbClr val="F4F7FB"/>
                </a:solidFill>
                <a:latin typeface="Arial" pitchFamily="34" charset="0"/>
                <a:ea typeface="Arial" pitchFamily="34" charset="-122"/>
                <a:cs typeface="Arial" pitchFamily="34" charset="-120"/>
              </a:rPr>
              <a:t>during compilation.</a:t>
            </a:r>
            <a:endParaRPr lang="en-US" sz="2010" dirty="0"/>
          </a:p>
        </p:txBody>
      </p:sp>
      <p:sp>
        <p:nvSpPr>
          <p:cNvPr id="13" name="Shape 11"/>
          <p:cNvSpPr/>
          <p:nvPr/>
        </p:nvSpPr>
        <p:spPr>
          <a:xfrm>
            <a:off x="7946136" y="3099816"/>
            <a:ext cx="41148" cy="374904"/>
          </a:xfrm>
          <a:prstGeom prst="rect">
            <a:avLst/>
          </a:prstGeom>
          <a:solidFill>
            <a:srgbClr val="71D5DD"/>
          </a:solidFill>
          <a:ln w="8890">
            <a:solidFill>
              <a:srgbClr val="71D5DD"/>
            </a:solidFill>
            <a:prstDash val="solid"/>
          </a:ln>
        </p:spPr>
        <p:txBody>
          <a:bodyPr/>
          <a:p/>
        </p:txBody>
      </p:sp>
      <p:sp>
        <p:nvSpPr>
          <p:cNvPr id="14" name="Text 12"/>
          <p:cNvSpPr txBox="1"/>
          <p:nvPr/>
        </p:nvSpPr>
        <p:spPr>
          <a:xfrm>
            <a:off x="8110728" y="3063240"/>
            <a:ext cx="3532327" cy="662940"/>
          </a:xfrm>
          <a:prstGeom prst="rect">
            <a:avLst/>
          </a:prstGeom>
          <a:noFill/>
          <a:ln/>
        </p:spPr>
        <p:txBody>
          <a:bodyPr wrap="square" lIns="0" tIns="0" rIns="0" bIns="0" rtlCol="0" anchor="t"/>
          <a:lstStyle/>
          <a:p>
            <a:pPr algn="l" indent="0" marL="0">
              <a:lnSpc>
                <a:spcPct val="104000"/>
              </a:lnSpc>
              <a:buNone/>
            </a:pPr>
            <a:r>
              <a:rPr lang="en-US" sz="2010" dirty="0">
                <a:solidFill>
                  <a:srgbClr val="F4F7FB"/>
                </a:solidFill>
                <a:latin typeface="Arial" pitchFamily="34" charset="0"/>
                <a:ea typeface="Arial" pitchFamily="34" charset="-122"/>
                <a:cs typeface="Arial" pitchFamily="34" charset="-120"/>
              </a:rPr>
              <a:t>The definition is absent from</a:t>
            </a:r>
            <a:endParaRPr lang="en-US" sz="2010" dirty="0"/>
          </a:p>
          <a:p>
            <a:pPr algn="l" indent="0" marL="0">
              <a:lnSpc>
                <a:spcPct val="104000"/>
              </a:lnSpc>
              <a:buNone/>
            </a:pPr>
            <a:r>
              <a:rPr lang="en-US" sz="2010" dirty="0">
                <a:solidFill>
                  <a:srgbClr val="F4F7FB"/>
                </a:solidFill>
                <a:latin typeface="Arial" pitchFamily="34" charset="0"/>
                <a:ea typeface="Arial" pitchFamily="34" charset="-122"/>
                <a:cs typeface="Arial" pitchFamily="34" charset="-120"/>
              </a:rPr>
              <a:t>this link command.</a:t>
            </a:r>
            <a:endParaRPr lang="en-US" sz="2010" dirty="0"/>
          </a:p>
        </p:txBody>
      </p:sp>
      <p:sp>
        <p:nvSpPr>
          <p:cNvPr id="15" name="Shape 13"/>
          <p:cNvSpPr/>
          <p:nvPr/>
        </p:nvSpPr>
        <p:spPr>
          <a:xfrm>
            <a:off x="7946136" y="3813048"/>
            <a:ext cx="41148" cy="374904"/>
          </a:xfrm>
          <a:prstGeom prst="rect">
            <a:avLst/>
          </a:prstGeom>
          <a:solidFill>
            <a:srgbClr val="71D5DD"/>
          </a:solidFill>
          <a:ln w="8890">
            <a:solidFill>
              <a:srgbClr val="71D5DD"/>
            </a:solidFill>
            <a:prstDash val="solid"/>
          </a:ln>
        </p:spPr>
        <p:txBody>
          <a:bodyPr/>
          <a:p/>
        </p:txBody>
      </p:sp>
      <p:sp>
        <p:nvSpPr>
          <p:cNvPr id="16" name="Text 14"/>
          <p:cNvSpPr txBox="1"/>
          <p:nvPr/>
        </p:nvSpPr>
        <p:spPr>
          <a:xfrm>
            <a:off x="8110728" y="3776472"/>
            <a:ext cx="3532327" cy="662940"/>
          </a:xfrm>
          <a:prstGeom prst="rect">
            <a:avLst/>
          </a:prstGeom>
          <a:noFill/>
          <a:ln/>
        </p:spPr>
        <p:txBody>
          <a:bodyPr wrap="square" lIns="0" tIns="0" rIns="0" bIns="0" rtlCol="0" anchor="t"/>
          <a:lstStyle/>
          <a:p>
            <a:pPr algn="l" indent="0" marL="0">
              <a:lnSpc>
                <a:spcPct val="104000"/>
              </a:lnSpc>
              <a:buNone/>
            </a:pPr>
            <a:r>
              <a:rPr lang="en-US" sz="2010" dirty="0">
                <a:solidFill>
                  <a:srgbClr val="F4F7FB"/>
                </a:solidFill>
                <a:latin typeface="Arial" pitchFamily="34" charset="0"/>
                <a:ea typeface="Arial" pitchFamily="34" charset="-122"/>
                <a:cs typeface="Arial" pitchFamily="34" charset="-120"/>
              </a:rPr>
              <a:t>Restoring sum.o repairs this</a:t>
            </a:r>
            <a:endParaRPr lang="en-US" sz="2010" dirty="0"/>
          </a:p>
          <a:p>
            <a:pPr algn="l" indent="0" marL="0">
              <a:lnSpc>
                <a:spcPct val="104000"/>
              </a:lnSpc>
              <a:buNone/>
            </a:pPr>
            <a:r>
              <a:rPr lang="en-US" sz="2010" dirty="0">
                <a:solidFill>
                  <a:srgbClr val="F4F7FB"/>
                </a:solidFill>
                <a:latin typeface="Arial" pitchFamily="34" charset="0"/>
                <a:ea typeface="Arial" pitchFamily="34" charset="-122"/>
                <a:cs typeface="Arial" pitchFamily="34" charset="-120"/>
              </a:rPr>
              <a:t>missing obligation.</a:t>
            </a:r>
            <a:endParaRPr lang="en-US" sz="2010" dirty="0"/>
          </a:p>
        </p:txBody>
      </p:sp>
      <p:sp>
        <p:nvSpPr>
          <p:cNvPr id="17" name="Text 15"/>
          <p:cNvSpPr txBox="1"/>
          <p:nvPr/>
        </p:nvSpPr>
        <p:spPr>
          <a:xfrm>
            <a:off x="548640" y="5193792"/>
            <a:ext cx="11094720" cy="274320"/>
          </a:xfrm>
          <a:prstGeom prst="rect">
            <a:avLst/>
          </a:prstGeom>
          <a:noFill/>
          <a:ln/>
        </p:spPr>
        <p:txBody>
          <a:bodyPr wrap="square" lIns="0" tIns="0" rIns="0" bIns="0" rtlCol="0" anchor="t"/>
          <a:lstStyle/>
          <a:p>
            <a:pPr algn="l" indent="0" marL="0">
              <a:lnSpc>
                <a:spcPct val="104000"/>
              </a:lnSpc>
              <a:buNone/>
            </a:pPr>
            <a:r>
              <a:rPr lang="en-US" sz="1140" dirty="0">
                <a:solidFill>
                  <a:srgbClr val="B3C3D6"/>
                </a:solidFill>
                <a:latin typeface="Arial" pitchFamily="34" charset="0"/>
                <a:ea typeface="Arial" pitchFamily="34" charset="-122"/>
                <a:cs typeface="Arial" pitchFamily="34" charset="-120"/>
              </a:rPr>
              <a:t>Expected result: unresolved add at link time. Diagnostic wording is tool-dependent.</a:t>
            </a:r>
            <a:endParaRPr lang="en-US" sz="1140" dirty="0"/>
          </a:p>
        </p:txBody>
      </p:sp>
      <p:sp>
        <p:nvSpPr>
          <p:cNvPr id="22" name="Text 20"/>
          <p:cNvSpPr txBox="1"/>
          <p:nvPr/>
        </p:nvSpPr>
        <p:spPr>
          <a:xfrm>
            <a:off x="548640" y="6601968"/>
            <a:ext cx="10241280" cy="128016"/>
          </a:xfrm>
          <a:prstGeom prst="rect">
            <a:avLst/>
          </a:prstGeom>
          <a:noFill/>
          <a:ln/>
        </p:spPr>
        <p:txBody>
          <a:bodyPr wrap="square" lIns="0" tIns="0" rIns="0" bIns="0" rtlCol="0" anchor="t"/>
          <a:lstStyle/>
          <a:p>
            <a:pPr algn="l" indent="0" marL="0">
              <a:lnSpc>
                <a:spcPct val="104000"/>
              </a:lnSpc>
              <a:buNone/>
            </a:pPr>
            <a:r>
              <a:rPr lang="en-US" sz="830" dirty="0">
                <a:solidFill>
                  <a:srgbClr val="B3C3D6"/>
                </a:solidFill>
                <a:latin typeface="Arial" pitchFamily="34" charset="0"/>
                <a:ea typeface="Arial" pitchFamily="34" charset="-122"/>
                <a:cs typeface="Arial" pitchFamily="34" charset="-120"/>
              </a:rPr>
              <a:t>Source: original 11, 17, 20 • [LD]</a:t>
            </a:r>
            <a:endParaRPr lang="en-US" sz="830" dirty="0"/>
          </a:p>
        </p:txBody>
      </p:sp>
      <p:sp>
        <p:nvSpPr>
          <p:cNvPr id="23" name="Text 21"/>
          <p:cNvSpPr txBox="1"/>
          <p:nvPr/>
        </p:nvSpPr>
        <p:spPr>
          <a:xfrm>
            <a:off x="10917936" y="6565392"/>
            <a:ext cx="722376" cy="219456"/>
          </a:xfrm>
          <a:prstGeom prst="rect">
            <a:avLst/>
          </a:prstGeom>
          <a:noFill/>
          <a:ln/>
        </p:spPr>
        <p:txBody>
          <a:bodyPr wrap="square" lIns="0" tIns="0" rIns="0" bIns="0" rtlCol="0" anchor="t"/>
          <a:lstStyle/>
          <a:p>
            <a:pPr algn="r" indent="0" marL="0">
              <a:lnSpc>
                <a:spcPct val="104000"/>
              </a:lnSpc>
              <a:buNone/>
            </a:pPr>
            <a:r>
              <a:rPr lang="en-US" sz="1050" dirty="0">
                <a:solidFill>
                  <a:srgbClr val="B3C3D6"/>
                </a:solidFill>
                <a:latin typeface="Arial" pitchFamily="34" charset="0"/>
                <a:ea typeface="Arial" pitchFamily="34" charset="-122"/>
                <a:cs typeface="Arial" pitchFamily="34" charset="-120"/>
              </a:rPr>
              <a:t>33 / 64</a:t>
            </a:r>
            <a:endParaRPr lang="en-US" sz="1050" dirty="0"/>
          </a:p>
        </p:txBody>
      </p:sp>
      <p:sp>
        <p:nvSpPr>
          <p:cNvPr id="24" name="Shape 22"/>
          <p:cNvSpPr/>
          <p:nvPr/>
        </p:nvSpPr>
        <p:spPr>
          <a:xfrm>
            <a:off x="0" y="6834226"/>
            <a:ext cx="12192000" cy="23774"/>
          </a:xfrm>
          <a:prstGeom prst="rect">
            <a:avLst/>
          </a:prstGeom>
          <a:solidFill>
            <a:srgbClr val="2B415A"/>
          </a:solidFill>
          <a:ln w="8890">
            <a:solidFill>
              <a:srgbClr val="2B415A"/>
            </a:solidFill>
            <a:prstDash val="solid"/>
          </a:ln>
        </p:spPr>
        <p:txBody>
          <a:bodyPr/>
          <a:p/>
        </p:txBody>
      </p:sp>
      <p:sp>
        <p:nvSpPr>
          <p:cNvPr id="25" name="Shape 23"/>
          <p:cNvSpPr/>
          <p:nvPr/>
        </p:nvSpPr>
        <p:spPr>
          <a:xfrm>
            <a:off x="0" y="6834226"/>
            <a:ext cx="6286500" cy="23774"/>
          </a:xfrm>
          <a:prstGeom prst="rect">
            <a:avLst/>
          </a:prstGeom>
          <a:solidFill>
            <a:srgbClr val="71D5DD"/>
          </a:solidFill>
          <a:ln w="8890">
            <a:solidFill>
              <a:srgbClr val="71D5DD"/>
            </a:solidFill>
            <a:prstDash val="solid"/>
          </a:ln>
        </p:spPr>
        <p:txBody>
          <a:body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548640" y="219456"/>
            <a:ext cx="9875520" cy="192024"/>
          </a:xfrm>
          <a:prstGeom prst="rect">
            <a:avLst/>
          </a:prstGeom>
          <a:noFill/>
          <a:ln/>
        </p:spPr>
        <p:txBody>
          <a:bodyPr wrap="square" lIns="0" tIns="0" rIns="0" bIns="0" rtlCol="0" anchor="t"/>
          <a:lstStyle/>
          <a:p>
            <a:pPr algn="l" indent="0" marL="0">
              <a:lnSpc>
                <a:spcPct val="104000"/>
              </a:lnSpc>
              <a:buNone/>
            </a:pPr>
            <a:r>
              <a:rPr lang="en-US" sz="970" b="1" spc="135" kern="0" dirty="0">
                <a:solidFill>
                  <a:srgbClr val="B3C3D6"/>
                </a:solidFill>
                <a:latin typeface="Arial" pitchFamily="34" charset="0"/>
                <a:ea typeface="Arial" pitchFamily="34" charset="-122"/>
                <a:cs typeface="Arial" pitchFamily="34" charset="-120"/>
              </a:rPr>
              <a:t>SYSTEMS PROGRAMMING AND MACHINE ORGANIZATION</a:t>
            </a:r>
            <a:endParaRPr lang="en-US" sz="970" dirty="0"/>
          </a:p>
        </p:txBody>
      </p:sp>
      <p:sp>
        <p:nvSpPr>
          <p:cNvPr id="3" name="Text 1"/>
          <p:cNvSpPr txBox="1"/>
          <p:nvPr/>
        </p:nvSpPr>
        <p:spPr>
          <a:xfrm>
            <a:off x="9601200" y="219456"/>
            <a:ext cx="2039112" cy="192024"/>
          </a:xfrm>
          <a:prstGeom prst="rect">
            <a:avLst/>
          </a:prstGeom>
          <a:noFill/>
          <a:ln/>
        </p:spPr>
        <p:txBody>
          <a:bodyPr wrap="square" lIns="0" tIns="0" rIns="0" bIns="0" rtlCol="0" anchor="t"/>
          <a:lstStyle/>
          <a:p>
            <a:pPr algn="r" indent="0" marL="0">
              <a:lnSpc>
                <a:spcPct val="104000"/>
              </a:lnSpc>
              <a:buNone/>
            </a:pPr>
            <a:r>
              <a:rPr lang="en-US" sz="970" b="1" dirty="0">
                <a:solidFill>
                  <a:srgbClr val="B3C3D6"/>
                </a:solidFill>
                <a:latin typeface="Arial" pitchFamily="34" charset="0"/>
                <a:ea typeface="Arial" pitchFamily="34" charset="-122"/>
                <a:cs typeface="Arial" pitchFamily="34" charset="-120"/>
              </a:rPr>
              <a:t>CHARLES DORNER</a:t>
            </a:r>
            <a:endParaRPr lang="en-US" sz="970" dirty="0"/>
          </a:p>
        </p:txBody>
      </p:sp>
      <p:sp>
        <p:nvSpPr>
          <p:cNvPr id="4" name="Text 2"/>
          <p:cNvSpPr txBox="1"/>
          <p:nvPr/>
        </p:nvSpPr>
        <p:spPr>
          <a:xfrm>
            <a:off x="548640" y="566928"/>
            <a:ext cx="11109960" cy="237744"/>
          </a:xfrm>
          <a:prstGeom prst="rect">
            <a:avLst/>
          </a:prstGeom>
          <a:noFill/>
          <a:ln/>
        </p:spPr>
        <p:txBody>
          <a:bodyPr wrap="square" lIns="0" tIns="0" rIns="0" bIns="0" rtlCol="0" anchor="t"/>
          <a:lstStyle/>
          <a:p>
            <a:pPr algn="l" indent="0" marL="0">
              <a:lnSpc>
                <a:spcPct val="104000"/>
              </a:lnSpc>
              <a:buNone/>
            </a:pPr>
            <a:r>
              <a:rPr lang="en-US" sz="1150" b="1" dirty="0">
                <a:solidFill>
                  <a:srgbClr val="71D5DD"/>
                </a:solidFill>
                <a:latin typeface="Arial" pitchFamily="34" charset="0"/>
                <a:ea typeface="Arial" pitchFamily="34" charset="-122"/>
                <a:cs typeface="Arial" pitchFamily="34" charset="-120"/>
              </a:rPr>
              <a:t>WORKED EXAMPLE · PREDICT BEFORE REBUILDING</a:t>
            </a:r>
            <a:endParaRPr lang="en-US" sz="1150" dirty="0"/>
          </a:p>
        </p:txBody>
      </p:sp>
      <p:sp>
        <p:nvSpPr>
          <p:cNvPr id="5" name="Text 3"/>
          <p:cNvSpPr txBox="1"/>
          <p:nvPr/>
        </p:nvSpPr>
        <p:spPr>
          <a:xfrm>
            <a:off x="548640" y="941832"/>
            <a:ext cx="11091672" cy="676656"/>
          </a:xfrm>
          <a:prstGeom prst="rect">
            <a:avLst/>
          </a:prstGeom>
          <a:noFill/>
          <a:ln/>
        </p:spPr>
        <p:txBody>
          <a:bodyPr wrap="square" lIns="0" tIns="0" rIns="0" bIns="0" rtlCol="0" anchor="t"/>
          <a:lstStyle/>
          <a:p>
            <a:pPr algn="l" indent="0" marL="0">
              <a:lnSpc>
                <a:spcPct val="104000"/>
              </a:lnSpc>
              <a:buNone/>
            </a:pPr>
            <a:r>
              <a:rPr lang="en-US" sz="3150" b="1" dirty="0">
                <a:solidFill>
                  <a:srgbClr val="F4F7FB"/>
                </a:solidFill>
                <a:latin typeface="Arial" pitchFamily="34" charset="0"/>
                <a:ea typeface="Arial" pitchFamily="34" charset="-122"/>
                <a:cs typeface="Arial" pitchFamily="34" charset="-120"/>
              </a:rPr>
              <a:t>Incremental builds follow dependency information</a:t>
            </a:r>
            <a:endParaRPr lang="en-US" sz="3150" dirty="0"/>
          </a:p>
        </p:txBody>
      </p:sp>
      <p:sp>
        <p:nvSpPr>
          <p:cNvPr id="6" name="Shape 4"/>
          <p:cNvSpPr/>
          <p:nvPr/>
        </p:nvSpPr>
        <p:spPr>
          <a:xfrm>
            <a:off x="548640" y="1764792"/>
            <a:ext cx="3698240" cy="402336"/>
          </a:xfrm>
          <a:prstGeom prst="rect">
            <a:avLst/>
          </a:prstGeom>
          <a:solidFill>
            <a:srgbClr val="172940"/>
          </a:solidFill>
          <a:ln w="8890">
            <a:solidFill>
              <a:srgbClr val="172940"/>
            </a:solidFill>
            <a:prstDash val="solid"/>
          </a:ln>
        </p:spPr>
        <p:txBody>
          <a:bodyPr/>
          <a:p/>
        </p:txBody>
      </p:sp>
      <p:sp>
        <p:nvSpPr>
          <p:cNvPr id="7" name="Text 5"/>
          <p:cNvSpPr txBox="1"/>
          <p:nvPr/>
        </p:nvSpPr>
        <p:spPr>
          <a:xfrm>
            <a:off x="676656" y="1851660"/>
            <a:ext cx="3442208" cy="301752"/>
          </a:xfrm>
          <a:prstGeom prst="rect">
            <a:avLst/>
          </a:prstGeom>
          <a:noFill/>
          <a:ln/>
        </p:spPr>
        <p:txBody>
          <a:bodyPr wrap="square" lIns="0" tIns="0" rIns="0" bIns="0" rtlCol="0" anchor="t"/>
          <a:lstStyle/>
          <a:p>
            <a:pPr algn="l" indent="0" marL="0">
              <a:lnSpc>
                <a:spcPct val="104000"/>
              </a:lnSpc>
              <a:buNone/>
            </a:pPr>
            <a:r>
              <a:rPr lang="en-US" sz="1240" b="1" dirty="0">
                <a:solidFill>
                  <a:srgbClr val="71D5DD"/>
                </a:solidFill>
                <a:latin typeface="Arial" pitchFamily="34" charset="0"/>
                <a:ea typeface="Arial" pitchFamily="34" charset="-122"/>
                <a:cs typeface="Arial" pitchFamily="34" charset="-120"/>
              </a:rPr>
              <a:t>Edited input</a:t>
            </a:r>
            <a:endParaRPr lang="en-US" sz="1240" dirty="0"/>
          </a:p>
        </p:txBody>
      </p:sp>
      <p:sp>
        <p:nvSpPr>
          <p:cNvPr id="8" name="Shape 6"/>
          <p:cNvSpPr/>
          <p:nvPr/>
        </p:nvSpPr>
        <p:spPr>
          <a:xfrm>
            <a:off x="4246880" y="1764792"/>
            <a:ext cx="4345432" cy="402336"/>
          </a:xfrm>
          <a:prstGeom prst="rect">
            <a:avLst/>
          </a:prstGeom>
          <a:solidFill>
            <a:srgbClr val="172940"/>
          </a:solidFill>
          <a:ln w="8890">
            <a:solidFill>
              <a:srgbClr val="172940"/>
            </a:solidFill>
            <a:prstDash val="solid"/>
          </a:ln>
        </p:spPr>
        <p:txBody>
          <a:bodyPr/>
          <a:p/>
        </p:txBody>
      </p:sp>
      <p:sp>
        <p:nvSpPr>
          <p:cNvPr id="9" name="Text 7"/>
          <p:cNvSpPr txBox="1"/>
          <p:nvPr/>
        </p:nvSpPr>
        <p:spPr>
          <a:xfrm>
            <a:off x="4374896" y="1851660"/>
            <a:ext cx="4089400" cy="301752"/>
          </a:xfrm>
          <a:prstGeom prst="rect">
            <a:avLst/>
          </a:prstGeom>
          <a:noFill/>
          <a:ln/>
        </p:spPr>
        <p:txBody>
          <a:bodyPr wrap="square" lIns="0" tIns="0" rIns="0" bIns="0" rtlCol="0" anchor="t"/>
          <a:lstStyle/>
          <a:p>
            <a:pPr algn="l" indent="0" marL="0">
              <a:lnSpc>
                <a:spcPct val="104000"/>
              </a:lnSpc>
              <a:buNone/>
            </a:pPr>
            <a:r>
              <a:rPr lang="en-US" sz="1240" b="1" dirty="0">
                <a:solidFill>
                  <a:srgbClr val="71D5DD"/>
                </a:solidFill>
                <a:latin typeface="Arial" pitchFamily="34" charset="0"/>
                <a:ea typeface="Arial" pitchFamily="34" charset="-122"/>
                <a:cs typeface="Arial" pitchFamily="34" charset="-120"/>
              </a:rPr>
              <a:t>Recompile in this model</a:t>
            </a:r>
            <a:endParaRPr lang="en-US" sz="1240" dirty="0"/>
          </a:p>
        </p:txBody>
      </p:sp>
      <p:sp>
        <p:nvSpPr>
          <p:cNvPr id="10" name="Shape 8"/>
          <p:cNvSpPr/>
          <p:nvPr/>
        </p:nvSpPr>
        <p:spPr>
          <a:xfrm>
            <a:off x="8592312" y="1764792"/>
            <a:ext cx="3051048" cy="402336"/>
          </a:xfrm>
          <a:prstGeom prst="rect">
            <a:avLst/>
          </a:prstGeom>
          <a:solidFill>
            <a:srgbClr val="172940"/>
          </a:solidFill>
          <a:ln w="8890">
            <a:solidFill>
              <a:srgbClr val="172940"/>
            </a:solidFill>
            <a:prstDash val="solid"/>
          </a:ln>
        </p:spPr>
        <p:txBody>
          <a:bodyPr/>
          <a:p/>
        </p:txBody>
      </p:sp>
      <p:sp>
        <p:nvSpPr>
          <p:cNvPr id="11" name="Text 9"/>
          <p:cNvSpPr txBox="1"/>
          <p:nvPr/>
        </p:nvSpPr>
        <p:spPr>
          <a:xfrm>
            <a:off x="8720328" y="1851660"/>
            <a:ext cx="2795016" cy="301752"/>
          </a:xfrm>
          <a:prstGeom prst="rect">
            <a:avLst/>
          </a:prstGeom>
          <a:noFill/>
          <a:ln/>
        </p:spPr>
        <p:txBody>
          <a:bodyPr wrap="square" lIns="0" tIns="0" rIns="0" bIns="0" rtlCol="0" anchor="t"/>
          <a:lstStyle/>
          <a:p>
            <a:pPr algn="l" indent="0" marL="0">
              <a:lnSpc>
                <a:spcPct val="104000"/>
              </a:lnSpc>
              <a:buNone/>
            </a:pPr>
            <a:r>
              <a:rPr lang="en-US" sz="1240" b="1" dirty="0">
                <a:solidFill>
                  <a:srgbClr val="71D5DD"/>
                </a:solidFill>
                <a:latin typeface="Arial" pitchFamily="34" charset="0"/>
                <a:ea typeface="Arial" pitchFamily="34" charset="-122"/>
                <a:cs typeface="Arial" pitchFamily="34" charset="-120"/>
              </a:rPr>
              <a:t>Then</a:t>
            </a:r>
            <a:endParaRPr lang="en-US" sz="1240" dirty="0"/>
          </a:p>
        </p:txBody>
      </p:sp>
      <p:sp>
        <p:nvSpPr>
          <p:cNvPr id="12" name="Shape 10"/>
          <p:cNvSpPr/>
          <p:nvPr/>
        </p:nvSpPr>
        <p:spPr>
          <a:xfrm>
            <a:off x="548640" y="2167128"/>
            <a:ext cx="3698240" cy="726948"/>
          </a:xfrm>
          <a:prstGeom prst="rect">
            <a:avLst/>
          </a:prstGeom>
          <a:solidFill>
            <a:srgbClr val="142238"/>
          </a:solidFill>
          <a:ln w="8890">
            <a:solidFill>
              <a:srgbClr val="142238"/>
            </a:solidFill>
            <a:prstDash val="solid"/>
          </a:ln>
        </p:spPr>
        <p:txBody>
          <a:bodyPr/>
          <a:p/>
        </p:txBody>
      </p:sp>
      <p:sp>
        <p:nvSpPr>
          <p:cNvPr id="13" name="Text 11"/>
          <p:cNvSpPr txBox="1"/>
          <p:nvPr/>
        </p:nvSpPr>
        <p:spPr>
          <a:xfrm>
            <a:off x="676656" y="2217420"/>
            <a:ext cx="3442208" cy="635508"/>
          </a:xfrm>
          <a:prstGeom prst="rect">
            <a:avLst/>
          </a:prstGeom>
          <a:noFill/>
          <a:ln/>
        </p:spPr>
        <p:txBody>
          <a:bodyPr wrap="square" lIns="0" tIns="0" rIns="0" bIns="0" rtlCol="0" anchor="t"/>
          <a:lstStyle/>
          <a:p>
            <a:pPr algn="l" indent="0" marL="0">
              <a:lnSpc>
                <a:spcPct val="104000"/>
              </a:lnSpc>
              <a:buNone/>
            </a:pPr>
            <a:r>
              <a:rPr lang="en-US" sz="1800" b="1" dirty="0">
                <a:solidFill>
                  <a:srgbClr val="F4F7FB"/>
                </a:solidFill>
                <a:latin typeface="Arial" pitchFamily="34" charset="0"/>
                <a:ea typeface="Arial" pitchFamily="34" charset="-122"/>
                <a:cs typeface="Arial" pitchFamily="34" charset="-120"/>
              </a:rPr>
              <a:t>sum.c implementation</a:t>
            </a:r>
            <a:endParaRPr lang="en-US" sz="1800" dirty="0"/>
          </a:p>
        </p:txBody>
      </p:sp>
      <p:sp>
        <p:nvSpPr>
          <p:cNvPr id="14" name="Shape 12"/>
          <p:cNvSpPr/>
          <p:nvPr/>
        </p:nvSpPr>
        <p:spPr>
          <a:xfrm>
            <a:off x="4246880" y="2167128"/>
            <a:ext cx="4345432" cy="726948"/>
          </a:xfrm>
          <a:prstGeom prst="rect">
            <a:avLst/>
          </a:prstGeom>
          <a:solidFill>
            <a:srgbClr val="142238"/>
          </a:solidFill>
          <a:ln w="8890">
            <a:solidFill>
              <a:srgbClr val="142238"/>
            </a:solidFill>
            <a:prstDash val="solid"/>
          </a:ln>
        </p:spPr>
        <p:txBody>
          <a:bodyPr/>
          <a:p/>
        </p:txBody>
      </p:sp>
      <p:sp>
        <p:nvSpPr>
          <p:cNvPr id="15" name="Text 13"/>
          <p:cNvSpPr txBox="1"/>
          <p:nvPr/>
        </p:nvSpPr>
        <p:spPr>
          <a:xfrm>
            <a:off x="4374896" y="2217420"/>
            <a:ext cx="4089400" cy="635508"/>
          </a:xfrm>
          <a:prstGeom prst="rect">
            <a:avLst/>
          </a:prstGeom>
          <a:noFill/>
          <a:ln/>
        </p:spPr>
        <p:txBody>
          <a:bodyPr wrap="square" lIns="0" tIns="0" rIns="0" bIns="0" rtlCol="0" anchor="t"/>
          <a:lstStyle/>
          <a:p>
            <a:pPr algn="l" indent="0" marL="0">
              <a:lnSpc>
                <a:spcPct val="104000"/>
              </a:lnSpc>
              <a:buNone/>
            </a:pPr>
            <a:r>
              <a:rPr lang="en-US" sz="1800" dirty="0">
                <a:solidFill>
                  <a:srgbClr val="B3C3D6"/>
                </a:solidFill>
                <a:latin typeface="Arial" pitchFamily="34" charset="0"/>
                <a:ea typeface="Arial" pitchFamily="34" charset="-122"/>
                <a:cs typeface="Arial" pitchFamily="34" charset="-120"/>
              </a:rPr>
              <a:t>sum.o</a:t>
            </a:r>
            <a:endParaRPr lang="en-US" sz="1800" dirty="0"/>
          </a:p>
        </p:txBody>
      </p:sp>
      <p:sp>
        <p:nvSpPr>
          <p:cNvPr id="16" name="Shape 14"/>
          <p:cNvSpPr/>
          <p:nvPr/>
        </p:nvSpPr>
        <p:spPr>
          <a:xfrm>
            <a:off x="8592312" y="2167128"/>
            <a:ext cx="3051048" cy="726948"/>
          </a:xfrm>
          <a:prstGeom prst="rect">
            <a:avLst/>
          </a:prstGeom>
          <a:solidFill>
            <a:srgbClr val="142238"/>
          </a:solidFill>
          <a:ln w="8890">
            <a:solidFill>
              <a:srgbClr val="142238"/>
            </a:solidFill>
            <a:prstDash val="solid"/>
          </a:ln>
        </p:spPr>
        <p:txBody>
          <a:bodyPr/>
          <a:p/>
        </p:txBody>
      </p:sp>
      <p:sp>
        <p:nvSpPr>
          <p:cNvPr id="17" name="Text 15"/>
          <p:cNvSpPr txBox="1"/>
          <p:nvPr/>
        </p:nvSpPr>
        <p:spPr>
          <a:xfrm>
            <a:off x="8720328" y="2217420"/>
            <a:ext cx="2795016" cy="635508"/>
          </a:xfrm>
          <a:prstGeom prst="rect">
            <a:avLst/>
          </a:prstGeom>
          <a:noFill/>
          <a:ln/>
        </p:spPr>
        <p:txBody>
          <a:bodyPr wrap="square" lIns="0" tIns="0" rIns="0" bIns="0" rtlCol="0" anchor="t"/>
          <a:lstStyle/>
          <a:p>
            <a:pPr algn="l" indent="0" marL="0">
              <a:lnSpc>
                <a:spcPct val="104000"/>
              </a:lnSpc>
              <a:buNone/>
            </a:pPr>
            <a:r>
              <a:rPr lang="en-US" sz="1800" dirty="0">
                <a:solidFill>
                  <a:srgbClr val="B3C3D6"/>
                </a:solidFill>
                <a:latin typeface="Arial" pitchFamily="34" charset="0"/>
                <a:ea typeface="Arial" pitchFamily="34" charset="-122"/>
                <a:cs typeface="Arial" pitchFamily="34" charset="-120"/>
              </a:rPr>
              <a:t>Relink the executable</a:t>
            </a:r>
            <a:endParaRPr lang="en-US" sz="1800" dirty="0"/>
          </a:p>
        </p:txBody>
      </p:sp>
      <p:sp>
        <p:nvSpPr>
          <p:cNvPr id="18" name="Shape 16"/>
          <p:cNvSpPr/>
          <p:nvPr/>
        </p:nvSpPr>
        <p:spPr>
          <a:xfrm>
            <a:off x="548640" y="2894076"/>
            <a:ext cx="11094720" cy="0"/>
          </a:xfrm>
          <a:prstGeom prst="line">
            <a:avLst/>
          </a:prstGeom>
          <a:noFill/>
          <a:ln w="12700">
            <a:solidFill>
              <a:srgbClr val="2B415A"/>
            </a:solidFill>
            <a:prstDash val="solid"/>
          </a:ln>
        </p:spPr>
        <p:txBody>
          <a:bodyPr/>
          <a:p/>
        </p:txBody>
      </p:sp>
      <p:sp>
        <p:nvSpPr>
          <p:cNvPr id="19" name="Shape 17"/>
          <p:cNvSpPr/>
          <p:nvPr/>
        </p:nvSpPr>
        <p:spPr>
          <a:xfrm>
            <a:off x="548640" y="2894076"/>
            <a:ext cx="3698240" cy="726948"/>
          </a:xfrm>
          <a:prstGeom prst="rect">
            <a:avLst/>
          </a:prstGeom>
          <a:solidFill>
            <a:srgbClr val="0B1322"/>
          </a:solidFill>
          <a:ln w="8890">
            <a:solidFill>
              <a:srgbClr val="0B1322"/>
            </a:solidFill>
            <a:prstDash val="solid"/>
          </a:ln>
        </p:spPr>
        <p:txBody>
          <a:bodyPr/>
          <a:p/>
        </p:txBody>
      </p:sp>
      <p:sp>
        <p:nvSpPr>
          <p:cNvPr id="20" name="Text 18"/>
          <p:cNvSpPr txBox="1"/>
          <p:nvPr/>
        </p:nvSpPr>
        <p:spPr>
          <a:xfrm>
            <a:off x="676656" y="2944368"/>
            <a:ext cx="3442208" cy="635508"/>
          </a:xfrm>
          <a:prstGeom prst="rect">
            <a:avLst/>
          </a:prstGeom>
          <a:noFill/>
          <a:ln/>
        </p:spPr>
        <p:txBody>
          <a:bodyPr wrap="square" lIns="0" tIns="0" rIns="0" bIns="0" rtlCol="0" anchor="t"/>
          <a:lstStyle/>
          <a:p>
            <a:pPr algn="l" indent="0" marL="0">
              <a:lnSpc>
                <a:spcPct val="104000"/>
              </a:lnSpc>
              <a:buNone/>
            </a:pPr>
            <a:r>
              <a:rPr lang="en-US" sz="1800" b="1" dirty="0">
                <a:solidFill>
                  <a:srgbClr val="F4F7FB"/>
                </a:solidFill>
                <a:latin typeface="Arial" pitchFamily="34" charset="0"/>
                <a:ea typeface="Arial" pitchFamily="34" charset="-122"/>
                <a:cs typeface="Arial" pitchFamily="34" charset="-120"/>
              </a:rPr>
              <a:t>main.c implementation</a:t>
            </a:r>
            <a:endParaRPr lang="en-US" sz="1800" dirty="0"/>
          </a:p>
        </p:txBody>
      </p:sp>
      <p:sp>
        <p:nvSpPr>
          <p:cNvPr id="21" name="Shape 19"/>
          <p:cNvSpPr/>
          <p:nvPr/>
        </p:nvSpPr>
        <p:spPr>
          <a:xfrm>
            <a:off x="4246880" y="2894076"/>
            <a:ext cx="4345432" cy="726948"/>
          </a:xfrm>
          <a:prstGeom prst="rect">
            <a:avLst/>
          </a:prstGeom>
          <a:solidFill>
            <a:srgbClr val="0B1322"/>
          </a:solidFill>
          <a:ln w="8890">
            <a:solidFill>
              <a:srgbClr val="0B1322"/>
            </a:solidFill>
            <a:prstDash val="solid"/>
          </a:ln>
        </p:spPr>
        <p:txBody>
          <a:bodyPr/>
          <a:p/>
        </p:txBody>
      </p:sp>
      <p:sp>
        <p:nvSpPr>
          <p:cNvPr id="22" name="Text 20"/>
          <p:cNvSpPr txBox="1"/>
          <p:nvPr/>
        </p:nvSpPr>
        <p:spPr>
          <a:xfrm>
            <a:off x="4374896" y="2944368"/>
            <a:ext cx="4089400" cy="635508"/>
          </a:xfrm>
          <a:prstGeom prst="rect">
            <a:avLst/>
          </a:prstGeom>
          <a:noFill/>
          <a:ln/>
        </p:spPr>
        <p:txBody>
          <a:bodyPr wrap="square" lIns="0" tIns="0" rIns="0" bIns="0" rtlCol="0" anchor="t"/>
          <a:lstStyle/>
          <a:p>
            <a:pPr algn="l" indent="0" marL="0">
              <a:lnSpc>
                <a:spcPct val="104000"/>
              </a:lnSpc>
              <a:buNone/>
            </a:pPr>
            <a:r>
              <a:rPr lang="en-US" sz="1800" dirty="0">
                <a:solidFill>
                  <a:srgbClr val="B3C3D6"/>
                </a:solidFill>
                <a:latin typeface="Arial" pitchFamily="34" charset="0"/>
                <a:ea typeface="Arial" pitchFamily="34" charset="-122"/>
                <a:cs typeface="Arial" pitchFamily="34" charset="-120"/>
              </a:rPr>
              <a:t>main.o</a:t>
            </a:r>
            <a:endParaRPr lang="en-US" sz="1800" dirty="0"/>
          </a:p>
        </p:txBody>
      </p:sp>
      <p:sp>
        <p:nvSpPr>
          <p:cNvPr id="23" name="Shape 21"/>
          <p:cNvSpPr/>
          <p:nvPr/>
        </p:nvSpPr>
        <p:spPr>
          <a:xfrm>
            <a:off x="8592312" y="2894076"/>
            <a:ext cx="3051048" cy="726948"/>
          </a:xfrm>
          <a:prstGeom prst="rect">
            <a:avLst/>
          </a:prstGeom>
          <a:solidFill>
            <a:srgbClr val="0B1322"/>
          </a:solidFill>
          <a:ln w="8890">
            <a:solidFill>
              <a:srgbClr val="0B1322"/>
            </a:solidFill>
            <a:prstDash val="solid"/>
          </a:ln>
        </p:spPr>
        <p:txBody>
          <a:bodyPr/>
          <a:p/>
        </p:txBody>
      </p:sp>
      <p:sp>
        <p:nvSpPr>
          <p:cNvPr id="24" name="Text 22"/>
          <p:cNvSpPr txBox="1"/>
          <p:nvPr/>
        </p:nvSpPr>
        <p:spPr>
          <a:xfrm>
            <a:off x="8720328" y="2944368"/>
            <a:ext cx="2795016" cy="635508"/>
          </a:xfrm>
          <a:prstGeom prst="rect">
            <a:avLst/>
          </a:prstGeom>
          <a:noFill/>
          <a:ln/>
        </p:spPr>
        <p:txBody>
          <a:bodyPr wrap="square" lIns="0" tIns="0" rIns="0" bIns="0" rtlCol="0" anchor="t"/>
          <a:lstStyle/>
          <a:p>
            <a:pPr algn="l" indent="0" marL="0">
              <a:lnSpc>
                <a:spcPct val="104000"/>
              </a:lnSpc>
              <a:buNone/>
            </a:pPr>
            <a:r>
              <a:rPr lang="en-US" sz="1800" dirty="0">
                <a:solidFill>
                  <a:srgbClr val="B3C3D6"/>
                </a:solidFill>
                <a:latin typeface="Arial" pitchFamily="34" charset="0"/>
                <a:ea typeface="Arial" pitchFamily="34" charset="-122"/>
                <a:cs typeface="Arial" pitchFamily="34" charset="-120"/>
              </a:rPr>
              <a:t>Relink the executable</a:t>
            </a:r>
            <a:endParaRPr lang="en-US" sz="1800" dirty="0"/>
          </a:p>
        </p:txBody>
      </p:sp>
      <p:sp>
        <p:nvSpPr>
          <p:cNvPr id="25" name="Shape 23"/>
          <p:cNvSpPr/>
          <p:nvPr/>
        </p:nvSpPr>
        <p:spPr>
          <a:xfrm>
            <a:off x="548640" y="3621024"/>
            <a:ext cx="11094720" cy="0"/>
          </a:xfrm>
          <a:prstGeom prst="line">
            <a:avLst/>
          </a:prstGeom>
          <a:noFill/>
          <a:ln w="12700">
            <a:solidFill>
              <a:srgbClr val="2B415A"/>
            </a:solidFill>
            <a:prstDash val="solid"/>
          </a:ln>
        </p:spPr>
        <p:txBody>
          <a:bodyPr/>
          <a:p/>
        </p:txBody>
      </p:sp>
      <p:sp>
        <p:nvSpPr>
          <p:cNvPr id="26" name="Shape 24"/>
          <p:cNvSpPr/>
          <p:nvPr/>
        </p:nvSpPr>
        <p:spPr>
          <a:xfrm>
            <a:off x="548640" y="3621024"/>
            <a:ext cx="3698240" cy="726948"/>
          </a:xfrm>
          <a:prstGeom prst="rect">
            <a:avLst/>
          </a:prstGeom>
          <a:solidFill>
            <a:srgbClr val="142238"/>
          </a:solidFill>
          <a:ln w="8890">
            <a:solidFill>
              <a:srgbClr val="142238"/>
            </a:solidFill>
            <a:prstDash val="solid"/>
          </a:ln>
        </p:spPr>
        <p:txBody>
          <a:bodyPr/>
          <a:p/>
        </p:txBody>
      </p:sp>
      <p:sp>
        <p:nvSpPr>
          <p:cNvPr id="27" name="Text 25"/>
          <p:cNvSpPr txBox="1"/>
          <p:nvPr/>
        </p:nvSpPr>
        <p:spPr>
          <a:xfrm>
            <a:off x="676656" y="3671316"/>
            <a:ext cx="3442208" cy="635508"/>
          </a:xfrm>
          <a:prstGeom prst="rect">
            <a:avLst/>
          </a:prstGeom>
          <a:noFill/>
          <a:ln/>
        </p:spPr>
        <p:txBody>
          <a:bodyPr wrap="square" lIns="0" tIns="0" rIns="0" bIns="0" rtlCol="0" anchor="t"/>
          <a:lstStyle/>
          <a:p>
            <a:pPr algn="l" indent="0" marL="0">
              <a:lnSpc>
                <a:spcPct val="104000"/>
              </a:lnSpc>
              <a:buNone/>
            </a:pPr>
            <a:r>
              <a:rPr lang="en-US" sz="1800" b="1" dirty="0">
                <a:solidFill>
                  <a:srgbClr val="F4F7FB"/>
                </a:solidFill>
                <a:latin typeface="Arial" pitchFamily="34" charset="0"/>
                <a:ea typeface="Arial" pitchFamily="34" charset="-122"/>
                <a:cs typeface="Arial" pitchFamily="34" charset="-120"/>
              </a:rPr>
              <a:t>sum.h shared interface</a:t>
            </a:r>
            <a:endParaRPr lang="en-US" sz="1800" dirty="0"/>
          </a:p>
        </p:txBody>
      </p:sp>
      <p:sp>
        <p:nvSpPr>
          <p:cNvPr id="28" name="Shape 26"/>
          <p:cNvSpPr/>
          <p:nvPr/>
        </p:nvSpPr>
        <p:spPr>
          <a:xfrm>
            <a:off x="4246880" y="3621024"/>
            <a:ext cx="4345432" cy="726948"/>
          </a:xfrm>
          <a:prstGeom prst="rect">
            <a:avLst/>
          </a:prstGeom>
          <a:solidFill>
            <a:srgbClr val="142238"/>
          </a:solidFill>
          <a:ln w="8890">
            <a:solidFill>
              <a:srgbClr val="142238"/>
            </a:solidFill>
            <a:prstDash val="solid"/>
          </a:ln>
        </p:spPr>
        <p:txBody>
          <a:bodyPr/>
          <a:p/>
        </p:txBody>
      </p:sp>
      <p:sp>
        <p:nvSpPr>
          <p:cNvPr id="29" name="Text 27"/>
          <p:cNvSpPr txBox="1"/>
          <p:nvPr/>
        </p:nvSpPr>
        <p:spPr>
          <a:xfrm>
            <a:off x="4374896" y="3671316"/>
            <a:ext cx="4089400" cy="635508"/>
          </a:xfrm>
          <a:prstGeom prst="rect">
            <a:avLst/>
          </a:prstGeom>
          <a:noFill/>
          <a:ln/>
        </p:spPr>
        <p:txBody>
          <a:bodyPr wrap="square" lIns="0" tIns="0" rIns="0" bIns="0" rtlCol="0" anchor="t"/>
          <a:lstStyle/>
          <a:p>
            <a:pPr algn="l" indent="0" marL="0">
              <a:lnSpc>
                <a:spcPct val="104000"/>
              </a:lnSpc>
              <a:buNone/>
            </a:pPr>
            <a:r>
              <a:rPr lang="en-US" sz="1800" dirty="0">
                <a:solidFill>
                  <a:srgbClr val="B3C3D6"/>
                </a:solidFill>
                <a:latin typeface="Arial" pitchFamily="34" charset="0"/>
                <a:ea typeface="Arial" pitchFamily="34" charset="-122"/>
                <a:cs typeface="Arial" pitchFamily="34" charset="-120"/>
              </a:rPr>
              <a:t>main.o and sum.o</a:t>
            </a:r>
            <a:endParaRPr lang="en-US" sz="1800" dirty="0"/>
          </a:p>
        </p:txBody>
      </p:sp>
      <p:sp>
        <p:nvSpPr>
          <p:cNvPr id="30" name="Shape 28"/>
          <p:cNvSpPr/>
          <p:nvPr/>
        </p:nvSpPr>
        <p:spPr>
          <a:xfrm>
            <a:off x="8592312" y="3621024"/>
            <a:ext cx="3051048" cy="726948"/>
          </a:xfrm>
          <a:prstGeom prst="rect">
            <a:avLst/>
          </a:prstGeom>
          <a:solidFill>
            <a:srgbClr val="142238"/>
          </a:solidFill>
          <a:ln w="8890">
            <a:solidFill>
              <a:srgbClr val="142238"/>
            </a:solidFill>
            <a:prstDash val="solid"/>
          </a:ln>
        </p:spPr>
        <p:txBody>
          <a:bodyPr/>
          <a:p/>
        </p:txBody>
      </p:sp>
      <p:sp>
        <p:nvSpPr>
          <p:cNvPr id="31" name="Text 29"/>
          <p:cNvSpPr txBox="1"/>
          <p:nvPr/>
        </p:nvSpPr>
        <p:spPr>
          <a:xfrm>
            <a:off x="8720328" y="3671316"/>
            <a:ext cx="2795016" cy="635508"/>
          </a:xfrm>
          <a:prstGeom prst="rect">
            <a:avLst/>
          </a:prstGeom>
          <a:noFill/>
          <a:ln/>
        </p:spPr>
        <p:txBody>
          <a:bodyPr wrap="square" lIns="0" tIns="0" rIns="0" bIns="0" rtlCol="0" anchor="t"/>
          <a:lstStyle/>
          <a:p>
            <a:pPr algn="l" indent="0" marL="0">
              <a:lnSpc>
                <a:spcPct val="104000"/>
              </a:lnSpc>
              <a:buNone/>
            </a:pPr>
            <a:r>
              <a:rPr lang="en-US" sz="1800" dirty="0">
                <a:solidFill>
                  <a:srgbClr val="B3C3D6"/>
                </a:solidFill>
                <a:latin typeface="Arial" pitchFamily="34" charset="0"/>
                <a:ea typeface="Arial" pitchFamily="34" charset="-122"/>
                <a:cs typeface="Arial" pitchFamily="34" charset="-120"/>
              </a:rPr>
              <a:t>Relink the executable</a:t>
            </a:r>
            <a:endParaRPr lang="en-US" sz="1800" dirty="0"/>
          </a:p>
        </p:txBody>
      </p:sp>
      <p:sp>
        <p:nvSpPr>
          <p:cNvPr id="32" name="Shape 30"/>
          <p:cNvSpPr/>
          <p:nvPr/>
        </p:nvSpPr>
        <p:spPr>
          <a:xfrm>
            <a:off x="548640" y="4347972"/>
            <a:ext cx="11094720" cy="0"/>
          </a:xfrm>
          <a:prstGeom prst="line">
            <a:avLst/>
          </a:prstGeom>
          <a:noFill/>
          <a:ln w="12700">
            <a:solidFill>
              <a:srgbClr val="2B415A"/>
            </a:solidFill>
            <a:prstDash val="solid"/>
          </a:ln>
        </p:spPr>
        <p:txBody>
          <a:bodyPr/>
          <a:p/>
        </p:txBody>
      </p:sp>
      <p:sp>
        <p:nvSpPr>
          <p:cNvPr id="33" name="Shape 31"/>
          <p:cNvSpPr/>
          <p:nvPr/>
        </p:nvSpPr>
        <p:spPr>
          <a:xfrm>
            <a:off x="548640" y="4347972"/>
            <a:ext cx="3698240" cy="726948"/>
          </a:xfrm>
          <a:prstGeom prst="rect">
            <a:avLst/>
          </a:prstGeom>
          <a:solidFill>
            <a:srgbClr val="0B1322"/>
          </a:solidFill>
          <a:ln w="8890">
            <a:solidFill>
              <a:srgbClr val="0B1322"/>
            </a:solidFill>
            <a:prstDash val="solid"/>
          </a:ln>
        </p:spPr>
        <p:txBody>
          <a:bodyPr/>
          <a:p/>
        </p:txBody>
      </p:sp>
      <p:sp>
        <p:nvSpPr>
          <p:cNvPr id="34" name="Text 32"/>
          <p:cNvSpPr txBox="1"/>
          <p:nvPr/>
        </p:nvSpPr>
        <p:spPr>
          <a:xfrm>
            <a:off x="676656" y="4398264"/>
            <a:ext cx="3442208" cy="635508"/>
          </a:xfrm>
          <a:prstGeom prst="rect">
            <a:avLst/>
          </a:prstGeom>
          <a:noFill/>
          <a:ln/>
        </p:spPr>
        <p:txBody>
          <a:bodyPr wrap="square" lIns="0" tIns="0" rIns="0" bIns="0" rtlCol="0" anchor="t"/>
          <a:lstStyle/>
          <a:p>
            <a:pPr algn="l" indent="0" marL="0">
              <a:lnSpc>
                <a:spcPct val="104000"/>
              </a:lnSpc>
              <a:buNone/>
            </a:pPr>
            <a:r>
              <a:rPr lang="en-US" sz="1800" b="1" dirty="0">
                <a:solidFill>
                  <a:srgbClr val="F4F7FB"/>
                </a:solidFill>
                <a:latin typeface="Arial" pitchFamily="34" charset="0"/>
                <a:ea typeface="Arial" pitchFamily="34" charset="-122"/>
                <a:cs typeface="Arial" pitchFamily="34" charset="-120"/>
              </a:rPr>
              <a:t>Link-only option</a:t>
            </a:r>
            <a:endParaRPr lang="en-US" sz="1800" dirty="0"/>
          </a:p>
        </p:txBody>
      </p:sp>
      <p:sp>
        <p:nvSpPr>
          <p:cNvPr id="35" name="Shape 33"/>
          <p:cNvSpPr/>
          <p:nvPr/>
        </p:nvSpPr>
        <p:spPr>
          <a:xfrm>
            <a:off x="4246880" y="4347972"/>
            <a:ext cx="4345432" cy="726948"/>
          </a:xfrm>
          <a:prstGeom prst="rect">
            <a:avLst/>
          </a:prstGeom>
          <a:solidFill>
            <a:srgbClr val="0B1322"/>
          </a:solidFill>
          <a:ln w="8890">
            <a:solidFill>
              <a:srgbClr val="0B1322"/>
            </a:solidFill>
            <a:prstDash val="solid"/>
          </a:ln>
        </p:spPr>
        <p:txBody>
          <a:bodyPr/>
          <a:p/>
        </p:txBody>
      </p:sp>
      <p:sp>
        <p:nvSpPr>
          <p:cNvPr id="36" name="Text 34"/>
          <p:cNvSpPr txBox="1"/>
          <p:nvPr/>
        </p:nvSpPr>
        <p:spPr>
          <a:xfrm>
            <a:off x="4374896" y="4398264"/>
            <a:ext cx="4089400" cy="635508"/>
          </a:xfrm>
          <a:prstGeom prst="rect">
            <a:avLst/>
          </a:prstGeom>
          <a:noFill/>
          <a:ln/>
        </p:spPr>
        <p:txBody>
          <a:bodyPr wrap="square" lIns="0" tIns="0" rIns="0" bIns="0" rtlCol="0" anchor="t"/>
          <a:lstStyle/>
          <a:p>
            <a:pPr algn="l" indent="0" marL="0">
              <a:lnSpc>
                <a:spcPct val="104000"/>
              </a:lnSpc>
              <a:buNone/>
            </a:pPr>
            <a:r>
              <a:rPr lang="en-US" sz="1800" dirty="0">
                <a:solidFill>
                  <a:srgbClr val="B3C3D6"/>
                </a:solidFill>
                <a:latin typeface="Arial" pitchFamily="34" charset="0"/>
                <a:ea typeface="Arial" pitchFamily="34" charset="-122"/>
                <a:cs typeface="Arial" pitchFamily="34" charset="-120"/>
              </a:rPr>
              <a:t>No source recompilation necessarily</a:t>
            </a:r>
            <a:endParaRPr lang="en-US" sz="1800" dirty="0"/>
          </a:p>
        </p:txBody>
      </p:sp>
      <p:sp>
        <p:nvSpPr>
          <p:cNvPr id="37" name="Shape 35"/>
          <p:cNvSpPr/>
          <p:nvPr/>
        </p:nvSpPr>
        <p:spPr>
          <a:xfrm>
            <a:off x="8592312" y="4347972"/>
            <a:ext cx="3051048" cy="726948"/>
          </a:xfrm>
          <a:prstGeom prst="rect">
            <a:avLst/>
          </a:prstGeom>
          <a:solidFill>
            <a:srgbClr val="0B1322"/>
          </a:solidFill>
          <a:ln w="8890">
            <a:solidFill>
              <a:srgbClr val="0B1322"/>
            </a:solidFill>
            <a:prstDash val="solid"/>
          </a:ln>
        </p:spPr>
        <p:txBody>
          <a:bodyPr/>
          <a:p/>
        </p:txBody>
      </p:sp>
      <p:sp>
        <p:nvSpPr>
          <p:cNvPr id="38" name="Text 36"/>
          <p:cNvSpPr txBox="1"/>
          <p:nvPr/>
        </p:nvSpPr>
        <p:spPr>
          <a:xfrm>
            <a:off x="8720328" y="4398264"/>
            <a:ext cx="2795016" cy="635508"/>
          </a:xfrm>
          <a:prstGeom prst="rect">
            <a:avLst/>
          </a:prstGeom>
          <a:noFill/>
          <a:ln/>
        </p:spPr>
        <p:txBody>
          <a:bodyPr wrap="square" lIns="0" tIns="0" rIns="0" bIns="0" rtlCol="0" anchor="t"/>
          <a:lstStyle/>
          <a:p>
            <a:pPr algn="l" indent="0" marL="0">
              <a:lnSpc>
                <a:spcPct val="104000"/>
              </a:lnSpc>
              <a:buNone/>
            </a:pPr>
            <a:r>
              <a:rPr lang="en-US" sz="1800" dirty="0">
                <a:solidFill>
                  <a:srgbClr val="B3C3D6"/>
                </a:solidFill>
                <a:latin typeface="Arial" pitchFamily="34" charset="0"/>
                <a:ea typeface="Arial" pitchFamily="34" charset="-122"/>
                <a:cs typeface="Arial" pitchFamily="34" charset="-120"/>
              </a:rPr>
              <a:t>Relink with the new option</a:t>
            </a:r>
            <a:endParaRPr lang="en-US" sz="1800" dirty="0"/>
          </a:p>
        </p:txBody>
      </p:sp>
      <p:sp>
        <p:nvSpPr>
          <p:cNvPr id="39" name="Shape 37"/>
          <p:cNvSpPr/>
          <p:nvPr/>
        </p:nvSpPr>
        <p:spPr>
          <a:xfrm>
            <a:off x="548640" y="5074920"/>
            <a:ext cx="11094720" cy="0"/>
          </a:xfrm>
          <a:prstGeom prst="line">
            <a:avLst/>
          </a:prstGeom>
          <a:noFill/>
          <a:ln w="12700">
            <a:solidFill>
              <a:srgbClr val="2B415A"/>
            </a:solidFill>
            <a:prstDash val="solid"/>
          </a:ln>
        </p:spPr>
        <p:txBody>
          <a:bodyPr/>
          <a:p/>
        </p:txBody>
      </p:sp>
      <p:sp>
        <p:nvSpPr>
          <p:cNvPr id="40" name="Text 38"/>
          <p:cNvSpPr txBox="1"/>
          <p:nvPr/>
        </p:nvSpPr>
        <p:spPr>
          <a:xfrm>
            <a:off x="548640" y="5193792"/>
            <a:ext cx="11094720" cy="274320"/>
          </a:xfrm>
          <a:prstGeom prst="rect">
            <a:avLst/>
          </a:prstGeom>
          <a:noFill/>
          <a:ln/>
        </p:spPr>
        <p:txBody>
          <a:bodyPr wrap="square" lIns="0" tIns="0" rIns="0" bIns="0" rtlCol="0" anchor="t"/>
          <a:lstStyle/>
          <a:p>
            <a:pPr algn="l" indent="0" marL="0">
              <a:lnSpc>
                <a:spcPct val="104000"/>
              </a:lnSpc>
              <a:buNone/>
            </a:pPr>
            <a:r>
              <a:rPr lang="en-US" sz="1140" dirty="0">
                <a:solidFill>
                  <a:srgbClr val="B3C3D6"/>
                </a:solidFill>
                <a:latin typeface="Arial" pitchFamily="34" charset="0"/>
                <a:ea typeface="Arial" pitchFamily="34" charset="-122"/>
                <a:cs typeface="Arial" pitchFamily="34" charset="-120"/>
              </a:rPr>
              <a:t>Assume ordinary separate compilation without LTO. Rebuilt does not necessarily mean byte-different.</a:t>
            </a:r>
            <a:endParaRPr lang="en-US" sz="1140" dirty="0"/>
          </a:p>
        </p:txBody>
      </p:sp>
      <p:sp>
        <p:nvSpPr>
          <p:cNvPr id="45" name="Text 43"/>
          <p:cNvSpPr txBox="1"/>
          <p:nvPr/>
        </p:nvSpPr>
        <p:spPr>
          <a:xfrm>
            <a:off x="548640" y="6601968"/>
            <a:ext cx="10241280" cy="128016"/>
          </a:xfrm>
          <a:prstGeom prst="rect">
            <a:avLst/>
          </a:prstGeom>
          <a:noFill/>
          <a:ln/>
        </p:spPr>
        <p:txBody>
          <a:bodyPr wrap="square" lIns="0" tIns="0" rIns="0" bIns="0" rtlCol="0" anchor="t"/>
          <a:lstStyle/>
          <a:p>
            <a:pPr algn="l" indent="0" marL="0">
              <a:lnSpc>
                <a:spcPct val="104000"/>
              </a:lnSpc>
              <a:buNone/>
            </a:pPr>
            <a:r>
              <a:rPr lang="en-US" sz="830" dirty="0">
                <a:solidFill>
                  <a:srgbClr val="B3C3D6"/>
                </a:solidFill>
                <a:latin typeface="Arial" pitchFamily="34" charset="0"/>
                <a:ea typeface="Arial" pitchFamily="34" charset="-122"/>
                <a:cs typeface="Arial" pitchFamily="34" charset="-120"/>
              </a:rPr>
              <a:t>Source: original 20 • Graduate extension</a:t>
            </a:r>
            <a:endParaRPr lang="en-US" sz="830" dirty="0"/>
          </a:p>
        </p:txBody>
      </p:sp>
      <p:sp>
        <p:nvSpPr>
          <p:cNvPr id="46" name="Text 44"/>
          <p:cNvSpPr txBox="1"/>
          <p:nvPr/>
        </p:nvSpPr>
        <p:spPr>
          <a:xfrm>
            <a:off x="10917936" y="6565392"/>
            <a:ext cx="722376" cy="219456"/>
          </a:xfrm>
          <a:prstGeom prst="rect">
            <a:avLst/>
          </a:prstGeom>
          <a:noFill/>
          <a:ln/>
        </p:spPr>
        <p:txBody>
          <a:bodyPr wrap="square" lIns="0" tIns="0" rIns="0" bIns="0" rtlCol="0" anchor="t"/>
          <a:lstStyle/>
          <a:p>
            <a:pPr algn="r" indent="0" marL="0">
              <a:lnSpc>
                <a:spcPct val="104000"/>
              </a:lnSpc>
              <a:buNone/>
            </a:pPr>
            <a:r>
              <a:rPr lang="en-US" sz="1050" dirty="0">
                <a:solidFill>
                  <a:srgbClr val="B3C3D6"/>
                </a:solidFill>
                <a:latin typeface="Arial" pitchFamily="34" charset="0"/>
                <a:ea typeface="Arial" pitchFamily="34" charset="-122"/>
                <a:cs typeface="Arial" pitchFamily="34" charset="-120"/>
              </a:rPr>
              <a:t>34 / 64</a:t>
            </a:r>
            <a:endParaRPr lang="en-US" sz="1050" dirty="0"/>
          </a:p>
        </p:txBody>
      </p:sp>
      <p:sp>
        <p:nvSpPr>
          <p:cNvPr id="47" name="Shape 45"/>
          <p:cNvSpPr/>
          <p:nvPr/>
        </p:nvSpPr>
        <p:spPr>
          <a:xfrm>
            <a:off x="0" y="6834226"/>
            <a:ext cx="12192000" cy="23774"/>
          </a:xfrm>
          <a:prstGeom prst="rect">
            <a:avLst/>
          </a:prstGeom>
          <a:solidFill>
            <a:srgbClr val="2B415A"/>
          </a:solidFill>
          <a:ln w="8890">
            <a:solidFill>
              <a:srgbClr val="2B415A"/>
            </a:solidFill>
            <a:prstDash val="solid"/>
          </a:ln>
        </p:spPr>
        <p:txBody>
          <a:bodyPr/>
          <a:p/>
        </p:txBody>
      </p:sp>
      <p:sp>
        <p:nvSpPr>
          <p:cNvPr id="48" name="Shape 46"/>
          <p:cNvSpPr/>
          <p:nvPr/>
        </p:nvSpPr>
        <p:spPr>
          <a:xfrm>
            <a:off x="0" y="6834226"/>
            <a:ext cx="6477000" cy="23774"/>
          </a:xfrm>
          <a:prstGeom prst="rect">
            <a:avLst/>
          </a:prstGeom>
          <a:solidFill>
            <a:srgbClr val="71D5DD"/>
          </a:solidFill>
          <a:ln w="8890">
            <a:solidFill>
              <a:srgbClr val="71D5DD"/>
            </a:solidFill>
            <a:prstDash val="solid"/>
          </a:ln>
        </p:spPr>
        <p:txBody>
          <a:body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548640" y="219456"/>
            <a:ext cx="9875520" cy="192024"/>
          </a:xfrm>
          <a:prstGeom prst="rect">
            <a:avLst/>
          </a:prstGeom>
          <a:noFill/>
          <a:ln/>
        </p:spPr>
        <p:txBody>
          <a:bodyPr wrap="square" lIns="0" tIns="0" rIns="0" bIns="0" rtlCol="0" anchor="t"/>
          <a:lstStyle/>
          <a:p>
            <a:pPr algn="l" indent="0" marL="0">
              <a:lnSpc>
                <a:spcPct val="104000"/>
              </a:lnSpc>
              <a:buNone/>
            </a:pPr>
            <a:r>
              <a:rPr lang="en-US" sz="970" b="1" spc="135" kern="0" dirty="0">
                <a:solidFill>
                  <a:srgbClr val="B3C3D6"/>
                </a:solidFill>
                <a:latin typeface="Arial" pitchFamily="34" charset="0"/>
                <a:ea typeface="Arial" pitchFamily="34" charset="-122"/>
                <a:cs typeface="Arial" pitchFamily="34" charset="-120"/>
              </a:rPr>
              <a:t>SYSTEMS PROGRAMMING AND MACHINE ORGANIZATION</a:t>
            </a:r>
            <a:endParaRPr lang="en-US" sz="970" dirty="0"/>
          </a:p>
        </p:txBody>
      </p:sp>
      <p:sp>
        <p:nvSpPr>
          <p:cNvPr id="3" name="Text 1"/>
          <p:cNvSpPr txBox="1"/>
          <p:nvPr/>
        </p:nvSpPr>
        <p:spPr>
          <a:xfrm>
            <a:off x="9601200" y="219456"/>
            <a:ext cx="2039112" cy="192024"/>
          </a:xfrm>
          <a:prstGeom prst="rect">
            <a:avLst/>
          </a:prstGeom>
          <a:noFill/>
          <a:ln/>
        </p:spPr>
        <p:txBody>
          <a:bodyPr wrap="square" lIns="0" tIns="0" rIns="0" bIns="0" rtlCol="0" anchor="t"/>
          <a:lstStyle/>
          <a:p>
            <a:pPr algn="r" indent="0" marL="0">
              <a:lnSpc>
                <a:spcPct val="104000"/>
              </a:lnSpc>
              <a:buNone/>
            </a:pPr>
            <a:r>
              <a:rPr lang="en-US" sz="970" b="1" dirty="0">
                <a:solidFill>
                  <a:srgbClr val="B3C3D6"/>
                </a:solidFill>
                <a:latin typeface="Arial" pitchFamily="34" charset="0"/>
                <a:ea typeface="Arial" pitchFamily="34" charset="-122"/>
                <a:cs typeface="Arial" pitchFamily="34" charset="-120"/>
              </a:rPr>
              <a:t>CHARLES DORNER</a:t>
            </a:r>
            <a:endParaRPr lang="en-US" sz="970" dirty="0"/>
          </a:p>
        </p:txBody>
      </p:sp>
      <p:sp>
        <p:nvSpPr>
          <p:cNvPr id="4" name="Text 2"/>
          <p:cNvSpPr txBox="1"/>
          <p:nvPr/>
        </p:nvSpPr>
        <p:spPr>
          <a:xfrm>
            <a:off x="548640" y="566928"/>
            <a:ext cx="11109960" cy="237744"/>
          </a:xfrm>
          <a:prstGeom prst="rect">
            <a:avLst/>
          </a:prstGeom>
          <a:noFill/>
          <a:ln/>
        </p:spPr>
        <p:txBody>
          <a:bodyPr wrap="square" lIns="0" tIns="0" rIns="0" bIns="0" rtlCol="0" anchor="t"/>
          <a:lstStyle/>
          <a:p>
            <a:pPr algn="l" indent="0" marL="0">
              <a:lnSpc>
                <a:spcPct val="104000"/>
              </a:lnSpc>
              <a:buNone/>
            </a:pPr>
            <a:r>
              <a:rPr lang="en-US" sz="1150" b="1" dirty="0">
                <a:solidFill>
                  <a:srgbClr val="71D5DD"/>
                </a:solidFill>
                <a:latin typeface="Arial" pitchFamily="34" charset="0"/>
                <a:ea typeface="Arial" pitchFamily="34" charset="-122"/>
                <a:cs typeface="Arial" pitchFamily="34" charset="-120"/>
              </a:rPr>
              <a:t>WORKED EXAMPLE · SOURCE-LEVEL REASONING</a:t>
            </a:r>
            <a:endParaRPr lang="en-US" sz="1150" dirty="0"/>
          </a:p>
        </p:txBody>
      </p:sp>
      <p:sp>
        <p:nvSpPr>
          <p:cNvPr id="5" name="Text 3"/>
          <p:cNvSpPr txBox="1"/>
          <p:nvPr/>
        </p:nvSpPr>
        <p:spPr>
          <a:xfrm>
            <a:off x="548640" y="941832"/>
            <a:ext cx="11091672" cy="676656"/>
          </a:xfrm>
          <a:prstGeom prst="rect">
            <a:avLst/>
          </a:prstGeom>
          <a:noFill/>
          <a:ln/>
        </p:spPr>
        <p:txBody>
          <a:bodyPr wrap="square" lIns="0" tIns="0" rIns="0" bIns="0" rtlCol="0" anchor="t"/>
          <a:lstStyle/>
          <a:p>
            <a:pPr algn="l" indent="0" marL="0">
              <a:lnSpc>
                <a:spcPct val="104000"/>
              </a:lnSpc>
              <a:buNone/>
            </a:pPr>
            <a:r>
              <a:rPr lang="en-US" sz="3150" b="1" dirty="0">
                <a:solidFill>
                  <a:srgbClr val="F4F7FB"/>
                </a:solidFill>
                <a:latin typeface="Arial" pitchFamily="34" charset="0"/>
                <a:ea typeface="Arial" pitchFamily="34" charset="-122"/>
                <a:cs typeface="Arial" pitchFamily="34" charset="-120"/>
              </a:rPr>
              <a:t>Trace x + 3 from a valid source state</a:t>
            </a:r>
            <a:endParaRPr lang="en-US" sz="3150" dirty="0"/>
          </a:p>
        </p:txBody>
      </p:sp>
      <p:sp>
        <p:nvSpPr>
          <p:cNvPr id="6" name="Shape 4"/>
          <p:cNvSpPr/>
          <p:nvPr/>
        </p:nvSpPr>
        <p:spPr>
          <a:xfrm>
            <a:off x="548640" y="1764792"/>
            <a:ext cx="11094720" cy="1225296"/>
          </a:xfrm>
          <a:prstGeom prst="rect">
            <a:avLst/>
          </a:prstGeom>
          <a:solidFill>
            <a:srgbClr val="172940"/>
          </a:solidFill>
          <a:ln w="8890">
            <a:solidFill>
              <a:srgbClr val="2B415A"/>
            </a:solidFill>
            <a:prstDash val="solid"/>
          </a:ln>
        </p:spPr>
        <p:txBody>
          <a:bodyPr/>
          <a:p/>
        </p:txBody>
      </p:sp>
      <p:sp>
        <p:nvSpPr>
          <p:cNvPr id="7" name="Text 5"/>
          <p:cNvSpPr txBox="1"/>
          <p:nvPr/>
        </p:nvSpPr>
        <p:spPr>
          <a:xfrm>
            <a:off x="777240" y="1924812"/>
            <a:ext cx="10637520" cy="475488"/>
          </a:xfrm>
          <a:prstGeom prst="rect">
            <a:avLst/>
          </a:prstGeom>
          <a:noFill/>
          <a:ln/>
        </p:spPr>
        <p:txBody>
          <a:bodyPr wrap="square" lIns="0" tIns="0" rIns="0" bIns="0" rtlCol="0" anchor="t"/>
          <a:lstStyle/>
          <a:p>
            <a:pPr algn="ctr" indent="0" marL="0">
              <a:lnSpc>
                <a:spcPct val="104000"/>
              </a:lnSpc>
              <a:buNone/>
            </a:pPr>
            <a:r>
              <a:rPr lang="en-US" sz="2900" b="1" dirty="0">
                <a:solidFill>
                  <a:srgbClr val="F1C984"/>
                </a:solidFill>
                <a:latin typeface="Arial" pitchFamily="34" charset="0"/>
                <a:ea typeface="Arial" pitchFamily="34" charset="-122"/>
                <a:cs typeface="Arial" pitchFamily="34" charset="-120"/>
              </a:rPr>
              <a:t>Precondition: x ≤ INT_MAX − 3</a:t>
            </a:r>
            <a:endParaRPr lang="en-US" sz="2900" dirty="0"/>
          </a:p>
        </p:txBody>
      </p:sp>
      <p:sp>
        <p:nvSpPr>
          <p:cNvPr id="8" name="Text 6"/>
          <p:cNvSpPr txBox="1"/>
          <p:nvPr/>
        </p:nvSpPr>
        <p:spPr>
          <a:xfrm>
            <a:off x="777240" y="2496312"/>
            <a:ext cx="10637520" cy="365760"/>
          </a:xfrm>
          <a:prstGeom prst="rect">
            <a:avLst/>
          </a:prstGeom>
          <a:noFill/>
          <a:ln/>
        </p:spPr>
        <p:txBody>
          <a:bodyPr wrap="square" lIns="0" tIns="0" rIns="0" bIns="0" rtlCol="0" anchor="t"/>
          <a:lstStyle/>
          <a:p>
            <a:pPr algn="ctr" indent="0" marL="0">
              <a:lnSpc>
                <a:spcPct val="104000"/>
              </a:lnSpc>
              <a:buNone/>
            </a:pPr>
            <a:r>
              <a:rPr lang="en-US" sz="2280" dirty="0">
                <a:solidFill>
                  <a:srgbClr val="F4F7FB"/>
                </a:solidFill>
                <a:latin typeface="Arial" pitchFamily="34" charset="0"/>
                <a:ea typeface="Arial" pitchFamily="34" charset="-122"/>
                <a:cs typeface="Arial" pitchFamily="34" charset="-120"/>
              </a:rPr>
              <a:t>Postcondition: y = x + 3</a:t>
            </a:r>
            <a:endParaRPr lang="en-US" sz="2280" dirty="0"/>
          </a:p>
        </p:txBody>
      </p:sp>
      <p:sp>
        <p:nvSpPr>
          <p:cNvPr id="9" name="Shape 7"/>
          <p:cNvSpPr/>
          <p:nvPr/>
        </p:nvSpPr>
        <p:spPr>
          <a:xfrm>
            <a:off x="548640" y="3227832"/>
            <a:ext cx="3564128" cy="1847088"/>
          </a:xfrm>
          <a:prstGeom prst="rect">
            <a:avLst/>
          </a:prstGeom>
          <a:solidFill>
            <a:srgbClr val="142238"/>
          </a:solidFill>
          <a:ln w="8890">
            <a:solidFill>
              <a:srgbClr val="2B415A"/>
            </a:solidFill>
            <a:prstDash val="solid"/>
          </a:ln>
        </p:spPr>
        <p:txBody>
          <a:bodyPr/>
          <a:p/>
        </p:txBody>
      </p:sp>
      <p:sp>
        <p:nvSpPr>
          <p:cNvPr id="10" name="Shape 8"/>
          <p:cNvSpPr/>
          <p:nvPr/>
        </p:nvSpPr>
        <p:spPr>
          <a:xfrm>
            <a:off x="548640" y="3227832"/>
            <a:ext cx="41148" cy="1847088"/>
          </a:xfrm>
          <a:prstGeom prst="rect">
            <a:avLst/>
          </a:prstGeom>
          <a:solidFill>
            <a:srgbClr val="71D5DD"/>
          </a:solidFill>
          <a:ln w="8890">
            <a:solidFill>
              <a:srgbClr val="71D5DD"/>
            </a:solidFill>
            <a:prstDash val="solid"/>
          </a:ln>
        </p:spPr>
        <p:txBody>
          <a:bodyPr/>
          <a:p/>
        </p:txBody>
      </p:sp>
      <p:sp>
        <p:nvSpPr>
          <p:cNvPr id="11" name="Text 9"/>
          <p:cNvSpPr txBox="1"/>
          <p:nvPr/>
        </p:nvSpPr>
        <p:spPr>
          <a:xfrm>
            <a:off x="758952" y="3438144"/>
            <a:ext cx="3134360" cy="557784"/>
          </a:xfrm>
          <a:prstGeom prst="rect">
            <a:avLst/>
          </a:prstGeom>
          <a:noFill/>
          <a:ln/>
        </p:spPr>
        <p:txBody>
          <a:bodyPr wrap="square" lIns="0" tIns="0" rIns="0" bIns="0" rtlCol="0" anchor="t"/>
          <a:lstStyle/>
          <a:p>
            <a:pPr algn="l" indent="0" marL="0">
              <a:lnSpc>
                <a:spcPct val="104000"/>
              </a:lnSpc>
              <a:buNone/>
            </a:pPr>
            <a:r>
              <a:rPr lang="en-US" sz="1550" b="1" dirty="0">
                <a:solidFill>
                  <a:srgbClr val="71D5DD"/>
                </a:solidFill>
                <a:latin typeface="Arial" pitchFamily="34" charset="0"/>
                <a:ea typeface="Arial" pitchFamily="34" charset="-122"/>
                <a:cs typeface="Arial" pitchFamily="34" charset="-120"/>
              </a:rPr>
              <a:t>INPUT</a:t>
            </a:r>
            <a:endParaRPr lang="en-US" sz="1550" dirty="0"/>
          </a:p>
        </p:txBody>
      </p:sp>
      <p:sp>
        <p:nvSpPr>
          <p:cNvPr id="12" name="Text 10"/>
          <p:cNvSpPr txBox="1"/>
          <p:nvPr/>
        </p:nvSpPr>
        <p:spPr>
          <a:xfrm>
            <a:off x="758952" y="4105656"/>
            <a:ext cx="3134360" cy="804672"/>
          </a:xfrm>
          <a:prstGeom prst="rect">
            <a:avLst/>
          </a:prstGeom>
          <a:noFill/>
          <a:ln/>
        </p:spPr>
        <p:txBody>
          <a:bodyPr wrap="square" lIns="0" tIns="0" rIns="0" bIns="0" rtlCol="0" anchor="t"/>
          <a:lstStyle/>
          <a:p>
            <a:pPr algn="l" indent="0" marL="0">
              <a:lnSpc>
                <a:spcPct val="104000"/>
              </a:lnSpc>
              <a:buNone/>
            </a:pPr>
            <a:r>
              <a:rPr lang="en-US" sz="1925" dirty="0">
                <a:solidFill>
                  <a:srgbClr val="F4F7FB"/>
                </a:solidFill>
                <a:latin typeface="Arial" pitchFamily="34" charset="0"/>
                <a:ea typeface="Arial" pitchFamily="34" charset="-122"/>
                <a:cs typeface="Arial" pitchFamily="34" charset="-120"/>
              </a:rPr>
              <a:t>x is a valid int, read within</a:t>
            </a:r>
            <a:endParaRPr lang="en-US" sz="1925" dirty="0"/>
          </a:p>
          <a:p>
            <a:pPr algn="l" indent="0" marL="0">
              <a:lnSpc>
                <a:spcPct val="104000"/>
              </a:lnSpc>
              <a:buNone/>
            </a:pPr>
            <a:r>
              <a:rPr lang="en-US" sz="1925" dirty="0">
                <a:solidFill>
                  <a:srgbClr val="F4F7FB"/>
                </a:solidFill>
                <a:latin typeface="Arial" pitchFamily="34" charset="0"/>
                <a:ea typeface="Arial" pitchFamily="34" charset="-122"/>
                <a:cs typeface="Arial" pitchFamily="34" charset="-120"/>
              </a:rPr>
              <a:t>its lifetime and access rules.</a:t>
            </a:r>
            <a:endParaRPr lang="en-US" sz="1925" dirty="0"/>
          </a:p>
        </p:txBody>
      </p:sp>
      <p:sp>
        <p:nvSpPr>
          <p:cNvPr id="13" name="Shape 11"/>
          <p:cNvSpPr/>
          <p:nvPr/>
        </p:nvSpPr>
        <p:spPr>
          <a:xfrm>
            <a:off x="4313936" y="3227832"/>
            <a:ext cx="3564128" cy="1847088"/>
          </a:xfrm>
          <a:prstGeom prst="rect">
            <a:avLst/>
          </a:prstGeom>
          <a:solidFill>
            <a:srgbClr val="142238"/>
          </a:solidFill>
          <a:ln w="8890">
            <a:solidFill>
              <a:srgbClr val="2B415A"/>
            </a:solidFill>
            <a:prstDash val="solid"/>
          </a:ln>
        </p:spPr>
        <p:txBody>
          <a:bodyPr/>
          <a:p/>
        </p:txBody>
      </p:sp>
      <p:sp>
        <p:nvSpPr>
          <p:cNvPr id="14" name="Shape 12"/>
          <p:cNvSpPr/>
          <p:nvPr/>
        </p:nvSpPr>
        <p:spPr>
          <a:xfrm>
            <a:off x="4313936" y="3227832"/>
            <a:ext cx="41148" cy="1847088"/>
          </a:xfrm>
          <a:prstGeom prst="rect">
            <a:avLst/>
          </a:prstGeom>
          <a:solidFill>
            <a:srgbClr val="71D5DD"/>
          </a:solidFill>
          <a:ln w="8890">
            <a:solidFill>
              <a:srgbClr val="71D5DD"/>
            </a:solidFill>
            <a:prstDash val="solid"/>
          </a:ln>
        </p:spPr>
        <p:txBody>
          <a:bodyPr/>
          <a:p/>
        </p:txBody>
      </p:sp>
      <p:sp>
        <p:nvSpPr>
          <p:cNvPr id="15" name="Text 13"/>
          <p:cNvSpPr txBox="1"/>
          <p:nvPr/>
        </p:nvSpPr>
        <p:spPr>
          <a:xfrm>
            <a:off x="4524248" y="3438144"/>
            <a:ext cx="3134360" cy="557784"/>
          </a:xfrm>
          <a:prstGeom prst="rect">
            <a:avLst/>
          </a:prstGeom>
          <a:noFill/>
          <a:ln/>
        </p:spPr>
        <p:txBody>
          <a:bodyPr wrap="square" lIns="0" tIns="0" rIns="0" bIns="0" rtlCol="0" anchor="t"/>
          <a:lstStyle/>
          <a:p>
            <a:pPr algn="l" indent="0" marL="0">
              <a:lnSpc>
                <a:spcPct val="104000"/>
              </a:lnSpc>
              <a:buNone/>
            </a:pPr>
            <a:r>
              <a:rPr lang="en-US" sz="1550" b="1" dirty="0">
                <a:solidFill>
                  <a:srgbClr val="71D5DD"/>
                </a:solidFill>
                <a:latin typeface="Arial" pitchFamily="34" charset="0"/>
                <a:ea typeface="Arial" pitchFamily="34" charset="-122"/>
                <a:cs typeface="Arial" pitchFamily="34" charset="-120"/>
              </a:rPr>
              <a:t>ARITHMETIC</a:t>
            </a:r>
            <a:endParaRPr lang="en-US" sz="1550" dirty="0"/>
          </a:p>
        </p:txBody>
      </p:sp>
      <p:sp>
        <p:nvSpPr>
          <p:cNvPr id="16" name="Text 14"/>
          <p:cNvSpPr txBox="1"/>
          <p:nvPr/>
        </p:nvSpPr>
        <p:spPr>
          <a:xfrm>
            <a:off x="4524248" y="4105656"/>
            <a:ext cx="3134360" cy="804672"/>
          </a:xfrm>
          <a:prstGeom prst="rect">
            <a:avLst/>
          </a:prstGeom>
          <a:noFill/>
          <a:ln/>
        </p:spPr>
        <p:txBody>
          <a:bodyPr wrap="square" lIns="0" tIns="0" rIns="0" bIns="0" rtlCol="0" anchor="t"/>
          <a:lstStyle/>
          <a:p>
            <a:pPr algn="l" indent="0" marL="0">
              <a:lnSpc>
                <a:spcPct val="104000"/>
              </a:lnSpc>
              <a:buNone/>
            </a:pPr>
            <a:r>
              <a:rPr lang="en-US" sz="1950" dirty="0">
                <a:solidFill>
                  <a:srgbClr val="F4F7FB"/>
                </a:solidFill>
                <a:latin typeface="Arial" pitchFamily="34" charset="0"/>
                <a:ea typeface="Arial" pitchFamily="34" charset="-122"/>
                <a:cs typeface="Arial" pitchFamily="34" charset="-120"/>
              </a:rPr>
              <a:t>The mathematical sum</a:t>
            </a:r>
            <a:endParaRPr lang="en-US" sz="1950" dirty="0"/>
          </a:p>
          <a:p>
            <a:pPr algn="l" indent="0" marL="0">
              <a:lnSpc>
                <a:spcPct val="104000"/>
              </a:lnSpc>
              <a:buNone/>
            </a:pPr>
            <a:r>
              <a:rPr lang="en-US" sz="1950" dirty="0">
                <a:solidFill>
                  <a:srgbClr val="F4F7FB"/>
                </a:solidFill>
                <a:latin typeface="Arial" pitchFamily="34" charset="0"/>
                <a:ea typeface="Arial" pitchFamily="34" charset="-122"/>
                <a:cs typeface="Arial" pitchFamily="34" charset="-120"/>
              </a:rPr>
              <a:t>must be representable.</a:t>
            </a:r>
            <a:endParaRPr lang="en-US" sz="1950" dirty="0"/>
          </a:p>
        </p:txBody>
      </p:sp>
      <p:sp>
        <p:nvSpPr>
          <p:cNvPr id="17" name="Shape 15"/>
          <p:cNvSpPr/>
          <p:nvPr/>
        </p:nvSpPr>
        <p:spPr>
          <a:xfrm>
            <a:off x="8079232" y="3227832"/>
            <a:ext cx="3564128" cy="1847088"/>
          </a:xfrm>
          <a:prstGeom prst="rect">
            <a:avLst/>
          </a:prstGeom>
          <a:solidFill>
            <a:srgbClr val="142238"/>
          </a:solidFill>
          <a:ln w="8890">
            <a:solidFill>
              <a:srgbClr val="2B415A"/>
            </a:solidFill>
            <a:prstDash val="solid"/>
          </a:ln>
        </p:spPr>
        <p:txBody>
          <a:bodyPr/>
          <a:p/>
        </p:txBody>
      </p:sp>
      <p:sp>
        <p:nvSpPr>
          <p:cNvPr id="18" name="Shape 16"/>
          <p:cNvSpPr/>
          <p:nvPr/>
        </p:nvSpPr>
        <p:spPr>
          <a:xfrm>
            <a:off x="8079232" y="3227832"/>
            <a:ext cx="41148" cy="1847088"/>
          </a:xfrm>
          <a:prstGeom prst="rect">
            <a:avLst/>
          </a:prstGeom>
          <a:solidFill>
            <a:srgbClr val="71D5DD"/>
          </a:solidFill>
          <a:ln w="8890">
            <a:solidFill>
              <a:srgbClr val="71D5DD"/>
            </a:solidFill>
            <a:prstDash val="solid"/>
          </a:ln>
        </p:spPr>
        <p:txBody>
          <a:bodyPr/>
          <a:p/>
        </p:txBody>
      </p:sp>
      <p:sp>
        <p:nvSpPr>
          <p:cNvPr id="19" name="Text 17"/>
          <p:cNvSpPr txBox="1"/>
          <p:nvPr/>
        </p:nvSpPr>
        <p:spPr>
          <a:xfrm>
            <a:off x="8289544" y="3438144"/>
            <a:ext cx="3134360" cy="557784"/>
          </a:xfrm>
          <a:prstGeom prst="rect">
            <a:avLst/>
          </a:prstGeom>
          <a:noFill/>
          <a:ln/>
        </p:spPr>
        <p:txBody>
          <a:bodyPr wrap="square" lIns="0" tIns="0" rIns="0" bIns="0" rtlCol="0" anchor="t"/>
          <a:lstStyle/>
          <a:p>
            <a:pPr algn="l" indent="0" marL="0">
              <a:lnSpc>
                <a:spcPct val="104000"/>
              </a:lnSpc>
              <a:buNone/>
            </a:pPr>
            <a:r>
              <a:rPr lang="en-US" sz="1550" b="1" dirty="0">
                <a:solidFill>
                  <a:srgbClr val="71D5DD"/>
                </a:solidFill>
                <a:latin typeface="Arial" pitchFamily="34" charset="0"/>
                <a:ea typeface="Arial" pitchFamily="34" charset="-122"/>
                <a:cs typeface="Arial" pitchFamily="34" charset="-120"/>
              </a:rPr>
              <a:t>OBSERVATION</a:t>
            </a:r>
            <a:endParaRPr lang="en-US" sz="1550" dirty="0"/>
          </a:p>
        </p:txBody>
      </p:sp>
      <p:sp>
        <p:nvSpPr>
          <p:cNvPr id="20" name="Text 18"/>
          <p:cNvSpPr txBox="1"/>
          <p:nvPr/>
        </p:nvSpPr>
        <p:spPr>
          <a:xfrm>
            <a:off x="8289544" y="4105656"/>
            <a:ext cx="3134360" cy="804672"/>
          </a:xfrm>
          <a:prstGeom prst="rect">
            <a:avLst/>
          </a:prstGeom>
          <a:noFill/>
          <a:ln/>
        </p:spPr>
        <p:txBody>
          <a:bodyPr wrap="square" lIns="0" tIns="0" rIns="0" bIns="0" rtlCol="0" anchor="t"/>
          <a:lstStyle/>
          <a:p>
            <a:pPr algn="l" indent="0" marL="0">
              <a:lnSpc>
                <a:spcPct val="104000"/>
              </a:lnSpc>
              <a:buNone/>
            </a:pPr>
            <a:r>
              <a:rPr lang="en-US" sz="1850" dirty="0">
                <a:solidFill>
                  <a:srgbClr val="F4F7FB"/>
                </a:solidFill>
                <a:latin typeface="Arial" pitchFamily="34" charset="0"/>
                <a:ea typeface="Arial" pitchFamily="34" charset="-122"/>
                <a:cs typeface="Arial" pitchFamily="34" charset="-120"/>
              </a:rPr>
              <a:t>The surrounding program</a:t>
            </a:r>
            <a:endParaRPr lang="en-US" sz="1850" dirty="0"/>
          </a:p>
          <a:p>
            <a:pPr algn="l" indent="0" marL="0">
              <a:lnSpc>
                <a:spcPct val="104000"/>
              </a:lnSpc>
              <a:buNone/>
            </a:pPr>
            <a:r>
              <a:rPr lang="en-US" sz="1850" dirty="0">
                <a:solidFill>
                  <a:srgbClr val="F4F7FB"/>
                </a:solidFill>
                <a:latin typeface="Arial" pitchFamily="34" charset="0"/>
                <a:ea typeface="Arial" pitchFamily="34" charset="-122"/>
                <a:cs typeface="Arial" pitchFamily="34" charset="-120"/>
              </a:rPr>
              <a:t>determines whether y must</a:t>
            </a:r>
            <a:endParaRPr lang="en-US" sz="1850" dirty="0"/>
          </a:p>
          <a:p>
            <a:pPr algn="l" indent="0" marL="0">
              <a:lnSpc>
                <a:spcPct val="104000"/>
              </a:lnSpc>
              <a:buNone/>
            </a:pPr>
            <a:r>
              <a:rPr lang="en-US" sz="1850" dirty="0">
                <a:solidFill>
                  <a:srgbClr val="F4F7FB"/>
                </a:solidFill>
                <a:latin typeface="Arial" pitchFamily="34" charset="0"/>
                <a:ea typeface="Arial" pitchFamily="34" charset="-122"/>
                <a:cs typeface="Arial" pitchFamily="34" charset="-120"/>
              </a:rPr>
              <a:t>be retained.</a:t>
            </a:r>
            <a:endParaRPr lang="en-US" sz="1850" dirty="0"/>
          </a:p>
        </p:txBody>
      </p:sp>
      <p:sp>
        <p:nvSpPr>
          <p:cNvPr id="21" name="Text 19"/>
          <p:cNvSpPr txBox="1"/>
          <p:nvPr/>
        </p:nvSpPr>
        <p:spPr>
          <a:xfrm>
            <a:off x="548640" y="5193792"/>
            <a:ext cx="11094720" cy="274320"/>
          </a:xfrm>
          <a:prstGeom prst="rect">
            <a:avLst/>
          </a:prstGeom>
          <a:noFill/>
          <a:ln/>
        </p:spPr>
        <p:txBody>
          <a:bodyPr wrap="square" lIns="0" tIns="0" rIns="0" bIns="0" rtlCol="0" anchor="t"/>
          <a:lstStyle/>
          <a:p>
            <a:pPr algn="l" indent="0" marL="0">
              <a:lnSpc>
                <a:spcPct val="104000"/>
              </a:lnSpc>
              <a:buNone/>
            </a:pPr>
            <a:r>
              <a:rPr lang="en-US" sz="1140" dirty="0">
                <a:solidFill>
                  <a:srgbClr val="B3C3D6"/>
                </a:solidFill>
                <a:latin typeface="Arial" pitchFamily="34" charset="0"/>
                <a:ea typeface="Arial" pitchFamily="34" charset="-122"/>
                <a:cs typeface="Arial" pitchFamily="34" charset="-120"/>
              </a:rPr>
              <a:t>The language-level contract is established before selecting or inspecting instructions.</a:t>
            </a:r>
            <a:endParaRPr lang="en-US" sz="1140" dirty="0"/>
          </a:p>
        </p:txBody>
      </p:sp>
      <p:sp>
        <p:nvSpPr>
          <p:cNvPr id="26" name="Text 24"/>
          <p:cNvSpPr txBox="1"/>
          <p:nvPr/>
        </p:nvSpPr>
        <p:spPr>
          <a:xfrm>
            <a:off x="548640" y="6601968"/>
            <a:ext cx="10241280" cy="128016"/>
          </a:xfrm>
          <a:prstGeom prst="rect">
            <a:avLst/>
          </a:prstGeom>
          <a:noFill/>
          <a:ln/>
        </p:spPr>
        <p:txBody>
          <a:bodyPr wrap="square" lIns="0" tIns="0" rIns="0" bIns="0" rtlCol="0" anchor="t"/>
          <a:lstStyle/>
          <a:p>
            <a:pPr algn="l" indent="0" marL="0">
              <a:lnSpc>
                <a:spcPct val="104000"/>
              </a:lnSpc>
              <a:buNone/>
            </a:pPr>
            <a:r>
              <a:rPr lang="en-US" sz="830" dirty="0">
                <a:solidFill>
                  <a:srgbClr val="B3C3D6"/>
                </a:solidFill>
                <a:latin typeface="Arial" pitchFamily="34" charset="0"/>
                <a:ea typeface="Arial" pitchFamily="34" charset="-122"/>
                <a:cs typeface="Arial" pitchFamily="34" charset="-120"/>
              </a:rPr>
              <a:t>Source: original 8, 18 • Graduate extension • [LANG]</a:t>
            </a:r>
            <a:endParaRPr lang="en-US" sz="830" dirty="0"/>
          </a:p>
        </p:txBody>
      </p:sp>
      <p:sp>
        <p:nvSpPr>
          <p:cNvPr id="27" name="Text 25"/>
          <p:cNvSpPr txBox="1"/>
          <p:nvPr/>
        </p:nvSpPr>
        <p:spPr>
          <a:xfrm>
            <a:off x="10917936" y="6565392"/>
            <a:ext cx="722376" cy="219456"/>
          </a:xfrm>
          <a:prstGeom prst="rect">
            <a:avLst/>
          </a:prstGeom>
          <a:noFill/>
          <a:ln/>
        </p:spPr>
        <p:txBody>
          <a:bodyPr wrap="square" lIns="0" tIns="0" rIns="0" bIns="0" rtlCol="0" anchor="t"/>
          <a:lstStyle/>
          <a:p>
            <a:pPr algn="r" indent="0" marL="0">
              <a:lnSpc>
                <a:spcPct val="104000"/>
              </a:lnSpc>
              <a:buNone/>
            </a:pPr>
            <a:r>
              <a:rPr lang="en-US" sz="1050" dirty="0">
                <a:solidFill>
                  <a:srgbClr val="B3C3D6"/>
                </a:solidFill>
                <a:latin typeface="Arial" pitchFamily="34" charset="0"/>
                <a:ea typeface="Arial" pitchFamily="34" charset="-122"/>
                <a:cs typeface="Arial" pitchFamily="34" charset="-120"/>
              </a:rPr>
              <a:t>35 / 64</a:t>
            </a:r>
            <a:endParaRPr lang="en-US" sz="1050" dirty="0"/>
          </a:p>
        </p:txBody>
      </p:sp>
      <p:sp>
        <p:nvSpPr>
          <p:cNvPr id="28" name="Shape 26"/>
          <p:cNvSpPr/>
          <p:nvPr/>
        </p:nvSpPr>
        <p:spPr>
          <a:xfrm>
            <a:off x="0" y="6834226"/>
            <a:ext cx="12192000" cy="23774"/>
          </a:xfrm>
          <a:prstGeom prst="rect">
            <a:avLst/>
          </a:prstGeom>
          <a:solidFill>
            <a:srgbClr val="2B415A"/>
          </a:solidFill>
          <a:ln w="8890">
            <a:solidFill>
              <a:srgbClr val="2B415A"/>
            </a:solidFill>
            <a:prstDash val="solid"/>
          </a:ln>
        </p:spPr>
        <p:txBody>
          <a:bodyPr/>
          <a:p/>
        </p:txBody>
      </p:sp>
      <p:sp>
        <p:nvSpPr>
          <p:cNvPr id="29" name="Shape 27"/>
          <p:cNvSpPr/>
          <p:nvPr/>
        </p:nvSpPr>
        <p:spPr>
          <a:xfrm>
            <a:off x="0" y="6834226"/>
            <a:ext cx="6667500" cy="23774"/>
          </a:xfrm>
          <a:prstGeom prst="rect">
            <a:avLst/>
          </a:prstGeom>
          <a:solidFill>
            <a:srgbClr val="71D5DD"/>
          </a:solidFill>
          <a:ln w="8890">
            <a:solidFill>
              <a:srgbClr val="71D5DD"/>
            </a:solidFill>
            <a:prstDash val="solid"/>
          </a:ln>
        </p:spPr>
        <p:txBody>
          <a:body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548640" y="219456"/>
            <a:ext cx="9875520" cy="192024"/>
          </a:xfrm>
          <a:prstGeom prst="rect">
            <a:avLst/>
          </a:prstGeom>
          <a:noFill/>
          <a:ln/>
        </p:spPr>
        <p:txBody>
          <a:bodyPr wrap="square" lIns="0" tIns="0" rIns="0" bIns="0" rtlCol="0" anchor="t"/>
          <a:lstStyle/>
          <a:p>
            <a:pPr algn="l" indent="0" marL="0">
              <a:lnSpc>
                <a:spcPct val="104000"/>
              </a:lnSpc>
              <a:buNone/>
            </a:pPr>
            <a:r>
              <a:rPr lang="en-US" sz="970" b="1" spc="135" kern="0" dirty="0">
                <a:solidFill>
                  <a:srgbClr val="B3C3D6"/>
                </a:solidFill>
                <a:latin typeface="Arial" pitchFamily="34" charset="0"/>
                <a:ea typeface="Arial" pitchFamily="34" charset="-122"/>
                <a:cs typeface="Arial" pitchFamily="34" charset="-120"/>
              </a:rPr>
              <a:t>SYSTEMS PROGRAMMING AND MACHINE ORGANIZATION</a:t>
            </a:r>
            <a:endParaRPr lang="en-US" sz="970" dirty="0"/>
          </a:p>
        </p:txBody>
      </p:sp>
      <p:sp>
        <p:nvSpPr>
          <p:cNvPr id="3" name="Text 1"/>
          <p:cNvSpPr txBox="1"/>
          <p:nvPr/>
        </p:nvSpPr>
        <p:spPr>
          <a:xfrm>
            <a:off x="9601200" y="219456"/>
            <a:ext cx="2039112" cy="192024"/>
          </a:xfrm>
          <a:prstGeom prst="rect">
            <a:avLst/>
          </a:prstGeom>
          <a:noFill/>
          <a:ln/>
        </p:spPr>
        <p:txBody>
          <a:bodyPr wrap="square" lIns="0" tIns="0" rIns="0" bIns="0" rtlCol="0" anchor="t"/>
          <a:lstStyle/>
          <a:p>
            <a:pPr algn="r" indent="0" marL="0">
              <a:lnSpc>
                <a:spcPct val="104000"/>
              </a:lnSpc>
              <a:buNone/>
            </a:pPr>
            <a:r>
              <a:rPr lang="en-US" sz="970" b="1" dirty="0">
                <a:solidFill>
                  <a:srgbClr val="B3C3D6"/>
                </a:solidFill>
                <a:latin typeface="Arial" pitchFamily="34" charset="0"/>
                <a:ea typeface="Arial" pitchFamily="34" charset="-122"/>
                <a:cs typeface="Arial" pitchFamily="34" charset="-120"/>
              </a:rPr>
              <a:t>CHARLES DORNER</a:t>
            </a:r>
            <a:endParaRPr lang="en-US" sz="970" dirty="0"/>
          </a:p>
        </p:txBody>
      </p:sp>
      <p:sp>
        <p:nvSpPr>
          <p:cNvPr id="4" name="Text 2"/>
          <p:cNvSpPr txBox="1"/>
          <p:nvPr/>
        </p:nvSpPr>
        <p:spPr>
          <a:xfrm>
            <a:off x="548640" y="566928"/>
            <a:ext cx="11109960" cy="237744"/>
          </a:xfrm>
          <a:prstGeom prst="rect">
            <a:avLst/>
          </a:prstGeom>
          <a:noFill/>
          <a:ln/>
        </p:spPr>
        <p:txBody>
          <a:bodyPr wrap="square" lIns="0" tIns="0" rIns="0" bIns="0" rtlCol="0" anchor="t"/>
          <a:lstStyle/>
          <a:p>
            <a:pPr algn="l" indent="0" marL="0">
              <a:lnSpc>
                <a:spcPct val="104000"/>
              </a:lnSpc>
              <a:buNone/>
            </a:pPr>
            <a:r>
              <a:rPr lang="en-US" sz="1150" b="1" dirty="0">
                <a:solidFill>
                  <a:srgbClr val="71D5DD"/>
                </a:solidFill>
                <a:latin typeface="Arial" pitchFamily="34" charset="0"/>
                <a:ea typeface="Arial" pitchFamily="34" charset="-122"/>
                <a:cs typeface="Arial" pitchFamily="34" charset="-120"/>
              </a:rPr>
              <a:t>WORKED EXAMPLE · MACHINE-LEVEL REASONING</a:t>
            </a:r>
            <a:endParaRPr lang="en-US" sz="1150" dirty="0"/>
          </a:p>
        </p:txBody>
      </p:sp>
      <p:sp>
        <p:nvSpPr>
          <p:cNvPr id="5" name="Text 3"/>
          <p:cNvSpPr txBox="1"/>
          <p:nvPr/>
        </p:nvSpPr>
        <p:spPr>
          <a:xfrm>
            <a:off x="548640" y="941832"/>
            <a:ext cx="11091672" cy="676656"/>
          </a:xfrm>
          <a:prstGeom prst="rect">
            <a:avLst/>
          </a:prstGeom>
          <a:noFill/>
          <a:ln/>
        </p:spPr>
        <p:txBody>
          <a:bodyPr wrap="square" lIns="0" tIns="0" rIns="0" bIns="0" rtlCol="0" anchor="t"/>
          <a:lstStyle/>
          <a:p>
            <a:pPr algn="l" indent="0" marL="0">
              <a:lnSpc>
                <a:spcPct val="104000"/>
              </a:lnSpc>
              <a:buNone/>
            </a:pPr>
            <a:r>
              <a:rPr lang="en-US" sz="3150" b="1" dirty="0">
                <a:solidFill>
                  <a:srgbClr val="F4F7FB"/>
                </a:solidFill>
                <a:latin typeface="Arial" pitchFamily="34" charset="0"/>
                <a:ea typeface="Arial" pitchFamily="34" charset="-122"/>
                <a:cs typeface="Arial" pitchFamily="34" charset="-120"/>
              </a:rPr>
              <a:t>Trace the same expression into architectural state</a:t>
            </a:r>
            <a:endParaRPr lang="en-US" sz="3150" dirty="0"/>
          </a:p>
        </p:txBody>
      </p:sp>
      <p:sp>
        <p:nvSpPr>
          <p:cNvPr id="6" name="Shape 4"/>
          <p:cNvSpPr/>
          <p:nvPr/>
        </p:nvSpPr>
        <p:spPr>
          <a:xfrm>
            <a:off x="548640" y="1883664"/>
            <a:ext cx="2058010" cy="941832"/>
          </a:xfrm>
          <a:prstGeom prst="rect">
            <a:avLst/>
          </a:prstGeom>
          <a:solidFill>
            <a:srgbClr val="172940"/>
          </a:solidFill>
          <a:ln w="8890">
            <a:solidFill>
              <a:srgbClr val="2B415A"/>
            </a:solidFill>
            <a:prstDash val="solid"/>
          </a:ln>
        </p:spPr>
        <p:txBody>
          <a:bodyPr/>
          <a:p/>
        </p:txBody>
      </p:sp>
      <p:sp>
        <p:nvSpPr>
          <p:cNvPr id="7" name="Text 5"/>
          <p:cNvSpPr txBox="1"/>
          <p:nvPr/>
        </p:nvSpPr>
        <p:spPr>
          <a:xfrm>
            <a:off x="640080" y="2084832"/>
            <a:ext cx="1875130" cy="548640"/>
          </a:xfrm>
          <a:prstGeom prst="rect">
            <a:avLst/>
          </a:prstGeom>
          <a:noFill/>
          <a:ln/>
        </p:spPr>
        <p:txBody>
          <a:bodyPr wrap="square" lIns="0" tIns="0" rIns="0" bIns="0" rtlCol="0" anchor="t"/>
          <a:lstStyle/>
          <a:p>
            <a:pPr algn="ctr" indent="0" marL="0">
              <a:lnSpc>
                <a:spcPct val="104000"/>
              </a:lnSpc>
              <a:buNone/>
            </a:pPr>
            <a:r>
              <a:rPr lang="en-US" sz="1800" b="1" dirty="0">
                <a:solidFill>
                  <a:srgbClr val="F4F7FB"/>
                </a:solidFill>
                <a:latin typeface="Arial" pitchFamily="34" charset="0"/>
                <a:ea typeface="Arial" pitchFamily="34" charset="-122"/>
                <a:cs typeface="Arial" pitchFamily="34" charset="-120"/>
              </a:rPr>
              <a:t>Valid C</a:t>
            </a:r>
            <a:endParaRPr lang="en-US" sz="1800" dirty="0"/>
          </a:p>
          <a:p>
            <a:pPr algn="ctr" indent="0" marL="0">
              <a:lnSpc>
                <a:spcPct val="104000"/>
              </a:lnSpc>
              <a:buNone/>
            </a:pPr>
            <a:r>
              <a:rPr lang="en-US" sz="1800" b="1" dirty="0">
                <a:solidFill>
                  <a:srgbClr val="F4F7FB"/>
                </a:solidFill>
                <a:latin typeface="Arial" pitchFamily="34" charset="0"/>
                <a:ea typeface="Arial" pitchFamily="34" charset="-122"/>
                <a:cs typeface="Arial" pitchFamily="34" charset="-120"/>
              </a:rPr>
              <a:t>expression</a:t>
            </a:r>
            <a:endParaRPr lang="en-US" sz="1800" dirty="0"/>
          </a:p>
        </p:txBody>
      </p:sp>
      <p:sp>
        <p:nvSpPr>
          <p:cNvPr id="8" name="Shape 6"/>
          <p:cNvSpPr/>
          <p:nvPr/>
        </p:nvSpPr>
        <p:spPr>
          <a:xfrm>
            <a:off x="2629510" y="2354580"/>
            <a:ext cx="155448" cy="0"/>
          </a:xfrm>
          <a:prstGeom prst="line">
            <a:avLst/>
          </a:prstGeom>
          <a:noFill/>
          <a:ln w="19050">
            <a:solidFill>
              <a:srgbClr val="71D5DD"/>
            </a:solidFill>
            <a:prstDash val="solid"/>
            <a:headEnd type="none"/>
            <a:tailEnd type="triangle"/>
          </a:ln>
        </p:spPr>
        <p:txBody>
          <a:bodyPr/>
          <a:p/>
        </p:txBody>
      </p:sp>
      <p:sp>
        <p:nvSpPr>
          <p:cNvPr id="9" name="Shape 7"/>
          <p:cNvSpPr/>
          <p:nvPr/>
        </p:nvSpPr>
        <p:spPr>
          <a:xfrm>
            <a:off x="2807818" y="1883664"/>
            <a:ext cx="2058010" cy="941832"/>
          </a:xfrm>
          <a:prstGeom prst="rect">
            <a:avLst/>
          </a:prstGeom>
          <a:solidFill>
            <a:srgbClr val="172940"/>
          </a:solidFill>
          <a:ln w="8890">
            <a:solidFill>
              <a:srgbClr val="2B415A"/>
            </a:solidFill>
            <a:prstDash val="solid"/>
          </a:ln>
        </p:spPr>
        <p:txBody>
          <a:bodyPr/>
          <a:p/>
        </p:txBody>
      </p:sp>
      <p:sp>
        <p:nvSpPr>
          <p:cNvPr id="10" name="Text 8"/>
          <p:cNvSpPr txBox="1"/>
          <p:nvPr/>
        </p:nvSpPr>
        <p:spPr>
          <a:xfrm>
            <a:off x="2899258" y="2084832"/>
            <a:ext cx="1875130" cy="548640"/>
          </a:xfrm>
          <a:prstGeom prst="rect">
            <a:avLst/>
          </a:prstGeom>
          <a:noFill/>
          <a:ln/>
        </p:spPr>
        <p:txBody>
          <a:bodyPr wrap="square" lIns="0" tIns="0" rIns="0" bIns="0" rtlCol="0" anchor="t"/>
          <a:lstStyle/>
          <a:p>
            <a:pPr algn="ctr" indent="0" marL="0">
              <a:lnSpc>
                <a:spcPct val="104000"/>
              </a:lnSpc>
              <a:buNone/>
            </a:pPr>
            <a:r>
              <a:rPr lang="en-US" sz="1800" b="1" dirty="0">
                <a:solidFill>
                  <a:srgbClr val="F4F7FB"/>
                </a:solidFill>
                <a:latin typeface="Arial" pitchFamily="34" charset="0"/>
                <a:ea typeface="Arial" pitchFamily="34" charset="-122"/>
                <a:cs typeface="Arial" pitchFamily="34" charset="-120"/>
              </a:rPr>
              <a:t>Target</a:t>
            </a:r>
            <a:endParaRPr lang="en-US" sz="1800" dirty="0"/>
          </a:p>
          <a:p>
            <a:pPr algn="ctr" indent="0" marL="0">
              <a:lnSpc>
                <a:spcPct val="104000"/>
              </a:lnSpc>
              <a:buNone/>
            </a:pPr>
            <a:r>
              <a:rPr lang="en-US" sz="1800" b="1" dirty="0">
                <a:solidFill>
                  <a:srgbClr val="F4F7FB"/>
                </a:solidFill>
                <a:latin typeface="Arial" pitchFamily="34" charset="0"/>
                <a:ea typeface="Arial" pitchFamily="34" charset="-122"/>
                <a:cs typeface="Arial" pitchFamily="34" charset="-120"/>
              </a:rPr>
              <a:t>realization</a:t>
            </a:r>
            <a:endParaRPr lang="en-US" sz="1800" dirty="0"/>
          </a:p>
        </p:txBody>
      </p:sp>
      <p:sp>
        <p:nvSpPr>
          <p:cNvPr id="11" name="Shape 9"/>
          <p:cNvSpPr/>
          <p:nvPr/>
        </p:nvSpPr>
        <p:spPr>
          <a:xfrm>
            <a:off x="4888687" y="2354580"/>
            <a:ext cx="155448" cy="0"/>
          </a:xfrm>
          <a:prstGeom prst="line">
            <a:avLst/>
          </a:prstGeom>
          <a:noFill/>
          <a:ln w="19050">
            <a:solidFill>
              <a:srgbClr val="71D5DD"/>
            </a:solidFill>
            <a:prstDash val="solid"/>
            <a:headEnd type="none"/>
            <a:tailEnd type="triangle"/>
          </a:ln>
        </p:spPr>
        <p:txBody>
          <a:bodyPr/>
          <a:p/>
        </p:txBody>
      </p:sp>
      <p:sp>
        <p:nvSpPr>
          <p:cNvPr id="12" name="Shape 10"/>
          <p:cNvSpPr/>
          <p:nvPr/>
        </p:nvSpPr>
        <p:spPr>
          <a:xfrm>
            <a:off x="5066995" y="1883664"/>
            <a:ext cx="2058010" cy="941832"/>
          </a:xfrm>
          <a:prstGeom prst="rect">
            <a:avLst/>
          </a:prstGeom>
          <a:solidFill>
            <a:srgbClr val="172940"/>
          </a:solidFill>
          <a:ln w="8890">
            <a:solidFill>
              <a:srgbClr val="2B415A"/>
            </a:solidFill>
            <a:prstDash val="solid"/>
          </a:ln>
        </p:spPr>
        <p:txBody>
          <a:bodyPr/>
          <a:p/>
        </p:txBody>
      </p:sp>
      <p:sp>
        <p:nvSpPr>
          <p:cNvPr id="13" name="Text 11"/>
          <p:cNvSpPr txBox="1"/>
          <p:nvPr/>
        </p:nvSpPr>
        <p:spPr>
          <a:xfrm>
            <a:off x="5158435" y="2084832"/>
            <a:ext cx="1875130" cy="548640"/>
          </a:xfrm>
          <a:prstGeom prst="rect">
            <a:avLst/>
          </a:prstGeom>
          <a:noFill/>
          <a:ln/>
        </p:spPr>
        <p:txBody>
          <a:bodyPr wrap="square" lIns="0" tIns="0" rIns="0" bIns="0" rtlCol="0" anchor="t"/>
          <a:lstStyle/>
          <a:p>
            <a:pPr algn="ctr" indent="0" marL="0">
              <a:lnSpc>
                <a:spcPct val="104000"/>
              </a:lnSpc>
              <a:buNone/>
            </a:pPr>
            <a:r>
              <a:rPr lang="en-US" sz="1800" b="1" dirty="0">
                <a:solidFill>
                  <a:srgbClr val="F4F7FB"/>
                </a:solidFill>
                <a:latin typeface="Arial" pitchFamily="34" charset="0"/>
                <a:ea typeface="Arial" pitchFamily="34" charset="-122"/>
                <a:cs typeface="Arial" pitchFamily="34" charset="-120"/>
              </a:rPr>
              <a:t>Encoded</a:t>
            </a:r>
            <a:endParaRPr lang="en-US" sz="1800" dirty="0"/>
          </a:p>
          <a:p>
            <a:pPr algn="ctr" indent="0" marL="0">
              <a:lnSpc>
                <a:spcPct val="104000"/>
              </a:lnSpc>
              <a:buNone/>
            </a:pPr>
            <a:r>
              <a:rPr lang="en-US" sz="1800" b="1" dirty="0">
                <a:solidFill>
                  <a:srgbClr val="F4F7FB"/>
                </a:solidFill>
                <a:latin typeface="Arial" pitchFamily="34" charset="0"/>
                <a:ea typeface="Arial" pitchFamily="34" charset="-122"/>
                <a:cs typeface="Arial" pitchFamily="34" charset="-120"/>
              </a:rPr>
              <a:t>instructions</a:t>
            </a:r>
            <a:endParaRPr lang="en-US" sz="1800" dirty="0"/>
          </a:p>
        </p:txBody>
      </p:sp>
      <p:sp>
        <p:nvSpPr>
          <p:cNvPr id="14" name="Shape 12"/>
          <p:cNvSpPr/>
          <p:nvPr/>
        </p:nvSpPr>
        <p:spPr>
          <a:xfrm>
            <a:off x="7147865" y="2354580"/>
            <a:ext cx="155448" cy="0"/>
          </a:xfrm>
          <a:prstGeom prst="line">
            <a:avLst/>
          </a:prstGeom>
          <a:noFill/>
          <a:ln w="19050">
            <a:solidFill>
              <a:srgbClr val="71D5DD"/>
            </a:solidFill>
            <a:prstDash val="solid"/>
            <a:headEnd type="none"/>
            <a:tailEnd type="triangle"/>
          </a:ln>
        </p:spPr>
        <p:txBody>
          <a:bodyPr/>
          <a:p/>
        </p:txBody>
      </p:sp>
      <p:sp>
        <p:nvSpPr>
          <p:cNvPr id="15" name="Shape 13"/>
          <p:cNvSpPr/>
          <p:nvPr/>
        </p:nvSpPr>
        <p:spPr>
          <a:xfrm>
            <a:off x="7326173" y="1883664"/>
            <a:ext cx="2058010" cy="941832"/>
          </a:xfrm>
          <a:prstGeom prst="rect">
            <a:avLst/>
          </a:prstGeom>
          <a:solidFill>
            <a:srgbClr val="172940"/>
          </a:solidFill>
          <a:ln w="8890">
            <a:solidFill>
              <a:srgbClr val="2B415A"/>
            </a:solidFill>
            <a:prstDash val="solid"/>
          </a:ln>
        </p:spPr>
        <p:txBody>
          <a:bodyPr/>
          <a:p/>
        </p:txBody>
      </p:sp>
      <p:sp>
        <p:nvSpPr>
          <p:cNvPr id="16" name="Text 14"/>
          <p:cNvSpPr txBox="1"/>
          <p:nvPr/>
        </p:nvSpPr>
        <p:spPr>
          <a:xfrm>
            <a:off x="7417613" y="2084832"/>
            <a:ext cx="1875130" cy="548640"/>
          </a:xfrm>
          <a:prstGeom prst="rect">
            <a:avLst/>
          </a:prstGeom>
          <a:noFill/>
          <a:ln/>
        </p:spPr>
        <p:txBody>
          <a:bodyPr wrap="square" lIns="0" tIns="0" rIns="0" bIns="0" rtlCol="0" anchor="t"/>
          <a:lstStyle/>
          <a:p>
            <a:pPr algn="ctr" indent="0" marL="0">
              <a:lnSpc>
                <a:spcPct val="104000"/>
              </a:lnSpc>
              <a:buNone/>
            </a:pPr>
            <a:r>
              <a:rPr lang="en-US" sz="1800" b="1" dirty="0">
                <a:solidFill>
                  <a:srgbClr val="F4F7FB"/>
                </a:solidFill>
                <a:latin typeface="Arial" pitchFamily="34" charset="0"/>
                <a:ea typeface="Arial" pitchFamily="34" charset="-122"/>
                <a:cs typeface="Arial" pitchFamily="34" charset="-120"/>
              </a:rPr>
              <a:t>CPU execution</a:t>
            </a:r>
            <a:endParaRPr lang="en-US" sz="1800" dirty="0"/>
          </a:p>
        </p:txBody>
      </p:sp>
      <p:sp>
        <p:nvSpPr>
          <p:cNvPr id="17" name="Shape 15"/>
          <p:cNvSpPr/>
          <p:nvPr/>
        </p:nvSpPr>
        <p:spPr>
          <a:xfrm>
            <a:off x="9407042" y="2354580"/>
            <a:ext cx="155448" cy="0"/>
          </a:xfrm>
          <a:prstGeom prst="line">
            <a:avLst/>
          </a:prstGeom>
          <a:noFill/>
          <a:ln w="19050">
            <a:solidFill>
              <a:srgbClr val="71D5DD"/>
            </a:solidFill>
            <a:prstDash val="solid"/>
            <a:headEnd type="none"/>
            <a:tailEnd type="triangle"/>
          </a:ln>
        </p:spPr>
        <p:txBody>
          <a:bodyPr/>
          <a:p/>
        </p:txBody>
      </p:sp>
      <p:sp>
        <p:nvSpPr>
          <p:cNvPr id="18" name="Shape 16"/>
          <p:cNvSpPr/>
          <p:nvPr/>
        </p:nvSpPr>
        <p:spPr>
          <a:xfrm>
            <a:off x="9585350" y="1883664"/>
            <a:ext cx="2058010" cy="941832"/>
          </a:xfrm>
          <a:prstGeom prst="rect">
            <a:avLst/>
          </a:prstGeom>
          <a:solidFill>
            <a:srgbClr val="172940"/>
          </a:solidFill>
          <a:ln w="8890">
            <a:solidFill>
              <a:srgbClr val="2B415A"/>
            </a:solidFill>
            <a:prstDash val="solid"/>
          </a:ln>
        </p:spPr>
        <p:txBody>
          <a:bodyPr/>
          <a:p/>
        </p:txBody>
      </p:sp>
      <p:sp>
        <p:nvSpPr>
          <p:cNvPr id="19" name="Text 17"/>
          <p:cNvSpPr txBox="1"/>
          <p:nvPr/>
        </p:nvSpPr>
        <p:spPr>
          <a:xfrm>
            <a:off x="9676790" y="2084832"/>
            <a:ext cx="1875130" cy="548640"/>
          </a:xfrm>
          <a:prstGeom prst="rect">
            <a:avLst/>
          </a:prstGeom>
          <a:noFill/>
          <a:ln/>
        </p:spPr>
        <p:txBody>
          <a:bodyPr wrap="square" lIns="0" tIns="0" rIns="0" bIns="0" rtlCol="0" anchor="t"/>
          <a:lstStyle/>
          <a:p>
            <a:pPr algn="ctr" indent="0" marL="0">
              <a:lnSpc>
                <a:spcPct val="104000"/>
              </a:lnSpc>
              <a:buNone/>
            </a:pPr>
            <a:r>
              <a:rPr lang="en-US" sz="1800" b="1" dirty="0">
                <a:solidFill>
                  <a:srgbClr val="F4F7FB"/>
                </a:solidFill>
                <a:latin typeface="Arial" pitchFamily="34" charset="0"/>
                <a:ea typeface="Arial" pitchFamily="34" charset="-122"/>
                <a:cs typeface="Arial" pitchFamily="34" charset="-120"/>
              </a:rPr>
              <a:t>Architectural</a:t>
            </a:r>
            <a:endParaRPr lang="en-US" sz="1800" dirty="0"/>
          </a:p>
          <a:p>
            <a:pPr algn="ctr" indent="0" marL="0">
              <a:lnSpc>
                <a:spcPct val="104000"/>
              </a:lnSpc>
              <a:buNone/>
            </a:pPr>
            <a:r>
              <a:rPr lang="en-US" sz="1800" b="1" dirty="0">
                <a:solidFill>
                  <a:srgbClr val="F4F7FB"/>
                </a:solidFill>
                <a:latin typeface="Arial" pitchFamily="34" charset="0"/>
                <a:ea typeface="Arial" pitchFamily="34" charset="-122"/>
                <a:cs typeface="Arial" pitchFamily="34" charset="-120"/>
              </a:rPr>
              <a:t>result</a:t>
            </a:r>
            <a:endParaRPr lang="en-US" sz="1800" dirty="0"/>
          </a:p>
        </p:txBody>
      </p:sp>
      <p:sp>
        <p:nvSpPr>
          <p:cNvPr id="20" name="Text 18"/>
          <p:cNvSpPr txBox="1"/>
          <p:nvPr/>
        </p:nvSpPr>
        <p:spPr>
          <a:xfrm>
            <a:off x="566928" y="3191256"/>
            <a:ext cx="384048" cy="237744"/>
          </a:xfrm>
          <a:prstGeom prst="rect">
            <a:avLst/>
          </a:prstGeom>
          <a:noFill/>
          <a:ln/>
        </p:spPr>
        <p:txBody>
          <a:bodyPr wrap="square" lIns="0" tIns="0" rIns="0" bIns="0" rtlCol="0" anchor="t"/>
          <a:lstStyle/>
          <a:p>
            <a:pPr algn="l" indent="0" marL="0">
              <a:lnSpc>
                <a:spcPct val="104000"/>
              </a:lnSpc>
              <a:buNone/>
            </a:pPr>
            <a:r>
              <a:rPr lang="en-US" sz="1350" b="1" dirty="0">
                <a:solidFill>
                  <a:srgbClr val="71D5DD"/>
                </a:solidFill>
                <a:latin typeface="Arial" pitchFamily="34" charset="0"/>
                <a:ea typeface="Arial" pitchFamily="34" charset="-122"/>
                <a:cs typeface="Arial" pitchFamily="34" charset="-120"/>
              </a:rPr>
              <a:t>01</a:t>
            </a:r>
            <a:endParaRPr lang="en-US" sz="1350" dirty="0"/>
          </a:p>
        </p:txBody>
      </p:sp>
      <p:sp>
        <p:nvSpPr>
          <p:cNvPr id="21" name="Text 19"/>
          <p:cNvSpPr txBox="1"/>
          <p:nvPr/>
        </p:nvSpPr>
        <p:spPr>
          <a:xfrm>
            <a:off x="1124712" y="3136392"/>
            <a:ext cx="10515600" cy="576072"/>
          </a:xfrm>
          <a:prstGeom prst="rect">
            <a:avLst/>
          </a:prstGeom>
          <a:noFill/>
          <a:ln/>
        </p:spPr>
        <p:txBody>
          <a:bodyPr wrap="square" lIns="0" tIns="0" rIns="0" bIns="0" rtlCol="0" anchor="t"/>
          <a:lstStyle/>
          <a:p>
            <a:pPr algn="l" indent="0" marL="0">
              <a:lnSpc>
                <a:spcPct val="104000"/>
              </a:lnSpc>
              <a:buNone/>
            </a:pPr>
            <a:r>
              <a:rPr lang="en-US" sz="2150" dirty="0">
                <a:solidFill>
                  <a:srgbClr val="F4F7FB"/>
                </a:solidFill>
                <a:latin typeface="Arial" pitchFamily="34" charset="0"/>
                <a:ea typeface="Arial" pitchFamily="34" charset="-122"/>
                <a:cs typeface="Arial" pitchFamily="34" charset="-120"/>
              </a:rPr>
              <a:t>An operand already in a register may avoid a data load for the addition.</a:t>
            </a:r>
            <a:endParaRPr lang="en-US" sz="2150" dirty="0"/>
          </a:p>
        </p:txBody>
      </p:sp>
      <p:sp>
        <p:nvSpPr>
          <p:cNvPr id="22" name="Text 20"/>
          <p:cNvSpPr txBox="1"/>
          <p:nvPr/>
        </p:nvSpPr>
        <p:spPr>
          <a:xfrm>
            <a:off x="566928" y="3803904"/>
            <a:ext cx="384048" cy="237744"/>
          </a:xfrm>
          <a:prstGeom prst="rect">
            <a:avLst/>
          </a:prstGeom>
          <a:noFill/>
          <a:ln/>
        </p:spPr>
        <p:txBody>
          <a:bodyPr wrap="square" lIns="0" tIns="0" rIns="0" bIns="0" rtlCol="0" anchor="t"/>
          <a:lstStyle/>
          <a:p>
            <a:pPr algn="l" indent="0" marL="0">
              <a:lnSpc>
                <a:spcPct val="104000"/>
              </a:lnSpc>
              <a:buNone/>
            </a:pPr>
            <a:r>
              <a:rPr lang="en-US" sz="1350" b="1" dirty="0">
                <a:solidFill>
                  <a:srgbClr val="71D5DD"/>
                </a:solidFill>
                <a:latin typeface="Arial" pitchFamily="34" charset="0"/>
                <a:ea typeface="Arial" pitchFamily="34" charset="-122"/>
                <a:cs typeface="Arial" pitchFamily="34" charset="-120"/>
              </a:rPr>
              <a:t>02</a:t>
            </a:r>
            <a:endParaRPr lang="en-US" sz="1350" dirty="0"/>
          </a:p>
        </p:txBody>
      </p:sp>
      <p:sp>
        <p:nvSpPr>
          <p:cNvPr id="23" name="Text 21"/>
          <p:cNvSpPr txBox="1"/>
          <p:nvPr/>
        </p:nvSpPr>
        <p:spPr>
          <a:xfrm>
            <a:off x="1124712" y="3749040"/>
            <a:ext cx="10515600" cy="576072"/>
          </a:xfrm>
          <a:prstGeom prst="rect">
            <a:avLst/>
          </a:prstGeom>
          <a:noFill/>
          <a:ln/>
        </p:spPr>
        <p:txBody>
          <a:bodyPr wrap="square" lIns="0" tIns="0" rIns="0" bIns="0" rtlCol="0" anchor="t"/>
          <a:lstStyle/>
          <a:p>
            <a:pPr algn="l" indent="0" marL="0">
              <a:lnSpc>
                <a:spcPct val="104000"/>
              </a:lnSpc>
              <a:buNone/>
            </a:pPr>
            <a:r>
              <a:rPr lang="en-US" sz="2150" dirty="0">
                <a:solidFill>
                  <a:srgbClr val="F4F7FB"/>
                </a:solidFill>
                <a:latin typeface="Arial" pitchFamily="34" charset="0"/>
                <a:ea typeface="Arial" pitchFamily="34" charset="-122"/>
                <a:cs typeface="Arial" pitchFamily="34" charset="-120"/>
              </a:rPr>
              <a:t>Instruction fetch and surrounding loads/stores are separate considerations.</a:t>
            </a:r>
            <a:endParaRPr lang="en-US" sz="2150" dirty="0"/>
          </a:p>
        </p:txBody>
      </p:sp>
      <p:sp>
        <p:nvSpPr>
          <p:cNvPr id="24" name="Text 22"/>
          <p:cNvSpPr txBox="1"/>
          <p:nvPr/>
        </p:nvSpPr>
        <p:spPr>
          <a:xfrm>
            <a:off x="566928" y="4416552"/>
            <a:ext cx="384048" cy="237744"/>
          </a:xfrm>
          <a:prstGeom prst="rect">
            <a:avLst/>
          </a:prstGeom>
          <a:noFill/>
          <a:ln/>
        </p:spPr>
        <p:txBody>
          <a:bodyPr wrap="square" lIns="0" tIns="0" rIns="0" bIns="0" rtlCol="0" anchor="t"/>
          <a:lstStyle/>
          <a:p>
            <a:pPr algn="l" indent="0" marL="0">
              <a:lnSpc>
                <a:spcPct val="104000"/>
              </a:lnSpc>
              <a:buNone/>
            </a:pPr>
            <a:r>
              <a:rPr lang="en-US" sz="1350" b="1" dirty="0">
                <a:solidFill>
                  <a:srgbClr val="71D5DD"/>
                </a:solidFill>
                <a:latin typeface="Arial" pitchFamily="34" charset="0"/>
                <a:ea typeface="Arial" pitchFamily="34" charset="-122"/>
                <a:cs typeface="Arial" pitchFamily="34" charset="-120"/>
              </a:rPr>
              <a:t>03</a:t>
            </a:r>
            <a:endParaRPr lang="en-US" sz="1350" dirty="0"/>
          </a:p>
        </p:txBody>
      </p:sp>
      <p:sp>
        <p:nvSpPr>
          <p:cNvPr id="25" name="Text 23"/>
          <p:cNvSpPr txBox="1"/>
          <p:nvPr/>
        </p:nvSpPr>
        <p:spPr>
          <a:xfrm>
            <a:off x="1124712" y="4361688"/>
            <a:ext cx="10515600" cy="576072"/>
          </a:xfrm>
          <a:prstGeom prst="rect">
            <a:avLst/>
          </a:prstGeom>
          <a:noFill/>
          <a:ln/>
        </p:spPr>
        <p:txBody>
          <a:bodyPr wrap="square" lIns="0" tIns="0" rIns="0" bIns="0" rtlCol="0" anchor="t"/>
          <a:lstStyle/>
          <a:p>
            <a:pPr algn="l" indent="0" marL="0">
              <a:lnSpc>
                <a:spcPct val="104000"/>
              </a:lnSpc>
              <a:buNone/>
            </a:pPr>
            <a:r>
              <a:rPr lang="en-US" sz="2150" dirty="0">
                <a:solidFill>
                  <a:srgbClr val="F4F7FB"/>
                </a:solidFill>
                <a:latin typeface="Arial" pitchFamily="34" charset="0"/>
                <a:ea typeface="Arial" pitchFamily="34" charset="-122"/>
                <a:cs typeface="Arial" pitchFamily="34" charset="-120"/>
              </a:rPr>
              <a:t>Compare emitted assembly as evidence—not as a universal translation.</a:t>
            </a:r>
            <a:endParaRPr lang="en-US" sz="2150" dirty="0"/>
          </a:p>
        </p:txBody>
      </p:sp>
      <p:sp>
        <p:nvSpPr>
          <p:cNvPr id="30" name="Text 28"/>
          <p:cNvSpPr txBox="1"/>
          <p:nvPr/>
        </p:nvSpPr>
        <p:spPr>
          <a:xfrm>
            <a:off x="548640" y="6601968"/>
            <a:ext cx="10241280" cy="128016"/>
          </a:xfrm>
          <a:prstGeom prst="rect">
            <a:avLst/>
          </a:prstGeom>
          <a:noFill/>
          <a:ln/>
        </p:spPr>
        <p:txBody>
          <a:bodyPr wrap="square" lIns="0" tIns="0" rIns="0" bIns="0" rtlCol="0" anchor="t"/>
          <a:lstStyle/>
          <a:p>
            <a:pPr algn="l" indent="0" marL="0">
              <a:lnSpc>
                <a:spcPct val="104000"/>
              </a:lnSpc>
              <a:buNone/>
            </a:pPr>
            <a:r>
              <a:rPr lang="en-US" sz="830" dirty="0">
                <a:solidFill>
                  <a:srgbClr val="B3C3D6"/>
                </a:solidFill>
                <a:latin typeface="Arial" pitchFamily="34" charset="0"/>
                <a:ea typeface="Arial" pitchFamily="34" charset="-122"/>
                <a:cs typeface="Arial" pitchFamily="34" charset="-120"/>
              </a:rPr>
              <a:t>Source: original 18 • [OPT]</a:t>
            </a:r>
            <a:endParaRPr lang="en-US" sz="830" dirty="0"/>
          </a:p>
        </p:txBody>
      </p:sp>
      <p:sp>
        <p:nvSpPr>
          <p:cNvPr id="31" name="Text 29"/>
          <p:cNvSpPr txBox="1"/>
          <p:nvPr/>
        </p:nvSpPr>
        <p:spPr>
          <a:xfrm>
            <a:off x="10917936" y="6565392"/>
            <a:ext cx="722376" cy="219456"/>
          </a:xfrm>
          <a:prstGeom prst="rect">
            <a:avLst/>
          </a:prstGeom>
          <a:noFill/>
          <a:ln/>
        </p:spPr>
        <p:txBody>
          <a:bodyPr wrap="square" lIns="0" tIns="0" rIns="0" bIns="0" rtlCol="0" anchor="t"/>
          <a:lstStyle/>
          <a:p>
            <a:pPr algn="r" indent="0" marL="0">
              <a:lnSpc>
                <a:spcPct val="104000"/>
              </a:lnSpc>
              <a:buNone/>
            </a:pPr>
            <a:r>
              <a:rPr lang="en-US" sz="1050" dirty="0">
                <a:solidFill>
                  <a:srgbClr val="B3C3D6"/>
                </a:solidFill>
                <a:latin typeface="Arial" pitchFamily="34" charset="0"/>
                <a:ea typeface="Arial" pitchFamily="34" charset="-122"/>
                <a:cs typeface="Arial" pitchFamily="34" charset="-120"/>
              </a:rPr>
              <a:t>36 / 64</a:t>
            </a:r>
            <a:endParaRPr lang="en-US" sz="1050" dirty="0"/>
          </a:p>
        </p:txBody>
      </p:sp>
      <p:sp>
        <p:nvSpPr>
          <p:cNvPr id="32" name="Shape 30"/>
          <p:cNvSpPr/>
          <p:nvPr/>
        </p:nvSpPr>
        <p:spPr>
          <a:xfrm>
            <a:off x="0" y="6834226"/>
            <a:ext cx="12192000" cy="23774"/>
          </a:xfrm>
          <a:prstGeom prst="rect">
            <a:avLst/>
          </a:prstGeom>
          <a:solidFill>
            <a:srgbClr val="2B415A"/>
          </a:solidFill>
          <a:ln w="8890">
            <a:solidFill>
              <a:srgbClr val="2B415A"/>
            </a:solidFill>
            <a:prstDash val="solid"/>
          </a:ln>
        </p:spPr>
        <p:txBody>
          <a:bodyPr/>
          <a:p/>
        </p:txBody>
      </p:sp>
      <p:sp>
        <p:nvSpPr>
          <p:cNvPr id="33" name="Shape 31"/>
          <p:cNvSpPr/>
          <p:nvPr/>
        </p:nvSpPr>
        <p:spPr>
          <a:xfrm>
            <a:off x="0" y="6834226"/>
            <a:ext cx="6858000" cy="23774"/>
          </a:xfrm>
          <a:prstGeom prst="rect">
            <a:avLst/>
          </a:prstGeom>
          <a:solidFill>
            <a:srgbClr val="71D5DD"/>
          </a:solidFill>
          <a:ln w="8890">
            <a:solidFill>
              <a:srgbClr val="71D5DD"/>
            </a:solidFill>
            <a:prstDash val="solid"/>
          </a:ln>
        </p:spPr>
        <p:txBody>
          <a:body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txBox="1"/>
          <p:nvPr/>
        </p:nvSpPr>
        <p:spPr>
          <a:xfrm>
            <a:off x="548640" y="219456"/>
            <a:ext cx="9875520" cy="192024"/>
          </a:xfrm>
          <a:prstGeom prst="rect">
            <a:avLst/>
          </a:prstGeom>
          <a:noFill/>
          <a:ln/>
        </p:spPr>
        <p:txBody>
          <a:bodyPr wrap="square" lIns="0" tIns="0" rIns="0" bIns="0" rtlCol="0" anchor="t"/>
          <a:lstStyle/>
          <a:p>
            <a:pPr algn="l" indent="0" marL="0">
              <a:lnSpc>
                <a:spcPct val="104000"/>
              </a:lnSpc>
              <a:buNone/>
            </a:pPr>
            <a:r>
              <a:rPr lang="en-US" sz="970" b="1" spc="135" kern="0" dirty="0">
                <a:solidFill>
                  <a:srgbClr val="B3C3D6"/>
                </a:solidFill>
                <a:latin typeface="Arial" pitchFamily="34" charset="0"/>
                <a:ea typeface="Arial" pitchFamily="34" charset="-122"/>
                <a:cs typeface="Arial" pitchFamily="34" charset="-120"/>
              </a:rPr>
              <a:t>SYSTEMS PROGRAMMING AND MACHINE ORGANIZATION</a:t>
            </a:r>
            <a:endParaRPr lang="en-US" sz="970" dirty="0"/>
          </a:p>
        </p:txBody>
      </p:sp>
      <p:sp>
        <p:nvSpPr>
          <p:cNvPr id="3" name="Text 1"/>
          <p:cNvSpPr txBox="1"/>
          <p:nvPr/>
        </p:nvSpPr>
        <p:spPr>
          <a:xfrm>
            <a:off x="9601200" y="219456"/>
            <a:ext cx="2039112" cy="192024"/>
          </a:xfrm>
          <a:prstGeom prst="rect">
            <a:avLst/>
          </a:prstGeom>
          <a:noFill/>
          <a:ln/>
        </p:spPr>
        <p:txBody>
          <a:bodyPr wrap="square" lIns="0" tIns="0" rIns="0" bIns="0" rtlCol="0" anchor="t"/>
          <a:lstStyle/>
          <a:p>
            <a:pPr algn="r" indent="0" marL="0">
              <a:lnSpc>
                <a:spcPct val="104000"/>
              </a:lnSpc>
              <a:buNone/>
            </a:pPr>
            <a:r>
              <a:rPr lang="en-US" sz="970" b="1" dirty="0">
                <a:solidFill>
                  <a:srgbClr val="B3C3D6"/>
                </a:solidFill>
                <a:latin typeface="Arial" pitchFamily="34" charset="0"/>
                <a:ea typeface="Arial" pitchFamily="34" charset="-122"/>
                <a:cs typeface="Arial" pitchFamily="34" charset="-120"/>
              </a:rPr>
              <a:t>CHARLES DORNER</a:t>
            </a:r>
            <a:endParaRPr lang="en-US" sz="970" dirty="0"/>
          </a:p>
        </p:txBody>
      </p:sp>
      <p:sp>
        <p:nvSpPr>
          <p:cNvPr id="4" name="Text 2"/>
          <p:cNvSpPr txBox="1"/>
          <p:nvPr/>
        </p:nvSpPr>
        <p:spPr>
          <a:xfrm>
            <a:off x="548640" y="566928"/>
            <a:ext cx="11109960" cy="237744"/>
          </a:xfrm>
          <a:prstGeom prst="rect">
            <a:avLst/>
          </a:prstGeom>
          <a:noFill/>
          <a:ln/>
        </p:spPr>
        <p:txBody>
          <a:bodyPr wrap="square" lIns="0" tIns="0" rIns="0" bIns="0" rtlCol="0" anchor="t"/>
          <a:lstStyle/>
          <a:p>
            <a:pPr algn="l" indent="0" marL="0">
              <a:lnSpc>
                <a:spcPct val="104000"/>
              </a:lnSpc>
              <a:buNone/>
            </a:pPr>
            <a:r>
              <a:rPr lang="en-US" sz="1150" b="1" dirty="0">
                <a:solidFill>
                  <a:srgbClr val="71D5DD"/>
                </a:solidFill>
                <a:latin typeface="Arial" pitchFamily="34" charset="0"/>
                <a:ea typeface="Arial" pitchFamily="34" charset="-122"/>
                <a:cs typeface="Arial" pitchFamily="34" charset="-120"/>
              </a:rPr>
              <a:t>1.3 · SYSTEMS PROGRAMMING</a:t>
            </a:r>
            <a:endParaRPr lang="en-US" sz="1150" dirty="0"/>
          </a:p>
        </p:txBody>
      </p:sp>
      <p:sp>
        <p:nvSpPr>
          <p:cNvPr id="5" name="Text 3"/>
          <p:cNvSpPr txBox="1"/>
          <p:nvPr/>
        </p:nvSpPr>
        <p:spPr>
          <a:xfrm>
            <a:off x="548640" y="941832"/>
            <a:ext cx="11091672" cy="676656"/>
          </a:xfrm>
          <a:prstGeom prst="rect">
            <a:avLst/>
          </a:prstGeom>
          <a:noFill/>
          <a:ln/>
        </p:spPr>
        <p:txBody>
          <a:bodyPr wrap="square" lIns="0" tIns="0" rIns="0" bIns="0" rtlCol="0" anchor="t"/>
          <a:lstStyle/>
          <a:p>
            <a:pPr algn="l" indent="0" marL="0">
              <a:lnSpc>
                <a:spcPct val="104000"/>
              </a:lnSpc>
              <a:buNone/>
            </a:pPr>
            <a:r>
              <a:rPr lang="en-US" sz="3150" b="1" dirty="0">
                <a:solidFill>
                  <a:srgbClr val="F4F7FB"/>
                </a:solidFill>
                <a:latin typeface="Arial" pitchFamily="34" charset="0"/>
                <a:ea typeface="Arial" pitchFamily="34" charset="-122"/>
                <a:cs typeface="Arial" pitchFamily="34" charset="-120"/>
              </a:rPr>
              <a:t>The six concerns of systems programming</a:t>
            </a:r>
            <a:endParaRPr lang="en-US" sz="3150" dirty="0"/>
          </a:p>
        </p:txBody>
      </p:sp>
      <p:sp>
        <p:nvSpPr>
          <p:cNvPr id="6" name="Shape 4"/>
          <p:cNvSpPr/>
          <p:nvPr/>
        </p:nvSpPr>
        <p:spPr>
          <a:xfrm>
            <a:off x="548640" y="1764792"/>
            <a:ext cx="3564128" cy="1536192"/>
          </a:xfrm>
          <a:prstGeom prst="rect">
            <a:avLst/>
          </a:prstGeom>
          <a:solidFill>
            <a:srgbClr val="142238"/>
          </a:solidFill>
          <a:ln w="8890">
            <a:solidFill>
              <a:srgbClr val="2B415A"/>
            </a:solidFill>
            <a:prstDash val="solid"/>
          </a:ln>
        </p:spPr>
        <p:txBody>
          <a:bodyPr/>
          <a:p/>
        </p:txBody>
      </p:sp>
      <p:sp>
        <p:nvSpPr>
          <p:cNvPr id="7" name="Text 5"/>
          <p:cNvSpPr txBox="1"/>
          <p:nvPr/>
        </p:nvSpPr>
        <p:spPr>
          <a:xfrm>
            <a:off x="731520" y="1975104"/>
            <a:ext cx="3198368" cy="237744"/>
          </a:xfrm>
          <a:prstGeom prst="rect">
            <a:avLst/>
          </a:prstGeom>
          <a:noFill/>
          <a:ln/>
        </p:spPr>
        <p:txBody>
          <a:bodyPr wrap="square" lIns="0" tIns="0" rIns="0" bIns="0" rtlCol="0" anchor="t"/>
          <a:lstStyle/>
          <a:p>
            <a:pPr algn="l" indent="0" marL="0">
              <a:lnSpc>
                <a:spcPct val="104000"/>
              </a:lnSpc>
              <a:buNone/>
            </a:pPr>
            <a:r>
              <a:rPr lang="en-US" sz="1500" b="1" dirty="0">
                <a:solidFill>
                  <a:srgbClr val="71D5DD"/>
                </a:solidFill>
                <a:latin typeface="Arial" pitchFamily="34" charset="0"/>
                <a:ea typeface="Arial" pitchFamily="34" charset="-122"/>
                <a:cs typeface="Arial" pitchFamily="34" charset="-120"/>
              </a:rPr>
              <a:t>LOW-LEVEL</a:t>
            </a:r>
            <a:endParaRPr lang="en-US" sz="1500" dirty="0"/>
          </a:p>
        </p:txBody>
      </p:sp>
      <p:sp>
        <p:nvSpPr>
          <p:cNvPr id="8" name="Text 6"/>
          <p:cNvSpPr txBox="1"/>
          <p:nvPr/>
        </p:nvSpPr>
        <p:spPr>
          <a:xfrm>
            <a:off x="731520" y="2487168"/>
            <a:ext cx="3198368" cy="658368"/>
          </a:xfrm>
          <a:prstGeom prst="rect">
            <a:avLst/>
          </a:prstGeom>
          <a:noFill/>
          <a:ln/>
        </p:spPr>
        <p:txBody>
          <a:bodyPr wrap="square" lIns="0" tIns="0" rIns="0" bIns="0" rtlCol="0" anchor="t"/>
          <a:lstStyle/>
          <a:p>
            <a:pPr algn="l" indent="0" marL="0">
              <a:lnSpc>
                <a:spcPct val="104000"/>
              </a:lnSpc>
              <a:buNone/>
            </a:pPr>
            <a:r>
              <a:rPr lang="en-US" sz="2100" dirty="0">
                <a:solidFill>
                  <a:srgbClr val="F4F7FB"/>
                </a:solidFill>
                <a:latin typeface="Arial" pitchFamily="34" charset="0"/>
                <a:ea typeface="Arial" pitchFamily="34" charset="-122"/>
                <a:cs typeface="Arial" pitchFamily="34" charset="-120"/>
              </a:rPr>
              <a:t>Representation and</a:t>
            </a:r>
            <a:endParaRPr lang="en-US" sz="2100" dirty="0"/>
          </a:p>
          <a:p>
            <a:pPr algn="l" indent="0" marL="0">
              <a:lnSpc>
                <a:spcPct val="104000"/>
              </a:lnSpc>
              <a:buNone/>
            </a:pPr>
            <a:r>
              <a:rPr lang="en-US" sz="2100" dirty="0">
                <a:solidFill>
                  <a:srgbClr val="F4F7FB"/>
                </a:solidFill>
                <a:latin typeface="Arial" pitchFamily="34" charset="0"/>
                <a:ea typeface="Arial" pitchFamily="34" charset="-122"/>
                <a:cs typeface="Arial" pitchFamily="34" charset="-120"/>
              </a:rPr>
              <a:t>machine behavior</a:t>
            </a:r>
            <a:endParaRPr lang="en-US" sz="2100" dirty="0"/>
          </a:p>
        </p:txBody>
      </p:sp>
      <p:sp>
        <p:nvSpPr>
          <p:cNvPr id="9" name="Shape 7"/>
          <p:cNvSpPr/>
          <p:nvPr/>
        </p:nvSpPr>
        <p:spPr>
          <a:xfrm>
            <a:off x="4313936" y="1764792"/>
            <a:ext cx="3564128" cy="1536192"/>
          </a:xfrm>
          <a:prstGeom prst="rect">
            <a:avLst/>
          </a:prstGeom>
          <a:solidFill>
            <a:srgbClr val="142238"/>
          </a:solidFill>
          <a:ln w="8890">
            <a:solidFill>
              <a:srgbClr val="2B415A"/>
            </a:solidFill>
            <a:prstDash val="solid"/>
          </a:ln>
        </p:spPr>
        <p:txBody>
          <a:bodyPr/>
          <a:p/>
        </p:txBody>
      </p:sp>
      <p:sp>
        <p:nvSpPr>
          <p:cNvPr id="10" name="Text 8"/>
          <p:cNvSpPr txBox="1"/>
          <p:nvPr/>
        </p:nvSpPr>
        <p:spPr>
          <a:xfrm>
            <a:off x="4496816" y="1975104"/>
            <a:ext cx="3198368" cy="237744"/>
          </a:xfrm>
          <a:prstGeom prst="rect">
            <a:avLst/>
          </a:prstGeom>
          <a:noFill/>
          <a:ln/>
        </p:spPr>
        <p:txBody>
          <a:bodyPr wrap="square" lIns="0" tIns="0" rIns="0" bIns="0" rtlCol="0" anchor="t"/>
          <a:lstStyle/>
          <a:p>
            <a:pPr algn="l" indent="0" marL="0">
              <a:lnSpc>
                <a:spcPct val="104000"/>
              </a:lnSpc>
              <a:buNone/>
            </a:pPr>
            <a:r>
              <a:rPr lang="en-US" sz="1500" b="1" dirty="0">
                <a:solidFill>
                  <a:srgbClr val="71D5DD"/>
                </a:solidFill>
                <a:latin typeface="Arial" pitchFamily="34" charset="0"/>
                <a:ea typeface="Arial" pitchFamily="34" charset="-122"/>
                <a:cs typeface="Arial" pitchFamily="34" charset="-120"/>
              </a:rPr>
              <a:t>PERFORMANCE</a:t>
            </a:r>
            <a:endParaRPr lang="en-US" sz="1500" dirty="0"/>
          </a:p>
        </p:txBody>
      </p:sp>
      <p:sp>
        <p:nvSpPr>
          <p:cNvPr id="11" name="Text 9"/>
          <p:cNvSpPr txBox="1"/>
          <p:nvPr/>
        </p:nvSpPr>
        <p:spPr>
          <a:xfrm>
            <a:off x="4496816" y="2487168"/>
            <a:ext cx="3198368" cy="658368"/>
          </a:xfrm>
          <a:prstGeom prst="rect">
            <a:avLst/>
          </a:prstGeom>
          <a:noFill/>
          <a:ln/>
        </p:spPr>
        <p:txBody>
          <a:bodyPr wrap="square" lIns="0" tIns="0" rIns="0" bIns="0" rtlCol="0" anchor="t"/>
          <a:lstStyle/>
          <a:p>
            <a:pPr algn="l" indent="0" marL="0">
              <a:lnSpc>
                <a:spcPct val="104000"/>
              </a:lnSpc>
              <a:buNone/>
            </a:pPr>
            <a:r>
              <a:rPr lang="en-US" sz="2100" dirty="0">
                <a:solidFill>
                  <a:srgbClr val="F4F7FB"/>
                </a:solidFill>
                <a:latin typeface="Arial" pitchFamily="34" charset="0"/>
                <a:ea typeface="Arial" pitchFamily="34" charset="-122"/>
                <a:cs typeface="Arial" pitchFamily="34" charset="-120"/>
              </a:rPr>
              <a:t>Latency and throughput</a:t>
            </a:r>
            <a:endParaRPr lang="en-US" sz="2100" dirty="0"/>
          </a:p>
        </p:txBody>
      </p:sp>
      <p:sp>
        <p:nvSpPr>
          <p:cNvPr id="12" name="Shape 10"/>
          <p:cNvSpPr/>
          <p:nvPr/>
        </p:nvSpPr>
        <p:spPr>
          <a:xfrm>
            <a:off x="8079232" y="1764792"/>
            <a:ext cx="3564128" cy="1536192"/>
          </a:xfrm>
          <a:prstGeom prst="rect">
            <a:avLst/>
          </a:prstGeom>
          <a:solidFill>
            <a:srgbClr val="142238"/>
          </a:solidFill>
          <a:ln w="8890">
            <a:solidFill>
              <a:srgbClr val="2B415A"/>
            </a:solidFill>
            <a:prstDash val="solid"/>
          </a:ln>
        </p:spPr>
        <p:txBody>
          <a:bodyPr/>
          <a:p/>
        </p:txBody>
      </p:sp>
      <p:sp>
        <p:nvSpPr>
          <p:cNvPr id="13" name="Text 11"/>
          <p:cNvSpPr txBox="1"/>
          <p:nvPr/>
        </p:nvSpPr>
        <p:spPr>
          <a:xfrm>
            <a:off x="8262112" y="1975104"/>
            <a:ext cx="3198368" cy="237744"/>
          </a:xfrm>
          <a:prstGeom prst="rect">
            <a:avLst/>
          </a:prstGeom>
          <a:noFill/>
          <a:ln/>
        </p:spPr>
        <p:txBody>
          <a:bodyPr wrap="square" lIns="0" tIns="0" rIns="0" bIns="0" rtlCol="0" anchor="t"/>
          <a:lstStyle/>
          <a:p>
            <a:pPr algn="l" indent="0" marL="0">
              <a:lnSpc>
                <a:spcPct val="104000"/>
              </a:lnSpc>
              <a:buNone/>
            </a:pPr>
            <a:r>
              <a:rPr lang="en-US" sz="1500" b="1" dirty="0">
                <a:solidFill>
                  <a:srgbClr val="71D5DD"/>
                </a:solidFill>
                <a:latin typeface="Arial" pitchFamily="34" charset="0"/>
                <a:ea typeface="Arial" pitchFamily="34" charset="-122"/>
                <a:cs typeface="Arial" pitchFamily="34" charset="-120"/>
              </a:rPr>
              <a:t>RESOURCES</a:t>
            </a:r>
            <a:endParaRPr lang="en-US" sz="1500" dirty="0"/>
          </a:p>
        </p:txBody>
      </p:sp>
      <p:sp>
        <p:nvSpPr>
          <p:cNvPr id="14" name="Text 12"/>
          <p:cNvSpPr txBox="1"/>
          <p:nvPr/>
        </p:nvSpPr>
        <p:spPr>
          <a:xfrm>
            <a:off x="8262112" y="2487168"/>
            <a:ext cx="3198368" cy="658368"/>
          </a:xfrm>
          <a:prstGeom prst="rect">
            <a:avLst/>
          </a:prstGeom>
          <a:noFill/>
          <a:ln/>
        </p:spPr>
        <p:txBody>
          <a:bodyPr wrap="square" lIns="0" tIns="0" rIns="0" bIns="0" rtlCol="0" anchor="t"/>
          <a:lstStyle/>
          <a:p>
            <a:pPr algn="l" indent="0" marL="0">
              <a:lnSpc>
                <a:spcPct val="104000"/>
              </a:lnSpc>
              <a:buNone/>
            </a:pPr>
            <a:r>
              <a:rPr lang="en-US" sz="2100" dirty="0">
                <a:solidFill>
                  <a:srgbClr val="F4F7FB"/>
                </a:solidFill>
                <a:latin typeface="Arial" pitchFamily="34" charset="0"/>
                <a:ea typeface="Arial" pitchFamily="34" charset="-122"/>
                <a:cs typeface="Arial" pitchFamily="34" charset="-120"/>
              </a:rPr>
              <a:t>Ownership and cleanup</a:t>
            </a:r>
            <a:endParaRPr lang="en-US" sz="2100" dirty="0"/>
          </a:p>
        </p:txBody>
      </p:sp>
      <p:sp>
        <p:nvSpPr>
          <p:cNvPr id="15" name="Shape 13"/>
          <p:cNvSpPr/>
          <p:nvPr/>
        </p:nvSpPr>
        <p:spPr>
          <a:xfrm>
            <a:off x="548640" y="3538728"/>
            <a:ext cx="3564128" cy="1536192"/>
          </a:xfrm>
          <a:prstGeom prst="rect">
            <a:avLst/>
          </a:prstGeom>
          <a:solidFill>
            <a:srgbClr val="142238"/>
          </a:solidFill>
          <a:ln w="8890">
            <a:solidFill>
              <a:srgbClr val="2B415A"/>
            </a:solidFill>
            <a:prstDash val="solid"/>
          </a:ln>
        </p:spPr>
        <p:txBody>
          <a:bodyPr/>
          <a:p/>
        </p:txBody>
      </p:sp>
      <p:sp>
        <p:nvSpPr>
          <p:cNvPr id="16" name="Text 14"/>
          <p:cNvSpPr txBox="1"/>
          <p:nvPr/>
        </p:nvSpPr>
        <p:spPr>
          <a:xfrm>
            <a:off x="731520" y="3749040"/>
            <a:ext cx="3198368" cy="237744"/>
          </a:xfrm>
          <a:prstGeom prst="rect">
            <a:avLst/>
          </a:prstGeom>
          <a:noFill/>
          <a:ln/>
        </p:spPr>
        <p:txBody>
          <a:bodyPr wrap="square" lIns="0" tIns="0" rIns="0" bIns="0" rtlCol="0" anchor="t"/>
          <a:lstStyle/>
          <a:p>
            <a:pPr algn="l" indent="0" marL="0">
              <a:lnSpc>
                <a:spcPct val="104000"/>
              </a:lnSpc>
              <a:buNone/>
            </a:pPr>
            <a:r>
              <a:rPr lang="en-US" sz="1500" b="1" dirty="0">
                <a:solidFill>
                  <a:srgbClr val="71D5DD"/>
                </a:solidFill>
                <a:latin typeface="Arial" pitchFamily="34" charset="0"/>
                <a:ea typeface="Arial" pitchFamily="34" charset="-122"/>
                <a:cs typeface="Arial" pitchFamily="34" charset="-120"/>
              </a:rPr>
              <a:t>CORRECTNESS</a:t>
            </a:r>
            <a:endParaRPr lang="en-US" sz="1500" dirty="0"/>
          </a:p>
        </p:txBody>
      </p:sp>
      <p:sp>
        <p:nvSpPr>
          <p:cNvPr id="17" name="Text 15"/>
          <p:cNvSpPr txBox="1"/>
          <p:nvPr/>
        </p:nvSpPr>
        <p:spPr>
          <a:xfrm>
            <a:off x="731520" y="4261104"/>
            <a:ext cx="3198368" cy="658368"/>
          </a:xfrm>
          <a:prstGeom prst="rect">
            <a:avLst/>
          </a:prstGeom>
          <a:noFill/>
          <a:ln/>
        </p:spPr>
        <p:txBody>
          <a:bodyPr wrap="square" lIns="0" tIns="0" rIns="0" bIns="0" rtlCol="0" anchor="t"/>
          <a:lstStyle/>
          <a:p>
            <a:pPr algn="l" indent="0" marL="0">
              <a:lnSpc>
                <a:spcPct val="104000"/>
              </a:lnSpc>
              <a:buNone/>
            </a:pPr>
            <a:r>
              <a:rPr lang="en-US" sz="2100" dirty="0">
                <a:solidFill>
                  <a:srgbClr val="F4F7FB"/>
                </a:solidFill>
                <a:latin typeface="Arial" pitchFamily="34" charset="0"/>
                <a:ea typeface="Arial" pitchFamily="34" charset="-122"/>
                <a:cs typeface="Arial" pitchFamily="34" charset="-120"/>
              </a:rPr>
              <a:t>Specifications and</a:t>
            </a:r>
            <a:endParaRPr lang="en-US" sz="2100" dirty="0"/>
          </a:p>
          <a:p>
            <a:pPr algn="l" indent="0" marL="0">
              <a:lnSpc>
                <a:spcPct val="104000"/>
              </a:lnSpc>
              <a:buNone/>
            </a:pPr>
            <a:r>
              <a:rPr lang="en-US" sz="2100" dirty="0">
                <a:solidFill>
                  <a:srgbClr val="F4F7FB"/>
                </a:solidFill>
                <a:latin typeface="Arial" pitchFamily="34" charset="0"/>
                <a:ea typeface="Arial" pitchFamily="34" charset="-122"/>
                <a:cs typeface="Arial" pitchFamily="34" charset="-120"/>
              </a:rPr>
              <a:t>invariants</a:t>
            </a:r>
            <a:endParaRPr lang="en-US" sz="2100" dirty="0"/>
          </a:p>
        </p:txBody>
      </p:sp>
      <p:sp>
        <p:nvSpPr>
          <p:cNvPr id="18" name="Shape 16"/>
          <p:cNvSpPr/>
          <p:nvPr/>
        </p:nvSpPr>
        <p:spPr>
          <a:xfrm>
            <a:off x="4313936" y="3538728"/>
            <a:ext cx="3564128" cy="1536192"/>
          </a:xfrm>
          <a:prstGeom prst="rect">
            <a:avLst/>
          </a:prstGeom>
          <a:solidFill>
            <a:srgbClr val="142238"/>
          </a:solidFill>
          <a:ln w="8890">
            <a:solidFill>
              <a:srgbClr val="2B415A"/>
            </a:solidFill>
            <a:prstDash val="solid"/>
          </a:ln>
        </p:spPr>
        <p:txBody>
          <a:bodyPr/>
          <a:p/>
        </p:txBody>
      </p:sp>
      <p:sp>
        <p:nvSpPr>
          <p:cNvPr id="19" name="Text 17"/>
          <p:cNvSpPr txBox="1"/>
          <p:nvPr/>
        </p:nvSpPr>
        <p:spPr>
          <a:xfrm>
            <a:off x="4496816" y="3749040"/>
            <a:ext cx="3198368" cy="237744"/>
          </a:xfrm>
          <a:prstGeom prst="rect">
            <a:avLst/>
          </a:prstGeom>
          <a:noFill/>
          <a:ln/>
        </p:spPr>
        <p:txBody>
          <a:bodyPr wrap="square" lIns="0" tIns="0" rIns="0" bIns="0" rtlCol="0" anchor="t"/>
          <a:lstStyle/>
          <a:p>
            <a:pPr algn="l" indent="0" marL="0">
              <a:lnSpc>
                <a:spcPct val="104000"/>
              </a:lnSpc>
              <a:buNone/>
            </a:pPr>
            <a:r>
              <a:rPr lang="en-US" sz="1500" b="1" dirty="0">
                <a:solidFill>
                  <a:srgbClr val="71D5DD"/>
                </a:solidFill>
                <a:latin typeface="Arial" pitchFamily="34" charset="0"/>
                <a:ea typeface="Arial" pitchFamily="34" charset="-122"/>
                <a:cs typeface="Arial" pitchFamily="34" charset="-120"/>
              </a:rPr>
              <a:t>ROBUSTNESS</a:t>
            </a:r>
            <a:endParaRPr lang="en-US" sz="1500" dirty="0"/>
          </a:p>
        </p:txBody>
      </p:sp>
      <p:sp>
        <p:nvSpPr>
          <p:cNvPr id="20" name="Text 18"/>
          <p:cNvSpPr txBox="1"/>
          <p:nvPr/>
        </p:nvSpPr>
        <p:spPr>
          <a:xfrm>
            <a:off x="4496816" y="4261104"/>
            <a:ext cx="3198368" cy="658368"/>
          </a:xfrm>
          <a:prstGeom prst="rect">
            <a:avLst/>
          </a:prstGeom>
          <a:noFill/>
          <a:ln/>
        </p:spPr>
        <p:txBody>
          <a:bodyPr wrap="square" lIns="0" tIns="0" rIns="0" bIns="0" rtlCol="0" anchor="t"/>
          <a:lstStyle/>
          <a:p>
            <a:pPr algn="l" indent="0" marL="0">
              <a:lnSpc>
                <a:spcPct val="104000"/>
              </a:lnSpc>
              <a:buNone/>
            </a:pPr>
            <a:r>
              <a:rPr lang="en-US" sz="2100" dirty="0">
                <a:solidFill>
                  <a:srgbClr val="F4F7FB"/>
                </a:solidFill>
                <a:latin typeface="Arial" pitchFamily="34" charset="0"/>
                <a:ea typeface="Arial" pitchFamily="34" charset="-122"/>
                <a:cs typeface="Arial" pitchFamily="34" charset="-120"/>
              </a:rPr>
              <a:t>Controlled failure</a:t>
            </a:r>
            <a:endParaRPr lang="en-US" sz="2100" dirty="0"/>
          </a:p>
        </p:txBody>
      </p:sp>
      <p:sp>
        <p:nvSpPr>
          <p:cNvPr id="21" name="Shape 19"/>
          <p:cNvSpPr/>
          <p:nvPr/>
        </p:nvSpPr>
        <p:spPr>
          <a:xfrm>
            <a:off x="8079232" y="3538728"/>
            <a:ext cx="3564128" cy="1536192"/>
          </a:xfrm>
          <a:prstGeom prst="rect">
            <a:avLst/>
          </a:prstGeom>
          <a:solidFill>
            <a:srgbClr val="142238"/>
          </a:solidFill>
          <a:ln w="8890">
            <a:solidFill>
              <a:srgbClr val="2B415A"/>
            </a:solidFill>
            <a:prstDash val="solid"/>
          </a:ln>
        </p:spPr>
        <p:txBody>
          <a:bodyPr/>
          <a:p/>
        </p:txBody>
      </p:sp>
      <p:sp>
        <p:nvSpPr>
          <p:cNvPr id="22" name="Text 20"/>
          <p:cNvSpPr txBox="1"/>
          <p:nvPr/>
        </p:nvSpPr>
        <p:spPr>
          <a:xfrm>
            <a:off x="8262112" y="3749040"/>
            <a:ext cx="3198368" cy="237744"/>
          </a:xfrm>
          <a:prstGeom prst="rect">
            <a:avLst/>
          </a:prstGeom>
          <a:noFill/>
          <a:ln/>
        </p:spPr>
        <p:txBody>
          <a:bodyPr wrap="square" lIns="0" tIns="0" rIns="0" bIns="0" rtlCol="0" anchor="t"/>
          <a:lstStyle/>
          <a:p>
            <a:pPr algn="l" indent="0" marL="0">
              <a:lnSpc>
                <a:spcPct val="104000"/>
              </a:lnSpc>
              <a:buNone/>
            </a:pPr>
            <a:r>
              <a:rPr lang="en-US" sz="1500" b="1" dirty="0">
                <a:solidFill>
                  <a:srgbClr val="71D5DD"/>
                </a:solidFill>
                <a:latin typeface="Arial" pitchFamily="34" charset="0"/>
                <a:ea typeface="Arial" pitchFamily="34" charset="-122"/>
                <a:cs typeface="Arial" pitchFamily="34" charset="-120"/>
              </a:rPr>
              <a:t>PORTABILITY</a:t>
            </a:r>
            <a:endParaRPr lang="en-US" sz="1500" dirty="0"/>
          </a:p>
        </p:txBody>
      </p:sp>
      <p:sp>
        <p:nvSpPr>
          <p:cNvPr id="23" name="Text 21"/>
          <p:cNvSpPr txBox="1"/>
          <p:nvPr/>
        </p:nvSpPr>
        <p:spPr>
          <a:xfrm>
            <a:off x="8262112" y="4261104"/>
            <a:ext cx="3198368" cy="658368"/>
          </a:xfrm>
          <a:prstGeom prst="rect">
            <a:avLst/>
          </a:prstGeom>
          <a:noFill/>
          <a:ln/>
        </p:spPr>
        <p:txBody>
          <a:bodyPr wrap="square" lIns="0" tIns="0" rIns="0" bIns="0" rtlCol="0" anchor="t"/>
          <a:lstStyle/>
          <a:p>
            <a:pPr algn="l" indent="0" marL="0">
              <a:lnSpc>
                <a:spcPct val="104000"/>
              </a:lnSpc>
              <a:buNone/>
            </a:pPr>
            <a:r>
              <a:rPr lang="en-US" sz="2100" dirty="0">
                <a:solidFill>
                  <a:srgbClr val="F4F7FB"/>
                </a:solidFill>
                <a:latin typeface="Arial" pitchFamily="34" charset="0"/>
                <a:ea typeface="Arial" pitchFamily="34" charset="-122"/>
                <a:cs typeface="Arial" pitchFamily="34" charset="-120"/>
              </a:rPr>
              <a:t>Visible, testable</a:t>
            </a:r>
            <a:endParaRPr lang="en-US" sz="2100" dirty="0"/>
          </a:p>
          <a:p>
            <a:pPr algn="l" indent="0" marL="0">
              <a:lnSpc>
                <a:spcPct val="104000"/>
              </a:lnSpc>
              <a:buNone/>
            </a:pPr>
            <a:r>
              <a:rPr lang="en-US" sz="2100" dirty="0">
                <a:solidFill>
                  <a:srgbClr val="F4F7FB"/>
                </a:solidFill>
                <a:latin typeface="Arial" pitchFamily="34" charset="0"/>
                <a:ea typeface="Arial" pitchFamily="34" charset="-122"/>
                <a:cs typeface="Arial" pitchFamily="34" charset="-120"/>
              </a:rPr>
              <a:t>assumptions</a:t>
            </a:r>
            <a:endParaRPr lang="en-US" sz="2100" dirty="0"/>
          </a:p>
        </p:txBody>
      </p:sp>
      <p:sp>
        <p:nvSpPr>
          <p:cNvPr id="28" name="Text 26"/>
          <p:cNvSpPr txBox="1"/>
          <p:nvPr/>
        </p:nvSpPr>
        <p:spPr>
          <a:xfrm>
            <a:off x="548640" y="6601968"/>
            <a:ext cx="10241280" cy="128016"/>
          </a:xfrm>
          <a:prstGeom prst="rect">
            <a:avLst/>
          </a:prstGeom>
          <a:noFill/>
          <a:ln/>
        </p:spPr>
        <p:txBody>
          <a:bodyPr wrap="square" lIns="0" tIns="0" rIns="0" bIns="0" rtlCol="0" anchor="t"/>
          <a:lstStyle/>
          <a:p>
            <a:pPr algn="l" indent="0" marL="0">
              <a:lnSpc>
                <a:spcPct val="104000"/>
              </a:lnSpc>
              <a:buNone/>
            </a:pPr>
            <a:r>
              <a:rPr lang="en-US" sz="830" dirty="0">
                <a:solidFill>
                  <a:srgbClr val="B3C3D6"/>
                </a:solidFill>
                <a:latin typeface="Arial" pitchFamily="34" charset="0"/>
                <a:ea typeface="Arial" pitchFamily="34" charset="-122"/>
                <a:cs typeface="Arial" pitchFamily="34" charset="-120"/>
              </a:rPr>
              <a:t>Source: original 13</a:t>
            </a:r>
            <a:endParaRPr lang="en-US" sz="830" dirty="0"/>
          </a:p>
        </p:txBody>
      </p:sp>
      <p:sp>
        <p:nvSpPr>
          <p:cNvPr id="29" name="Text 27"/>
          <p:cNvSpPr txBox="1"/>
          <p:nvPr/>
        </p:nvSpPr>
        <p:spPr>
          <a:xfrm>
            <a:off x="10917936" y="6565392"/>
            <a:ext cx="722376" cy="219456"/>
          </a:xfrm>
          <a:prstGeom prst="rect">
            <a:avLst/>
          </a:prstGeom>
          <a:noFill/>
          <a:ln/>
        </p:spPr>
        <p:txBody>
          <a:bodyPr wrap="square" lIns="0" tIns="0" rIns="0" bIns="0" rtlCol="0" anchor="t"/>
          <a:lstStyle/>
          <a:p>
            <a:pPr algn="r" indent="0" marL="0">
              <a:lnSpc>
                <a:spcPct val="104000"/>
              </a:lnSpc>
              <a:buNone/>
            </a:pPr>
            <a:r>
              <a:rPr lang="en-US" sz="1050" dirty="0">
                <a:solidFill>
                  <a:srgbClr val="B3C3D6"/>
                </a:solidFill>
                <a:latin typeface="Arial" pitchFamily="34" charset="0"/>
                <a:ea typeface="Arial" pitchFamily="34" charset="-122"/>
                <a:cs typeface="Arial" pitchFamily="34" charset="-120"/>
              </a:rPr>
              <a:t>37 / 64</a:t>
            </a:r>
            <a:endParaRPr lang="en-US" sz="1050" dirty="0"/>
          </a:p>
        </p:txBody>
      </p:sp>
      <p:sp>
        <p:nvSpPr>
          <p:cNvPr id="30" name="Shape 28"/>
          <p:cNvSpPr/>
          <p:nvPr/>
        </p:nvSpPr>
        <p:spPr>
          <a:xfrm>
            <a:off x="0" y="6834226"/>
            <a:ext cx="12192000" cy="23774"/>
          </a:xfrm>
          <a:prstGeom prst="rect">
            <a:avLst/>
          </a:prstGeom>
          <a:solidFill>
            <a:srgbClr val="2B415A"/>
          </a:solidFill>
          <a:ln w="8890">
            <a:solidFill>
              <a:srgbClr val="2B415A"/>
            </a:solidFill>
            <a:prstDash val="solid"/>
          </a:ln>
        </p:spPr>
        <p:txBody>
          <a:bodyPr/>
          <a:p/>
        </p:txBody>
      </p:sp>
      <p:sp>
        <p:nvSpPr>
          <p:cNvPr id="31" name="Shape 29"/>
          <p:cNvSpPr/>
          <p:nvPr/>
        </p:nvSpPr>
        <p:spPr>
          <a:xfrm>
            <a:off x="0" y="6834226"/>
            <a:ext cx="7048500" cy="23774"/>
          </a:xfrm>
          <a:prstGeom prst="rect">
            <a:avLst/>
          </a:prstGeom>
          <a:solidFill>
            <a:srgbClr val="71D5DD"/>
          </a:solidFill>
          <a:ln w="8890">
            <a:solidFill>
              <a:srgbClr val="71D5DD"/>
            </a:solidFill>
            <a:prstDash val="solid"/>
          </a:ln>
        </p:spPr>
        <p:txBody>
          <a:body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txBox="1"/>
          <p:nvPr/>
        </p:nvSpPr>
        <p:spPr>
          <a:xfrm>
            <a:off x="548640" y="219456"/>
            <a:ext cx="9875520" cy="192024"/>
          </a:xfrm>
          <a:prstGeom prst="rect">
            <a:avLst/>
          </a:prstGeom>
          <a:noFill/>
          <a:ln/>
        </p:spPr>
        <p:txBody>
          <a:bodyPr wrap="square" lIns="0" tIns="0" rIns="0" bIns="0" rtlCol="0" anchor="t"/>
          <a:lstStyle/>
          <a:p>
            <a:pPr algn="l" indent="0" marL="0">
              <a:lnSpc>
                <a:spcPct val="104000"/>
              </a:lnSpc>
              <a:buNone/>
            </a:pPr>
            <a:r>
              <a:rPr lang="en-US" sz="970" b="1" spc="135" kern="0" dirty="0">
                <a:solidFill>
                  <a:srgbClr val="B3C3D6"/>
                </a:solidFill>
                <a:latin typeface="Arial" pitchFamily="34" charset="0"/>
                <a:ea typeface="Arial" pitchFamily="34" charset="-122"/>
                <a:cs typeface="Arial" pitchFamily="34" charset="-120"/>
              </a:rPr>
              <a:t>SYSTEMS PROGRAMMING AND MACHINE ORGANIZATION</a:t>
            </a:r>
            <a:endParaRPr lang="en-US" sz="970" dirty="0"/>
          </a:p>
        </p:txBody>
      </p:sp>
      <p:sp>
        <p:nvSpPr>
          <p:cNvPr id="3" name="Text 1"/>
          <p:cNvSpPr txBox="1"/>
          <p:nvPr/>
        </p:nvSpPr>
        <p:spPr>
          <a:xfrm>
            <a:off x="9601200" y="219456"/>
            <a:ext cx="2039112" cy="192024"/>
          </a:xfrm>
          <a:prstGeom prst="rect">
            <a:avLst/>
          </a:prstGeom>
          <a:noFill/>
          <a:ln/>
        </p:spPr>
        <p:txBody>
          <a:bodyPr wrap="square" lIns="0" tIns="0" rIns="0" bIns="0" rtlCol="0" anchor="t"/>
          <a:lstStyle/>
          <a:p>
            <a:pPr algn="r" indent="0" marL="0">
              <a:lnSpc>
                <a:spcPct val="104000"/>
              </a:lnSpc>
              <a:buNone/>
            </a:pPr>
            <a:r>
              <a:rPr lang="en-US" sz="970" b="1" dirty="0">
                <a:solidFill>
                  <a:srgbClr val="B3C3D6"/>
                </a:solidFill>
                <a:latin typeface="Arial" pitchFamily="34" charset="0"/>
                <a:ea typeface="Arial" pitchFamily="34" charset="-122"/>
                <a:cs typeface="Arial" pitchFamily="34" charset="-120"/>
              </a:rPr>
              <a:t>CHARLES DORNER</a:t>
            </a:r>
            <a:endParaRPr lang="en-US" sz="970" dirty="0"/>
          </a:p>
        </p:txBody>
      </p:sp>
      <p:sp>
        <p:nvSpPr>
          <p:cNvPr id="4" name="Text 2"/>
          <p:cNvSpPr txBox="1"/>
          <p:nvPr/>
        </p:nvSpPr>
        <p:spPr>
          <a:xfrm>
            <a:off x="548640" y="566928"/>
            <a:ext cx="11109960" cy="237744"/>
          </a:xfrm>
          <a:prstGeom prst="rect">
            <a:avLst/>
          </a:prstGeom>
          <a:noFill/>
          <a:ln/>
        </p:spPr>
        <p:txBody>
          <a:bodyPr wrap="square" lIns="0" tIns="0" rIns="0" bIns="0" rtlCol="0" anchor="t"/>
          <a:lstStyle/>
          <a:p>
            <a:pPr algn="l" indent="0" marL="0">
              <a:lnSpc>
                <a:spcPct val="104000"/>
              </a:lnSpc>
              <a:buNone/>
            </a:pPr>
            <a:r>
              <a:rPr lang="en-US" sz="1150" b="1" dirty="0">
                <a:solidFill>
                  <a:srgbClr val="71D5DD"/>
                </a:solidFill>
                <a:latin typeface="Arial" pitchFamily="34" charset="0"/>
                <a:ea typeface="Arial" pitchFamily="34" charset="-122"/>
                <a:cs typeface="Arial" pitchFamily="34" charset="-120"/>
              </a:rPr>
              <a:t>1.3.1 · REPRESENTATION</a:t>
            </a:r>
            <a:endParaRPr lang="en-US" sz="1150" dirty="0"/>
          </a:p>
        </p:txBody>
      </p:sp>
      <p:sp>
        <p:nvSpPr>
          <p:cNvPr id="5" name="Text 3"/>
          <p:cNvSpPr txBox="1"/>
          <p:nvPr/>
        </p:nvSpPr>
        <p:spPr>
          <a:xfrm>
            <a:off x="548640" y="941832"/>
            <a:ext cx="11091672" cy="676656"/>
          </a:xfrm>
          <a:prstGeom prst="rect">
            <a:avLst/>
          </a:prstGeom>
          <a:noFill/>
          <a:ln/>
        </p:spPr>
        <p:txBody>
          <a:bodyPr wrap="square" lIns="0" tIns="0" rIns="0" bIns="0" rtlCol="0" anchor="t"/>
          <a:lstStyle/>
          <a:p>
            <a:pPr algn="l" indent="0" marL="0">
              <a:lnSpc>
                <a:spcPct val="104000"/>
              </a:lnSpc>
              <a:buNone/>
            </a:pPr>
            <a:r>
              <a:rPr lang="en-US" sz="3150" b="1" dirty="0">
                <a:solidFill>
                  <a:srgbClr val="F4F7FB"/>
                </a:solidFill>
                <a:latin typeface="Arial" pitchFamily="34" charset="0"/>
                <a:ea typeface="Arial" pitchFamily="34" charset="-122"/>
                <a:cs typeface="Arial" pitchFamily="34" charset="-120"/>
              </a:rPr>
              <a:t>Low-level reasoning makes representation explicit</a:t>
            </a:r>
            <a:endParaRPr lang="en-US" sz="3150" dirty="0"/>
          </a:p>
        </p:txBody>
      </p:sp>
      <p:sp>
        <p:nvSpPr>
          <p:cNvPr id="6" name="Shape 4"/>
          <p:cNvSpPr/>
          <p:nvPr/>
        </p:nvSpPr>
        <p:spPr>
          <a:xfrm>
            <a:off x="548640" y="1764792"/>
            <a:ext cx="5446776" cy="3310128"/>
          </a:xfrm>
          <a:prstGeom prst="rect">
            <a:avLst/>
          </a:prstGeom>
          <a:solidFill>
            <a:srgbClr val="142238"/>
          </a:solidFill>
          <a:ln w="8890">
            <a:solidFill>
              <a:srgbClr val="2B415A"/>
            </a:solidFill>
            <a:prstDash val="solid"/>
          </a:ln>
        </p:spPr>
        <p:txBody>
          <a:bodyPr/>
          <a:p/>
        </p:txBody>
      </p:sp>
      <p:sp>
        <p:nvSpPr>
          <p:cNvPr id="7" name="Shape 5"/>
          <p:cNvSpPr/>
          <p:nvPr/>
        </p:nvSpPr>
        <p:spPr>
          <a:xfrm>
            <a:off x="548640" y="1764792"/>
            <a:ext cx="41148" cy="3310128"/>
          </a:xfrm>
          <a:prstGeom prst="rect">
            <a:avLst/>
          </a:prstGeom>
          <a:solidFill>
            <a:srgbClr val="71D5DD"/>
          </a:solidFill>
          <a:ln w="8890">
            <a:solidFill>
              <a:srgbClr val="71D5DD"/>
            </a:solidFill>
            <a:prstDash val="solid"/>
          </a:ln>
        </p:spPr>
        <p:txBody>
          <a:bodyPr/>
          <a:p/>
        </p:txBody>
      </p:sp>
      <p:sp>
        <p:nvSpPr>
          <p:cNvPr id="8" name="Text 6"/>
          <p:cNvSpPr txBox="1"/>
          <p:nvPr/>
        </p:nvSpPr>
        <p:spPr>
          <a:xfrm>
            <a:off x="758952" y="1975104"/>
            <a:ext cx="5017008" cy="557784"/>
          </a:xfrm>
          <a:prstGeom prst="rect">
            <a:avLst/>
          </a:prstGeom>
          <a:noFill/>
          <a:ln/>
        </p:spPr>
        <p:txBody>
          <a:bodyPr wrap="square" lIns="0" tIns="0" rIns="0" bIns="0" rtlCol="0" anchor="t"/>
          <a:lstStyle/>
          <a:p>
            <a:pPr algn="l" indent="0" marL="0">
              <a:lnSpc>
                <a:spcPct val="104000"/>
              </a:lnSpc>
              <a:buNone/>
            </a:pPr>
            <a:r>
              <a:rPr lang="en-US" sz="1750" b="1" dirty="0">
                <a:solidFill>
                  <a:srgbClr val="71D5DD"/>
                </a:solidFill>
                <a:latin typeface="Arial" pitchFamily="34" charset="0"/>
                <a:ea typeface="Arial" pitchFamily="34" charset="-122"/>
                <a:cs typeface="Arial" pitchFamily="34" charset="-120"/>
              </a:rPr>
              <a:t>INTERNAL REPRESENTATION</a:t>
            </a:r>
            <a:endParaRPr lang="en-US" sz="1750" dirty="0"/>
          </a:p>
        </p:txBody>
      </p:sp>
      <p:sp>
        <p:nvSpPr>
          <p:cNvPr id="9" name="Text 7"/>
          <p:cNvSpPr txBox="1"/>
          <p:nvPr/>
        </p:nvSpPr>
        <p:spPr>
          <a:xfrm>
            <a:off x="758952" y="2642616"/>
            <a:ext cx="5017008" cy="2267712"/>
          </a:xfrm>
          <a:prstGeom prst="rect">
            <a:avLst/>
          </a:prstGeom>
          <a:noFill/>
          <a:ln/>
        </p:spPr>
        <p:txBody>
          <a:bodyPr wrap="square" lIns="0" tIns="0" rIns="0" bIns="0" rtlCol="0" anchor="t"/>
          <a:lstStyle/>
          <a:p>
            <a:pPr algn="l" indent="0" marL="0">
              <a:lnSpc>
                <a:spcPct val="104000"/>
              </a:lnSpc>
              <a:buNone/>
            </a:pPr>
            <a:r>
              <a:rPr lang="en-US" sz="2300" dirty="0">
                <a:solidFill>
                  <a:srgbClr val="F4F7FB"/>
                </a:solidFill>
                <a:latin typeface="Arial" pitchFamily="34" charset="0"/>
                <a:ea typeface="Arial" pitchFamily="34" charset="-122"/>
                <a:cs typeface="Arial" pitchFamily="34" charset="-120"/>
              </a:rPr>
              <a:t>Values in registers and memory.</a:t>
            </a:r>
            <a:endParaRPr lang="en-US" sz="2300" dirty="0"/>
          </a:p>
          <a:p>
            <a:pPr algn="l" indent="0" marL="0">
              <a:lnSpc>
                <a:spcPct val="104000"/>
              </a:lnSpc>
              <a:buNone/>
            </a:pPr>
            <a:r>
              <a:rPr lang="en-US" sz="2300" dirty="0">
                <a:solidFill>
                  <a:srgbClr val="F4F7FB"/>
                </a:solidFill>
                <a:latin typeface="Arial" pitchFamily="34" charset="0"/>
                <a:ea typeface="Arial" pitchFamily="34" charset="-122"/>
                <a:cs typeface="Arial" pitchFamily="34" charset="-120"/>
              </a:rPr>
              <a:t>Language and platform layout rules.</a:t>
            </a:r>
            <a:endParaRPr lang="en-US" sz="2300" dirty="0"/>
          </a:p>
          <a:p>
            <a:pPr algn="l" indent="0" marL="0">
              <a:lnSpc>
                <a:spcPct val="104000"/>
              </a:lnSpc>
              <a:buNone/>
            </a:pPr>
            <a:r>
              <a:rPr lang="en-US" sz="2300" dirty="0">
                <a:solidFill>
                  <a:srgbClr val="F4F7FB"/>
                </a:solidFill>
                <a:latin typeface="Arial" pitchFamily="34" charset="0"/>
                <a:ea typeface="Arial" pitchFamily="34" charset="-122"/>
                <a:cs typeface="Arial" pitchFamily="34" charset="-120"/>
              </a:rPr>
              <a:t>Lifetimes, addresses, and alignment.</a:t>
            </a:r>
            <a:endParaRPr lang="en-US" sz="2300" dirty="0"/>
          </a:p>
        </p:txBody>
      </p:sp>
      <p:sp>
        <p:nvSpPr>
          <p:cNvPr id="10" name="Shape 8"/>
          <p:cNvSpPr/>
          <p:nvPr/>
        </p:nvSpPr>
        <p:spPr>
          <a:xfrm>
            <a:off x="6196584" y="1764792"/>
            <a:ext cx="5446776" cy="3310128"/>
          </a:xfrm>
          <a:prstGeom prst="rect">
            <a:avLst/>
          </a:prstGeom>
          <a:solidFill>
            <a:srgbClr val="142238"/>
          </a:solidFill>
          <a:ln w="8890">
            <a:solidFill>
              <a:srgbClr val="2B415A"/>
            </a:solidFill>
            <a:prstDash val="solid"/>
          </a:ln>
        </p:spPr>
        <p:txBody>
          <a:bodyPr/>
          <a:p/>
        </p:txBody>
      </p:sp>
      <p:sp>
        <p:nvSpPr>
          <p:cNvPr id="11" name="Shape 9"/>
          <p:cNvSpPr/>
          <p:nvPr/>
        </p:nvSpPr>
        <p:spPr>
          <a:xfrm>
            <a:off x="6196584" y="1764792"/>
            <a:ext cx="41148" cy="3310128"/>
          </a:xfrm>
          <a:prstGeom prst="rect">
            <a:avLst/>
          </a:prstGeom>
          <a:solidFill>
            <a:srgbClr val="71D5DD"/>
          </a:solidFill>
          <a:ln w="8890">
            <a:solidFill>
              <a:srgbClr val="71D5DD"/>
            </a:solidFill>
            <a:prstDash val="solid"/>
          </a:ln>
        </p:spPr>
        <p:txBody>
          <a:bodyPr/>
          <a:p/>
        </p:txBody>
      </p:sp>
      <p:sp>
        <p:nvSpPr>
          <p:cNvPr id="12" name="Text 10"/>
          <p:cNvSpPr txBox="1"/>
          <p:nvPr/>
        </p:nvSpPr>
        <p:spPr>
          <a:xfrm>
            <a:off x="6406896" y="1975104"/>
            <a:ext cx="5017008" cy="557784"/>
          </a:xfrm>
          <a:prstGeom prst="rect">
            <a:avLst/>
          </a:prstGeom>
          <a:noFill/>
          <a:ln/>
        </p:spPr>
        <p:txBody>
          <a:bodyPr wrap="square" lIns="0" tIns="0" rIns="0" bIns="0" rtlCol="0" anchor="t"/>
          <a:lstStyle/>
          <a:p>
            <a:pPr algn="l" indent="0" marL="0">
              <a:lnSpc>
                <a:spcPct val="104000"/>
              </a:lnSpc>
              <a:buNone/>
            </a:pPr>
            <a:r>
              <a:rPr lang="en-US" sz="1750" b="1" dirty="0">
                <a:solidFill>
                  <a:srgbClr val="71D5DD"/>
                </a:solidFill>
                <a:latin typeface="Arial" pitchFamily="34" charset="0"/>
                <a:ea typeface="Arial" pitchFamily="34" charset="-122"/>
                <a:cs typeface="Arial" pitchFamily="34" charset="-120"/>
              </a:rPr>
              <a:t>EXTERNAL REPRESENTATION</a:t>
            </a:r>
            <a:endParaRPr lang="en-US" sz="1750" dirty="0"/>
          </a:p>
        </p:txBody>
      </p:sp>
      <p:sp>
        <p:nvSpPr>
          <p:cNvPr id="13" name="Text 11"/>
          <p:cNvSpPr txBox="1"/>
          <p:nvPr/>
        </p:nvSpPr>
        <p:spPr>
          <a:xfrm>
            <a:off x="6406896" y="2642616"/>
            <a:ext cx="5017008" cy="2267712"/>
          </a:xfrm>
          <a:prstGeom prst="rect">
            <a:avLst/>
          </a:prstGeom>
          <a:noFill/>
          <a:ln/>
        </p:spPr>
        <p:txBody>
          <a:bodyPr wrap="square" lIns="0" tIns="0" rIns="0" bIns="0" rtlCol="0" anchor="t"/>
          <a:lstStyle/>
          <a:p>
            <a:pPr algn="l" indent="0" marL="0">
              <a:lnSpc>
                <a:spcPct val="104000"/>
              </a:lnSpc>
              <a:buNone/>
            </a:pPr>
            <a:r>
              <a:rPr lang="en-US" sz="2300" dirty="0">
                <a:solidFill>
                  <a:srgbClr val="F4F7FB"/>
                </a:solidFill>
                <a:latin typeface="Arial" pitchFamily="34" charset="0"/>
                <a:ea typeface="Arial" pitchFamily="34" charset="-122"/>
                <a:cs typeface="Arial" pitchFamily="34" charset="-120"/>
              </a:rPr>
              <a:t>A file or protocol format.</a:t>
            </a:r>
            <a:endParaRPr lang="en-US" sz="2300" dirty="0"/>
          </a:p>
          <a:p>
            <a:pPr algn="l" indent="0" marL="0">
              <a:lnSpc>
                <a:spcPct val="104000"/>
              </a:lnSpc>
              <a:buNone/>
            </a:pPr>
            <a:r>
              <a:rPr lang="en-US" sz="2300" dirty="0">
                <a:solidFill>
                  <a:srgbClr val="F4F7FB"/>
                </a:solidFill>
                <a:latin typeface="Arial" pitchFamily="34" charset="0"/>
                <a:ea typeface="Arial" pitchFamily="34" charset="-122"/>
                <a:cs typeface="Arial" pitchFamily="34" charset="-120"/>
              </a:rPr>
              <a:t>Explicit field sizes and byte order.</a:t>
            </a:r>
            <a:endParaRPr lang="en-US" sz="2300" dirty="0"/>
          </a:p>
          <a:p>
            <a:pPr algn="l" indent="0" marL="0">
              <a:lnSpc>
                <a:spcPct val="104000"/>
              </a:lnSpc>
              <a:buNone/>
            </a:pPr>
            <a:r>
              <a:rPr lang="en-US" sz="2300" dirty="0">
                <a:solidFill>
                  <a:srgbClr val="F4F7FB"/>
                </a:solidFill>
                <a:latin typeface="Arial" pitchFamily="34" charset="0"/>
                <a:ea typeface="Arial" pitchFamily="34" charset="-122"/>
                <a:cs typeface="Arial" pitchFamily="34" charset="-120"/>
              </a:rPr>
              <a:t>Meaning shared by independent</a:t>
            </a:r>
            <a:endParaRPr lang="en-US" sz="2300" dirty="0"/>
          </a:p>
          <a:p>
            <a:pPr algn="l" indent="0" marL="0">
              <a:lnSpc>
                <a:spcPct val="104000"/>
              </a:lnSpc>
              <a:buNone/>
            </a:pPr>
            <a:r>
              <a:rPr lang="en-US" sz="2300" dirty="0">
                <a:solidFill>
                  <a:srgbClr val="F4F7FB"/>
                </a:solidFill>
                <a:latin typeface="Arial" pitchFamily="34" charset="0"/>
                <a:ea typeface="Arial" pitchFamily="34" charset="-122"/>
                <a:cs typeface="Arial" pitchFamily="34" charset="-120"/>
              </a:rPr>
              <a:t>readers.</a:t>
            </a:r>
            <a:endParaRPr lang="en-US" sz="2300" dirty="0"/>
          </a:p>
        </p:txBody>
      </p:sp>
      <p:sp>
        <p:nvSpPr>
          <p:cNvPr id="14" name="Text 12"/>
          <p:cNvSpPr txBox="1"/>
          <p:nvPr/>
        </p:nvSpPr>
        <p:spPr>
          <a:xfrm>
            <a:off x="548640" y="5193792"/>
            <a:ext cx="11094720" cy="274320"/>
          </a:xfrm>
          <a:prstGeom prst="rect">
            <a:avLst/>
          </a:prstGeom>
          <a:noFill/>
          <a:ln/>
        </p:spPr>
        <p:txBody>
          <a:bodyPr wrap="square" lIns="0" tIns="0" rIns="0" bIns="0" rtlCol="0" anchor="t"/>
          <a:lstStyle/>
          <a:p>
            <a:pPr algn="l" indent="0" marL="0">
              <a:lnSpc>
                <a:spcPct val="104000"/>
              </a:lnSpc>
              <a:buNone/>
            </a:pPr>
            <a:r>
              <a:rPr lang="en-US" sz="1140" dirty="0">
                <a:solidFill>
                  <a:srgbClr val="B3C3D6"/>
                </a:solidFill>
                <a:latin typeface="Arial" pitchFamily="34" charset="0"/>
                <a:ea typeface="Arial" pitchFamily="34" charset="-122"/>
                <a:cs typeface="Arial" pitchFamily="34" charset="-120"/>
              </a:rPr>
              <a:t>An in-memory object layout is not automatically a stable file or network format.</a:t>
            </a:r>
            <a:endParaRPr lang="en-US" sz="1140" dirty="0"/>
          </a:p>
        </p:txBody>
      </p:sp>
      <p:sp>
        <p:nvSpPr>
          <p:cNvPr id="19" name="Text 17"/>
          <p:cNvSpPr txBox="1"/>
          <p:nvPr/>
        </p:nvSpPr>
        <p:spPr>
          <a:xfrm>
            <a:off x="548640" y="6601968"/>
            <a:ext cx="10241280" cy="128016"/>
          </a:xfrm>
          <a:prstGeom prst="rect">
            <a:avLst/>
          </a:prstGeom>
          <a:noFill/>
          <a:ln/>
        </p:spPr>
        <p:txBody>
          <a:bodyPr wrap="square" lIns="0" tIns="0" rIns="0" bIns="0" rtlCol="0" anchor="t"/>
          <a:lstStyle/>
          <a:p>
            <a:pPr algn="l" indent="0" marL="0">
              <a:lnSpc>
                <a:spcPct val="104000"/>
              </a:lnSpc>
              <a:buNone/>
            </a:pPr>
            <a:r>
              <a:rPr lang="en-US" sz="830" dirty="0">
                <a:solidFill>
                  <a:srgbClr val="B3C3D6"/>
                </a:solidFill>
                <a:latin typeface="Arial" pitchFamily="34" charset="0"/>
                <a:ea typeface="Arial" pitchFamily="34" charset="-122"/>
                <a:cs typeface="Arial" pitchFamily="34" charset="-120"/>
              </a:rPr>
              <a:t>Source: original 3, 13, 15 • Graduate extension</a:t>
            </a:r>
            <a:endParaRPr lang="en-US" sz="830" dirty="0"/>
          </a:p>
        </p:txBody>
      </p:sp>
      <p:sp>
        <p:nvSpPr>
          <p:cNvPr id="20" name="Text 18"/>
          <p:cNvSpPr txBox="1"/>
          <p:nvPr/>
        </p:nvSpPr>
        <p:spPr>
          <a:xfrm>
            <a:off x="10917936" y="6565392"/>
            <a:ext cx="722376" cy="219456"/>
          </a:xfrm>
          <a:prstGeom prst="rect">
            <a:avLst/>
          </a:prstGeom>
          <a:noFill/>
          <a:ln/>
        </p:spPr>
        <p:txBody>
          <a:bodyPr wrap="square" lIns="0" tIns="0" rIns="0" bIns="0" rtlCol="0" anchor="t"/>
          <a:lstStyle/>
          <a:p>
            <a:pPr algn="r" indent="0" marL="0">
              <a:lnSpc>
                <a:spcPct val="104000"/>
              </a:lnSpc>
              <a:buNone/>
            </a:pPr>
            <a:r>
              <a:rPr lang="en-US" sz="1050" dirty="0">
                <a:solidFill>
                  <a:srgbClr val="B3C3D6"/>
                </a:solidFill>
                <a:latin typeface="Arial" pitchFamily="34" charset="0"/>
                <a:ea typeface="Arial" pitchFamily="34" charset="-122"/>
                <a:cs typeface="Arial" pitchFamily="34" charset="-120"/>
              </a:rPr>
              <a:t>38 / 64</a:t>
            </a:r>
            <a:endParaRPr lang="en-US" sz="1050" dirty="0"/>
          </a:p>
        </p:txBody>
      </p:sp>
      <p:sp>
        <p:nvSpPr>
          <p:cNvPr id="21" name="Shape 19"/>
          <p:cNvSpPr/>
          <p:nvPr/>
        </p:nvSpPr>
        <p:spPr>
          <a:xfrm>
            <a:off x="0" y="6834226"/>
            <a:ext cx="12192000" cy="23774"/>
          </a:xfrm>
          <a:prstGeom prst="rect">
            <a:avLst/>
          </a:prstGeom>
          <a:solidFill>
            <a:srgbClr val="2B415A"/>
          </a:solidFill>
          <a:ln w="8890">
            <a:solidFill>
              <a:srgbClr val="2B415A"/>
            </a:solidFill>
            <a:prstDash val="solid"/>
          </a:ln>
        </p:spPr>
        <p:txBody>
          <a:bodyPr/>
          <a:p/>
        </p:txBody>
      </p:sp>
      <p:sp>
        <p:nvSpPr>
          <p:cNvPr id="22" name="Shape 20"/>
          <p:cNvSpPr/>
          <p:nvPr/>
        </p:nvSpPr>
        <p:spPr>
          <a:xfrm>
            <a:off x="0" y="6834226"/>
            <a:ext cx="7239000" cy="23774"/>
          </a:xfrm>
          <a:prstGeom prst="rect">
            <a:avLst/>
          </a:prstGeom>
          <a:solidFill>
            <a:srgbClr val="71D5DD"/>
          </a:solidFill>
          <a:ln w="8890">
            <a:solidFill>
              <a:srgbClr val="71D5DD"/>
            </a:solidFill>
            <a:prstDash val="solid"/>
          </a:ln>
        </p:spPr>
        <p:txBody>
          <a:body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txBox="1"/>
          <p:nvPr/>
        </p:nvSpPr>
        <p:spPr>
          <a:xfrm>
            <a:off x="548640" y="219456"/>
            <a:ext cx="9875520" cy="192024"/>
          </a:xfrm>
          <a:prstGeom prst="rect">
            <a:avLst/>
          </a:prstGeom>
          <a:noFill/>
          <a:ln/>
        </p:spPr>
        <p:txBody>
          <a:bodyPr wrap="square" lIns="0" tIns="0" rIns="0" bIns="0" rtlCol="0" anchor="t"/>
          <a:lstStyle/>
          <a:p>
            <a:pPr algn="l" indent="0" marL="0">
              <a:lnSpc>
                <a:spcPct val="104000"/>
              </a:lnSpc>
              <a:buNone/>
            </a:pPr>
            <a:r>
              <a:rPr lang="en-US" sz="970" b="1" spc="135" kern="0" dirty="0">
                <a:solidFill>
                  <a:srgbClr val="B3C3D6"/>
                </a:solidFill>
                <a:latin typeface="Arial" pitchFamily="34" charset="0"/>
                <a:ea typeface="Arial" pitchFamily="34" charset="-122"/>
                <a:cs typeface="Arial" pitchFamily="34" charset="-120"/>
              </a:rPr>
              <a:t>SYSTEMS PROGRAMMING AND MACHINE ORGANIZATION</a:t>
            </a:r>
            <a:endParaRPr lang="en-US" sz="970" dirty="0"/>
          </a:p>
        </p:txBody>
      </p:sp>
      <p:sp>
        <p:nvSpPr>
          <p:cNvPr id="3" name="Text 1"/>
          <p:cNvSpPr txBox="1"/>
          <p:nvPr/>
        </p:nvSpPr>
        <p:spPr>
          <a:xfrm>
            <a:off x="9601200" y="219456"/>
            <a:ext cx="2039112" cy="192024"/>
          </a:xfrm>
          <a:prstGeom prst="rect">
            <a:avLst/>
          </a:prstGeom>
          <a:noFill/>
          <a:ln/>
        </p:spPr>
        <p:txBody>
          <a:bodyPr wrap="square" lIns="0" tIns="0" rIns="0" bIns="0" rtlCol="0" anchor="t"/>
          <a:lstStyle/>
          <a:p>
            <a:pPr algn="r" indent="0" marL="0">
              <a:lnSpc>
                <a:spcPct val="104000"/>
              </a:lnSpc>
              <a:buNone/>
            </a:pPr>
            <a:r>
              <a:rPr lang="en-US" sz="970" b="1" dirty="0">
                <a:solidFill>
                  <a:srgbClr val="B3C3D6"/>
                </a:solidFill>
                <a:latin typeface="Arial" pitchFamily="34" charset="0"/>
                <a:ea typeface="Arial" pitchFamily="34" charset="-122"/>
                <a:cs typeface="Arial" pitchFamily="34" charset="-120"/>
              </a:rPr>
              <a:t>CHARLES DORNER</a:t>
            </a:r>
            <a:endParaRPr lang="en-US" sz="970" dirty="0"/>
          </a:p>
        </p:txBody>
      </p:sp>
      <p:sp>
        <p:nvSpPr>
          <p:cNvPr id="4" name="Text 2"/>
          <p:cNvSpPr txBox="1"/>
          <p:nvPr/>
        </p:nvSpPr>
        <p:spPr>
          <a:xfrm>
            <a:off x="548640" y="566928"/>
            <a:ext cx="11109960" cy="237744"/>
          </a:xfrm>
          <a:prstGeom prst="rect">
            <a:avLst/>
          </a:prstGeom>
          <a:noFill/>
          <a:ln/>
        </p:spPr>
        <p:txBody>
          <a:bodyPr wrap="square" lIns="0" tIns="0" rIns="0" bIns="0" rtlCol="0" anchor="t"/>
          <a:lstStyle/>
          <a:p>
            <a:pPr algn="l" indent="0" marL="0">
              <a:lnSpc>
                <a:spcPct val="104000"/>
              </a:lnSpc>
              <a:buNone/>
            </a:pPr>
            <a:r>
              <a:rPr lang="en-US" sz="1150" b="1" dirty="0">
                <a:solidFill>
                  <a:srgbClr val="71D5DD"/>
                </a:solidFill>
                <a:latin typeface="Arial" pitchFamily="34" charset="0"/>
                <a:ea typeface="Arial" pitchFamily="34" charset="-122"/>
                <a:cs typeface="Arial" pitchFamily="34" charset="-120"/>
              </a:rPr>
              <a:t>1.3.2 · PERFORMANCE</a:t>
            </a:r>
            <a:endParaRPr lang="en-US" sz="1150" dirty="0"/>
          </a:p>
        </p:txBody>
      </p:sp>
      <p:sp>
        <p:nvSpPr>
          <p:cNvPr id="5" name="Text 3"/>
          <p:cNvSpPr txBox="1"/>
          <p:nvPr/>
        </p:nvSpPr>
        <p:spPr>
          <a:xfrm>
            <a:off x="548640" y="941832"/>
            <a:ext cx="11091672" cy="676656"/>
          </a:xfrm>
          <a:prstGeom prst="rect">
            <a:avLst/>
          </a:prstGeom>
          <a:noFill/>
          <a:ln/>
        </p:spPr>
        <p:txBody>
          <a:bodyPr wrap="square" lIns="0" tIns="0" rIns="0" bIns="0" rtlCol="0" anchor="t"/>
          <a:lstStyle/>
          <a:p>
            <a:pPr algn="l" indent="0" marL="0">
              <a:lnSpc>
                <a:spcPct val="104000"/>
              </a:lnSpc>
              <a:buNone/>
            </a:pPr>
            <a:r>
              <a:rPr lang="en-US" sz="3150" b="1" dirty="0">
                <a:solidFill>
                  <a:srgbClr val="F4F7FB"/>
                </a:solidFill>
                <a:latin typeface="Arial" pitchFamily="34" charset="0"/>
                <a:ea typeface="Arial" pitchFamily="34" charset="-122"/>
                <a:cs typeface="Arial" pitchFamily="34" charset="-120"/>
              </a:rPr>
              <a:t>Performance: latency, throughput, and elapsed time</a:t>
            </a:r>
            <a:endParaRPr lang="en-US" sz="3150" dirty="0"/>
          </a:p>
        </p:txBody>
      </p:sp>
      <p:sp>
        <p:nvSpPr>
          <p:cNvPr id="6" name="Shape 4"/>
          <p:cNvSpPr/>
          <p:nvPr/>
        </p:nvSpPr>
        <p:spPr>
          <a:xfrm>
            <a:off x="548640" y="1764792"/>
            <a:ext cx="11094720" cy="1225296"/>
          </a:xfrm>
          <a:prstGeom prst="rect">
            <a:avLst/>
          </a:prstGeom>
          <a:solidFill>
            <a:srgbClr val="172940"/>
          </a:solidFill>
          <a:ln w="8890">
            <a:solidFill>
              <a:srgbClr val="2B415A"/>
            </a:solidFill>
            <a:prstDash val="solid"/>
          </a:ln>
        </p:spPr>
        <p:txBody>
          <a:bodyPr/>
          <a:p/>
        </p:txBody>
      </p:sp>
      <p:sp>
        <p:nvSpPr>
          <p:cNvPr id="7" name="Text 5"/>
          <p:cNvSpPr txBox="1"/>
          <p:nvPr/>
        </p:nvSpPr>
        <p:spPr>
          <a:xfrm>
            <a:off x="777240" y="1924812"/>
            <a:ext cx="10637520" cy="475488"/>
          </a:xfrm>
          <a:prstGeom prst="rect">
            <a:avLst/>
          </a:prstGeom>
          <a:noFill/>
          <a:ln/>
        </p:spPr>
        <p:txBody>
          <a:bodyPr wrap="square" lIns="0" tIns="0" rIns="0" bIns="0" rtlCol="0" anchor="t"/>
          <a:lstStyle/>
          <a:p>
            <a:pPr algn="ctr" indent="0" marL="0">
              <a:lnSpc>
                <a:spcPct val="104000"/>
              </a:lnSpc>
              <a:buNone/>
            </a:pPr>
            <a:r>
              <a:rPr lang="en-US" sz="2900" b="1" dirty="0">
                <a:solidFill>
                  <a:srgbClr val="F1C984"/>
                </a:solidFill>
                <a:latin typeface="Arial" pitchFamily="34" charset="0"/>
                <a:ea typeface="Arial" pitchFamily="34" charset="-122"/>
                <a:cs typeface="Arial" pitchFamily="34" charset="-120"/>
              </a:rPr>
              <a:t>T_elapsed = T_running + T_blocked + T_runnable-wait</a:t>
            </a:r>
            <a:endParaRPr lang="en-US" sz="2900" dirty="0"/>
          </a:p>
        </p:txBody>
      </p:sp>
      <p:sp>
        <p:nvSpPr>
          <p:cNvPr id="8" name="Text 6"/>
          <p:cNvSpPr txBox="1"/>
          <p:nvPr/>
        </p:nvSpPr>
        <p:spPr>
          <a:xfrm>
            <a:off x="777240" y="2496312"/>
            <a:ext cx="10637520" cy="365760"/>
          </a:xfrm>
          <a:prstGeom prst="rect">
            <a:avLst/>
          </a:prstGeom>
          <a:noFill/>
          <a:ln/>
        </p:spPr>
        <p:txBody>
          <a:bodyPr wrap="square" lIns="0" tIns="0" rIns="0" bIns="0" rtlCol="0" anchor="t"/>
          <a:lstStyle/>
          <a:p>
            <a:pPr algn="ctr" indent="0" marL="0">
              <a:lnSpc>
                <a:spcPct val="104000"/>
              </a:lnSpc>
              <a:buNone/>
            </a:pPr>
            <a:r>
              <a:rPr lang="en-US" sz="2280" dirty="0">
                <a:solidFill>
                  <a:srgbClr val="F4F7FB"/>
                </a:solidFill>
                <a:latin typeface="Arial" pitchFamily="34" charset="0"/>
                <a:ea typeface="Arial" pitchFamily="34" charset="-122"/>
                <a:cs typeface="Arial" pitchFamily="34" charset="-120"/>
              </a:rPr>
              <a:t>Illustrative single-thread interval: 4 ms + 5 ms + 3 ms = 12 ms</a:t>
            </a:r>
            <a:endParaRPr lang="en-US" sz="2280" dirty="0"/>
          </a:p>
        </p:txBody>
      </p:sp>
      <p:sp>
        <p:nvSpPr>
          <p:cNvPr id="9" name="Shape 7"/>
          <p:cNvSpPr/>
          <p:nvPr/>
        </p:nvSpPr>
        <p:spPr>
          <a:xfrm>
            <a:off x="548640" y="3227832"/>
            <a:ext cx="3564128" cy="1847088"/>
          </a:xfrm>
          <a:prstGeom prst="rect">
            <a:avLst/>
          </a:prstGeom>
          <a:solidFill>
            <a:srgbClr val="142238"/>
          </a:solidFill>
          <a:ln w="8890">
            <a:solidFill>
              <a:srgbClr val="2B415A"/>
            </a:solidFill>
            <a:prstDash val="solid"/>
          </a:ln>
        </p:spPr>
        <p:txBody>
          <a:bodyPr/>
          <a:p/>
        </p:txBody>
      </p:sp>
      <p:sp>
        <p:nvSpPr>
          <p:cNvPr id="10" name="Shape 8"/>
          <p:cNvSpPr/>
          <p:nvPr/>
        </p:nvSpPr>
        <p:spPr>
          <a:xfrm>
            <a:off x="548640" y="3227832"/>
            <a:ext cx="41148" cy="1847088"/>
          </a:xfrm>
          <a:prstGeom prst="rect">
            <a:avLst/>
          </a:prstGeom>
          <a:solidFill>
            <a:srgbClr val="71D5DD"/>
          </a:solidFill>
          <a:ln w="8890">
            <a:solidFill>
              <a:srgbClr val="71D5DD"/>
            </a:solidFill>
            <a:prstDash val="solid"/>
          </a:ln>
        </p:spPr>
        <p:txBody>
          <a:bodyPr/>
          <a:p/>
        </p:txBody>
      </p:sp>
      <p:sp>
        <p:nvSpPr>
          <p:cNvPr id="11" name="Text 9"/>
          <p:cNvSpPr txBox="1"/>
          <p:nvPr/>
        </p:nvSpPr>
        <p:spPr>
          <a:xfrm>
            <a:off x="758952" y="3438144"/>
            <a:ext cx="3134360" cy="557784"/>
          </a:xfrm>
          <a:prstGeom prst="rect">
            <a:avLst/>
          </a:prstGeom>
          <a:noFill/>
          <a:ln/>
        </p:spPr>
        <p:txBody>
          <a:bodyPr wrap="square" lIns="0" tIns="0" rIns="0" bIns="0" rtlCol="0" anchor="t"/>
          <a:lstStyle/>
          <a:p>
            <a:pPr algn="l" indent="0" marL="0">
              <a:lnSpc>
                <a:spcPct val="104000"/>
              </a:lnSpc>
              <a:buNone/>
            </a:pPr>
            <a:r>
              <a:rPr lang="en-US" sz="1550" b="1" dirty="0">
                <a:solidFill>
                  <a:srgbClr val="71D5DD"/>
                </a:solidFill>
                <a:latin typeface="Arial" pitchFamily="34" charset="0"/>
                <a:ea typeface="Arial" pitchFamily="34" charset="-122"/>
                <a:cs typeface="Arial" pitchFamily="34" charset="-120"/>
              </a:rPr>
              <a:t>LATENCY</a:t>
            </a:r>
            <a:endParaRPr lang="en-US" sz="1550" dirty="0"/>
          </a:p>
        </p:txBody>
      </p:sp>
      <p:sp>
        <p:nvSpPr>
          <p:cNvPr id="12" name="Text 10"/>
          <p:cNvSpPr txBox="1"/>
          <p:nvPr/>
        </p:nvSpPr>
        <p:spPr>
          <a:xfrm>
            <a:off x="758952" y="4105656"/>
            <a:ext cx="3134360" cy="804672"/>
          </a:xfrm>
          <a:prstGeom prst="rect">
            <a:avLst/>
          </a:prstGeom>
          <a:noFill/>
          <a:ln/>
        </p:spPr>
        <p:txBody>
          <a:bodyPr wrap="square" lIns="0" tIns="0" rIns="0" bIns="0" rtlCol="0" anchor="t"/>
          <a:lstStyle/>
          <a:p>
            <a:pPr algn="l" indent="0" marL="0">
              <a:lnSpc>
                <a:spcPct val="104000"/>
              </a:lnSpc>
              <a:buNone/>
            </a:pPr>
            <a:r>
              <a:rPr lang="en-US" sz="1950" dirty="0">
                <a:solidFill>
                  <a:srgbClr val="F4F7FB"/>
                </a:solidFill>
                <a:latin typeface="Arial" pitchFamily="34" charset="0"/>
                <a:ea typeface="Arial" pitchFamily="34" charset="-122"/>
                <a:cs typeface="Arial" pitchFamily="34" charset="-120"/>
              </a:rPr>
              <a:t>Time to finish the chosen</a:t>
            </a:r>
            <a:endParaRPr lang="en-US" sz="1950" dirty="0"/>
          </a:p>
          <a:p>
            <a:pPr algn="l" indent="0" marL="0">
              <a:lnSpc>
                <a:spcPct val="104000"/>
              </a:lnSpc>
              <a:buNone/>
            </a:pPr>
            <a:r>
              <a:rPr lang="en-US" sz="1950" dirty="0">
                <a:solidFill>
                  <a:srgbClr val="F4F7FB"/>
                </a:solidFill>
                <a:latin typeface="Arial" pitchFamily="34" charset="0"/>
                <a:ea typeface="Arial" pitchFamily="34" charset="-122"/>
                <a:cs typeface="Arial" pitchFamily="34" charset="-120"/>
              </a:rPr>
              <a:t>operation.</a:t>
            </a:r>
            <a:endParaRPr lang="en-US" sz="1950" dirty="0"/>
          </a:p>
        </p:txBody>
      </p:sp>
      <p:sp>
        <p:nvSpPr>
          <p:cNvPr id="13" name="Shape 11"/>
          <p:cNvSpPr/>
          <p:nvPr/>
        </p:nvSpPr>
        <p:spPr>
          <a:xfrm>
            <a:off x="4313936" y="3227832"/>
            <a:ext cx="3564128" cy="1847088"/>
          </a:xfrm>
          <a:prstGeom prst="rect">
            <a:avLst/>
          </a:prstGeom>
          <a:solidFill>
            <a:srgbClr val="142238"/>
          </a:solidFill>
          <a:ln w="8890">
            <a:solidFill>
              <a:srgbClr val="2B415A"/>
            </a:solidFill>
            <a:prstDash val="solid"/>
          </a:ln>
        </p:spPr>
        <p:txBody>
          <a:bodyPr/>
          <a:p/>
        </p:txBody>
      </p:sp>
      <p:sp>
        <p:nvSpPr>
          <p:cNvPr id="14" name="Shape 12"/>
          <p:cNvSpPr/>
          <p:nvPr/>
        </p:nvSpPr>
        <p:spPr>
          <a:xfrm>
            <a:off x="4313936" y="3227832"/>
            <a:ext cx="41148" cy="1847088"/>
          </a:xfrm>
          <a:prstGeom prst="rect">
            <a:avLst/>
          </a:prstGeom>
          <a:solidFill>
            <a:srgbClr val="71D5DD"/>
          </a:solidFill>
          <a:ln w="8890">
            <a:solidFill>
              <a:srgbClr val="71D5DD"/>
            </a:solidFill>
            <a:prstDash val="solid"/>
          </a:ln>
        </p:spPr>
        <p:txBody>
          <a:bodyPr/>
          <a:p/>
        </p:txBody>
      </p:sp>
      <p:sp>
        <p:nvSpPr>
          <p:cNvPr id="15" name="Text 13"/>
          <p:cNvSpPr txBox="1"/>
          <p:nvPr/>
        </p:nvSpPr>
        <p:spPr>
          <a:xfrm>
            <a:off x="4524248" y="3438144"/>
            <a:ext cx="3134360" cy="557784"/>
          </a:xfrm>
          <a:prstGeom prst="rect">
            <a:avLst/>
          </a:prstGeom>
          <a:noFill/>
          <a:ln/>
        </p:spPr>
        <p:txBody>
          <a:bodyPr wrap="square" lIns="0" tIns="0" rIns="0" bIns="0" rtlCol="0" anchor="t"/>
          <a:lstStyle/>
          <a:p>
            <a:pPr algn="l" indent="0" marL="0">
              <a:lnSpc>
                <a:spcPct val="104000"/>
              </a:lnSpc>
              <a:buNone/>
            </a:pPr>
            <a:r>
              <a:rPr lang="en-US" sz="1550" b="1" dirty="0">
                <a:solidFill>
                  <a:srgbClr val="71D5DD"/>
                </a:solidFill>
                <a:latin typeface="Arial" pitchFamily="34" charset="0"/>
                <a:ea typeface="Arial" pitchFamily="34" charset="-122"/>
                <a:cs typeface="Arial" pitchFamily="34" charset="-120"/>
              </a:rPr>
              <a:t>THROUGHPUT</a:t>
            </a:r>
            <a:endParaRPr lang="en-US" sz="1550" dirty="0"/>
          </a:p>
        </p:txBody>
      </p:sp>
      <p:sp>
        <p:nvSpPr>
          <p:cNvPr id="16" name="Text 14"/>
          <p:cNvSpPr txBox="1"/>
          <p:nvPr/>
        </p:nvSpPr>
        <p:spPr>
          <a:xfrm>
            <a:off x="4524248" y="4105656"/>
            <a:ext cx="3134360" cy="804672"/>
          </a:xfrm>
          <a:prstGeom prst="rect">
            <a:avLst/>
          </a:prstGeom>
          <a:noFill/>
          <a:ln/>
        </p:spPr>
        <p:txBody>
          <a:bodyPr wrap="square" lIns="0" tIns="0" rIns="0" bIns="0" rtlCol="0" anchor="t"/>
          <a:lstStyle/>
          <a:p>
            <a:pPr algn="l" indent="0" marL="0">
              <a:lnSpc>
                <a:spcPct val="104000"/>
              </a:lnSpc>
              <a:buNone/>
            </a:pPr>
            <a:r>
              <a:rPr lang="en-US" sz="1950" dirty="0">
                <a:solidFill>
                  <a:srgbClr val="F4F7FB"/>
                </a:solidFill>
                <a:latin typeface="Arial" pitchFamily="34" charset="0"/>
                <a:ea typeface="Arial" pitchFamily="34" charset="-122"/>
                <a:cs typeface="Arial" pitchFamily="34" charset="-120"/>
              </a:rPr>
              <a:t>Completed operations per</a:t>
            </a:r>
            <a:endParaRPr lang="en-US" sz="1950" dirty="0"/>
          </a:p>
          <a:p>
            <a:pPr algn="l" indent="0" marL="0">
              <a:lnSpc>
                <a:spcPct val="104000"/>
              </a:lnSpc>
              <a:buNone/>
            </a:pPr>
            <a:r>
              <a:rPr lang="en-US" sz="1950" dirty="0">
                <a:solidFill>
                  <a:srgbClr val="F4F7FB"/>
                </a:solidFill>
                <a:latin typeface="Arial" pitchFamily="34" charset="0"/>
                <a:ea typeface="Arial" pitchFamily="34" charset="-122"/>
                <a:cs typeface="Arial" pitchFamily="34" charset="-120"/>
              </a:rPr>
              <a:t>unit time.</a:t>
            </a:r>
            <a:endParaRPr lang="en-US" sz="1950" dirty="0"/>
          </a:p>
        </p:txBody>
      </p:sp>
      <p:sp>
        <p:nvSpPr>
          <p:cNvPr id="17" name="Shape 15"/>
          <p:cNvSpPr/>
          <p:nvPr/>
        </p:nvSpPr>
        <p:spPr>
          <a:xfrm>
            <a:off x="8079232" y="3227832"/>
            <a:ext cx="3564128" cy="1847088"/>
          </a:xfrm>
          <a:prstGeom prst="rect">
            <a:avLst/>
          </a:prstGeom>
          <a:solidFill>
            <a:srgbClr val="142238"/>
          </a:solidFill>
          <a:ln w="8890">
            <a:solidFill>
              <a:srgbClr val="2B415A"/>
            </a:solidFill>
            <a:prstDash val="solid"/>
          </a:ln>
        </p:spPr>
        <p:txBody>
          <a:bodyPr/>
          <a:p/>
        </p:txBody>
      </p:sp>
      <p:sp>
        <p:nvSpPr>
          <p:cNvPr id="18" name="Shape 16"/>
          <p:cNvSpPr/>
          <p:nvPr/>
        </p:nvSpPr>
        <p:spPr>
          <a:xfrm>
            <a:off x="8079232" y="3227832"/>
            <a:ext cx="41148" cy="1847088"/>
          </a:xfrm>
          <a:prstGeom prst="rect">
            <a:avLst/>
          </a:prstGeom>
          <a:solidFill>
            <a:srgbClr val="71D5DD"/>
          </a:solidFill>
          <a:ln w="8890">
            <a:solidFill>
              <a:srgbClr val="71D5DD"/>
            </a:solidFill>
            <a:prstDash val="solid"/>
          </a:ln>
        </p:spPr>
        <p:txBody>
          <a:bodyPr/>
          <a:p/>
        </p:txBody>
      </p:sp>
      <p:sp>
        <p:nvSpPr>
          <p:cNvPr id="19" name="Text 17"/>
          <p:cNvSpPr txBox="1"/>
          <p:nvPr/>
        </p:nvSpPr>
        <p:spPr>
          <a:xfrm>
            <a:off x="8289544" y="3438144"/>
            <a:ext cx="3134360" cy="557784"/>
          </a:xfrm>
          <a:prstGeom prst="rect">
            <a:avLst/>
          </a:prstGeom>
          <a:noFill/>
          <a:ln/>
        </p:spPr>
        <p:txBody>
          <a:bodyPr wrap="square" lIns="0" tIns="0" rIns="0" bIns="0" rtlCol="0" anchor="t"/>
          <a:lstStyle/>
          <a:p>
            <a:pPr algn="l" indent="0" marL="0">
              <a:lnSpc>
                <a:spcPct val="104000"/>
              </a:lnSpc>
              <a:buNone/>
            </a:pPr>
            <a:r>
              <a:rPr lang="en-US" sz="1550" b="1" dirty="0">
                <a:solidFill>
                  <a:srgbClr val="71D5DD"/>
                </a:solidFill>
                <a:latin typeface="Arial" pitchFamily="34" charset="0"/>
                <a:ea typeface="Arial" pitchFamily="34" charset="-122"/>
                <a:cs typeface="Arial" pitchFamily="34" charset="-120"/>
              </a:rPr>
              <a:t>BOUNDARY</a:t>
            </a:r>
            <a:endParaRPr lang="en-US" sz="1550" dirty="0"/>
          </a:p>
        </p:txBody>
      </p:sp>
      <p:sp>
        <p:nvSpPr>
          <p:cNvPr id="20" name="Text 18"/>
          <p:cNvSpPr txBox="1"/>
          <p:nvPr/>
        </p:nvSpPr>
        <p:spPr>
          <a:xfrm>
            <a:off x="8289544" y="4105656"/>
            <a:ext cx="3134360" cy="804672"/>
          </a:xfrm>
          <a:prstGeom prst="rect">
            <a:avLst/>
          </a:prstGeom>
          <a:noFill/>
          <a:ln/>
        </p:spPr>
        <p:txBody>
          <a:bodyPr wrap="square" lIns="0" tIns="0" rIns="0" bIns="0" rtlCol="0" anchor="t"/>
          <a:lstStyle/>
          <a:p>
            <a:pPr algn="l" indent="0" marL="0">
              <a:lnSpc>
                <a:spcPct val="104000"/>
              </a:lnSpc>
              <a:buNone/>
            </a:pPr>
            <a:r>
              <a:rPr lang="en-US" sz="1950" dirty="0">
                <a:solidFill>
                  <a:srgbClr val="F4F7FB"/>
                </a:solidFill>
                <a:latin typeface="Arial" pitchFamily="34" charset="0"/>
                <a:ea typeface="Arial" pitchFamily="34" charset="-122"/>
                <a:cs typeface="Arial" pitchFamily="34" charset="-120"/>
              </a:rPr>
              <a:t>State the workload, interval,</a:t>
            </a:r>
            <a:endParaRPr lang="en-US" sz="1950" dirty="0"/>
          </a:p>
          <a:p>
            <a:pPr algn="l" indent="0" marL="0">
              <a:lnSpc>
                <a:spcPct val="104000"/>
              </a:lnSpc>
              <a:buNone/>
            </a:pPr>
            <a:r>
              <a:rPr lang="en-US" sz="1950" dirty="0">
                <a:solidFill>
                  <a:srgbClr val="F4F7FB"/>
                </a:solidFill>
                <a:latin typeface="Arial" pitchFamily="34" charset="0"/>
                <a:ea typeface="Arial" pitchFamily="34" charset="-122"/>
                <a:cs typeface="Arial" pitchFamily="34" charset="-120"/>
              </a:rPr>
              <a:t>and whether work overlaps.</a:t>
            </a:r>
            <a:endParaRPr lang="en-US" sz="1950" dirty="0"/>
          </a:p>
        </p:txBody>
      </p:sp>
      <p:sp>
        <p:nvSpPr>
          <p:cNvPr id="21" name="Text 19"/>
          <p:cNvSpPr txBox="1"/>
          <p:nvPr/>
        </p:nvSpPr>
        <p:spPr>
          <a:xfrm>
            <a:off x="548640" y="5193792"/>
            <a:ext cx="11094720" cy="274320"/>
          </a:xfrm>
          <a:prstGeom prst="rect">
            <a:avLst/>
          </a:prstGeom>
          <a:noFill/>
          <a:ln/>
        </p:spPr>
        <p:txBody>
          <a:bodyPr wrap="square" lIns="0" tIns="0" rIns="0" bIns="0" rtlCol="0" anchor="t"/>
          <a:lstStyle/>
          <a:p>
            <a:pPr algn="l" indent="0" marL="0">
              <a:lnSpc>
                <a:spcPct val="104000"/>
              </a:lnSpc>
              <a:buNone/>
            </a:pPr>
            <a:r>
              <a:rPr lang="en-US" sz="1140" dirty="0">
                <a:solidFill>
                  <a:srgbClr val="B3C3D6"/>
                </a:solidFill>
                <a:latin typeface="Arial" pitchFamily="34" charset="0"/>
                <a:ea typeface="Arial" pitchFamily="34" charset="-122"/>
                <a:cs typeface="Arial" pitchFamily="34" charset="-120"/>
              </a:rPr>
              <a:t>Teaching model with mutually exclusive thread states; not benchmark data from this project.</a:t>
            </a:r>
            <a:endParaRPr lang="en-US" sz="1140" dirty="0"/>
          </a:p>
        </p:txBody>
      </p:sp>
      <p:sp>
        <p:nvSpPr>
          <p:cNvPr id="26" name="Text 24"/>
          <p:cNvSpPr txBox="1"/>
          <p:nvPr/>
        </p:nvSpPr>
        <p:spPr>
          <a:xfrm>
            <a:off x="548640" y="6601968"/>
            <a:ext cx="10241280" cy="128016"/>
          </a:xfrm>
          <a:prstGeom prst="rect">
            <a:avLst/>
          </a:prstGeom>
          <a:noFill/>
          <a:ln/>
        </p:spPr>
        <p:txBody>
          <a:bodyPr wrap="square" lIns="0" tIns="0" rIns="0" bIns="0" rtlCol="0" anchor="t"/>
          <a:lstStyle/>
          <a:p>
            <a:pPr algn="l" indent="0" marL="0">
              <a:lnSpc>
                <a:spcPct val="104000"/>
              </a:lnSpc>
              <a:buNone/>
            </a:pPr>
            <a:r>
              <a:rPr lang="en-US" sz="830" dirty="0">
                <a:solidFill>
                  <a:srgbClr val="B3C3D6"/>
                </a:solidFill>
                <a:latin typeface="Arial" pitchFamily="34" charset="0"/>
                <a:ea typeface="Arial" pitchFamily="34" charset="-122"/>
                <a:cs typeface="Arial" pitchFamily="34" charset="-120"/>
              </a:rPr>
              <a:t>Source: original 13, 19 • Graduate extension</a:t>
            </a:r>
            <a:endParaRPr lang="en-US" sz="830" dirty="0"/>
          </a:p>
        </p:txBody>
      </p:sp>
      <p:sp>
        <p:nvSpPr>
          <p:cNvPr id="27" name="Text 25"/>
          <p:cNvSpPr txBox="1"/>
          <p:nvPr/>
        </p:nvSpPr>
        <p:spPr>
          <a:xfrm>
            <a:off x="10917936" y="6565392"/>
            <a:ext cx="722376" cy="219456"/>
          </a:xfrm>
          <a:prstGeom prst="rect">
            <a:avLst/>
          </a:prstGeom>
          <a:noFill/>
          <a:ln/>
        </p:spPr>
        <p:txBody>
          <a:bodyPr wrap="square" lIns="0" tIns="0" rIns="0" bIns="0" rtlCol="0" anchor="t"/>
          <a:lstStyle/>
          <a:p>
            <a:pPr algn="r" indent="0" marL="0">
              <a:lnSpc>
                <a:spcPct val="104000"/>
              </a:lnSpc>
              <a:buNone/>
            </a:pPr>
            <a:r>
              <a:rPr lang="en-US" sz="1050" dirty="0">
                <a:solidFill>
                  <a:srgbClr val="B3C3D6"/>
                </a:solidFill>
                <a:latin typeface="Arial" pitchFamily="34" charset="0"/>
                <a:ea typeface="Arial" pitchFamily="34" charset="-122"/>
                <a:cs typeface="Arial" pitchFamily="34" charset="-120"/>
              </a:rPr>
              <a:t>39 / 64</a:t>
            </a:r>
            <a:endParaRPr lang="en-US" sz="1050" dirty="0"/>
          </a:p>
        </p:txBody>
      </p:sp>
      <p:sp>
        <p:nvSpPr>
          <p:cNvPr id="28" name="Shape 26"/>
          <p:cNvSpPr/>
          <p:nvPr/>
        </p:nvSpPr>
        <p:spPr>
          <a:xfrm>
            <a:off x="0" y="6834226"/>
            <a:ext cx="12192000" cy="23774"/>
          </a:xfrm>
          <a:prstGeom prst="rect">
            <a:avLst/>
          </a:prstGeom>
          <a:solidFill>
            <a:srgbClr val="2B415A"/>
          </a:solidFill>
          <a:ln w="8890">
            <a:solidFill>
              <a:srgbClr val="2B415A"/>
            </a:solidFill>
            <a:prstDash val="solid"/>
          </a:ln>
        </p:spPr>
        <p:txBody>
          <a:bodyPr/>
          <a:p/>
        </p:txBody>
      </p:sp>
      <p:sp>
        <p:nvSpPr>
          <p:cNvPr id="29" name="Shape 27"/>
          <p:cNvSpPr/>
          <p:nvPr/>
        </p:nvSpPr>
        <p:spPr>
          <a:xfrm>
            <a:off x="0" y="6834226"/>
            <a:ext cx="7429500" cy="23774"/>
          </a:xfrm>
          <a:prstGeom prst="rect">
            <a:avLst/>
          </a:prstGeom>
          <a:solidFill>
            <a:srgbClr val="71D5DD"/>
          </a:solidFill>
          <a:ln w="8890">
            <a:solidFill>
              <a:srgbClr val="71D5DD"/>
            </a:solidFill>
            <a:prstDash val="solid"/>
          </a:ln>
        </p:spPr>
        <p:txBody>
          <a:body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txBox="1"/>
          <p:nvPr/>
        </p:nvSpPr>
        <p:spPr>
          <a:xfrm>
            <a:off x="548640" y="219456"/>
            <a:ext cx="9875520" cy="192024"/>
          </a:xfrm>
          <a:prstGeom prst="rect">
            <a:avLst/>
          </a:prstGeom>
          <a:noFill/>
          <a:ln/>
        </p:spPr>
        <p:txBody>
          <a:bodyPr wrap="square" lIns="0" tIns="0" rIns="0" bIns="0" rtlCol="0" anchor="t"/>
          <a:lstStyle/>
          <a:p>
            <a:pPr algn="l" indent="0" marL="0">
              <a:lnSpc>
                <a:spcPct val="104000"/>
              </a:lnSpc>
              <a:buNone/>
            </a:pPr>
            <a:r>
              <a:rPr lang="en-US" sz="970" b="1" spc="135" kern="0" dirty="0">
                <a:solidFill>
                  <a:srgbClr val="B3C3D6"/>
                </a:solidFill>
                <a:latin typeface="Arial" pitchFamily="34" charset="0"/>
                <a:ea typeface="Arial" pitchFamily="34" charset="-122"/>
                <a:cs typeface="Arial" pitchFamily="34" charset="-120"/>
              </a:rPr>
              <a:t>SYSTEMS PROGRAMMING AND MACHINE ORGANIZATION</a:t>
            </a:r>
            <a:endParaRPr lang="en-US" sz="970" dirty="0"/>
          </a:p>
        </p:txBody>
      </p:sp>
      <p:sp>
        <p:nvSpPr>
          <p:cNvPr id="3" name="Text 1"/>
          <p:cNvSpPr txBox="1"/>
          <p:nvPr/>
        </p:nvSpPr>
        <p:spPr>
          <a:xfrm>
            <a:off x="9601200" y="219456"/>
            <a:ext cx="2039112" cy="192024"/>
          </a:xfrm>
          <a:prstGeom prst="rect">
            <a:avLst/>
          </a:prstGeom>
          <a:noFill/>
          <a:ln/>
        </p:spPr>
        <p:txBody>
          <a:bodyPr wrap="square" lIns="0" tIns="0" rIns="0" bIns="0" rtlCol="0" anchor="t"/>
          <a:lstStyle/>
          <a:p>
            <a:pPr algn="r" indent="0" marL="0">
              <a:lnSpc>
                <a:spcPct val="104000"/>
              </a:lnSpc>
              <a:buNone/>
            </a:pPr>
            <a:r>
              <a:rPr lang="en-US" sz="970" b="1" dirty="0">
                <a:solidFill>
                  <a:srgbClr val="B3C3D6"/>
                </a:solidFill>
                <a:latin typeface="Arial" pitchFamily="34" charset="0"/>
                <a:ea typeface="Arial" pitchFamily="34" charset="-122"/>
                <a:cs typeface="Arial" pitchFamily="34" charset="-120"/>
              </a:rPr>
              <a:t>CHARLES DORNER</a:t>
            </a:r>
            <a:endParaRPr lang="en-US" sz="970" dirty="0"/>
          </a:p>
        </p:txBody>
      </p:sp>
      <p:sp>
        <p:nvSpPr>
          <p:cNvPr id="4" name="Text 2"/>
          <p:cNvSpPr txBox="1"/>
          <p:nvPr/>
        </p:nvSpPr>
        <p:spPr>
          <a:xfrm>
            <a:off x="548640" y="566928"/>
            <a:ext cx="11109960" cy="237744"/>
          </a:xfrm>
          <a:prstGeom prst="rect">
            <a:avLst/>
          </a:prstGeom>
          <a:noFill/>
          <a:ln/>
        </p:spPr>
        <p:txBody>
          <a:bodyPr wrap="square" lIns="0" tIns="0" rIns="0" bIns="0" rtlCol="0" anchor="t"/>
          <a:lstStyle/>
          <a:p>
            <a:pPr algn="l" indent="0" marL="0">
              <a:lnSpc>
                <a:spcPct val="104000"/>
              </a:lnSpc>
              <a:buNone/>
            </a:pPr>
            <a:r>
              <a:rPr lang="en-US" sz="1150" b="1" dirty="0">
                <a:solidFill>
                  <a:srgbClr val="71D5DD"/>
                </a:solidFill>
                <a:latin typeface="Arial" pitchFamily="34" charset="0"/>
                <a:ea typeface="Arial" pitchFamily="34" charset="-122"/>
                <a:cs typeface="Arial" pitchFamily="34" charset="-120"/>
              </a:rPr>
              <a:t>1.3.2 · GRADUATE PERFORMANCE DERIVATION</a:t>
            </a:r>
            <a:endParaRPr lang="en-US" sz="1150" dirty="0"/>
          </a:p>
        </p:txBody>
      </p:sp>
      <p:sp>
        <p:nvSpPr>
          <p:cNvPr id="5" name="Text 3"/>
          <p:cNvSpPr txBox="1"/>
          <p:nvPr/>
        </p:nvSpPr>
        <p:spPr>
          <a:xfrm>
            <a:off x="548640" y="941832"/>
            <a:ext cx="11091672" cy="676656"/>
          </a:xfrm>
          <a:prstGeom prst="rect">
            <a:avLst/>
          </a:prstGeom>
          <a:noFill/>
          <a:ln/>
        </p:spPr>
        <p:txBody>
          <a:bodyPr wrap="square" lIns="0" tIns="0" rIns="0" bIns="0" rtlCol="0" anchor="t"/>
          <a:lstStyle/>
          <a:p>
            <a:pPr algn="l" indent="0" marL="0">
              <a:lnSpc>
                <a:spcPct val="104000"/>
              </a:lnSpc>
              <a:buNone/>
            </a:pPr>
            <a:r>
              <a:rPr lang="en-US" sz="3150" b="1" dirty="0">
                <a:solidFill>
                  <a:srgbClr val="F4F7FB"/>
                </a:solidFill>
                <a:latin typeface="Arial" pitchFamily="34" charset="0"/>
                <a:ea typeface="Arial" pitchFamily="34" charset="-122"/>
                <a:cs typeface="Arial" pitchFamily="34" charset="-120"/>
              </a:rPr>
              <a:t>Derive the limit of a local speedup</a:t>
            </a:r>
            <a:endParaRPr lang="en-US" sz="3150" dirty="0"/>
          </a:p>
        </p:txBody>
      </p:sp>
      <p:sp>
        <p:nvSpPr>
          <p:cNvPr id="6" name="Shape 4"/>
          <p:cNvSpPr/>
          <p:nvPr/>
        </p:nvSpPr>
        <p:spPr>
          <a:xfrm>
            <a:off x="548640" y="1764792"/>
            <a:ext cx="11094720" cy="1225296"/>
          </a:xfrm>
          <a:prstGeom prst="rect">
            <a:avLst/>
          </a:prstGeom>
          <a:solidFill>
            <a:srgbClr val="172940"/>
          </a:solidFill>
          <a:ln w="8890">
            <a:solidFill>
              <a:srgbClr val="2B415A"/>
            </a:solidFill>
            <a:prstDash val="solid"/>
          </a:ln>
        </p:spPr>
        <p:txBody>
          <a:bodyPr/>
          <a:p/>
        </p:txBody>
      </p:sp>
      <p:sp>
        <p:nvSpPr>
          <p:cNvPr id="7" name="Text 5"/>
          <p:cNvSpPr txBox="1"/>
          <p:nvPr/>
        </p:nvSpPr>
        <p:spPr>
          <a:xfrm>
            <a:off x="777240" y="1924812"/>
            <a:ext cx="10637520" cy="475488"/>
          </a:xfrm>
          <a:prstGeom prst="rect">
            <a:avLst/>
          </a:prstGeom>
          <a:noFill/>
          <a:ln/>
        </p:spPr>
        <p:txBody>
          <a:bodyPr wrap="square" lIns="0" tIns="0" rIns="0" bIns="0" rtlCol="0" anchor="t"/>
          <a:lstStyle/>
          <a:p>
            <a:pPr algn="ctr" indent="0" marL="0">
              <a:lnSpc>
                <a:spcPct val="104000"/>
              </a:lnSpc>
              <a:buNone/>
            </a:pPr>
            <a:r>
              <a:rPr lang="en-US" sz="2900" b="1" dirty="0">
                <a:solidFill>
                  <a:srgbClr val="F1C984"/>
                </a:solidFill>
                <a:latin typeface="Arial" pitchFamily="34" charset="0"/>
                <a:ea typeface="Arial" pitchFamily="34" charset="-122"/>
                <a:cs typeface="Arial" pitchFamily="34" charset="-120"/>
              </a:rPr>
              <a:t>T_new / T_old = (1 − f) + f / s</a:t>
            </a:r>
            <a:endParaRPr lang="en-US" sz="2900" dirty="0"/>
          </a:p>
        </p:txBody>
      </p:sp>
      <p:sp>
        <p:nvSpPr>
          <p:cNvPr id="8" name="Text 6"/>
          <p:cNvSpPr txBox="1"/>
          <p:nvPr/>
        </p:nvSpPr>
        <p:spPr>
          <a:xfrm>
            <a:off x="777240" y="2496312"/>
            <a:ext cx="10637520" cy="365760"/>
          </a:xfrm>
          <a:prstGeom prst="rect">
            <a:avLst/>
          </a:prstGeom>
          <a:noFill/>
          <a:ln/>
        </p:spPr>
        <p:txBody>
          <a:bodyPr wrap="square" lIns="0" tIns="0" rIns="0" bIns="0" rtlCol="0" anchor="t"/>
          <a:lstStyle/>
          <a:p>
            <a:pPr algn="ctr" indent="0" marL="0">
              <a:lnSpc>
                <a:spcPct val="104000"/>
              </a:lnSpc>
              <a:buNone/>
            </a:pPr>
            <a:r>
              <a:rPr lang="en-US" sz="2280" dirty="0">
                <a:solidFill>
                  <a:srgbClr val="F4F7FB"/>
                </a:solidFill>
                <a:latin typeface="Arial" pitchFamily="34" charset="0"/>
                <a:ea typeface="Arial" pitchFamily="34" charset="-122"/>
                <a:cs typeface="Arial" pitchFamily="34" charset="-120"/>
              </a:rPr>
              <a:t>f = 0.60, s = 3 → 0.40 + 0.20 = 0.60 → speedup ≈ 1.67×</a:t>
            </a:r>
            <a:endParaRPr lang="en-US" sz="2280" dirty="0"/>
          </a:p>
        </p:txBody>
      </p:sp>
      <p:sp>
        <p:nvSpPr>
          <p:cNvPr id="9" name="Shape 7"/>
          <p:cNvSpPr/>
          <p:nvPr/>
        </p:nvSpPr>
        <p:spPr>
          <a:xfrm>
            <a:off x="548640" y="3227832"/>
            <a:ext cx="3564128" cy="1847088"/>
          </a:xfrm>
          <a:prstGeom prst="rect">
            <a:avLst/>
          </a:prstGeom>
          <a:solidFill>
            <a:srgbClr val="142238"/>
          </a:solidFill>
          <a:ln w="8890">
            <a:solidFill>
              <a:srgbClr val="2B415A"/>
            </a:solidFill>
            <a:prstDash val="solid"/>
          </a:ln>
        </p:spPr>
        <p:txBody>
          <a:bodyPr/>
          <a:p/>
        </p:txBody>
      </p:sp>
      <p:sp>
        <p:nvSpPr>
          <p:cNvPr id="10" name="Shape 8"/>
          <p:cNvSpPr/>
          <p:nvPr/>
        </p:nvSpPr>
        <p:spPr>
          <a:xfrm>
            <a:off x="548640" y="3227832"/>
            <a:ext cx="41148" cy="1847088"/>
          </a:xfrm>
          <a:prstGeom prst="rect">
            <a:avLst/>
          </a:prstGeom>
          <a:solidFill>
            <a:srgbClr val="71D5DD"/>
          </a:solidFill>
          <a:ln w="8890">
            <a:solidFill>
              <a:srgbClr val="71D5DD"/>
            </a:solidFill>
            <a:prstDash val="solid"/>
          </a:ln>
        </p:spPr>
        <p:txBody>
          <a:bodyPr/>
          <a:p/>
        </p:txBody>
      </p:sp>
      <p:sp>
        <p:nvSpPr>
          <p:cNvPr id="11" name="Text 9"/>
          <p:cNvSpPr txBox="1"/>
          <p:nvPr/>
        </p:nvSpPr>
        <p:spPr>
          <a:xfrm>
            <a:off x="758952" y="3438144"/>
            <a:ext cx="3134360" cy="557784"/>
          </a:xfrm>
          <a:prstGeom prst="rect">
            <a:avLst/>
          </a:prstGeom>
          <a:noFill/>
          <a:ln/>
        </p:spPr>
        <p:txBody>
          <a:bodyPr wrap="square" lIns="0" tIns="0" rIns="0" bIns="0" rtlCol="0" anchor="t"/>
          <a:lstStyle/>
          <a:p>
            <a:pPr algn="l" indent="0" marL="0">
              <a:lnSpc>
                <a:spcPct val="104000"/>
              </a:lnSpc>
              <a:buNone/>
            </a:pPr>
            <a:r>
              <a:rPr lang="en-US" sz="1550" b="1" dirty="0">
                <a:solidFill>
                  <a:srgbClr val="71D5DD"/>
                </a:solidFill>
                <a:latin typeface="Arial" pitchFamily="34" charset="0"/>
                <a:ea typeface="Arial" pitchFamily="34" charset="-122"/>
                <a:cs typeface="Arial" pitchFamily="34" charset="-120"/>
              </a:rPr>
              <a:t>F</a:t>
            </a:r>
            <a:endParaRPr lang="en-US" sz="1550" dirty="0"/>
          </a:p>
        </p:txBody>
      </p:sp>
      <p:sp>
        <p:nvSpPr>
          <p:cNvPr id="12" name="Text 10"/>
          <p:cNvSpPr txBox="1"/>
          <p:nvPr/>
        </p:nvSpPr>
        <p:spPr>
          <a:xfrm>
            <a:off x="758952" y="4105656"/>
            <a:ext cx="3134360" cy="804672"/>
          </a:xfrm>
          <a:prstGeom prst="rect">
            <a:avLst/>
          </a:prstGeom>
          <a:noFill/>
          <a:ln/>
        </p:spPr>
        <p:txBody>
          <a:bodyPr wrap="square" lIns="0" tIns="0" rIns="0" bIns="0" rtlCol="0" anchor="t"/>
          <a:lstStyle/>
          <a:p>
            <a:pPr algn="l" indent="0" marL="0">
              <a:lnSpc>
                <a:spcPct val="104000"/>
              </a:lnSpc>
              <a:buNone/>
            </a:pPr>
            <a:r>
              <a:rPr lang="en-US" sz="1950" dirty="0">
                <a:solidFill>
                  <a:srgbClr val="F4F7FB"/>
                </a:solidFill>
                <a:latin typeface="Arial" pitchFamily="34" charset="0"/>
                <a:ea typeface="Arial" pitchFamily="34" charset="-122"/>
                <a:cs typeface="Arial" pitchFamily="34" charset="-120"/>
              </a:rPr>
              <a:t>Fraction of baseline time</a:t>
            </a:r>
            <a:endParaRPr lang="en-US" sz="1950" dirty="0"/>
          </a:p>
          <a:p>
            <a:pPr algn="l" indent="0" marL="0">
              <a:lnSpc>
                <a:spcPct val="104000"/>
              </a:lnSpc>
              <a:buNone/>
            </a:pPr>
            <a:r>
              <a:rPr lang="en-US" sz="1950" dirty="0">
                <a:solidFill>
                  <a:srgbClr val="F4F7FB"/>
                </a:solidFill>
                <a:latin typeface="Arial" pitchFamily="34" charset="0"/>
                <a:ea typeface="Arial" pitchFamily="34" charset="-122"/>
                <a:cs typeface="Arial" pitchFamily="34" charset="-120"/>
              </a:rPr>
              <a:t>affected.</a:t>
            </a:r>
            <a:endParaRPr lang="en-US" sz="1950" dirty="0"/>
          </a:p>
        </p:txBody>
      </p:sp>
      <p:sp>
        <p:nvSpPr>
          <p:cNvPr id="13" name="Shape 11"/>
          <p:cNvSpPr/>
          <p:nvPr/>
        </p:nvSpPr>
        <p:spPr>
          <a:xfrm>
            <a:off x="4313936" y="3227832"/>
            <a:ext cx="3564128" cy="1847088"/>
          </a:xfrm>
          <a:prstGeom prst="rect">
            <a:avLst/>
          </a:prstGeom>
          <a:solidFill>
            <a:srgbClr val="142238"/>
          </a:solidFill>
          <a:ln w="8890">
            <a:solidFill>
              <a:srgbClr val="2B415A"/>
            </a:solidFill>
            <a:prstDash val="solid"/>
          </a:ln>
        </p:spPr>
        <p:txBody>
          <a:bodyPr/>
          <a:p/>
        </p:txBody>
      </p:sp>
      <p:sp>
        <p:nvSpPr>
          <p:cNvPr id="14" name="Shape 12"/>
          <p:cNvSpPr/>
          <p:nvPr/>
        </p:nvSpPr>
        <p:spPr>
          <a:xfrm>
            <a:off x="4313936" y="3227832"/>
            <a:ext cx="41148" cy="1847088"/>
          </a:xfrm>
          <a:prstGeom prst="rect">
            <a:avLst/>
          </a:prstGeom>
          <a:solidFill>
            <a:srgbClr val="71D5DD"/>
          </a:solidFill>
          <a:ln w="8890">
            <a:solidFill>
              <a:srgbClr val="71D5DD"/>
            </a:solidFill>
            <a:prstDash val="solid"/>
          </a:ln>
        </p:spPr>
        <p:txBody>
          <a:bodyPr/>
          <a:p/>
        </p:txBody>
      </p:sp>
      <p:sp>
        <p:nvSpPr>
          <p:cNvPr id="15" name="Text 13"/>
          <p:cNvSpPr txBox="1"/>
          <p:nvPr/>
        </p:nvSpPr>
        <p:spPr>
          <a:xfrm>
            <a:off x="4524248" y="3438144"/>
            <a:ext cx="3134360" cy="557784"/>
          </a:xfrm>
          <a:prstGeom prst="rect">
            <a:avLst/>
          </a:prstGeom>
          <a:noFill/>
          <a:ln/>
        </p:spPr>
        <p:txBody>
          <a:bodyPr wrap="square" lIns="0" tIns="0" rIns="0" bIns="0" rtlCol="0" anchor="t"/>
          <a:lstStyle/>
          <a:p>
            <a:pPr algn="l" indent="0" marL="0">
              <a:lnSpc>
                <a:spcPct val="104000"/>
              </a:lnSpc>
              <a:buNone/>
            </a:pPr>
            <a:r>
              <a:rPr lang="en-US" sz="1550" b="1" dirty="0">
                <a:solidFill>
                  <a:srgbClr val="71D5DD"/>
                </a:solidFill>
                <a:latin typeface="Arial" pitchFamily="34" charset="0"/>
                <a:ea typeface="Arial" pitchFamily="34" charset="-122"/>
                <a:cs typeface="Arial" pitchFamily="34" charset="-120"/>
              </a:rPr>
              <a:t>S</a:t>
            </a:r>
            <a:endParaRPr lang="en-US" sz="1550" dirty="0"/>
          </a:p>
        </p:txBody>
      </p:sp>
      <p:sp>
        <p:nvSpPr>
          <p:cNvPr id="16" name="Text 14"/>
          <p:cNvSpPr txBox="1"/>
          <p:nvPr/>
        </p:nvSpPr>
        <p:spPr>
          <a:xfrm>
            <a:off x="4524248" y="4105656"/>
            <a:ext cx="3134360" cy="804672"/>
          </a:xfrm>
          <a:prstGeom prst="rect">
            <a:avLst/>
          </a:prstGeom>
          <a:noFill/>
          <a:ln/>
        </p:spPr>
        <p:txBody>
          <a:bodyPr wrap="square" lIns="0" tIns="0" rIns="0" bIns="0" rtlCol="0" anchor="t"/>
          <a:lstStyle/>
          <a:p>
            <a:pPr algn="l" indent="0" marL="0">
              <a:lnSpc>
                <a:spcPct val="104000"/>
              </a:lnSpc>
              <a:buNone/>
            </a:pPr>
            <a:r>
              <a:rPr lang="en-US" sz="1950" dirty="0">
                <a:solidFill>
                  <a:srgbClr val="F4F7FB"/>
                </a:solidFill>
                <a:latin typeface="Arial" pitchFamily="34" charset="0"/>
                <a:ea typeface="Arial" pitchFamily="34" charset="-122"/>
                <a:cs typeface="Arial" pitchFamily="34" charset="-120"/>
              </a:rPr>
              <a:t>Speedup of that affected</a:t>
            </a:r>
            <a:endParaRPr lang="en-US" sz="1950" dirty="0"/>
          </a:p>
          <a:p>
            <a:pPr algn="l" indent="0" marL="0">
              <a:lnSpc>
                <a:spcPct val="104000"/>
              </a:lnSpc>
              <a:buNone/>
            </a:pPr>
            <a:r>
              <a:rPr lang="en-US" sz="1950" dirty="0">
                <a:solidFill>
                  <a:srgbClr val="F4F7FB"/>
                </a:solidFill>
                <a:latin typeface="Arial" pitchFamily="34" charset="0"/>
                <a:ea typeface="Arial" pitchFamily="34" charset="-122"/>
                <a:cs typeface="Arial" pitchFamily="34" charset="-120"/>
              </a:rPr>
              <a:t>portion.</a:t>
            </a:r>
            <a:endParaRPr lang="en-US" sz="1950" dirty="0"/>
          </a:p>
        </p:txBody>
      </p:sp>
      <p:sp>
        <p:nvSpPr>
          <p:cNvPr id="17" name="Shape 15"/>
          <p:cNvSpPr/>
          <p:nvPr/>
        </p:nvSpPr>
        <p:spPr>
          <a:xfrm>
            <a:off x="8079232" y="3227832"/>
            <a:ext cx="3564128" cy="1847088"/>
          </a:xfrm>
          <a:prstGeom prst="rect">
            <a:avLst/>
          </a:prstGeom>
          <a:solidFill>
            <a:srgbClr val="142238"/>
          </a:solidFill>
          <a:ln w="8890">
            <a:solidFill>
              <a:srgbClr val="2B415A"/>
            </a:solidFill>
            <a:prstDash val="solid"/>
          </a:ln>
        </p:spPr>
        <p:txBody>
          <a:bodyPr/>
          <a:p/>
        </p:txBody>
      </p:sp>
      <p:sp>
        <p:nvSpPr>
          <p:cNvPr id="18" name="Shape 16"/>
          <p:cNvSpPr/>
          <p:nvPr/>
        </p:nvSpPr>
        <p:spPr>
          <a:xfrm>
            <a:off x="8079232" y="3227832"/>
            <a:ext cx="41148" cy="1847088"/>
          </a:xfrm>
          <a:prstGeom prst="rect">
            <a:avLst/>
          </a:prstGeom>
          <a:solidFill>
            <a:srgbClr val="71D5DD"/>
          </a:solidFill>
          <a:ln w="8890">
            <a:solidFill>
              <a:srgbClr val="71D5DD"/>
            </a:solidFill>
            <a:prstDash val="solid"/>
          </a:ln>
        </p:spPr>
        <p:txBody>
          <a:bodyPr/>
          <a:p/>
        </p:txBody>
      </p:sp>
      <p:sp>
        <p:nvSpPr>
          <p:cNvPr id="19" name="Text 17"/>
          <p:cNvSpPr txBox="1"/>
          <p:nvPr/>
        </p:nvSpPr>
        <p:spPr>
          <a:xfrm>
            <a:off x="8289544" y="3438144"/>
            <a:ext cx="3134360" cy="557784"/>
          </a:xfrm>
          <a:prstGeom prst="rect">
            <a:avLst/>
          </a:prstGeom>
          <a:noFill/>
          <a:ln/>
        </p:spPr>
        <p:txBody>
          <a:bodyPr wrap="square" lIns="0" tIns="0" rIns="0" bIns="0" rtlCol="0" anchor="t"/>
          <a:lstStyle/>
          <a:p>
            <a:pPr algn="l" indent="0" marL="0">
              <a:lnSpc>
                <a:spcPct val="104000"/>
              </a:lnSpc>
              <a:buNone/>
            </a:pPr>
            <a:r>
              <a:rPr lang="en-US" sz="1550" b="1" dirty="0">
                <a:solidFill>
                  <a:srgbClr val="71D5DD"/>
                </a:solidFill>
                <a:latin typeface="Arial" pitchFamily="34" charset="0"/>
                <a:ea typeface="Arial" pitchFamily="34" charset="-122"/>
                <a:cs typeface="Arial" pitchFamily="34" charset="-120"/>
              </a:rPr>
              <a:t>LIMIT</a:t>
            </a:r>
            <a:endParaRPr lang="en-US" sz="1550" dirty="0"/>
          </a:p>
        </p:txBody>
      </p:sp>
      <p:sp>
        <p:nvSpPr>
          <p:cNvPr id="20" name="Text 18"/>
          <p:cNvSpPr txBox="1"/>
          <p:nvPr/>
        </p:nvSpPr>
        <p:spPr>
          <a:xfrm>
            <a:off x="8289544" y="4105656"/>
            <a:ext cx="3134360" cy="804672"/>
          </a:xfrm>
          <a:prstGeom prst="rect">
            <a:avLst/>
          </a:prstGeom>
          <a:noFill/>
          <a:ln/>
        </p:spPr>
        <p:txBody>
          <a:bodyPr wrap="square" lIns="0" tIns="0" rIns="0" bIns="0" rtlCol="0" anchor="t"/>
          <a:lstStyle/>
          <a:p>
            <a:pPr algn="l" indent="0" marL="0">
              <a:lnSpc>
                <a:spcPct val="104000"/>
              </a:lnSpc>
              <a:buNone/>
            </a:pPr>
            <a:r>
              <a:rPr lang="en-US" sz="1950" dirty="0">
                <a:solidFill>
                  <a:srgbClr val="F4F7FB"/>
                </a:solidFill>
                <a:latin typeface="Arial" pitchFamily="34" charset="0"/>
                <a:ea typeface="Arial" pitchFamily="34" charset="-122"/>
                <a:cs typeface="Arial" pitchFamily="34" charset="-120"/>
              </a:rPr>
              <a:t>The unchanged portion</a:t>
            </a:r>
            <a:endParaRPr lang="en-US" sz="1950" dirty="0"/>
          </a:p>
          <a:p>
            <a:pPr algn="l" indent="0" marL="0">
              <a:lnSpc>
                <a:spcPct val="104000"/>
              </a:lnSpc>
              <a:buNone/>
            </a:pPr>
            <a:r>
              <a:rPr lang="en-US" sz="1950" dirty="0">
                <a:solidFill>
                  <a:srgbClr val="F4F7FB"/>
                </a:solidFill>
                <a:latin typeface="Arial" pitchFamily="34" charset="0"/>
                <a:ea typeface="Arial" pitchFamily="34" charset="-122"/>
                <a:cs typeface="Arial" pitchFamily="34" charset="-120"/>
              </a:rPr>
              <a:t>remains in the total.</a:t>
            </a:r>
            <a:endParaRPr lang="en-US" sz="1950" dirty="0"/>
          </a:p>
        </p:txBody>
      </p:sp>
      <p:sp>
        <p:nvSpPr>
          <p:cNvPr id="21" name="Text 19"/>
          <p:cNvSpPr txBox="1"/>
          <p:nvPr/>
        </p:nvSpPr>
        <p:spPr>
          <a:xfrm>
            <a:off x="548640" y="5193792"/>
            <a:ext cx="11094720" cy="274320"/>
          </a:xfrm>
          <a:prstGeom prst="rect">
            <a:avLst/>
          </a:prstGeom>
          <a:noFill/>
          <a:ln/>
        </p:spPr>
        <p:txBody>
          <a:bodyPr wrap="square" lIns="0" tIns="0" rIns="0" bIns="0" rtlCol="0" anchor="t"/>
          <a:lstStyle/>
          <a:p>
            <a:pPr algn="l" indent="0" marL="0">
              <a:lnSpc>
                <a:spcPct val="104000"/>
              </a:lnSpc>
              <a:buNone/>
            </a:pPr>
            <a:r>
              <a:rPr lang="en-US" sz="1140" dirty="0">
                <a:solidFill>
                  <a:srgbClr val="B3C3D6"/>
                </a:solidFill>
                <a:latin typeface="Arial" pitchFamily="34" charset="0"/>
                <a:ea typeface="Arial" pitchFamily="34" charset="-122"/>
                <a:cs typeface="Arial" pitchFamily="34" charset="-120"/>
              </a:rPr>
              <a:t>Derived teaching example: unchanged workload, no overlap, and no added overhead.</a:t>
            </a:r>
            <a:endParaRPr lang="en-US" sz="1140" dirty="0"/>
          </a:p>
        </p:txBody>
      </p:sp>
      <p:sp>
        <p:nvSpPr>
          <p:cNvPr id="26" name="Text 24"/>
          <p:cNvSpPr txBox="1"/>
          <p:nvPr/>
        </p:nvSpPr>
        <p:spPr>
          <a:xfrm>
            <a:off x="548640" y="6601968"/>
            <a:ext cx="10241280" cy="128016"/>
          </a:xfrm>
          <a:prstGeom prst="rect">
            <a:avLst/>
          </a:prstGeom>
          <a:noFill/>
          <a:ln/>
        </p:spPr>
        <p:txBody>
          <a:bodyPr wrap="square" lIns="0" tIns="0" rIns="0" bIns="0" rtlCol="0" anchor="t"/>
          <a:lstStyle/>
          <a:p>
            <a:pPr algn="l" indent="0" marL="0">
              <a:lnSpc>
                <a:spcPct val="104000"/>
              </a:lnSpc>
              <a:buNone/>
            </a:pPr>
            <a:r>
              <a:rPr lang="en-US" sz="830" dirty="0">
                <a:solidFill>
                  <a:srgbClr val="B3C3D6"/>
                </a:solidFill>
                <a:latin typeface="Arial" pitchFamily="34" charset="0"/>
                <a:ea typeface="Arial" pitchFamily="34" charset="-122"/>
                <a:cs typeface="Arial" pitchFamily="34" charset="-120"/>
              </a:rPr>
              <a:t>Source: original 13, 19 • Graduate extension</a:t>
            </a:r>
            <a:endParaRPr lang="en-US" sz="830" dirty="0"/>
          </a:p>
        </p:txBody>
      </p:sp>
      <p:sp>
        <p:nvSpPr>
          <p:cNvPr id="27" name="Text 25"/>
          <p:cNvSpPr txBox="1"/>
          <p:nvPr/>
        </p:nvSpPr>
        <p:spPr>
          <a:xfrm>
            <a:off x="10917936" y="6565392"/>
            <a:ext cx="722376" cy="219456"/>
          </a:xfrm>
          <a:prstGeom prst="rect">
            <a:avLst/>
          </a:prstGeom>
          <a:noFill/>
          <a:ln/>
        </p:spPr>
        <p:txBody>
          <a:bodyPr wrap="square" lIns="0" tIns="0" rIns="0" bIns="0" rtlCol="0" anchor="t"/>
          <a:lstStyle/>
          <a:p>
            <a:pPr algn="r" indent="0" marL="0">
              <a:lnSpc>
                <a:spcPct val="104000"/>
              </a:lnSpc>
              <a:buNone/>
            </a:pPr>
            <a:r>
              <a:rPr lang="en-US" sz="1050" dirty="0">
                <a:solidFill>
                  <a:srgbClr val="B3C3D6"/>
                </a:solidFill>
                <a:latin typeface="Arial" pitchFamily="34" charset="0"/>
                <a:ea typeface="Arial" pitchFamily="34" charset="-122"/>
                <a:cs typeface="Arial" pitchFamily="34" charset="-120"/>
              </a:rPr>
              <a:t>40 / 64</a:t>
            </a:r>
            <a:endParaRPr lang="en-US" sz="1050" dirty="0"/>
          </a:p>
        </p:txBody>
      </p:sp>
      <p:sp>
        <p:nvSpPr>
          <p:cNvPr id="28" name="Shape 26"/>
          <p:cNvSpPr/>
          <p:nvPr/>
        </p:nvSpPr>
        <p:spPr>
          <a:xfrm>
            <a:off x="0" y="6834226"/>
            <a:ext cx="12192000" cy="23774"/>
          </a:xfrm>
          <a:prstGeom prst="rect">
            <a:avLst/>
          </a:prstGeom>
          <a:solidFill>
            <a:srgbClr val="2B415A"/>
          </a:solidFill>
          <a:ln w="8890">
            <a:solidFill>
              <a:srgbClr val="2B415A"/>
            </a:solidFill>
            <a:prstDash val="solid"/>
          </a:ln>
        </p:spPr>
        <p:txBody>
          <a:bodyPr/>
          <a:p/>
        </p:txBody>
      </p:sp>
      <p:sp>
        <p:nvSpPr>
          <p:cNvPr id="29" name="Shape 27"/>
          <p:cNvSpPr/>
          <p:nvPr/>
        </p:nvSpPr>
        <p:spPr>
          <a:xfrm>
            <a:off x="0" y="6834226"/>
            <a:ext cx="7620000" cy="23774"/>
          </a:xfrm>
          <a:prstGeom prst="rect">
            <a:avLst/>
          </a:prstGeom>
          <a:solidFill>
            <a:srgbClr val="71D5DD"/>
          </a:solidFill>
          <a:ln w="8890">
            <a:solidFill>
              <a:srgbClr val="71D5DD"/>
            </a:solidFill>
            <a:prstDash val="solid"/>
          </a:ln>
        </p:spPr>
        <p:txBody>
          <a:body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txBox="1"/>
          <p:nvPr/>
        </p:nvSpPr>
        <p:spPr>
          <a:xfrm>
            <a:off x="548640" y="219456"/>
            <a:ext cx="9875520" cy="192024"/>
          </a:xfrm>
          <a:prstGeom prst="rect">
            <a:avLst/>
          </a:prstGeom>
          <a:noFill/>
          <a:ln/>
        </p:spPr>
        <p:txBody>
          <a:bodyPr wrap="square" lIns="0" tIns="0" rIns="0" bIns="0" rtlCol="0" anchor="t"/>
          <a:lstStyle/>
          <a:p>
            <a:pPr algn="l" indent="0" marL="0">
              <a:lnSpc>
                <a:spcPct val="104000"/>
              </a:lnSpc>
              <a:buNone/>
            </a:pPr>
            <a:r>
              <a:rPr lang="en-US" sz="970" b="1" spc="135" kern="0" dirty="0">
                <a:solidFill>
                  <a:srgbClr val="B3C3D6"/>
                </a:solidFill>
                <a:latin typeface="Arial" pitchFamily="34" charset="0"/>
                <a:ea typeface="Arial" pitchFamily="34" charset="-122"/>
                <a:cs typeface="Arial" pitchFamily="34" charset="-120"/>
              </a:rPr>
              <a:t>SYSTEMS PROGRAMMING AND MACHINE ORGANIZATION</a:t>
            </a:r>
            <a:endParaRPr lang="en-US" sz="970" dirty="0"/>
          </a:p>
        </p:txBody>
      </p:sp>
      <p:sp>
        <p:nvSpPr>
          <p:cNvPr id="3" name="Text 1"/>
          <p:cNvSpPr txBox="1"/>
          <p:nvPr/>
        </p:nvSpPr>
        <p:spPr>
          <a:xfrm>
            <a:off x="9601200" y="219456"/>
            <a:ext cx="2039112" cy="192024"/>
          </a:xfrm>
          <a:prstGeom prst="rect">
            <a:avLst/>
          </a:prstGeom>
          <a:noFill/>
          <a:ln/>
        </p:spPr>
        <p:txBody>
          <a:bodyPr wrap="square" lIns="0" tIns="0" rIns="0" bIns="0" rtlCol="0" anchor="t"/>
          <a:lstStyle/>
          <a:p>
            <a:pPr algn="r" indent="0" marL="0">
              <a:lnSpc>
                <a:spcPct val="104000"/>
              </a:lnSpc>
              <a:buNone/>
            </a:pPr>
            <a:r>
              <a:rPr lang="en-US" sz="970" b="1" dirty="0">
                <a:solidFill>
                  <a:srgbClr val="B3C3D6"/>
                </a:solidFill>
                <a:latin typeface="Arial" pitchFamily="34" charset="0"/>
                <a:ea typeface="Arial" pitchFamily="34" charset="-122"/>
                <a:cs typeface="Arial" pitchFamily="34" charset="-120"/>
              </a:rPr>
              <a:t>CHARLES DORNER</a:t>
            </a:r>
            <a:endParaRPr lang="en-US" sz="970" dirty="0"/>
          </a:p>
        </p:txBody>
      </p:sp>
      <p:sp>
        <p:nvSpPr>
          <p:cNvPr id="4" name="Text 2"/>
          <p:cNvSpPr txBox="1"/>
          <p:nvPr/>
        </p:nvSpPr>
        <p:spPr>
          <a:xfrm>
            <a:off x="548640" y="566928"/>
            <a:ext cx="11109960" cy="237744"/>
          </a:xfrm>
          <a:prstGeom prst="rect">
            <a:avLst/>
          </a:prstGeom>
          <a:noFill/>
          <a:ln/>
        </p:spPr>
        <p:txBody>
          <a:bodyPr wrap="square" lIns="0" tIns="0" rIns="0" bIns="0" rtlCol="0" anchor="t"/>
          <a:lstStyle/>
          <a:p>
            <a:pPr algn="l" indent="0" marL="0">
              <a:lnSpc>
                <a:spcPct val="104000"/>
              </a:lnSpc>
              <a:buNone/>
            </a:pPr>
            <a:r>
              <a:rPr lang="en-US" sz="1150" b="1" dirty="0">
                <a:solidFill>
                  <a:srgbClr val="71D5DD"/>
                </a:solidFill>
                <a:latin typeface="Arial" pitchFamily="34" charset="0"/>
                <a:ea typeface="Arial" pitchFamily="34" charset="-122"/>
                <a:cs typeface="Arial" pitchFamily="34" charset="-120"/>
              </a:rPr>
              <a:t>1.3.2 · MEASUREMENT DESIGN</a:t>
            </a:r>
            <a:endParaRPr lang="en-US" sz="1150" dirty="0"/>
          </a:p>
        </p:txBody>
      </p:sp>
      <p:sp>
        <p:nvSpPr>
          <p:cNvPr id="5" name="Text 3"/>
          <p:cNvSpPr txBox="1"/>
          <p:nvPr/>
        </p:nvSpPr>
        <p:spPr>
          <a:xfrm>
            <a:off x="548640" y="941832"/>
            <a:ext cx="11091672" cy="676656"/>
          </a:xfrm>
          <a:prstGeom prst="rect">
            <a:avLst/>
          </a:prstGeom>
          <a:noFill/>
          <a:ln/>
        </p:spPr>
        <p:txBody>
          <a:bodyPr wrap="square" lIns="0" tIns="0" rIns="0" bIns="0" rtlCol="0" anchor="t"/>
          <a:lstStyle/>
          <a:p>
            <a:pPr algn="l" indent="0" marL="0">
              <a:lnSpc>
                <a:spcPct val="104000"/>
              </a:lnSpc>
              <a:buNone/>
            </a:pPr>
            <a:r>
              <a:rPr lang="en-US" sz="3150" b="1" dirty="0">
                <a:solidFill>
                  <a:srgbClr val="F4F7FB"/>
                </a:solidFill>
                <a:latin typeface="Arial" pitchFamily="34" charset="0"/>
                <a:ea typeface="Arial" pitchFamily="34" charset="-122"/>
                <a:cs typeface="Arial" pitchFamily="34" charset="-120"/>
              </a:rPr>
              <a:t>Make a performance claim reproducible</a:t>
            </a:r>
            <a:endParaRPr lang="en-US" sz="3150" dirty="0"/>
          </a:p>
        </p:txBody>
      </p:sp>
      <p:sp>
        <p:nvSpPr>
          <p:cNvPr id="6" name="Shape 4"/>
          <p:cNvSpPr/>
          <p:nvPr/>
        </p:nvSpPr>
        <p:spPr>
          <a:xfrm>
            <a:off x="548640" y="1764792"/>
            <a:ext cx="3564128" cy="3310128"/>
          </a:xfrm>
          <a:prstGeom prst="rect">
            <a:avLst/>
          </a:prstGeom>
          <a:solidFill>
            <a:srgbClr val="142238"/>
          </a:solidFill>
          <a:ln w="8890">
            <a:solidFill>
              <a:srgbClr val="2B415A"/>
            </a:solidFill>
            <a:prstDash val="solid"/>
          </a:ln>
        </p:spPr>
        <p:txBody>
          <a:bodyPr/>
          <a:p/>
        </p:txBody>
      </p:sp>
      <p:sp>
        <p:nvSpPr>
          <p:cNvPr id="7" name="Shape 5"/>
          <p:cNvSpPr/>
          <p:nvPr/>
        </p:nvSpPr>
        <p:spPr>
          <a:xfrm>
            <a:off x="548640" y="1764792"/>
            <a:ext cx="41148" cy="3310128"/>
          </a:xfrm>
          <a:prstGeom prst="rect">
            <a:avLst/>
          </a:prstGeom>
          <a:solidFill>
            <a:srgbClr val="71D5DD"/>
          </a:solidFill>
          <a:ln w="8890">
            <a:solidFill>
              <a:srgbClr val="71D5DD"/>
            </a:solidFill>
            <a:prstDash val="solid"/>
          </a:ln>
        </p:spPr>
        <p:txBody>
          <a:bodyPr/>
          <a:p/>
        </p:txBody>
      </p:sp>
      <p:sp>
        <p:nvSpPr>
          <p:cNvPr id="8" name="Text 6"/>
          <p:cNvSpPr txBox="1"/>
          <p:nvPr/>
        </p:nvSpPr>
        <p:spPr>
          <a:xfrm>
            <a:off x="758952" y="1975104"/>
            <a:ext cx="3134360" cy="557784"/>
          </a:xfrm>
          <a:prstGeom prst="rect">
            <a:avLst/>
          </a:prstGeom>
          <a:noFill/>
          <a:ln/>
        </p:spPr>
        <p:txBody>
          <a:bodyPr wrap="square" lIns="0" tIns="0" rIns="0" bIns="0" rtlCol="0" anchor="t"/>
          <a:lstStyle/>
          <a:p>
            <a:pPr algn="l" indent="0" marL="0">
              <a:lnSpc>
                <a:spcPct val="104000"/>
              </a:lnSpc>
              <a:buNone/>
            </a:pPr>
            <a:r>
              <a:rPr lang="en-US" sz="1750" b="1" dirty="0">
                <a:solidFill>
                  <a:srgbClr val="71D5DD"/>
                </a:solidFill>
                <a:latin typeface="Arial" pitchFamily="34" charset="0"/>
                <a:ea typeface="Arial" pitchFamily="34" charset="-122"/>
                <a:cs typeface="Arial" pitchFamily="34" charset="-120"/>
              </a:rPr>
              <a:t>DEFINE</a:t>
            </a:r>
            <a:endParaRPr lang="en-US" sz="1750" dirty="0"/>
          </a:p>
        </p:txBody>
      </p:sp>
      <p:sp>
        <p:nvSpPr>
          <p:cNvPr id="9" name="Text 7"/>
          <p:cNvSpPr txBox="1"/>
          <p:nvPr/>
        </p:nvSpPr>
        <p:spPr>
          <a:xfrm>
            <a:off x="758952" y="2642616"/>
            <a:ext cx="3134360" cy="2267712"/>
          </a:xfrm>
          <a:prstGeom prst="rect">
            <a:avLst/>
          </a:prstGeom>
          <a:noFill/>
          <a:ln/>
        </p:spPr>
        <p:txBody>
          <a:bodyPr wrap="square" lIns="0" tIns="0" rIns="0" bIns="0" rtlCol="0" anchor="t"/>
          <a:lstStyle/>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Input distribution and</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work unit.</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Correctness criterion.</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What the timed interval</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includes.</a:t>
            </a:r>
            <a:endParaRPr lang="en-US" sz="2200" dirty="0"/>
          </a:p>
        </p:txBody>
      </p:sp>
      <p:sp>
        <p:nvSpPr>
          <p:cNvPr id="10" name="Shape 8"/>
          <p:cNvSpPr/>
          <p:nvPr/>
        </p:nvSpPr>
        <p:spPr>
          <a:xfrm>
            <a:off x="4313936" y="1764792"/>
            <a:ext cx="3564128" cy="3310128"/>
          </a:xfrm>
          <a:prstGeom prst="rect">
            <a:avLst/>
          </a:prstGeom>
          <a:solidFill>
            <a:srgbClr val="142238"/>
          </a:solidFill>
          <a:ln w="8890">
            <a:solidFill>
              <a:srgbClr val="2B415A"/>
            </a:solidFill>
            <a:prstDash val="solid"/>
          </a:ln>
        </p:spPr>
        <p:txBody>
          <a:bodyPr/>
          <a:p/>
        </p:txBody>
      </p:sp>
      <p:sp>
        <p:nvSpPr>
          <p:cNvPr id="11" name="Shape 9"/>
          <p:cNvSpPr/>
          <p:nvPr/>
        </p:nvSpPr>
        <p:spPr>
          <a:xfrm>
            <a:off x="4313936" y="1764792"/>
            <a:ext cx="41148" cy="3310128"/>
          </a:xfrm>
          <a:prstGeom prst="rect">
            <a:avLst/>
          </a:prstGeom>
          <a:solidFill>
            <a:srgbClr val="71D5DD"/>
          </a:solidFill>
          <a:ln w="8890">
            <a:solidFill>
              <a:srgbClr val="71D5DD"/>
            </a:solidFill>
            <a:prstDash val="solid"/>
          </a:ln>
        </p:spPr>
        <p:txBody>
          <a:bodyPr/>
          <a:p/>
        </p:txBody>
      </p:sp>
      <p:sp>
        <p:nvSpPr>
          <p:cNvPr id="12" name="Text 10"/>
          <p:cNvSpPr txBox="1"/>
          <p:nvPr/>
        </p:nvSpPr>
        <p:spPr>
          <a:xfrm>
            <a:off x="4524248" y="1975104"/>
            <a:ext cx="3134360" cy="557784"/>
          </a:xfrm>
          <a:prstGeom prst="rect">
            <a:avLst/>
          </a:prstGeom>
          <a:noFill/>
          <a:ln/>
        </p:spPr>
        <p:txBody>
          <a:bodyPr wrap="square" lIns="0" tIns="0" rIns="0" bIns="0" rtlCol="0" anchor="t"/>
          <a:lstStyle/>
          <a:p>
            <a:pPr algn="l" indent="0" marL="0">
              <a:lnSpc>
                <a:spcPct val="104000"/>
              </a:lnSpc>
              <a:buNone/>
            </a:pPr>
            <a:r>
              <a:rPr lang="en-US" sz="1750" b="1" dirty="0">
                <a:solidFill>
                  <a:srgbClr val="71D5DD"/>
                </a:solidFill>
                <a:latin typeface="Arial" pitchFamily="34" charset="0"/>
                <a:ea typeface="Arial" pitchFamily="34" charset="-122"/>
                <a:cs typeface="Arial" pitchFamily="34" charset="-120"/>
              </a:rPr>
              <a:t>CONTROL</a:t>
            </a:r>
            <a:endParaRPr lang="en-US" sz="1750" dirty="0"/>
          </a:p>
        </p:txBody>
      </p:sp>
      <p:sp>
        <p:nvSpPr>
          <p:cNvPr id="13" name="Text 11"/>
          <p:cNvSpPr txBox="1"/>
          <p:nvPr/>
        </p:nvSpPr>
        <p:spPr>
          <a:xfrm>
            <a:off x="4524248" y="2642616"/>
            <a:ext cx="3134360" cy="2267712"/>
          </a:xfrm>
          <a:prstGeom prst="rect">
            <a:avLst/>
          </a:prstGeom>
          <a:noFill/>
          <a:ln/>
        </p:spPr>
        <p:txBody>
          <a:bodyPr wrap="square" lIns="0" tIns="0" rIns="0" bIns="0" rtlCol="0" anchor="t"/>
          <a:lstStyle/>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Compiler and options.</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Platform and resource</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conditions.</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Warm-up and first-touch</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policy.</a:t>
            </a:r>
            <a:endParaRPr lang="en-US" sz="2200" dirty="0"/>
          </a:p>
        </p:txBody>
      </p:sp>
      <p:sp>
        <p:nvSpPr>
          <p:cNvPr id="14" name="Shape 12"/>
          <p:cNvSpPr/>
          <p:nvPr/>
        </p:nvSpPr>
        <p:spPr>
          <a:xfrm>
            <a:off x="8079232" y="1764792"/>
            <a:ext cx="3564128" cy="3310128"/>
          </a:xfrm>
          <a:prstGeom prst="rect">
            <a:avLst/>
          </a:prstGeom>
          <a:solidFill>
            <a:srgbClr val="142238"/>
          </a:solidFill>
          <a:ln w="8890">
            <a:solidFill>
              <a:srgbClr val="2B415A"/>
            </a:solidFill>
            <a:prstDash val="solid"/>
          </a:ln>
        </p:spPr>
        <p:txBody>
          <a:bodyPr/>
          <a:p/>
        </p:txBody>
      </p:sp>
      <p:sp>
        <p:nvSpPr>
          <p:cNvPr id="15" name="Shape 13"/>
          <p:cNvSpPr/>
          <p:nvPr/>
        </p:nvSpPr>
        <p:spPr>
          <a:xfrm>
            <a:off x="8079232" y="1764792"/>
            <a:ext cx="41148" cy="3310128"/>
          </a:xfrm>
          <a:prstGeom prst="rect">
            <a:avLst/>
          </a:prstGeom>
          <a:solidFill>
            <a:srgbClr val="71D5DD"/>
          </a:solidFill>
          <a:ln w="8890">
            <a:solidFill>
              <a:srgbClr val="71D5DD"/>
            </a:solidFill>
            <a:prstDash val="solid"/>
          </a:ln>
        </p:spPr>
        <p:txBody>
          <a:bodyPr/>
          <a:p/>
        </p:txBody>
      </p:sp>
      <p:sp>
        <p:nvSpPr>
          <p:cNvPr id="16" name="Text 14"/>
          <p:cNvSpPr txBox="1"/>
          <p:nvPr/>
        </p:nvSpPr>
        <p:spPr>
          <a:xfrm>
            <a:off x="8289544" y="1975104"/>
            <a:ext cx="3134360" cy="557784"/>
          </a:xfrm>
          <a:prstGeom prst="rect">
            <a:avLst/>
          </a:prstGeom>
          <a:noFill/>
          <a:ln/>
        </p:spPr>
        <p:txBody>
          <a:bodyPr wrap="square" lIns="0" tIns="0" rIns="0" bIns="0" rtlCol="0" anchor="t"/>
          <a:lstStyle/>
          <a:p>
            <a:pPr algn="l" indent="0" marL="0">
              <a:lnSpc>
                <a:spcPct val="104000"/>
              </a:lnSpc>
              <a:buNone/>
            </a:pPr>
            <a:r>
              <a:rPr lang="en-US" sz="1750" b="1" dirty="0">
                <a:solidFill>
                  <a:srgbClr val="71D5DD"/>
                </a:solidFill>
                <a:latin typeface="Arial" pitchFamily="34" charset="0"/>
                <a:ea typeface="Arial" pitchFamily="34" charset="-122"/>
                <a:cs typeface="Arial" pitchFamily="34" charset="-120"/>
              </a:rPr>
              <a:t>REPORT</a:t>
            </a:r>
            <a:endParaRPr lang="en-US" sz="1750" dirty="0"/>
          </a:p>
        </p:txBody>
      </p:sp>
      <p:sp>
        <p:nvSpPr>
          <p:cNvPr id="17" name="Text 15"/>
          <p:cNvSpPr txBox="1"/>
          <p:nvPr/>
        </p:nvSpPr>
        <p:spPr>
          <a:xfrm>
            <a:off x="8289544" y="2642616"/>
            <a:ext cx="3134360" cy="2267712"/>
          </a:xfrm>
          <a:prstGeom prst="rect">
            <a:avLst/>
          </a:prstGeom>
          <a:noFill/>
          <a:ln/>
        </p:spPr>
        <p:txBody>
          <a:bodyPr wrap="square" lIns="0" tIns="0" rIns="0" bIns="0" rtlCol="0" anchor="t"/>
          <a:lstStyle/>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Repeated runs and</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variability.</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The comparison method.</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Limits on generalization.</a:t>
            </a:r>
            <a:endParaRPr lang="en-US" sz="2200" dirty="0"/>
          </a:p>
        </p:txBody>
      </p:sp>
      <p:sp>
        <p:nvSpPr>
          <p:cNvPr id="18" name="Text 16"/>
          <p:cNvSpPr txBox="1"/>
          <p:nvPr/>
        </p:nvSpPr>
        <p:spPr>
          <a:xfrm>
            <a:off x="548640" y="5193792"/>
            <a:ext cx="11094720" cy="274320"/>
          </a:xfrm>
          <a:prstGeom prst="rect">
            <a:avLst/>
          </a:prstGeom>
          <a:noFill/>
          <a:ln/>
        </p:spPr>
        <p:txBody>
          <a:bodyPr wrap="square" lIns="0" tIns="0" rIns="0" bIns="0" rtlCol="0" anchor="t"/>
          <a:lstStyle/>
          <a:p>
            <a:pPr algn="l" indent="0" marL="0">
              <a:lnSpc>
                <a:spcPct val="104000"/>
              </a:lnSpc>
              <a:buNone/>
            </a:pPr>
            <a:r>
              <a:rPr lang="en-US" sz="1140" dirty="0">
                <a:solidFill>
                  <a:srgbClr val="B3C3D6"/>
                </a:solidFill>
                <a:latin typeface="Arial" pitchFamily="34" charset="0"/>
                <a:ea typeface="Arial" pitchFamily="34" charset="-122"/>
                <a:cs typeface="Arial" pitchFamily="34" charset="-120"/>
              </a:rPr>
              <a:t>A benchmark is evidence for a specified experiment, not a universal speed guarantee.</a:t>
            </a:r>
            <a:endParaRPr lang="en-US" sz="1140" dirty="0"/>
          </a:p>
        </p:txBody>
      </p:sp>
      <p:sp>
        <p:nvSpPr>
          <p:cNvPr id="23" name="Text 21"/>
          <p:cNvSpPr txBox="1"/>
          <p:nvPr/>
        </p:nvSpPr>
        <p:spPr>
          <a:xfrm>
            <a:off x="548640" y="6601968"/>
            <a:ext cx="10241280" cy="128016"/>
          </a:xfrm>
          <a:prstGeom prst="rect">
            <a:avLst/>
          </a:prstGeom>
          <a:noFill/>
          <a:ln/>
        </p:spPr>
        <p:txBody>
          <a:bodyPr wrap="square" lIns="0" tIns="0" rIns="0" bIns="0" rtlCol="0" anchor="t"/>
          <a:lstStyle/>
          <a:p>
            <a:pPr algn="l" indent="0" marL="0">
              <a:lnSpc>
                <a:spcPct val="104000"/>
              </a:lnSpc>
              <a:buNone/>
            </a:pPr>
            <a:r>
              <a:rPr lang="en-US" sz="830" dirty="0">
                <a:solidFill>
                  <a:srgbClr val="B3C3D6"/>
                </a:solidFill>
                <a:latin typeface="Arial" pitchFamily="34" charset="0"/>
                <a:ea typeface="Arial" pitchFamily="34" charset="-122"/>
                <a:cs typeface="Arial" pitchFamily="34" charset="-120"/>
              </a:rPr>
              <a:t>Source: original 19 • Graduate extension</a:t>
            </a:r>
            <a:endParaRPr lang="en-US" sz="830" dirty="0"/>
          </a:p>
        </p:txBody>
      </p:sp>
      <p:sp>
        <p:nvSpPr>
          <p:cNvPr id="24" name="Text 22"/>
          <p:cNvSpPr txBox="1"/>
          <p:nvPr/>
        </p:nvSpPr>
        <p:spPr>
          <a:xfrm>
            <a:off x="10917936" y="6565392"/>
            <a:ext cx="722376" cy="219456"/>
          </a:xfrm>
          <a:prstGeom prst="rect">
            <a:avLst/>
          </a:prstGeom>
          <a:noFill/>
          <a:ln/>
        </p:spPr>
        <p:txBody>
          <a:bodyPr wrap="square" lIns="0" tIns="0" rIns="0" bIns="0" rtlCol="0" anchor="t"/>
          <a:lstStyle/>
          <a:p>
            <a:pPr algn="r" indent="0" marL="0">
              <a:lnSpc>
                <a:spcPct val="104000"/>
              </a:lnSpc>
              <a:buNone/>
            </a:pPr>
            <a:r>
              <a:rPr lang="en-US" sz="1050" dirty="0">
                <a:solidFill>
                  <a:srgbClr val="B3C3D6"/>
                </a:solidFill>
                <a:latin typeface="Arial" pitchFamily="34" charset="0"/>
                <a:ea typeface="Arial" pitchFamily="34" charset="-122"/>
                <a:cs typeface="Arial" pitchFamily="34" charset="-120"/>
              </a:rPr>
              <a:t>41 / 64</a:t>
            </a:r>
            <a:endParaRPr lang="en-US" sz="1050" dirty="0"/>
          </a:p>
        </p:txBody>
      </p:sp>
      <p:sp>
        <p:nvSpPr>
          <p:cNvPr id="25" name="Shape 23"/>
          <p:cNvSpPr/>
          <p:nvPr/>
        </p:nvSpPr>
        <p:spPr>
          <a:xfrm>
            <a:off x="0" y="6834226"/>
            <a:ext cx="12192000" cy="23774"/>
          </a:xfrm>
          <a:prstGeom prst="rect">
            <a:avLst/>
          </a:prstGeom>
          <a:solidFill>
            <a:srgbClr val="2B415A"/>
          </a:solidFill>
          <a:ln w="8890">
            <a:solidFill>
              <a:srgbClr val="2B415A"/>
            </a:solidFill>
            <a:prstDash val="solid"/>
          </a:ln>
        </p:spPr>
        <p:txBody>
          <a:bodyPr/>
          <a:p/>
        </p:txBody>
      </p:sp>
      <p:sp>
        <p:nvSpPr>
          <p:cNvPr id="26" name="Shape 24"/>
          <p:cNvSpPr/>
          <p:nvPr/>
        </p:nvSpPr>
        <p:spPr>
          <a:xfrm>
            <a:off x="0" y="6834226"/>
            <a:ext cx="7810500" cy="23774"/>
          </a:xfrm>
          <a:prstGeom prst="rect">
            <a:avLst/>
          </a:prstGeom>
          <a:solidFill>
            <a:srgbClr val="71D5DD"/>
          </a:solidFill>
          <a:ln w="8890">
            <a:solidFill>
              <a:srgbClr val="71D5DD"/>
            </a:solidFill>
            <a:prstDash val="solid"/>
          </a:ln>
        </p:spPr>
        <p:txBody>
          <a:body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txBox="1"/>
          <p:nvPr/>
        </p:nvSpPr>
        <p:spPr>
          <a:xfrm>
            <a:off x="548640" y="219456"/>
            <a:ext cx="9875520" cy="192024"/>
          </a:xfrm>
          <a:prstGeom prst="rect">
            <a:avLst/>
          </a:prstGeom>
          <a:noFill/>
          <a:ln/>
        </p:spPr>
        <p:txBody>
          <a:bodyPr wrap="square" lIns="0" tIns="0" rIns="0" bIns="0" rtlCol="0" anchor="t"/>
          <a:lstStyle/>
          <a:p>
            <a:pPr algn="l" indent="0" marL="0">
              <a:lnSpc>
                <a:spcPct val="104000"/>
              </a:lnSpc>
              <a:buNone/>
            </a:pPr>
            <a:r>
              <a:rPr lang="en-US" sz="970" b="1" spc="135" kern="0" dirty="0">
                <a:solidFill>
                  <a:srgbClr val="B3C3D6"/>
                </a:solidFill>
                <a:latin typeface="Arial" pitchFamily="34" charset="0"/>
                <a:ea typeface="Arial" pitchFamily="34" charset="-122"/>
                <a:cs typeface="Arial" pitchFamily="34" charset="-120"/>
              </a:rPr>
              <a:t>SYSTEMS PROGRAMMING AND MACHINE ORGANIZATION</a:t>
            </a:r>
            <a:endParaRPr lang="en-US" sz="970" dirty="0"/>
          </a:p>
        </p:txBody>
      </p:sp>
      <p:sp>
        <p:nvSpPr>
          <p:cNvPr id="3" name="Text 1"/>
          <p:cNvSpPr txBox="1"/>
          <p:nvPr/>
        </p:nvSpPr>
        <p:spPr>
          <a:xfrm>
            <a:off x="9601200" y="219456"/>
            <a:ext cx="2039112" cy="192024"/>
          </a:xfrm>
          <a:prstGeom prst="rect">
            <a:avLst/>
          </a:prstGeom>
          <a:noFill/>
          <a:ln/>
        </p:spPr>
        <p:txBody>
          <a:bodyPr wrap="square" lIns="0" tIns="0" rIns="0" bIns="0" rtlCol="0" anchor="t"/>
          <a:lstStyle/>
          <a:p>
            <a:pPr algn="r" indent="0" marL="0">
              <a:lnSpc>
                <a:spcPct val="104000"/>
              </a:lnSpc>
              <a:buNone/>
            </a:pPr>
            <a:r>
              <a:rPr lang="en-US" sz="970" b="1" dirty="0">
                <a:solidFill>
                  <a:srgbClr val="B3C3D6"/>
                </a:solidFill>
                <a:latin typeface="Arial" pitchFamily="34" charset="0"/>
                <a:ea typeface="Arial" pitchFamily="34" charset="-122"/>
                <a:cs typeface="Arial" pitchFamily="34" charset="-120"/>
              </a:rPr>
              <a:t>CHARLES DORNER</a:t>
            </a:r>
            <a:endParaRPr lang="en-US" sz="970" dirty="0"/>
          </a:p>
        </p:txBody>
      </p:sp>
      <p:sp>
        <p:nvSpPr>
          <p:cNvPr id="4" name="Text 2"/>
          <p:cNvSpPr txBox="1"/>
          <p:nvPr/>
        </p:nvSpPr>
        <p:spPr>
          <a:xfrm>
            <a:off x="548640" y="566928"/>
            <a:ext cx="11109960" cy="237744"/>
          </a:xfrm>
          <a:prstGeom prst="rect">
            <a:avLst/>
          </a:prstGeom>
          <a:noFill/>
          <a:ln/>
        </p:spPr>
        <p:txBody>
          <a:bodyPr wrap="square" lIns="0" tIns="0" rIns="0" bIns="0" rtlCol="0" anchor="t"/>
          <a:lstStyle/>
          <a:p>
            <a:pPr algn="l" indent="0" marL="0">
              <a:lnSpc>
                <a:spcPct val="104000"/>
              </a:lnSpc>
              <a:buNone/>
            </a:pPr>
            <a:r>
              <a:rPr lang="en-US" sz="1150" b="1" dirty="0">
                <a:solidFill>
                  <a:srgbClr val="71D5DD"/>
                </a:solidFill>
                <a:latin typeface="Arial" pitchFamily="34" charset="0"/>
                <a:ea typeface="Arial" pitchFamily="34" charset="-122"/>
                <a:cs typeface="Arial" pitchFamily="34" charset="-120"/>
              </a:rPr>
              <a:t>1.3.3 · RESOURCE MANAGEMENT</a:t>
            </a:r>
            <a:endParaRPr lang="en-US" sz="1150" dirty="0"/>
          </a:p>
        </p:txBody>
      </p:sp>
      <p:sp>
        <p:nvSpPr>
          <p:cNvPr id="5" name="Text 3"/>
          <p:cNvSpPr txBox="1"/>
          <p:nvPr/>
        </p:nvSpPr>
        <p:spPr>
          <a:xfrm>
            <a:off x="548640" y="941832"/>
            <a:ext cx="11091672" cy="676656"/>
          </a:xfrm>
          <a:prstGeom prst="rect">
            <a:avLst/>
          </a:prstGeom>
          <a:noFill/>
          <a:ln/>
        </p:spPr>
        <p:txBody>
          <a:bodyPr wrap="square" lIns="0" tIns="0" rIns="0" bIns="0" rtlCol="0" anchor="t"/>
          <a:lstStyle/>
          <a:p>
            <a:pPr algn="l" indent="0" marL="0">
              <a:lnSpc>
                <a:spcPct val="104000"/>
              </a:lnSpc>
              <a:buNone/>
            </a:pPr>
            <a:r>
              <a:rPr lang="en-US" sz="3150" b="1" dirty="0">
                <a:solidFill>
                  <a:srgbClr val="F4F7FB"/>
                </a:solidFill>
                <a:latin typeface="Arial" pitchFamily="34" charset="0"/>
                <a:ea typeface="Arial" pitchFamily="34" charset="-122"/>
                <a:cs typeface="Arial" pitchFamily="34" charset="-120"/>
              </a:rPr>
              <a:t>Ownership turns resources into explicit obligations</a:t>
            </a:r>
            <a:endParaRPr lang="en-US" sz="3150" dirty="0"/>
          </a:p>
        </p:txBody>
      </p:sp>
      <p:sp>
        <p:nvSpPr>
          <p:cNvPr id="6" name="Shape 4"/>
          <p:cNvSpPr/>
          <p:nvPr/>
        </p:nvSpPr>
        <p:spPr>
          <a:xfrm>
            <a:off x="548640" y="1883664"/>
            <a:ext cx="2058010" cy="941832"/>
          </a:xfrm>
          <a:prstGeom prst="rect">
            <a:avLst/>
          </a:prstGeom>
          <a:solidFill>
            <a:srgbClr val="172940"/>
          </a:solidFill>
          <a:ln w="8890">
            <a:solidFill>
              <a:srgbClr val="2B415A"/>
            </a:solidFill>
            <a:prstDash val="solid"/>
          </a:ln>
        </p:spPr>
        <p:txBody>
          <a:bodyPr/>
          <a:p/>
        </p:txBody>
      </p:sp>
      <p:sp>
        <p:nvSpPr>
          <p:cNvPr id="7" name="Text 5"/>
          <p:cNvSpPr txBox="1"/>
          <p:nvPr/>
        </p:nvSpPr>
        <p:spPr>
          <a:xfrm>
            <a:off x="640080" y="2084832"/>
            <a:ext cx="1875130" cy="548640"/>
          </a:xfrm>
          <a:prstGeom prst="rect">
            <a:avLst/>
          </a:prstGeom>
          <a:noFill/>
          <a:ln/>
        </p:spPr>
        <p:txBody>
          <a:bodyPr wrap="square" lIns="0" tIns="0" rIns="0" bIns="0" rtlCol="0" anchor="t"/>
          <a:lstStyle/>
          <a:p>
            <a:pPr algn="ctr" indent="0" marL="0">
              <a:lnSpc>
                <a:spcPct val="104000"/>
              </a:lnSpc>
              <a:buNone/>
            </a:pPr>
            <a:r>
              <a:rPr lang="en-US" sz="1800" b="1" dirty="0">
                <a:solidFill>
                  <a:srgbClr val="F4F7FB"/>
                </a:solidFill>
                <a:latin typeface="Arial" pitchFamily="34" charset="0"/>
                <a:ea typeface="Arial" pitchFamily="34" charset="-122"/>
                <a:cs typeface="Arial" pitchFamily="34" charset="-120"/>
              </a:rPr>
              <a:t>Acquire</a:t>
            </a:r>
            <a:endParaRPr lang="en-US" sz="1800" dirty="0"/>
          </a:p>
        </p:txBody>
      </p:sp>
      <p:sp>
        <p:nvSpPr>
          <p:cNvPr id="8" name="Shape 6"/>
          <p:cNvSpPr/>
          <p:nvPr/>
        </p:nvSpPr>
        <p:spPr>
          <a:xfrm>
            <a:off x="2629510" y="2354580"/>
            <a:ext cx="155448" cy="0"/>
          </a:xfrm>
          <a:prstGeom prst="line">
            <a:avLst/>
          </a:prstGeom>
          <a:noFill/>
          <a:ln w="19050">
            <a:solidFill>
              <a:srgbClr val="71D5DD"/>
            </a:solidFill>
            <a:prstDash val="solid"/>
            <a:headEnd type="none"/>
            <a:tailEnd type="triangle"/>
          </a:ln>
        </p:spPr>
        <p:txBody>
          <a:bodyPr/>
          <a:p/>
        </p:txBody>
      </p:sp>
      <p:sp>
        <p:nvSpPr>
          <p:cNvPr id="9" name="Shape 7"/>
          <p:cNvSpPr/>
          <p:nvPr/>
        </p:nvSpPr>
        <p:spPr>
          <a:xfrm>
            <a:off x="2807818" y="1883664"/>
            <a:ext cx="2058010" cy="941832"/>
          </a:xfrm>
          <a:prstGeom prst="rect">
            <a:avLst/>
          </a:prstGeom>
          <a:solidFill>
            <a:srgbClr val="172940"/>
          </a:solidFill>
          <a:ln w="8890">
            <a:solidFill>
              <a:srgbClr val="2B415A"/>
            </a:solidFill>
            <a:prstDash val="solid"/>
          </a:ln>
        </p:spPr>
        <p:txBody>
          <a:bodyPr/>
          <a:p/>
        </p:txBody>
      </p:sp>
      <p:sp>
        <p:nvSpPr>
          <p:cNvPr id="10" name="Text 8"/>
          <p:cNvSpPr txBox="1"/>
          <p:nvPr/>
        </p:nvSpPr>
        <p:spPr>
          <a:xfrm>
            <a:off x="2899258" y="2084832"/>
            <a:ext cx="1875130" cy="548640"/>
          </a:xfrm>
          <a:prstGeom prst="rect">
            <a:avLst/>
          </a:prstGeom>
          <a:noFill/>
          <a:ln/>
        </p:spPr>
        <p:txBody>
          <a:bodyPr wrap="square" lIns="0" tIns="0" rIns="0" bIns="0" rtlCol="0" anchor="t"/>
          <a:lstStyle/>
          <a:p>
            <a:pPr algn="ctr" indent="0" marL="0">
              <a:lnSpc>
                <a:spcPct val="104000"/>
              </a:lnSpc>
              <a:buNone/>
            </a:pPr>
            <a:r>
              <a:rPr lang="en-US" sz="1800" b="1" dirty="0">
                <a:solidFill>
                  <a:srgbClr val="F4F7FB"/>
                </a:solidFill>
                <a:latin typeface="Arial" pitchFamily="34" charset="0"/>
                <a:ea typeface="Arial" pitchFamily="34" charset="-122"/>
                <a:cs typeface="Arial" pitchFamily="34" charset="-120"/>
              </a:rPr>
              <a:t>Establish</a:t>
            </a:r>
            <a:endParaRPr lang="en-US" sz="1800" dirty="0"/>
          </a:p>
          <a:p>
            <a:pPr algn="ctr" indent="0" marL="0">
              <a:lnSpc>
                <a:spcPct val="104000"/>
              </a:lnSpc>
              <a:buNone/>
            </a:pPr>
            <a:r>
              <a:rPr lang="en-US" sz="1800" b="1" dirty="0">
                <a:solidFill>
                  <a:srgbClr val="F4F7FB"/>
                </a:solidFill>
                <a:latin typeface="Arial" pitchFamily="34" charset="0"/>
                <a:ea typeface="Arial" pitchFamily="34" charset="-122"/>
                <a:cs typeface="Arial" pitchFamily="34" charset="-120"/>
              </a:rPr>
              <a:t>ownership</a:t>
            </a:r>
            <a:endParaRPr lang="en-US" sz="1800" dirty="0"/>
          </a:p>
        </p:txBody>
      </p:sp>
      <p:sp>
        <p:nvSpPr>
          <p:cNvPr id="11" name="Shape 9"/>
          <p:cNvSpPr/>
          <p:nvPr/>
        </p:nvSpPr>
        <p:spPr>
          <a:xfrm>
            <a:off x="4888687" y="2354580"/>
            <a:ext cx="155448" cy="0"/>
          </a:xfrm>
          <a:prstGeom prst="line">
            <a:avLst/>
          </a:prstGeom>
          <a:noFill/>
          <a:ln w="19050">
            <a:solidFill>
              <a:srgbClr val="71D5DD"/>
            </a:solidFill>
            <a:prstDash val="solid"/>
            <a:headEnd type="none"/>
            <a:tailEnd type="triangle"/>
          </a:ln>
        </p:spPr>
        <p:txBody>
          <a:bodyPr/>
          <a:p/>
        </p:txBody>
      </p:sp>
      <p:sp>
        <p:nvSpPr>
          <p:cNvPr id="12" name="Shape 10"/>
          <p:cNvSpPr/>
          <p:nvPr/>
        </p:nvSpPr>
        <p:spPr>
          <a:xfrm>
            <a:off x="5066995" y="1883664"/>
            <a:ext cx="2058010" cy="941832"/>
          </a:xfrm>
          <a:prstGeom prst="rect">
            <a:avLst/>
          </a:prstGeom>
          <a:solidFill>
            <a:srgbClr val="172940"/>
          </a:solidFill>
          <a:ln w="8890">
            <a:solidFill>
              <a:srgbClr val="2B415A"/>
            </a:solidFill>
            <a:prstDash val="solid"/>
          </a:ln>
        </p:spPr>
        <p:txBody>
          <a:bodyPr/>
          <a:p/>
        </p:txBody>
      </p:sp>
      <p:sp>
        <p:nvSpPr>
          <p:cNvPr id="13" name="Text 11"/>
          <p:cNvSpPr txBox="1"/>
          <p:nvPr/>
        </p:nvSpPr>
        <p:spPr>
          <a:xfrm>
            <a:off x="5158435" y="2084832"/>
            <a:ext cx="1875130" cy="548640"/>
          </a:xfrm>
          <a:prstGeom prst="rect">
            <a:avLst/>
          </a:prstGeom>
          <a:noFill/>
          <a:ln/>
        </p:spPr>
        <p:txBody>
          <a:bodyPr wrap="square" lIns="0" tIns="0" rIns="0" bIns="0" rtlCol="0" anchor="t"/>
          <a:lstStyle/>
          <a:p>
            <a:pPr algn="ctr" indent="0" marL="0">
              <a:lnSpc>
                <a:spcPct val="104000"/>
              </a:lnSpc>
              <a:buNone/>
            </a:pPr>
            <a:r>
              <a:rPr lang="en-US" sz="1800" b="1" dirty="0">
                <a:solidFill>
                  <a:srgbClr val="F4F7FB"/>
                </a:solidFill>
                <a:latin typeface="Arial" pitchFamily="34" charset="0"/>
                <a:ea typeface="Arial" pitchFamily="34" charset="-122"/>
                <a:cs typeface="Arial" pitchFamily="34" charset="-120"/>
              </a:rPr>
              <a:t>Use while valid</a:t>
            </a:r>
            <a:endParaRPr lang="en-US" sz="1800" dirty="0"/>
          </a:p>
        </p:txBody>
      </p:sp>
      <p:sp>
        <p:nvSpPr>
          <p:cNvPr id="14" name="Shape 12"/>
          <p:cNvSpPr/>
          <p:nvPr/>
        </p:nvSpPr>
        <p:spPr>
          <a:xfrm>
            <a:off x="7147865" y="2354580"/>
            <a:ext cx="155448" cy="0"/>
          </a:xfrm>
          <a:prstGeom prst="line">
            <a:avLst/>
          </a:prstGeom>
          <a:noFill/>
          <a:ln w="19050">
            <a:solidFill>
              <a:srgbClr val="71D5DD"/>
            </a:solidFill>
            <a:prstDash val="solid"/>
            <a:headEnd type="none"/>
            <a:tailEnd type="triangle"/>
          </a:ln>
        </p:spPr>
        <p:txBody>
          <a:bodyPr/>
          <a:p/>
        </p:txBody>
      </p:sp>
      <p:sp>
        <p:nvSpPr>
          <p:cNvPr id="15" name="Shape 13"/>
          <p:cNvSpPr/>
          <p:nvPr/>
        </p:nvSpPr>
        <p:spPr>
          <a:xfrm>
            <a:off x="7326173" y="1883664"/>
            <a:ext cx="2058010" cy="941832"/>
          </a:xfrm>
          <a:prstGeom prst="rect">
            <a:avLst/>
          </a:prstGeom>
          <a:solidFill>
            <a:srgbClr val="172940"/>
          </a:solidFill>
          <a:ln w="8890">
            <a:solidFill>
              <a:srgbClr val="2B415A"/>
            </a:solidFill>
            <a:prstDash val="solid"/>
          </a:ln>
        </p:spPr>
        <p:txBody>
          <a:bodyPr/>
          <a:p/>
        </p:txBody>
      </p:sp>
      <p:sp>
        <p:nvSpPr>
          <p:cNvPr id="16" name="Text 14"/>
          <p:cNvSpPr txBox="1"/>
          <p:nvPr/>
        </p:nvSpPr>
        <p:spPr>
          <a:xfrm>
            <a:off x="7417613" y="2084832"/>
            <a:ext cx="1875130" cy="548640"/>
          </a:xfrm>
          <a:prstGeom prst="rect">
            <a:avLst/>
          </a:prstGeom>
          <a:noFill/>
          <a:ln/>
        </p:spPr>
        <p:txBody>
          <a:bodyPr wrap="square" lIns="0" tIns="0" rIns="0" bIns="0" rtlCol="0" anchor="t"/>
          <a:lstStyle/>
          <a:p>
            <a:pPr algn="ctr" indent="0" marL="0">
              <a:lnSpc>
                <a:spcPct val="104000"/>
              </a:lnSpc>
              <a:buNone/>
            </a:pPr>
            <a:r>
              <a:rPr lang="en-US" sz="1800" b="1" dirty="0">
                <a:solidFill>
                  <a:srgbClr val="F4F7FB"/>
                </a:solidFill>
                <a:latin typeface="Arial" pitchFamily="34" charset="0"/>
                <a:ea typeface="Arial" pitchFamily="34" charset="-122"/>
                <a:cs typeface="Arial" pitchFamily="34" charset="-120"/>
              </a:rPr>
              <a:t>Transfer or</a:t>
            </a:r>
            <a:endParaRPr lang="en-US" sz="1800" dirty="0"/>
          </a:p>
          <a:p>
            <a:pPr algn="ctr" indent="0" marL="0">
              <a:lnSpc>
                <a:spcPct val="104000"/>
              </a:lnSpc>
              <a:buNone/>
            </a:pPr>
            <a:r>
              <a:rPr lang="en-US" sz="1800" b="1" dirty="0">
                <a:solidFill>
                  <a:srgbClr val="F4F7FB"/>
                </a:solidFill>
                <a:latin typeface="Arial" pitchFamily="34" charset="0"/>
                <a:ea typeface="Arial" pitchFamily="34" charset="-122"/>
                <a:cs typeface="Arial" pitchFamily="34" charset="-120"/>
              </a:rPr>
              <a:t>retain</a:t>
            </a:r>
            <a:endParaRPr lang="en-US" sz="1800" dirty="0"/>
          </a:p>
        </p:txBody>
      </p:sp>
      <p:sp>
        <p:nvSpPr>
          <p:cNvPr id="17" name="Shape 15"/>
          <p:cNvSpPr/>
          <p:nvPr/>
        </p:nvSpPr>
        <p:spPr>
          <a:xfrm>
            <a:off x="9407042" y="2354580"/>
            <a:ext cx="155448" cy="0"/>
          </a:xfrm>
          <a:prstGeom prst="line">
            <a:avLst/>
          </a:prstGeom>
          <a:noFill/>
          <a:ln w="19050">
            <a:solidFill>
              <a:srgbClr val="71D5DD"/>
            </a:solidFill>
            <a:prstDash val="solid"/>
            <a:headEnd type="none"/>
            <a:tailEnd type="triangle"/>
          </a:ln>
        </p:spPr>
        <p:txBody>
          <a:bodyPr/>
          <a:p/>
        </p:txBody>
      </p:sp>
      <p:sp>
        <p:nvSpPr>
          <p:cNvPr id="18" name="Shape 16"/>
          <p:cNvSpPr/>
          <p:nvPr/>
        </p:nvSpPr>
        <p:spPr>
          <a:xfrm>
            <a:off x="9585350" y="1883664"/>
            <a:ext cx="2058010" cy="941832"/>
          </a:xfrm>
          <a:prstGeom prst="rect">
            <a:avLst/>
          </a:prstGeom>
          <a:solidFill>
            <a:srgbClr val="172940"/>
          </a:solidFill>
          <a:ln w="8890">
            <a:solidFill>
              <a:srgbClr val="2B415A"/>
            </a:solidFill>
            <a:prstDash val="solid"/>
          </a:ln>
        </p:spPr>
        <p:txBody>
          <a:bodyPr/>
          <a:p/>
        </p:txBody>
      </p:sp>
      <p:sp>
        <p:nvSpPr>
          <p:cNvPr id="19" name="Text 17"/>
          <p:cNvSpPr txBox="1"/>
          <p:nvPr/>
        </p:nvSpPr>
        <p:spPr>
          <a:xfrm>
            <a:off x="9676790" y="2084832"/>
            <a:ext cx="1875130" cy="548640"/>
          </a:xfrm>
          <a:prstGeom prst="rect">
            <a:avLst/>
          </a:prstGeom>
          <a:noFill/>
          <a:ln/>
        </p:spPr>
        <p:txBody>
          <a:bodyPr wrap="square" lIns="0" tIns="0" rIns="0" bIns="0" rtlCol="0" anchor="t"/>
          <a:lstStyle/>
          <a:p>
            <a:pPr algn="ctr" indent="0" marL="0">
              <a:lnSpc>
                <a:spcPct val="104000"/>
              </a:lnSpc>
              <a:buNone/>
            </a:pPr>
            <a:r>
              <a:rPr lang="en-US" sz="1800" b="1" dirty="0">
                <a:solidFill>
                  <a:srgbClr val="F4F7FB"/>
                </a:solidFill>
                <a:latin typeface="Arial" pitchFamily="34" charset="0"/>
                <a:ea typeface="Arial" pitchFamily="34" charset="-122"/>
                <a:cs typeface="Arial" pitchFamily="34" charset="-120"/>
              </a:rPr>
              <a:t>Release once</a:t>
            </a:r>
            <a:endParaRPr lang="en-US" sz="1800" dirty="0"/>
          </a:p>
        </p:txBody>
      </p:sp>
      <p:sp>
        <p:nvSpPr>
          <p:cNvPr id="20" name="Text 18"/>
          <p:cNvSpPr txBox="1"/>
          <p:nvPr/>
        </p:nvSpPr>
        <p:spPr>
          <a:xfrm>
            <a:off x="566928" y="3191256"/>
            <a:ext cx="384048" cy="237744"/>
          </a:xfrm>
          <a:prstGeom prst="rect">
            <a:avLst/>
          </a:prstGeom>
          <a:noFill/>
          <a:ln/>
        </p:spPr>
        <p:txBody>
          <a:bodyPr wrap="square" lIns="0" tIns="0" rIns="0" bIns="0" rtlCol="0" anchor="t"/>
          <a:lstStyle/>
          <a:p>
            <a:pPr algn="l" indent="0" marL="0">
              <a:lnSpc>
                <a:spcPct val="104000"/>
              </a:lnSpc>
              <a:buNone/>
            </a:pPr>
            <a:r>
              <a:rPr lang="en-US" sz="1350" b="1" dirty="0">
                <a:solidFill>
                  <a:srgbClr val="71D5DD"/>
                </a:solidFill>
                <a:latin typeface="Arial" pitchFamily="34" charset="0"/>
                <a:ea typeface="Arial" pitchFamily="34" charset="-122"/>
                <a:cs typeface="Arial" pitchFamily="34" charset="-120"/>
              </a:rPr>
              <a:t>01</a:t>
            </a:r>
            <a:endParaRPr lang="en-US" sz="1350" dirty="0"/>
          </a:p>
        </p:txBody>
      </p:sp>
      <p:sp>
        <p:nvSpPr>
          <p:cNvPr id="21" name="Text 19"/>
          <p:cNvSpPr txBox="1"/>
          <p:nvPr/>
        </p:nvSpPr>
        <p:spPr>
          <a:xfrm>
            <a:off x="1124712" y="3136392"/>
            <a:ext cx="10515600" cy="576072"/>
          </a:xfrm>
          <a:prstGeom prst="rect">
            <a:avLst/>
          </a:prstGeom>
          <a:noFill/>
          <a:ln/>
        </p:spPr>
        <p:txBody>
          <a:bodyPr wrap="square" lIns="0" tIns="0" rIns="0" bIns="0" rtlCol="0" anchor="t"/>
          <a:lstStyle/>
          <a:p>
            <a:pPr algn="l" indent="0" marL="0">
              <a:lnSpc>
                <a:spcPct val="104000"/>
              </a:lnSpc>
              <a:buNone/>
            </a:pPr>
            <a:r>
              <a:rPr lang="en-US" sz="2150" dirty="0">
                <a:solidFill>
                  <a:srgbClr val="F4F7FB"/>
                </a:solidFill>
                <a:latin typeface="Arial" pitchFamily="34" charset="0"/>
                <a:ea typeface="Arial" pitchFamily="34" charset="-122"/>
                <a:cs typeface="Arial" pitchFamily="34" charset="-120"/>
              </a:rPr>
              <a:t>Specify who releases each owned resource.</a:t>
            </a:r>
            <a:endParaRPr lang="en-US" sz="2150" dirty="0"/>
          </a:p>
        </p:txBody>
      </p:sp>
      <p:sp>
        <p:nvSpPr>
          <p:cNvPr id="22" name="Text 20"/>
          <p:cNvSpPr txBox="1"/>
          <p:nvPr/>
        </p:nvSpPr>
        <p:spPr>
          <a:xfrm>
            <a:off x="566928" y="3803904"/>
            <a:ext cx="384048" cy="237744"/>
          </a:xfrm>
          <a:prstGeom prst="rect">
            <a:avLst/>
          </a:prstGeom>
          <a:noFill/>
          <a:ln/>
        </p:spPr>
        <p:txBody>
          <a:bodyPr wrap="square" lIns="0" tIns="0" rIns="0" bIns="0" rtlCol="0" anchor="t"/>
          <a:lstStyle/>
          <a:p>
            <a:pPr algn="l" indent="0" marL="0">
              <a:lnSpc>
                <a:spcPct val="104000"/>
              </a:lnSpc>
              <a:buNone/>
            </a:pPr>
            <a:r>
              <a:rPr lang="en-US" sz="1350" b="1" dirty="0">
                <a:solidFill>
                  <a:srgbClr val="71D5DD"/>
                </a:solidFill>
                <a:latin typeface="Arial" pitchFamily="34" charset="0"/>
                <a:ea typeface="Arial" pitchFamily="34" charset="-122"/>
                <a:cs typeface="Arial" pitchFamily="34" charset="-120"/>
              </a:rPr>
              <a:t>02</a:t>
            </a:r>
            <a:endParaRPr lang="en-US" sz="1350" dirty="0"/>
          </a:p>
        </p:txBody>
      </p:sp>
      <p:sp>
        <p:nvSpPr>
          <p:cNvPr id="23" name="Text 21"/>
          <p:cNvSpPr txBox="1"/>
          <p:nvPr/>
        </p:nvSpPr>
        <p:spPr>
          <a:xfrm>
            <a:off x="1124712" y="3749040"/>
            <a:ext cx="10515600" cy="576072"/>
          </a:xfrm>
          <a:prstGeom prst="rect">
            <a:avLst/>
          </a:prstGeom>
          <a:noFill/>
          <a:ln/>
        </p:spPr>
        <p:txBody>
          <a:bodyPr wrap="square" lIns="0" tIns="0" rIns="0" bIns="0" rtlCol="0" anchor="t"/>
          <a:lstStyle/>
          <a:p>
            <a:pPr algn="l" indent="0" marL="0">
              <a:lnSpc>
                <a:spcPct val="104000"/>
              </a:lnSpc>
              <a:buNone/>
            </a:pPr>
            <a:r>
              <a:rPr lang="en-US" sz="2150" dirty="0">
                <a:solidFill>
                  <a:srgbClr val="F4F7FB"/>
                </a:solidFill>
                <a:latin typeface="Arial" pitchFamily="34" charset="0"/>
                <a:ea typeface="Arial" pitchFamily="34" charset="-122"/>
                <a:cs typeface="Arial" pitchFamily="34" charset="-120"/>
              </a:rPr>
              <a:t>Specify when use is valid and what a transfer changes.</a:t>
            </a:r>
            <a:endParaRPr lang="en-US" sz="2150" dirty="0"/>
          </a:p>
        </p:txBody>
      </p:sp>
      <p:sp>
        <p:nvSpPr>
          <p:cNvPr id="24" name="Text 22"/>
          <p:cNvSpPr txBox="1"/>
          <p:nvPr/>
        </p:nvSpPr>
        <p:spPr>
          <a:xfrm>
            <a:off x="566928" y="4416552"/>
            <a:ext cx="384048" cy="237744"/>
          </a:xfrm>
          <a:prstGeom prst="rect">
            <a:avLst/>
          </a:prstGeom>
          <a:noFill/>
          <a:ln/>
        </p:spPr>
        <p:txBody>
          <a:bodyPr wrap="square" lIns="0" tIns="0" rIns="0" bIns="0" rtlCol="0" anchor="t"/>
          <a:lstStyle/>
          <a:p>
            <a:pPr algn="l" indent="0" marL="0">
              <a:lnSpc>
                <a:spcPct val="104000"/>
              </a:lnSpc>
              <a:buNone/>
            </a:pPr>
            <a:r>
              <a:rPr lang="en-US" sz="1350" b="1" dirty="0">
                <a:solidFill>
                  <a:srgbClr val="71D5DD"/>
                </a:solidFill>
                <a:latin typeface="Arial" pitchFamily="34" charset="0"/>
                <a:ea typeface="Arial" pitchFamily="34" charset="-122"/>
                <a:cs typeface="Arial" pitchFamily="34" charset="-120"/>
              </a:rPr>
              <a:t>03</a:t>
            </a:r>
            <a:endParaRPr lang="en-US" sz="1350" dirty="0"/>
          </a:p>
        </p:txBody>
      </p:sp>
      <p:sp>
        <p:nvSpPr>
          <p:cNvPr id="25" name="Text 23"/>
          <p:cNvSpPr txBox="1"/>
          <p:nvPr/>
        </p:nvSpPr>
        <p:spPr>
          <a:xfrm>
            <a:off x="1124712" y="4361688"/>
            <a:ext cx="10515600" cy="576072"/>
          </a:xfrm>
          <a:prstGeom prst="rect">
            <a:avLst/>
          </a:prstGeom>
          <a:noFill/>
          <a:ln/>
        </p:spPr>
        <p:txBody>
          <a:bodyPr wrap="square" lIns="0" tIns="0" rIns="0" bIns="0" rtlCol="0" anchor="t"/>
          <a:lstStyle/>
          <a:p>
            <a:pPr algn="l" indent="0" marL="0">
              <a:lnSpc>
                <a:spcPct val="104000"/>
              </a:lnSpc>
              <a:buNone/>
            </a:pPr>
            <a:r>
              <a:rPr lang="en-US" sz="2150" dirty="0">
                <a:solidFill>
                  <a:srgbClr val="F4F7FB"/>
                </a:solidFill>
                <a:latin typeface="Arial" pitchFamily="34" charset="0"/>
                <a:ea typeface="Arial" pitchFamily="34" charset="-122"/>
                <a:cs typeface="Arial" pitchFamily="34" charset="-120"/>
              </a:rPr>
              <a:t>Separate borrowed access from release responsibility.</a:t>
            </a:r>
            <a:endParaRPr lang="en-US" sz="2150" dirty="0"/>
          </a:p>
        </p:txBody>
      </p:sp>
      <p:sp>
        <p:nvSpPr>
          <p:cNvPr id="26" name="Text 24"/>
          <p:cNvSpPr txBox="1"/>
          <p:nvPr/>
        </p:nvSpPr>
        <p:spPr>
          <a:xfrm>
            <a:off x="548640" y="5193792"/>
            <a:ext cx="11094720" cy="274320"/>
          </a:xfrm>
          <a:prstGeom prst="rect">
            <a:avLst/>
          </a:prstGeom>
          <a:noFill/>
          <a:ln/>
        </p:spPr>
        <p:txBody>
          <a:bodyPr wrap="square" lIns="0" tIns="0" rIns="0" bIns="0" rtlCol="0" anchor="t"/>
          <a:lstStyle/>
          <a:p>
            <a:pPr algn="l" indent="0" marL="0">
              <a:lnSpc>
                <a:spcPct val="104000"/>
              </a:lnSpc>
              <a:buNone/>
            </a:pPr>
            <a:r>
              <a:rPr lang="en-US" sz="1140" dirty="0">
                <a:solidFill>
                  <a:srgbClr val="B3C3D6"/>
                </a:solidFill>
                <a:latin typeface="Arial" pitchFamily="34" charset="0"/>
                <a:ea typeface="Arial" pitchFamily="34" charset="-122"/>
                <a:cs typeface="Arial" pitchFamily="34" charset="-120"/>
              </a:rPr>
              <a:t>“One owner” is the example’s design invariant—not a claim that resources cannot be shared.</a:t>
            </a:r>
            <a:endParaRPr lang="en-US" sz="1140" dirty="0"/>
          </a:p>
        </p:txBody>
      </p:sp>
      <p:sp>
        <p:nvSpPr>
          <p:cNvPr id="31" name="Text 29"/>
          <p:cNvSpPr txBox="1"/>
          <p:nvPr/>
        </p:nvSpPr>
        <p:spPr>
          <a:xfrm>
            <a:off x="548640" y="6601968"/>
            <a:ext cx="10241280" cy="128016"/>
          </a:xfrm>
          <a:prstGeom prst="rect">
            <a:avLst/>
          </a:prstGeom>
          <a:noFill/>
          <a:ln/>
        </p:spPr>
        <p:txBody>
          <a:bodyPr wrap="square" lIns="0" tIns="0" rIns="0" bIns="0" rtlCol="0" anchor="t"/>
          <a:lstStyle/>
          <a:p>
            <a:pPr algn="l" indent="0" marL="0">
              <a:lnSpc>
                <a:spcPct val="104000"/>
              </a:lnSpc>
              <a:buNone/>
            </a:pPr>
            <a:r>
              <a:rPr lang="en-US" sz="830" dirty="0">
                <a:solidFill>
                  <a:srgbClr val="B3C3D6"/>
                </a:solidFill>
                <a:latin typeface="Arial" pitchFamily="34" charset="0"/>
                <a:ea typeface="Arial" pitchFamily="34" charset="-122"/>
                <a:cs typeface="Arial" pitchFamily="34" charset="-120"/>
              </a:rPr>
              <a:t>Source: original 14 • Graduate extension</a:t>
            </a:r>
            <a:endParaRPr lang="en-US" sz="830" dirty="0"/>
          </a:p>
        </p:txBody>
      </p:sp>
      <p:sp>
        <p:nvSpPr>
          <p:cNvPr id="32" name="Text 30"/>
          <p:cNvSpPr txBox="1"/>
          <p:nvPr/>
        </p:nvSpPr>
        <p:spPr>
          <a:xfrm>
            <a:off x="10917936" y="6565392"/>
            <a:ext cx="722376" cy="219456"/>
          </a:xfrm>
          <a:prstGeom prst="rect">
            <a:avLst/>
          </a:prstGeom>
          <a:noFill/>
          <a:ln/>
        </p:spPr>
        <p:txBody>
          <a:bodyPr wrap="square" lIns="0" tIns="0" rIns="0" bIns="0" rtlCol="0" anchor="t"/>
          <a:lstStyle/>
          <a:p>
            <a:pPr algn="r" indent="0" marL="0">
              <a:lnSpc>
                <a:spcPct val="104000"/>
              </a:lnSpc>
              <a:buNone/>
            </a:pPr>
            <a:r>
              <a:rPr lang="en-US" sz="1050" dirty="0">
                <a:solidFill>
                  <a:srgbClr val="B3C3D6"/>
                </a:solidFill>
                <a:latin typeface="Arial" pitchFamily="34" charset="0"/>
                <a:ea typeface="Arial" pitchFamily="34" charset="-122"/>
                <a:cs typeface="Arial" pitchFamily="34" charset="-120"/>
              </a:rPr>
              <a:t>42 / 64</a:t>
            </a:r>
            <a:endParaRPr lang="en-US" sz="1050" dirty="0"/>
          </a:p>
        </p:txBody>
      </p:sp>
      <p:sp>
        <p:nvSpPr>
          <p:cNvPr id="33" name="Shape 31"/>
          <p:cNvSpPr/>
          <p:nvPr/>
        </p:nvSpPr>
        <p:spPr>
          <a:xfrm>
            <a:off x="0" y="6834226"/>
            <a:ext cx="12192000" cy="23774"/>
          </a:xfrm>
          <a:prstGeom prst="rect">
            <a:avLst/>
          </a:prstGeom>
          <a:solidFill>
            <a:srgbClr val="2B415A"/>
          </a:solidFill>
          <a:ln w="8890">
            <a:solidFill>
              <a:srgbClr val="2B415A"/>
            </a:solidFill>
            <a:prstDash val="solid"/>
          </a:ln>
        </p:spPr>
        <p:txBody>
          <a:bodyPr/>
          <a:p/>
        </p:txBody>
      </p:sp>
      <p:sp>
        <p:nvSpPr>
          <p:cNvPr id="34" name="Shape 32"/>
          <p:cNvSpPr/>
          <p:nvPr/>
        </p:nvSpPr>
        <p:spPr>
          <a:xfrm>
            <a:off x="0" y="6834226"/>
            <a:ext cx="8001000" cy="23774"/>
          </a:xfrm>
          <a:prstGeom prst="rect">
            <a:avLst/>
          </a:prstGeom>
          <a:solidFill>
            <a:srgbClr val="71D5DD"/>
          </a:solidFill>
          <a:ln w="8890">
            <a:solidFill>
              <a:srgbClr val="71D5DD"/>
            </a:solidFill>
            <a:prstDash val="solid"/>
          </a:ln>
        </p:spPr>
        <p:txBody>
          <a:body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txBox="1"/>
          <p:nvPr/>
        </p:nvSpPr>
        <p:spPr>
          <a:xfrm>
            <a:off x="548640" y="219456"/>
            <a:ext cx="9875520" cy="192024"/>
          </a:xfrm>
          <a:prstGeom prst="rect">
            <a:avLst/>
          </a:prstGeom>
          <a:noFill/>
          <a:ln/>
        </p:spPr>
        <p:txBody>
          <a:bodyPr wrap="square" lIns="0" tIns="0" rIns="0" bIns="0" rtlCol="0" anchor="t"/>
          <a:lstStyle/>
          <a:p>
            <a:pPr algn="l" indent="0" marL="0">
              <a:lnSpc>
                <a:spcPct val="104000"/>
              </a:lnSpc>
              <a:buNone/>
            </a:pPr>
            <a:r>
              <a:rPr lang="en-US" sz="970" b="1" spc="135" kern="0" dirty="0">
                <a:solidFill>
                  <a:srgbClr val="B3C3D6"/>
                </a:solidFill>
                <a:latin typeface="Arial" pitchFamily="34" charset="0"/>
                <a:ea typeface="Arial" pitchFamily="34" charset="-122"/>
                <a:cs typeface="Arial" pitchFamily="34" charset="-120"/>
              </a:rPr>
              <a:t>SYSTEMS PROGRAMMING AND MACHINE ORGANIZATION</a:t>
            </a:r>
            <a:endParaRPr lang="en-US" sz="970" dirty="0"/>
          </a:p>
        </p:txBody>
      </p:sp>
      <p:sp>
        <p:nvSpPr>
          <p:cNvPr id="3" name="Text 1"/>
          <p:cNvSpPr txBox="1"/>
          <p:nvPr/>
        </p:nvSpPr>
        <p:spPr>
          <a:xfrm>
            <a:off x="9601200" y="219456"/>
            <a:ext cx="2039112" cy="192024"/>
          </a:xfrm>
          <a:prstGeom prst="rect">
            <a:avLst/>
          </a:prstGeom>
          <a:noFill/>
          <a:ln/>
        </p:spPr>
        <p:txBody>
          <a:bodyPr wrap="square" lIns="0" tIns="0" rIns="0" bIns="0" rtlCol="0" anchor="t"/>
          <a:lstStyle/>
          <a:p>
            <a:pPr algn="r" indent="0" marL="0">
              <a:lnSpc>
                <a:spcPct val="104000"/>
              </a:lnSpc>
              <a:buNone/>
            </a:pPr>
            <a:r>
              <a:rPr lang="en-US" sz="970" b="1" dirty="0">
                <a:solidFill>
                  <a:srgbClr val="B3C3D6"/>
                </a:solidFill>
                <a:latin typeface="Arial" pitchFamily="34" charset="0"/>
                <a:ea typeface="Arial" pitchFamily="34" charset="-122"/>
                <a:cs typeface="Arial" pitchFamily="34" charset="-120"/>
              </a:rPr>
              <a:t>CHARLES DORNER</a:t>
            </a:r>
            <a:endParaRPr lang="en-US" sz="970" dirty="0"/>
          </a:p>
        </p:txBody>
      </p:sp>
      <p:sp>
        <p:nvSpPr>
          <p:cNvPr id="4" name="Text 2"/>
          <p:cNvSpPr txBox="1"/>
          <p:nvPr/>
        </p:nvSpPr>
        <p:spPr>
          <a:xfrm>
            <a:off x="548640" y="566928"/>
            <a:ext cx="11109960" cy="237744"/>
          </a:xfrm>
          <a:prstGeom prst="rect">
            <a:avLst/>
          </a:prstGeom>
          <a:noFill/>
          <a:ln/>
        </p:spPr>
        <p:txBody>
          <a:bodyPr wrap="square" lIns="0" tIns="0" rIns="0" bIns="0" rtlCol="0" anchor="t"/>
          <a:lstStyle/>
          <a:p>
            <a:pPr algn="l" indent="0" marL="0">
              <a:lnSpc>
                <a:spcPct val="104000"/>
              </a:lnSpc>
              <a:buNone/>
            </a:pPr>
            <a:r>
              <a:rPr lang="en-US" sz="1150" b="1" dirty="0">
                <a:solidFill>
                  <a:srgbClr val="71D5DD"/>
                </a:solidFill>
                <a:latin typeface="Arial" pitchFamily="34" charset="0"/>
                <a:ea typeface="Arial" pitchFamily="34" charset="-122"/>
                <a:cs typeface="Arial" pitchFamily="34" charset="-120"/>
              </a:rPr>
              <a:t>1.3.3 · FAILURE DURING ACQUISITION</a:t>
            </a:r>
            <a:endParaRPr lang="en-US" sz="1150" dirty="0"/>
          </a:p>
        </p:txBody>
      </p:sp>
      <p:sp>
        <p:nvSpPr>
          <p:cNvPr id="5" name="Text 3"/>
          <p:cNvSpPr txBox="1"/>
          <p:nvPr/>
        </p:nvSpPr>
        <p:spPr>
          <a:xfrm>
            <a:off x="548640" y="941832"/>
            <a:ext cx="11091672" cy="676656"/>
          </a:xfrm>
          <a:prstGeom prst="rect">
            <a:avLst/>
          </a:prstGeom>
          <a:noFill/>
          <a:ln/>
        </p:spPr>
        <p:txBody>
          <a:bodyPr wrap="square" lIns="0" tIns="0" rIns="0" bIns="0" rtlCol="0" anchor="t"/>
          <a:lstStyle/>
          <a:p>
            <a:pPr algn="l" indent="0" marL="0">
              <a:lnSpc>
                <a:spcPct val="104000"/>
              </a:lnSpc>
              <a:buNone/>
            </a:pPr>
            <a:r>
              <a:rPr lang="en-US" sz="3150" b="1" dirty="0">
                <a:solidFill>
                  <a:srgbClr val="F4F7FB"/>
                </a:solidFill>
                <a:latin typeface="Arial" pitchFamily="34" charset="0"/>
                <a:ea typeface="Arial" pitchFamily="34" charset="-122"/>
                <a:cs typeface="Arial" pitchFamily="34" charset="-120"/>
              </a:rPr>
              <a:t>Partial initialization is where cleanup is tested</a:t>
            </a:r>
            <a:endParaRPr lang="en-US" sz="3150" dirty="0"/>
          </a:p>
        </p:txBody>
      </p:sp>
      <p:sp>
        <p:nvSpPr>
          <p:cNvPr id="6" name="Shape 4"/>
          <p:cNvSpPr/>
          <p:nvPr/>
        </p:nvSpPr>
        <p:spPr>
          <a:xfrm>
            <a:off x="548640" y="1764792"/>
            <a:ext cx="3883152" cy="402336"/>
          </a:xfrm>
          <a:prstGeom prst="rect">
            <a:avLst/>
          </a:prstGeom>
          <a:solidFill>
            <a:srgbClr val="172940"/>
          </a:solidFill>
          <a:ln w="8890">
            <a:solidFill>
              <a:srgbClr val="172940"/>
            </a:solidFill>
            <a:prstDash val="solid"/>
          </a:ln>
        </p:spPr>
        <p:txBody>
          <a:bodyPr/>
          <a:p/>
        </p:txBody>
      </p:sp>
      <p:sp>
        <p:nvSpPr>
          <p:cNvPr id="7" name="Text 5"/>
          <p:cNvSpPr txBox="1"/>
          <p:nvPr/>
        </p:nvSpPr>
        <p:spPr>
          <a:xfrm>
            <a:off x="676656" y="1851660"/>
            <a:ext cx="3627120" cy="301752"/>
          </a:xfrm>
          <a:prstGeom prst="rect">
            <a:avLst/>
          </a:prstGeom>
          <a:noFill/>
          <a:ln/>
        </p:spPr>
        <p:txBody>
          <a:bodyPr wrap="square" lIns="0" tIns="0" rIns="0" bIns="0" rtlCol="0" anchor="t"/>
          <a:lstStyle/>
          <a:p>
            <a:pPr algn="l" indent="0" marL="0">
              <a:lnSpc>
                <a:spcPct val="104000"/>
              </a:lnSpc>
              <a:buNone/>
            </a:pPr>
            <a:r>
              <a:rPr lang="en-US" sz="1240" b="1" dirty="0">
                <a:solidFill>
                  <a:srgbClr val="71D5DD"/>
                </a:solidFill>
                <a:latin typeface="Arial" pitchFamily="34" charset="0"/>
                <a:ea typeface="Arial" pitchFamily="34" charset="-122"/>
                <a:cs typeface="Arial" pitchFamily="34" charset="-120"/>
              </a:rPr>
              <a:t>Boundary reached</a:t>
            </a:r>
            <a:endParaRPr lang="en-US" sz="1240" dirty="0"/>
          </a:p>
        </p:txBody>
      </p:sp>
      <p:sp>
        <p:nvSpPr>
          <p:cNvPr id="8" name="Shape 6"/>
          <p:cNvSpPr/>
          <p:nvPr/>
        </p:nvSpPr>
        <p:spPr>
          <a:xfrm>
            <a:off x="4431792" y="1764792"/>
            <a:ext cx="2866136" cy="402336"/>
          </a:xfrm>
          <a:prstGeom prst="rect">
            <a:avLst/>
          </a:prstGeom>
          <a:solidFill>
            <a:srgbClr val="172940"/>
          </a:solidFill>
          <a:ln w="8890">
            <a:solidFill>
              <a:srgbClr val="172940"/>
            </a:solidFill>
            <a:prstDash val="solid"/>
          </a:ln>
        </p:spPr>
        <p:txBody>
          <a:bodyPr/>
          <a:p/>
        </p:txBody>
      </p:sp>
      <p:sp>
        <p:nvSpPr>
          <p:cNvPr id="9" name="Text 7"/>
          <p:cNvSpPr txBox="1"/>
          <p:nvPr/>
        </p:nvSpPr>
        <p:spPr>
          <a:xfrm>
            <a:off x="4559808" y="1851660"/>
            <a:ext cx="2610104" cy="301752"/>
          </a:xfrm>
          <a:prstGeom prst="rect">
            <a:avLst/>
          </a:prstGeom>
          <a:noFill/>
          <a:ln/>
        </p:spPr>
        <p:txBody>
          <a:bodyPr wrap="square" lIns="0" tIns="0" rIns="0" bIns="0" rtlCol="0" anchor="t"/>
          <a:lstStyle/>
          <a:p>
            <a:pPr algn="l" indent="0" marL="0">
              <a:lnSpc>
                <a:spcPct val="104000"/>
              </a:lnSpc>
              <a:buNone/>
            </a:pPr>
            <a:r>
              <a:rPr lang="en-US" sz="1240" b="1" dirty="0">
                <a:solidFill>
                  <a:srgbClr val="71D5DD"/>
                </a:solidFill>
                <a:latin typeface="Arial" pitchFamily="34" charset="0"/>
                <a:ea typeface="Arial" pitchFamily="34" charset="-122"/>
                <a:cs typeface="Arial" pitchFamily="34" charset="-120"/>
              </a:rPr>
              <a:t>Resources actually owned</a:t>
            </a:r>
            <a:endParaRPr lang="en-US" sz="1240" dirty="0"/>
          </a:p>
        </p:txBody>
      </p:sp>
      <p:sp>
        <p:nvSpPr>
          <p:cNvPr id="10" name="Shape 8"/>
          <p:cNvSpPr/>
          <p:nvPr/>
        </p:nvSpPr>
        <p:spPr>
          <a:xfrm>
            <a:off x="7297928" y="1764792"/>
            <a:ext cx="4345432" cy="402336"/>
          </a:xfrm>
          <a:prstGeom prst="rect">
            <a:avLst/>
          </a:prstGeom>
          <a:solidFill>
            <a:srgbClr val="172940"/>
          </a:solidFill>
          <a:ln w="8890">
            <a:solidFill>
              <a:srgbClr val="172940"/>
            </a:solidFill>
            <a:prstDash val="solid"/>
          </a:ln>
        </p:spPr>
        <p:txBody>
          <a:bodyPr/>
          <a:p/>
        </p:txBody>
      </p:sp>
      <p:sp>
        <p:nvSpPr>
          <p:cNvPr id="11" name="Text 9"/>
          <p:cNvSpPr txBox="1"/>
          <p:nvPr/>
        </p:nvSpPr>
        <p:spPr>
          <a:xfrm>
            <a:off x="7425944" y="1851660"/>
            <a:ext cx="4089400" cy="301752"/>
          </a:xfrm>
          <a:prstGeom prst="rect">
            <a:avLst/>
          </a:prstGeom>
          <a:noFill/>
          <a:ln/>
        </p:spPr>
        <p:txBody>
          <a:bodyPr wrap="square" lIns="0" tIns="0" rIns="0" bIns="0" rtlCol="0" anchor="t"/>
          <a:lstStyle/>
          <a:p>
            <a:pPr algn="l" indent="0" marL="0">
              <a:lnSpc>
                <a:spcPct val="104000"/>
              </a:lnSpc>
              <a:buNone/>
            </a:pPr>
            <a:r>
              <a:rPr lang="en-US" sz="1240" b="1" dirty="0">
                <a:solidFill>
                  <a:srgbClr val="71D5DD"/>
                </a:solidFill>
                <a:latin typeface="Arial" pitchFamily="34" charset="0"/>
                <a:ea typeface="Arial" pitchFamily="34" charset="-122"/>
                <a:cs typeface="Arial" pitchFamily="34" charset="-120"/>
              </a:rPr>
              <a:t>Required outcome</a:t>
            </a:r>
            <a:endParaRPr lang="en-US" sz="1240" dirty="0"/>
          </a:p>
        </p:txBody>
      </p:sp>
      <p:sp>
        <p:nvSpPr>
          <p:cNvPr id="12" name="Shape 10"/>
          <p:cNvSpPr/>
          <p:nvPr/>
        </p:nvSpPr>
        <p:spPr>
          <a:xfrm>
            <a:off x="548640" y="2167128"/>
            <a:ext cx="3883152" cy="792099"/>
          </a:xfrm>
          <a:prstGeom prst="rect">
            <a:avLst/>
          </a:prstGeom>
          <a:solidFill>
            <a:srgbClr val="142238"/>
          </a:solidFill>
          <a:ln w="8890">
            <a:solidFill>
              <a:srgbClr val="142238"/>
            </a:solidFill>
            <a:prstDash val="solid"/>
          </a:ln>
        </p:spPr>
        <p:txBody>
          <a:bodyPr/>
          <a:p/>
        </p:txBody>
      </p:sp>
      <p:sp>
        <p:nvSpPr>
          <p:cNvPr id="13" name="Text 11"/>
          <p:cNvSpPr txBox="1"/>
          <p:nvPr/>
        </p:nvSpPr>
        <p:spPr>
          <a:xfrm>
            <a:off x="676656" y="2217420"/>
            <a:ext cx="3627120" cy="700659"/>
          </a:xfrm>
          <a:prstGeom prst="rect">
            <a:avLst/>
          </a:prstGeom>
          <a:noFill/>
          <a:ln/>
        </p:spPr>
        <p:txBody>
          <a:bodyPr wrap="square" lIns="0" tIns="0" rIns="0" bIns="0" rtlCol="0" anchor="t"/>
          <a:lstStyle/>
          <a:p>
            <a:pPr algn="l" indent="0" marL="0">
              <a:lnSpc>
                <a:spcPct val="104000"/>
              </a:lnSpc>
              <a:buNone/>
            </a:pPr>
            <a:r>
              <a:rPr lang="en-US" sz="1800" b="1" dirty="0">
                <a:solidFill>
                  <a:srgbClr val="F4F7FB"/>
                </a:solidFill>
                <a:latin typeface="Arial" pitchFamily="34" charset="0"/>
                <a:ea typeface="Arial" pitchFamily="34" charset="-122"/>
                <a:cs typeface="Arial" pitchFamily="34" charset="-120"/>
              </a:rPr>
              <a:t>First acquisition failed</a:t>
            </a:r>
            <a:endParaRPr lang="en-US" sz="1800" dirty="0"/>
          </a:p>
        </p:txBody>
      </p:sp>
      <p:sp>
        <p:nvSpPr>
          <p:cNvPr id="14" name="Shape 12"/>
          <p:cNvSpPr/>
          <p:nvPr/>
        </p:nvSpPr>
        <p:spPr>
          <a:xfrm>
            <a:off x="4431792" y="2167128"/>
            <a:ext cx="2866136" cy="792099"/>
          </a:xfrm>
          <a:prstGeom prst="rect">
            <a:avLst/>
          </a:prstGeom>
          <a:solidFill>
            <a:srgbClr val="142238"/>
          </a:solidFill>
          <a:ln w="8890">
            <a:solidFill>
              <a:srgbClr val="142238"/>
            </a:solidFill>
            <a:prstDash val="solid"/>
          </a:ln>
        </p:spPr>
        <p:txBody>
          <a:bodyPr/>
          <a:p/>
        </p:txBody>
      </p:sp>
      <p:sp>
        <p:nvSpPr>
          <p:cNvPr id="15" name="Text 13"/>
          <p:cNvSpPr txBox="1"/>
          <p:nvPr/>
        </p:nvSpPr>
        <p:spPr>
          <a:xfrm>
            <a:off x="4559808" y="2217420"/>
            <a:ext cx="2610104" cy="700659"/>
          </a:xfrm>
          <a:prstGeom prst="rect">
            <a:avLst/>
          </a:prstGeom>
          <a:noFill/>
          <a:ln/>
        </p:spPr>
        <p:txBody>
          <a:bodyPr wrap="square" lIns="0" tIns="0" rIns="0" bIns="0" rtlCol="0" anchor="t"/>
          <a:lstStyle/>
          <a:p>
            <a:pPr algn="l" indent="0" marL="0">
              <a:lnSpc>
                <a:spcPct val="104000"/>
              </a:lnSpc>
              <a:buNone/>
            </a:pPr>
            <a:r>
              <a:rPr lang="en-US" sz="1800" dirty="0">
                <a:solidFill>
                  <a:srgbClr val="B3C3D6"/>
                </a:solidFill>
                <a:latin typeface="Arial" pitchFamily="34" charset="0"/>
                <a:ea typeface="Arial" pitchFamily="34" charset="-122"/>
                <a:cs typeface="Arial" pitchFamily="34" charset="-120"/>
              </a:rPr>
              <a:t>None</a:t>
            </a:r>
            <a:endParaRPr lang="en-US" sz="1800" dirty="0"/>
          </a:p>
        </p:txBody>
      </p:sp>
      <p:sp>
        <p:nvSpPr>
          <p:cNvPr id="16" name="Shape 14"/>
          <p:cNvSpPr/>
          <p:nvPr/>
        </p:nvSpPr>
        <p:spPr>
          <a:xfrm>
            <a:off x="7297928" y="2167128"/>
            <a:ext cx="4345432" cy="792099"/>
          </a:xfrm>
          <a:prstGeom prst="rect">
            <a:avLst/>
          </a:prstGeom>
          <a:solidFill>
            <a:srgbClr val="142238"/>
          </a:solidFill>
          <a:ln w="8890">
            <a:solidFill>
              <a:srgbClr val="142238"/>
            </a:solidFill>
            <a:prstDash val="solid"/>
          </a:ln>
        </p:spPr>
        <p:txBody>
          <a:bodyPr/>
          <a:p/>
        </p:txBody>
      </p:sp>
      <p:sp>
        <p:nvSpPr>
          <p:cNvPr id="17" name="Text 15"/>
          <p:cNvSpPr txBox="1"/>
          <p:nvPr/>
        </p:nvSpPr>
        <p:spPr>
          <a:xfrm>
            <a:off x="7425944" y="2217420"/>
            <a:ext cx="4089400" cy="700659"/>
          </a:xfrm>
          <a:prstGeom prst="rect">
            <a:avLst/>
          </a:prstGeom>
          <a:noFill/>
          <a:ln/>
        </p:spPr>
        <p:txBody>
          <a:bodyPr wrap="square" lIns="0" tIns="0" rIns="0" bIns="0" rtlCol="0" anchor="t"/>
          <a:lstStyle/>
          <a:p>
            <a:pPr algn="l" indent="0" marL="0">
              <a:lnSpc>
                <a:spcPct val="104000"/>
              </a:lnSpc>
              <a:buNone/>
            </a:pPr>
            <a:r>
              <a:rPr lang="en-US" sz="1800" dirty="0">
                <a:solidFill>
                  <a:srgbClr val="B3C3D6"/>
                </a:solidFill>
                <a:latin typeface="Arial" pitchFamily="34" charset="0"/>
                <a:ea typeface="Arial" pitchFamily="34" charset="-122"/>
                <a:cs typeface="Arial" pitchFamily="34" charset="-120"/>
              </a:rPr>
              <a:t>Report failure; do not release unowned</a:t>
            </a:r>
            <a:endParaRPr lang="en-US" sz="1800" dirty="0"/>
          </a:p>
          <a:p>
            <a:pPr algn="l" indent="0" marL="0">
              <a:lnSpc>
                <a:spcPct val="104000"/>
              </a:lnSpc>
              <a:buNone/>
            </a:pPr>
            <a:r>
              <a:rPr lang="en-US" sz="1800" dirty="0">
                <a:solidFill>
                  <a:srgbClr val="B3C3D6"/>
                </a:solidFill>
                <a:latin typeface="Arial" pitchFamily="34" charset="0"/>
                <a:ea typeface="Arial" pitchFamily="34" charset="-122"/>
                <a:cs typeface="Arial" pitchFamily="34" charset="-120"/>
              </a:rPr>
              <a:t>values</a:t>
            </a:r>
            <a:endParaRPr lang="en-US" sz="1800" dirty="0"/>
          </a:p>
        </p:txBody>
      </p:sp>
      <p:sp>
        <p:nvSpPr>
          <p:cNvPr id="18" name="Shape 16"/>
          <p:cNvSpPr/>
          <p:nvPr/>
        </p:nvSpPr>
        <p:spPr>
          <a:xfrm>
            <a:off x="548640" y="2959227"/>
            <a:ext cx="11094720" cy="0"/>
          </a:xfrm>
          <a:prstGeom prst="line">
            <a:avLst/>
          </a:prstGeom>
          <a:noFill/>
          <a:ln w="12700">
            <a:solidFill>
              <a:srgbClr val="2B415A"/>
            </a:solidFill>
            <a:prstDash val="solid"/>
          </a:ln>
        </p:spPr>
        <p:txBody>
          <a:bodyPr/>
          <a:p/>
        </p:txBody>
      </p:sp>
      <p:sp>
        <p:nvSpPr>
          <p:cNvPr id="19" name="Shape 17"/>
          <p:cNvSpPr/>
          <p:nvPr/>
        </p:nvSpPr>
        <p:spPr>
          <a:xfrm>
            <a:off x="548640" y="2959227"/>
            <a:ext cx="3883152" cy="792099"/>
          </a:xfrm>
          <a:prstGeom prst="rect">
            <a:avLst/>
          </a:prstGeom>
          <a:solidFill>
            <a:srgbClr val="0B1322"/>
          </a:solidFill>
          <a:ln w="8890">
            <a:solidFill>
              <a:srgbClr val="0B1322"/>
            </a:solidFill>
            <a:prstDash val="solid"/>
          </a:ln>
        </p:spPr>
        <p:txBody>
          <a:bodyPr/>
          <a:p/>
        </p:txBody>
      </p:sp>
      <p:sp>
        <p:nvSpPr>
          <p:cNvPr id="20" name="Text 18"/>
          <p:cNvSpPr txBox="1"/>
          <p:nvPr/>
        </p:nvSpPr>
        <p:spPr>
          <a:xfrm>
            <a:off x="676656" y="3009519"/>
            <a:ext cx="3627120" cy="700659"/>
          </a:xfrm>
          <a:prstGeom prst="rect">
            <a:avLst/>
          </a:prstGeom>
          <a:noFill/>
          <a:ln/>
        </p:spPr>
        <p:txBody>
          <a:bodyPr wrap="square" lIns="0" tIns="0" rIns="0" bIns="0" rtlCol="0" anchor="t"/>
          <a:lstStyle/>
          <a:p>
            <a:pPr algn="l" indent="0" marL="0">
              <a:lnSpc>
                <a:spcPct val="104000"/>
              </a:lnSpc>
              <a:buNone/>
            </a:pPr>
            <a:r>
              <a:rPr lang="en-US" sz="1800" b="1" dirty="0">
                <a:solidFill>
                  <a:srgbClr val="F4F7FB"/>
                </a:solidFill>
                <a:latin typeface="Arial" pitchFamily="34" charset="0"/>
                <a:ea typeface="Arial" pitchFamily="34" charset="-122"/>
                <a:cs typeface="Arial" pitchFamily="34" charset="-120"/>
              </a:rPr>
              <a:t>Descriptor acquired; allocation</a:t>
            </a:r>
            <a:endParaRPr lang="en-US" sz="1800" dirty="0"/>
          </a:p>
          <a:p>
            <a:pPr algn="l" indent="0" marL="0">
              <a:lnSpc>
                <a:spcPct val="104000"/>
              </a:lnSpc>
              <a:buNone/>
            </a:pPr>
            <a:r>
              <a:rPr lang="en-US" sz="1800" b="1" dirty="0">
                <a:solidFill>
                  <a:srgbClr val="F4F7FB"/>
                </a:solidFill>
                <a:latin typeface="Arial" pitchFamily="34" charset="0"/>
                <a:ea typeface="Arial" pitchFamily="34" charset="-122"/>
                <a:cs typeface="Arial" pitchFamily="34" charset="-120"/>
              </a:rPr>
              <a:t>failed</a:t>
            </a:r>
            <a:endParaRPr lang="en-US" sz="1800" dirty="0"/>
          </a:p>
        </p:txBody>
      </p:sp>
      <p:sp>
        <p:nvSpPr>
          <p:cNvPr id="21" name="Shape 19"/>
          <p:cNvSpPr/>
          <p:nvPr/>
        </p:nvSpPr>
        <p:spPr>
          <a:xfrm>
            <a:off x="4431792" y="2959227"/>
            <a:ext cx="2866136" cy="792099"/>
          </a:xfrm>
          <a:prstGeom prst="rect">
            <a:avLst/>
          </a:prstGeom>
          <a:solidFill>
            <a:srgbClr val="0B1322"/>
          </a:solidFill>
          <a:ln w="8890">
            <a:solidFill>
              <a:srgbClr val="0B1322"/>
            </a:solidFill>
            <a:prstDash val="solid"/>
          </a:ln>
        </p:spPr>
        <p:txBody>
          <a:bodyPr/>
          <a:p/>
        </p:txBody>
      </p:sp>
      <p:sp>
        <p:nvSpPr>
          <p:cNvPr id="22" name="Text 20"/>
          <p:cNvSpPr txBox="1"/>
          <p:nvPr/>
        </p:nvSpPr>
        <p:spPr>
          <a:xfrm>
            <a:off x="4559808" y="3009519"/>
            <a:ext cx="2610104" cy="700659"/>
          </a:xfrm>
          <a:prstGeom prst="rect">
            <a:avLst/>
          </a:prstGeom>
          <a:noFill/>
          <a:ln/>
        </p:spPr>
        <p:txBody>
          <a:bodyPr wrap="square" lIns="0" tIns="0" rIns="0" bIns="0" rtlCol="0" anchor="t"/>
          <a:lstStyle/>
          <a:p>
            <a:pPr algn="l" indent="0" marL="0">
              <a:lnSpc>
                <a:spcPct val="104000"/>
              </a:lnSpc>
              <a:buNone/>
            </a:pPr>
            <a:r>
              <a:rPr lang="en-US" sz="1800" dirty="0">
                <a:solidFill>
                  <a:srgbClr val="B3C3D6"/>
                </a:solidFill>
                <a:latin typeface="Arial" pitchFamily="34" charset="0"/>
                <a:ea typeface="Arial" pitchFamily="34" charset="-122"/>
                <a:cs typeface="Arial" pitchFamily="34" charset="-120"/>
              </a:rPr>
              <a:t>Descriptor only</a:t>
            </a:r>
            <a:endParaRPr lang="en-US" sz="1800" dirty="0"/>
          </a:p>
        </p:txBody>
      </p:sp>
      <p:sp>
        <p:nvSpPr>
          <p:cNvPr id="23" name="Shape 21"/>
          <p:cNvSpPr/>
          <p:nvPr/>
        </p:nvSpPr>
        <p:spPr>
          <a:xfrm>
            <a:off x="7297928" y="2959227"/>
            <a:ext cx="4345432" cy="792099"/>
          </a:xfrm>
          <a:prstGeom prst="rect">
            <a:avLst/>
          </a:prstGeom>
          <a:solidFill>
            <a:srgbClr val="0B1322"/>
          </a:solidFill>
          <a:ln w="8890">
            <a:solidFill>
              <a:srgbClr val="0B1322"/>
            </a:solidFill>
            <a:prstDash val="solid"/>
          </a:ln>
        </p:spPr>
        <p:txBody>
          <a:bodyPr/>
          <a:p/>
        </p:txBody>
      </p:sp>
      <p:sp>
        <p:nvSpPr>
          <p:cNvPr id="24" name="Text 22"/>
          <p:cNvSpPr txBox="1"/>
          <p:nvPr/>
        </p:nvSpPr>
        <p:spPr>
          <a:xfrm>
            <a:off x="7425944" y="3009519"/>
            <a:ext cx="4089400" cy="700659"/>
          </a:xfrm>
          <a:prstGeom prst="rect">
            <a:avLst/>
          </a:prstGeom>
          <a:noFill/>
          <a:ln/>
        </p:spPr>
        <p:txBody>
          <a:bodyPr wrap="square" lIns="0" tIns="0" rIns="0" bIns="0" rtlCol="0" anchor="t"/>
          <a:lstStyle/>
          <a:p>
            <a:pPr algn="l" indent="0" marL="0">
              <a:lnSpc>
                <a:spcPct val="104000"/>
              </a:lnSpc>
              <a:buNone/>
            </a:pPr>
            <a:r>
              <a:rPr lang="en-US" sz="1800" dirty="0">
                <a:solidFill>
                  <a:srgbClr val="B3C3D6"/>
                </a:solidFill>
                <a:latin typeface="Arial" pitchFamily="34" charset="0"/>
                <a:ea typeface="Arial" pitchFamily="34" charset="-122"/>
                <a:cs typeface="Arial" pitchFamily="34" charset="-120"/>
              </a:rPr>
              <a:t>Release descriptor; report failure</a:t>
            </a:r>
            <a:endParaRPr lang="en-US" sz="1800" dirty="0"/>
          </a:p>
        </p:txBody>
      </p:sp>
      <p:sp>
        <p:nvSpPr>
          <p:cNvPr id="25" name="Shape 23"/>
          <p:cNvSpPr/>
          <p:nvPr/>
        </p:nvSpPr>
        <p:spPr>
          <a:xfrm>
            <a:off x="548640" y="3751326"/>
            <a:ext cx="11094720" cy="0"/>
          </a:xfrm>
          <a:prstGeom prst="line">
            <a:avLst/>
          </a:prstGeom>
          <a:noFill/>
          <a:ln w="12700">
            <a:solidFill>
              <a:srgbClr val="2B415A"/>
            </a:solidFill>
            <a:prstDash val="solid"/>
          </a:ln>
        </p:spPr>
        <p:txBody>
          <a:bodyPr/>
          <a:p/>
        </p:txBody>
      </p:sp>
      <p:sp>
        <p:nvSpPr>
          <p:cNvPr id="26" name="Shape 24"/>
          <p:cNvSpPr/>
          <p:nvPr/>
        </p:nvSpPr>
        <p:spPr>
          <a:xfrm>
            <a:off x="548640" y="3751326"/>
            <a:ext cx="3883152" cy="531495"/>
          </a:xfrm>
          <a:prstGeom prst="rect">
            <a:avLst/>
          </a:prstGeom>
          <a:solidFill>
            <a:srgbClr val="142238"/>
          </a:solidFill>
          <a:ln w="8890">
            <a:solidFill>
              <a:srgbClr val="142238"/>
            </a:solidFill>
            <a:prstDash val="solid"/>
          </a:ln>
        </p:spPr>
        <p:txBody>
          <a:bodyPr/>
          <a:p/>
        </p:txBody>
      </p:sp>
      <p:sp>
        <p:nvSpPr>
          <p:cNvPr id="27" name="Text 25"/>
          <p:cNvSpPr txBox="1"/>
          <p:nvPr/>
        </p:nvSpPr>
        <p:spPr>
          <a:xfrm>
            <a:off x="676656" y="3801618"/>
            <a:ext cx="3627120" cy="440055"/>
          </a:xfrm>
          <a:prstGeom prst="rect">
            <a:avLst/>
          </a:prstGeom>
          <a:noFill/>
          <a:ln/>
        </p:spPr>
        <p:txBody>
          <a:bodyPr wrap="square" lIns="0" tIns="0" rIns="0" bIns="0" rtlCol="0" anchor="t"/>
          <a:lstStyle/>
          <a:p>
            <a:pPr algn="l" indent="0" marL="0">
              <a:lnSpc>
                <a:spcPct val="104000"/>
              </a:lnSpc>
              <a:buNone/>
            </a:pPr>
            <a:r>
              <a:rPr lang="en-US" sz="1800" b="1" dirty="0">
                <a:solidFill>
                  <a:srgbClr val="F4F7FB"/>
                </a:solidFill>
                <a:latin typeface="Arial" pitchFamily="34" charset="0"/>
                <a:ea typeface="Arial" pitchFamily="34" charset="-122"/>
                <a:cs typeface="Arial" pitchFamily="34" charset="-120"/>
              </a:rPr>
              <a:t>Both acquired; work failed</a:t>
            </a:r>
            <a:endParaRPr lang="en-US" sz="1800" dirty="0"/>
          </a:p>
        </p:txBody>
      </p:sp>
      <p:sp>
        <p:nvSpPr>
          <p:cNvPr id="28" name="Shape 26"/>
          <p:cNvSpPr/>
          <p:nvPr/>
        </p:nvSpPr>
        <p:spPr>
          <a:xfrm>
            <a:off x="4431792" y="3751326"/>
            <a:ext cx="2866136" cy="531495"/>
          </a:xfrm>
          <a:prstGeom prst="rect">
            <a:avLst/>
          </a:prstGeom>
          <a:solidFill>
            <a:srgbClr val="142238"/>
          </a:solidFill>
          <a:ln w="8890">
            <a:solidFill>
              <a:srgbClr val="142238"/>
            </a:solidFill>
            <a:prstDash val="solid"/>
          </a:ln>
        </p:spPr>
        <p:txBody>
          <a:bodyPr/>
          <a:p/>
        </p:txBody>
      </p:sp>
      <p:sp>
        <p:nvSpPr>
          <p:cNvPr id="29" name="Text 27"/>
          <p:cNvSpPr txBox="1"/>
          <p:nvPr/>
        </p:nvSpPr>
        <p:spPr>
          <a:xfrm>
            <a:off x="4559808" y="3801618"/>
            <a:ext cx="2610104" cy="440055"/>
          </a:xfrm>
          <a:prstGeom prst="rect">
            <a:avLst/>
          </a:prstGeom>
          <a:noFill/>
          <a:ln/>
        </p:spPr>
        <p:txBody>
          <a:bodyPr wrap="square" lIns="0" tIns="0" rIns="0" bIns="0" rtlCol="0" anchor="t"/>
          <a:lstStyle/>
          <a:p>
            <a:pPr algn="l" indent="0" marL="0">
              <a:lnSpc>
                <a:spcPct val="104000"/>
              </a:lnSpc>
              <a:buNone/>
            </a:pPr>
            <a:r>
              <a:rPr lang="en-US" sz="1800" dirty="0">
                <a:solidFill>
                  <a:srgbClr val="B3C3D6"/>
                </a:solidFill>
                <a:latin typeface="Arial" pitchFamily="34" charset="0"/>
                <a:ea typeface="Arial" pitchFamily="34" charset="-122"/>
                <a:cs typeface="Arial" pitchFamily="34" charset="-120"/>
              </a:rPr>
              <a:t>Descriptor and buffer</a:t>
            </a:r>
            <a:endParaRPr lang="en-US" sz="1800" dirty="0"/>
          </a:p>
        </p:txBody>
      </p:sp>
      <p:sp>
        <p:nvSpPr>
          <p:cNvPr id="30" name="Shape 28"/>
          <p:cNvSpPr/>
          <p:nvPr/>
        </p:nvSpPr>
        <p:spPr>
          <a:xfrm>
            <a:off x="7297928" y="3751326"/>
            <a:ext cx="4345432" cy="531495"/>
          </a:xfrm>
          <a:prstGeom prst="rect">
            <a:avLst/>
          </a:prstGeom>
          <a:solidFill>
            <a:srgbClr val="142238"/>
          </a:solidFill>
          <a:ln w="8890">
            <a:solidFill>
              <a:srgbClr val="142238"/>
            </a:solidFill>
            <a:prstDash val="solid"/>
          </a:ln>
        </p:spPr>
        <p:txBody>
          <a:bodyPr/>
          <a:p/>
        </p:txBody>
      </p:sp>
      <p:sp>
        <p:nvSpPr>
          <p:cNvPr id="31" name="Text 29"/>
          <p:cNvSpPr txBox="1"/>
          <p:nvPr/>
        </p:nvSpPr>
        <p:spPr>
          <a:xfrm>
            <a:off x="7425944" y="3801618"/>
            <a:ext cx="4089400" cy="440055"/>
          </a:xfrm>
          <a:prstGeom prst="rect">
            <a:avLst/>
          </a:prstGeom>
          <a:noFill/>
          <a:ln/>
        </p:spPr>
        <p:txBody>
          <a:bodyPr wrap="square" lIns="0" tIns="0" rIns="0" bIns="0" rtlCol="0" anchor="t"/>
          <a:lstStyle/>
          <a:p>
            <a:pPr algn="l" indent="0" marL="0">
              <a:lnSpc>
                <a:spcPct val="104000"/>
              </a:lnSpc>
              <a:buNone/>
            </a:pPr>
            <a:r>
              <a:rPr lang="en-US" sz="1800" dirty="0">
                <a:solidFill>
                  <a:srgbClr val="B3C3D6"/>
                </a:solidFill>
                <a:latin typeface="Arial" pitchFamily="34" charset="0"/>
                <a:ea typeface="Arial" pitchFamily="34" charset="-122"/>
                <a:cs typeface="Arial" pitchFamily="34" charset="-120"/>
              </a:rPr>
              <a:t>Apply both cleanup obligations</a:t>
            </a:r>
            <a:endParaRPr lang="en-US" sz="1800" dirty="0"/>
          </a:p>
        </p:txBody>
      </p:sp>
      <p:sp>
        <p:nvSpPr>
          <p:cNvPr id="32" name="Shape 30"/>
          <p:cNvSpPr/>
          <p:nvPr/>
        </p:nvSpPr>
        <p:spPr>
          <a:xfrm>
            <a:off x="548640" y="4282821"/>
            <a:ext cx="11094720" cy="0"/>
          </a:xfrm>
          <a:prstGeom prst="line">
            <a:avLst/>
          </a:prstGeom>
          <a:noFill/>
          <a:ln w="12700">
            <a:solidFill>
              <a:srgbClr val="2B415A"/>
            </a:solidFill>
            <a:prstDash val="solid"/>
          </a:ln>
        </p:spPr>
        <p:txBody>
          <a:bodyPr/>
          <a:p/>
        </p:txBody>
      </p:sp>
      <p:sp>
        <p:nvSpPr>
          <p:cNvPr id="33" name="Shape 31"/>
          <p:cNvSpPr/>
          <p:nvPr/>
        </p:nvSpPr>
        <p:spPr>
          <a:xfrm>
            <a:off x="548640" y="4282821"/>
            <a:ext cx="3883152" cy="792099"/>
          </a:xfrm>
          <a:prstGeom prst="rect">
            <a:avLst/>
          </a:prstGeom>
          <a:solidFill>
            <a:srgbClr val="0B1322"/>
          </a:solidFill>
          <a:ln w="8890">
            <a:solidFill>
              <a:srgbClr val="0B1322"/>
            </a:solidFill>
            <a:prstDash val="solid"/>
          </a:ln>
        </p:spPr>
        <p:txBody>
          <a:bodyPr/>
          <a:p/>
        </p:txBody>
      </p:sp>
      <p:sp>
        <p:nvSpPr>
          <p:cNvPr id="34" name="Text 32"/>
          <p:cNvSpPr txBox="1"/>
          <p:nvPr/>
        </p:nvSpPr>
        <p:spPr>
          <a:xfrm>
            <a:off x="676656" y="4333113"/>
            <a:ext cx="3627120" cy="700659"/>
          </a:xfrm>
          <a:prstGeom prst="rect">
            <a:avLst/>
          </a:prstGeom>
          <a:noFill/>
          <a:ln/>
        </p:spPr>
        <p:txBody>
          <a:bodyPr wrap="square" lIns="0" tIns="0" rIns="0" bIns="0" rtlCol="0" anchor="t"/>
          <a:lstStyle/>
          <a:p>
            <a:pPr algn="l" indent="0" marL="0">
              <a:lnSpc>
                <a:spcPct val="104000"/>
              </a:lnSpc>
              <a:buNone/>
            </a:pPr>
            <a:r>
              <a:rPr lang="en-US" sz="1800" b="1" dirty="0">
                <a:solidFill>
                  <a:srgbClr val="F4F7FB"/>
                </a:solidFill>
                <a:latin typeface="Arial" pitchFamily="34" charset="0"/>
                <a:ea typeface="Arial" pitchFamily="34" charset="-122"/>
                <a:cs typeface="Arial" pitchFamily="34" charset="-120"/>
              </a:rPr>
              <a:t>Work succeeded</a:t>
            </a:r>
            <a:endParaRPr lang="en-US" sz="1800" dirty="0"/>
          </a:p>
        </p:txBody>
      </p:sp>
      <p:sp>
        <p:nvSpPr>
          <p:cNvPr id="35" name="Shape 33"/>
          <p:cNvSpPr/>
          <p:nvPr/>
        </p:nvSpPr>
        <p:spPr>
          <a:xfrm>
            <a:off x="4431792" y="4282821"/>
            <a:ext cx="2866136" cy="792099"/>
          </a:xfrm>
          <a:prstGeom prst="rect">
            <a:avLst/>
          </a:prstGeom>
          <a:solidFill>
            <a:srgbClr val="0B1322"/>
          </a:solidFill>
          <a:ln w="8890">
            <a:solidFill>
              <a:srgbClr val="0B1322"/>
            </a:solidFill>
            <a:prstDash val="solid"/>
          </a:ln>
        </p:spPr>
        <p:txBody>
          <a:bodyPr/>
          <a:p/>
        </p:txBody>
      </p:sp>
      <p:sp>
        <p:nvSpPr>
          <p:cNvPr id="36" name="Text 34"/>
          <p:cNvSpPr txBox="1"/>
          <p:nvPr/>
        </p:nvSpPr>
        <p:spPr>
          <a:xfrm>
            <a:off x="4559808" y="4333113"/>
            <a:ext cx="2610104" cy="700659"/>
          </a:xfrm>
          <a:prstGeom prst="rect">
            <a:avLst/>
          </a:prstGeom>
          <a:noFill/>
          <a:ln/>
        </p:spPr>
        <p:txBody>
          <a:bodyPr wrap="square" lIns="0" tIns="0" rIns="0" bIns="0" rtlCol="0" anchor="t"/>
          <a:lstStyle/>
          <a:p>
            <a:pPr algn="l" indent="0" marL="0">
              <a:lnSpc>
                <a:spcPct val="104000"/>
              </a:lnSpc>
              <a:buNone/>
            </a:pPr>
            <a:r>
              <a:rPr lang="en-US" sz="1800" dirty="0">
                <a:solidFill>
                  <a:srgbClr val="B3C3D6"/>
                </a:solidFill>
                <a:latin typeface="Arial" pitchFamily="34" charset="0"/>
                <a:ea typeface="Arial" pitchFamily="34" charset="-122"/>
                <a:cs typeface="Arial" pitchFamily="34" charset="-120"/>
              </a:rPr>
              <a:t>As specified by</a:t>
            </a:r>
            <a:endParaRPr lang="en-US" sz="1800" dirty="0"/>
          </a:p>
          <a:p>
            <a:pPr algn="l" indent="0" marL="0">
              <a:lnSpc>
                <a:spcPct val="104000"/>
              </a:lnSpc>
              <a:buNone/>
            </a:pPr>
            <a:r>
              <a:rPr lang="en-US" sz="1800" dirty="0">
                <a:solidFill>
                  <a:srgbClr val="B3C3D6"/>
                </a:solidFill>
                <a:latin typeface="Arial" pitchFamily="34" charset="0"/>
                <a:ea typeface="Arial" pitchFamily="34" charset="-122"/>
                <a:cs typeface="Arial" pitchFamily="34" charset="-120"/>
              </a:rPr>
              <a:t>ownership policy</a:t>
            </a:r>
            <a:endParaRPr lang="en-US" sz="1800" dirty="0"/>
          </a:p>
        </p:txBody>
      </p:sp>
      <p:sp>
        <p:nvSpPr>
          <p:cNvPr id="37" name="Shape 35"/>
          <p:cNvSpPr/>
          <p:nvPr/>
        </p:nvSpPr>
        <p:spPr>
          <a:xfrm>
            <a:off x="7297928" y="4282821"/>
            <a:ext cx="4345432" cy="792099"/>
          </a:xfrm>
          <a:prstGeom prst="rect">
            <a:avLst/>
          </a:prstGeom>
          <a:solidFill>
            <a:srgbClr val="0B1322"/>
          </a:solidFill>
          <a:ln w="8890">
            <a:solidFill>
              <a:srgbClr val="0B1322"/>
            </a:solidFill>
            <a:prstDash val="solid"/>
          </a:ln>
        </p:spPr>
        <p:txBody>
          <a:bodyPr/>
          <a:p/>
        </p:txBody>
      </p:sp>
      <p:sp>
        <p:nvSpPr>
          <p:cNvPr id="38" name="Text 36"/>
          <p:cNvSpPr txBox="1"/>
          <p:nvPr/>
        </p:nvSpPr>
        <p:spPr>
          <a:xfrm>
            <a:off x="7425944" y="4333113"/>
            <a:ext cx="4089400" cy="700659"/>
          </a:xfrm>
          <a:prstGeom prst="rect">
            <a:avLst/>
          </a:prstGeom>
          <a:noFill/>
          <a:ln/>
        </p:spPr>
        <p:txBody>
          <a:bodyPr wrap="square" lIns="0" tIns="0" rIns="0" bIns="0" rtlCol="0" anchor="t"/>
          <a:lstStyle/>
          <a:p>
            <a:pPr algn="l" indent="0" marL="0">
              <a:lnSpc>
                <a:spcPct val="104000"/>
              </a:lnSpc>
              <a:buNone/>
            </a:pPr>
            <a:r>
              <a:rPr lang="en-US" sz="1800" dirty="0">
                <a:solidFill>
                  <a:srgbClr val="B3C3D6"/>
                </a:solidFill>
                <a:latin typeface="Arial" pitchFamily="34" charset="0"/>
                <a:ea typeface="Arial" pitchFamily="34" charset="-122"/>
                <a:cs typeface="Arial" pitchFamily="34" charset="-120"/>
              </a:rPr>
              <a:t>Release or explicitly transfer</a:t>
            </a:r>
            <a:endParaRPr lang="en-US" sz="1800" dirty="0"/>
          </a:p>
          <a:p>
            <a:pPr algn="l" indent="0" marL="0">
              <a:lnSpc>
                <a:spcPct val="104000"/>
              </a:lnSpc>
              <a:buNone/>
            </a:pPr>
            <a:r>
              <a:rPr lang="en-US" sz="1800" dirty="0">
                <a:solidFill>
                  <a:srgbClr val="B3C3D6"/>
                </a:solidFill>
                <a:latin typeface="Arial" pitchFamily="34" charset="0"/>
                <a:ea typeface="Arial" pitchFamily="34" charset="-122"/>
                <a:cs typeface="Arial" pitchFamily="34" charset="-120"/>
              </a:rPr>
              <a:t>responsibility</a:t>
            </a:r>
            <a:endParaRPr lang="en-US" sz="1800" dirty="0"/>
          </a:p>
        </p:txBody>
      </p:sp>
      <p:sp>
        <p:nvSpPr>
          <p:cNvPr id="39" name="Shape 37"/>
          <p:cNvSpPr/>
          <p:nvPr/>
        </p:nvSpPr>
        <p:spPr>
          <a:xfrm>
            <a:off x="548640" y="5074920"/>
            <a:ext cx="11094720" cy="0"/>
          </a:xfrm>
          <a:prstGeom prst="line">
            <a:avLst/>
          </a:prstGeom>
          <a:noFill/>
          <a:ln w="12700">
            <a:solidFill>
              <a:srgbClr val="2B415A"/>
            </a:solidFill>
            <a:prstDash val="solid"/>
          </a:ln>
        </p:spPr>
        <p:txBody>
          <a:bodyPr/>
          <a:p/>
        </p:txBody>
      </p:sp>
      <p:sp>
        <p:nvSpPr>
          <p:cNvPr id="40" name="Text 38"/>
          <p:cNvSpPr txBox="1"/>
          <p:nvPr/>
        </p:nvSpPr>
        <p:spPr>
          <a:xfrm>
            <a:off x="548640" y="5193792"/>
            <a:ext cx="11094720" cy="274320"/>
          </a:xfrm>
          <a:prstGeom prst="rect">
            <a:avLst/>
          </a:prstGeom>
          <a:noFill/>
          <a:ln/>
        </p:spPr>
        <p:txBody>
          <a:bodyPr wrap="square" lIns="0" tIns="0" rIns="0" bIns="0" rtlCol="0" anchor="t"/>
          <a:lstStyle/>
          <a:p>
            <a:pPr algn="l" indent="0" marL="0">
              <a:lnSpc>
                <a:spcPct val="104000"/>
              </a:lnSpc>
              <a:buNone/>
            </a:pPr>
            <a:r>
              <a:rPr lang="en-US" sz="1140" dirty="0">
                <a:solidFill>
                  <a:srgbClr val="B3C3D6"/>
                </a:solidFill>
                <a:latin typeface="Arial" pitchFamily="34" charset="0"/>
                <a:ea typeface="Arial" pitchFamily="34" charset="-122"/>
                <a:cs typeface="Arial" pitchFamily="34" charset="-120"/>
              </a:rPr>
              <a:t>Track ownership after each operation, not only at the end of the success path.</a:t>
            </a:r>
            <a:endParaRPr lang="en-US" sz="1140" dirty="0"/>
          </a:p>
        </p:txBody>
      </p:sp>
      <p:sp>
        <p:nvSpPr>
          <p:cNvPr id="45" name="Text 43"/>
          <p:cNvSpPr txBox="1"/>
          <p:nvPr/>
        </p:nvSpPr>
        <p:spPr>
          <a:xfrm>
            <a:off x="548640" y="6601968"/>
            <a:ext cx="10241280" cy="128016"/>
          </a:xfrm>
          <a:prstGeom prst="rect">
            <a:avLst/>
          </a:prstGeom>
          <a:noFill/>
          <a:ln/>
        </p:spPr>
        <p:txBody>
          <a:bodyPr wrap="square" lIns="0" tIns="0" rIns="0" bIns="0" rtlCol="0" anchor="t"/>
          <a:lstStyle/>
          <a:p>
            <a:pPr algn="l" indent="0" marL="0">
              <a:lnSpc>
                <a:spcPct val="104000"/>
              </a:lnSpc>
              <a:buNone/>
            </a:pPr>
            <a:r>
              <a:rPr lang="en-US" sz="830" dirty="0">
                <a:solidFill>
                  <a:srgbClr val="B3C3D6"/>
                </a:solidFill>
                <a:latin typeface="Arial" pitchFamily="34" charset="0"/>
                <a:ea typeface="Arial" pitchFamily="34" charset="-122"/>
                <a:cs typeface="Arial" pitchFamily="34" charset="-120"/>
              </a:rPr>
              <a:t>Source: original 14, 15 • Graduate extension</a:t>
            </a:r>
            <a:endParaRPr lang="en-US" sz="830" dirty="0"/>
          </a:p>
        </p:txBody>
      </p:sp>
      <p:sp>
        <p:nvSpPr>
          <p:cNvPr id="46" name="Text 44"/>
          <p:cNvSpPr txBox="1"/>
          <p:nvPr/>
        </p:nvSpPr>
        <p:spPr>
          <a:xfrm>
            <a:off x="10917936" y="6565392"/>
            <a:ext cx="722376" cy="219456"/>
          </a:xfrm>
          <a:prstGeom prst="rect">
            <a:avLst/>
          </a:prstGeom>
          <a:noFill/>
          <a:ln/>
        </p:spPr>
        <p:txBody>
          <a:bodyPr wrap="square" lIns="0" tIns="0" rIns="0" bIns="0" rtlCol="0" anchor="t"/>
          <a:lstStyle/>
          <a:p>
            <a:pPr algn="r" indent="0" marL="0">
              <a:lnSpc>
                <a:spcPct val="104000"/>
              </a:lnSpc>
              <a:buNone/>
            </a:pPr>
            <a:r>
              <a:rPr lang="en-US" sz="1050" dirty="0">
                <a:solidFill>
                  <a:srgbClr val="B3C3D6"/>
                </a:solidFill>
                <a:latin typeface="Arial" pitchFamily="34" charset="0"/>
                <a:ea typeface="Arial" pitchFamily="34" charset="-122"/>
                <a:cs typeface="Arial" pitchFamily="34" charset="-120"/>
              </a:rPr>
              <a:t>43 / 64</a:t>
            </a:r>
            <a:endParaRPr lang="en-US" sz="1050" dirty="0"/>
          </a:p>
        </p:txBody>
      </p:sp>
      <p:sp>
        <p:nvSpPr>
          <p:cNvPr id="47" name="Shape 45"/>
          <p:cNvSpPr/>
          <p:nvPr/>
        </p:nvSpPr>
        <p:spPr>
          <a:xfrm>
            <a:off x="0" y="6834226"/>
            <a:ext cx="12192000" cy="23774"/>
          </a:xfrm>
          <a:prstGeom prst="rect">
            <a:avLst/>
          </a:prstGeom>
          <a:solidFill>
            <a:srgbClr val="2B415A"/>
          </a:solidFill>
          <a:ln w="8890">
            <a:solidFill>
              <a:srgbClr val="2B415A"/>
            </a:solidFill>
            <a:prstDash val="solid"/>
          </a:ln>
        </p:spPr>
        <p:txBody>
          <a:bodyPr/>
          <a:p/>
        </p:txBody>
      </p:sp>
      <p:sp>
        <p:nvSpPr>
          <p:cNvPr id="48" name="Shape 46"/>
          <p:cNvSpPr/>
          <p:nvPr/>
        </p:nvSpPr>
        <p:spPr>
          <a:xfrm>
            <a:off x="0" y="6834226"/>
            <a:ext cx="8191500" cy="23774"/>
          </a:xfrm>
          <a:prstGeom prst="rect">
            <a:avLst/>
          </a:prstGeom>
          <a:solidFill>
            <a:srgbClr val="71D5DD"/>
          </a:solidFill>
          <a:ln w="8890">
            <a:solidFill>
              <a:srgbClr val="71D5DD"/>
            </a:solidFill>
            <a:prstDash val="solid"/>
          </a:ln>
        </p:spPr>
        <p:txBody>
          <a:body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txBox="1"/>
          <p:nvPr/>
        </p:nvSpPr>
        <p:spPr>
          <a:xfrm>
            <a:off x="548640" y="219456"/>
            <a:ext cx="9875520" cy="192024"/>
          </a:xfrm>
          <a:prstGeom prst="rect">
            <a:avLst/>
          </a:prstGeom>
          <a:noFill/>
          <a:ln/>
        </p:spPr>
        <p:txBody>
          <a:bodyPr wrap="square" lIns="0" tIns="0" rIns="0" bIns="0" rtlCol="0" anchor="t"/>
          <a:lstStyle/>
          <a:p>
            <a:pPr algn="l" indent="0" marL="0">
              <a:lnSpc>
                <a:spcPct val="104000"/>
              </a:lnSpc>
              <a:buNone/>
            </a:pPr>
            <a:r>
              <a:rPr lang="en-US" sz="970" b="1" spc="135" kern="0" dirty="0">
                <a:solidFill>
                  <a:srgbClr val="B3C3D6"/>
                </a:solidFill>
                <a:latin typeface="Arial" pitchFamily="34" charset="0"/>
                <a:ea typeface="Arial" pitchFamily="34" charset="-122"/>
                <a:cs typeface="Arial" pitchFamily="34" charset="-120"/>
              </a:rPr>
              <a:t>SYSTEMS PROGRAMMING AND MACHINE ORGANIZATION</a:t>
            </a:r>
            <a:endParaRPr lang="en-US" sz="970" dirty="0"/>
          </a:p>
        </p:txBody>
      </p:sp>
      <p:sp>
        <p:nvSpPr>
          <p:cNvPr id="3" name="Text 1"/>
          <p:cNvSpPr txBox="1"/>
          <p:nvPr/>
        </p:nvSpPr>
        <p:spPr>
          <a:xfrm>
            <a:off x="9601200" y="219456"/>
            <a:ext cx="2039112" cy="192024"/>
          </a:xfrm>
          <a:prstGeom prst="rect">
            <a:avLst/>
          </a:prstGeom>
          <a:noFill/>
          <a:ln/>
        </p:spPr>
        <p:txBody>
          <a:bodyPr wrap="square" lIns="0" tIns="0" rIns="0" bIns="0" rtlCol="0" anchor="t"/>
          <a:lstStyle/>
          <a:p>
            <a:pPr algn="r" indent="0" marL="0">
              <a:lnSpc>
                <a:spcPct val="104000"/>
              </a:lnSpc>
              <a:buNone/>
            </a:pPr>
            <a:r>
              <a:rPr lang="en-US" sz="970" b="1" dirty="0">
                <a:solidFill>
                  <a:srgbClr val="B3C3D6"/>
                </a:solidFill>
                <a:latin typeface="Arial" pitchFamily="34" charset="0"/>
                <a:ea typeface="Arial" pitchFamily="34" charset="-122"/>
                <a:cs typeface="Arial" pitchFamily="34" charset="-120"/>
              </a:rPr>
              <a:t>CHARLES DORNER</a:t>
            </a:r>
            <a:endParaRPr lang="en-US" sz="970" dirty="0"/>
          </a:p>
        </p:txBody>
      </p:sp>
      <p:sp>
        <p:nvSpPr>
          <p:cNvPr id="4" name="Text 2"/>
          <p:cNvSpPr txBox="1"/>
          <p:nvPr/>
        </p:nvSpPr>
        <p:spPr>
          <a:xfrm>
            <a:off x="548640" y="566928"/>
            <a:ext cx="11109960" cy="237744"/>
          </a:xfrm>
          <a:prstGeom prst="rect">
            <a:avLst/>
          </a:prstGeom>
          <a:noFill/>
          <a:ln/>
        </p:spPr>
        <p:txBody>
          <a:bodyPr wrap="square" lIns="0" tIns="0" rIns="0" bIns="0" rtlCol="0" anchor="t"/>
          <a:lstStyle/>
          <a:p>
            <a:pPr algn="l" indent="0" marL="0">
              <a:lnSpc>
                <a:spcPct val="104000"/>
              </a:lnSpc>
              <a:buNone/>
            </a:pPr>
            <a:r>
              <a:rPr lang="en-US" sz="1150" b="1" dirty="0">
                <a:solidFill>
                  <a:srgbClr val="71D5DD"/>
                </a:solidFill>
                <a:latin typeface="Arial" pitchFamily="34" charset="0"/>
                <a:ea typeface="Arial" pitchFamily="34" charset="-122"/>
                <a:cs typeface="Arial" pitchFamily="34" charset="-120"/>
              </a:rPr>
              <a:t>1.3.3–1.3.4 · CORRECTNESS</a:t>
            </a:r>
            <a:endParaRPr lang="en-US" sz="1150" dirty="0"/>
          </a:p>
        </p:txBody>
      </p:sp>
      <p:sp>
        <p:nvSpPr>
          <p:cNvPr id="5" name="Text 3"/>
          <p:cNvSpPr txBox="1"/>
          <p:nvPr/>
        </p:nvSpPr>
        <p:spPr>
          <a:xfrm>
            <a:off x="548640" y="941832"/>
            <a:ext cx="11091672" cy="676656"/>
          </a:xfrm>
          <a:prstGeom prst="rect">
            <a:avLst/>
          </a:prstGeom>
          <a:noFill/>
          <a:ln/>
        </p:spPr>
        <p:txBody>
          <a:bodyPr wrap="square" lIns="0" tIns="0" rIns="0" bIns="0" rtlCol="0" anchor="t"/>
          <a:lstStyle/>
          <a:p>
            <a:pPr algn="l" indent="0" marL="0">
              <a:lnSpc>
                <a:spcPct val="104000"/>
              </a:lnSpc>
              <a:buNone/>
            </a:pPr>
            <a:r>
              <a:rPr lang="en-US" sz="3150" b="1" dirty="0">
                <a:solidFill>
                  <a:srgbClr val="F4F7FB"/>
                </a:solidFill>
                <a:latin typeface="Arial" pitchFamily="34" charset="0"/>
                <a:ea typeface="Arial" pitchFamily="34" charset="-122"/>
                <a:cs typeface="Arial" pitchFamily="34" charset="-120"/>
              </a:rPr>
              <a:t>Invariants state what remains true at boundaries</a:t>
            </a:r>
            <a:endParaRPr lang="en-US" sz="3150" dirty="0"/>
          </a:p>
        </p:txBody>
      </p:sp>
      <p:sp>
        <p:nvSpPr>
          <p:cNvPr id="6" name="Shape 4"/>
          <p:cNvSpPr/>
          <p:nvPr/>
        </p:nvSpPr>
        <p:spPr>
          <a:xfrm>
            <a:off x="548640" y="1764792"/>
            <a:ext cx="3564128" cy="3310128"/>
          </a:xfrm>
          <a:prstGeom prst="rect">
            <a:avLst/>
          </a:prstGeom>
          <a:solidFill>
            <a:srgbClr val="142238"/>
          </a:solidFill>
          <a:ln w="8890">
            <a:solidFill>
              <a:srgbClr val="2B415A"/>
            </a:solidFill>
            <a:prstDash val="solid"/>
          </a:ln>
        </p:spPr>
        <p:txBody>
          <a:bodyPr/>
          <a:p/>
        </p:txBody>
      </p:sp>
      <p:sp>
        <p:nvSpPr>
          <p:cNvPr id="7" name="Shape 5"/>
          <p:cNvSpPr/>
          <p:nvPr/>
        </p:nvSpPr>
        <p:spPr>
          <a:xfrm>
            <a:off x="548640" y="1764792"/>
            <a:ext cx="41148" cy="3310128"/>
          </a:xfrm>
          <a:prstGeom prst="rect">
            <a:avLst/>
          </a:prstGeom>
          <a:solidFill>
            <a:srgbClr val="71D5DD"/>
          </a:solidFill>
          <a:ln w="8890">
            <a:solidFill>
              <a:srgbClr val="71D5DD"/>
            </a:solidFill>
            <a:prstDash val="solid"/>
          </a:ln>
        </p:spPr>
        <p:txBody>
          <a:bodyPr/>
          <a:p/>
        </p:txBody>
      </p:sp>
      <p:sp>
        <p:nvSpPr>
          <p:cNvPr id="8" name="Text 6"/>
          <p:cNvSpPr txBox="1"/>
          <p:nvPr/>
        </p:nvSpPr>
        <p:spPr>
          <a:xfrm>
            <a:off x="758952" y="1975104"/>
            <a:ext cx="3134360" cy="557784"/>
          </a:xfrm>
          <a:prstGeom prst="rect">
            <a:avLst/>
          </a:prstGeom>
          <a:noFill/>
          <a:ln/>
        </p:spPr>
        <p:txBody>
          <a:bodyPr wrap="square" lIns="0" tIns="0" rIns="0" bIns="0" rtlCol="0" anchor="t"/>
          <a:lstStyle/>
          <a:p>
            <a:pPr algn="l" indent="0" marL="0">
              <a:lnSpc>
                <a:spcPct val="104000"/>
              </a:lnSpc>
              <a:buNone/>
            </a:pPr>
            <a:r>
              <a:rPr lang="en-US" sz="1750" b="1" dirty="0">
                <a:solidFill>
                  <a:srgbClr val="71D5DD"/>
                </a:solidFill>
                <a:latin typeface="Arial" pitchFamily="34" charset="0"/>
                <a:ea typeface="Arial" pitchFamily="34" charset="-122"/>
                <a:cs typeface="Arial" pitchFamily="34" charset="-120"/>
              </a:rPr>
              <a:t>BOUND</a:t>
            </a:r>
            <a:endParaRPr lang="en-US" sz="1750" dirty="0"/>
          </a:p>
        </p:txBody>
      </p:sp>
      <p:sp>
        <p:nvSpPr>
          <p:cNvPr id="9" name="Text 7"/>
          <p:cNvSpPr txBox="1"/>
          <p:nvPr/>
        </p:nvSpPr>
        <p:spPr>
          <a:xfrm>
            <a:off x="758952" y="2642616"/>
            <a:ext cx="3134360" cy="2267712"/>
          </a:xfrm>
          <a:prstGeom prst="rect">
            <a:avLst/>
          </a:prstGeom>
          <a:noFill/>
          <a:ln/>
        </p:spPr>
        <p:txBody>
          <a:bodyPr wrap="square" lIns="0" tIns="0" rIns="0" bIns="0" rtlCol="0" anchor="t"/>
          <a:lstStyle/>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0 &lt;= used</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used &lt;= capacity</a:t>
            </a:r>
            <a:endParaRPr lang="en-US" sz="2200" dirty="0"/>
          </a:p>
          <a:p>
            <a:pPr algn="l" indent="0" marL="0">
              <a:lnSpc>
                <a:spcPct val="104000"/>
              </a:lnSpc>
              <a:buNone/>
            </a:pP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Every valid element</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index stays below</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capacity.</a:t>
            </a:r>
            <a:endParaRPr lang="en-US" sz="2200" dirty="0"/>
          </a:p>
        </p:txBody>
      </p:sp>
      <p:sp>
        <p:nvSpPr>
          <p:cNvPr id="10" name="Shape 8"/>
          <p:cNvSpPr/>
          <p:nvPr/>
        </p:nvSpPr>
        <p:spPr>
          <a:xfrm>
            <a:off x="4313936" y="1764792"/>
            <a:ext cx="3564128" cy="3310128"/>
          </a:xfrm>
          <a:prstGeom prst="rect">
            <a:avLst/>
          </a:prstGeom>
          <a:solidFill>
            <a:srgbClr val="142238"/>
          </a:solidFill>
          <a:ln w="8890">
            <a:solidFill>
              <a:srgbClr val="2B415A"/>
            </a:solidFill>
            <a:prstDash val="solid"/>
          </a:ln>
        </p:spPr>
        <p:txBody>
          <a:bodyPr/>
          <a:p/>
        </p:txBody>
      </p:sp>
      <p:sp>
        <p:nvSpPr>
          <p:cNvPr id="11" name="Shape 9"/>
          <p:cNvSpPr/>
          <p:nvPr/>
        </p:nvSpPr>
        <p:spPr>
          <a:xfrm>
            <a:off x="4313936" y="1764792"/>
            <a:ext cx="41148" cy="3310128"/>
          </a:xfrm>
          <a:prstGeom prst="rect">
            <a:avLst/>
          </a:prstGeom>
          <a:solidFill>
            <a:srgbClr val="71D5DD"/>
          </a:solidFill>
          <a:ln w="8890">
            <a:solidFill>
              <a:srgbClr val="71D5DD"/>
            </a:solidFill>
            <a:prstDash val="solid"/>
          </a:ln>
        </p:spPr>
        <p:txBody>
          <a:bodyPr/>
          <a:p/>
        </p:txBody>
      </p:sp>
      <p:sp>
        <p:nvSpPr>
          <p:cNvPr id="12" name="Text 10"/>
          <p:cNvSpPr txBox="1"/>
          <p:nvPr/>
        </p:nvSpPr>
        <p:spPr>
          <a:xfrm>
            <a:off x="4524248" y="1975104"/>
            <a:ext cx="3134360" cy="557784"/>
          </a:xfrm>
          <a:prstGeom prst="rect">
            <a:avLst/>
          </a:prstGeom>
          <a:noFill/>
          <a:ln/>
        </p:spPr>
        <p:txBody>
          <a:bodyPr wrap="square" lIns="0" tIns="0" rIns="0" bIns="0" rtlCol="0" anchor="t"/>
          <a:lstStyle/>
          <a:p>
            <a:pPr algn="l" indent="0" marL="0">
              <a:lnSpc>
                <a:spcPct val="104000"/>
              </a:lnSpc>
              <a:buNone/>
            </a:pPr>
            <a:r>
              <a:rPr lang="en-US" sz="1750" b="1" dirty="0">
                <a:solidFill>
                  <a:srgbClr val="71D5DD"/>
                </a:solidFill>
                <a:latin typeface="Arial" pitchFamily="34" charset="0"/>
                <a:ea typeface="Arial" pitchFamily="34" charset="-122"/>
                <a:cs typeface="Arial" pitchFamily="34" charset="-120"/>
              </a:rPr>
              <a:t>OWNERSHIP</a:t>
            </a:r>
            <a:endParaRPr lang="en-US" sz="1750" dirty="0"/>
          </a:p>
        </p:txBody>
      </p:sp>
      <p:sp>
        <p:nvSpPr>
          <p:cNvPr id="13" name="Text 11"/>
          <p:cNvSpPr txBox="1"/>
          <p:nvPr/>
        </p:nvSpPr>
        <p:spPr>
          <a:xfrm>
            <a:off x="4524248" y="2642616"/>
            <a:ext cx="3134360" cy="2267712"/>
          </a:xfrm>
          <a:prstGeom prst="rect">
            <a:avLst/>
          </a:prstGeom>
          <a:noFill/>
          <a:ln/>
        </p:spPr>
        <p:txBody>
          <a:bodyPr wrap="square" lIns="0" tIns="0" rIns="0" bIns="0" rtlCol="0" anchor="t"/>
          <a:lstStyle/>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owner(fd) = one</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component</a:t>
            </a:r>
            <a:endParaRPr lang="en-US" sz="2200" dirty="0"/>
          </a:p>
          <a:p>
            <a:pPr algn="l" indent="0" marL="0">
              <a:lnSpc>
                <a:spcPct val="104000"/>
              </a:lnSpc>
              <a:buNone/>
            </a:pP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Release responsibility is</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unambiguous.</a:t>
            </a:r>
            <a:endParaRPr lang="en-US" sz="2200" dirty="0"/>
          </a:p>
        </p:txBody>
      </p:sp>
      <p:sp>
        <p:nvSpPr>
          <p:cNvPr id="14" name="Shape 12"/>
          <p:cNvSpPr/>
          <p:nvPr/>
        </p:nvSpPr>
        <p:spPr>
          <a:xfrm>
            <a:off x="8079232" y="1764792"/>
            <a:ext cx="3564128" cy="3310128"/>
          </a:xfrm>
          <a:prstGeom prst="rect">
            <a:avLst/>
          </a:prstGeom>
          <a:solidFill>
            <a:srgbClr val="142238"/>
          </a:solidFill>
          <a:ln w="8890">
            <a:solidFill>
              <a:srgbClr val="2B415A"/>
            </a:solidFill>
            <a:prstDash val="solid"/>
          </a:ln>
        </p:spPr>
        <p:txBody>
          <a:bodyPr/>
          <a:p/>
        </p:txBody>
      </p:sp>
      <p:sp>
        <p:nvSpPr>
          <p:cNvPr id="15" name="Shape 13"/>
          <p:cNvSpPr/>
          <p:nvPr/>
        </p:nvSpPr>
        <p:spPr>
          <a:xfrm>
            <a:off x="8079232" y="1764792"/>
            <a:ext cx="41148" cy="3310128"/>
          </a:xfrm>
          <a:prstGeom prst="rect">
            <a:avLst/>
          </a:prstGeom>
          <a:solidFill>
            <a:srgbClr val="71D5DD"/>
          </a:solidFill>
          <a:ln w="8890">
            <a:solidFill>
              <a:srgbClr val="71D5DD"/>
            </a:solidFill>
            <a:prstDash val="solid"/>
          </a:ln>
        </p:spPr>
        <p:txBody>
          <a:bodyPr/>
          <a:p/>
        </p:txBody>
      </p:sp>
      <p:sp>
        <p:nvSpPr>
          <p:cNvPr id="16" name="Text 14"/>
          <p:cNvSpPr txBox="1"/>
          <p:nvPr/>
        </p:nvSpPr>
        <p:spPr>
          <a:xfrm>
            <a:off x="8289544" y="1975104"/>
            <a:ext cx="3134360" cy="557784"/>
          </a:xfrm>
          <a:prstGeom prst="rect">
            <a:avLst/>
          </a:prstGeom>
          <a:noFill/>
          <a:ln/>
        </p:spPr>
        <p:txBody>
          <a:bodyPr wrap="square" lIns="0" tIns="0" rIns="0" bIns="0" rtlCol="0" anchor="t"/>
          <a:lstStyle/>
          <a:p>
            <a:pPr algn="l" indent="0" marL="0">
              <a:lnSpc>
                <a:spcPct val="104000"/>
              </a:lnSpc>
              <a:buNone/>
            </a:pPr>
            <a:r>
              <a:rPr lang="en-US" sz="1750" b="1" dirty="0">
                <a:solidFill>
                  <a:srgbClr val="71D5DD"/>
                </a:solidFill>
                <a:latin typeface="Arial" pitchFamily="34" charset="0"/>
                <a:ea typeface="Arial" pitchFamily="34" charset="-122"/>
                <a:cs typeface="Arial" pitchFamily="34" charset="-120"/>
              </a:rPr>
              <a:t>STATE</a:t>
            </a:r>
            <a:endParaRPr lang="en-US" sz="1750" dirty="0"/>
          </a:p>
        </p:txBody>
      </p:sp>
      <p:sp>
        <p:nvSpPr>
          <p:cNvPr id="17" name="Text 15"/>
          <p:cNvSpPr txBox="1"/>
          <p:nvPr/>
        </p:nvSpPr>
        <p:spPr>
          <a:xfrm>
            <a:off x="8289544" y="2642616"/>
            <a:ext cx="3134360" cy="2267712"/>
          </a:xfrm>
          <a:prstGeom prst="rect">
            <a:avLst/>
          </a:prstGeom>
          <a:noFill/>
          <a:ln/>
        </p:spPr>
        <p:txBody>
          <a:bodyPr wrap="square" lIns="0" tIns="0" rIns="0" bIns="0" rtlCol="0" anchor="t"/>
          <a:lstStyle/>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queued / processing /</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completed</a:t>
            </a:r>
            <a:endParaRPr lang="en-US" sz="2200" dirty="0"/>
          </a:p>
          <a:p>
            <a:pPr algn="l" indent="0" marL="0">
              <a:lnSpc>
                <a:spcPct val="104000"/>
              </a:lnSpc>
              <a:buNone/>
            </a:pP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Only allowed lifecycle</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states are exposed.</a:t>
            </a:r>
            <a:endParaRPr lang="en-US" sz="2200" dirty="0"/>
          </a:p>
        </p:txBody>
      </p:sp>
      <p:sp>
        <p:nvSpPr>
          <p:cNvPr id="18" name="Text 16"/>
          <p:cNvSpPr txBox="1"/>
          <p:nvPr/>
        </p:nvSpPr>
        <p:spPr>
          <a:xfrm>
            <a:off x="548640" y="5193792"/>
            <a:ext cx="11094720" cy="274320"/>
          </a:xfrm>
          <a:prstGeom prst="rect">
            <a:avLst/>
          </a:prstGeom>
          <a:noFill/>
          <a:ln/>
        </p:spPr>
        <p:txBody>
          <a:bodyPr wrap="square" lIns="0" tIns="0" rIns="0" bIns="0" rtlCol="0" anchor="t"/>
          <a:lstStyle/>
          <a:p>
            <a:pPr algn="l" indent="0" marL="0">
              <a:lnSpc>
                <a:spcPct val="104000"/>
              </a:lnSpc>
              <a:buNone/>
            </a:pPr>
            <a:r>
              <a:rPr lang="en-US" sz="1140" dirty="0">
                <a:solidFill>
                  <a:srgbClr val="B3C3D6"/>
                </a:solidFill>
                <a:latin typeface="Arial" pitchFamily="34" charset="0"/>
                <a:ea typeface="Arial" pitchFamily="34" charset="-122"/>
                <a:cs typeface="Arial" pitchFamily="34" charset="-120"/>
              </a:rPr>
              <a:t>Name the observation boundary and the operations responsible for preserving each invariant.</a:t>
            </a:r>
            <a:endParaRPr lang="en-US" sz="1140" dirty="0"/>
          </a:p>
        </p:txBody>
      </p:sp>
      <p:sp>
        <p:nvSpPr>
          <p:cNvPr id="23" name="Text 21"/>
          <p:cNvSpPr txBox="1"/>
          <p:nvPr/>
        </p:nvSpPr>
        <p:spPr>
          <a:xfrm>
            <a:off x="548640" y="6601968"/>
            <a:ext cx="10241280" cy="128016"/>
          </a:xfrm>
          <a:prstGeom prst="rect">
            <a:avLst/>
          </a:prstGeom>
          <a:noFill/>
          <a:ln/>
        </p:spPr>
        <p:txBody>
          <a:bodyPr wrap="square" lIns="0" tIns="0" rIns="0" bIns="0" rtlCol="0" anchor="t"/>
          <a:lstStyle/>
          <a:p>
            <a:pPr algn="l" indent="0" marL="0">
              <a:lnSpc>
                <a:spcPct val="104000"/>
              </a:lnSpc>
              <a:buNone/>
            </a:pPr>
            <a:r>
              <a:rPr lang="en-US" sz="830" dirty="0">
                <a:solidFill>
                  <a:srgbClr val="B3C3D6"/>
                </a:solidFill>
                <a:latin typeface="Arial" pitchFamily="34" charset="0"/>
                <a:ea typeface="Arial" pitchFamily="34" charset="-122"/>
                <a:cs typeface="Arial" pitchFamily="34" charset="-120"/>
              </a:rPr>
              <a:t>Source: original 14</a:t>
            </a:r>
            <a:endParaRPr lang="en-US" sz="830" dirty="0"/>
          </a:p>
        </p:txBody>
      </p:sp>
      <p:sp>
        <p:nvSpPr>
          <p:cNvPr id="24" name="Text 22"/>
          <p:cNvSpPr txBox="1"/>
          <p:nvPr/>
        </p:nvSpPr>
        <p:spPr>
          <a:xfrm>
            <a:off x="10917936" y="6565392"/>
            <a:ext cx="722376" cy="219456"/>
          </a:xfrm>
          <a:prstGeom prst="rect">
            <a:avLst/>
          </a:prstGeom>
          <a:noFill/>
          <a:ln/>
        </p:spPr>
        <p:txBody>
          <a:bodyPr wrap="square" lIns="0" tIns="0" rIns="0" bIns="0" rtlCol="0" anchor="t"/>
          <a:lstStyle/>
          <a:p>
            <a:pPr algn="r" indent="0" marL="0">
              <a:lnSpc>
                <a:spcPct val="104000"/>
              </a:lnSpc>
              <a:buNone/>
            </a:pPr>
            <a:r>
              <a:rPr lang="en-US" sz="1050" dirty="0">
                <a:solidFill>
                  <a:srgbClr val="B3C3D6"/>
                </a:solidFill>
                <a:latin typeface="Arial" pitchFamily="34" charset="0"/>
                <a:ea typeface="Arial" pitchFamily="34" charset="-122"/>
                <a:cs typeface="Arial" pitchFamily="34" charset="-120"/>
              </a:rPr>
              <a:t>44 / 64</a:t>
            </a:r>
            <a:endParaRPr lang="en-US" sz="1050" dirty="0"/>
          </a:p>
        </p:txBody>
      </p:sp>
      <p:sp>
        <p:nvSpPr>
          <p:cNvPr id="25" name="Shape 23"/>
          <p:cNvSpPr/>
          <p:nvPr/>
        </p:nvSpPr>
        <p:spPr>
          <a:xfrm>
            <a:off x="0" y="6834226"/>
            <a:ext cx="12192000" cy="23774"/>
          </a:xfrm>
          <a:prstGeom prst="rect">
            <a:avLst/>
          </a:prstGeom>
          <a:solidFill>
            <a:srgbClr val="2B415A"/>
          </a:solidFill>
          <a:ln w="8890">
            <a:solidFill>
              <a:srgbClr val="2B415A"/>
            </a:solidFill>
            <a:prstDash val="solid"/>
          </a:ln>
        </p:spPr>
        <p:txBody>
          <a:bodyPr/>
          <a:p/>
        </p:txBody>
      </p:sp>
      <p:sp>
        <p:nvSpPr>
          <p:cNvPr id="26" name="Shape 24"/>
          <p:cNvSpPr/>
          <p:nvPr/>
        </p:nvSpPr>
        <p:spPr>
          <a:xfrm>
            <a:off x="0" y="6834226"/>
            <a:ext cx="8382000" cy="23774"/>
          </a:xfrm>
          <a:prstGeom prst="rect">
            <a:avLst/>
          </a:prstGeom>
          <a:solidFill>
            <a:srgbClr val="71D5DD"/>
          </a:solidFill>
          <a:ln w="8890">
            <a:solidFill>
              <a:srgbClr val="71D5DD"/>
            </a:solidFill>
            <a:prstDash val="solid"/>
          </a:ln>
        </p:spPr>
        <p:txBody>
          <a:body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txBox="1"/>
          <p:nvPr/>
        </p:nvSpPr>
        <p:spPr>
          <a:xfrm>
            <a:off x="548640" y="219456"/>
            <a:ext cx="9875520" cy="192024"/>
          </a:xfrm>
          <a:prstGeom prst="rect">
            <a:avLst/>
          </a:prstGeom>
          <a:noFill/>
          <a:ln/>
        </p:spPr>
        <p:txBody>
          <a:bodyPr wrap="square" lIns="0" tIns="0" rIns="0" bIns="0" rtlCol="0" anchor="t"/>
          <a:lstStyle/>
          <a:p>
            <a:pPr algn="l" indent="0" marL="0">
              <a:lnSpc>
                <a:spcPct val="104000"/>
              </a:lnSpc>
              <a:buNone/>
            </a:pPr>
            <a:r>
              <a:rPr lang="en-US" sz="970" b="1" spc="135" kern="0" dirty="0">
                <a:solidFill>
                  <a:srgbClr val="B3C3D6"/>
                </a:solidFill>
                <a:latin typeface="Arial" pitchFamily="34" charset="0"/>
                <a:ea typeface="Arial" pitchFamily="34" charset="-122"/>
                <a:cs typeface="Arial" pitchFamily="34" charset="-120"/>
              </a:rPr>
              <a:t>SYSTEMS PROGRAMMING AND MACHINE ORGANIZATION</a:t>
            </a:r>
            <a:endParaRPr lang="en-US" sz="970" dirty="0"/>
          </a:p>
        </p:txBody>
      </p:sp>
      <p:sp>
        <p:nvSpPr>
          <p:cNvPr id="3" name="Text 1"/>
          <p:cNvSpPr txBox="1"/>
          <p:nvPr/>
        </p:nvSpPr>
        <p:spPr>
          <a:xfrm>
            <a:off x="9601200" y="219456"/>
            <a:ext cx="2039112" cy="192024"/>
          </a:xfrm>
          <a:prstGeom prst="rect">
            <a:avLst/>
          </a:prstGeom>
          <a:noFill/>
          <a:ln/>
        </p:spPr>
        <p:txBody>
          <a:bodyPr wrap="square" lIns="0" tIns="0" rIns="0" bIns="0" rtlCol="0" anchor="t"/>
          <a:lstStyle/>
          <a:p>
            <a:pPr algn="r" indent="0" marL="0">
              <a:lnSpc>
                <a:spcPct val="104000"/>
              </a:lnSpc>
              <a:buNone/>
            </a:pPr>
            <a:r>
              <a:rPr lang="en-US" sz="970" b="1" dirty="0">
                <a:solidFill>
                  <a:srgbClr val="B3C3D6"/>
                </a:solidFill>
                <a:latin typeface="Arial" pitchFamily="34" charset="0"/>
                <a:ea typeface="Arial" pitchFamily="34" charset="-122"/>
                <a:cs typeface="Arial" pitchFamily="34" charset="-120"/>
              </a:rPr>
              <a:t>CHARLES DORNER</a:t>
            </a:r>
            <a:endParaRPr lang="en-US" sz="970" dirty="0"/>
          </a:p>
        </p:txBody>
      </p:sp>
      <p:sp>
        <p:nvSpPr>
          <p:cNvPr id="4" name="Text 2"/>
          <p:cNvSpPr txBox="1"/>
          <p:nvPr/>
        </p:nvSpPr>
        <p:spPr>
          <a:xfrm>
            <a:off x="548640" y="566928"/>
            <a:ext cx="11109960" cy="237744"/>
          </a:xfrm>
          <a:prstGeom prst="rect">
            <a:avLst/>
          </a:prstGeom>
          <a:noFill/>
          <a:ln/>
        </p:spPr>
        <p:txBody>
          <a:bodyPr wrap="square" lIns="0" tIns="0" rIns="0" bIns="0" rtlCol="0" anchor="t"/>
          <a:lstStyle/>
          <a:p>
            <a:pPr algn="l" indent="0" marL="0">
              <a:lnSpc>
                <a:spcPct val="104000"/>
              </a:lnSpc>
              <a:buNone/>
            </a:pPr>
            <a:r>
              <a:rPr lang="en-US" sz="1150" b="1" dirty="0">
                <a:solidFill>
                  <a:srgbClr val="71D5DD"/>
                </a:solidFill>
                <a:latin typeface="Arial" pitchFamily="34" charset="0"/>
                <a:ea typeface="Arial" pitchFamily="34" charset="-122"/>
                <a:cs typeface="Arial" pitchFamily="34" charset="-120"/>
              </a:rPr>
              <a:t>1.3.4 · PRECONDITIONS, POSTCONDITIONS &amp; FRAME</a:t>
            </a:r>
            <a:endParaRPr lang="en-US" sz="1150" dirty="0"/>
          </a:p>
        </p:txBody>
      </p:sp>
      <p:sp>
        <p:nvSpPr>
          <p:cNvPr id="5" name="Text 3"/>
          <p:cNvSpPr txBox="1"/>
          <p:nvPr/>
        </p:nvSpPr>
        <p:spPr>
          <a:xfrm>
            <a:off x="548640" y="941832"/>
            <a:ext cx="11091672" cy="676656"/>
          </a:xfrm>
          <a:prstGeom prst="rect">
            <a:avLst/>
          </a:prstGeom>
          <a:noFill/>
          <a:ln/>
        </p:spPr>
        <p:txBody>
          <a:bodyPr wrap="square" lIns="0" tIns="0" rIns="0" bIns="0" rtlCol="0" anchor="t"/>
          <a:lstStyle/>
          <a:p>
            <a:pPr algn="l" indent="0" marL="0">
              <a:lnSpc>
                <a:spcPct val="104000"/>
              </a:lnSpc>
              <a:buNone/>
            </a:pPr>
            <a:r>
              <a:rPr lang="en-US" sz="3150" b="1" dirty="0">
                <a:solidFill>
                  <a:srgbClr val="F4F7FB"/>
                </a:solidFill>
                <a:latin typeface="Arial" pitchFamily="34" charset="0"/>
                <a:ea typeface="Arial" pitchFamily="34" charset="-122"/>
                <a:cs typeface="Arial" pitchFamily="34" charset="-120"/>
              </a:rPr>
              <a:t>A small proof: append without crossing capacity</a:t>
            </a:r>
            <a:endParaRPr lang="en-US" sz="3150" dirty="0"/>
          </a:p>
        </p:txBody>
      </p:sp>
      <p:sp>
        <p:nvSpPr>
          <p:cNvPr id="6" name="Shape 4"/>
          <p:cNvSpPr/>
          <p:nvPr/>
        </p:nvSpPr>
        <p:spPr>
          <a:xfrm>
            <a:off x="548640" y="1764792"/>
            <a:ext cx="7178040" cy="3310128"/>
          </a:xfrm>
          <a:prstGeom prst="rect">
            <a:avLst/>
          </a:prstGeom>
          <a:solidFill>
            <a:srgbClr val="142238"/>
          </a:solidFill>
          <a:ln w="8890">
            <a:solidFill>
              <a:srgbClr val="2B415A"/>
            </a:solidFill>
            <a:prstDash val="solid"/>
          </a:ln>
        </p:spPr>
        <p:txBody>
          <a:bodyPr/>
          <a:p/>
        </p:txBody>
      </p:sp>
      <p:sp>
        <p:nvSpPr>
          <p:cNvPr id="7" name="Text 5"/>
          <p:cNvSpPr txBox="1"/>
          <p:nvPr/>
        </p:nvSpPr>
        <p:spPr>
          <a:xfrm>
            <a:off x="749808" y="1938528"/>
            <a:ext cx="6775704" cy="237744"/>
          </a:xfrm>
          <a:prstGeom prst="rect">
            <a:avLst/>
          </a:prstGeom>
          <a:noFill/>
          <a:ln/>
        </p:spPr>
        <p:txBody>
          <a:bodyPr wrap="square" lIns="0" tIns="0" rIns="0" bIns="0" rtlCol="0" anchor="t"/>
          <a:lstStyle/>
          <a:p>
            <a:pPr algn="l" indent="0" marL="0">
              <a:lnSpc>
                <a:spcPct val="104000"/>
              </a:lnSpc>
              <a:buNone/>
            </a:pPr>
            <a:r>
              <a:rPr lang="en-US" sz="1160" b="1" dirty="0">
                <a:solidFill>
                  <a:srgbClr val="F1C984"/>
                </a:solidFill>
                <a:latin typeface="Arial" pitchFamily="34" charset="0"/>
                <a:ea typeface="Arial" pitchFamily="34" charset="-122"/>
                <a:cs typeface="Arial" pitchFamily="34" charset="-120"/>
              </a:rPr>
              <a:t>Pseudocode using valid, exclusively owned buffer state</a:t>
            </a:r>
            <a:endParaRPr lang="en-US" sz="1160" dirty="0"/>
          </a:p>
        </p:txBody>
      </p:sp>
      <p:sp>
        <p:nvSpPr>
          <p:cNvPr id="8" name="Shape 6"/>
          <p:cNvSpPr/>
          <p:nvPr/>
        </p:nvSpPr>
        <p:spPr>
          <a:xfrm>
            <a:off x="749808" y="2276856"/>
            <a:ext cx="6775704" cy="0"/>
          </a:xfrm>
          <a:prstGeom prst="line">
            <a:avLst/>
          </a:prstGeom>
          <a:noFill/>
          <a:ln w="12700">
            <a:solidFill>
              <a:srgbClr val="2B415A"/>
            </a:solidFill>
            <a:prstDash val="solid"/>
          </a:ln>
        </p:spPr>
        <p:txBody>
          <a:bodyPr/>
          <a:p/>
        </p:txBody>
      </p:sp>
      <p:sp>
        <p:nvSpPr>
          <p:cNvPr id="9" name="Text 7"/>
          <p:cNvSpPr txBox="1"/>
          <p:nvPr/>
        </p:nvSpPr>
        <p:spPr>
          <a:xfrm>
            <a:off x="749808" y="2478024"/>
            <a:ext cx="6775704" cy="2450592"/>
          </a:xfrm>
          <a:prstGeom prst="rect">
            <a:avLst/>
          </a:prstGeom>
          <a:noFill/>
          <a:ln/>
        </p:spPr>
        <p:txBody>
          <a:bodyPr wrap="square" lIns="0" tIns="0" rIns="0" bIns="0" rtlCol="0" anchor="t"/>
          <a:lstStyle/>
          <a:p>
            <a:pPr algn="l" indent="0" marL="0">
              <a:lnSpc>
                <a:spcPct val="104000"/>
              </a:lnSpc>
              <a:buNone/>
            </a:pPr>
            <a:r>
              <a:rPr lang="en-US" sz="1830" dirty="0">
                <a:solidFill>
                  <a:srgbClr val="DCE8F4"/>
                </a:solidFill>
                <a:latin typeface="DejaVu Sans Mono" pitchFamily="34" charset="0"/>
                <a:ea typeface="DejaVu Sans Mono" pitchFamily="34" charset="-122"/>
                <a:cs typeface="DejaVu Sans Mono" pitchFamily="34" charset="-120"/>
              </a:rPr>
              <a:t>if (used == capacity)</a:t>
            </a:r>
            <a:endParaRPr lang="en-US" sz="1830" dirty="0"/>
          </a:p>
          <a:p>
            <a:pPr algn="l" indent="0" marL="0">
              <a:lnSpc>
                <a:spcPct val="104000"/>
              </a:lnSpc>
              <a:buNone/>
            </a:pPr>
            <a:r>
              <a:rPr lang="en-US" sz="1830" dirty="0">
                <a:solidFill>
                  <a:srgbClr val="DCE8F4"/>
                </a:solidFill>
                <a:latin typeface="DejaVu Sans Mono" pitchFamily="34" charset="0"/>
                <a:ea typeface="DejaVu Sans Mono" pitchFamily="34" charset="-122"/>
                <a:cs typeface="DejaVu Sans Mono" pitchFamily="34" charset="-120"/>
              </a:rPr>
              <a:t>    return FULL;</a:t>
            </a:r>
            <a:endParaRPr lang="en-US" sz="1830" dirty="0"/>
          </a:p>
          <a:p>
            <a:pPr algn="l" indent="0" marL="0">
              <a:lnSpc>
                <a:spcPct val="104000"/>
              </a:lnSpc>
              <a:buNone/>
            </a:pPr>
            <a:endParaRPr lang="en-US" sz="1830" dirty="0"/>
          </a:p>
          <a:p>
            <a:pPr algn="l" indent="0" marL="0">
              <a:lnSpc>
                <a:spcPct val="104000"/>
              </a:lnSpc>
              <a:buNone/>
            </a:pPr>
            <a:r>
              <a:rPr lang="en-US" sz="1830" dirty="0">
                <a:solidFill>
                  <a:srgbClr val="DCE8F4"/>
                </a:solidFill>
                <a:latin typeface="DejaVu Sans Mono" pitchFamily="34" charset="0"/>
                <a:ea typeface="DejaVu Sans Mono" pitchFamily="34" charset="-122"/>
                <a:cs typeface="DejaVu Sans Mono" pitchFamily="34" charset="-120"/>
              </a:rPr>
              <a:t>data[used] = value;</a:t>
            </a:r>
            <a:endParaRPr lang="en-US" sz="1830" dirty="0"/>
          </a:p>
          <a:p>
            <a:pPr algn="l" indent="0" marL="0">
              <a:lnSpc>
                <a:spcPct val="104000"/>
              </a:lnSpc>
              <a:buNone/>
            </a:pPr>
            <a:r>
              <a:rPr lang="en-US" sz="1830" dirty="0">
                <a:solidFill>
                  <a:srgbClr val="DCE8F4"/>
                </a:solidFill>
                <a:latin typeface="DejaVu Sans Mono" pitchFamily="34" charset="0"/>
                <a:ea typeface="DejaVu Sans Mono" pitchFamily="34" charset="-122"/>
                <a:cs typeface="DejaVu Sans Mono" pitchFamily="34" charset="-120"/>
              </a:rPr>
              <a:t>used = used + 1;</a:t>
            </a:r>
            <a:endParaRPr lang="en-US" sz="1830" dirty="0"/>
          </a:p>
          <a:p>
            <a:pPr algn="l" indent="0" marL="0">
              <a:lnSpc>
                <a:spcPct val="104000"/>
              </a:lnSpc>
              <a:buNone/>
            </a:pPr>
            <a:r>
              <a:rPr lang="en-US" sz="1830" dirty="0">
                <a:solidFill>
                  <a:srgbClr val="DCE8F4"/>
                </a:solidFill>
                <a:latin typeface="DejaVu Sans Mono" pitchFamily="34" charset="0"/>
                <a:ea typeface="DejaVu Sans Mono" pitchFamily="34" charset="-122"/>
                <a:cs typeface="DejaVu Sans Mono" pitchFamily="34" charset="-120"/>
              </a:rPr>
              <a:t>return OK;</a:t>
            </a:r>
            <a:endParaRPr lang="en-US" sz="1830" dirty="0"/>
          </a:p>
        </p:txBody>
      </p:sp>
      <p:sp>
        <p:nvSpPr>
          <p:cNvPr id="10" name="Text 8"/>
          <p:cNvSpPr txBox="1"/>
          <p:nvPr/>
        </p:nvSpPr>
        <p:spPr>
          <a:xfrm>
            <a:off x="7946136" y="1883664"/>
            <a:ext cx="3696919" cy="237744"/>
          </a:xfrm>
          <a:prstGeom prst="rect">
            <a:avLst/>
          </a:prstGeom>
          <a:noFill/>
          <a:ln/>
        </p:spPr>
        <p:txBody>
          <a:bodyPr wrap="square" lIns="0" tIns="0" rIns="0" bIns="0" rtlCol="0" anchor="t"/>
          <a:lstStyle/>
          <a:p>
            <a:pPr algn="l" indent="0" marL="0">
              <a:lnSpc>
                <a:spcPct val="104000"/>
              </a:lnSpc>
              <a:buNone/>
            </a:pPr>
            <a:r>
              <a:rPr lang="en-US" sz="1330" b="1" dirty="0">
                <a:solidFill>
                  <a:srgbClr val="71D5DD"/>
                </a:solidFill>
                <a:latin typeface="Arial" pitchFamily="34" charset="0"/>
                <a:ea typeface="Arial" pitchFamily="34" charset="-122"/>
                <a:cs typeface="Arial" pitchFamily="34" charset="-120"/>
              </a:rPr>
              <a:t>PROOF OBLIGATIONS</a:t>
            </a:r>
            <a:endParaRPr lang="en-US" sz="1330" dirty="0"/>
          </a:p>
        </p:txBody>
      </p:sp>
      <p:sp>
        <p:nvSpPr>
          <p:cNvPr id="11" name="Shape 9"/>
          <p:cNvSpPr/>
          <p:nvPr/>
        </p:nvSpPr>
        <p:spPr>
          <a:xfrm>
            <a:off x="7946136" y="2386584"/>
            <a:ext cx="41148" cy="374904"/>
          </a:xfrm>
          <a:prstGeom prst="rect">
            <a:avLst/>
          </a:prstGeom>
          <a:solidFill>
            <a:srgbClr val="71D5DD"/>
          </a:solidFill>
          <a:ln w="8890">
            <a:solidFill>
              <a:srgbClr val="71D5DD"/>
            </a:solidFill>
            <a:prstDash val="solid"/>
          </a:ln>
        </p:spPr>
        <p:txBody>
          <a:bodyPr/>
          <a:p/>
        </p:txBody>
      </p:sp>
      <p:sp>
        <p:nvSpPr>
          <p:cNvPr id="12" name="Text 10"/>
          <p:cNvSpPr txBox="1"/>
          <p:nvPr/>
        </p:nvSpPr>
        <p:spPr>
          <a:xfrm>
            <a:off x="8110728" y="2350008"/>
            <a:ext cx="3532327" cy="617220"/>
          </a:xfrm>
          <a:prstGeom prst="rect">
            <a:avLst/>
          </a:prstGeom>
          <a:noFill/>
          <a:ln/>
        </p:spPr>
        <p:txBody>
          <a:bodyPr wrap="square" lIns="0" tIns="0" rIns="0" bIns="0" rtlCol="0" anchor="t"/>
          <a:lstStyle/>
          <a:p>
            <a:pPr algn="l" indent="0" marL="0">
              <a:lnSpc>
                <a:spcPct val="104000"/>
              </a:lnSpc>
              <a:buNone/>
            </a:pPr>
            <a:r>
              <a:rPr lang="en-US" sz="2010" dirty="0">
                <a:solidFill>
                  <a:srgbClr val="F4F7FB"/>
                </a:solidFill>
                <a:latin typeface="Arial" pitchFamily="34" charset="0"/>
                <a:ea typeface="Arial" pitchFamily="34" charset="-122"/>
                <a:cs typeface="Arial" pitchFamily="34" charset="-120"/>
              </a:rPr>
              <a:t>Pre: valid storage; 0 &lt;= used</a:t>
            </a:r>
            <a:endParaRPr lang="en-US" sz="2010" dirty="0"/>
          </a:p>
          <a:p>
            <a:pPr algn="l" indent="0" marL="0">
              <a:lnSpc>
                <a:spcPct val="104000"/>
              </a:lnSpc>
              <a:buNone/>
            </a:pPr>
            <a:r>
              <a:rPr lang="en-US" sz="2010" dirty="0">
                <a:solidFill>
                  <a:srgbClr val="F4F7FB"/>
                </a:solidFill>
                <a:latin typeface="Arial" pitchFamily="34" charset="0"/>
                <a:ea typeface="Arial" pitchFamily="34" charset="-122"/>
                <a:cs typeface="Arial" pitchFamily="34" charset="-120"/>
              </a:rPr>
              <a:t>&lt;= capacity.</a:t>
            </a:r>
            <a:endParaRPr lang="en-US" sz="2010" dirty="0"/>
          </a:p>
        </p:txBody>
      </p:sp>
      <p:sp>
        <p:nvSpPr>
          <p:cNvPr id="13" name="Shape 11"/>
          <p:cNvSpPr/>
          <p:nvPr/>
        </p:nvSpPr>
        <p:spPr>
          <a:xfrm>
            <a:off x="7946136" y="3054096"/>
            <a:ext cx="41148" cy="374904"/>
          </a:xfrm>
          <a:prstGeom prst="rect">
            <a:avLst/>
          </a:prstGeom>
          <a:solidFill>
            <a:srgbClr val="71D5DD"/>
          </a:solidFill>
          <a:ln w="8890">
            <a:solidFill>
              <a:srgbClr val="71D5DD"/>
            </a:solidFill>
            <a:prstDash val="solid"/>
          </a:ln>
        </p:spPr>
        <p:txBody>
          <a:bodyPr/>
          <a:p/>
        </p:txBody>
      </p:sp>
      <p:sp>
        <p:nvSpPr>
          <p:cNvPr id="14" name="Text 12"/>
          <p:cNvSpPr txBox="1"/>
          <p:nvPr/>
        </p:nvSpPr>
        <p:spPr>
          <a:xfrm>
            <a:off x="8110728" y="3017520"/>
            <a:ext cx="3532327" cy="617220"/>
          </a:xfrm>
          <a:prstGeom prst="rect">
            <a:avLst/>
          </a:prstGeom>
          <a:noFill/>
          <a:ln/>
        </p:spPr>
        <p:txBody>
          <a:bodyPr wrap="square" lIns="0" tIns="0" rIns="0" bIns="0" rtlCol="0" anchor="t"/>
          <a:lstStyle/>
          <a:p>
            <a:pPr algn="l" indent="0" marL="0">
              <a:lnSpc>
                <a:spcPct val="104000"/>
              </a:lnSpc>
              <a:buNone/>
            </a:pPr>
            <a:r>
              <a:rPr lang="en-US" sz="2010" dirty="0">
                <a:solidFill>
                  <a:srgbClr val="F4F7FB"/>
                </a:solidFill>
                <a:latin typeface="Arial" pitchFamily="34" charset="0"/>
                <a:ea typeface="Arial" pitchFamily="34" charset="-122"/>
                <a:cs typeface="Arial" pitchFamily="34" charset="-120"/>
              </a:rPr>
              <a:t>Guard: not full implies used &lt;</a:t>
            </a:r>
            <a:endParaRPr lang="en-US" sz="2010" dirty="0"/>
          </a:p>
          <a:p>
            <a:pPr algn="l" indent="0" marL="0">
              <a:lnSpc>
                <a:spcPct val="104000"/>
              </a:lnSpc>
              <a:buNone/>
            </a:pPr>
            <a:r>
              <a:rPr lang="en-US" sz="2010" dirty="0">
                <a:solidFill>
                  <a:srgbClr val="F4F7FB"/>
                </a:solidFill>
                <a:latin typeface="Arial" pitchFamily="34" charset="0"/>
                <a:ea typeface="Arial" pitchFamily="34" charset="-122"/>
                <a:cs typeface="Arial" pitchFamily="34" charset="-120"/>
              </a:rPr>
              <a:t>capacity.</a:t>
            </a:r>
            <a:endParaRPr lang="en-US" sz="2010" dirty="0"/>
          </a:p>
        </p:txBody>
      </p:sp>
      <p:sp>
        <p:nvSpPr>
          <p:cNvPr id="15" name="Shape 13"/>
          <p:cNvSpPr/>
          <p:nvPr/>
        </p:nvSpPr>
        <p:spPr>
          <a:xfrm>
            <a:off x="7946136" y="3721608"/>
            <a:ext cx="41148" cy="374904"/>
          </a:xfrm>
          <a:prstGeom prst="rect">
            <a:avLst/>
          </a:prstGeom>
          <a:solidFill>
            <a:srgbClr val="71D5DD"/>
          </a:solidFill>
          <a:ln w="8890">
            <a:solidFill>
              <a:srgbClr val="71D5DD"/>
            </a:solidFill>
            <a:prstDash val="solid"/>
          </a:ln>
        </p:spPr>
        <p:txBody>
          <a:bodyPr/>
          <a:p/>
        </p:txBody>
      </p:sp>
      <p:sp>
        <p:nvSpPr>
          <p:cNvPr id="16" name="Text 14"/>
          <p:cNvSpPr txBox="1"/>
          <p:nvPr/>
        </p:nvSpPr>
        <p:spPr>
          <a:xfrm>
            <a:off x="8110728" y="3685032"/>
            <a:ext cx="3532327" cy="617220"/>
          </a:xfrm>
          <a:prstGeom prst="rect">
            <a:avLst/>
          </a:prstGeom>
          <a:noFill/>
          <a:ln/>
        </p:spPr>
        <p:txBody>
          <a:bodyPr wrap="square" lIns="0" tIns="0" rIns="0" bIns="0" rtlCol="0" anchor="t"/>
          <a:lstStyle/>
          <a:p>
            <a:pPr algn="l" indent="0" marL="0">
              <a:lnSpc>
                <a:spcPct val="104000"/>
              </a:lnSpc>
              <a:buNone/>
            </a:pPr>
            <a:r>
              <a:rPr lang="en-US" sz="2010" dirty="0">
                <a:solidFill>
                  <a:srgbClr val="F4F7FB"/>
                </a:solidFill>
                <a:latin typeface="Arial" pitchFamily="34" charset="0"/>
                <a:ea typeface="Arial" pitchFamily="34" charset="-122"/>
                <a:cs typeface="Arial" pitchFamily="34" charset="-120"/>
              </a:rPr>
              <a:t>Post: used increases by one</a:t>
            </a:r>
            <a:endParaRPr lang="en-US" sz="2010" dirty="0"/>
          </a:p>
          <a:p>
            <a:pPr algn="l" indent="0" marL="0">
              <a:lnSpc>
                <a:spcPct val="104000"/>
              </a:lnSpc>
              <a:buNone/>
            </a:pPr>
            <a:r>
              <a:rPr lang="en-US" sz="2010" dirty="0">
                <a:solidFill>
                  <a:srgbClr val="F4F7FB"/>
                </a:solidFill>
                <a:latin typeface="Arial" pitchFamily="34" charset="0"/>
                <a:ea typeface="Arial" pitchFamily="34" charset="-122"/>
                <a:cs typeface="Arial" pitchFamily="34" charset="-120"/>
              </a:rPr>
              <a:t>and stays in range.</a:t>
            </a:r>
            <a:endParaRPr lang="en-US" sz="2010" dirty="0"/>
          </a:p>
        </p:txBody>
      </p:sp>
      <p:sp>
        <p:nvSpPr>
          <p:cNvPr id="17" name="Shape 15"/>
          <p:cNvSpPr/>
          <p:nvPr/>
        </p:nvSpPr>
        <p:spPr>
          <a:xfrm>
            <a:off x="7946136" y="4389120"/>
            <a:ext cx="41148" cy="374904"/>
          </a:xfrm>
          <a:prstGeom prst="rect">
            <a:avLst/>
          </a:prstGeom>
          <a:solidFill>
            <a:srgbClr val="71D5DD"/>
          </a:solidFill>
          <a:ln w="8890">
            <a:solidFill>
              <a:srgbClr val="71D5DD"/>
            </a:solidFill>
            <a:prstDash val="solid"/>
          </a:ln>
        </p:spPr>
        <p:txBody>
          <a:bodyPr/>
          <a:p/>
        </p:txBody>
      </p:sp>
      <p:sp>
        <p:nvSpPr>
          <p:cNvPr id="18" name="Text 16"/>
          <p:cNvSpPr txBox="1"/>
          <p:nvPr/>
        </p:nvSpPr>
        <p:spPr>
          <a:xfrm>
            <a:off x="8110728" y="4352544"/>
            <a:ext cx="3532327" cy="617220"/>
          </a:xfrm>
          <a:prstGeom prst="rect">
            <a:avLst/>
          </a:prstGeom>
          <a:noFill/>
          <a:ln/>
        </p:spPr>
        <p:txBody>
          <a:bodyPr wrap="square" lIns="0" tIns="0" rIns="0" bIns="0" rtlCol="0" anchor="t"/>
          <a:lstStyle/>
          <a:p>
            <a:pPr algn="l" indent="0" marL="0">
              <a:lnSpc>
                <a:spcPct val="104000"/>
              </a:lnSpc>
              <a:buNone/>
            </a:pPr>
            <a:r>
              <a:rPr lang="en-US" sz="2010" dirty="0">
                <a:solidFill>
                  <a:srgbClr val="F4F7FB"/>
                </a:solidFill>
                <a:latin typeface="Arial" pitchFamily="34" charset="0"/>
                <a:ea typeface="Arial" pitchFamily="34" charset="-122"/>
                <a:cs typeface="Arial" pitchFamily="34" charset="-120"/>
              </a:rPr>
              <a:t>Failure: buffer state is</a:t>
            </a:r>
            <a:endParaRPr lang="en-US" sz="2010" dirty="0"/>
          </a:p>
          <a:p>
            <a:pPr algn="l" indent="0" marL="0">
              <a:lnSpc>
                <a:spcPct val="104000"/>
              </a:lnSpc>
              <a:buNone/>
            </a:pPr>
            <a:r>
              <a:rPr lang="en-US" sz="2010" dirty="0">
                <a:solidFill>
                  <a:srgbClr val="F4F7FB"/>
                </a:solidFill>
                <a:latin typeface="Arial" pitchFamily="34" charset="0"/>
                <a:ea typeface="Arial" pitchFamily="34" charset="-122"/>
                <a:cs typeface="Arial" pitchFamily="34" charset="-120"/>
              </a:rPr>
              <a:t>unchanged.</a:t>
            </a:r>
            <a:endParaRPr lang="en-US" sz="2010" dirty="0"/>
          </a:p>
        </p:txBody>
      </p:sp>
      <p:sp>
        <p:nvSpPr>
          <p:cNvPr id="19" name="Text 17"/>
          <p:cNvSpPr txBox="1"/>
          <p:nvPr/>
        </p:nvSpPr>
        <p:spPr>
          <a:xfrm>
            <a:off x="548640" y="5193792"/>
            <a:ext cx="11094720" cy="274320"/>
          </a:xfrm>
          <a:prstGeom prst="rect">
            <a:avLst/>
          </a:prstGeom>
          <a:noFill/>
          <a:ln/>
        </p:spPr>
        <p:txBody>
          <a:bodyPr wrap="square" lIns="0" tIns="0" rIns="0" bIns="0" rtlCol="0" anchor="t"/>
          <a:lstStyle/>
          <a:p>
            <a:pPr algn="l" indent="0" marL="0">
              <a:lnSpc>
                <a:spcPct val="104000"/>
              </a:lnSpc>
              <a:buNone/>
            </a:pPr>
            <a:r>
              <a:rPr lang="en-US" sz="1140" dirty="0">
                <a:solidFill>
                  <a:srgbClr val="B3C3D6"/>
                </a:solidFill>
                <a:latin typeface="Arial" pitchFamily="34" charset="0"/>
                <a:ea typeface="Arial" pitchFamily="34" charset="-122"/>
                <a:cs typeface="Arial" pitchFamily="34" charset="-120"/>
              </a:rPr>
              <a:t>Exclusive access; valid non-overlapping metadata. Byte append only—not a C-string operation.</a:t>
            </a:r>
            <a:endParaRPr lang="en-US" sz="1140" dirty="0"/>
          </a:p>
        </p:txBody>
      </p:sp>
      <p:sp>
        <p:nvSpPr>
          <p:cNvPr id="24" name="Text 22"/>
          <p:cNvSpPr txBox="1"/>
          <p:nvPr/>
        </p:nvSpPr>
        <p:spPr>
          <a:xfrm>
            <a:off x="548640" y="6601968"/>
            <a:ext cx="10241280" cy="128016"/>
          </a:xfrm>
          <a:prstGeom prst="rect">
            <a:avLst/>
          </a:prstGeom>
          <a:noFill/>
          <a:ln/>
        </p:spPr>
        <p:txBody>
          <a:bodyPr wrap="square" lIns="0" tIns="0" rIns="0" bIns="0" rtlCol="0" anchor="t"/>
          <a:lstStyle/>
          <a:p>
            <a:pPr algn="l" indent="0" marL="0">
              <a:lnSpc>
                <a:spcPct val="104000"/>
              </a:lnSpc>
              <a:buNone/>
            </a:pPr>
            <a:r>
              <a:rPr lang="en-US" sz="830" dirty="0">
                <a:solidFill>
                  <a:srgbClr val="B3C3D6"/>
                </a:solidFill>
                <a:latin typeface="Arial" pitchFamily="34" charset="0"/>
                <a:ea typeface="Arial" pitchFamily="34" charset="-122"/>
                <a:cs typeface="Arial" pitchFamily="34" charset="-120"/>
              </a:rPr>
              <a:t>Source: original 14 • Graduate extension</a:t>
            </a:r>
            <a:endParaRPr lang="en-US" sz="830" dirty="0"/>
          </a:p>
        </p:txBody>
      </p:sp>
      <p:sp>
        <p:nvSpPr>
          <p:cNvPr id="25" name="Text 23"/>
          <p:cNvSpPr txBox="1"/>
          <p:nvPr/>
        </p:nvSpPr>
        <p:spPr>
          <a:xfrm>
            <a:off x="10917936" y="6565392"/>
            <a:ext cx="722376" cy="219456"/>
          </a:xfrm>
          <a:prstGeom prst="rect">
            <a:avLst/>
          </a:prstGeom>
          <a:noFill/>
          <a:ln/>
        </p:spPr>
        <p:txBody>
          <a:bodyPr wrap="square" lIns="0" tIns="0" rIns="0" bIns="0" rtlCol="0" anchor="t"/>
          <a:lstStyle/>
          <a:p>
            <a:pPr algn="r" indent="0" marL="0">
              <a:lnSpc>
                <a:spcPct val="104000"/>
              </a:lnSpc>
              <a:buNone/>
            </a:pPr>
            <a:r>
              <a:rPr lang="en-US" sz="1050" dirty="0">
                <a:solidFill>
                  <a:srgbClr val="B3C3D6"/>
                </a:solidFill>
                <a:latin typeface="Arial" pitchFamily="34" charset="0"/>
                <a:ea typeface="Arial" pitchFamily="34" charset="-122"/>
                <a:cs typeface="Arial" pitchFamily="34" charset="-120"/>
              </a:rPr>
              <a:t>45 / 64</a:t>
            </a:r>
            <a:endParaRPr lang="en-US" sz="1050" dirty="0"/>
          </a:p>
        </p:txBody>
      </p:sp>
      <p:sp>
        <p:nvSpPr>
          <p:cNvPr id="26" name="Shape 24"/>
          <p:cNvSpPr/>
          <p:nvPr/>
        </p:nvSpPr>
        <p:spPr>
          <a:xfrm>
            <a:off x="0" y="6834226"/>
            <a:ext cx="12192000" cy="23774"/>
          </a:xfrm>
          <a:prstGeom prst="rect">
            <a:avLst/>
          </a:prstGeom>
          <a:solidFill>
            <a:srgbClr val="2B415A"/>
          </a:solidFill>
          <a:ln w="8890">
            <a:solidFill>
              <a:srgbClr val="2B415A"/>
            </a:solidFill>
            <a:prstDash val="solid"/>
          </a:ln>
        </p:spPr>
        <p:txBody>
          <a:bodyPr/>
          <a:p/>
        </p:txBody>
      </p:sp>
      <p:sp>
        <p:nvSpPr>
          <p:cNvPr id="27" name="Shape 25"/>
          <p:cNvSpPr/>
          <p:nvPr/>
        </p:nvSpPr>
        <p:spPr>
          <a:xfrm>
            <a:off x="0" y="6834226"/>
            <a:ext cx="8572500" cy="23774"/>
          </a:xfrm>
          <a:prstGeom prst="rect">
            <a:avLst/>
          </a:prstGeom>
          <a:solidFill>
            <a:srgbClr val="71D5DD"/>
          </a:solidFill>
          <a:ln w="8890">
            <a:solidFill>
              <a:srgbClr val="71D5DD"/>
            </a:solidFill>
            <a:prstDash val="solid"/>
          </a:ln>
        </p:spPr>
        <p:txBody>
          <a:body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txBox="1"/>
          <p:nvPr/>
        </p:nvSpPr>
        <p:spPr>
          <a:xfrm>
            <a:off x="548640" y="219456"/>
            <a:ext cx="9875520" cy="192024"/>
          </a:xfrm>
          <a:prstGeom prst="rect">
            <a:avLst/>
          </a:prstGeom>
          <a:noFill/>
          <a:ln/>
        </p:spPr>
        <p:txBody>
          <a:bodyPr wrap="square" lIns="0" tIns="0" rIns="0" bIns="0" rtlCol="0" anchor="t"/>
          <a:lstStyle/>
          <a:p>
            <a:pPr algn="l" indent="0" marL="0">
              <a:lnSpc>
                <a:spcPct val="104000"/>
              </a:lnSpc>
              <a:buNone/>
            </a:pPr>
            <a:r>
              <a:rPr lang="en-US" sz="970" b="1" spc="135" kern="0" dirty="0">
                <a:solidFill>
                  <a:srgbClr val="B3C3D6"/>
                </a:solidFill>
                <a:latin typeface="Arial" pitchFamily="34" charset="0"/>
                <a:ea typeface="Arial" pitchFamily="34" charset="-122"/>
                <a:cs typeface="Arial" pitchFamily="34" charset="-120"/>
              </a:rPr>
              <a:t>SYSTEMS PROGRAMMING AND MACHINE ORGANIZATION</a:t>
            </a:r>
            <a:endParaRPr lang="en-US" sz="970" dirty="0"/>
          </a:p>
        </p:txBody>
      </p:sp>
      <p:sp>
        <p:nvSpPr>
          <p:cNvPr id="3" name="Text 1"/>
          <p:cNvSpPr txBox="1"/>
          <p:nvPr/>
        </p:nvSpPr>
        <p:spPr>
          <a:xfrm>
            <a:off x="9601200" y="219456"/>
            <a:ext cx="2039112" cy="192024"/>
          </a:xfrm>
          <a:prstGeom prst="rect">
            <a:avLst/>
          </a:prstGeom>
          <a:noFill/>
          <a:ln/>
        </p:spPr>
        <p:txBody>
          <a:bodyPr wrap="square" lIns="0" tIns="0" rIns="0" bIns="0" rtlCol="0" anchor="t"/>
          <a:lstStyle/>
          <a:p>
            <a:pPr algn="r" indent="0" marL="0">
              <a:lnSpc>
                <a:spcPct val="104000"/>
              </a:lnSpc>
              <a:buNone/>
            </a:pPr>
            <a:r>
              <a:rPr lang="en-US" sz="970" b="1" dirty="0">
                <a:solidFill>
                  <a:srgbClr val="B3C3D6"/>
                </a:solidFill>
                <a:latin typeface="Arial" pitchFamily="34" charset="0"/>
                <a:ea typeface="Arial" pitchFamily="34" charset="-122"/>
                <a:cs typeface="Arial" pitchFamily="34" charset="-120"/>
              </a:rPr>
              <a:t>CHARLES DORNER</a:t>
            </a:r>
            <a:endParaRPr lang="en-US" sz="970" dirty="0"/>
          </a:p>
        </p:txBody>
      </p:sp>
      <p:sp>
        <p:nvSpPr>
          <p:cNvPr id="4" name="Text 2"/>
          <p:cNvSpPr txBox="1"/>
          <p:nvPr/>
        </p:nvSpPr>
        <p:spPr>
          <a:xfrm>
            <a:off x="548640" y="566928"/>
            <a:ext cx="11109960" cy="237744"/>
          </a:xfrm>
          <a:prstGeom prst="rect">
            <a:avLst/>
          </a:prstGeom>
          <a:noFill/>
          <a:ln/>
        </p:spPr>
        <p:txBody>
          <a:bodyPr wrap="square" lIns="0" tIns="0" rIns="0" bIns="0" rtlCol="0" anchor="t"/>
          <a:lstStyle/>
          <a:p>
            <a:pPr algn="l" indent="0" marL="0">
              <a:lnSpc>
                <a:spcPct val="104000"/>
              </a:lnSpc>
              <a:buNone/>
            </a:pPr>
            <a:r>
              <a:rPr lang="en-US" sz="1150" b="1" dirty="0">
                <a:solidFill>
                  <a:srgbClr val="71D5DD"/>
                </a:solidFill>
                <a:latin typeface="Arial" pitchFamily="34" charset="0"/>
                <a:ea typeface="Arial" pitchFamily="34" charset="-122"/>
                <a:cs typeface="Arial" pitchFamily="34" charset="-120"/>
              </a:rPr>
              <a:t>1.3.5 · CONTROLLED FAILURE</a:t>
            </a:r>
            <a:endParaRPr lang="en-US" sz="1150" dirty="0"/>
          </a:p>
        </p:txBody>
      </p:sp>
      <p:sp>
        <p:nvSpPr>
          <p:cNvPr id="5" name="Text 3"/>
          <p:cNvSpPr txBox="1"/>
          <p:nvPr/>
        </p:nvSpPr>
        <p:spPr>
          <a:xfrm>
            <a:off x="548640" y="941832"/>
            <a:ext cx="11091672" cy="676656"/>
          </a:xfrm>
          <a:prstGeom prst="rect">
            <a:avLst/>
          </a:prstGeom>
          <a:noFill/>
          <a:ln/>
        </p:spPr>
        <p:txBody>
          <a:bodyPr wrap="square" lIns="0" tIns="0" rIns="0" bIns="0" rtlCol="0" anchor="t"/>
          <a:lstStyle/>
          <a:p>
            <a:pPr algn="l" indent="0" marL="0">
              <a:lnSpc>
                <a:spcPct val="104000"/>
              </a:lnSpc>
              <a:buNone/>
            </a:pPr>
            <a:r>
              <a:rPr lang="en-US" sz="3150" b="1" dirty="0">
                <a:solidFill>
                  <a:srgbClr val="F4F7FB"/>
                </a:solidFill>
                <a:latin typeface="Arial" pitchFamily="34" charset="0"/>
                <a:ea typeface="Arial" pitchFamily="34" charset="-122"/>
                <a:cs typeface="Arial" pitchFamily="34" charset="-120"/>
              </a:rPr>
              <a:t>Robustness defines the state after failure</a:t>
            </a:r>
            <a:endParaRPr lang="en-US" sz="3150" dirty="0"/>
          </a:p>
        </p:txBody>
      </p:sp>
      <p:sp>
        <p:nvSpPr>
          <p:cNvPr id="6" name="Shape 4"/>
          <p:cNvSpPr/>
          <p:nvPr/>
        </p:nvSpPr>
        <p:spPr>
          <a:xfrm>
            <a:off x="548640" y="1764792"/>
            <a:ext cx="3564128" cy="3310128"/>
          </a:xfrm>
          <a:prstGeom prst="rect">
            <a:avLst/>
          </a:prstGeom>
          <a:solidFill>
            <a:srgbClr val="142238"/>
          </a:solidFill>
          <a:ln w="8890">
            <a:solidFill>
              <a:srgbClr val="2B415A"/>
            </a:solidFill>
            <a:prstDash val="solid"/>
          </a:ln>
        </p:spPr>
        <p:txBody>
          <a:bodyPr/>
          <a:p/>
        </p:txBody>
      </p:sp>
      <p:sp>
        <p:nvSpPr>
          <p:cNvPr id="7" name="Shape 5"/>
          <p:cNvSpPr/>
          <p:nvPr/>
        </p:nvSpPr>
        <p:spPr>
          <a:xfrm>
            <a:off x="548640" y="1764792"/>
            <a:ext cx="41148" cy="3310128"/>
          </a:xfrm>
          <a:prstGeom prst="rect">
            <a:avLst/>
          </a:prstGeom>
          <a:solidFill>
            <a:srgbClr val="71D5DD"/>
          </a:solidFill>
          <a:ln w="8890">
            <a:solidFill>
              <a:srgbClr val="71D5DD"/>
            </a:solidFill>
            <a:prstDash val="solid"/>
          </a:ln>
        </p:spPr>
        <p:txBody>
          <a:bodyPr/>
          <a:p/>
        </p:txBody>
      </p:sp>
      <p:sp>
        <p:nvSpPr>
          <p:cNvPr id="8" name="Text 6"/>
          <p:cNvSpPr txBox="1"/>
          <p:nvPr/>
        </p:nvSpPr>
        <p:spPr>
          <a:xfrm>
            <a:off x="758952" y="1975104"/>
            <a:ext cx="3134360" cy="557784"/>
          </a:xfrm>
          <a:prstGeom prst="rect">
            <a:avLst/>
          </a:prstGeom>
          <a:noFill/>
          <a:ln/>
        </p:spPr>
        <p:txBody>
          <a:bodyPr wrap="square" lIns="0" tIns="0" rIns="0" bIns="0" rtlCol="0" anchor="t"/>
          <a:lstStyle/>
          <a:p>
            <a:pPr algn="l" indent="0" marL="0">
              <a:lnSpc>
                <a:spcPct val="104000"/>
              </a:lnSpc>
              <a:buNone/>
            </a:pPr>
            <a:r>
              <a:rPr lang="en-US" sz="1750" b="1" dirty="0">
                <a:solidFill>
                  <a:srgbClr val="71D5DD"/>
                </a:solidFill>
                <a:latin typeface="Arial" pitchFamily="34" charset="0"/>
                <a:ea typeface="Arial" pitchFamily="34" charset="-122"/>
                <a:cs typeface="Arial" pitchFamily="34" charset="-120"/>
              </a:rPr>
              <a:t>DETECT</a:t>
            </a:r>
            <a:endParaRPr lang="en-US" sz="1750" dirty="0"/>
          </a:p>
        </p:txBody>
      </p:sp>
      <p:sp>
        <p:nvSpPr>
          <p:cNvPr id="9" name="Text 7"/>
          <p:cNvSpPr txBox="1"/>
          <p:nvPr/>
        </p:nvSpPr>
        <p:spPr>
          <a:xfrm>
            <a:off x="758952" y="2642616"/>
            <a:ext cx="3134360" cy="2267712"/>
          </a:xfrm>
          <a:prstGeom prst="rect">
            <a:avLst/>
          </a:prstGeom>
          <a:noFill/>
          <a:ln/>
        </p:spPr>
        <p:txBody>
          <a:bodyPr wrap="square" lIns="0" tIns="0" rIns="0" bIns="0" rtlCol="0" anchor="t"/>
          <a:lstStyle/>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Invalid input.</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Unavailable resources.</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Interrupted or</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incomplete work.</a:t>
            </a:r>
            <a:endParaRPr lang="en-US" sz="2200" dirty="0"/>
          </a:p>
        </p:txBody>
      </p:sp>
      <p:sp>
        <p:nvSpPr>
          <p:cNvPr id="10" name="Shape 8"/>
          <p:cNvSpPr/>
          <p:nvPr/>
        </p:nvSpPr>
        <p:spPr>
          <a:xfrm>
            <a:off x="4313936" y="1764792"/>
            <a:ext cx="3564128" cy="3310128"/>
          </a:xfrm>
          <a:prstGeom prst="rect">
            <a:avLst/>
          </a:prstGeom>
          <a:solidFill>
            <a:srgbClr val="142238"/>
          </a:solidFill>
          <a:ln w="8890">
            <a:solidFill>
              <a:srgbClr val="2B415A"/>
            </a:solidFill>
            <a:prstDash val="solid"/>
          </a:ln>
        </p:spPr>
        <p:txBody>
          <a:bodyPr/>
          <a:p/>
        </p:txBody>
      </p:sp>
      <p:sp>
        <p:nvSpPr>
          <p:cNvPr id="11" name="Shape 9"/>
          <p:cNvSpPr/>
          <p:nvPr/>
        </p:nvSpPr>
        <p:spPr>
          <a:xfrm>
            <a:off x="4313936" y="1764792"/>
            <a:ext cx="41148" cy="3310128"/>
          </a:xfrm>
          <a:prstGeom prst="rect">
            <a:avLst/>
          </a:prstGeom>
          <a:solidFill>
            <a:srgbClr val="71D5DD"/>
          </a:solidFill>
          <a:ln w="8890">
            <a:solidFill>
              <a:srgbClr val="71D5DD"/>
            </a:solidFill>
            <a:prstDash val="solid"/>
          </a:ln>
        </p:spPr>
        <p:txBody>
          <a:bodyPr/>
          <a:p/>
        </p:txBody>
      </p:sp>
      <p:sp>
        <p:nvSpPr>
          <p:cNvPr id="12" name="Text 10"/>
          <p:cNvSpPr txBox="1"/>
          <p:nvPr/>
        </p:nvSpPr>
        <p:spPr>
          <a:xfrm>
            <a:off x="4524248" y="1975104"/>
            <a:ext cx="3134360" cy="557784"/>
          </a:xfrm>
          <a:prstGeom prst="rect">
            <a:avLst/>
          </a:prstGeom>
          <a:noFill/>
          <a:ln/>
        </p:spPr>
        <p:txBody>
          <a:bodyPr wrap="square" lIns="0" tIns="0" rIns="0" bIns="0" rtlCol="0" anchor="t"/>
          <a:lstStyle/>
          <a:p>
            <a:pPr algn="l" indent="0" marL="0">
              <a:lnSpc>
                <a:spcPct val="104000"/>
              </a:lnSpc>
              <a:buNone/>
            </a:pPr>
            <a:r>
              <a:rPr lang="en-US" sz="1750" b="1" dirty="0">
                <a:solidFill>
                  <a:srgbClr val="71D5DD"/>
                </a:solidFill>
                <a:latin typeface="Arial" pitchFamily="34" charset="0"/>
                <a:ea typeface="Arial" pitchFamily="34" charset="-122"/>
                <a:cs typeface="Arial" pitchFamily="34" charset="-120"/>
              </a:rPr>
              <a:t>CONTAIN</a:t>
            </a:r>
            <a:endParaRPr lang="en-US" sz="1750" dirty="0"/>
          </a:p>
        </p:txBody>
      </p:sp>
      <p:sp>
        <p:nvSpPr>
          <p:cNvPr id="13" name="Text 11"/>
          <p:cNvSpPr txBox="1"/>
          <p:nvPr/>
        </p:nvSpPr>
        <p:spPr>
          <a:xfrm>
            <a:off x="4524248" y="2642616"/>
            <a:ext cx="3134360" cy="2267712"/>
          </a:xfrm>
          <a:prstGeom prst="rect">
            <a:avLst/>
          </a:prstGeom>
          <a:noFill/>
          <a:ln/>
        </p:spPr>
        <p:txBody>
          <a:bodyPr wrap="square" lIns="0" tIns="0" rIns="0" bIns="0" rtlCol="0" anchor="t"/>
          <a:lstStyle/>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Preserve stated</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invariants.</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Retain clear ownership.</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Report partial effects</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honestly.</a:t>
            </a:r>
            <a:endParaRPr lang="en-US" sz="2200" dirty="0"/>
          </a:p>
        </p:txBody>
      </p:sp>
      <p:sp>
        <p:nvSpPr>
          <p:cNvPr id="14" name="Shape 12"/>
          <p:cNvSpPr/>
          <p:nvPr/>
        </p:nvSpPr>
        <p:spPr>
          <a:xfrm>
            <a:off x="8079232" y="1764792"/>
            <a:ext cx="3564128" cy="3310128"/>
          </a:xfrm>
          <a:prstGeom prst="rect">
            <a:avLst/>
          </a:prstGeom>
          <a:solidFill>
            <a:srgbClr val="142238"/>
          </a:solidFill>
          <a:ln w="8890">
            <a:solidFill>
              <a:srgbClr val="2B415A"/>
            </a:solidFill>
            <a:prstDash val="solid"/>
          </a:ln>
        </p:spPr>
        <p:txBody>
          <a:bodyPr/>
          <a:p/>
        </p:txBody>
      </p:sp>
      <p:sp>
        <p:nvSpPr>
          <p:cNvPr id="15" name="Shape 13"/>
          <p:cNvSpPr/>
          <p:nvPr/>
        </p:nvSpPr>
        <p:spPr>
          <a:xfrm>
            <a:off x="8079232" y="1764792"/>
            <a:ext cx="41148" cy="3310128"/>
          </a:xfrm>
          <a:prstGeom prst="rect">
            <a:avLst/>
          </a:prstGeom>
          <a:solidFill>
            <a:srgbClr val="71D5DD"/>
          </a:solidFill>
          <a:ln w="8890">
            <a:solidFill>
              <a:srgbClr val="71D5DD"/>
            </a:solidFill>
            <a:prstDash val="solid"/>
          </a:ln>
        </p:spPr>
        <p:txBody>
          <a:bodyPr/>
          <a:p/>
        </p:txBody>
      </p:sp>
      <p:sp>
        <p:nvSpPr>
          <p:cNvPr id="16" name="Text 14"/>
          <p:cNvSpPr txBox="1"/>
          <p:nvPr/>
        </p:nvSpPr>
        <p:spPr>
          <a:xfrm>
            <a:off x="8289544" y="1975104"/>
            <a:ext cx="3134360" cy="557784"/>
          </a:xfrm>
          <a:prstGeom prst="rect">
            <a:avLst/>
          </a:prstGeom>
          <a:noFill/>
          <a:ln/>
        </p:spPr>
        <p:txBody>
          <a:bodyPr wrap="square" lIns="0" tIns="0" rIns="0" bIns="0" rtlCol="0" anchor="t"/>
          <a:lstStyle/>
          <a:p>
            <a:pPr algn="l" indent="0" marL="0">
              <a:lnSpc>
                <a:spcPct val="104000"/>
              </a:lnSpc>
              <a:buNone/>
            </a:pPr>
            <a:r>
              <a:rPr lang="en-US" sz="1750" b="1" dirty="0">
                <a:solidFill>
                  <a:srgbClr val="71D5DD"/>
                </a:solidFill>
                <a:latin typeface="Arial" pitchFamily="34" charset="0"/>
                <a:ea typeface="Arial" pitchFamily="34" charset="-122"/>
                <a:cs typeface="Arial" pitchFamily="34" charset="-120"/>
              </a:rPr>
              <a:t>RECOVER</a:t>
            </a:r>
            <a:endParaRPr lang="en-US" sz="1750" dirty="0"/>
          </a:p>
        </p:txBody>
      </p:sp>
      <p:sp>
        <p:nvSpPr>
          <p:cNvPr id="17" name="Text 15"/>
          <p:cNvSpPr txBox="1"/>
          <p:nvPr/>
        </p:nvSpPr>
        <p:spPr>
          <a:xfrm>
            <a:off x="8289544" y="2642616"/>
            <a:ext cx="3134360" cy="2267712"/>
          </a:xfrm>
          <a:prstGeom prst="rect">
            <a:avLst/>
          </a:prstGeom>
          <a:noFill/>
          <a:ln/>
        </p:spPr>
        <p:txBody>
          <a:bodyPr wrap="square" lIns="0" tIns="0" rIns="0" bIns="0" rtlCol="0" anchor="t"/>
          <a:lstStyle/>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Define the remaining</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state.</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Specify safe retry</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behavior.</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Avoid repeating</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completed effects.</a:t>
            </a:r>
            <a:endParaRPr lang="en-US" sz="2200" dirty="0"/>
          </a:p>
        </p:txBody>
      </p:sp>
      <p:sp>
        <p:nvSpPr>
          <p:cNvPr id="18" name="Text 16"/>
          <p:cNvSpPr txBox="1"/>
          <p:nvPr/>
        </p:nvSpPr>
        <p:spPr>
          <a:xfrm>
            <a:off x="548640" y="5193792"/>
            <a:ext cx="11094720" cy="274320"/>
          </a:xfrm>
          <a:prstGeom prst="rect">
            <a:avLst/>
          </a:prstGeom>
          <a:noFill/>
          <a:ln/>
        </p:spPr>
        <p:txBody>
          <a:bodyPr wrap="square" lIns="0" tIns="0" rIns="0" bIns="0" rtlCol="0" anchor="t"/>
          <a:lstStyle/>
          <a:p>
            <a:pPr algn="l" indent="0" marL="0">
              <a:lnSpc>
                <a:spcPct val="104000"/>
              </a:lnSpc>
              <a:buNone/>
            </a:pPr>
            <a:r>
              <a:rPr lang="en-US" sz="1140" dirty="0">
                <a:solidFill>
                  <a:srgbClr val="B3C3D6"/>
                </a:solidFill>
                <a:latin typeface="Arial" pitchFamily="34" charset="0"/>
                <a:ea typeface="Arial" pitchFamily="34" charset="-122"/>
                <a:cs typeface="Arial" pitchFamily="34" charset="-120"/>
              </a:rPr>
              <a:t>An error result is incomplete unless the caller can reason about what remains true.</a:t>
            </a:r>
            <a:endParaRPr lang="en-US" sz="1140" dirty="0"/>
          </a:p>
        </p:txBody>
      </p:sp>
      <p:sp>
        <p:nvSpPr>
          <p:cNvPr id="23" name="Text 21"/>
          <p:cNvSpPr txBox="1"/>
          <p:nvPr/>
        </p:nvSpPr>
        <p:spPr>
          <a:xfrm>
            <a:off x="548640" y="6601968"/>
            <a:ext cx="10241280" cy="128016"/>
          </a:xfrm>
          <a:prstGeom prst="rect">
            <a:avLst/>
          </a:prstGeom>
          <a:noFill/>
          <a:ln/>
        </p:spPr>
        <p:txBody>
          <a:bodyPr wrap="square" lIns="0" tIns="0" rIns="0" bIns="0" rtlCol="0" anchor="t"/>
          <a:lstStyle/>
          <a:p>
            <a:pPr algn="l" indent="0" marL="0">
              <a:lnSpc>
                <a:spcPct val="104000"/>
              </a:lnSpc>
              <a:buNone/>
            </a:pPr>
            <a:r>
              <a:rPr lang="en-US" sz="830" dirty="0">
                <a:solidFill>
                  <a:srgbClr val="B3C3D6"/>
                </a:solidFill>
                <a:latin typeface="Arial" pitchFamily="34" charset="0"/>
                <a:ea typeface="Arial" pitchFamily="34" charset="-122"/>
                <a:cs typeface="Arial" pitchFamily="34" charset="-120"/>
              </a:rPr>
              <a:t>Source: original 15</a:t>
            </a:r>
            <a:endParaRPr lang="en-US" sz="830" dirty="0"/>
          </a:p>
        </p:txBody>
      </p:sp>
      <p:sp>
        <p:nvSpPr>
          <p:cNvPr id="24" name="Text 22"/>
          <p:cNvSpPr txBox="1"/>
          <p:nvPr/>
        </p:nvSpPr>
        <p:spPr>
          <a:xfrm>
            <a:off x="10917936" y="6565392"/>
            <a:ext cx="722376" cy="219456"/>
          </a:xfrm>
          <a:prstGeom prst="rect">
            <a:avLst/>
          </a:prstGeom>
          <a:noFill/>
          <a:ln/>
        </p:spPr>
        <p:txBody>
          <a:bodyPr wrap="square" lIns="0" tIns="0" rIns="0" bIns="0" rtlCol="0" anchor="t"/>
          <a:lstStyle/>
          <a:p>
            <a:pPr algn="r" indent="0" marL="0">
              <a:lnSpc>
                <a:spcPct val="104000"/>
              </a:lnSpc>
              <a:buNone/>
            </a:pPr>
            <a:r>
              <a:rPr lang="en-US" sz="1050" dirty="0">
                <a:solidFill>
                  <a:srgbClr val="B3C3D6"/>
                </a:solidFill>
                <a:latin typeface="Arial" pitchFamily="34" charset="0"/>
                <a:ea typeface="Arial" pitchFamily="34" charset="-122"/>
                <a:cs typeface="Arial" pitchFamily="34" charset="-120"/>
              </a:rPr>
              <a:t>46 / 64</a:t>
            </a:r>
            <a:endParaRPr lang="en-US" sz="1050" dirty="0"/>
          </a:p>
        </p:txBody>
      </p:sp>
      <p:sp>
        <p:nvSpPr>
          <p:cNvPr id="25" name="Shape 23"/>
          <p:cNvSpPr/>
          <p:nvPr/>
        </p:nvSpPr>
        <p:spPr>
          <a:xfrm>
            <a:off x="0" y="6834226"/>
            <a:ext cx="12192000" cy="23774"/>
          </a:xfrm>
          <a:prstGeom prst="rect">
            <a:avLst/>
          </a:prstGeom>
          <a:solidFill>
            <a:srgbClr val="2B415A"/>
          </a:solidFill>
          <a:ln w="8890">
            <a:solidFill>
              <a:srgbClr val="2B415A"/>
            </a:solidFill>
            <a:prstDash val="solid"/>
          </a:ln>
        </p:spPr>
        <p:txBody>
          <a:bodyPr/>
          <a:p/>
        </p:txBody>
      </p:sp>
      <p:sp>
        <p:nvSpPr>
          <p:cNvPr id="26" name="Shape 24"/>
          <p:cNvSpPr/>
          <p:nvPr/>
        </p:nvSpPr>
        <p:spPr>
          <a:xfrm>
            <a:off x="0" y="6834226"/>
            <a:ext cx="8763000" cy="23774"/>
          </a:xfrm>
          <a:prstGeom prst="rect">
            <a:avLst/>
          </a:prstGeom>
          <a:solidFill>
            <a:srgbClr val="71D5DD"/>
          </a:solidFill>
          <a:ln w="8890">
            <a:solidFill>
              <a:srgbClr val="71D5DD"/>
            </a:solidFill>
            <a:prstDash val="solid"/>
          </a:ln>
        </p:spPr>
        <p:txBody>
          <a:body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txBox="1"/>
          <p:nvPr/>
        </p:nvSpPr>
        <p:spPr>
          <a:xfrm>
            <a:off x="548640" y="219456"/>
            <a:ext cx="9875520" cy="192024"/>
          </a:xfrm>
          <a:prstGeom prst="rect">
            <a:avLst/>
          </a:prstGeom>
          <a:noFill/>
          <a:ln/>
        </p:spPr>
        <p:txBody>
          <a:bodyPr wrap="square" lIns="0" tIns="0" rIns="0" bIns="0" rtlCol="0" anchor="t"/>
          <a:lstStyle/>
          <a:p>
            <a:pPr algn="l" indent="0" marL="0">
              <a:lnSpc>
                <a:spcPct val="104000"/>
              </a:lnSpc>
              <a:buNone/>
            </a:pPr>
            <a:r>
              <a:rPr lang="en-US" sz="970" b="1" spc="135" kern="0" dirty="0">
                <a:solidFill>
                  <a:srgbClr val="B3C3D6"/>
                </a:solidFill>
                <a:latin typeface="Arial" pitchFamily="34" charset="0"/>
                <a:ea typeface="Arial" pitchFamily="34" charset="-122"/>
                <a:cs typeface="Arial" pitchFamily="34" charset="-120"/>
              </a:rPr>
              <a:t>SYSTEMS PROGRAMMING AND MACHINE ORGANIZATION</a:t>
            </a:r>
            <a:endParaRPr lang="en-US" sz="970" dirty="0"/>
          </a:p>
        </p:txBody>
      </p:sp>
      <p:sp>
        <p:nvSpPr>
          <p:cNvPr id="3" name="Text 1"/>
          <p:cNvSpPr txBox="1"/>
          <p:nvPr/>
        </p:nvSpPr>
        <p:spPr>
          <a:xfrm>
            <a:off x="9601200" y="219456"/>
            <a:ext cx="2039112" cy="192024"/>
          </a:xfrm>
          <a:prstGeom prst="rect">
            <a:avLst/>
          </a:prstGeom>
          <a:noFill/>
          <a:ln/>
        </p:spPr>
        <p:txBody>
          <a:bodyPr wrap="square" lIns="0" tIns="0" rIns="0" bIns="0" rtlCol="0" anchor="t"/>
          <a:lstStyle/>
          <a:p>
            <a:pPr algn="r" indent="0" marL="0">
              <a:lnSpc>
                <a:spcPct val="104000"/>
              </a:lnSpc>
              <a:buNone/>
            </a:pPr>
            <a:r>
              <a:rPr lang="en-US" sz="970" b="1" dirty="0">
                <a:solidFill>
                  <a:srgbClr val="B3C3D6"/>
                </a:solidFill>
                <a:latin typeface="Arial" pitchFamily="34" charset="0"/>
                <a:ea typeface="Arial" pitchFamily="34" charset="-122"/>
                <a:cs typeface="Arial" pitchFamily="34" charset="-120"/>
              </a:rPr>
              <a:t>CHARLES DORNER</a:t>
            </a:r>
            <a:endParaRPr lang="en-US" sz="970" dirty="0"/>
          </a:p>
        </p:txBody>
      </p:sp>
      <p:sp>
        <p:nvSpPr>
          <p:cNvPr id="4" name="Text 2"/>
          <p:cNvSpPr txBox="1"/>
          <p:nvPr/>
        </p:nvSpPr>
        <p:spPr>
          <a:xfrm>
            <a:off x="548640" y="566928"/>
            <a:ext cx="11109960" cy="237744"/>
          </a:xfrm>
          <a:prstGeom prst="rect">
            <a:avLst/>
          </a:prstGeom>
          <a:noFill/>
          <a:ln/>
        </p:spPr>
        <p:txBody>
          <a:bodyPr wrap="square" lIns="0" tIns="0" rIns="0" bIns="0" rtlCol="0" anchor="t"/>
          <a:lstStyle/>
          <a:p>
            <a:pPr algn="l" indent="0" marL="0">
              <a:lnSpc>
                <a:spcPct val="104000"/>
              </a:lnSpc>
              <a:buNone/>
            </a:pPr>
            <a:r>
              <a:rPr lang="en-US" sz="1150" b="1" dirty="0">
                <a:solidFill>
                  <a:srgbClr val="71D5DD"/>
                </a:solidFill>
                <a:latin typeface="Arial" pitchFamily="34" charset="0"/>
                <a:ea typeface="Arial" pitchFamily="34" charset="-122"/>
                <a:cs typeface="Arial" pitchFamily="34" charset="-120"/>
              </a:rPr>
              <a:t>1.3.5 · ROBUST I/O REASONING</a:t>
            </a:r>
            <a:endParaRPr lang="en-US" sz="1150" dirty="0"/>
          </a:p>
        </p:txBody>
      </p:sp>
      <p:sp>
        <p:nvSpPr>
          <p:cNvPr id="5" name="Text 3"/>
          <p:cNvSpPr txBox="1"/>
          <p:nvPr/>
        </p:nvSpPr>
        <p:spPr>
          <a:xfrm>
            <a:off x="548640" y="941832"/>
            <a:ext cx="11091672" cy="676656"/>
          </a:xfrm>
          <a:prstGeom prst="rect">
            <a:avLst/>
          </a:prstGeom>
          <a:noFill/>
          <a:ln/>
        </p:spPr>
        <p:txBody>
          <a:bodyPr wrap="square" lIns="0" tIns="0" rIns="0" bIns="0" rtlCol="0" anchor="t"/>
          <a:lstStyle/>
          <a:p>
            <a:pPr algn="l" indent="0" marL="0">
              <a:lnSpc>
                <a:spcPct val="104000"/>
              </a:lnSpc>
              <a:buNone/>
            </a:pPr>
            <a:r>
              <a:rPr lang="en-US" sz="3150" b="1" dirty="0">
                <a:solidFill>
                  <a:srgbClr val="F4F7FB"/>
                </a:solidFill>
                <a:latin typeface="Arial" pitchFamily="34" charset="0"/>
                <a:ea typeface="Arial" pitchFamily="34" charset="-122"/>
                <a:cs typeface="Arial" pitchFamily="34" charset="-120"/>
              </a:rPr>
              <a:t>Partial success changes the retry position</a:t>
            </a:r>
            <a:endParaRPr lang="en-US" sz="3150" dirty="0"/>
          </a:p>
        </p:txBody>
      </p:sp>
      <p:sp>
        <p:nvSpPr>
          <p:cNvPr id="6" name="Shape 4"/>
          <p:cNvSpPr/>
          <p:nvPr/>
        </p:nvSpPr>
        <p:spPr>
          <a:xfrm>
            <a:off x="548640" y="1764792"/>
            <a:ext cx="11094720" cy="1225296"/>
          </a:xfrm>
          <a:prstGeom prst="rect">
            <a:avLst/>
          </a:prstGeom>
          <a:solidFill>
            <a:srgbClr val="172940"/>
          </a:solidFill>
          <a:ln w="8890">
            <a:solidFill>
              <a:srgbClr val="2B415A"/>
            </a:solidFill>
            <a:prstDash val="solid"/>
          </a:ln>
        </p:spPr>
        <p:txBody>
          <a:bodyPr/>
          <a:p/>
        </p:txBody>
      </p:sp>
      <p:sp>
        <p:nvSpPr>
          <p:cNvPr id="7" name="Text 5"/>
          <p:cNvSpPr txBox="1"/>
          <p:nvPr/>
        </p:nvSpPr>
        <p:spPr>
          <a:xfrm>
            <a:off x="777240" y="1924812"/>
            <a:ext cx="10637520" cy="475488"/>
          </a:xfrm>
          <a:prstGeom prst="rect">
            <a:avLst/>
          </a:prstGeom>
          <a:noFill/>
          <a:ln/>
        </p:spPr>
        <p:txBody>
          <a:bodyPr wrap="square" lIns="0" tIns="0" rIns="0" bIns="0" rtlCol="0" anchor="t"/>
          <a:lstStyle/>
          <a:p>
            <a:pPr algn="ctr" indent="0" marL="0">
              <a:lnSpc>
                <a:spcPct val="104000"/>
              </a:lnSpc>
              <a:buNone/>
            </a:pPr>
            <a:r>
              <a:rPr lang="en-US" sz="2900" b="1" dirty="0">
                <a:solidFill>
                  <a:srgbClr val="F1C984"/>
                </a:solidFill>
                <a:latin typeface="Arial" pitchFamily="34" charset="0"/>
                <a:ea typeface="Arial" pitchFamily="34" charset="-122"/>
                <a:cs typeface="Arial" pitchFamily="34" charset="-120"/>
              </a:rPr>
              <a:t>requested = 10, completed = 4</a:t>
            </a:r>
            <a:endParaRPr lang="en-US" sz="2900" dirty="0"/>
          </a:p>
        </p:txBody>
      </p:sp>
      <p:sp>
        <p:nvSpPr>
          <p:cNvPr id="8" name="Text 6"/>
          <p:cNvSpPr txBox="1"/>
          <p:nvPr/>
        </p:nvSpPr>
        <p:spPr>
          <a:xfrm>
            <a:off x="777240" y="2496312"/>
            <a:ext cx="10637520" cy="365760"/>
          </a:xfrm>
          <a:prstGeom prst="rect">
            <a:avLst/>
          </a:prstGeom>
          <a:noFill/>
          <a:ln/>
        </p:spPr>
        <p:txBody>
          <a:bodyPr wrap="square" lIns="0" tIns="0" rIns="0" bIns="0" rtlCol="0" anchor="t"/>
          <a:lstStyle/>
          <a:p>
            <a:pPr algn="ctr" indent="0" marL="0">
              <a:lnSpc>
                <a:spcPct val="104000"/>
              </a:lnSpc>
              <a:buNone/>
            </a:pPr>
            <a:r>
              <a:rPr lang="en-US" sz="2280" dirty="0">
                <a:solidFill>
                  <a:srgbClr val="F4F7FB"/>
                </a:solidFill>
                <a:latin typeface="Arial" pitchFamily="34" charset="0"/>
                <a:ea typeface="Arial" pitchFamily="34" charset="-122"/>
                <a:cs typeface="Arial" pitchFamily="34" charset="-120"/>
              </a:rPr>
              <a:t>next offset = 4 | remaining = 10 − 4 = 6</a:t>
            </a:r>
            <a:endParaRPr lang="en-US" sz="2280" dirty="0"/>
          </a:p>
        </p:txBody>
      </p:sp>
      <p:sp>
        <p:nvSpPr>
          <p:cNvPr id="9" name="Shape 7"/>
          <p:cNvSpPr/>
          <p:nvPr/>
        </p:nvSpPr>
        <p:spPr>
          <a:xfrm>
            <a:off x="548640" y="3227832"/>
            <a:ext cx="3564128" cy="1847088"/>
          </a:xfrm>
          <a:prstGeom prst="rect">
            <a:avLst/>
          </a:prstGeom>
          <a:solidFill>
            <a:srgbClr val="142238"/>
          </a:solidFill>
          <a:ln w="8890">
            <a:solidFill>
              <a:srgbClr val="2B415A"/>
            </a:solidFill>
            <a:prstDash val="solid"/>
          </a:ln>
        </p:spPr>
        <p:txBody>
          <a:bodyPr/>
          <a:p/>
        </p:txBody>
      </p:sp>
      <p:sp>
        <p:nvSpPr>
          <p:cNvPr id="10" name="Shape 8"/>
          <p:cNvSpPr/>
          <p:nvPr/>
        </p:nvSpPr>
        <p:spPr>
          <a:xfrm>
            <a:off x="548640" y="3227832"/>
            <a:ext cx="41148" cy="1847088"/>
          </a:xfrm>
          <a:prstGeom prst="rect">
            <a:avLst/>
          </a:prstGeom>
          <a:solidFill>
            <a:srgbClr val="71D5DD"/>
          </a:solidFill>
          <a:ln w="8890">
            <a:solidFill>
              <a:srgbClr val="71D5DD"/>
            </a:solidFill>
            <a:prstDash val="solid"/>
          </a:ln>
        </p:spPr>
        <p:txBody>
          <a:bodyPr/>
          <a:p/>
        </p:txBody>
      </p:sp>
      <p:sp>
        <p:nvSpPr>
          <p:cNvPr id="11" name="Text 9"/>
          <p:cNvSpPr txBox="1"/>
          <p:nvPr/>
        </p:nvSpPr>
        <p:spPr>
          <a:xfrm>
            <a:off x="758952" y="3438144"/>
            <a:ext cx="3134360" cy="557784"/>
          </a:xfrm>
          <a:prstGeom prst="rect">
            <a:avLst/>
          </a:prstGeom>
          <a:noFill/>
          <a:ln/>
        </p:spPr>
        <p:txBody>
          <a:bodyPr wrap="square" lIns="0" tIns="0" rIns="0" bIns="0" rtlCol="0" anchor="t"/>
          <a:lstStyle/>
          <a:p>
            <a:pPr algn="l" indent="0" marL="0">
              <a:lnSpc>
                <a:spcPct val="104000"/>
              </a:lnSpc>
              <a:buNone/>
            </a:pPr>
            <a:r>
              <a:rPr lang="en-US" sz="1550" b="1" dirty="0">
                <a:solidFill>
                  <a:srgbClr val="71D5DD"/>
                </a:solidFill>
                <a:latin typeface="Arial" pitchFamily="34" charset="0"/>
                <a:ea typeface="Arial" pitchFamily="34" charset="-122"/>
                <a:cs typeface="Arial" pitchFamily="34" charset="-120"/>
              </a:rPr>
              <a:t>PROGRESS</a:t>
            </a:r>
            <a:endParaRPr lang="en-US" sz="1550" dirty="0"/>
          </a:p>
        </p:txBody>
      </p:sp>
      <p:sp>
        <p:nvSpPr>
          <p:cNvPr id="12" name="Text 10"/>
          <p:cNvSpPr txBox="1"/>
          <p:nvPr/>
        </p:nvSpPr>
        <p:spPr>
          <a:xfrm>
            <a:off x="758952" y="4105656"/>
            <a:ext cx="3134360" cy="804672"/>
          </a:xfrm>
          <a:prstGeom prst="rect">
            <a:avLst/>
          </a:prstGeom>
          <a:noFill/>
          <a:ln/>
        </p:spPr>
        <p:txBody>
          <a:bodyPr wrap="square" lIns="0" tIns="0" rIns="0" bIns="0" rtlCol="0" anchor="t"/>
          <a:lstStyle/>
          <a:p>
            <a:pPr algn="l" indent="0" marL="0">
              <a:lnSpc>
                <a:spcPct val="104000"/>
              </a:lnSpc>
              <a:buNone/>
            </a:pPr>
            <a:r>
              <a:rPr lang="en-US" sz="1950" dirty="0">
                <a:solidFill>
                  <a:srgbClr val="F4F7FB"/>
                </a:solidFill>
                <a:latin typeface="Arial" pitchFamily="34" charset="0"/>
                <a:ea typeface="Arial" pitchFamily="34" charset="-122"/>
                <a:cs typeface="Arial" pitchFamily="34" charset="-120"/>
              </a:rPr>
              <a:t>A positive count reports</a:t>
            </a:r>
            <a:endParaRPr lang="en-US" sz="1950" dirty="0"/>
          </a:p>
          <a:p>
            <a:pPr algn="l" indent="0" marL="0">
              <a:lnSpc>
                <a:spcPct val="104000"/>
              </a:lnSpc>
              <a:buNone/>
            </a:pPr>
            <a:r>
              <a:rPr lang="en-US" sz="1950" dirty="0">
                <a:solidFill>
                  <a:srgbClr val="F4F7FB"/>
                </a:solidFill>
                <a:latin typeface="Arial" pitchFamily="34" charset="0"/>
                <a:ea typeface="Arial" pitchFamily="34" charset="-122"/>
                <a:cs typeface="Arial" pitchFamily="34" charset="-120"/>
              </a:rPr>
              <a:t>accepted bytes.</a:t>
            </a:r>
            <a:endParaRPr lang="en-US" sz="1950" dirty="0"/>
          </a:p>
        </p:txBody>
      </p:sp>
      <p:sp>
        <p:nvSpPr>
          <p:cNvPr id="13" name="Shape 11"/>
          <p:cNvSpPr/>
          <p:nvPr/>
        </p:nvSpPr>
        <p:spPr>
          <a:xfrm>
            <a:off x="4313936" y="3227832"/>
            <a:ext cx="3564128" cy="1847088"/>
          </a:xfrm>
          <a:prstGeom prst="rect">
            <a:avLst/>
          </a:prstGeom>
          <a:solidFill>
            <a:srgbClr val="142238"/>
          </a:solidFill>
          <a:ln w="8890">
            <a:solidFill>
              <a:srgbClr val="2B415A"/>
            </a:solidFill>
            <a:prstDash val="solid"/>
          </a:ln>
        </p:spPr>
        <p:txBody>
          <a:bodyPr/>
          <a:p/>
        </p:txBody>
      </p:sp>
      <p:sp>
        <p:nvSpPr>
          <p:cNvPr id="14" name="Shape 12"/>
          <p:cNvSpPr/>
          <p:nvPr/>
        </p:nvSpPr>
        <p:spPr>
          <a:xfrm>
            <a:off x="4313936" y="3227832"/>
            <a:ext cx="41148" cy="1847088"/>
          </a:xfrm>
          <a:prstGeom prst="rect">
            <a:avLst/>
          </a:prstGeom>
          <a:solidFill>
            <a:srgbClr val="71D5DD"/>
          </a:solidFill>
          <a:ln w="8890">
            <a:solidFill>
              <a:srgbClr val="71D5DD"/>
            </a:solidFill>
            <a:prstDash val="solid"/>
          </a:ln>
        </p:spPr>
        <p:txBody>
          <a:bodyPr/>
          <a:p/>
        </p:txBody>
      </p:sp>
      <p:sp>
        <p:nvSpPr>
          <p:cNvPr id="15" name="Text 13"/>
          <p:cNvSpPr txBox="1"/>
          <p:nvPr/>
        </p:nvSpPr>
        <p:spPr>
          <a:xfrm>
            <a:off x="4524248" y="3438144"/>
            <a:ext cx="3134360" cy="557784"/>
          </a:xfrm>
          <a:prstGeom prst="rect">
            <a:avLst/>
          </a:prstGeom>
          <a:noFill/>
          <a:ln/>
        </p:spPr>
        <p:txBody>
          <a:bodyPr wrap="square" lIns="0" tIns="0" rIns="0" bIns="0" rtlCol="0" anchor="t"/>
          <a:lstStyle/>
          <a:p>
            <a:pPr algn="l" indent="0" marL="0">
              <a:lnSpc>
                <a:spcPct val="104000"/>
              </a:lnSpc>
              <a:buNone/>
            </a:pPr>
            <a:r>
              <a:rPr lang="en-US" sz="1550" b="1" dirty="0">
                <a:solidFill>
                  <a:srgbClr val="71D5DD"/>
                </a:solidFill>
                <a:latin typeface="Arial" pitchFamily="34" charset="0"/>
                <a:ea typeface="Arial" pitchFamily="34" charset="-122"/>
                <a:cs typeface="Arial" pitchFamily="34" charset="-120"/>
              </a:rPr>
              <a:t>CONTINUATION</a:t>
            </a:r>
            <a:endParaRPr lang="en-US" sz="1550" dirty="0"/>
          </a:p>
        </p:txBody>
      </p:sp>
      <p:sp>
        <p:nvSpPr>
          <p:cNvPr id="16" name="Text 14"/>
          <p:cNvSpPr txBox="1"/>
          <p:nvPr/>
        </p:nvSpPr>
        <p:spPr>
          <a:xfrm>
            <a:off x="4524248" y="4105656"/>
            <a:ext cx="3134360" cy="804672"/>
          </a:xfrm>
          <a:prstGeom prst="rect">
            <a:avLst/>
          </a:prstGeom>
          <a:noFill/>
          <a:ln/>
        </p:spPr>
        <p:txBody>
          <a:bodyPr wrap="square" lIns="0" tIns="0" rIns="0" bIns="0" rtlCol="0" anchor="t"/>
          <a:lstStyle/>
          <a:p>
            <a:pPr algn="l" indent="0" marL="0">
              <a:lnSpc>
                <a:spcPct val="104000"/>
              </a:lnSpc>
              <a:buNone/>
            </a:pPr>
            <a:r>
              <a:rPr lang="en-US" sz="1850" dirty="0">
                <a:solidFill>
                  <a:srgbClr val="F4F7FB"/>
                </a:solidFill>
                <a:latin typeface="Arial" pitchFamily="34" charset="0"/>
                <a:ea typeface="Arial" pitchFamily="34" charset="-122"/>
                <a:cs typeface="Arial" pitchFamily="34" charset="-120"/>
              </a:rPr>
              <a:t>Resume from the</a:t>
            </a:r>
            <a:endParaRPr lang="en-US" sz="1850" dirty="0"/>
          </a:p>
          <a:p>
            <a:pPr algn="l" indent="0" marL="0">
              <a:lnSpc>
                <a:spcPct val="104000"/>
              </a:lnSpc>
              <a:buNone/>
            </a:pPr>
            <a:r>
              <a:rPr lang="en-US" sz="1850" dirty="0">
                <a:solidFill>
                  <a:srgbClr val="F4F7FB"/>
                </a:solidFill>
                <a:latin typeface="Arial" pitchFamily="34" charset="0"/>
                <a:ea typeface="Arial" pitchFamily="34" charset="-122"/>
                <a:cs typeface="Arial" pitchFamily="34" charset="-120"/>
              </a:rPr>
              <a:t>uncompleted suffix under this</a:t>
            </a:r>
            <a:endParaRPr lang="en-US" sz="1850" dirty="0"/>
          </a:p>
          <a:p>
            <a:pPr algn="l" indent="0" marL="0">
              <a:lnSpc>
                <a:spcPct val="104000"/>
              </a:lnSpc>
              <a:buNone/>
            </a:pPr>
            <a:r>
              <a:rPr lang="en-US" sz="1850" dirty="0">
                <a:solidFill>
                  <a:srgbClr val="F4F7FB"/>
                </a:solidFill>
                <a:latin typeface="Arial" pitchFamily="34" charset="0"/>
                <a:ea typeface="Arial" pitchFamily="34" charset="-122"/>
                <a:cs typeface="Arial" pitchFamily="34" charset="-120"/>
              </a:rPr>
              <a:t>interface.</a:t>
            </a:r>
            <a:endParaRPr lang="en-US" sz="1850" dirty="0"/>
          </a:p>
        </p:txBody>
      </p:sp>
      <p:sp>
        <p:nvSpPr>
          <p:cNvPr id="17" name="Shape 15"/>
          <p:cNvSpPr/>
          <p:nvPr/>
        </p:nvSpPr>
        <p:spPr>
          <a:xfrm>
            <a:off x="8079232" y="3227832"/>
            <a:ext cx="3564128" cy="1847088"/>
          </a:xfrm>
          <a:prstGeom prst="rect">
            <a:avLst/>
          </a:prstGeom>
          <a:solidFill>
            <a:srgbClr val="142238"/>
          </a:solidFill>
          <a:ln w="8890">
            <a:solidFill>
              <a:srgbClr val="2B415A"/>
            </a:solidFill>
            <a:prstDash val="solid"/>
          </a:ln>
        </p:spPr>
        <p:txBody>
          <a:bodyPr/>
          <a:p/>
        </p:txBody>
      </p:sp>
      <p:sp>
        <p:nvSpPr>
          <p:cNvPr id="18" name="Shape 16"/>
          <p:cNvSpPr/>
          <p:nvPr/>
        </p:nvSpPr>
        <p:spPr>
          <a:xfrm>
            <a:off x="8079232" y="3227832"/>
            <a:ext cx="41148" cy="1847088"/>
          </a:xfrm>
          <a:prstGeom prst="rect">
            <a:avLst/>
          </a:prstGeom>
          <a:solidFill>
            <a:srgbClr val="71D5DD"/>
          </a:solidFill>
          <a:ln w="8890">
            <a:solidFill>
              <a:srgbClr val="71D5DD"/>
            </a:solidFill>
            <a:prstDash val="solid"/>
          </a:ln>
        </p:spPr>
        <p:txBody>
          <a:bodyPr/>
          <a:p/>
        </p:txBody>
      </p:sp>
      <p:sp>
        <p:nvSpPr>
          <p:cNvPr id="19" name="Text 17"/>
          <p:cNvSpPr txBox="1"/>
          <p:nvPr/>
        </p:nvSpPr>
        <p:spPr>
          <a:xfrm>
            <a:off x="8289544" y="3438144"/>
            <a:ext cx="3134360" cy="557784"/>
          </a:xfrm>
          <a:prstGeom prst="rect">
            <a:avLst/>
          </a:prstGeom>
          <a:noFill/>
          <a:ln/>
        </p:spPr>
        <p:txBody>
          <a:bodyPr wrap="square" lIns="0" tIns="0" rIns="0" bIns="0" rtlCol="0" anchor="t"/>
          <a:lstStyle/>
          <a:p>
            <a:pPr algn="l" indent="0" marL="0">
              <a:lnSpc>
                <a:spcPct val="104000"/>
              </a:lnSpc>
              <a:buNone/>
            </a:pPr>
            <a:r>
              <a:rPr lang="en-US" sz="1550" b="1" dirty="0">
                <a:solidFill>
                  <a:srgbClr val="71D5DD"/>
                </a:solidFill>
                <a:latin typeface="Arial" pitchFamily="34" charset="0"/>
                <a:ea typeface="Arial" pitchFamily="34" charset="-122"/>
                <a:cs typeface="Arial" pitchFamily="34" charset="-120"/>
              </a:rPr>
              <a:t>CAUTION</a:t>
            </a:r>
            <a:endParaRPr lang="en-US" sz="1550" dirty="0"/>
          </a:p>
        </p:txBody>
      </p:sp>
      <p:sp>
        <p:nvSpPr>
          <p:cNvPr id="20" name="Text 18"/>
          <p:cNvSpPr txBox="1"/>
          <p:nvPr/>
        </p:nvSpPr>
        <p:spPr>
          <a:xfrm>
            <a:off x="8289544" y="4105656"/>
            <a:ext cx="3134360" cy="804672"/>
          </a:xfrm>
          <a:prstGeom prst="rect">
            <a:avLst/>
          </a:prstGeom>
          <a:noFill/>
          <a:ln/>
        </p:spPr>
        <p:txBody>
          <a:bodyPr wrap="square" lIns="0" tIns="0" rIns="0" bIns="0" rtlCol="0" anchor="t"/>
          <a:lstStyle/>
          <a:p>
            <a:pPr algn="l" indent="0" marL="0">
              <a:lnSpc>
                <a:spcPct val="104000"/>
              </a:lnSpc>
              <a:buNone/>
            </a:pPr>
            <a:r>
              <a:rPr lang="en-US" sz="1850" dirty="0">
                <a:solidFill>
                  <a:srgbClr val="F4F7FB"/>
                </a:solidFill>
                <a:latin typeface="Arial" pitchFamily="34" charset="0"/>
                <a:ea typeface="Arial" pitchFamily="34" charset="-122"/>
                <a:cs typeface="Arial" pitchFamily="34" charset="-120"/>
              </a:rPr>
              <a:t>Real retry logic must honor</a:t>
            </a:r>
            <a:endParaRPr lang="en-US" sz="1850" dirty="0"/>
          </a:p>
          <a:p>
            <a:pPr algn="l" indent="0" marL="0">
              <a:lnSpc>
                <a:spcPct val="104000"/>
              </a:lnSpc>
              <a:buNone/>
            </a:pPr>
            <a:r>
              <a:rPr lang="en-US" sz="1850" dirty="0">
                <a:solidFill>
                  <a:srgbClr val="F4F7FB"/>
                </a:solidFill>
                <a:latin typeface="Arial" pitchFamily="34" charset="0"/>
                <a:ea typeface="Arial" pitchFamily="34" charset="-122"/>
                <a:cs typeface="Arial" pitchFamily="34" charset="-120"/>
              </a:rPr>
              <a:t>the specific API and failure</a:t>
            </a:r>
            <a:endParaRPr lang="en-US" sz="1850" dirty="0"/>
          </a:p>
          <a:p>
            <a:pPr algn="l" indent="0" marL="0">
              <a:lnSpc>
                <a:spcPct val="104000"/>
              </a:lnSpc>
              <a:buNone/>
            </a:pPr>
            <a:r>
              <a:rPr lang="en-US" sz="1850" dirty="0">
                <a:solidFill>
                  <a:srgbClr val="F4F7FB"/>
                </a:solidFill>
                <a:latin typeface="Arial" pitchFamily="34" charset="0"/>
                <a:ea typeface="Arial" pitchFamily="34" charset="-122"/>
                <a:cs typeface="Arial" pitchFamily="34" charset="-120"/>
              </a:rPr>
              <a:t>mode.</a:t>
            </a:r>
            <a:endParaRPr lang="en-US" sz="1850" dirty="0"/>
          </a:p>
        </p:txBody>
      </p:sp>
      <p:sp>
        <p:nvSpPr>
          <p:cNvPr id="21" name="Text 19"/>
          <p:cNvSpPr txBox="1"/>
          <p:nvPr/>
        </p:nvSpPr>
        <p:spPr>
          <a:xfrm>
            <a:off x="548640" y="5193792"/>
            <a:ext cx="11094720" cy="274320"/>
          </a:xfrm>
          <a:prstGeom prst="rect">
            <a:avLst/>
          </a:prstGeom>
          <a:noFill/>
          <a:ln/>
        </p:spPr>
        <p:txBody>
          <a:bodyPr wrap="square" lIns="0" tIns="0" rIns="0" bIns="0" rtlCol="0" anchor="t"/>
          <a:lstStyle/>
          <a:p>
            <a:pPr algn="l" indent="0" marL="0">
              <a:lnSpc>
                <a:spcPct val="104000"/>
              </a:lnSpc>
              <a:buNone/>
            </a:pPr>
            <a:r>
              <a:rPr lang="en-US" sz="1140" dirty="0">
                <a:solidFill>
                  <a:srgbClr val="B3C3D6"/>
                </a:solidFill>
                <a:latin typeface="Arial" pitchFamily="34" charset="0"/>
                <a:ea typeface="Arial" pitchFamily="34" charset="-122"/>
                <a:cs typeface="Arial" pitchFamily="34" charset="-120"/>
              </a:rPr>
              <a:t>Illustrative byte-output case, not a complete write loop or a universal transaction-retry rule.</a:t>
            </a:r>
            <a:endParaRPr lang="en-US" sz="1140" dirty="0"/>
          </a:p>
        </p:txBody>
      </p:sp>
      <p:sp>
        <p:nvSpPr>
          <p:cNvPr id="26" name="Text 24"/>
          <p:cNvSpPr txBox="1"/>
          <p:nvPr/>
        </p:nvSpPr>
        <p:spPr>
          <a:xfrm>
            <a:off x="548640" y="6601968"/>
            <a:ext cx="10241280" cy="128016"/>
          </a:xfrm>
          <a:prstGeom prst="rect">
            <a:avLst/>
          </a:prstGeom>
          <a:noFill/>
          <a:ln/>
        </p:spPr>
        <p:txBody>
          <a:bodyPr wrap="square" lIns="0" tIns="0" rIns="0" bIns="0" rtlCol="0" anchor="t"/>
          <a:lstStyle/>
          <a:p>
            <a:pPr algn="l" indent="0" marL="0">
              <a:lnSpc>
                <a:spcPct val="104000"/>
              </a:lnSpc>
              <a:buNone/>
            </a:pPr>
            <a:r>
              <a:rPr lang="en-US" sz="830" dirty="0">
                <a:solidFill>
                  <a:srgbClr val="B3C3D6"/>
                </a:solidFill>
                <a:latin typeface="Arial" pitchFamily="34" charset="0"/>
                <a:ea typeface="Arial" pitchFamily="34" charset="-122"/>
                <a:cs typeface="Arial" pitchFamily="34" charset="-120"/>
              </a:rPr>
              <a:t>Source: original 15 • Graduate extension • [W]</a:t>
            </a:r>
            <a:endParaRPr lang="en-US" sz="830" dirty="0"/>
          </a:p>
        </p:txBody>
      </p:sp>
      <p:sp>
        <p:nvSpPr>
          <p:cNvPr id="27" name="Text 25"/>
          <p:cNvSpPr txBox="1"/>
          <p:nvPr/>
        </p:nvSpPr>
        <p:spPr>
          <a:xfrm>
            <a:off x="10917936" y="6565392"/>
            <a:ext cx="722376" cy="219456"/>
          </a:xfrm>
          <a:prstGeom prst="rect">
            <a:avLst/>
          </a:prstGeom>
          <a:noFill/>
          <a:ln/>
        </p:spPr>
        <p:txBody>
          <a:bodyPr wrap="square" lIns="0" tIns="0" rIns="0" bIns="0" rtlCol="0" anchor="t"/>
          <a:lstStyle/>
          <a:p>
            <a:pPr algn="r" indent="0" marL="0">
              <a:lnSpc>
                <a:spcPct val="104000"/>
              </a:lnSpc>
              <a:buNone/>
            </a:pPr>
            <a:r>
              <a:rPr lang="en-US" sz="1050" dirty="0">
                <a:solidFill>
                  <a:srgbClr val="B3C3D6"/>
                </a:solidFill>
                <a:latin typeface="Arial" pitchFamily="34" charset="0"/>
                <a:ea typeface="Arial" pitchFamily="34" charset="-122"/>
                <a:cs typeface="Arial" pitchFamily="34" charset="-120"/>
              </a:rPr>
              <a:t>47 / 64</a:t>
            </a:r>
            <a:endParaRPr lang="en-US" sz="1050" dirty="0"/>
          </a:p>
        </p:txBody>
      </p:sp>
      <p:sp>
        <p:nvSpPr>
          <p:cNvPr id="28" name="Shape 26"/>
          <p:cNvSpPr/>
          <p:nvPr/>
        </p:nvSpPr>
        <p:spPr>
          <a:xfrm>
            <a:off x="0" y="6834226"/>
            <a:ext cx="12192000" cy="23774"/>
          </a:xfrm>
          <a:prstGeom prst="rect">
            <a:avLst/>
          </a:prstGeom>
          <a:solidFill>
            <a:srgbClr val="2B415A"/>
          </a:solidFill>
          <a:ln w="8890">
            <a:solidFill>
              <a:srgbClr val="2B415A"/>
            </a:solidFill>
            <a:prstDash val="solid"/>
          </a:ln>
        </p:spPr>
        <p:txBody>
          <a:bodyPr/>
          <a:p/>
        </p:txBody>
      </p:sp>
      <p:sp>
        <p:nvSpPr>
          <p:cNvPr id="29" name="Shape 27"/>
          <p:cNvSpPr/>
          <p:nvPr/>
        </p:nvSpPr>
        <p:spPr>
          <a:xfrm>
            <a:off x="0" y="6834226"/>
            <a:ext cx="8953500" cy="23774"/>
          </a:xfrm>
          <a:prstGeom prst="rect">
            <a:avLst/>
          </a:prstGeom>
          <a:solidFill>
            <a:srgbClr val="71D5DD"/>
          </a:solidFill>
          <a:ln w="8890">
            <a:solidFill>
              <a:srgbClr val="71D5DD"/>
            </a:solidFill>
            <a:prstDash val="solid"/>
          </a:ln>
        </p:spPr>
        <p:txBody>
          <a:body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txBox="1"/>
          <p:nvPr/>
        </p:nvSpPr>
        <p:spPr>
          <a:xfrm>
            <a:off x="548640" y="219456"/>
            <a:ext cx="9875520" cy="192024"/>
          </a:xfrm>
          <a:prstGeom prst="rect">
            <a:avLst/>
          </a:prstGeom>
          <a:noFill/>
          <a:ln/>
        </p:spPr>
        <p:txBody>
          <a:bodyPr wrap="square" lIns="0" tIns="0" rIns="0" bIns="0" rtlCol="0" anchor="t"/>
          <a:lstStyle/>
          <a:p>
            <a:pPr algn="l" indent="0" marL="0">
              <a:lnSpc>
                <a:spcPct val="104000"/>
              </a:lnSpc>
              <a:buNone/>
            </a:pPr>
            <a:r>
              <a:rPr lang="en-US" sz="970" b="1" spc="135" kern="0" dirty="0">
                <a:solidFill>
                  <a:srgbClr val="B3C3D6"/>
                </a:solidFill>
                <a:latin typeface="Arial" pitchFamily="34" charset="0"/>
                <a:ea typeface="Arial" pitchFamily="34" charset="-122"/>
                <a:cs typeface="Arial" pitchFamily="34" charset="-120"/>
              </a:rPr>
              <a:t>SYSTEMS PROGRAMMING AND MACHINE ORGANIZATION</a:t>
            </a:r>
            <a:endParaRPr lang="en-US" sz="970" dirty="0"/>
          </a:p>
        </p:txBody>
      </p:sp>
      <p:sp>
        <p:nvSpPr>
          <p:cNvPr id="3" name="Text 1"/>
          <p:cNvSpPr txBox="1"/>
          <p:nvPr/>
        </p:nvSpPr>
        <p:spPr>
          <a:xfrm>
            <a:off x="9601200" y="219456"/>
            <a:ext cx="2039112" cy="192024"/>
          </a:xfrm>
          <a:prstGeom prst="rect">
            <a:avLst/>
          </a:prstGeom>
          <a:noFill/>
          <a:ln/>
        </p:spPr>
        <p:txBody>
          <a:bodyPr wrap="square" lIns="0" tIns="0" rIns="0" bIns="0" rtlCol="0" anchor="t"/>
          <a:lstStyle/>
          <a:p>
            <a:pPr algn="r" indent="0" marL="0">
              <a:lnSpc>
                <a:spcPct val="104000"/>
              </a:lnSpc>
              <a:buNone/>
            </a:pPr>
            <a:r>
              <a:rPr lang="en-US" sz="970" b="1" dirty="0">
                <a:solidFill>
                  <a:srgbClr val="B3C3D6"/>
                </a:solidFill>
                <a:latin typeface="Arial" pitchFamily="34" charset="0"/>
                <a:ea typeface="Arial" pitchFamily="34" charset="-122"/>
                <a:cs typeface="Arial" pitchFamily="34" charset="-120"/>
              </a:rPr>
              <a:t>CHARLES DORNER</a:t>
            </a:r>
            <a:endParaRPr lang="en-US" sz="970" dirty="0"/>
          </a:p>
        </p:txBody>
      </p:sp>
      <p:sp>
        <p:nvSpPr>
          <p:cNvPr id="4" name="Text 2"/>
          <p:cNvSpPr txBox="1"/>
          <p:nvPr/>
        </p:nvSpPr>
        <p:spPr>
          <a:xfrm>
            <a:off x="548640" y="566928"/>
            <a:ext cx="11109960" cy="237744"/>
          </a:xfrm>
          <a:prstGeom prst="rect">
            <a:avLst/>
          </a:prstGeom>
          <a:noFill/>
          <a:ln/>
        </p:spPr>
        <p:txBody>
          <a:bodyPr wrap="square" lIns="0" tIns="0" rIns="0" bIns="0" rtlCol="0" anchor="t"/>
          <a:lstStyle/>
          <a:p>
            <a:pPr algn="l" indent="0" marL="0">
              <a:lnSpc>
                <a:spcPct val="104000"/>
              </a:lnSpc>
              <a:buNone/>
            </a:pPr>
            <a:r>
              <a:rPr lang="en-US" sz="1150" b="1" dirty="0">
                <a:solidFill>
                  <a:srgbClr val="71D5DD"/>
                </a:solidFill>
                <a:latin typeface="Arial" pitchFamily="34" charset="0"/>
                <a:ea typeface="Arial" pitchFamily="34" charset="-122"/>
                <a:cs typeface="Arial" pitchFamily="34" charset="-120"/>
              </a:rPr>
              <a:t>1.3.6 · PORTABILITY</a:t>
            </a:r>
            <a:endParaRPr lang="en-US" sz="1150" dirty="0"/>
          </a:p>
        </p:txBody>
      </p:sp>
      <p:sp>
        <p:nvSpPr>
          <p:cNvPr id="5" name="Text 3"/>
          <p:cNvSpPr txBox="1"/>
          <p:nvPr/>
        </p:nvSpPr>
        <p:spPr>
          <a:xfrm>
            <a:off x="548640" y="941832"/>
            <a:ext cx="11091672" cy="676656"/>
          </a:xfrm>
          <a:prstGeom prst="rect">
            <a:avLst/>
          </a:prstGeom>
          <a:noFill/>
          <a:ln/>
        </p:spPr>
        <p:txBody>
          <a:bodyPr wrap="square" lIns="0" tIns="0" rIns="0" bIns="0" rtlCol="0" anchor="t"/>
          <a:lstStyle/>
          <a:p>
            <a:pPr algn="l" indent="0" marL="0">
              <a:lnSpc>
                <a:spcPct val="104000"/>
              </a:lnSpc>
              <a:buNone/>
            </a:pPr>
            <a:r>
              <a:rPr lang="en-US" sz="3150" b="1" dirty="0">
                <a:solidFill>
                  <a:srgbClr val="F4F7FB"/>
                </a:solidFill>
                <a:latin typeface="Arial" pitchFamily="34" charset="0"/>
                <a:ea typeface="Arial" pitchFamily="34" charset="-122"/>
                <a:cs typeface="Arial" pitchFamily="34" charset="-120"/>
              </a:rPr>
              <a:t>Portability has at least three separate targets</a:t>
            </a:r>
            <a:endParaRPr lang="en-US" sz="3150" dirty="0"/>
          </a:p>
        </p:txBody>
      </p:sp>
      <p:sp>
        <p:nvSpPr>
          <p:cNvPr id="6" name="Shape 4"/>
          <p:cNvSpPr/>
          <p:nvPr/>
        </p:nvSpPr>
        <p:spPr>
          <a:xfrm>
            <a:off x="548640" y="1764792"/>
            <a:ext cx="3564128" cy="3310128"/>
          </a:xfrm>
          <a:prstGeom prst="rect">
            <a:avLst/>
          </a:prstGeom>
          <a:solidFill>
            <a:srgbClr val="142238"/>
          </a:solidFill>
          <a:ln w="8890">
            <a:solidFill>
              <a:srgbClr val="2B415A"/>
            </a:solidFill>
            <a:prstDash val="solid"/>
          </a:ln>
        </p:spPr>
        <p:txBody>
          <a:bodyPr/>
          <a:p/>
        </p:txBody>
      </p:sp>
      <p:sp>
        <p:nvSpPr>
          <p:cNvPr id="7" name="Shape 5"/>
          <p:cNvSpPr/>
          <p:nvPr/>
        </p:nvSpPr>
        <p:spPr>
          <a:xfrm>
            <a:off x="548640" y="1764792"/>
            <a:ext cx="41148" cy="3310128"/>
          </a:xfrm>
          <a:prstGeom prst="rect">
            <a:avLst/>
          </a:prstGeom>
          <a:solidFill>
            <a:srgbClr val="71D5DD"/>
          </a:solidFill>
          <a:ln w="8890">
            <a:solidFill>
              <a:srgbClr val="71D5DD"/>
            </a:solidFill>
            <a:prstDash val="solid"/>
          </a:ln>
        </p:spPr>
        <p:txBody>
          <a:bodyPr/>
          <a:p/>
        </p:txBody>
      </p:sp>
      <p:sp>
        <p:nvSpPr>
          <p:cNvPr id="8" name="Text 6"/>
          <p:cNvSpPr txBox="1"/>
          <p:nvPr/>
        </p:nvSpPr>
        <p:spPr>
          <a:xfrm>
            <a:off x="758952" y="1975104"/>
            <a:ext cx="3134360" cy="557784"/>
          </a:xfrm>
          <a:prstGeom prst="rect">
            <a:avLst/>
          </a:prstGeom>
          <a:noFill/>
          <a:ln/>
        </p:spPr>
        <p:txBody>
          <a:bodyPr wrap="square" lIns="0" tIns="0" rIns="0" bIns="0" rtlCol="0" anchor="t"/>
          <a:lstStyle/>
          <a:p>
            <a:pPr algn="l" indent="0" marL="0">
              <a:lnSpc>
                <a:spcPct val="104000"/>
              </a:lnSpc>
              <a:buNone/>
            </a:pPr>
            <a:r>
              <a:rPr lang="en-US" sz="1750" b="1" dirty="0">
                <a:solidFill>
                  <a:srgbClr val="71D5DD"/>
                </a:solidFill>
                <a:latin typeface="Arial" pitchFamily="34" charset="0"/>
                <a:ea typeface="Arial" pitchFamily="34" charset="-122"/>
                <a:cs typeface="Arial" pitchFamily="34" charset="-120"/>
              </a:rPr>
              <a:t>SOURCE PORTABILITY</a:t>
            </a:r>
            <a:endParaRPr lang="en-US" sz="1750" dirty="0"/>
          </a:p>
        </p:txBody>
      </p:sp>
      <p:sp>
        <p:nvSpPr>
          <p:cNvPr id="9" name="Text 7"/>
          <p:cNvSpPr txBox="1"/>
          <p:nvPr/>
        </p:nvSpPr>
        <p:spPr>
          <a:xfrm>
            <a:off x="758952" y="2642616"/>
            <a:ext cx="3134360" cy="2267712"/>
          </a:xfrm>
          <a:prstGeom prst="rect">
            <a:avLst/>
          </a:prstGeom>
          <a:noFill/>
          <a:ln/>
        </p:spPr>
        <p:txBody>
          <a:bodyPr wrap="square" lIns="0" tIns="0" rIns="0" bIns="0" rtlCol="0" anchor="t"/>
          <a:lstStyle/>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Can the source be</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translated for the</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supported target?</a:t>
            </a:r>
            <a:endParaRPr lang="en-US" sz="2200" dirty="0"/>
          </a:p>
        </p:txBody>
      </p:sp>
      <p:sp>
        <p:nvSpPr>
          <p:cNvPr id="10" name="Shape 8"/>
          <p:cNvSpPr/>
          <p:nvPr/>
        </p:nvSpPr>
        <p:spPr>
          <a:xfrm>
            <a:off x="4313936" y="1764792"/>
            <a:ext cx="3564128" cy="3310128"/>
          </a:xfrm>
          <a:prstGeom prst="rect">
            <a:avLst/>
          </a:prstGeom>
          <a:solidFill>
            <a:srgbClr val="142238"/>
          </a:solidFill>
          <a:ln w="8890">
            <a:solidFill>
              <a:srgbClr val="2B415A"/>
            </a:solidFill>
            <a:prstDash val="solid"/>
          </a:ln>
        </p:spPr>
        <p:txBody>
          <a:bodyPr/>
          <a:p/>
        </p:txBody>
      </p:sp>
      <p:sp>
        <p:nvSpPr>
          <p:cNvPr id="11" name="Shape 9"/>
          <p:cNvSpPr/>
          <p:nvPr/>
        </p:nvSpPr>
        <p:spPr>
          <a:xfrm>
            <a:off x="4313936" y="1764792"/>
            <a:ext cx="41148" cy="3310128"/>
          </a:xfrm>
          <a:prstGeom prst="rect">
            <a:avLst/>
          </a:prstGeom>
          <a:solidFill>
            <a:srgbClr val="71D5DD"/>
          </a:solidFill>
          <a:ln w="8890">
            <a:solidFill>
              <a:srgbClr val="71D5DD"/>
            </a:solidFill>
            <a:prstDash val="solid"/>
          </a:ln>
        </p:spPr>
        <p:txBody>
          <a:bodyPr/>
          <a:p/>
        </p:txBody>
      </p:sp>
      <p:sp>
        <p:nvSpPr>
          <p:cNvPr id="12" name="Text 10"/>
          <p:cNvSpPr txBox="1"/>
          <p:nvPr/>
        </p:nvSpPr>
        <p:spPr>
          <a:xfrm>
            <a:off x="4524248" y="1975104"/>
            <a:ext cx="3134360" cy="557784"/>
          </a:xfrm>
          <a:prstGeom prst="rect">
            <a:avLst/>
          </a:prstGeom>
          <a:noFill/>
          <a:ln/>
        </p:spPr>
        <p:txBody>
          <a:bodyPr wrap="square" lIns="0" tIns="0" rIns="0" bIns="0" rtlCol="0" anchor="t"/>
          <a:lstStyle/>
          <a:p>
            <a:pPr algn="l" indent="0" marL="0">
              <a:lnSpc>
                <a:spcPct val="104000"/>
              </a:lnSpc>
              <a:buNone/>
            </a:pPr>
            <a:r>
              <a:rPr lang="en-US" sz="1750" b="1" dirty="0">
                <a:solidFill>
                  <a:srgbClr val="71D5DD"/>
                </a:solidFill>
                <a:latin typeface="Arial" pitchFamily="34" charset="0"/>
                <a:ea typeface="Arial" pitchFamily="34" charset="-122"/>
                <a:cs typeface="Arial" pitchFamily="34" charset="-120"/>
              </a:rPr>
              <a:t>BINARY COMPATIBILITY</a:t>
            </a:r>
            <a:endParaRPr lang="en-US" sz="1750" dirty="0"/>
          </a:p>
        </p:txBody>
      </p:sp>
      <p:sp>
        <p:nvSpPr>
          <p:cNvPr id="13" name="Text 11"/>
          <p:cNvSpPr txBox="1"/>
          <p:nvPr/>
        </p:nvSpPr>
        <p:spPr>
          <a:xfrm>
            <a:off x="4524248" y="2642616"/>
            <a:ext cx="3134360" cy="2267712"/>
          </a:xfrm>
          <a:prstGeom prst="rect">
            <a:avLst/>
          </a:prstGeom>
          <a:noFill/>
          <a:ln/>
        </p:spPr>
        <p:txBody>
          <a:bodyPr wrap="square" lIns="0" tIns="0" rIns="0" bIns="0" rtlCol="0" anchor="t"/>
          <a:lstStyle/>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Can compiled parts</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execute and exchange</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values correctly?</a:t>
            </a:r>
            <a:endParaRPr lang="en-US" sz="2200" dirty="0"/>
          </a:p>
        </p:txBody>
      </p:sp>
      <p:sp>
        <p:nvSpPr>
          <p:cNvPr id="14" name="Shape 12"/>
          <p:cNvSpPr/>
          <p:nvPr/>
        </p:nvSpPr>
        <p:spPr>
          <a:xfrm>
            <a:off x="8079232" y="1764792"/>
            <a:ext cx="3564128" cy="3310128"/>
          </a:xfrm>
          <a:prstGeom prst="rect">
            <a:avLst/>
          </a:prstGeom>
          <a:solidFill>
            <a:srgbClr val="142238"/>
          </a:solidFill>
          <a:ln w="8890">
            <a:solidFill>
              <a:srgbClr val="2B415A"/>
            </a:solidFill>
            <a:prstDash val="solid"/>
          </a:ln>
        </p:spPr>
        <p:txBody>
          <a:bodyPr/>
          <a:p/>
        </p:txBody>
      </p:sp>
      <p:sp>
        <p:nvSpPr>
          <p:cNvPr id="15" name="Shape 13"/>
          <p:cNvSpPr/>
          <p:nvPr/>
        </p:nvSpPr>
        <p:spPr>
          <a:xfrm>
            <a:off x="8079232" y="1764792"/>
            <a:ext cx="41148" cy="3310128"/>
          </a:xfrm>
          <a:prstGeom prst="rect">
            <a:avLst/>
          </a:prstGeom>
          <a:solidFill>
            <a:srgbClr val="71D5DD"/>
          </a:solidFill>
          <a:ln w="8890">
            <a:solidFill>
              <a:srgbClr val="71D5DD"/>
            </a:solidFill>
            <a:prstDash val="solid"/>
          </a:ln>
        </p:spPr>
        <p:txBody>
          <a:bodyPr/>
          <a:p/>
        </p:txBody>
      </p:sp>
      <p:sp>
        <p:nvSpPr>
          <p:cNvPr id="16" name="Text 14"/>
          <p:cNvSpPr txBox="1"/>
          <p:nvPr/>
        </p:nvSpPr>
        <p:spPr>
          <a:xfrm>
            <a:off x="8289544" y="1975104"/>
            <a:ext cx="3134360" cy="557784"/>
          </a:xfrm>
          <a:prstGeom prst="rect">
            <a:avLst/>
          </a:prstGeom>
          <a:noFill/>
          <a:ln/>
        </p:spPr>
        <p:txBody>
          <a:bodyPr wrap="square" lIns="0" tIns="0" rIns="0" bIns="0" rtlCol="0" anchor="t"/>
          <a:lstStyle/>
          <a:p>
            <a:pPr algn="l" indent="0" marL="0">
              <a:lnSpc>
                <a:spcPct val="104000"/>
              </a:lnSpc>
              <a:buNone/>
            </a:pPr>
            <a:r>
              <a:rPr lang="en-US" sz="1750" b="1" dirty="0">
                <a:solidFill>
                  <a:srgbClr val="71D5DD"/>
                </a:solidFill>
                <a:latin typeface="Arial" pitchFamily="34" charset="0"/>
                <a:ea typeface="Arial" pitchFamily="34" charset="-122"/>
                <a:cs typeface="Arial" pitchFamily="34" charset="-120"/>
              </a:rPr>
              <a:t>PERFORMANCE</a:t>
            </a:r>
            <a:endParaRPr lang="en-US" sz="1750" dirty="0"/>
          </a:p>
          <a:p>
            <a:pPr algn="l" indent="0" marL="0">
              <a:lnSpc>
                <a:spcPct val="104000"/>
              </a:lnSpc>
              <a:buNone/>
            </a:pPr>
            <a:r>
              <a:rPr lang="en-US" sz="1750" b="1" dirty="0">
                <a:solidFill>
                  <a:srgbClr val="71D5DD"/>
                </a:solidFill>
                <a:latin typeface="Arial" pitchFamily="34" charset="0"/>
                <a:ea typeface="Arial" pitchFamily="34" charset="-122"/>
                <a:cs typeface="Arial" pitchFamily="34" charset="-120"/>
              </a:rPr>
              <a:t>PORTABILITY</a:t>
            </a:r>
            <a:endParaRPr lang="en-US" sz="1750" dirty="0"/>
          </a:p>
        </p:txBody>
      </p:sp>
      <p:sp>
        <p:nvSpPr>
          <p:cNvPr id="17" name="Text 15"/>
          <p:cNvSpPr txBox="1"/>
          <p:nvPr/>
        </p:nvSpPr>
        <p:spPr>
          <a:xfrm>
            <a:off x="8289544" y="2642616"/>
            <a:ext cx="3134360" cy="2267712"/>
          </a:xfrm>
          <a:prstGeom prst="rect">
            <a:avLst/>
          </a:prstGeom>
          <a:noFill/>
          <a:ln/>
        </p:spPr>
        <p:txBody>
          <a:bodyPr wrap="square" lIns="0" tIns="0" rIns="0" bIns="0" rtlCol="0" anchor="t"/>
          <a:lstStyle/>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Does the implementation</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meet its performance</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goals on each target?</a:t>
            </a:r>
            <a:endParaRPr lang="en-US" sz="2200" dirty="0"/>
          </a:p>
        </p:txBody>
      </p:sp>
      <p:sp>
        <p:nvSpPr>
          <p:cNvPr id="18" name="Text 16"/>
          <p:cNvSpPr txBox="1"/>
          <p:nvPr/>
        </p:nvSpPr>
        <p:spPr>
          <a:xfrm>
            <a:off x="548640" y="5193792"/>
            <a:ext cx="11094720" cy="274320"/>
          </a:xfrm>
          <a:prstGeom prst="rect">
            <a:avLst/>
          </a:prstGeom>
          <a:noFill/>
          <a:ln/>
        </p:spPr>
        <p:txBody>
          <a:bodyPr wrap="square" lIns="0" tIns="0" rIns="0" bIns="0" rtlCol="0" anchor="t"/>
          <a:lstStyle/>
          <a:p>
            <a:pPr algn="l" indent="0" marL="0">
              <a:lnSpc>
                <a:spcPct val="104000"/>
              </a:lnSpc>
              <a:buNone/>
            </a:pPr>
            <a:r>
              <a:rPr lang="en-US" sz="1140" dirty="0">
                <a:solidFill>
                  <a:srgbClr val="B3C3D6"/>
                </a:solidFill>
                <a:latin typeface="Arial" pitchFamily="34" charset="0"/>
                <a:ea typeface="Arial" pitchFamily="34" charset="-122"/>
                <a:cs typeface="Arial" pitchFamily="34" charset="-120"/>
              </a:rPr>
              <a:t>Declare supported environments and test assumptions at the boundary where they matter.</a:t>
            </a:r>
            <a:endParaRPr lang="en-US" sz="1140" dirty="0"/>
          </a:p>
        </p:txBody>
      </p:sp>
      <p:sp>
        <p:nvSpPr>
          <p:cNvPr id="23" name="Text 21"/>
          <p:cNvSpPr txBox="1"/>
          <p:nvPr/>
        </p:nvSpPr>
        <p:spPr>
          <a:xfrm>
            <a:off x="548640" y="6601968"/>
            <a:ext cx="10241280" cy="128016"/>
          </a:xfrm>
          <a:prstGeom prst="rect">
            <a:avLst/>
          </a:prstGeom>
          <a:noFill/>
          <a:ln/>
        </p:spPr>
        <p:txBody>
          <a:bodyPr wrap="square" lIns="0" tIns="0" rIns="0" bIns="0" rtlCol="0" anchor="t"/>
          <a:lstStyle/>
          <a:p>
            <a:pPr algn="l" indent="0" marL="0">
              <a:lnSpc>
                <a:spcPct val="104000"/>
              </a:lnSpc>
              <a:buNone/>
            </a:pPr>
            <a:r>
              <a:rPr lang="en-US" sz="830" dirty="0">
                <a:solidFill>
                  <a:srgbClr val="B3C3D6"/>
                </a:solidFill>
                <a:latin typeface="Arial" pitchFamily="34" charset="0"/>
                <a:ea typeface="Arial" pitchFamily="34" charset="-122"/>
                <a:cs typeface="Arial" pitchFamily="34" charset="-120"/>
              </a:rPr>
              <a:t>Source: original 15</a:t>
            </a:r>
            <a:endParaRPr lang="en-US" sz="830" dirty="0"/>
          </a:p>
        </p:txBody>
      </p:sp>
      <p:sp>
        <p:nvSpPr>
          <p:cNvPr id="24" name="Text 22"/>
          <p:cNvSpPr txBox="1"/>
          <p:nvPr/>
        </p:nvSpPr>
        <p:spPr>
          <a:xfrm>
            <a:off x="10917936" y="6565392"/>
            <a:ext cx="722376" cy="219456"/>
          </a:xfrm>
          <a:prstGeom prst="rect">
            <a:avLst/>
          </a:prstGeom>
          <a:noFill/>
          <a:ln/>
        </p:spPr>
        <p:txBody>
          <a:bodyPr wrap="square" lIns="0" tIns="0" rIns="0" bIns="0" rtlCol="0" anchor="t"/>
          <a:lstStyle/>
          <a:p>
            <a:pPr algn="r" indent="0" marL="0">
              <a:lnSpc>
                <a:spcPct val="104000"/>
              </a:lnSpc>
              <a:buNone/>
            </a:pPr>
            <a:r>
              <a:rPr lang="en-US" sz="1050" dirty="0">
                <a:solidFill>
                  <a:srgbClr val="B3C3D6"/>
                </a:solidFill>
                <a:latin typeface="Arial" pitchFamily="34" charset="0"/>
                <a:ea typeface="Arial" pitchFamily="34" charset="-122"/>
                <a:cs typeface="Arial" pitchFamily="34" charset="-120"/>
              </a:rPr>
              <a:t>48 / 64</a:t>
            </a:r>
            <a:endParaRPr lang="en-US" sz="1050" dirty="0"/>
          </a:p>
        </p:txBody>
      </p:sp>
      <p:sp>
        <p:nvSpPr>
          <p:cNvPr id="25" name="Shape 23"/>
          <p:cNvSpPr/>
          <p:nvPr/>
        </p:nvSpPr>
        <p:spPr>
          <a:xfrm>
            <a:off x="0" y="6834226"/>
            <a:ext cx="12192000" cy="23774"/>
          </a:xfrm>
          <a:prstGeom prst="rect">
            <a:avLst/>
          </a:prstGeom>
          <a:solidFill>
            <a:srgbClr val="2B415A"/>
          </a:solidFill>
          <a:ln w="8890">
            <a:solidFill>
              <a:srgbClr val="2B415A"/>
            </a:solidFill>
            <a:prstDash val="solid"/>
          </a:ln>
        </p:spPr>
        <p:txBody>
          <a:bodyPr/>
          <a:p/>
        </p:txBody>
      </p:sp>
      <p:sp>
        <p:nvSpPr>
          <p:cNvPr id="26" name="Shape 24"/>
          <p:cNvSpPr/>
          <p:nvPr/>
        </p:nvSpPr>
        <p:spPr>
          <a:xfrm>
            <a:off x="0" y="6834226"/>
            <a:ext cx="9144000" cy="23774"/>
          </a:xfrm>
          <a:prstGeom prst="rect">
            <a:avLst/>
          </a:prstGeom>
          <a:solidFill>
            <a:srgbClr val="71D5DD"/>
          </a:solidFill>
          <a:ln w="8890">
            <a:solidFill>
              <a:srgbClr val="71D5DD"/>
            </a:solidFill>
            <a:prstDash val="solid"/>
          </a:ln>
        </p:spPr>
        <p:txBody>
          <a:body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txBox="1"/>
          <p:nvPr/>
        </p:nvSpPr>
        <p:spPr>
          <a:xfrm>
            <a:off x="548640" y="219456"/>
            <a:ext cx="9875520" cy="192024"/>
          </a:xfrm>
          <a:prstGeom prst="rect">
            <a:avLst/>
          </a:prstGeom>
          <a:noFill/>
          <a:ln/>
        </p:spPr>
        <p:txBody>
          <a:bodyPr wrap="square" lIns="0" tIns="0" rIns="0" bIns="0" rtlCol="0" anchor="t"/>
          <a:lstStyle/>
          <a:p>
            <a:pPr algn="l" indent="0" marL="0">
              <a:lnSpc>
                <a:spcPct val="104000"/>
              </a:lnSpc>
              <a:buNone/>
            </a:pPr>
            <a:r>
              <a:rPr lang="en-US" sz="970" b="1" spc="135" kern="0" dirty="0">
                <a:solidFill>
                  <a:srgbClr val="B3C3D6"/>
                </a:solidFill>
                <a:latin typeface="Arial" pitchFamily="34" charset="0"/>
                <a:ea typeface="Arial" pitchFamily="34" charset="-122"/>
                <a:cs typeface="Arial" pitchFamily="34" charset="-120"/>
              </a:rPr>
              <a:t>SYSTEMS PROGRAMMING AND MACHINE ORGANIZATION</a:t>
            </a:r>
            <a:endParaRPr lang="en-US" sz="970" dirty="0"/>
          </a:p>
        </p:txBody>
      </p:sp>
      <p:sp>
        <p:nvSpPr>
          <p:cNvPr id="3" name="Text 1"/>
          <p:cNvSpPr txBox="1"/>
          <p:nvPr/>
        </p:nvSpPr>
        <p:spPr>
          <a:xfrm>
            <a:off x="9601200" y="219456"/>
            <a:ext cx="2039112" cy="192024"/>
          </a:xfrm>
          <a:prstGeom prst="rect">
            <a:avLst/>
          </a:prstGeom>
          <a:noFill/>
          <a:ln/>
        </p:spPr>
        <p:txBody>
          <a:bodyPr wrap="square" lIns="0" tIns="0" rIns="0" bIns="0" rtlCol="0" anchor="t"/>
          <a:lstStyle/>
          <a:p>
            <a:pPr algn="r" indent="0" marL="0">
              <a:lnSpc>
                <a:spcPct val="104000"/>
              </a:lnSpc>
              <a:buNone/>
            </a:pPr>
            <a:r>
              <a:rPr lang="en-US" sz="970" b="1" dirty="0">
                <a:solidFill>
                  <a:srgbClr val="B3C3D6"/>
                </a:solidFill>
                <a:latin typeface="Arial" pitchFamily="34" charset="0"/>
                <a:ea typeface="Arial" pitchFamily="34" charset="-122"/>
                <a:cs typeface="Arial" pitchFamily="34" charset="-120"/>
              </a:rPr>
              <a:t>CHARLES DORNER</a:t>
            </a:r>
            <a:endParaRPr lang="en-US" sz="970" dirty="0"/>
          </a:p>
        </p:txBody>
      </p:sp>
      <p:sp>
        <p:nvSpPr>
          <p:cNvPr id="4" name="Text 2"/>
          <p:cNvSpPr txBox="1"/>
          <p:nvPr/>
        </p:nvSpPr>
        <p:spPr>
          <a:xfrm>
            <a:off x="548640" y="566928"/>
            <a:ext cx="11109960" cy="237744"/>
          </a:xfrm>
          <a:prstGeom prst="rect">
            <a:avLst/>
          </a:prstGeom>
          <a:noFill/>
          <a:ln/>
        </p:spPr>
        <p:txBody>
          <a:bodyPr wrap="square" lIns="0" tIns="0" rIns="0" bIns="0" rtlCol="0" anchor="t"/>
          <a:lstStyle/>
          <a:p>
            <a:pPr algn="l" indent="0" marL="0">
              <a:lnSpc>
                <a:spcPct val="104000"/>
              </a:lnSpc>
              <a:buNone/>
            </a:pPr>
            <a:r>
              <a:rPr lang="en-US" sz="1150" b="1" dirty="0">
                <a:solidFill>
                  <a:srgbClr val="71D5DD"/>
                </a:solidFill>
                <a:latin typeface="Arial" pitchFamily="34" charset="0"/>
                <a:ea typeface="Arial" pitchFamily="34" charset="-122"/>
                <a:cs typeface="Arial" pitchFamily="34" charset="-120"/>
              </a:rPr>
              <a:t>1.3.6 · EXPLICIT REPRESENTATION</a:t>
            </a:r>
            <a:endParaRPr lang="en-US" sz="1150" dirty="0"/>
          </a:p>
        </p:txBody>
      </p:sp>
      <p:sp>
        <p:nvSpPr>
          <p:cNvPr id="5" name="Text 3"/>
          <p:cNvSpPr txBox="1"/>
          <p:nvPr/>
        </p:nvSpPr>
        <p:spPr>
          <a:xfrm>
            <a:off x="548640" y="941832"/>
            <a:ext cx="11091672" cy="676656"/>
          </a:xfrm>
          <a:prstGeom prst="rect">
            <a:avLst/>
          </a:prstGeom>
          <a:noFill/>
          <a:ln/>
        </p:spPr>
        <p:txBody>
          <a:bodyPr wrap="square" lIns="0" tIns="0" rIns="0" bIns="0" rtlCol="0" anchor="t"/>
          <a:lstStyle/>
          <a:p>
            <a:pPr algn="l" indent="0" marL="0">
              <a:lnSpc>
                <a:spcPct val="104000"/>
              </a:lnSpc>
              <a:buNone/>
            </a:pPr>
            <a:r>
              <a:rPr lang="en-US" sz="3150" b="1" dirty="0">
                <a:solidFill>
                  <a:srgbClr val="F4F7FB"/>
                </a:solidFill>
                <a:latin typeface="Arial" pitchFamily="34" charset="0"/>
                <a:ea typeface="Arial" pitchFamily="34" charset="-122"/>
                <a:cs typeface="Arial" pitchFamily="34" charset="-120"/>
              </a:rPr>
              <a:t>Serialize a value—not an accidental object layout</a:t>
            </a:r>
            <a:endParaRPr lang="en-US" sz="3150" dirty="0"/>
          </a:p>
        </p:txBody>
      </p:sp>
      <p:sp>
        <p:nvSpPr>
          <p:cNvPr id="6" name="Shape 4"/>
          <p:cNvSpPr/>
          <p:nvPr/>
        </p:nvSpPr>
        <p:spPr>
          <a:xfrm>
            <a:off x="548640" y="1764792"/>
            <a:ext cx="3975608" cy="402336"/>
          </a:xfrm>
          <a:prstGeom prst="rect">
            <a:avLst/>
          </a:prstGeom>
          <a:solidFill>
            <a:srgbClr val="172940"/>
          </a:solidFill>
          <a:ln w="8890">
            <a:solidFill>
              <a:srgbClr val="172940"/>
            </a:solidFill>
            <a:prstDash val="solid"/>
          </a:ln>
        </p:spPr>
        <p:txBody>
          <a:bodyPr/>
          <a:p/>
        </p:txBody>
      </p:sp>
      <p:sp>
        <p:nvSpPr>
          <p:cNvPr id="7" name="Text 5"/>
          <p:cNvSpPr txBox="1"/>
          <p:nvPr/>
        </p:nvSpPr>
        <p:spPr>
          <a:xfrm>
            <a:off x="676656" y="1851660"/>
            <a:ext cx="3719576" cy="301752"/>
          </a:xfrm>
          <a:prstGeom prst="rect">
            <a:avLst/>
          </a:prstGeom>
          <a:noFill/>
          <a:ln/>
        </p:spPr>
        <p:txBody>
          <a:bodyPr wrap="square" lIns="0" tIns="0" rIns="0" bIns="0" rtlCol="0" anchor="t"/>
          <a:lstStyle/>
          <a:p>
            <a:pPr algn="l" indent="0" marL="0">
              <a:lnSpc>
                <a:spcPct val="104000"/>
              </a:lnSpc>
              <a:buNone/>
            </a:pPr>
            <a:r>
              <a:rPr lang="en-US" sz="1240" b="1" dirty="0">
                <a:solidFill>
                  <a:srgbClr val="71D5DD"/>
                </a:solidFill>
                <a:latin typeface="Arial" pitchFamily="34" charset="0"/>
                <a:ea typeface="Arial" pitchFamily="34" charset="-122"/>
                <a:cs typeface="Arial" pitchFamily="34" charset="-120"/>
              </a:rPr>
              <a:t>Representation of 0x01020304</a:t>
            </a:r>
            <a:endParaRPr lang="en-US" sz="1240" dirty="0"/>
          </a:p>
        </p:txBody>
      </p:sp>
      <p:sp>
        <p:nvSpPr>
          <p:cNvPr id="8" name="Shape 6"/>
          <p:cNvSpPr/>
          <p:nvPr/>
        </p:nvSpPr>
        <p:spPr>
          <a:xfrm>
            <a:off x="4524248" y="1764792"/>
            <a:ext cx="3235960" cy="402336"/>
          </a:xfrm>
          <a:prstGeom prst="rect">
            <a:avLst/>
          </a:prstGeom>
          <a:solidFill>
            <a:srgbClr val="172940"/>
          </a:solidFill>
          <a:ln w="8890">
            <a:solidFill>
              <a:srgbClr val="172940"/>
            </a:solidFill>
            <a:prstDash val="solid"/>
          </a:ln>
        </p:spPr>
        <p:txBody>
          <a:bodyPr/>
          <a:p/>
        </p:txBody>
      </p:sp>
      <p:sp>
        <p:nvSpPr>
          <p:cNvPr id="9" name="Text 7"/>
          <p:cNvSpPr txBox="1"/>
          <p:nvPr/>
        </p:nvSpPr>
        <p:spPr>
          <a:xfrm>
            <a:off x="4652264" y="1851660"/>
            <a:ext cx="2979928" cy="301752"/>
          </a:xfrm>
          <a:prstGeom prst="rect">
            <a:avLst/>
          </a:prstGeom>
          <a:noFill/>
          <a:ln/>
        </p:spPr>
        <p:txBody>
          <a:bodyPr wrap="square" lIns="0" tIns="0" rIns="0" bIns="0" rtlCol="0" anchor="t"/>
          <a:lstStyle/>
          <a:p>
            <a:pPr algn="l" indent="0" marL="0">
              <a:lnSpc>
                <a:spcPct val="104000"/>
              </a:lnSpc>
              <a:buNone/>
            </a:pPr>
            <a:r>
              <a:rPr lang="en-US" sz="1240" b="1" dirty="0">
                <a:solidFill>
                  <a:srgbClr val="71D5DD"/>
                </a:solidFill>
                <a:latin typeface="Arial" pitchFamily="34" charset="0"/>
                <a:ea typeface="Arial" pitchFamily="34" charset="-122"/>
                <a:cs typeface="Arial" pitchFamily="34" charset="-120"/>
              </a:rPr>
              <a:t>First byte → last byte</a:t>
            </a:r>
            <a:endParaRPr lang="en-US" sz="1240" dirty="0"/>
          </a:p>
        </p:txBody>
      </p:sp>
      <p:sp>
        <p:nvSpPr>
          <p:cNvPr id="10" name="Shape 8"/>
          <p:cNvSpPr/>
          <p:nvPr/>
        </p:nvSpPr>
        <p:spPr>
          <a:xfrm>
            <a:off x="7760208" y="1764792"/>
            <a:ext cx="3883152" cy="402336"/>
          </a:xfrm>
          <a:prstGeom prst="rect">
            <a:avLst/>
          </a:prstGeom>
          <a:solidFill>
            <a:srgbClr val="172940"/>
          </a:solidFill>
          <a:ln w="8890">
            <a:solidFill>
              <a:srgbClr val="172940"/>
            </a:solidFill>
            <a:prstDash val="solid"/>
          </a:ln>
        </p:spPr>
        <p:txBody>
          <a:bodyPr/>
          <a:p/>
        </p:txBody>
      </p:sp>
      <p:sp>
        <p:nvSpPr>
          <p:cNvPr id="11" name="Text 9"/>
          <p:cNvSpPr txBox="1"/>
          <p:nvPr/>
        </p:nvSpPr>
        <p:spPr>
          <a:xfrm>
            <a:off x="7888224" y="1851660"/>
            <a:ext cx="3627120" cy="301752"/>
          </a:xfrm>
          <a:prstGeom prst="rect">
            <a:avLst/>
          </a:prstGeom>
          <a:noFill/>
          <a:ln/>
        </p:spPr>
        <p:txBody>
          <a:bodyPr wrap="square" lIns="0" tIns="0" rIns="0" bIns="0" rtlCol="0" anchor="t"/>
          <a:lstStyle/>
          <a:p>
            <a:pPr algn="l" indent="0" marL="0">
              <a:lnSpc>
                <a:spcPct val="104000"/>
              </a:lnSpc>
              <a:buNone/>
            </a:pPr>
            <a:r>
              <a:rPr lang="en-US" sz="1240" b="1" dirty="0">
                <a:solidFill>
                  <a:srgbClr val="71D5DD"/>
                </a:solidFill>
                <a:latin typeface="Arial" pitchFamily="34" charset="0"/>
                <a:ea typeface="Arial" pitchFamily="34" charset="-122"/>
                <a:cs typeface="Arial" pitchFamily="34" charset="-120"/>
              </a:rPr>
              <a:t>Meaning</a:t>
            </a:r>
            <a:endParaRPr lang="en-US" sz="1240" dirty="0"/>
          </a:p>
        </p:txBody>
      </p:sp>
      <p:sp>
        <p:nvSpPr>
          <p:cNvPr id="12" name="Shape 10"/>
          <p:cNvSpPr/>
          <p:nvPr/>
        </p:nvSpPr>
        <p:spPr>
          <a:xfrm>
            <a:off x="548640" y="2167128"/>
            <a:ext cx="3975608" cy="1056132"/>
          </a:xfrm>
          <a:prstGeom prst="rect">
            <a:avLst/>
          </a:prstGeom>
          <a:solidFill>
            <a:srgbClr val="142238"/>
          </a:solidFill>
          <a:ln w="8890">
            <a:solidFill>
              <a:srgbClr val="142238"/>
            </a:solidFill>
            <a:prstDash val="solid"/>
          </a:ln>
        </p:spPr>
        <p:txBody>
          <a:bodyPr/>
          <a:p/>
        </p:txBody>
      </p:sp>
      <p:sp>
        <p:nvSpPr>
          <p:cNvPr id="13" name="Text 11"/>
          <p:cNvSpPr txBox="1"/>
          <p:nvPr/>
        </p:nvSpPr>
        <p:spPr>
          <a:xfrm>
            <a:off x="676656" y="2217420"/>
            <a:ext cx="3719576" cy="964692"/>
          </a:xfrm>
          <a:prstGeom prst="rect">
            <a:avLst/>
          </a:prstGeom>
          <a:noFill/>
          <a:ln/>
        </p:spPr>
        <p:txBody>
          <a:bodyPr wrap="square" lIns="0" tIns="0" rIns="0" bIns="0" rtlCol="0" anchor="t"/>
          <a:lstStyle/>
          <a:p>
            <a:pPr algn="l" indent="0" marL="0">
              <a:lnSpc>
                <a:spcPct val="104000"/>
              </a:lnSpc>
              <a:buNone/>
            </a:pPr>
            <a:r>
              <a:rPr lang="en-US" sz="1800" b="1" dirty="0">
                <a:solidFill>
                  <a:srgbClr val="F4F7FB"/>
                </a:solidFill>
                <a:latin typeface="Arial" pitchFamily="34" charset="0"/>
                <a:ea typeface="Arial" pitchFamily="34" charset="-122"/>
                <a:cs typeface="Arial" pitchFamily="34" charset="-120"/>
              </a:rPr>
              <a:t>Most-significant byte first</a:t>
            </a:r>
            <a:endParaRPr lang="en-US" sz="1800" dirty="0"/>
          </a:p>
        </p:txBody>
      </p:sp>
      <p:sp>
        <p:nvSpPr>
          <p:cNvPr id="14" name="Shape 12"/>
          <p:cNvSpPr/>
          <p:nvPr/>
        </p:nvSpPr>
        <p:spPr>
          <a:xfrm>
            <a:off x="4524248" y="2167128"/>
            <a:ext cx="3235960" cy="1056132"/>
          </a:xfrm>
          <a:prstGeom prst="rect">
            <a:avLst/>
          </a:prstGeom>
          <a:solidFill>
            <a:srgbClr val="142238"/>
          </a:solidFill>
          <a:ln w="8890">
            <a:solidFill>
              <a:srgbClr val="142238"/>
            </a:solidFill>
            <a:prstDash val="solid"/>
          </a:ln>
        </p:spPr>
        <p:txBody>
          <a:bodyPr/>
          <a:p/>
        </p:txBody>
      </p:sp>
      <p:sp>
        <p:nvSpPr>
          <p:cNvPr id="15" name="Text 13"/>
          <p:cNvSpPr txBox="1"/>
          <p:nvPr/>
        </p:nvSpPr>
        <p:spPr>
          <a:xfrm>
            <a:off x="4652264" y="2217420"/>
            <a:ext cx="2979928" cy="964692"/>
          </a:xfrm>
          <a:prstGeom prst="rect">
            <a:avLst/>
          </a:prstGeom>
          <a:noFill/>
          <a:ln/>
        </p:spPr>
        <p:txBody>
          <a:bodyPr wrap="square" lIns="0" tIns="0" rIns="0" bIns="0" rtlCol="0" anchor="t"/>
          <a:lstStyle/>
          <a:p>
            <a:pPr algn="l" indent="0" marL="0">
              <a:lnSpc>
                <a:spcPct val="104000"/>
              </a:lnSpc>
              <a:buNone/>
            </a:pPr>
            <a:r>
              <a:rPr lang="en-US" sz="1800" dirty="0">
                <a:solidFill>
                  <a:srgbClr val="B3C3D6"/>
                </a:solidFill>
                <a:latin typeface="Arial" pitchFamily="34" charset="0"/>
                <a:ea typeface="Arial" pitchFamily="34" charset="-122"/>
                <a:cs typeface="Arial" pitchFamily="34" charset="-120"/>
              </a:rPr>
              <a:t>01 02 03 04</a:t>
            </a:r>
            <a:endParaRPr lang="en-US" sz="1800" dirty="0"/>
          </a:p>
        </p:txBody>
      </p:sp>
      <p:sp>
        <p:nvSpPr>
          <p:cNvPr id="16" name="Shape 14"/>
          <p:cNvSpPr/>
          <p:nvPr/>
        </p:nvSpPr>
        <p:spPr>
          <a:xfrm>
            <a:off x="7760208" y="2167128"/>
            <a:ext cx="3883152" cy="1056132"/>
          </a:xfrm>
          <a:prstGeom prst="rect">
            <a:avLst/>
          </a:prstGeom>
          <a:solidFill>
            <a:srgbClr val="142238"/>
          </a:solidFill>
          <a:ln w="8890">
            <a:solidFill>
              <a:srgbClr val="142238"/>
            </a:solidFill>
            <a:prstDash val="solid"/>
          </a:ln>
        </p:spPr>
        <p:txBody>
          <a:bodyPr/>
          <a:p/>
        </p:txBody>
      </p:sp>
      <p:sp>
        <p:nvSpPr>
          <p:cNvPr id="17" name="Text 15"/>
          <p:cNvSpPr txBox="1"/>
          <p:nvPr/>
        </p:nvSpPr>
        <p:spPr>
          <a:xfrm>
            <a:off x="7888224" y="2217420"/>
            <a:ext cx="3627120" cy="964692"/>
          </a:xfrm>
          <a:prstGeom prst="rect">
            <a:avLst/>
          </a:prstGeom>
          <a:noFill/>
          <a:ln/>
        </p:spPr>
        <p:txBody>
          <a:bodyPr wrap="square" lIns="0" tIns="0" rIns="0" bIns="0" rtlCol="0" anchor="t"/>
          <a:lstStyle/>
          <a:p>
            <a:pPr algn="l" indent="0" marL="0">
              <a:lnSpc>
                <a:spcPct val="104000"/>
              </a:lnSpc>
              <a:buNone/>
            </a:pPr>
            <a:r>
              <a:rPr lang="en-US" sz="1800" dirty="0">
                <a:solidFill>
                  <a:srgbClr val="B3C3D6"/>
                </a:solidFill>
                <a:latin typeface="Arial" pitchFamily="34" charset="0"/>
                <a:ea typeface="Arial" pitchFamily="34" charset="-122"/>
                <a:cs typeface="Arial" pitchFamily="34" charset="-120"/>
              </a:rPr>
              <a:t>Explicit order chosen by this</a:t>
            </a:r>
            <a:endParaRPr lang="en-US" sz="1800" dirty="0"/>
          </a:p>
          <a:p>
            <a:pPr algn="l" indent="0" marL="0">
              <a:lnSpc>
                <a:spcPct val="104000"/>
              </a:lnSpc>
              <a:buNone/>
            </a:pPr>
            <a:r>
              <a:rPr lang="en-US" sz="1800" dirty="0">
                <a:solidFill>
                  <a:srgbClr val="B3C3D6"/>
                </a:solidFill>
                <a:latin typeface="Arial" pitchFamily="34" charset="0"/>
                <a:ea typeface="Arial" pitchFamily="34" charset="-122"/>
                <a:cs typeface="Arial" pitchFamily="34" charset="-120"/>
              </a:rPr>
              <a:t>example format</a:t>
            </a:r>
            <a:endParaRPr lang="en-US" sz="1800" dirty="0"/>
          </a:p>
        </p:txBody>
      </p:sp>
      <p:sp>
        <p:nvSpPr>
          <p:cNvPr id="18" name="Shape 16"/>
          <p:cNvSpPr/>
          <p:nvPr/>
        </p:nvSpPr>
        <p:spPr>
          <a:xfrm>
            <a:off x="548640" y="3223260"/>
            <a:ext cx="11094720" cy="0"/>
          </a:xfrm>
          <a:prstGeom prst="line">
            <a:avLst/>
          </a:prstGeom>
          <a:noFill/>
          <a:ln w="12700">
            <a:solidFill>
              <a:srgbClr val="2B415A"/>
            </a:solidFill>
            <a:prstDash val="solid"/>
          </a:ln>
        </p:spPr>
        <p:txBody>
          <a:bodyPr/>
          <a:p/>
        </p:txBody>
      </p:sp>
      <p:sp>
        <p:nvSpPr>
          <p:cNvPr id="19" name="Shape 17"/>
          <p:cNvSpPr/>
          <p:nvPr/>
        </p:nvSpPr>
        <p:spPr>
          <a:xfrm>
            <a:off x="548640" y="3223260"/>
            <a:ext cx="3975608" cy="795528"/>
          </a:xfrm>
          <a:prstGeom prst="rect">
            <a:avLst/>
          </a:prstGeom>
          <a:solidFill>
            <a:srgbClr val="0B1322"/>
          </a:solidFill>
          <a:ln w="8890">
            <a:solidFill>
              <a:srgbClr val="0B1322"/>
            </a:solidFill>
            <a:prstDash val="solid"/>
          </a:ln>
        </p:spPr>
        <p:txBody>
          <a:bodyPr/>
          <a:p/>
        </p:txBody>
      </p:sp>
      <p:sp>
        <p:nvSpPr>
          <p:cNvPr id="20" name="Text 18"/>
          <p:cNvSpPr txBox="1"/>
          <p:nvPr/>
        </p:nvSpPr>
        <p:spPr>
          <a:xfrm>
            <a:off x="676656" y="3273552"/>
            <a:ext cx="3719576" cy="704088"/>
          </a:xfrm>
          <a:prstGeom prst="rect">
            <a:avLst/>
          </a:prstGeom>
          <a:noFill/>
          <a:ln/>
        </p:spPr>
        <p:txBody>
          <a:bodyPr wrap="square" lIns="0" tIns="0" rIns="0" bIns="0" rtlCol="0" anchor="t"/>
          <a:lstStyle/>
          <a:p>
            <a:pPr algn="l" indent="0" marL="0">
              <a:lnSpc>
                <a:spcPct val="104000"/>
              </a:lnSpc>
              <a:buNone/>
            </a:pPr>
            <a:r>
              <a:rPr lang="en-US" sz="1800" b="1" dirty="0">
                <a:solidFill>
                  <a:srgbClr val="F4F7FB"/>
                </a:solidFill>
                <a:latin typeface="Arial" pitchFamily="34" charset="0"/>
                <a:ea typeface="Arial" pitchFamily="34" charset="-122"/>
                <a:cs typeface="Arial" pitchFamily="34" charset="-120"/>
              </a:rPr>
              <a:t>Least-significant byte first</a:t>
            </a:r>
            <a:endParaRPr lang="en-US" sz="1800" dirty="0"/>
          </a:p>
        </p:txBody>
      </p:sp>
      <p:sp>
        <p:nvSpPr>
          <p:cNvPr id="21" name="Shape 19"/>
          <p:cNvSpPr/>
          <p:nvPr/>
        </p:nvSpPr>
        <p:spPr>
          <a:xfrm>
            <a:off x="4524248" y="3223260"/>
            <a:ext cx="3235960" cy="795528"/>
          </a:xfrm>
          <a:prstGeom prst="rect">
            <a:avLst/>
          </a:prstGeom>
          <a:solidFill>
            <a:srgbClr val="0B1322"/>
          </a:solidFill>
          <a:ln w="8890">
            <a:solidFill>
              <a:srgbClr val="0B1322"/>
            </a:solidFill>
            <a:prstDash val="solid"/>
          </a:ln>
        </p:spPr>
        <p:txBody>
          <a:bodyPr/>
          <a:p/>
        </p:txBody>
      </p:sp>
      <p:sp>
        <p:nvSpPr>
          <p:cNvPr id="22" name="Text 20"/>
          <p:cNvSpPr txBox="1"/>
          <p:nvPr/>
        </p:nvSpPr>
        <p:spPr>
          <a:xfrm>
            <a:off x="4652264" y="3273552"/>
            <a:ext cx="2979928" cy="704088"/>
          </a:xfrm>
          <a:prstGeom prst="rect">
            <a:avLst/>
          </a:prstGeom>
          <a:noFill/>
          <a:ln/>
        </p:spPr>
        <p:txBody>
          <a:bodyPr wrap="square" lIns="0" tIns="0" rIns="0" bIns="0" rtlCol="0" anchor="t"/>
          <a:lstStyle/>
          <a:p>
            <a:pPr algn="l" indent="0" marL="0">
              <a:lnSpc>
                <a:spcPct val="104000"/>
              </a:lnSpc>
              <a:buNone/>
            </a:pPr>
            <a:r>
              <a:rPr lang="en-US" sz="1800" dirty="0">
                <a:solidFill>
                  <a:srgbClr val="B3C3D6"/>
                </a:solidFill>
                <a:latin typeface="Arial" pitchFamily="34" charset="0"/>
                <a:ea typeface="Arial" pitchFamily="34" charset="-122"/>
                <a:cs typeface="Arial" pitchFamily="34" charset="-120"/>
              </a:rPr>
              <a:t>04 03 02 01</a:t>
            </a:r>
            <a:endParaRPr lang="en-US" sz="1800" dirty="0"/>
          </a:p>
        </p:txBody>
      </p:sp>
      <p:sp>
        <p:nvSpPr>
          <p:cNvPr id="23" name="Shape 21"/>
          <p:cNvSpPr/>
          <p:nvPr/>
        </p:nvSpPr>
        <p:spPr>
          <a:xfrm>
            <a:off x="7760208" y="3223260"/>
            <a:ext cx="3883152" cy="795528"/>
          </a:xfrm>
          <a:prstGeom prst="rect">
            <a:avLst/>
          </a:prstGeom>
          <a:solidFill>
            <a:srgbClr val="0B1322"/>
          </a:solidFill>
          <a:ln w="8890">
            <a:solidFill>
              <a:srgbClr val="0B1322"/>
            </a:solidFill>
            <a:prstDash val="solid"/>
          </a:ln>
        </p:spPr>
        <p:txBody>
          <a:bodyPr/>
          <a:p/>
        </p:txBody>
      </p:sp>
      <p:sp>
        <p:nvSpPr>
          <p:cNvPr id="24" name="Text 22"/>
          <p:cNvSpPr txBox="1"/>
          <p:nvPr/>
        </p:nvSpPr>
        <p:spPr>
          <a:xfrm>
            <a:off x="7888224" y="3273552"/>
            <a:ext cx="3627120" cy="704088"/>
          </a:xfrm>
          <a:prstGeom prst="rect">
            <a:avLst/>
          </a:prstGeom>
          <a:noFill/>
          <a:ln/>
        </p:spPr>
        <p:txBody>
          <a:bodyPr wrap="square" lIns="0" tIns="0" rIns="0" bIns="0" rtlCol="0" anchor="t"/>
          <a:lstStyle/>
          <a:p>
            <a:pPr algn="l" indent="0" marL="0">
              <a:lnSpc>
                <a:spcPct val="104000"/>
              </a:lnSpc>
              <a:buNone/>
            </a:pPr>
            <a:r>
              <a:rPr lang="en-US" sz="1800" dirty="0">
                <a:solidFill>
                  <a:srgbClr val="B3C3D6"/>
                </a:solidFill>
                <a:latin typeface="Arial" pitchFamily="34" charset="0"/>
                <a:ea typeface="Arial" pitchFamily="34" charset="-122"/>
                <a:cs typeface="Arial" pitchFamily="34" charset="-120"/>
              </a:rPr>
              <a:t>A different valid internal ordering</a:t>
            </a:r>
            <a:endParaRPr lang="en-US" sz="1800" dirty="0"/>
          </a:p>
        </p:txBody>
      </p:sp>
      <p:sp>
        <p:nvSpPr>
          <p:cNvPr id="25" name="Shape 23"/>
          <p:cNvSpPr/>
          <p:nvPr/>
        </p:nvSpPr>
        <p:spPr>
          <a:xfrm>
            <a:off x="548640" y="4018788"/>
            <a:ext cx="11094720" cy="0"/>
          </a:xfrm>
          <a:prstGeom prst="line">
            <a:avLst/>
          </a:prstGeom>
          <a:noFill/>
          <a:ln w="12700">
            <a:solidFill>
              <a:srgbClr val="2B415A"/>
            </a:solidFill>
            <a:prstDash val="solid"/>
          </a:ln>
        </p:spPr>
        <p:txBody>
          <a:bodyPr/>
          <a:p/>
        </p:txBody>
      </p:sp>
      <p:sp>
        <p:nvSpPr>
          <p:cNvPr id="26" name="Shape 24"/>
          <p:cNvSpPr/>
          <p:nvPr/>
        </p:nvSpPr>
        <p:spPr>
          <a:xfrm>
            <a:off x="548640" y="4018788"/>
            <a:ext cx="3975608" cy="1056132"/>
          </a:xfrm>
          <a:prstGeom prst="rect">
            <a:avLst/>
          </a:prstGeom>
          <a:solidFill>
            <a:srgbClr val="142238"/>
          </a:solidFill>
          <a:ln w="8890">
            <a:solidFill>
              <a:srgbClr val="142238"/>
            </a:solidFill>
            <a:prstDash val="solid"/>
          </a:ln>
        </p:spPr>
        <p:txBody>
          <a:bodyPr/>
          <a:p/>
        </p:txBody>
      </p:sp>
      <p:sp>
        <p:nvSpPr>
          <p:cNvPr id="27" name="Text 25"/>
          <p:cNvSpPr txBox="1"/>
          <p:nvPr/>
        </p:nvSpPr>
        <p:spPr>
          <a:xfrm>
            <a:off x="676656" y="4069080"/>
            <a:ext cx="3719576" cy="964692"/>
          </a:xfrm>
          <a:prstGeom prst="rect">
            <a:avLst/>
          </a:prstGeom>
          <a:noFill/>
          <a:ln/>
        </p:spPr>
        <p:txBody>
          <a:bodyPr wrap="square" lIns="0" tIns="0" rIns="0" bIns="0" rtlCol="0" anchor="t"/>
          <a:lstStyle/>
          <a:p>
            <a:pPr algn="l" indent="0" marL="0">
              <a:lnSpc>
                <a:spcPct val="104000"/>
              </a:lnSpc>
              <a:buNone/>
            </a:pPr>
            <a:r>
              <a:rPr lang="en-US" sz="1800" b="1" dirty="0">
                <a:solidFill>
                  <a:srgbClr val="F4F7FB"/>
                </a:solidFill>
                <a:latin typeface="Arial" pitchFamily="34" charset="0"/>
                <a:ea typeface="Arial" pitchFamily="34" charset="-122"/>
                <a:cs typeface="Arial" pitchFamily="34" charset="-120"/>
              </a:rPr>
              <a:t>Raw structure dump</a:t>
            </a:r>
            <a:endParaRPr lang="en-US" sz="1800" dirty="0"/>
          </a:p>
        </p:txBody>
      </p:sp>
      <p:sp>
        <p:nvSpPr>
          <p:cNvPr id="28" name="Shape 26"/>
          <p:cNvSpPr/>
          <p:nvPr/>
        </p:nvSpPr>
        <p:spPr>
          <a:xfrm>
            <a:off x="4524248" y="4018788"/>
            <a:ext cx="3235960" cy="1056132"/>
          </a:xfrm>
          <a:prstGeom prst="rect">
            <a:avLst/>
          </a:prstGeom>
          <a:solidFill>
            <a:srgbClr val="142238"/>
          </a:solidFill>
          <a:ln w="8890">
            <a:solidFill>
              <a:srgbClr val="142238"/>
            </a:solidFill>
            <a:prstDash val="solid"/>
          </a:ln>
        </p:spPr>
        <p:txBody>
          <a:bodyPr/>
          <a:p/>
        </p:txBody>
      </p:sp>
      <p:sp>
        <p:nvSpPr>
          <p:cNvPr id="29" name="Text 27"/>
          <p:cNvSpPr txBox="1"/>
          <p:nvPr/>
        </p:nvSpPr>
        <p:spPr>
          <a:xfrm>
            <a:off x="4652264" y="4069080"/>
            <a:ext cx="2979928" cy="964692"/>
          </a:xfrm>
          <a:prstGeom prst="rect">
            <a:avLst/>
          </a:prstGeom>
          <a:noFill/>
          <a:ln/>
        </p:spPr>
        <p:txBody>
          <a:bodyPr wrap="square" lIns="0" tIns="0" rIns="0" bIns="0" rtlCol="0" anchor="t"/>
          <a:lstStyle/>
          <a:p>
            <a:pPr algn="l" indent="0" marL="0">
              <a:lnSpc>
                <a:spcPct val="104000"/>
              </a:lnSpc>
              <a:buNone/>
            </a:pPr>
            <a:r>
              <a:rPr lang="en-US" sz="1800" dirty="0">
                <a:solidFill>
                  <a:srgbClr val="B3C3D6"/>
                </a:solidFill>
                <a:latin typeface="Arial" pitchFamily="34" charset="0"/>
                <a:ea typeface="Arial" pitchFamily="34" charset="-122"/>
                <a:cs typeface="Arial" pitchFamily="34" charset="-120"/>
              </a:rPr>
              <a:t>May include padding and</a:t>
            </a:r>
            <a:endParaRPr lang="en-US" sz="1800" dirty="0"/>
          </a:p>
          <a:p>
            <a:pPr algn="l" indent="0" marL="0">
              <a:lnSpc>
                <a:spcPct val="104000"/>
              </a:lnSpc>
              <a:buNone/>
            </a:pPr>
            <a:r>
              <a:rPr lang="en-US" sz="1800" dirty="0">
                <a:solidFill>
                  <a:srgbClr val="B3C3D6"/>
                </a:solidFill>
                <a:latin typeface="Arial" pitchFamily="34" charset="0"/>
                <a:ea typeface="Arial" pitchFamily="34" charset="-122"/>
                <a:cs typeface="Arial" pitchFamily="34" charset="-120"/>
              </a:rPr>
              <a:t>layout details</a:t>
            </a:r>
            <a:endParaRPr lang="en-US" sz="1800" dirty="0"/>
          </a:p>
        </p:txBody>
      </p:sp>
      <p:sp>
        <p:nvSpPr>
          <p:cNvPr id="30" name="Shape 28"/>
          <p:cNvSpPr/>
          <p:nvPr/>
        </p:nvSpPr>
        <p:spPr>
          <a:xfrm>
            <a:off x="7760208" y="4018788"/>
            <a:ext cx="3883152" cy="1056132"/>
          </a:xfrm>
          <a:prstGeom prst="rect">
            <a:avLst/>
          </a:prstGeom>
          <a:solidFill>
            <a:srgbClr val="142238"/>
          </a:solidFill>
          <a:ln w="8890">
            <a:solidFill>
              <a:srgbClr val="142238"/>
            </a:solidFill>
            <a:prstDash val="solid"/>
          </a:ln>
        </p:spPr>
        <p:txBody>
          <a:bodyPr/>
          <a:p/>
        </p:txBody>
      </p:sp>
      <p:sp>
        <p:nvSpPr>
          <p:cNvPr id="31" name="Text 29"/>
          <p:cNvSpPr txBox="1"/>
          <p:nvPr/>
        </p:nvSpPr>
        <p:spPr>
          <a:xfrm>
            <a:off x="7888224" y="4069080"/>
            <a:ext cx="3627120" cy="964692"/>
          </a:xfrm>
          <a:prstGeom prst="rect">
            <a:avLst/>
          </a:prstGeom>
          <a:noFill/>
          <a:ln/>
        </p:spPr>
        <p:txBody>
          <a:bodyPr wrap="square" lIns="0" tIns="0" rIns="0" bIns="0" rtlCol="0" anchor="t"/>
          <a:lstStyle/>
          <a:p>
            <a:pPr algn="l" indent="0" marL="0">
              <a:lnSpc>
                <a:spcPct val="104000"/>
              </a:lnSpc>
              <a:buNone/>
            </a:pPr>
            <a:r>
              <a:rPr lang="en-US" sz="1800" dirty="0">
                <a:solidFill>
                  <a:srgbClr val="B3C3D6"/>
                </a:solidFill>
                <a:latin typeface="Arial" pitchFamily="34" charset="0"/>
                <a:ea typeface="Arial" pitchFamily="34" charset="-122"/>
                <a:cs typeface="Arial" pitchFamily="34" charset="-120"/>
              </a:rPr>
              <a:t>Not automatically a portable</a:t>
            </a:r>
            <a:endParaRPr lang="en-US" sz="1800" dirty="0"/>
          </a:p>
          <a:p>
            <a:pPr algn="l" indent="0" marL="0">
              <a:lnSpc>
                <a:spcPct val="104000"/>
              </a:lnSpc>
              <a:buNone/>
            </a:pPr>
            <a:r>
              <a:rPr lang="en-US" sz="1800" dirty="0">
                <a:solidFill>
                  <a:srgbClr val="B3C3D6"/>
                </a:solidFill>
                <a:latin typeface="Arial" pitchFamily="34" charset="0"/>
                <a:ea typeface="Arial" pitchFamily="34" charset="-122"/>
                <a:cs typeface="Arial" pitchFamily="34" charset="-120"/>
              </a:rPr>
              <a:t>protocol</a:t>
            </a:r>
            <a:endParaRPr lang="en-US" sz="1800" dirty="0"/>
          </a:p>
        </p:txBody>
      </p:sp>
      <p:sp>
        <p:nvSpPr>
          <p:cNvPr id="32" name="Shape 30"/>
          <p:cNvSpPr/>
          <p:nvPr/>
        </p:nvSpPr>
        <p:spPr>
          <a:xfrm>
            <a:off x="548640" y="5074920"/>
            <a:ext cx="11094720" cy="0"/>
          </a:xfrm>
          <a:prstGeom prst="line">
            <a:avLst/>
          </a:prstGeom>
          <a:noFill/>
          <a:ln w="12700">
            <a:solidFill>
              <a:srgbClr val="2B415A"/>
            </a:solidFill>
            <a:prstDash val="solid"/>
          </a:ln>
        </p:spPr>
        <p:txBody>
          <a:bodyPr/>
          <a:p/>
        </p:txBody>
      </p:sp>
      <p:sp>
        <p:nvSpPr>
          <p:cNvPr id="33" name="Text 31"/>
          <p:cNvSpPr txBox="1"/>
          <p:nvPr/>
        </p:nvSpPr>
        <p:spPr>
          <a:xfrm>
            <a:off x="548640" y="5193792"/>
            <a:ext cx="11094720" cy="274320"/>
          </a:xfrm>
          <a:prstGeom prst="rect">
            <a:avLst/>
          </a:prstGeom>
          <a:noFill/>
          <a:ln/>
        </p:spPr>
        <p:txBody>
          <a:bodyPr wrap="square" lIns="0" tIns="0" rIns="0" bIns="0" rtlCol="0" anchor="t"/>
          <a:lstStyle/>
          <a:p>
            <a:pPr algn="l" indent="0" marL="0">
              <a:lnSpc>
                <a:spcPct val="104000"/>
              </a:lnSpc>
              <a:buNone/>
            </a:pPr>
            <a:r>
              <a:rPr lang="en-US" sz="1140" dirty="0">
                <a:solidFill>
                  <a:srgbClr val="B3C3D6"/>
                </a:solidFill>
                <a:latin typeface="Arial" pitchFamily="34" charset="0"/>
                <a:ea typeface="Arial" pitchFamily="34" charset="-122"/>
                <a:cs typeface="Arial" pitchFamily="34" charset="-120"/>
              </a:rPr>
              <a:t>Assume 8-bit bytes and a 32-bit unsigned value. The external format must define its own rules.</a:t>
            </a:r>
            <a:endParaRPr lang="en-US" sz="1140" dirty="0"/>
          </a:p>
        </p:txBody>
      </p:sp>
      <p:sp>
        <p:nvSpPr>
          <p:cNvPr id="38" name="Text 36"/>
          <p:cNvSpPr txBox="1"/>
          <p:nvPr/>
        </p:nvSpPr>
        <p:spPr>
          <a:xfrm>
            <a:off x="548640" y="6601968"/>
            <a:ext cx="10241280" cy="128016"/>
          </a:xfrm>
          <a:prstGeom prst="rect">
            <a:avLst/>
          </a:prstGeom>
          <a:noFill/>
          <a:ln/>
        </p:spPr>
        <p:txBody>
          <a:bodyPr wrap="square" lIns="0" tIns="0" rIns="0" bIns="0" rtlCol="0" anchor="t"/>
          <a:lstStyle/>
          <a:p>
            <a:pPr algn="l" indent="0" marL="0">
              <a:lnSpc>
                <a:spcPct val="104000"/>
              </a:lnSpc>
              <a:buNone/>
            </a:pPr>
            <a:r>
              <a:rPr lang="en-US" sz="830" dirty="0">
                <a:solidFill>
                  <a:srgbClr val="B3C3D6"/>
                </a:solidFill>
                <a:latin typeface="Arial" pitchFamily="34" charset="0"/>
                <a:ea typeface="Arial" pitchFamily="34" charset="-122"/>
                <a:cs typeface="Arial" pitchFamily="34" charset="-120"/>
              </a:rPr>
              <a:t>Source: original 15 • Graduate extension</a:t>
            </a:r>
            <a:endParaRPr lang="en-US" sz="830" dirty="0"/>
          </a:p>
        </p:txBody>
      </p:sp>
      <p:sp>
        <p:nvSpPr>
          <p:cNvPr id="39" name="Text 37"/>
          <p:cNvSpPr txBox="1"/>
          <p:nvPr/>
        </p:nvSpPr>
        <p:spPr>
          <a:xfrm>
            <a:off x="10917936" y="6565392"/>
            <a:ext cx="722376" cy="219456"/>
          </a:xfrm>
          <a:prstGeom prst="rect">
            <a:avLst/>
          </a:prstGeom>
          <a:noFill/>
          <a:ln/>
        </p:spPr>
        <p:txBody>
          <a:bodyPr wrap="square" lIns="0" tIns="0" rIns="0" bIns="0" rtlCol="0" anchor="t"/>
          <a:lstStyle/>
          <a:p>
            <a:pPr algn="r" indent="0" marL="0">
              <a:lnSpc>
                <a:spcPct val="104000"/>
              </a:lnSpc>
              <a:buNone/>
            </a:pPr>
            <a:r>
              <a:rPr lang="en-US" sz="1050" dirty="0">
                <a:solidFill>
                  <a:srgbClr val="B3C3D6"/>
                </a:solidFill>
                <a:latin typeface="Arial" pitchFamily="34" charset="0"/>
                <a:ea typeface="Arial" pitchFamily="34" charset="-122"/>
                <a:cs typeface="Arial" pitchFamily="34" charset="-120"/>
              </a:rPr>
              <a:t>49 / 64</a:t>
            </a:r>
            <a:endParaRPr lang="en-US" sz="1050" dirty="0"/>
          </a:p>
        </p:txBody>
      </p:sp>
      <p:sp>
        <p:nvSpPr>
          <p:cNvPr id="40" name="Shape 38"/>
          <p:cNvSpPr/>
          <p:nvPr/>
        </p:nvSpPr>
        <p:spPr>
          <a:xfrm>
            <a:off x="0" y="6834226"/>
            <a:ext cx="12192000" cy="23774"/>
          </a:xfrm>
          <a:prstGeom prst="rect">
            <a:avLst/>
          </a:prstGeom>
          <a:solidFill>
            <a:srgbClr val="2B415A"/>
          </a:solidFill>
          <a:ln w="8890">
            <a:solidFill>
              <a:srgbClr val="2B415A"/>
            </a:solidFill>
            <a:prstDash val="solid"/>
          </a:ln>
        </p:spPr>
        <p:txBody>
          <a:bodyPr/>
          <a:p/>
        </p:txBody>
      </p:sp>
      <p:sp>
        <p:nvSpPr>
          <p:cNvPr id="41" name="Shape 39"/>
          <p:cNvSpPr/>
          <p:nvPr/>
        </p:nvSpPr>
        <p:spPr>
          <a:xfrm>
            <a:off x="0" y="6834226"/>
            <a:ext cx="9334500" cy="23774"/>
          </a:xfrm>
          <a:prstGeom prst="rect">
            <a:avLst/>
          </a:prstGeom>
          <a:solidFill>
            <a:srgbClr val="71D5DD"/>
          </a:solidFill>
          <a:ln w="8890">
            <a:solidFill>
              <a:srgbClr val="71D5DD"/>
            </a:solidFill>
            <a:prstDash val="solid"/>
          </a:ln>
        </p:spPr>
        <p:txBody>
          <a:body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txBox="1"/>
          <p:nvPr/>
        </p:nvSpPr>
        <p:spPr>
          <a:xfrm>
            <a:off x="548640" y="219456"/>
            <a:ext cx="9875520" cy="192024"/>
          </a:xfrm>
          <a:prstGeom prst="rect">
            <a:avLst/>
          </a:prstGeom>
          <a:noFill/>
          <a:ln/>
        </p:spPr>
        <p:txBody>
          <a:bodyPr wrap="square" lIns="0" tIns="0" rIns="0" bIns="0" rtlCol="0" anchor="t"/>
          <a:lstStyle/>
          <a:p>
            <a:pPr algn="l" indent="0" marL="0">
              <a:lnSpc>
                <a:spcPct val="104000"/>
              </a:lnSpc>
              <a:buNone/>
            </a:pPr>
            <a:r>
              <a:rPr lang="en-US" sz="970" b="1" spc="135" kern="0" dirty="0">
                <a:solidFill>
                  <a:srgbClr val="B3C3D6"/>
                </a:solidFill>
                <a:latin typeface="Arial" pitchFamily="34" charset="0"/>
                <a:ea typeface="Arial" pitchFamily="34" charset="-122"/>
                <a:cs typeface="Arial" pitchFamily="34" charset="-120"/>
              </a:rPr>
              <a:t>SYSTEMS PROGRAMMING AND MACHINE ORGANIZATION</a:t>
            </a:r>
            <a:endParaRPr lang="en-US" sz="970" dirty="0"/>
          </a:p>
        </p:txBody>
      </p:sp>
      <p:sp>
        <p:nvSpPr>
          <p:cNvPr id="3" name="Text 1"/>
          <p:cNvSpPr txBox="1"/>
          <p:nvPr/>
        </p:nvSpPr>
        <p:spPr>
          <a:xfrm>
            <a:off x="9601200" y="219456"/>
            <a:ext cx="2039112" cy="192024"/>
          </a:xfrm>
          <a:prstGeom prst="rect">
            <a:avLst/>
          </a:prstGeom>
          <a:noFill/>
          <a:ln/>
        </p:spPr>
        <p:txBody>
          <a:bodyPr wrap="square" lIns="0" tIns="0" rIns="0" bIns="0" rtlCol="0" anchor="t"/>
          <a:lstStyle/>
          <a:p>
            <a:pPr algn="r" indent="0" marL="0">
              <a:lnSpc>
                <a:spcPct val="104000"/>
              </a:lnSpc>
              <a:buNone/>
            </a:pPr>
            <a:r>
              <a:rPr lang="en-US" sz="970" b="1" dirty="0">
                <a:solidFill>
                  <a:srgbClr val="B3C3D6"/>
                </a:solidFill>
                <a:latin typeface="Arial" pitchFamily="34" charset="0"/>
                <a:ea typeface="Arial" pitchFamily="34" charset="-122"/>
                <a:cs typeface="Arial" pitchFamily="34" charset="-120"/>
              </a:rPr>
              <a:t>CHARLES DORNER</a:t>
            </a:r>
            <a:endParaRPr lang="en-US" sz="970" dirty="0"/>
          </a:p>
        </p:txBody>
      </p:sp>
      <p:sp>
        <p:nvSpPr>
          <p:cNvPr id="4" name="Text 2"/>
          <p:cNvSpPr txBox="1"/>
          <p:nvPr/>
        </p:nvSpPr>
        <p:spPr>
          <a:xfrm>
            <a:off x="548640" y="566928"/>
            <a:ext cx="11109960" cy="237744"/>
          </a:xfrm>
          <a:prstGeom prst="rect">
            <a:avLst/>
          </a:prstGeom>
          <a:noFill/>
          <a:ln/>
        </p:spPr>
        <p:txBody>
          <a:bodyPr wrap="square" lIns="0" tIns="0" rIns="0" bIns="0" rtlCol="0" anchor="t"/>
          <a:lstStyle/>
          <a:p>
            <a:pPr algn="l" indent="0" marL="0">
              <a:lnSpc>
                <a:spcPct val="104000"/>
              </a:lnSpc>
              <a:buNone/>
            </a:pPr>
            <a:r>
              <a:rPr lang="en-US" sz="1150" b="1" dirty="0">
                <a:solidFill>
                  <a:srgbClr val="71D5DD"/>
                </a:solidFill>
                <a:latin typeface="Arial" pitchFamily="34" charset="0"/>
                <a:ea typeface="Arial" pitchFamily="34" charset="-122"/>
                <a:cs typeface="Arial" pitchFamily="34" charset="-120"/>
              </a:rPr>
              <a:t>WORKED EXAMPLE · CORRECTNESS VS. PERFORMANCE</a:t>
            </a:r>
            <a:endParaRPr lang="en-US" sz="1150" dirty="0"/>
          </a:p>
        </p:txBody>
      </p:sp>
      <p:sp>
        <p:nvSpPr>
          <p:cNvPr id="5" name="Text 3"/>
          <p:cNvSpPr txBox="1"/>
          <p:nvPr/>
        </p:nvSpPr>
        <p:spPr>
          <a:xfrm>
            <a:off x="548640" y="941832"/>
            <a:ext cx="11091672" cy="676656"/>
          </a:xfrm>
          <a:prstGeom prst="rect">
            <a:avLst/>
          </a:prstGeom>
          <a:noFill/>
          <a:ln/>
        </p:spPr>
        <p:txBody>
          <a:bodyPr wrap="square" lIns="0" tIns="0" rIns="0" bIns="0" rtlCol="0" anchor="t"/>
          <a:lstStyle/>
          <a:p>
            <a:pPr algn="l" indent="0" marL="0">
              <a:lnSpc>
                <a:spcPct val="104000"/>
              </a:lnSpc>
              <a:buNone/>
            </a:pPr>
            <a:r>
              <a:rPr lang="en-US" sz="3150" b="1" dirty="0">
                <a:solidFill>
                  <a:srgbClr val="F4F7FB"/>
                </a:solidFill>
                <a:latin typeface="Arial" pitchFamily="34" charset="0"/>
                <a:ea typeface="Arial" pitchFamily="34" charset="-122"/>
                <a:cs typeface="Arial" pitchFamily="34" charset="-120"/>
              </a:rPr>
              <a:t>Faster invalid behavior is not a better implementation</a:t>
            </a:r>
            <a:endParaRPr lang="en-US" sz="3150" dirty="0"/>
          </a:p>
        </p:txBody>
      </p:sp>
      <p:sp>
        <p:nvSpPr>
          <p:cNvPr id="6" name="Shape 4"/>
          <p:cNvSpPr/>
          <p:nvPr/>
        </p:nvSpPr>
        <p:spPr>
          <a:xfrm>
            <a:off x="548640" y="1764792"/>
            <a:ext cx="5431536" cy="3310128"/>
          </a:xfrm>
          <a:prstGeom prst="rect">
            <a:avLst/>
          </a:prstGeom>
          <a:solidFill>
            <a:srgbClr val="142238"/>
          </a:solidFill>
          <a:ln w="8890">
            <a:solidFill>
              <a:srgbClr val="2B415A"/>
            </a:solidFill>
            <a:prstDash val="solid"/>
          </a:ln>
        </p:spPr>
        <p:txBody>
          <a:bodyPr/>
          <a:p/>
        </p:txBody>
      </p:sp>
      <p:sp>
        <p:nvSpPr>
          <p:cNvPr id="7" name="Text 5"/>
          <p:cNvSpPr txBox="1"/>
          <p:nvPr/>
        </p:nvSpPr>
        <p:spPr>
          <a:xfrm>
            <a:off x="786384" y="2011680"/>
            <a:ext cx="4937760" cy="237744"/>
          </a:xfrm>
          <a:prstGeom prst="rect">
            <a:avLst/>
          </a:prstGeom>
          <a:noFill/>
          <a:ln/>
        </p:spPr>
        <p:txBody>
          <a:bodyPr wrap="square" lIns="0" tIns="0" rIns="0" bIns="0" rtlCol="0" anchor="t"/>
          <a:lstStyle/>
          <a:p>
            <a:pPr algn="l" indent="0" marL="0">
              <a:lnSpc>
                <a:spcPct val="104000"/>
              </a:lnSpc>
              <a:buNone/>
            </a:pPr>
            <a:r>
              <a:rPr lang="en-US" sz="1600" b="1" dirty="0">
                <a:solidFill>
                  <a:srgbClr val="71D5DD"/>
                </a:solidFill>
                <a:latin typeface="Arial" pitchFamily="34" charset="0"/>
                <a:ea typeface="Arial" pitchFamily="34" charset="-122"/>
                <a:cs typeface="Arial" pitchFamily="34" charset="-120"/>
              </a:rPr>
              <a:t>VERSION A</a:t>
            </a:r>
            <a:endParaRPr lang="en-US" sz="1600" dirty="0"/>
          </a:p>
        </p:txBody>
      </p:sp>
      <p:sp>
        <p:nvSpPr>
          <p:cNvPr id="8" name="Text 6"/>
          <p:cNvSpPr txBox="1"/>
          <p:nvPr/>
        </p:nvSpPr>
        <p:spPr>
          <a:xfrm>
            <a:off x="786384" y="2606040"/>
            <a:ext cx="4937760" cy="896112"/>
          </a:xfrm>
          <a:prstGeom prst="rect">
            <a:avLst/>
          </a:prstGeom>
          <a:noFill/>
          <a:ln/>
        </p:spPr>
        <p:txBody>
          <a:bodyPr wrap="square" lIns="0" tIns="0" rIns="0" bIns="0" rtlCol="0" anchor="t"/>
          <a:lstStyle/>
          <a:p>
            <a:pPr algn="l" indent="0" marL="0">
              <a:lnSpc>
                <a:spcPct val="104000"/>
              </a:lnSpc>
              <a:buNone/>
            </a:pPr>
            <a:r>
              <a:rPr lang="en-US" sz="5600" b="1" dirty="0">
                <a:solidFill>
                  <a:srgbClr val="71D5DD"/>
                </a:solidFill>
                <a:latin typeface="Arial" pitchFamily="34" charset="0"/>
                <a:ea typeface="Arial" pitchFamily="34" charset="-122"/>
                <a:cs typeface="Arial" pitchFamily="34" charset="-120"/>
              </a:rPr>
              <a:t>12 ms</a:t>
            </a:r>
            <a:endParaRPr lang="en-US" sz="5600" dirty="0"/>
          </a:p>
        </p:txBody>
      </p:sp>
      <p:sp>
        <p:nvSpPr>
          <p:cNvPr id="9" name="Text 7"/>
          <p:cNvSpPr txBox="1"/>
          <p:nvPr/>
        </p:nvSpPr>
        <p:spPr>
          <a:xfrm>
            <a:off x="786384" y="3840480"/>
            <a:ext cx="4937760" cy="1005840"/>
          </a:xfrm>
          <a:prstGeom prst="rect">
            <a:avLst/>
          </a:prstGeom>
          <a:noFill/>
          <a:ln/>
        </p:spPr>
        <p:txBody>
          <a:bodyPr wrap="square" lIns="0" tIns="0" rIns="0" bIns="0" rtlCol="0" anchor="t"/>
          <a:lstStyle/>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Expected checksum.</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No known violation in the stated test.</a:t>
            </a:r>
            <a:endParaRPr lang="en-US" sz="2200" dirty="0"/>
          </a:p>
        </p:txBody>
      </p:sp>
      <p:sp>
        <p:nvSpPr>
          <p:cNvPr id="10" name="Shape 8"/>
          <p:cNvSpPr/>
          <p:nvPr/>
        </p:nvSpPr>
        <p:spPr>
          <a:xfrm>
            <a:off x="6208776" y="1764792"/>
            <a:ext cx="5431536" cy="3310128"/>
          </a:xfrm>
          <a:prstGeom prst="rect">
            <a:avLst/>
          </a:prstGeom>
          <a:solidFill>
            <a:srgbClr val="142238"/>
          </a:solidFill>
          <a:ln w="8890">
            <a:solidFill>
              <a:srgbClr val="2B415A"/>
            </a:solidFill>
            <a:prstDash val="solid"/>
          </a:ln>
        </p:spPr>
        <p:txBody>
          <a:bodyPr/>
          <a:p/>
        </p:txBody>
      </p:sp>
      <p:sp>
        <p:nvSpPr>
          <p:cNvPr id="11" name="Text 9"/>
          <p:cNvSpPr txBox="1"/>
          <p:nvPr/>
        </p:nvSpPr>
        <p:spPr>
          <a:xfrm>
            <a:off x="6446520" y="2011680"/>
            <a:ext cx="4937760" cy="237744"/>
          </a:xfrm>
          <a:prstGeom prst="rect">
            <a:avLst/>
          </a:prstGeom>
          <a:noFill/>
          <a:ln/>
        </p:spPr>
        <p:txBody>
          <a:bodyPr wrap="square" lIns="0" tIns="0" rIns="0" bIns="0" rtlCol="0" anchor="t"/>
          <a:lstStyle/>
          <a:p>
            <a:pPr algn="l" indent="0" marL="0">
              <a:lnSpc>
                <a:spcPct val="104000"/>
              </a:lnSpc>
              <a:buNone/>
            </a:pPr>
            <a:r>
              <a:rPr lang="en-US" sz="1600" b="1" dirty="0">
                <a:solidFill>
                  <a:srgbClr val="F1B2A8"/>
                </a:solidFill>
                <a:latin typeface="Arial" pitchFamily="34" charset="0"/>
                <a:ea typeface="Arial" pitchFamily="34" charset="-122"/>
                <a:cs typeface="Arial" pitchFamily="34" charset="-120"/>
              </a:rPr>
              <a:t>VERSION B</a:t>
            </a:r>
            <a:endParaRPr lang="en-US" sz="1600" dirty="0"/>
          </a:p>
        </p:txBody>
      </p:sp>
      <p:sp>
        <p:nvSpPr>
          <p:cNvPr id="12" name="Text 10"/>
          <p:cNvSpPr txBox="1"/>
          <p:nvPr/>
        </p:nvSpPr>
        <p:spPr>
          <a:xfrm>
            <a:off x="6446520" y="2606040"/>
            <a:ext cx="4937760" cy="896112"/>
          </a:xfrm>
          <a:prstGeom prst="rect">
            <a:avLst/>
          </a:prstGeom>
          <a:noFill/>
          <a:ln/>
        </p:spPr>
        <p:txBody>
          <a:bodyPr wrap="square" lIns="0" tIns="0" rIns="0" bIns="0" rtlCol="0" anchor="t"/>
          <a:lstStyle/>
          <a:p>
            <a:pPr algn="l" indent="0" marL="0">
              <a:lnSpc>
                <a:spcPct val="104000"/>
              </a:lnSpc>
              <a:buNone/>
            </a:pPr>
            <a:r>
              <a:rPr lang="en-US" sz="5600" b="1" dirty="0">
                <a:solidFill>
                  <a:srgbClr val="F1B2A8"/>
                </a:solidFill>
                <a:latin typeface="Arial" pitchFamily="34" charset="0"/>
                <a:ea typeface="Arial" pitchFamily="34" charset="-122"/>
                <a:cs typeface="Arial" pitchFamily="34" charset="-120"/>
              </a:rPr>
              <a:t>8 ms</a:t>
            </a:r>
            <a:endParaRPr lang="en-US" sz="5600" dirty="0"/>
          </a:p>
        </p:txBody>
      </p:sp>
      <p:sp>
        <p:nvSpPr>
          <p:cNvPr id="13" name="Text 11"/>
          <p:cNvSpPr txBox="1"/>
          <p:nvPr/>
        </p:nvSpPr>
        <p:spPr>
          <a:xfrm>
            <a:off x="6446520" y="3840480"/>
            <a:ext cx="4937760" cy="1005840"/>
          </a:xfrm>
          <a:prstGeom prst="rect">
            <a:avLst/>
          </a:prstGeom>
          <a:noFill/>
          <a:ln/>
        </p:spPr>
        <p:txBody>
          <a:bodyPr wrap="square" lIns="0" tIns="0" rIns="0" bIns="0" rtlCol="0" anchor="t"/>
          <a:lstStyle/>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Expected-looking checksum.</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Reads beyond its buffer.</a:t>
            </a:r>
            <a:endParaRPr lang="en-US" sz="2200" dirty="0"/>
          </a:p>
        </p:txBody>
      </p:sp>
      <p:sp>
        <p:nvSpPr>
          <p:cNvPr id="14" name="Text 12"/>
          <p:cNvSpPr txBox="1"/>
          <p:nvPr/>
        </p:nvSpPr>
        <p:spPr>
          <a:xfrm>
            <a:off x="548640" y="5193792"/>
            <a:ext cx="11094720" cy="274320"/>
          </a:xfrm>
          <a:prstGeom prst="rect">
            <a:avLst/>
          </a:prstGeom>
          <a:noFill/>
          <a:ln/>
        </p:spPr>
        <p:txBody>
          <a:bodyPr wrap="square" lIns="0" tIns="0" rIns="0" bIns="0" rtlCol="0" anchor="t"/>
          <a:lstStyle/>
          <a:p>
            <a:pPr algn="l" indent="0" marL="0">
              <a:lnSpc>
                <a:spcPct val="104000"/>
              </a:lnSpc>
              <a:buNone/>
            </a:pPr>
            <a:r>
              <a:rPr lang="en-US" sz="1140" dirty="0">
                <a:solidFill>
                  <a:srgbClr val="B3C3D6"/>
                </a:solidFill>
                <a:latin typeface="Arial" pitchFamily="34" charset="0"/>
                <a:ea typeface="Arial" pitchFamily="34" charset="-122"/>
                <a:cs typeface="Arial" pitchFamily="34" charset="-120"/>
              </a:rPr>
              <a:t>Original deck’s illustrative timings—not measurements made for this revision. A test pass is not a universal proof.</a:t>
            </a:r>
            <a:endParaRPr lang="en-US" sz="1140" dirty="0"/>
          </a:p>
        </p:txBody>
      </p:sp>
      <p:sp>
        <p:nvSpPr>
          <p:cNvPr id="19" name="Text 17"/>
          <p:cNvSpPr txBox="1"/>
          <p:nvPr/>
        </p:nvSpPr>
        <p:spPr>
          <a:xfrm>
            <a:off x="548640" y="6601968"/>
            <a:ext cx="10241280" cy="128016"/>
          </a:xfrm>
          <a:prstGeom prst="rect">
            <a:avLst/>
          </a:prstGeom>
          <a:noFill/>
          <a:ln/>
        </p:spPr>
        <p:txBody>
          <a:bodyPr wrap="square" lIns="0" tIns="0" rIns="0" bIns="0" rtlCol="0" anchor="t"/>
          <a:lstStyle/>
          <a:p>
            <a:pPr algn="l" indent="0" marL="0">
              <a:lnSpc>
                <a:spcPct val="104000"/>
              </a:lnSpc>
              <a:buNone/>
            </a:pPr>
            <a:r>
              <a:rPr lang="en-US" sz="830" dirty="0">
                <a:solidFill>
                  <a:srgbClr val="B3C3D6"/>
                </a:solidFill>
                <a:latin typeface="Arial" pitchFamily="34" charset="0"/>
                <a:ea typeface="Arial" pitchFamily="34" charset="-122"/>
                <a:cs typeface="Arial" pitchFamily="34" charset="-120"/>
              </a:rPr>
              <a:t>Source: original 19</a:t>
            </a:r>
            <a:endParaRPr lang="en-US" sz="830" dirty="0"/>
          </a:p>
        </p:txBody>
      </p:sp>
      <p:sp>
        <p:nvSpPr>
          <p:cNvPr id="20" name="Text 18"/>
          <p:cNvSpPr txBox="1"/>
          <p:nvPr/>
        </p:nvSpPr>
        <p:spPr>
          <a:xfrm>
            <a:off x="10917936" y="6565392"/>
            <a:ext cx="722376" cy="219456"/>
          </a:xfrm>
          <a:prstGeom prst="rect">
            <a:avLst/>
          </a:prstGeom>
          <a:noFill/>
          <a:ln/>
        </p:spPr>
        <p:txBody>
          <a:bodyPr wrap="square" lIns="0" tIns="0" rIns="0" bIns="0" rtlCol="0" anchor="t"/>
          <a:lstStyle/>
          <a:p>
            <a:pPr algn="r" indent="0" marL="0">
              <a:lnSpc>
                <a:spcPct val="104000"/>
              </a:lnSpc>
              <a:buNone/>
            </a:pPr>
            <a:r>
              <a:rPr lang="en-US" sz="1050" dirty="0">
                <a:solidFill>
                  <a:srgbClr val="B3C3D6"/>
                </a:solidFill>
                <a:latin typeface="Arial" pitchFamily="34" charset="0"/>
                <a:ea typeface="Arial" pitchFamily="34" charset="-122"/>
                <a:cs typeface="Arial" pitchFamily="34" charset="-120"/>
              </a:rPr>
              <a:t>50 / 64</a:t>
            </a:r>
            <a:endParaRPr lang="en-US" sz="1050" dirty="0"/>
          </a:p>
        </p:txBody>
      </p:sp>
      <p:sp>
        <p:nvSpPr>
          <p:cNvPr id="21" name="Shape 19"/>
          <p:cNvSpPr/>
          <p:nvPr/>
        </p:nvSpPr>
        <p:spPr>
          <a:xfrm>
            <a:off x="0" y="6834226"/>
            <a:ext cx="12192000" cy="23774"/>
          </a:xfrm>
          <a:prstGeom prst="rect">
            <a:avLst/>
          </a:prstGeom>
          <a:solidFill>
            <a:srgbClr val="2B415A"/>
          </a:solidFill>
          <a:ln w="8890">
            <a:solidFill>
              <a:srgbClr val="2B415A"/>
            </a:solidFill>
            <a:prstDash val="solid"/>
          </a:ln>
        </p:spPr>
        <p:txBody>
          <a:bodyPr/>
          <a:p/>
        </p:txBody>
      </p:sp>
      <p:sp>
        <p:nvSpPr>
          <p:cNvPr id="22" name="Shape 20"/>
          <p:cNvSpPr/>
          <p:nvPr/>
        </p:nvSpPr>
        <p:spPr>
          <a:xfrm>
            <a:off x="0" y="6834226"/>
            <a:ext cx="9525000" cy="23774"/>
          </a:xfrm>
          <a:prstGeom prst="rect">
            <a:avLst/>
          </a:prstGeom>
          <a:solidFill>
            <a:srgbClr val="71D5DD"/>
          </a:solidFill>
          <a:ln w="8890">
            <a:solidFill>
              <a:srgbClr val="71D5DD"/>
            </a:solidFill>
            <a:prstDash val="solid"/>
          </a:ln>
        </p:spPr>
        <p:txBody>
          <a:body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txBox="1"/>
          <p:nvPr/>
        </p:nvSpPr>
        <p:spPr>
          <a:xfrm>
            <a:off x="548640" y="219456"/>
            <a:ext cx="9875520" cy="192024"/>
          </a:xfrm>
          <a:prstGeom prst="rect">
            <a:avLst/>
          </a:prstGeom>
          <a:noFill/>
          <a:ln/>
        </p:spPr>
        <p:txBody>
          <a:bodyPr wrap="square" lIns="0" tIns="0" rIns="0" bIns="0" rtlCol="0" anchor="t"/>
          <a:lstStyle/>
          <a:p>
            <a:pPr algn="l" indent="0" marL="0">
              <a:lnSpc>
                <a:spcPct val="104000"/>
              </a:lnSpc>
              <a:buNone/>
            </a:pPr>
            <a:r>
              <a:rPr lang="en-US" sz="970" b="1" spc="135" kern="0" dirty="0">
                <a:solidFill>
                  <a:srgbClr val="B3C3D6"/>
                </a:solidFill>
                <a:latin typeface="Arial" pitchFamily="34" charset="0"/>
                <a:ea typeface="Arial" pitchFamily="34" charset="-122"/>
                <a:cs typeface="Arial" pitchFamily="34" charset="-120"/>
              </a:rPr>
              <a:t>SYSTEMS PROGRAMMING AND MACHINE ORGANIZATION</a:t>
            </a:r>
            <a:endParaRPr lang="en-US" sz="970" dirty="0"/>
          </a:p>
        </p:txBody>
      </p:sp>
      <p:sp>
        <p:nvSpPr>
          <p:cNvPr id="3" name="Text 1"/>
          <p:cNvSpPr txBox="1"/>
          <p:nvPr/>
        </p:nvSpPr>
        <p:spPr>
          <a:xfrm>
            <a:off x="9601200" y="219456"/>
            <a:ext cx="2039112" cy="192024"/>
          </a:xfrm>
          <a:prstGeom prst="rect">
            <a:avLst/>
          </a:prstGeom>
          <a:noFill/>
          <a:ln/>
        </p:spPr>
        <p:txBody>
          <a:bodyPr wrap="square" lIns="0" tIns="0" rIns="0" bIns="0" rtlCol="0" anchor="t"/>
          <a:lstStyle/>
          <a:p>
            <a:pPr algn="r" indent="0" marL="0">
              <a:lnSpc>
                <a:spcPct val="104000"/>
              </a:lnSpc>
              <a:buNone/>
            </a:pPr>
            <a:r>
              <a:rPr lang="en-US" sz="970" b="1" dirty="0">
                <a:solidFill>
                  <a:srgbClr val="B3C3D6"/>
                </a:solidFill>
                <a:latin typeface="Arial" pitchFamily="34" charset="0"/>
                <a:ea typeface="Arial" pitchFamily="34" charset="-122"/>
                <a:cs typeface="Arial" pitchFamily="34" charset="-120"/>
              </a:rPr>
              <a:t>CHARLES DORNER</a:t>
            </a:r>
            <a:endParaRPr lang="en-US" sz="970" dirty="0"/>
          </a:p>
        </p:txBody>
      </p:sp>
      <p:sp>
        <p:nvSpPr>
          <p:cNvPr id="4" name="Text 2"/>
          <p:cNvSpPr txBox="1"/>
          <p:nvPr/>
        </p:nvSpPr>
        <p:spPr>
          <a:xfrm>
            <a:off x="548640" y="566928"/>
            <a:ext cx="11109960" cy="237744"/>
          </a:xfrm>
          <a:prstGeom prst="rect">
            <a:avLst/>
          </a:prstGeom>
          <a:noFill/>
          <a:ln/>
        </p:spPr>
        <p:txBody>
          <a:bodyPr wrap="square" lIns="0" tIns="0" rIns="0" bIns="0" rtlCol="0" anchor="t"/>
          <a:lstStyle/>
          <a:p>
            <a:pPr algn="l" indent="0" marL="0">
              <a:lnSpc>
                <a:spcPct val="104000"/>
              </a:lnSpc>
              <a:buNone/>
            </a:pPr>
            <a:r>
              <a:rPr lang="en-US" sz="1150" b="1" dirty="0">
                <a:solidFill>
                  <a:srgbClr val="71D5DD"/>
                </a:solidFill>
                <a:latin typeface="Arial" pitchFamily="34" charset="0"/>
                <a:ea typeface="Arial" pitchFamily="34" charset="-122"/>
                <a:cs typeface="Arial" pitchFamily="34" charset="-120"/>
              </a:rPr>
              <a:t>1.3.4 · TESTING, ANALYSIS &amp; PROOF</a:t>
            </a:r>
            <a:endParaRPr lang="en-US" sz="1150" dirty="0"/>
          </a:p>
        </p:txBody>
      </p:sp>
      <p:sp>
        <p:nvSpPr>
          <p:cNvPr id="5" name="Text 3"/>
          <p:cNvSpPr txBox="1"/>
          <p:nvPr/>
        </p:nvSpPr>
        <p:spPr>
          <a:xfrm>
            <a:off x="548640" y="941832"/>
            <a:ext cx="11091672" cy="676656"/>
          </a:xfrm>
          <a:prstGeom prst="rect">
            <a:avLst/>
          </a:prstGeom>
          <a:noFill/>
          <a:ln/>
        </p:spPr>
        <p:txBody>
          <a:bodyPr wrap="square" lIns="0" tIns="0" rIns="0" bIns="0" rtlCol="0" anchor="t"/>
          <a:lstStyle/>
          <a:p>
            <a:pPr algn="l" indent="0" marL="0">
              <a:lnSpc>
                <a:spcPct val="104000"/>
              </a:lnSpc>
              <a:buNone/>
            </a:pPr>
            <a:r>
              <a:rPr lang="en-US" sz="3150" b="1" dirty="0">
                <a:solidFill>
                  <a:srgbClr val="F4F7FB"/>
                </a:solidFill>
                <a:latin typeface="Arial" pitchFamily="34" charset="0"/>
                <a:ea typeface="Arial" pitchFamily="34" charset="-122"/>
                <a:cs typeface="Arial" pitchFamily="34" charset="-120"/>
              </a:rPr>
              <a:t>Different evidence answers different questions</a:t>
            </a:r>
            <a:endParaRPr lang="en-US" sz="3150" dirty="0"/>
          </a:p>
        </p:txBody>
      </p:sp>
      <p:sp>
        <p:nvSpPr>
          <p:cNvPr id="6" name="Shape 4"/>
          <p:cNvSpPr/>
          <p:nvPr/>
        </p:nvSpPr>
        <p:spPr>
          <a:xfrm>
            <a:off x="548640" y="1764792"/>
            <a:ext cx="3051048" cy="402336"/>
          </a:xfrm>
          <a:prstGeom prst="rect">
            <a:avLst/>
          </a:prstGeom>
          <a:solidFill>
            <a:srgbClr val="172940"/>
          </a:solidFill>
          <a:ln w="8890">
            <a:solidFill>
              <a:srgbClr val="172940"/>
            </a:solidFill>
            <a:prstDash val="solid"/>
          </a:ln>
        </p:spPr>
        <p:txBody>
          <a:bodyPr/>
          <a:p/>
        </p:txBody>
      </p:sp>
      <p:sp>
        <p:nvSpPr>
          <p:cNvPr id="7" name="Text 5"/>
          <p:cNvSpPr txBox="1"/>
          <p:nvPr/>
        </p:nvSpPr>
        <p:spPr>
          <a:xfrm>
            <a:off x="676656" y="1851660"/>
            <a:ext cx="2795016" cy="301752"/>
          </a:xfrm>
          <a:prstGeom prst="rect">
            <a:avLst/>
          </a:prstGeom>
          <a:noFill/>
          <a:ln/>
        </p:spPr>
        <p:txBody>
          <a:bodyPr wrap="square" lIns="0" tIns="0" rIns="0" bIns="0" rtlCol="0" anchor="t"/>
          <a:lstStyle/>
          <a:p>
            <a:pPr algn="l" indent="0" marL="0">
              <a:lnSpc>
                <a:spcPct val="104000"/>
              </a:lnSpc>
              <a:buNone/>
            </a:pPr>
            <a:r>
              <a:rPr lang="en-US" sz="1240" b="1" dirty="0">
                <a:solidFill>
                  <a:srgbClr val="71D5DD"/>
                </a:solidFill>
                <a:latin typeface="Arial" pitchFamily="34" charset="0"/>
                <a:ea typeface="Arial" pitchFamily="34" charset="-122"/>
                <a:cs typeface="Arial" pitchFamily="34" charset="-120"/>
              </a:rPr>
              <a:t>Evidence</a:t>
            </a:r>
            <a:endParaRPr lang="en-US" sz="1240" dirty="0"/>
          </a:p>
        </p:txBody>
      </p:sp>
      <p:sp>
        <p:nvSpPr>
          <p:cNvPr id="8" name="Shape 6"/>
          <p:cNvSpPr/>
          <p:nvPr/>
        </p:nvSpPr>
        <p:spPr>
          <a:xfrm>
            <a:off x="3599688" y="1764792"/>
            <a:ext cx="4345432" cy="402336"/>
          </a:xfrm>
          <a:prstGeom prst="rect">
            <a:avLst/>
          </a:prstGeom>
          <a:solidFill>
            <a:srgbClr val="172940"/>
          </a:solidFill>
          <a:ln w="8890">
            <a:solidFill>
              <a:srgbClr val="172940"/>
            </a:solidFill>
            <a:prstDash val="solid"/>
          </a:ln>
        </p:spPr>
        <p:txBody>
          <a:bodyPr/>
          <a:p/>
        </p:txBody>
      </p:sp>
      <p:sp>
        <p:nvSpPr>
          <p:cNvPr id="9" name="Text 7"/>
          <p:cNvSpPr txBox="1"/>
          <p:nvPr/>
        </p:nvSpPr>
        <p:spPr>
          <a:xfrm>
            <a:off x="3727704" y="1851660"/>
            <a:ext cx="4089400" cy="301752"/>
          </a:xfrm>
          <a:prstGeom prst="rect">
            <a:avLst/>
          </a:prstGeom>
          <a:noFill/>
          <a:ln/>
        </p:spPr>
        <p:txBody>
          <a:bodyPr wrap="square" lIns="0" tIns="0" rIns="0" bIns="0" rtlCol="0" anchor="t"/>
          <a:lstStyle/>
          <a:p>
            <a:pPr algn="l" indent="0" marL="0">
              <a:lnSpc>
                <a:spcPct val="104000"/>
              </a:lnSpc>
              <a:buNone/>
            </a:pPr>
            <a:r>
              <a:rPr lang="en-US" sz="1240" b="1" dirty="0">
                <a:solidFill>
                  <a:srgbClr val="71D5DD"/>
                </a:solidFill>
                <a:latin typeface="Arial" pitchFamily="34" charset="0"/>
                <a:ea typeface="Arial" pitchFamily="34" charset="-122"/>
                <a:cs typeface="Arial" pitchFamily="34" charset="-120"/>
              </a:rPr>
              <a:t>What it can establish</a:t>
            </a:r>
            <a:endParaRPr lang="en-US" sz="1240" dirty="0"/>
          </a:p>
        </p:txBody>
      </p:sp>
      <p:sp>
        <p:nvSpPr>
          <p:cNvPr id="10" name="Shape 8"/>
          <p:cNvSpPr/>
          <p:nvPr/>
        </p:nvSpPr>
        <p:spPr>
          <a:xfrm>
            <a:off x="7945120" y="1764792"/>
            <a:ext cx="3698240" cy="402336"/>
          </a:xfrm>
          <a:prstGeom prst="rect">
            <a:avLst/>
          </a:prstGeom>
          <a:solidFill>
            <a:srgbClr val="172940"/>
          </a:solidFill>
          <a:ln w="8890">
            <a:solidFill>
              <a:srgbClr val="172940"/>
            </a:solidFill>
            <a:prstDash val="solid"/>
          </a:ln>
        </p:spPr>
        <p:txBody>
          <a:bodyPr/>
          <a:p/>
        </p:txBody>
      </p:sp>
      <p:sp>
        <p:nvSpPr>
          <p:cNvPr id="11" name="Text 9"/>
          <p:cNvSpPr txBox="1"/>
          <p:nvPr/>
        </p:nvSpPr>
        <p:spPr>
          <a:xfrm>
            <a:off x="8073136" y="1851660"/>
            <a:ext cx="3442208" cy="301752"/>
          </a:xfrm>
          <a:prstGeom prst="rect">
            <a:avLst/>
          </a:prstGeom>
          <a:noFill/>
          <a:ln/>
        </p:spPr>
        <p:txBody>
          <a:bodyPr wrap="square" lIns="0" tIns="0" rIns="0" bIns="0" rtlCol="0" anchor="t"/>
          <a:lstStyle/>
          <a:p>
            <a:pPr algn="l" indent="0" marL="0">
              <a:lnSpc>
                <a:spcPct val="104000"/>
              </a:lnSpc>
              <a:buNone/>
            </a:pPr>
            <a:r>
              <a:rPr lang="en-US" sz="1240" b="1" dirty="0">
                <a:solidFill>
                  <a:srgbClr val="71D5DD"/>
                </a:solidFill>
                <a:latin typeface="Arial" pitchFamily="34" charset="0"/>
                <a:ea typeface="Arial" pitchFamily="34" charset="-122"/>
                <a:cs typeface="Arial" pitchFamily="34" charset="-120"/>
              </a:rPr>
              <a:t>Important limit</a:t>
            </a:r>
            <a:endParaRPr lang="en-US" sz="1240" dirty="0"/>
          </a:p>
        </p:txBody>
      </p:sp>
      <p:sp>
        <p:nvSpPr>
          <p:cNvPr id="12" name="Shape 10"/>
          <p:cNvSpPr/>
          <p:nvPr/>
        </p:nvSpPr>
        <p:spPr>
          <a:xfrm>
            <a:off x="548640" y="2167128"/>
            <a:ext cx="3051048" cy="531495"/>
          </a:xfrm>
          <a:prstGeom prst="rect">
            <a:avLst/>
          </a:prstGeom>
          <a:solidFill>
            <a:srgbClr val="142238"/>
          </a:solidFill>
          <a:ln w="8890">
            <a:solidFill>
              <a:srgbClr val="142238"/>
            </a:solidFill>
            <a:prstDash val="solid"/>
          </a:ln>
        </p:spPr>
        <p:txBody>
          <a:bodyPr/>
          <a:p/>
        </p:txBody>
      </p:sp>
      <p:sp>
        <p:nvSpPr>
          <p:cNvPr id="13" name="Text 11"/>
          <p:cNvSpPr txBox="1"/>
          <p:nvPr/>
        </p:nvSpPr>
        <p:spPr>
          <a:xfrm>
            <a:off x="676656" y="2217420"/>
            <a:ext cx="2795016" cy="440055"/>
          </a:xfrm>
          <a:prstGeom prst="rect">
            <a:avLst/>
          </a:prstGeom>
          <a:noFill/>
          <a:ln/>
        </p:spPr>
        <p:txBody>
          <a:bodyPr wrap="square" lIns="0" tIns="0" rIns="0" bIns="0" rtlCol="0" anchor="t"/>
          <a:lstStyle/>
          <a:p>
            <a:pPr algn="l" indent="0" marL="0">
              <a:lnSpc>
                <a:spcPct val="104000"/>
              </a:lnSpc>
              <a:buNone/>
            </a:pPr>
            <a:r>
              <a:rPr lang="en-US" sz="1800" b="1" dirty="0">
                <a:solidFill>
                  <a:srgbClr val="F4F7FB"/>
                </a:solidFill>
                <a:latin typeface="Arial" pitchFamily="34" charset="0"/>
                <a:ea typeface="Arial" pitchFamily="34" charset="-122"/>
                <a:cs typeface="Arial" pitchFamily="34" charset="-120"/>
              </a:rPr>
              <a:t>Unit / boundary tests</a:t>
            </a:r>
            <a:endParaRPr lang="en-US" sz="1800" dirty="0"/>
          </a:p>
        </p:txBody>
      </p:sp>
      <p:sp>
        <p:nvSpPr>
          <p:cNvPr id="14" name="Shape 12"/>
          <p:cNvSpPr/>
          <p:nvPr/>
        </p:nvSpPr>
        <p:spPr>
          <a:xfrm>
            <a:off x="3599688" y="2167128"/>
            <a:ext cx="4345432" cy="531495"/>
          </a:xfrm>
          <a:prstGeom prst="rect">
            <a:avLst/>
          </a:prstGeom>
          <a:solidFill>
            <a:srgbClr val="142238"/>
          </a:solidFill>
          <a:ln w="8890">
            <a:solidFill>
              <a:srgbClr val="142238"/>
            </a:solidFill>
            <a:prstDash val="solid"/>
          </a:ln>
        </p:spPr>
        <p:txBody>
          <a:bodyPr/>
          <a:p/>
        </p:txBody>
      </p:sp>
      <p:sp>
        <p:nvSpPr>
          <p:cNvPr id="15" name="Text 13"/>
          <p:cNvSpPr txBox="1"/>
          <p:nvPr/>
        </p:nvSpPr>
        <p:spPr>
          <a:xfrm>
            <a:off x="3727704" y="2217420"/>
            <a:ext cx="4089400" cy="440055"/>
          </a:xfrm>
          <a:prstGeom prst="rect">
            <a:avLst/>
          </a:prstGeom>
          <a:noFill/>
          <a:ln/>
        </p:spPr>
        <p:txBody>
          <a:bodyPr wrap="square" lIns="0" tIns="0" rIns="0" bIns="0" rtlCol="0" anchor="t"/>
          <a:lstStyle/>
          <a:p>
            <a:pPr algn="l" indent="0" marL="0">
              <a:lnSpc>
                <a:spcPct val="104000"/>
              </a:lnSpc>
              <a:buNone/>
            </a:pPr>
            <a:r>
              <a:rPr lang="en-US" sz="1800" dirty="0">
                <a:solidFill>
                  <a:srgbClr val="B3C3D6"/>
                </a:solidFill>
                <a:latin typeface="Arial" pitchFamily="34" charset="0"/>
                <a:ea typeface="Arial" pitchFamily="34" charset="-122"/>
                <a:cs typeface="Arial" pitchFamily="34" charset="-120"/>
              </a:rPr>
              <a:t>Behavior of exercised cases</a:t>
            </a:r>
            <a:endParaRPr lang="en-US" sz="1800" dirty="0"/>
          </a:p>
        </p:txBody>
      </p:sp>
      <p:sp>
        <p:nvSpPr>
          <p:cNvPr id="16" name="Shape 14"/>
          <p:cNvSpPr/>
          <p:nvPr/>
        </p:nvSpPr>
        <p:spPr>
          <a:xfrm>
            <a:off x="7945120" y="2167128"/>
            <a:ext cx="3698240" cy="531495"/>
          </a:xfrm>
          <a:prstGeom prst="rect">
            <a:avLst/>
          </a:prstGeom>
          <a:solidFill>
            <a:srgbClr val="142238"/>
          </a:solidFill>
          <a:ln w="8890">
            <a:solidFill>
              <a:srgbClr val="142238"/>
            </a:solidFill>
            <a:prstDash val="solid"/>
          </a:ln>
        </p:spPr>
        <p:txBody>
          <a:bodyPr/>
          <a:p/>
        </p:txBody>
      </p:sp>
      <p:sp>
        <p:nvSpPr>
          <p:cNvPr id="17" name="Text 15"/>
          <p:cNvSpPr txBox="1"/>
          <p:nvPr/>
        </p:nvSpPr>
        <p:spPr>
          <a:xfrm>
            <a:off x="8073136" y="2217420"/>
            <a:ext cx="3442208" cy="440055"/>
          </a:xfrm>
          <a:prstGeom prst="rect">
            <a:avLst/>
          </a:prstGeom>
          <a:noFill/>
          <a:ln/>
        </p:spPr>
        <p:txBody>
          <a:bodyPr wrap="square" lIns="0" tIns="0" rIns="0" bIns="0" rtlCol="0" anchor="t"/>
          <a:lstStyle/>
          <a:p>
            <a:pPr algn="l" indent="0" marL="0">
              <a:lnSpc>
                <a:spcPct val="104000"/>
              </a:lnSpc>
              <a:buNone/>
            </a:pPr>
            <a:r>
              <a:rPr lang="en-US" sz="1800" dirty="0">
                <a:solidFill>
                  <a:srgbClr val="B3C3D6"/>
                </a:solidFill>
                <a:latin typeface="Arial" pitchFamily="34" charset="0"/>
                <a:ea typeface="Arial" pitchFamily="34" charset="-122"/>
                <a:cs typeface="Arial" pitchFamily="34" charset="-120"/>
              </a:rPr>
              <a:t>Unseen cases remain</a:t>
            </a:r>
            <a:endParaRPr lang="en-US" sz="1800" dirty="0"/>
          </a:p>
        </p:txBody>
      </p:sp>
      <p:sp>
        <p:nvSpPr>
          <p:cNvPr id="18" name="Shape 16"/>
          <p:cNvSpPr/>
          <p:nvPr/>
        </p:nvSpPr>
        <p:spPr>
          <a:xfrm>
            <a:off x="548640" y="2698623"/>
            <a:ext cx="11094720" cy="0"/>
          </a:xfrm>
          <a:prstGeom prst="line">
            <a:avLst/>
          </a:prstGeom>
          <a:noFill/>
          <a:ln w="12700">
            <a:solidFill>
              <a:srgbClr val="2B415A"/>
            </a:solidFill>
            <a:prstDash val="solid"/>
          </a:ln>
        </p:spPr>
        <p:txBody>
          <a:bodyPr/>
          <a:p/>
        </p:txBody>
      </p:sp>
      <p:sp>
        <p:nvSpPr>
          <p:cNvPr id="19" name="Shape 17"/>
          <p:cNvSpPr/>
          <p:nvPr/>
        </p:nvSpPr>
        <p:spPr>
          <a:xfrm>
            <a:off x="548640" y="2698623"/>
            <a:ext cx="3051048" cy="792099"/>
          </a:xfrm>
          <a:prstGeom prst="rect">
            <a:avLst/>
          </a:prstGeom>
          <a:solidFill>
            <a:srgbClr val="0B1322"/>
          </a:solidFill>
          <a:ln w="8890">
            <a:solidFill>
              <a:srgbClr val="0B1322"/>
            </a:solidFill>
            <a:prstDash val="solid"/>
          </a:ln>
        </p:spPr>
        <p:txBody>
          <a:bodyPr/>
          <a:p/>
        </p:txBody>
      </p:sp>
      <p:sp>
        <p:nvSpPr>
          <p:cNvPr id="20" name="Text 18"/>
          <p:cNvSpPr txBox="1"/>
          <p:nvPr/>
        </p:nvSpPr>
        <p:spPr>
          <a:xfrm>
            <a:off x="676656" y="2748915"/>
            <a:ext cx="2795016" cy="700659"/>
          </a:xfrm>
          <a:prstGeom prst="rect">
            <a:avLst/>
          </a:prstGeom>
          <a:noFill/>
          <a:ln/>
        </p:spPr>
        <p:txBody>
          <a:bodyPr wrap="square" lIns="0" tIns="0" rIns="0" bIns="0" rtlCol="0" anchor="t"/>
          <a:lstStyle/>
          <a:p>
            <a:pPr algn="l" indent="0" marL="0">
              <a:lnSpc>
                <a:spcPct val="104000"/>
              </a:lnSpc>
              <a:buNone/>
            </a:pPr>
            <a:r>
              <a:rPr lang="en-US" sz="1800" b="1" dirty="0">
                <a:solidFill>
                  <a:srgbClr val="F4F7FB"/>
                </a:solidFill>
                <a:latin typeface="Arial" pitchFamily="34" charset="0"/>
                <a:ea typeface="Arial" pitchFamily="34" charset="-122"/>
                <a:cs typeface="Arial" pitchFamily="34" charset="-120"/>
              </a:rPr>
              <a:t>Object / executable</a:t>
            </a:r>
            <a:endParaRPr lang="en-US" sz="1800" dirty="0"/>
          </a:p>
          <a:p>
            <a:pPr algn="l" indent="0" marL="0">
              <a:lnSpc>
                <a:spcPct val="104000"/>
              </a:lnSpc>
              <a:buNone/>
            </a:pPr>
            <a:r>
              <a:rPr lang="en-US" sz="1800" b="1" dirty="0">
                <a:solidFill>
                  <a:srgbClr val="F4F7FB"/>
                </a:solidFill>
                <a:latin typeface="Arial" pitchFamily="34" charset="0"/>
                <a:ea typeface="Arial" pitchFamily="34" charset="-122"/>
                <a:cs typeface="Arial" pitchFamily="34" charset="-120"/>
              </a:rPr>
              <a:t>inspection</a:t>
            </a:r>
            <a:endParaRPr lang="en-US" sz="1800" dirty="0"/>
          </a:p>
        </p:txBody>
      </p:sp>
      <p:sp>
        <p:nvSpPr>
          <p:cNvPr id="21" name="Shape 19"/>
          <p:cNvSpPr/>
          <p:nvPr/>
        </p:nvSpPr>
        <p:spPr>
          <a:xfrm>
            <a:off x="3599688" y="2698623"/>
            <a:ext cx="4345432" cy="792099"/>
          </a:xfrm>
          <a:prstGeom prst="rect">
            <a:avLst/>
          </a:prstGeom>
          <a:solidFill>
            <a:srgbClr val="0B1322"/>
          </a:solidFill>
          <a:ln w="8890">
            <a:solidFill>
              <a:srgbClr val="0B1322"/>
            </a:solidFill>
            <a:prstDash val="solid"/>
          </a:ln>
        </p:spPr>
        <p:txBody>
          <a:bodyPr/>
          <a:p/>
        </p:txBody>
      </p:sp>
      <p:sp>
        <p:nvSpPr>
          <p:cNvPr id="22" name="Text 20"/>
          <p:cNvSpPr txBox="1"/>
          <p:nvPr/>
        </p:nvSpPr>
        <p:spPr>
          <a:xfrm>
            <a:off x="3727704" y="2748915"/>
            <a:ext cx="4089400" cy="700659"/>
          </a:xfrm>
          <a:prstGeom prst="rect">
            <a:avLst/>
          </a:prstGeom>
          <a:noFill/>
          <a:ln/>
        </p:spPr>
        <p:txBody>
          <a:bodyPr wrap="square" lIns="0" tIns="0" rIns="0" bIns="0" rtlCol="0" anchor="t"/>
          <a:lstStyle/>
          <a:p>
            <a:pPr algn="l" indent="0" marL="0">
              <a:lnSpc>
                <a:spcPct val="104000"/>
              </a:lnSpc>
              <a:buNone/>
            </a:pPr>
            <a:r>
              <a:rPr lang="en-US" sz="1800" dirty="0">
                <a:solidFill>
                  <a:srgbClr val="B3C3D6"/>
                </a:solidFill>
                <a:latin typeface="Arial" pitchFamily="34" charset="0"/>
                <a:ea typeface="Arial" pitchFamily="34" charset="-122"/>
                <a:cs typeface="Arial" pitchFamily="34" charset="-120"/>
              </a:rPr>
              <a:t>Properties of the inspected build</a:t>
            </a:r>
            <a:endParaRPr lang="en-US" sz="1800" dirty="0"/>
          </a:p>
        </p:txBody>
      </p:sp>
      <p:sp>
        <p:nvSpPr>
          <p:cNvPr id="23" name="Shape 21"/>
          <p:cNvSpPr/>
          <p:nvPr/>
        </p:nvSpPr>
        <p:spPr>
          <a:xfrm>
            <a:off x="7945120" y="2698623"/>
            <a:ext cx="3698240" cy="792099"/>
          </a:xfrm>
          <a:prstGeom prst="rect">
            <a:avLst/>
          </a:prstGeom>
          <a:solidFill>
            <a:srgbClr val="0B1322"/>
          </a:solidFill>
          <a:ln w="8890">
            <a:solidFill>
              <a:srgbClr val="0B1322"/>
            </a:solidFill>
            <a:prstDash val="solid"/>
          </a:ln>
        </p:spPr>
        <p:txBody>
          <a:bodyPr/>
          <a:p/>
        </p:txBody>
      </p:sp>
      <p:sp>
        <p:nvSpPr>
          <p:cNvPr id="24" name="Text 22"/>
          <p:cNvSpPr txBox="1"/>
          <p:nvPr/>
        </p:nvSpPr>
        <p:spPr>
          <a:xfrm>
            <a:off x="8073136" y="2748915"/>
            <a:ext cx="3442208" cy="700659"/>
          </a:xfrm>
          <a:prstGeom prst="rect">
            <a:avLst/>
          </a:prstGeom>
          <a:noFill/>
          <a:ln/>
        </p:spPr>
        <p:txBody>
          <a:bodyPr wrap="square" lIns="0" tIns="0" rIns="0" bIns="0" rtlCol="0" anchor="t"/>
          <a:lstStyle/>
          <a:p>
            <a:pPr algn="l" indent="0" marL="0">
              <a:lnSpc>
                <a:spcPct val="104000"/>
              </a:lnSpc>
              <a:buNone/>
            </a:pPr>
            <a:r>
              <a:rPr lang="en-US" sz="1800" dirty="0">
                <a:solidFill>
                  <a:srgbClr val="B3C3D6"/>
                </a:solidFill>
                <a:latin typeface="Arial" pitchFamily="34" charset="0"/>
                <a:ea typeface="Arial" pitchFamily="34" charset="-122"/>
                <a:cs typeface="Arial" pitchFamily="34" charset="-120"/>
              </a:rPr>
              <a:t>Not every runtime behavior</a:t>
            </a:r>
            <a:endParaRPr lang="en-US" sz="1800" dirty="0"/>
          </a:p>
        </p:txBody>
      </p:sp>
      <p:sp>
        <p:nvSpPr>
          <p:cNvPr id="25" name="Shape 23"/>
          <p:cNvSpPr/>
          <p:nvPr/>
        </p:nvSpPr>
        <p:spPr>
          <a:xfrm>
            <a:off x="548640" y="3490722"/>
            <a:ext cx="11094720" cy="0"/>
          </a:xfrm>
          <a:prstGeom prst="line">
            <a:avLst/>
          </a:prstGeom>
          <a:noFill/>
          <a:ln w="12700">
            <a:solidFill>
              <a:srgbClr val="2B415A"/>
            </a:solidFill>
            <a:prstDash val="solid"/>
          </a:ln>
        </p:spPr>
        <p:txBody>
          <a:bodyPr/>
          <a:p/>
        </p:txBody>
      </p:sp>
      <p:sp>
        <p:nvSpPr>
          <p:cNvPr id="26" name="Shape 24"/>
          <p:cNvSpPr/>
          <p:nvPr/>
        </p:nvSpPr>
        <p:spPr>
          <a:xfrm>
            <a:off x="548640" y="3490722"/>
            <a:ext cx="3051048" cy="792099"/>
          </a:xfrm>
          <a:prstGeom prst="rect">
            <a:avLst/>
          </a:prstGeom>
          <a:solidFill>
            <a:srgbClr val="142238"/>
          </a:solidFill>
          <a:ln w="8890">
            <a:solidFill>
              <a:srgbClr val="142238"/>
            </a:solidFill>
            <a:prstDash val="solid"/>
          </a:ln>
        </p:spPr>
        <p:txBody>
          <a:bodyPr/>
          <a:p/>
        </p:txBody>
      </p:sp>
      <p:sp>
        <p:nvSpPr>
          <p:cNvPr id="27" name="Text 25"/>
          <p:cNvSpPr txBox="1"/>
          <p:nvPr/>
        </p:nvSpPr>
        <p:spPr>
          <a:xfrm>
            <a:off x="676656" y="3541014"/>
            <a:ext cx="2795016" cy="700659"/>
          </a:xfrm>
          <a:prstGeom prst="rect">
            <a:avLst/>
          </a:prstGeom>
          <a:noFill/>
          <a:ln/>
        </p:spPr>
        <p:txBody>
          <a:bodyPr wrap="square" lIns="0" tIns="0" rIns="0" bIns="0" rtlCol="0" anchor="t"/>
          <a:lstStyle/>
          <a:p>
            <a:pPr algn="l" indent="0" marL="0">
              <a:lnSpc>
                <a:spcPct val="104000"/>
              </a:lnSpc>
              <a:buNone/>
            </a:pPr>
            <a:r>
              <a:rPr lang="en-US" sz="1800" b="1" dirty="0">
                <a:solidFill>
                  <a:srgbClr val="F4F7FB"/>
                </a:solidFill>
                <a:latin typeface="Arial" pitchFamily="34" charset="0"/>
                <a:ea typeface="Arial" pitchFamily="34" charset="-122"/>
                <a:cs typeface="Arial" pitchFamily="34" charset="-120"/>
              </a:rPr>
              <a:t>Sanitizer run</a:t>
            </a:r>
            <a:endParaRPr lang="en-US" sz="1800" dirty="0"/>
          </a:p>
        </p:txBody>
      </p:sp>
      <p:sp>
        <p:nvSpPr>
          <p:cNvPr id="28" name="Shape 26"/>
          <p:cNvSpPr/>
          <p:nvPr/>
        </p:nvSpPr>
        <p:spPr>
          <a:xfrm>
            <a:off x="3599688" y="3490722"/>
            <a:ext cx="4345432" cy="792099"/>
          </a:xfrm>
          <a:prstGeom prst="rect">
            <a:avLst/>
          </a:prstGeom>
          <a:solidFill>
            <a:srgbClr val="142238"/>
          </a:solidFill>
          <a:ln w="8890">
            <a:solidFill>
              <a:srgbClr val="142238"/>
            </a:solidFill>
            <a:prstDash val="solid"/>
          </a:ln>
        </p:spPr>
        <p:txBody>
          <a:bodyPr/>
          <a:p/>
        </p:txBody>
      </p:sp>
      <p:sp>
        <p:nvSpPr>
          <p:cNvPr id="29" name="Text 27"/>
          <p:cNvSpPr txBox="1"/>
          <p:nvPr/>
        </p:nvSpPr>
        <p:spPr>
          <a:xfrm>
            <a:off x="3727704" y="3541014"/>
            <a:ext cx="4089400" cy="700659"/>
          </a:xfrm>
          <a:prstGeom prst="rect">
            <a:avLst/>
          </a:prstGeom>
          <a:noFill/>
          <a:ln/>
        </p:spPr>
        <p:txBody>
          <a:bodyPr wrap="square" lIns="0" tIns="0" rIns="0" bIns="0" rtlCol="0" anchor="t"/>
          <a:lstStyle/>
          <a:p>
            <a:pPr algn="l" indent="0" marL="0">
              <a:lnSpc>
                <a:spcPct val="104000"/>
              </a:lnSpc>
              <a:buNone/>
            </a:pPr>
            <a:r>
              <a:rPr lang="en-US" sz="1800" dirty="0">
                <a:solidFill>
                  <a:srgbClr val="B3C3D6"/>
                </a:solidFill>
                <a:latin typeface="Arial" pitchFamily="34" charset="0"/>
                <a:ea typeface="Arial" pitchFamily="34" charset="-122"/>
                <a:cs typeface="Arial" pitchFamily="34" charset="-120"/>
              </a:rPr>
              <a:t>Detected checks on exercised</a:t>
            </a:r>
            <a:endParaRPr lang="en-US" sz="1800" dirty="0"/>
          </a:p>
          <a:p>
            <a:pPr algn="l" indent="0" marL="0">
              <a:lnSpc>
                <a:spcPct val="104000"/>
              </a:lnSpc>
              <a:buNone/>
            </a:pPr>
            <a:r>
              <a:rPr lang="en-US" sz="1800" dirty="0">
                <a:solidFill>
                  <a:srgbClr val="B3C3D6"/>
                </a:solidFill>
                <a:latin typeface="Arial" pitchFamily="34" charset="0"/>
                <a:ea typeface="Arial" pitchFamily="34" charset="-122"/>
                <a:cs typeface="Arial" pitchFamily="34" charset="-120"/>
              </a:rPr>
              <a:t>execution</a:t>
            </a:r>
            <a:endParaRPr lang="en-US" sz="1800" dirty="0"/>
          </a:p>
        </p:txBody>
      </p:sp>
      <p:sp>
        <p:nvSpPr>
          <p:cNvPr id="30" name="Shape 28"/>
          <p:cNvSpPr/>
          <p:nvPr/>
        </p:nvSpPr>
        <p:spPr>
          <a:xfrm>
            <a:off x="7945120" y="3490722"/>
            <a:ext cx="3698240" cy="792099"/>
          </a:xfrm>
          <a:prstGeom prst="rect">
            <a:avLst/>
          </a:prstGeom>
          <a:solidFill>
            <a:srgbClr val="142238"/>
          </a:solidFill>
          <a:ln w="8890">
            <a:solidFill>
              <a:srgbClr val="142238"/>
            </a:solidFill>
            <a:prstDash val="solid"/>
          </a:ln>
        </p:spPr>
        <p:txBody>
          <a:bodyPr/>
          <a:p/>
        </p:txBody>
      </p:sp>
      <p:sp>
        <p:nvSpPr>
          <p:cNvPr id="31" name="Text 29"/>
          <p:cNvSpPr txBox="1"/>
          <p:nvPr/>
        </p:nvSpPr>
        <p:spPr>
          <a:xfrm>
            <a:off x="8073136" y="3541014"/>
            <a:ext cx="3442208" cy="700659"/>
          </a:xfrm>
          <a:prstGeom prst="rect">
            <a:avLst/>
          </a:prstGeom>
          <a:noFill/>
          <a:ln/>
        </p:spPr>
        <p:txBody>
          <a:bodyPr wrap="square" lIns="0" tIns="0" rIns="0" bIns="0" rtlCol="0" anchor="t"/>
          <a:lstStyle/>
          <a:p>
            <a:pPr algn="l" indent="0" marL="0">
              <a:lnSpc>
                <a:spcPct val="104000"/>
              </a:lnSpc>
              <a:buNone/>
            </a:pPr>
            <a:r>
              <a:rPr lang="en-US" sz="1800" dirty="0">
                <a:solidFill>
                  <a:srgbClr val="B3C3D6"/>
                </a:solidFill>
                <a:latin typeface="Arial" pitchFamily="34" charset="0"/>
                <a:ea typeface="Arial" pitchFamily="34" charset="-122"/>
                <a:cs typeface="Arial" pitchFamily="34" charset="-120"/>
              </a:rPr>
              <a:t>Clean run is not a complete proof</a:t>
            </a:r>
            <a:endParaRPr lang="en-US" sz="1800" dirty="0"/>
          </a:p>
        </p:txBody>
      </p:sp>
      <p:sp>
        <p:nvSpPr>
          <p:cNvPr id="32" name="Shape 30"/>
          <p:cNvSpPr/>
          <p:nvPr/>
        </p:nvSpPr>
        <p:spPr>
          <a:xfrm>
            <a:off x="548640" y="4282821"/>
            <a:ext cx="11094720" cy="0"/>
          </a:xfrm>
          <a:prstGeom prst="line">
            <a:avLst/>
          </a:prstGeom>
          <a:noFill/>
          <a:ln w="12700">
            <a:solidFill>
              <a:srgbClr val="2B415A"/>
            </a:solidFill>
            <a:prstDash val="solid"/>
          </a:ln>
        </p:spPr>
        <p:txBody>
          <a:bodyPr/>
          <a:p/>
        </p:txBody>
      </p:sp>
      <p:sp>
        <p:nvSpPr>
          <p:cNvPr id="33" name="Shape 31"/>
          <p:cNvSpPr/>
          <p:nvPr/>
        </p:nvSpPr>
        <p:spPr>
          <a:xfrm>
            <a:off x="548640" y="4282821"/>
            <a:ext cx="3051048" cy="792099"/>
          </a:xfrm>
          <a:prstGeom prst="rect">
            <a:avLst/>
          </a:prstGeom>
          <a:solidFill>
            <a:srgbClr val="0B1322"/>
          </a:solidFill>
          <a:ln w="8890">
            <a:solidFill>
              <a:srgbClr val="0B1322"/>
            </a:solidFill>
            <a:prstDash val="solid"/>
          </a:ln>
        </p:spPr>
        <p:txBody>
          <a:bodyPr/>
          <a:p/>
        </p:txBody>
      </p:sp>
      <p:sp>
        <p:nvSpPr>
          <p:cNvPr id="34" name="Text 32"/>
          <p:cNvSpPr txBox="1"/>
          <p:nvPr/>
        </p:nvSpPr>
        <p:spPr>
          <a:xfrm>
            <a:off x="676656" y="4333113"/>
            <a:ext cx="2795016" cy="700659"/>
          </a:xfrm>
          <a:prstGeom prst="rect">
            <a:avLst/>
          </a:prstGeom>
          <a:noFill/>
          <a:ln/>
        </p:spPr>
        <p:txBody>
          <a:bodyPr wrap="square" lIns="0" tIns="0" rIns="0" bIns="0" rtlCol="0" anchor="t"/>
          <a:lstStyle/>
          <a:p>
            <a:pPr algn="l" indent="0" marL="0">
              <a:lnSpc>
                <a:spcPct val="104000"/>
              </a:lnSpc>
              <a:buNone/>
            </a:pPr>
            <a:r>
              <a:rPr lang="en-US" sz="1800" b="1" dirty="0">
                <a:solidFill>
                  <a:srgbClr val="F4F7FB"/>
                </a:solidFill>
                <a:latin typeface="Arial" pitchFamily="34" charset="0"/>
                <a:ea typeface="Arial" pitchFamily="34" charset="-122"/>
                <a:cs typeface="Arial" pitchFamily="34" charset="-120"/>
              </a:rPr>
              <a:t>Invariant / contract</a:t>
            </a:r>
            <a:endParaRPr lang="en-US" sz="1800" dirty="0"/>
          </a:p>
          <a:p>
            <a:pPr algn="l" indent="0" marL="0">
              <a:lnSpc>
                <a:spcPct val="104000"/>
              </a:lnSpc>
              <a:buNone/>
            </a:pPr>
            <a:r>
              <a:rPr lang="en-US" sz="1800" b="1" dirty="0">
                <a:solidFill>
                  <a:srgbClr val="F4F7FB"/>
                </a:solidFill>
                <a:latin typeface="Arial" pitchFamily="34" charset="0"/>
                <a:ea typeface="Arial" pitchFamily="34" charset="-122"/>
                <a:cs typeface="Arial" pitchFamily="34" charset="-120"/>
              </a:rPr>
              <a:t>argument</a:t>
            </a:r>
            <a:endParaRPr lang="en-US" sz="1800" dirty="0"/>
          </a:p>
        </p:txBody>
      </p:sp>
      <p:sp>
        <p:nvSpPr>
          <p:cNvPr id="35" name="Shape 33"/>
          <p:cNvSpPr/>
          <p:nvPr/>
        </p:nvSpPr>
        <p:spPr>
          <a:xfrm>
            <a:off x="3599688" y="4282821"/>
            <a:ext cx="4345432" cy="792099"/>
          </a:xfrm>
          <a:prstGeom prst="rect">
            <a:avLst/>
          </a:prstGeom>
          <a:solidFill>
            <a:srgbClr val="0B1322"/>
          </a:solidFill>
          <a:ln w="8890">
            <a:solidFill>
              <a:srgbClr val="0B1322"/>
            </a:solidFill>
            <a:prstDash val="solid"/>
          </a:ln>
        </p:spPr>
        <p:txBody>
          <a:bodyPr/>
          <a:p/>
        </p:txBody>
      </p:sp>
      <p:sp>
        <p:nvSpPr>
          <p:cNvPr id="36" name="Text 34"/>
          <p:cNvSpPr txBox="1"/>
          <p:nvPr/>
        </p:nvSpPr>
        <p:spPr>
          <a:xfrm>
            <a:off x="3727704" y="4333113"/>
            <a:ext cx="4089400" cy="700659"/>
          </a:xfrm>
          <a:prstGeom prst="rect">
            <a:avLst/>
          </a:prstGeom>
          <a:noFill/>
          <a:ln/>
        </p:spPr>
        <p:txBody>
          <a:bodyPr wrap="square" lIns="0" tIns="0" rIns="0" bIns="0" rtlCol="0" anchor="t"/>
          <a:lstStyle/>
          <a:p>
            <a:pPr algn="l" indent="0" marL="0">
              <a:lnSpc>
                <a:spcPct val="104000"/>
              </a:lnSpc>
              <a:buNone/>
            </a:pPr>
            <a:r>
              <a:rPr lang="en-US" sz="1800" dirty="0">
                <a:solidFill>
                  <a:srgbClr val="B3C3D6"/>
                </a:solidFill>
                <a:latin typeface="Arial" pitchFamily="34" charset="0"/>
                <a:ea typeface="Arial" pitchFamily="34" charset="-122"/>
                <a:cs typeface="Arial" pitchFamily="34" charset="-120"/>
              </a:rPr>
              <a:t>Property under stated assumptions</a:t>
            </a:r>
            <a:endParaRPr lang="en-US" sz="1800" dirty="0"/>
          </a:p>
        </p:txBody>
      </p:sp>
      <p:sp>
        <p:nvSpPr>
          <p:cNvPr id="37" name="Shape 35"/>
          <p:cNvSpPr/>
          <p:nvPr/>
        </p:nvSpPr>
        <p:spPr>
          <a:xfrm>
            <a:off x="7945120" y="4282821"/>
            <a:ext cx="3698240" cy="792099"/>
          </a:xfrm>
          <a:prstGeom prst="rect">
            <a:avLst/>
          </a:prstGeom>
          <a:solidFill>
            <a:srgbClr val="0B1322"/>
          </a:solidFill>
          <a:ln w="8890">
            <a:solidFill>
              <a:srgbClr val="0B1322"/>
            </a:solidFill>
            <a:prstDash val="solid"/>
          </a:ln>
        </p:spPr>
        <p:txBody>
          <a:bodyPr/>
          <a:p/>
        </p:txBody>
      </p:sp>
      <p:sp>
        <p:nvSpPr>
          <p:cNvPr id="38" name="Text 36"/>
          <p:cNvSpPr txBox="1"/>
          <p:nvPr/>
        </p:nvSpPr>
        <p:spPr>
          <a:xfrm>
            <a:off x="8073136" y="4333113"/>
            <a:ext cx="3442208" cy="700659"/>
          </a:xfrm>
          <a:prstGeom prst="rect">
            <a:avLst/>
          </a:prstGeom>
          <a:noFill/>
          <a:ln/>
        </p:spPr>
        <p:txBody>
          <a:bodyPr wrap="square" lIns="0" tIns="0" rIns="0" bIns="0" rtlCol="0" anchor="t"/>
          <a:lstStyle/>
          <a:p>
            <a:pPr algn="l" indent="0" marL="0">
              <a:lnSpc>
                <a:spcPct val="104000"/>
              </a:lnSpc>
              <a:buNone/>
            </a:pPr>
            <a:r>
              <a:rPr lang="en-US" sz="1800" dirty="0">
                <a:solidFill>
                  <a:srgbClr val="B3C3D6"/>
                </a:solidFill>
                <a:latin typeface="Arial" pitchFamily="34" charset="0"/>
                <a:ea typeface="Arial" pitchFamily="34" charset="-122"/>
                <a:cs typeface="Arial" pitchFamily="34" charset="-120"/>
              </a:rPr>
              <a:t>Assumptions and implementation</a:t>
            </a:r>
            <a:endParaRPr lang="en-US" sz="1800" dirty="0"/>
          </a:p>
          <a:p>
            <a:pPr algn="l" indent="0" marL="0">
              <a:lnSpc>
                <a:spcPct val="104000"/>
              </a:lnSpc>
              <a:buNone/>
            </a:pPr>
            <a:r>
              <a:rPr lang="en-US" sz="1800" dirty="0">
                <a:solidFill>
                  <a:srgbClr val="B3C3D6"/>
                </a:solidFill>
                <a:latin typeface="Arial" pitchFamily="34" charset="0"/>
                <a:ea typeface="Arial" pitchFamily="34" charset="-122"/>
                <a:cs typeface="Arial" pitchFamily="34" charset="-120"/>
              </a:rPr>
              <a:t>must match</a:t>
            </a:r>
            <a:endParaRPr lang="en-US" sz="1800" dirty="0"/>
          </a:p>
        </p:txBody>
      </p:sp>
      <p:sp>
        <p:nvSpPr>
          <p:cNvPr id="39" name="Shape 37"/>
          <p:cNvSpPr/>
          <p:nvPr/>
        </p:nvSpPr>
        <p:spPr>
          <a:xfrm>
            <a:off x="548640" y="5074920"/>
            <a:ext cx="11094720" cy="0"/>
          </a:xfrm>
          <a:prstGeom prst="line">
            <a:avLst/>
          </a:prstGeom>
          <a:noFill/>
          <a:ln w="12700">
            <a:solidFill>
              <a:srgbClr val="2B415A"/>
            </a:solidFill>
            <a:prstDash val="solid"/>
          </a:ln>
        </p:spPr>
        <p:txBody>
          <a:bodyPr/>
          <a:p/>
        </p:txBody>
      </p:sp>
      <p:sp>
        <p:nvSpPr>
          <p:cNvPr id="40" name="Text 38"/>
          <p:cNvSpPr txBox="1"/>
          <p:nvPr/>
        </p:nvSpPr>
        <p:spPr>
          <a:xfrm>
            <a:off x="548640" y="5193792"/>
            <a:ext cx="11094720" cy="274320"/>
          </a:xfrm>
          <a:prstGeom prst="rect">
            <a:avLst/>
          </a:prstGeom>
          <a:noFill/>
          <a:ln/>
        </p:spPr>
        <p:txBody>
          <a:bodyPr wrap="square" lIns="0" tIns="0" rIns="0" bIns="0" rtlCol="0" anchor="t"/>
          <a:lstStyle/>
          <a:p>
            <a:pPr algn="l" indent="0" marL="0">
              <a:lnSpc>
                <a:spcPct val="104000"/>
              </a:lnSpc>
              <a:buNone/>
            </a:pPr>
            <a:r>
              <a:rPr lang="en-US" sz="1140" dirty="0">
                <a:solidFill>
                  <a:srgbClr val="B3C3D6"/>
                </a:solidFill>
                <a:latin typeface="Arial" pitchFamily="34" charset="0"/>
                <a:ea typeface="Arial" pitchFamily="34" charset="-122"/>
                <a:cs typeface="Arial" pitchFamily="34" charset="-120"/>
              </a:rPr>
              <a:t>Use correctness instrumentation and performance measurement as separate experiments.</a:t>
            </a:r>
            <a:endParaRPr lang="en-US" sz="1140" dirty="0"/>
          </a:p>
        </p:txBody>
      </p:sp>
      <p:sp>
        <p:nvSpPr>
          <p:cNvPr id="45" name="Text 43"/>
          <p:cNvSpPr txBox="1"/>
          <p:nvPr/>
        </p:nvSpPr>
        <p:spPr>
          <a:xfrm>
            <a:off x="548640" y="6601968"/>
            <a:ext cx="10241280" cy="128016"/>
          </a:xfrm>
          <a:prstGeom prst="rect">
            <a:avLst/>
          </a:prstGeom>
          <a:noFill/>
          <a:ln/>
        </p:spPr>
        <p:txBody>
          <a:bodyPr wrap="square" lIns="0" tIns="0" rIns="0" bIns="0" rtlCol="0" anchor="t"/>
          <a:lstStyle/>
          <a:p>
            <a:pPr algn="l" indent="0" marL="0">
              <a:lnSpc>
                <a:spcPct val="104000"/>
              </a:lnSpc>
              <a:buNone/>
            </a:pPr>
            <a:r>
              <a:rPr lang="en-US" sz="830" dirty="0">
                <a:solidFill>
                  <a:srgbClr val="B3C3D6"/>
                </a:solidFill>
                <a:latin typeface="Arial" pitchFamily="34" charset="0"/>
                <a:ea typeface="Arial" pitchFamily="34" charset="-122"/>
                <a:cs typeface="Arial" pitchFamily="34" charset="-120"/>
              </a:rPr>
              <a:t>Source: original 8, 14, 19, 21 • Graduate extension • [ASAN, UBSAN]</a:t>
            </a:r>
            <a:endParaRPr lang="en-US" sz="830" dirty="0"/>
          </a:p>
        </p:txBody>
      </p:sp>
      <p:sp>
        <p:nvSpPr>
          <p:cNvPr id="46" name="Text 44"/>
          <p:cNvSpPr txBox="1"/>
          <p:nvPr/>
        </p:nvSpPr>
        <p:spPr>
          <a:xfrm>
            <a:off x="10917936" y="6565392"/>
            <a:ext cx="722376" cy="219456"/>
          </a:xfrm>
          <a:prstGeom prst="rect">
            <a:avLst/>
          </a:prstGeom>
          <a:noFill/>
          <a:ln/>
        </p:spPr>
        <p:txBody>
          <a:bodyPr wrap="square" lIns="0" tIns="0" rIns="0" bIns="0" rtlCol="0" anchor="t"/>
          <a:lstStyle/>
          <a:p>
            <a:pPr algn="r" indent="0" marL="0">
              <a:lnSpc>
                <a:spcPct val="104000"/>
              </a:lnSpc>
              <a:buNone/>
            </a:pPr>
            <a:r>
              <a:rPr lang="en-US" sz="1050" dirty="0">
                <a:solidFill>
                  <a:srgbClr val="B3C3D6"/>
                </a:solidFill>
                <a:latin typeface="Arial" pitchFamily="34" charset="0"/>
                <a:ea typeface="Arial" pitchFamily="34" charset="-122"/>
                <a:cs typeface="Arial" pitchFamily="34" charset="-120"/>
              </a:rPr>
              <a:t>51 / 64</a:t>
            </a:r>
            <a:endParaRPr lang="en-US" sz="1050" dirty="0"/>
          </a:p>
        </p:txBody>
      </p:sp>
      <p:sp>
        <p:nvSpPr>
          <p:cNvPr id="47" name="Shape 45"/>
          <p:cNvSpPr/>
          <p:nvPr/>
        </p:nvSpPr>
        <p:spPr>
          <a:xfrm>
            <a:off x="0" y="6834226"/>
            <a:ext cx="12192000" cy="23774"/>
          </a:xfrm>
          <a:prstGeom prst="rect">
            <a:avLst/>
          </a:prstGeom>
          <a:solidFill>
            <a:srgbClr val="2B415A"/>
          </a:solidFill>
          <a:ln w="8890">
            <a:solidFill>
              <a:srgbClr val="2B415A"/>
            </a:solidFill>
            <a:prstDash val="solid"/>
          </a:ln>
        </p:spPr>
        <p:txBody>
          <a:bodyPr/>
          <a:p/>
        </p:txBody>
      </p:sp>
      <p:sp>
        <p:nvSpPr>
          <p:cNvPr id="48" name="Shape 46"/>
          <p:cNvSpPr/>
          <p:nvPr/>
        </p:nvSpPr>
        <p:spPr>
          <a:xfrm>
            <a:off x="0" y="6834226"/>
            <a:ext cx="9715500" cy="23774"/>
          </a:xfrm>
          <a:prstGeom prst="rect">
            <a:avLst/>
          </a:prstGeom>
          <a:solidFill>
            <a:srgbClr val="71D5DD"/>
          </a:solidFill>
          <a:ln w="8890">
            <a:solidFill>
              <a:srgbClr val="71D5DD"/>
            </a:solidFill>
            <a:prstDash val="solid"/>
          </a:ln>
        </p:spPr>
        <p:txBody>
          <a:body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txBox="1"/>
          <p:nvPr/>
        </p:nvSpPr>
        <p:spPr>
          <a:xfrm>
            <a:off x="548640" y="219456"/>
            <a:ext cx="9875520" cy="192024"/>
          </a:xfrm>
          <a:prstGeom prst="rect">
            <a:avLst/>
          </a:prstGeom>
          <a:noFill/>
          <a:ln/>
        </p:spPr>
        <p:txBody>
          <a:bodyPr wrap="square" lIns="0" tIns="0" rIns="0" bIns="0" rtlCol="0" anchor="t"/>
          <a:lstStyle/>
          <a:p>
            <a:pPr algn="l" indent="0" marL="0">
              <a:lnSpc>
                <a:spcPct val="104000"/>
              </a:lnSpc>
              <a:buNone/>
            </a:pPr>
            <a:r>
              <a:rPr lang="en-US" sz="970" b="1" spc="135" kern="0" dirty="0">
                <a:solidFill>
                  <a:srgbClr val="B3C3D6"/>
                </a:solidFill>
                <a:latin typeface="Arial" pitchFamily="34" charset="0"/>
                <a:ea typeface="Arial" pitchFamily="34" charset="-122"/>
                <a:cs typeface="Arial" pitchFamily="34" charset="-120"/>
              </a:rPr>
              <a:t>SYSTEMS PROGRAMMING AND MACHINE ORGANIZATION</a:t>
            </a:r>
            <a:endParaRPr lang="en-US" sz="970" dirty="0"/>
          </a:p>
        </p:txBody>
      </p:sp>
      <p:sp>
        <p:nvSpPr>
          <p:cNvPr id="3" name="Text 1"/>
          <p:cNvSpPr txBox="1"/>
          <p:nvPr/>
        </p:nvSpPr>
        <p:spPr>
          <a:xfrm>
            <a:off x="9601200" y="219456"/>
            <a:ext cx="2039112" cy="192024"/>
          </a:xfrm>
          <a:prstGeom prst="rect">
            <a:avLst/>
          </a:prstGeom>
          <a:noFill/>
          <a:ln/>
        </p:spPr>
        <p:txBody>
          <a:bodyPr wrap="square" lIns="0" tIns="0" rIns="0" bIns="0" rtlCol="0" anchor="t"/>
          <a:lstStyle/>
          <a:p>
            <a:pPr algn="r" indent="0" marL="0">
              <a:lnSpc>
                <a:spcPct val="104000"/>
              </a:lnSpc>
              <a:buNone/>
            </a:pPr>
            <a:r>
              <a:rPr lang="en-US" sz="970" b="1" dirty="0">
                <a:solidFill>
                  <a:srgbClr val="B3C3D6"/>
                </a:solidFill>
                <a:latin typeface="Arial" pitchFamily="34" charset="0"/>
                <a:ea typeface="Arial" pitchFamily="34" charset="-122"/>
                <a:cs typeface="Arial" pitchFamily="34" charset="-120"/>
              </a:rPr>
              <a:t>CHARLES DORNER</a:t>
            </a:r>
            <a:endParaRPr lang="en-US" sz="970" dirty="0"/>
          </a:p>
        </p:txBody>
      </p:sp>
      <p:sp>
        <p:nvSpPr>
          <p:cNvPr id="4" name="Text 2"/>
          <p:cNvSpPr txBox="1"/>
          <p:nvPr/>
        </p:nvSpPr>
        <p:spPr>
          <a:xfrm>
            <a:off x="548640" y="566928"/>
            <a:ext cx="11109960" cy="237744"/>
          </a:xfrm>
          <a:prstGeom prst="rect">
            <a:avLst/>
          </a:prstGeom>
          <a:noFill/>
          <a:ln/>
        </p:spPr>
        <p:txBody>
          <a:bodyPr wrap="square" lIns="0" tIns="0" rIns="0" bIns="0" rtlCol="0" anchor="t"/>
          <a:lstStyle/>
          <a:p>
            <a:pPr algn="l" indent="0" marL="0">
              <a:lnSpc>
                <a:spcPct val="104000"/>
              </a:lnSpc>
              <a:buNone/>
            </a:pPr>
            <a:r>
              <a:rPr lang="en-US" sz="1150" b="1" dirty="0">
                <a:solidFill>
                  <a:srgbClr val="71D5DD"/>
                </a:solidFill>
                <a:latin typeface="Arial" pitchFamily="34" charset="0"/>
                <a:ea typeface="Arial" pitchFamily="34" charset="-122"/>
                <a:cs typeface="Arial" pitchFamily="34" charset="-120"/>
              </a:rPr>
              <a:t>INTEGRATION · BUILD, LOAD &amp; RUNTIME</a:t>
            </a:r>
            <a:endParaRPr lang="en-US" sz="1150" dirty="0"/>
          </a:p>
        </p:txBody>
      </p:sp>
      <p:sp>
        <p:nvSpPr>
          <p:cNvPr id="5" name="Text 3"/>
          <p:cNvSpPr txBox="1"/>
          <p:nvPr/>
        </p:nvSpPr>
        <p:spPr>
          <a:xfrm>
            <a:off x="548640" y="941832"/>
            <a:ext cx="11091672" cy="676656"/>
          </a:xfrm>
          <a:prstGeom prst="rect">
            <a:avLst/>
          </a:prstGeom>
          <a:noFill/>
          <a:ln/>
        </p:spPr>
        <p:txBody>
          <a:bodyPr wrap="square" lIns="0" tIns="0" rIns="0" bIns="0" rtlCol="0" anchor="t"/>
          <a:lstStyle/>
          <a:p>
            <a:pPr algn="l" indent="0" marL="0">
              <a:lnSpc>
                <a:spcPct val="104000"/>
              </a:lnSpc>
              <a:buNone/>
            </a:pPr>
            <a:r>
              <a:rPr lang="en-US" sz="3150" b="1" dirty="0">
                <a:solidFill>
                  <a:srgbClr val="F4F7FB"/>
                </a:solidFill>
                <a:latin typeface="Arial" pitchFamily="34" charset="0"/>
                <a:ea typeface="Arial" pitchFamily="34" charset="-122"/>
                <a:cs typeface="Arial" pitchFamily="34" charset="-120"/>
              </a:rPr>
              <a:t>Diagnose the symptom with the right artifact</a:t>
            </a:r>
            <a:endParaRPr lang="en-US" sz="3150" dirty="0"/>
          </a:p>
        </p:txBody>
      </p:sp>
      <p:sp>
        <p:nvSpPr>
          <p:cNvPr id="6" name="Shape 4"/>
          <p:cNvSpPr/>
          <p:nvPr/>
        </p:nvSpPr>
        <p:spPr>
          <a:xfrm>
            <a:off x="548640" y="1764792"/>
            <a:ext cx="3513328" cy="402336"/>
          </a:xfrm>
          <a:prstGeom prst="rect">
            <a:avLst/>
          </a:prstGeom>
          <a:solidFill>
            <a:srgbClr val="172940"/>
          </a:solidFill>
          <a:ln w="8890">
            <a:solidFill>
              <a:srgbClr val="172940"/>
            </a:solidFill>
            <a:prstDash val="solid"/>
          </a:ln>
        </p:spPr>
        <p:txBody>
          <a:bodyPr/>
          <a:p/>
        </p:txBody>
      </p:sp>
      <p:sp>
        <p:nvSpPr>
          <p:cNvPr id="7" name="Text 5"/>
          <p:cNvSpPr txBox="1"/>
          <p:nvPr/>
        </p:nvSpPr>
        <p:spPr>
          <a:xfrm>
            <a:off x="676656" y="1851660"/>
            <a:ext cx="3257296" cy="301752"/>
          </a:xfrm>
          <a:prstGeom prst="rect">
            <a:avLst/>
          </a:prstGeom>
          <a:noFill/>
          <a:ln/>
        </p:spPr>
        <p:txBody>
          <a:bodyPr wrap="square" lIns="0" tIns="0" rIns="0" bIns="0" rtlCol="0" anchor="t"/>
          <a:lstStyle/>
          <a:p>
            <a:pPr algn="l" indent="0" marL="0">
              <a:lnSpc>
                <a:spcPct val="104000"/>
              </a:lnSpc>
              <a:buNone/>
            </a:pPr>
            <a:r>
              <a:rPr lang="en-US" sz="1240" b="1" dirty="0">
                <a:solidFill>
                  <a:srgbClr val="71D5DD"/>
                </a:solidFill>
                <a:latin typeface="Arial" pitchFamily="34" charset="0"/>
                <a:ea typeface="Arial" pitchFamily="34" charset="-122"/>
                <a:cs typeface="Arial" pitchFamily="34" charset="-120"/>
              </a:rPr>
              <a:t>Symptom</a:t>
            </a:r>
            <a:endParaRPr lang="en-US" sz="1240" dirty="0"/>
          </a:p>
        </p:txBody>
      </p:sp>
      <p:sp>
        <p:nvSpPr>
          <p:cNvPr id="8" name="Shape 6"/>
          <p:cNvSpPr/>
          <p:nvPr/>
        </p:nvSpPr>
        <p:spPr>
          <a:xfrm>
            <a:off x="4061968" y="1764792"/>
            <a:ext cx="3883152" cy="402336"/>
          </a:xfrm>
          <a:prstGeom prst="rect">
            <a:avLst/>
          </a:prstGeom>
          <a:solidFill>
            <a:srgbClr val="172940"/>
          </a:solidFill>
          <a:ln w="8890">
            <a:solidFill>
              <a:srgbClr val="172940"/>
            </a:solidFill>
            <a:prstDash val="solid"/>
          </a:ln>
        </p:spPr>
        <p:txBody>
          <a:bodyPr/>
          <a:p/>
        </p:txBody>
      </p:sp>
      <p:sp>
        <p:nvSpPr>
          <p:cNvPr id="9" name="Text 7"/>
          <p:cNvSpPr txBox="1"/>
          <p:nvPr/>
        </p:nvSpPr>
        <p:spPr>
          <a:xfrm>
            <a:off x="4189984" y="1851660"/>
            <a:ext cx="3627120" cy="301752"/>
          </a:xfrm>
          <a:prstGeom prst="rect">
            <a:avLst/>
          </a:prstGeom>
          <a:noFill/>
          <a:ln/>
        </p:spPr>
        <p:txBody>
          <a:bodyPr wrap="square" lIns="0" tIns="0" rIns="0" bIns="0" rtlCol="0" anchor="t"/>
          <a:lstStyle/>
          <a:p>
            <a:pPr algn="l" indent="0" marL="0">
              <a:lnSpc>
                <a:spcPct val="104000"/>
              </a:lnSpc>
              <a:buNone/>
            </a:pPr>
            <a:r>
              <a:rPr lang="en-US" sz="1240" b="1" dirty="0">
                <a:solidFill>
                  <a:srgbClr val="71D5DD"/>
                </a:solidFill>
                <a:latin typeface="Arial" pitchFamily="34" charset="0"/>
                <a:ea typeface="Arial" pitchFamily="34" charset="-122"/>
                <a:cs typeface="Arial" pitchFamily="34" charset="-120"/>
              </a:rPr>
              <a:t>Inspect first</a:t>
            </a:r>
            <a:endParaRPr lang="en-US" sz="1240" dirty="0"/>
          </a:p>
        </p:txBody>
      </p:sp>
      <p:sp>
        <p:nvSpPr>
          <p:cNvPr id="10" name="Shape 8"/>
          <p:cNvSpPr/>
          <p:nvPr/>
        </p:nvSpPr>
        <p:spPr>
          <a:xfrm>
            <a:off x="7945120" y="1764792"/>
            <a:ext cx="3698240" cy="402336"/>
          </a:xfrm>
          <a:prstGeom prst="rect">
            <a:avLst/>
          </a:prstGeom>
          <a:solidFill>
            <a:srgbClr val="172940"/>
          </a:solidFill>
          <a:ln w="8890">
            <a:solidFill>
              <a:srgbClr val="172940"/>
            </a:solidFill>
            <a:prstDash val="solid"/>
          </a:ln>
        </p:spPr>
        <p:txBody>
          <a:bodyPr/>
          <a:p/>
        </p:txBody>
      </p:sp>
      <p:sp>
        <p:nvSpPr>
          <p:cNvPr id="11" name="Text 9"/>
          <p:cNvSpPr txBox="1"/>
          <p:nvPr/>
        </p:nvSpPr>
        <p:spPr>
          <a:xfrm>
            <a:off x="8073136" y="1851660"/>
            <a:ext cx="3442208" cy="301752"/>
          </a:xfrm>
          <a:prstGeom prst="rect">
            <a:avLst/>
          </a:prstGeom>
          <a:noFill/>
          <a:ln/>
        </p:spPr>
        <p:txBody>
          <a:bodyPr wrap="square" lIns="0" tIns="0" rIns="0" bIns="0" rtlCol="0" anchor="t"/>
          <a:lstStyle/>
          <a:p>
            <a:pPr algn="l" indent="0" marL="0">
              <a:lnSpc>
                <a:spcPct val="104000"/>
              </a:lnSpc>
              <a:buNone/>
            </a:pPr>
            <a:r>
              <a:rPr lang="en-US" sz="1240" b="1" dirty="0">
                <a:solidFill>
                  <a:srgbClr val="71D5DD"/>
                </a:solidFill>
                <a:latin typeface="Arial" pitchFamily="34" charset="0"/>
                <a:ea typeface="Arial" pitchFamily="34" charset="-122"/>
                <a:cs typeface="Arial" pitchFamily="34" charset="-120"/>
              </a:rPr>
              <a:t>Do not conclude</a:t>
            </a:r>
            <a:endParaRPr lang="en-US" sz="1240" dirty="0"/>
          </a:p>
        </p:txBody>
      </p:sp>
      <p:sp>
        <p:nvSpPr>
          <p:cNvPr id="12" name="Shape 10"/>
          <p:cNvSpPr/>
          <p:nvPr/>
        </p:nvSpPr>
        <p:spPr>
          <a:xfrm>
            <a:off x="548640" y="2167128"/>
            <a:ext cx="3513328" cy="630784"/>
          </a:xfrm>
          <a:prstGeom prst="rect">
            <a:avLst/>
          </a:prstGeom>
          <a:solidFill>
            <a:srgbClr val="142238"/>
          </a:solidFill>
          <a:ln w="8890">
            <a:solidFill>
              <a:srgbClr val="142238"/>
            </a:solidFill>
            <a:prstDash val="solid"/>
          </a:ln>
        </p:spPr>
        <p:txBody>
          <a:bodyPr/>
          <a:p/>
        </p:txBody>
      </p:sp>
      <p:sp>
        <p:nvSpPr>
          <p:cNvPr id="13" name="Text 11"/>
          <p:cNvSpPr txBox="1"/>
          <p:nvPr/>
        </p:nvSpPr>
        <p:spPr>
          <a:xfrm>
            <a:off x="676656" y="2217420"/>
            <a:ext cx="3257296" cy="539344"/>
          </a:xfrm>
          <a:prstGeom prst="rect">
            <a:avLst/>
          </a:prstGeom>
          <a:noFill/>
          <a:ln/>
        </p:spPr>
        <p:txBody>
          <a:bodyPr wrap="square" lIns="0" tIns="0" rIns="0" bIns="0" rtlCol="0" anchor="t"/>
          <a:lstStyle/>
          <a:p>
            <a:pPr algn="l" indent="0" marL="0">
              <a:lnSpc>
                <a:spcPct val="104000"/>
              </a:lnSpc>
              <a:buNone/>
            </a:pPr>
            <a:r>
              <a:rPr lang="en-US" sz="1700" b="1" dirty="0">
                <a:solidFill>
                  <a:srgbClr val="F4F7FB"/>
                </a:solidFill>
                <a:latin typeface="Arial" pitchFamily="34" charset="0"/>
                <a:ea typeface="Arial" pitchFamily="34" charset="-122"/>
                <a:cs typeface="Arial" pitchFamily="34" charset="-120"/>
              </a:rPr>
              <a:t>Unexpected expanded</a:t>
            </a:r>
            <a:endParaRPr lang="en-US" sz="1700" dirty="0"/>
          </a:p>
          <a:p>
            <a:pPr algn="l" indent="0" marL="0">
              <a:lnSpc>
                <a:spcPct val="104000"/>
              </a:lnSpc>
              <a:buNone/>
            </a:pPr>
            <a:r>
              <a:rPr lang="en-US" sz="1700" b="1" dirty="0">
                <a:solidFill>
                  <a:srgbClr val="F4F7FB"/>
                </a:solidFill>
                <a:latin typeface="Arial" pitchFamily="34" charset="0"/>
                <a:ea typeface="Arial" pitchFamily="34" charset="-122"/>
                <a:cs typeface="Arial" pitchFamily="34" charset="-120"/>
              </a:rPr>
              <a:t>expression</a:t>
            </a:r>
            <a:endParaRPr lang="en-US" sz="1700" dirty="0"/>
          </a:p>
        </p:txBody>
      </p:sp>
      <p:sp>
        <p:nvSpPr>
          <p:cNvPr id="14" name="Shape 12"/>
          <p:cNvSpPr/>
          <p:nvPr/>
        </p:nvSpPr>
        <p:spPr>
          <a:xfrm>
            <a:off x="4061968" y="2167128"/>
            <a:ext cx="3883152" cy="630784"/>
          </a:xfrm>
          <a:prstGeom prst="rect">
            <a:avLst/>
          </a:prstGeom>
          <a:solidFill>
            <a:srgbClr val="142238"/>
          </a:solidFill>
          <a:ln w="8890">
            <a:solidFill>
              <a:srgbClr val="142238"/>
            </a:solidFill>
            <a:prstDash val="solid"/>
          </a:ln>
        </p:spPr>
        <p:txBody>
          <a:bodyPr/>
          <a:p/>
        </p:txBody>
      </p:sp>
      <p:sp>
        <p:nvSpPr>
          <p:cNvPr id="15" name="Text 13"/>
          <p:cNvSpPr txBox="1"/>
          <p:nvPr/>
        </p:nvSpPr>
        <p:spPr>
          <a:xfrm>
            <a:off x="4189984" y="2217420"/>
            <a:ext cx="3627120" cy="539344"/>
          </a:xfrm>
          <a:prstGeom prst="rect">
            <a:avLst/>
          </a:prstGeom>
          <a:noFill/>
          <a:ln/>
        </p:spPr>
        <p:txBody>
          <a:bodyPr wrap="square" lIns="0" tIns="0" rIns="0" bIns="0" rtlCol="0" anchor="t"/>
          <a:lstStyle/>
          <a:p>
            <a:pPr algn="l" indent="0" marL="0">
              <a:lnSpc>
                <a:spcPct val="104000"/>
              </a:lnSpc>
              <a:buNone/>
            </a:pPr>
            <a:r>
              <a:rPr lang="en-US" sz="1700" dirty="0">
                <a:solidFill>
                  <a:srgbClr val="B3C3D6"/>
                </a:solidFill>
                <a:latin typeface="Arial" pitchFamily="34" charset="0"/>
                <a:ea typeface="Arial" pitchFamily="34" charset="-122"/>
                <a:cs typeface="Arial" pitchFamily="34" charset="-120"/>
              </a:rPr>
              <a:t>Preprocessed translation unit</a:t>
            </a:r>
            <a:endParaRPr lang="en-US" sz="1700" dirty="0"/>
          </a:p>
        </p:txBody>
      </p:sp>
      <p:sp>
        <p:nvSpPr>
          <p:cNvPr id="16" name="Shape 14"/>
          <p:cNvSpPr/>
          <p:nvPr/>
        </p:nvSpPr>
        <p:spPr>
          <a:xfrm>
            <a:off x="7945120" y="2167128"/>
            <a:ext cx="3698240" cy="630784"/>
          </a:xfrm>
          <a:prstGeom prst="rect">
            <a:avLst/>
          </a:prstGeom>
          <a:solidFill>
            <a:srgbClr val="142238"/>
          </a:solidFill>
          <a:ln w="8890">
            <a:solidFill>
              <a:srgbClr val="142238"/>
            </a:solidFill>
            <a:prstDash val="solid"/>
          </a:ln>
        </p:spPr>
        <p:txBody>
          <a:bodyPr/>
          <a:p/>
        </p:txBody>
      </p:sp>
      <p:sp>
        <p:nvSpPr>
          <p:cNvPr id="17" name="Text 15"/>
          <p:cNvSpPr txBox="1"/>
          <p:nvPr/>
        </p:nvSpPr>
        <p:spPr>
          <a:xfrm>
            <a:off x="8073136" y="2217420"/>
            <a:ext cx="3442208" cy="539344"/>
          </a:xfrm>
          <a:prstGeom prst="rect">
            <a:avLst/>
          </a:prstGeom>
          <a:noFill/>
          <a:ln/>
        </p:spPr>
        <p:txBody>
          <a:bodyPr wrap="square" lIns="0" tIns="0" rIns="0" bIns="0" rtlCol="0" anchor="t"/>
          <a:lstStyle/>
          <a:p>
            <a:pPr algn="l" indent="0" marL="0">
              <a:lnSpc>
                <a:spcPct val="104000"/>
              </a:lnSpc>
              <a:buNone/>
            </a:pPr>
            <a:r>
              <a:rPr lang="en-US" sz="1700" dirty="0">
                <a:solidFill>
                  <a:srgbClr val="B3C3D6"/>
                </a:solidFill>
                <a:latin typeface="Arial" pitchFamily="34" charset="0"/>
                <a:ea typeface="Arial" pitchFamily="34" charset="-122"/>
                <a:cs typeface="Arial" pitchFamily="34" charset="-120"/>
              </a:rPr>
              <a:t>The source text is what the</a:t>
            </a:r>
            <a:endParaRPr lang="en-US" sz="1700" dirty="0"/>
          </a:p>
          <a:p>
            <a:pPr algn="l" indent="0" marL="0">
              <a:lnSpc>
                <a:spcPct val="104000"/>
              </a:lnSpc>
              <a:buNone/>
            </a:pPr>
            <a:r>
              <a:rPr lang="en-US" sz="1700" dirty="0">
                <a:solidFill>
                  <a:srgbClr val="B3C3D6"/>
                </a:solidFill>
                <a:latin typeface="Arial" pitchFamily="34" charset="0"/>
                <a:ea typeface="Arial" pitchFamily="34" charset="-122"/>
                <a:cs typeface="Arial" pitchFamily="34" charset="-120"/>
              </a:rPr>
              <a:t>compiler saw</a:t>
            </a:r>
            <a:endParaRPr lang="en-US" sz="1700" dirty="0"/>
          </a:p>
        </p:txBody>
      </p:sp>
      <p:sp>
        <p:nvSpPr>
          <p:cNvPr id="18" name="Shape 16"/>
          <p:cNvSpPr/>
          <p:nvPr/>
        </p:nvSpPr>
        <p:spPr>
          <a:xfrm>
            <a:off x="548640" y="2797912"/>
            <a:ext cx="11094720" cy="0"/>
          </a:xfrm>
          <a:prstGeom prst="line">
            <a:avLst/>
          </a:prstGeom>
          <a:noFill/>
          <a:ln w="12700">
            <a:solidFill>
              <a:srgbClr val="2B415A"/>
            </a:solidFill>
            <a:prstDash val="solid"/>
          </a:ln>
        </p:spPr>
        <p:txBody>
          <a:bodyPr/>
          <a:p/>
        </p:txBody>
      </p:sp>
      <p:sp>
        <p:nvSpPr>
          <p:cNvPr id="19" name="Shape 17"/>
          <p:cNvSpPr/>
          <p:nvPr/>
        </p:nvSpPr>
        <p:spPr>
          <a:xfrm>
            <a:off x="548640" y="2797912"/>
            <a:ext cx="3513328" cy="630784"/>
          </a:xfrm>
          <a:prstGeom prst="rect">
            <a:avLst/>
          </a:prstGeom>
          <a:solidFill>
            <a:srgbClr val="0B1322"/>
          </a:solidFill>
          <a:ln w="8890">
            <a:solidFill>
              <a:srgbClr val="0B1322"/>
            </a:solidFill>
            <a:prstDash val="solid"/>
          </a:ln>
        </p:spPr>
        <p:txBody>
          <a:bodyPr/>
          <a:p/>
        </p:txBody>
      </p:sp>
      <p:sp>
        <p:nvSpPr>
          <p:cNvPr id="20" name="Text 18"/>
          <p:cNvSpPr txBox="1"/>
          <p:nvPr/>
        </p:nvSpPr>
        <p:spPr>
          <a:xfrm>
            <a:off x="676656" y="2848204"/>
            <a:ext cx="3257296" cy="539344"/>
          </a:xfrm>
          <a:prstGeom prst="rect">
            <a:avLst/>
          </a:prstGeom>
          <a:noFill/>
          <a:ln/>
        </p:spPr>
        <p:txBody>
          <a:bodyPr wrap="square" lIns="0" tIns="0" rIns="0" bIns="0" rtlCol="0" anchor="t"/>
          <a:lstStyle/>
          <a:p>
            <a:pPr algn="l" indent="0" marL="0">
              <a:lnSpc>
                <a:spcPct val="104000"/>
              </a:lnSpc>
              <a:buNone/>
            </a:pPr>
            <a:r>
              <a:rPr lang="en-US" sz="1700" b="1" dirty="0">
                <a:solidFill>
                  <a:srgbClr val="F4F7FB"/>
                </a:solidFill>
                <a:latin typeface="Arial" pitchFamily="34" charset="0"/>
                <a:ea typeface="Arial" pitchFamily="34" charset="-122"/>
                <a:cs typeface="Arial" pitchFamily="34" charset="-120"/>
              </a:rPr>
              <a:t>Unresolved add</a:t>
            </a:r>
            <a:endParaRPr lang="en-US" sz="1700" dirty="0"/>
          </a:p>
        </p:txBody>
      </p:sp>
      <p:sp>
        <p:nvSpPr>
          <p:cNvPr id="21" name="Shape 19"/>
          <p:cNvSpPr/>
          <p:nvPr/>
        </p:nvSpPr>
        <p:spPr>
          <a:xfrm>
            <a:off x="4061968" y="2797912"/>
            <a:ext cx="3883152" cy="630784"/>
          </a:xfrm>
          <a:prstGeom prst="rect">
            <a:avLst/>
          </a:prstGeom>
          <a:solidFill>
            <a:srgbClr val="0B1322"/>
          </a:solidFill>
          <a:ln w="8890">
            <a:solidFill>
              <a:srgbClr val="0B1322"/>
            </a:solidFill>
            <a:prstDash val="solid"/>
          </a:ln>
        </p:spPr>
        <p:txBody>
          <a:bodyPr/>
          <a:p/>
        </p:txBody>
      </p:sp>
      <p:sp>
        <p:nvSpPr>
          <p:cNvPr id="22" name="Text 20"/>
          <p:cNvSpPr txBox="1"/>
          <p:nvPr/>
        </p:nvSpPr>
        <p:spPr>
          <a:xfrm>
            <a:off x="4189984" y="2848204"/>
            <a:ext cx="3627120" cy="539344"/>
          </a:xfrm>
          <a:prstGeom prst="rect">
            <a:avLst/>
          </a:prstGeom>
          <a:noFill/>
          <a:ln/>
        </p:spPr>
        <p:txBody>
          <a:bodyPr wrap="square" lIns="0" tIns="0" rIns="0" bIns="0" rtlCol="0" anchor="t"/>
          <a:lstStyle/>
          <a:p>
            <a:pPr algn="l" indent="0" marL="0">
              <a:lnSpc>
                <a:spcPct val="104000"/>
              </a:lnSpc>
              <a:buNone/>
            </a:pPr>
            <a:r>
              <a:rPr lang="en-US" sz="1700" dirty="0">
                <a:solidFill>
                  <a:srgbClr val="B3C3D6"/>
                </a:solidFill>
                <a:latin typeface="Arial" pitchFamily="34" charset="0"/>
                <a:ea typeface="Arial" pitchFamily="34" charset="-122"/>
                <a:cs typeface="Arial" pitchFamily="34" charset="-120"/>
              </a:rPr>
              <a:t>Object symbols and link inputs</a:t>
            </a:r>
            <a:endParaRPr lang="en-US" sz="1700" dirty="0"/>
          </a:p>
        </p:txBody>
      </p:sp>
      <p:sp>
        <p:nvSpPr>
          <p:cNvPr id="23" name="Shape 21"/>
          <p:cNvSpPr/>
          <p:nvPr/>
        </p:nvSpPr>
        <p:spPr>
          <a:xfrm>
            <a:off x="7945120" y="2797912"/>
            <a:ext cx="3698240" cy="630784"/>
          </a:xfrm>
          <a:prstGeom prst="rect">
            <a:avLst/>
          </a:prstGeom>
          <a:solidFill>
            <a:srgbClr val="0B1322"/>
          </a:solidFill>
          <a:ln w="8890">
            <a:solidFill>
              <a:srgbClr val="0B1322"/>
            </a:solidFill>
            <a:prstDash val="solid"/>
          </a:ln>
        </p:spPr>
        <p:txBody>
          <a:bodyPr/>
          <a:p/>
        </p:txBody>
      </p:sp>
      <p:sp>
        <p:nvSpPr>
          <p:cNvPr id="24" name="Text 22"/>
          <p:cNvSpPr txBox="1"/>
          <p:nvPr/>
        </p:nvSpPr>
        <p:spPr>
          <a:xfrm>
            <a:off x="8073136" y="2848204"/>
            <a:ext cx="3442208" cy="539344"/>
          </a:xfrm>
          <a:prstGeom prst="rect">
            <a:avLst/>
          </a:prstGeom>
          <a:noFill/>
          <a:ln/>
        </p:spPr>
        <p:txBody>
          <a:bodyPr wrap="square" lIns="0" tIns="0" rIns="0" bIns="0" rtlCol="0" anchor="t"/>
          <a:lstStyle/>
          <a:p>
            <a:pPr algn="l" indent="0" marL="0">
              <a:lnSpc>
                <a:spcPct val="104000"/>
              </a:lnSpc>
              <a:buNone/>
            </a:pPr>
            <a:r>
              <a:rPr lang="en-US" sz="1700" dirty="0">
                <a:solidFill>
                  <a:srgbClr val="B3C3D6"/>
                </a:solidFill>
                <a:latin typeface="Arial" pitchFamily="34" charset="0"/>
                <a:ea typeface="Arial" pitchFamily="34" charset="-122"/>
                <a:cs typeface="Arial" pitchFamily="34" charset="-120"/>
              </a:rPr>
              <a:t>The caller necessarily has a syntax</a:t>
            </a:r>
            <a:endParaRPr lang="en-US" sz="1700" dirty="0"/>
          </a:p>
          <a:p>
            <a:pPr algn="l" indent="0" marL="0">
              <a:lnSpc>
                <a:spcPct val="104000"/>
              </a:lnSpc>
              <a:buNone/>
            </a:pPr>
            <a:r>
              <a:rPr lang="en-US" sz="1700" dirty="0">
                <a:solidFill>
                  <a:srgbClr val="B3C3D6"/>
                </a:solidFill>
                <a:latin typeface="Arial" pitchFamily="34" charset="0"/>
                <a:ea typeface="Arial" pitchFamily="34" charset="-122"/>
                <a:cs typeface="Arial" pitchFamily="34" charset="-120"/>
              </a:rPr>
              <a:t>error</a:t>
            </a:r>
            <a:endParaRPr lang="en-US" sz="1700" dirty="0"/>
          </a:p>
        </p:txBody>
      </p:sp>
      <p:sp>
        <p:nvSpPr>
          <p:cNvPr id="25" name="Shape 23"/>
          <p:cNvSpPr/>
          <p:nvPr/>
        </p:nvSpPr>
        <p:spPr>
          <a:xfrm>
            <a:off x="548640" y="3428695"/>
            <a:ext cx="11094720" cy="0"/>
          </a:xfrm>
          <a:prstGeom prst="line">
            <a:avLst/>
          </a:prstGeom>
          <a:noFill/>
          <a:ln w="12700">
            <a:solidFill>
              <a:srgbClr val="2B415A"/>
            </a:solidFill>
            <a:prstDash val="solid"/>
          </a:ln>
        </p:spPr>
        <p:txBody>
          <a:bodyPr/>
          <a:p/>
        </p:txBody>
      </p:sp>
      <p:sp>
        <p:nvSpPr>
          <p:cNvPr id="26" name="Shape 24"/>
          <p:cNvSpPr/>
          <p:nvPr/>
        </p:nvSpPr>
        <p:spPr>
          <a:xfrm>
            <a:off x="548640" y="3428695"/>
            <a:ext cx="3513328" cy="630784"/>
          </a:xfrm>
          <a:prstGeom prst="rect">
            <a:avLst/>
          </a:prstGeom>
          <a:solidFill>
            <a:srgbClr val="142238"/>
          </a:solidFill>
          <a:ln w="8890">
            <a:solidFill>
              <a:srgbClr val="142238"/>
            </a:solidFill>
            <a:prstDash val="solid"/>
          </a:ln>
        </p:spPr>
        <p:txBody>
          <a:bodyPr/>
          <a:p/>
        </p:txBody>
      </p:sp>
      <p:sp>
        <p:nvSpPr>
          <p:cNvPr id="27" name="Text 25"/>
          <p:cNvSpPr txBox="1"/>
          <p:nvPr/>
        </p:nvSpPr>
        <p:spPr>
          <a:xfrm>
            <a:off x="676656" y="3478987"/>
            <a:ext cx="3257296" cy="539344"/>
          </a:xfrm>
          <a:prstGeom prst="rect">
            <a:avLst/>
          </a:prstGeom>
          <a:noFill/>
          <a:ln/>
        </p:spPr>
        <p:txBody>
          <a:bodyPr wrap="square" lIns="0" tIns="0" rIns="0" bIns="0" rtlCol="0" anchor="t"/>
          <a:lstStyle/>
          <a:p>
            <a:pPr algn="l" indent="0" marL="0">
              <a:lnSpc>
                <a:spcPct val="104000"/>
              </a:lnSpc>
              <a:buNone/>
            </a:pPr>
            <a:r>
              <a:rPr lang="en-US" sz="1700" b="1" dirty="0">
                <a:solidFill>
                  <a:srgbClr val="F4F7FB"/>
                </a:solidFill>
                <a:latin typeface="Arial" pitchFamily="34" charset="0"/>
                <a:ea typeface="Arial" pitchFamily="34" charset="-122"/>
                <a:cs typeface="Arial" pitchFamily="34" charset="-120"/>
              </a:rPr>
              <a:t>Required shared object</a:t>
            </a:r>
            <a:endParaRPr lang="en-US" sz="1700" dirty="0"/>
          </a:p>
          <a:p>
            <a:pPr algn="l" indent="0" marL="0">
              <a:lnSpc>
                <a:spcPct val="104000"/>
              </a:lnSpc>
              <a:buNone/>
            </a:pPr>
            <a:r>
              <a:rPr lang="en-US" sz="1700" b="1" dirty="0">
                <a:solidFill>
                  <a:srgbClr val="F4F7FB"/>
                </a:solidFill>
                <a:latin typeface="Arial" pitchFamily="34" charset="0"/>
                <a:ea typeface="Arial" pitchFamily="34" charset="-122"/>
                <a:cs typeface="Arial" pitchFamily="34" charset="-120"/>
              </a:rPr>
              <a:t>unavailable</a:t>
            </a:r>
            <a:endParaRPr lang="en-US" sz="1700" dirty="0"/>
          </a:p>
        </p:txBody>
      </p:sp>
      <p:sp>
        <p:nvSpPr>
          <p:cNvPr id="28" name="Shape 26"/>
          <p:cNvSpPr/>
          <p:nvPr/>
        </p:nvSpPr>
        <p:spPr>
          <a:xfrm>
            <a:off x="4061968" y="3428695"/>
            <a:ext cx="3883152" cy="630784"/>
          </a:xfrm>
          <a:prstGeom prst="rect">
            <a:avLst/>
          </a:prstGeom>
          <a:solidFill>
            <a:srgbClr val="142238"/>
          </a:solidFill>
          <a:ln w="8890">
            <a:solidFill>
              <a:srgbClr val="142238"/>
            </a:solidFill>
            <a:prstDash val="solid"/>
          </a:ln>
        </p:spPr>
        <p:txBody>
          <a:bodyPr/>
          <a:p/>
        </p:txBody>
      </p:sp>
      <p:sp>
        <p:nvSpPr>
          <p:cNvPr id="29" name="Text 27"/>
          <p:cNvSpPr txBox="1"/>
          <p:nvPr/>
        </p:nvSpPr>
        <p:spPr>
          <a:xfrm>
            <a:off x="4189984" y="3478987"/>
            <a:ext cx="3627120" cy="539344"/>
          </a:xfrm>
          <a:prstGeom prst="rect">
            <a:avLst/>
          </a:prstGeom>
          <a:noFill/>
          <a:ln/>
        </p:spPr>
        <p:txBody>
          <a:bodyPr wrap="square" lIns="0" tIns="0" rIns="0" bIns="0" rtlCol="0" anchor="t"/>
          <a:lstStyle/>
          <a:p>
            <a:pPr algn="l" indent="0" marL="0">
              <a:lnSpc>
                <a:spcPct val="104000"/>
              </a:lnSpc>
              <a:buNone/>
            </a:pPr>
            <a:r>
              <a:rPr lang="en-US" sz="1700" dirty="0">
                <a:solidFill>
                  <a:srgbClr val="B3C3D6"/>
                </a:solidFill>
                <a:latin typeface="Arial" pitchFamily="34" charset="0"/>
                <a:ea typeface="Arial" pitchFamily="34" charset="-122"/>
                <a:cs typeface="Arial" pitchFamily="34" charset="-120"/>
              </a:rPr>
              <a:t>Loader dependency and environment</a:t>
            </a:r>
            <a:endParaRPr lang="en-US" sz="1700" dirty="0"/>
          </a:p>
        </p:txBody>
      </p:sp>
      <p:sp>
        <p:nvSpPr>
          <p:cNvPr id="30" name="Shape 28"/>
          <p:cNvSpPr/>
          <p:nvPr/>
        </p:nvSpPr>
        <p:spPr>
          <a:xfrm>
            <a:off x="7945120" y="3428695"/>
            <a:ext cx="3698240" cy="630784"/>
          </a:xfrm>
          <a:prstGeom prst="rect">
            <a:avLst/>
          </a:prstGeom>
          <a:solidFill>
            <a:srgbClr val="142238"/>
          </a:solidFill>
          <a:ln w="8890">
            <a:solidFill>
              <a:srgbClr val="142238"/>
            </a:solidFill>
            <a:prstDash val="solid"/>
          </a:ln>
        </p:spPr>
        <p:txBody>
          <a:bodyPr/>
          <a:p/>
        </p:txBody>
      </p:sp>
      <p:sp>
        <p:nvSpPr>
          <p:cNvPr id="31" name="Text 29"/>
          <p:cNvSpPr txBox="1"/>
          <p:nvPr/>
        </p:nvSpPr>
        <p:spPr>
          <a:xfrm>
            <a:off x="8073136" y="3478987"/>
            <a:ext cx="3442208" cy="539344"/>
          </a:xfrm>
          <a:prstGeom prst="rect">
            <a:avLst/>
          </a:prstGeom>
          <a:noFill/>
          <a:ln/>
        </p:spPr>
        <p:txBody>
          <a:bodyPr wrap="square" lIns="0" tIns="0" rIns="0" bIns="0" rtlCol="0" anchor="t"/>
          <a:lstStyle/>
          <a:p>
            <a:pPr algn="l" indent="0" marL="0">
              <a:lnSpc>
                <a:spcPct val="104000"/>
              </a:lnSpc>
              <a:buNone/>
            </a:pPr>
            <a:r>
              <a:rPr lang="en-US" sz="1700" dirty="0">
                <a:solidFill>
                  <a:srgbClr val="B3C3D6"/>
                </a:solidFill>
                <a:latin typeface="Arial" pitchFamily="34" charset="0"/>
                <a:ea typeface="Arial" pitchFamily="34" charset="-122"/>
                <a:cs typeface="Arial" pitchFamily="34" charset="-120"/>
              </a:rPr>
              <a:t>The arithmetic implementation is</a:t>
            </a:r>
            <a:endParaRPr lang="en-US" sz="1700" dirty="0"/>
          </a:p>
          <a:p>
            <a:pPr algn="l" indent="0" marL="0">
              <a:lnSpc>
                <a:spcPct val="104000"/>
              </a:lnSpc>
              <a:buNone/>
            </a:pPr>
            <a:r>
              <a:rPr lang="en-US" sz="1700" dirty="0">
                <a:solidFill>
                  <a:srgbClr val="B3C3D6"/>
                </a:solidFill>
                <a:latin typeface="Arial" pitchFamily="34" charset="0"/>
                <a:ea typeface="Arial" pitchFamily="34" charset="-122"/>
                <a:cs typeface="Arial" pitchFamily="34" charset="-120"/>
              </a:rPr>
              <a:t>wrong</a:t>
            </a:r>
            <a:endParaRPr lang="en-US" sz="1700" dirty="0"/>
          </a:p>
        </p:txBody>
      </p:sp>
      <p:sp>
        <p:nvSpPr>
          <p:cNvPr id="32" name="Shape 30"/>
          <p:cNvSpPr/>
          <p:nvPr/>
        </p:nvSpPr>
        <p:spPr>
          <a:xfrm>
            <a:off x="548640" y="4059479"/>
            <a:ext cx="11094720" cy="0"/>
          </a:xfrm>
          <a:prstGeom prst="line">
            <a:avLst/>
          </a:prstGeom>
          <a:noFill/>
          <a:ln w="12700">
            <a:solidFill>
              <a:srgbClr val="2B415A"/>
            </a:solidFill>
            <a:prstDash val="solid"/>
          </a:ln>
        </p:spPr>
        <p:txBody>
          <a:bodyPr/>
          <a:p/>
        </p:txBody>
      </p:sp>
      <p:sp>
        <p:nvSpPr>
          <p:cNvPr id="33" name="Shape 31"/>
          <p:cNvSpPr/>
          <p:nvPr/>
        </p:nvSpPr>
        <p:spPr>
          <a:xfrm>
            <a:off x="548640" y="4059479"/>
            <a:ext cx="3513328" cy="630784"/>
          </a:xfrm>
          <a:prstGeom prst="rect">
            <a:avLst/>
          </a:prstGeom>
          <a:solidFill>
            <a:srgbClr val="0B1322"/>
          </a:solidFill>
          <a:ln w="8890">
            <a:solidFill>
              <a:srgbClr val="0B1322"/>
            </a:solidFill>
            <a:prstDash val="solid"/>
          </a:ln>
        </p:spPr>
        <p:txBody>
          <a:bodyPr/>
          <a:p/>
        </p:txBody>
      </p:sp>
      <p:sp>
        <p:nvSpPr>
          <p:cNvPr id="34" name="Text 32"/>
          <p:cNvSpPr txBox="1"/>
          <p:nvPr/>
        </p:nvSpPr>
        <p:spPr>
          <a:xfrm>
            <a:off x="676656" y="4109771"/>
            <a:ext cx="3257296" cy="539344"/>
          </a:xfrm>
          <a:prstGeom prst="rect">
            <a:avLst/>
          </a:prstGeom>
          <a:noFill/>
          <a:ln/>
        </p:spPr>
        <p:txBody>
          <a:bodyPr wrap="square" lIns="0" tIns="0" rIns="0" bIns="0" rtlCol="0" anchor="t"/>
          <a:lstStyle/>
          <a:p>
            <a:pPr algn="l" indent="0" marL="0">
              <a:lnSpc>
                <a:spcPct val="104000"/>
              </a:lnSpc>
              <a:buNone/>
            </a:pPr>
            <a:r>
              <a:rPr lang="en-US" sz="1700" b="1" dirty="0">
                <a:solidFill>
                  <a:srgbClr val="F4F7FB"/>
                </a:solidFill>
                <a:latin typeface="Arial" pitchFamily="34" charset="0"/>
                <a:ea typeface="Arial" pitchFamily="34" charset="-122"/>
                <a:cs typeface="Arial" pitchFamily="34" charset="-120"/>
              </a:rPr>
              <a:t>Out-of-bounds access</a:t>
            </a:r>
            <a:endParaRPr lang="en-US" sz="1700" dirty="0"/>
          </a:p>
        </p:txBody>
      </p:sp>
      <p:sp>
        <p:nvSpPr>
          <p:cNvPr id="35" name="Shape 33"/>
          <p:cNvSpPr/>
          <p:nvPr/>
        </p:nvSpPr>
        <p:spPr>
          <a:xfrm>
            <a:off x="4061968" y="4059479"/>
            <a:ext cx="3883152" cy="630784"/>
          </a:xfrm>
          <a:prstGeom prst="rect">
            <a:avLst/>
          </a:prstGeom>
          <a:solidFill>
            <a:srgbClr val="0B1322"/>
          </a:solidFill>
          <a:ln w="8890">
            <a:solidFill>
              <a:srgbClr val="0B1322"/>
            </a:solidFill>
            <a:prstDash val="solid"/>
          </a:ln>
        </p:spPr>
        <p:txBody>
          <a:bodyPr/>
          <a:p/>
        </p:txBody>
      </p:sp>
      <p:sp>
        <p:nvSpPr>
          <p:cNvPr id="36" name="Text 34"/>
          <p:cNvSpPr txBox="1"/>
          <p:nvPr/>
        </p:nvSpPr>
        <p:spPr>
          <a:xfrm>
            <a:off x="4189984" y="4109771"/>
            <a:ext cx="3627120" cy="539344"/>
          </a:xfrm>
          <a:prstGeom prst="rect">
            <a:avLst/>
          </a:prstGeom>
          <a:noFill/>
          <a:ln/>
        </p:spPr>
        <p:txBody>
          <a:bodyPr wrap="square" lIns="0" tIns="0" rIns="0" bIns="0" rtlCol="0" anchor="t"/>
          <a:lstStyle/>
          <a:p>
            <a:pPr algn="l" indent="0" marL="0">
              <a:lnSpc>
                <a:spcPct val="104000"/>
              </a:lnSpc>
              <a:buNone/>
            </a:pPr>
            <a:r>
              <a:rPr lang="en-US" sz="1700" dirty="0">
                <a:solidFill>
                  <a:srgbClr val="B3C3D6"/>
                </a:solidFill>
                <a:latin typeface="Arial" pitchFamily="34" charset="0"/>
                <a:ea typeface="Arial" pitchFamily="34" charset="-122"/>
                <a:cs typeface="Arial" pitchFamily="34" charset="-120"/>
              </a:rPr>
              <a:t>Ranges, lifetimes, and access path</a:t>
            </a:r>
            <a:endParaRPr lang="en-US" sz="1700" dirty="0"/>
          </a:p>
        </p:txBody>
      </p:sp>
      <p:sp>
        <p:nvSpPr>
          <p:cNvPr id="37" name="Shape 35"/>
          <p:cNvSpPr/>
          <p:nvPr/>
        </p:nvSpPr>
        <p:spPr>
          <a:xfrm>
            <a:off x="7945120" y="4059479"/>
            <a:ext cx="3698240" cy="630784"/>
          </a:xfrm>
          <a:prstGeom prst="rect">
            <a:avLst/>
          </a:prstGeom>
          <a:solidFill>
            <a:srgbClr val="0B1322"/>
          </a:solidFill>
          <a:ln w="8890">
            <a:solidFill>
              <a:srgbClr val="0B1322"/>
            </a:solidFill>
            <a:prstDash val="solid"/>
          </a:ln>
        </p:spPr>
        <p:txBody>
          <a:bodyPr/>
          <a:p/>
        </p:txBody>
      </p:sp>
      <p:sp>
        <p:nvSpPr>
          <p:cNvPr id="38" name="Text 36"/>
          <p:cNvSpPr txBox="1"/>
          <p:nvPr/>
        </p:nvSpPr>
        <p:spPr>
          <a:xfrm>
            <a:off x="8073136" y="4109771"/>
            <a:ext cx="3442208" cy="539344"/>
          </a:xfrm>
          <a:prstGeom prst="rect">
            <a:avLst/>
          </a:prstGeom>
          <a:noFill/>
          <a:ln/>
        </p:spPr>
        <p:txBody>
          <a:bodyPr wrap="square" lIns="0" tIns="0" rIns="0" bIns="0" rtlCol="0" anchor="t"/>
          <a:lstStyle/>
          <a:p>
            <a:pPr algn="l" indent="0" marL="0">
              <a:lnSpc>
                <a:spcPct val="104000"/>
              </a:lnSpc>
              <a:buNone/>
            </a:pPr>
            <a:r>
              <a:rPr lang="en-US" sz="1700" dirty="0">
                <a:solidFill>
                  <a:srgbClr val="B3C3D6"/>
                </a:solidFill>
                <a:latin typeface="Arial" pitchFamily="34" charset="0"/>
                <a:ea typeface="Arial" pitchFamily="34" charset="-122"/>
                <a:cs typeface="Arial" pitchFamily="34" charset="-120"/>
              </a:rPr>
              <a:t>Matching output makes the access</a:t>
            </a:r>
            <a:endParaRPr lang="en-US" sz="1700" dirty="0"/>
          </a:p>
          <a:p>
            <a:pPr algn="l" indent="0" marL="0">
              <a:lnSpc>
                <a:spcPct val="104000"/>
              </a:lnSpc>
              <a:buNone/>
            </a:pPr>
            <a:r>
              <a:rPr lang="en-US" sz="1700" dirty="0">
                <a:solidFill>
                  <a:srgbClr val="B3C3D6"/>
                </a:solidFill>
                <a:latin typeface="Arial" pitchFamily="34" charset="0"/>
                <a:ea typeface="Arial" pitchFamily="34" charset="-122"/>
                <a:cs typeface="Arial" pitchFamily="34" charset="-120"/>
              </a:rPr>
              <a:t>valid</a:t>
            </a:r>
            <a:endParaRPr lang="en-US" sz="1700" dirty="0"/>
          </a:p>
        </p:txBody>
      </p:sp>
      <p:sp>
        <p:nvSpPr>
          <p:cNvPr id="39" name="Shape 37"/>
          <p:cNvSpPr/>
          <p:nvPr/>
        </p:nvSpPr>
        <p:spPr>
          <a:xfrm>
            <a:off x="548640" y="4690262"/>
            <a:ext cx="11094720" cy="0"/>
          </a:xfrm>
          <a:prstGeom prst="line">
            <a:avLst/>
          </a:prstGeom>
          <a:noFill/>
          <a:ln w="12700">
            <a:solidFill>
              <a:srgbClr val="2B415A"/>
            </a:solidFill>
            <a:prstDash val="solid"/>
          </a:ln>
        </p:spPr>
        <p:txBody>
          <a:bodyPr/>
          <a:p/>
        </p:txBody>
      </p:sp>
      <p:sp>
        <p:nvSpPr>
          <p:cNvPr id="40" name="Shape 38"/>
          <p:cNvSpPr/>
          <p:nvPr/>
        </p:nvSpPr>
        <p:spPr>
          <a:xfrm>
            <a:off x="548640" y="4690262"/>
            <a:ext cx="3513328" cy="384658"/>
          </a:xfrm>
          <a:prstGeom prst="rect">
            <a:avLst/>
          </a:prstGeom>
          <a:solidFill>
            <a:srgbClr val="142238"/>
          </a:solidFill>
          <a:ln w="8890">
            <a:solidFill>
              <a:srgbClr val="142238"/>
            </a:solidFill>
            <a:prstDash val="solid"/>
          </a:ln>
        </p:spPr>
        <p:txBody>
          <a:bodyPr/>
          <a:p/>
        </p:txBody>
      </p:sp>
      <p:sp>
        <p:nvSpPr>
          <p:cNvPr id="41" name="Text 39"/>
          <p:cNvSpPr txBox="1"/>
          <p:nvPr/>
        </p:nvSpPr>
        <p:spPr>
          <a:xfrm>
            <a:off x="676656" y="4740554"/>
            <a:ext cx="3257296" cy="293218"/>
          </a:xfrm>
          <a:prstGeom prst="rect">
            <a:avLst/>
          </a:prstGeom>
          <a:noFill/>
          <a:ln/>
        </p:spPr>
        <p:txBody>
          <a:bodyPr wrap="square" lIns="0" tIns="0" rIns="0" bIns="0" rtlCol="0" anchor="t"/>
          <a:lstStyle/>
          <a:p>
            <a:pPr algn="l" indent="0" marL="0">
              <a:lnSpc>
                <a:spcPct val="104000"/>
              </a:lnSpc>
              <a:buNone/>
            </a:pPr>
            <a:r>
              <a:rPr lang="en-US" sz="1700" b="1" dirty="0">
                <a:solidFill>
                  <a:srgbClr val="F4F7FB"/>
                </a:solidFill>
                <a:latin typeface="Arial" pitchFamily="34" charset="0"/>
                <a:ea typeface="Arial" pitchFamily="34" charset="-122"/>
                <a:cs typeface="Arial" pitchFamily="34" charset="-120"/>
              </a:rPr>
              <a:t>Unexpected elapsed time</a:t>
            </a:r>
            <a:endParaRPr lang="en-US" sz="1700" dirty="0"/>
          </a:p>
        </p:txBody>
      </p:sp>
      <p:sp>
        <p:nvSpPr>
          <p:cNvPr id="42" name="Shape 40"/>
          <p:cNvSpPr/>
          <p:nvPr/>
        </p:nvSpPr>
        <p:spPr>
          <a:xfrm>
            <a:off x="4061968" y="4690262"/>
            <a:ext cx="3883152" cy="384658"/>
          </a:xfrm>
          <a:prstGeom prst="rect">
            <a:avLst/>
          </a:prstGeom>
          <a:solidFill>
            <a:srgbClr val="142238"/>
          </a:solidFill>
          <a:ln w="8890">
            <a:solidFill>
              <a:srgbClr val="142238"/>
            </a:solidFill>
            <a:prstDash val="solid"/>
          </a:ln>
        </p:spPr>
        <p:txBody>
          <a:bodyPr/>
          <a:p/>
        </p:txBody>
      </p:sp>
      <p:sp>
        <p:nvSpPr>
          <p:cNvPr id="43" name="Text 41"/>
          <p:cNvSpPr txBox="1"/>
          <p:nvPr/>
        </p:nvSpPr>
        <p:spPr>
          <a:xfrm>
            <a:off x="4189984" y="4740554"/>
            <a:ext cx="3627120" cy="293218"/>
          </a:xfrm>
          <a:prstGeom prst="rect">
            <a:avLst/>
          </a:prstGeom>
          <a:noFill/>
          <a:ln/>
        </p:spPr>
        <p:txBody>
          <a:bodyPr wrap="square" lIns="0" tIns="0" rIns="0" bIns="0" rtlCol="0" anchor="t"/>
          <a:lstStyle/>
          <a:p>
            <a:pPr algn="l" indent="0" marL="0">
              <a:lnSpc>
                <a:spcPct val="104000"/>
              </a:lnSpc>
              <a:buNone/>
            </a:pPr>
            <a:r>
              <a:rPr lang="en-US" sz="1700" dirty="0">
                <a:solidFill>
                  <a:srgbClr val="B3C3D6"/>
                </a:solidFill>
                <a:latin typeface="Arial" pitchFamily="34" charset="0"/>
                <a:ea typeface="Arial" pitchFamily="34" charset="-122"/>
                <a:cs typeface="Arial" pitchFamily="34" charset="-120"/>
              </a:rPr>
              <a:t>Workload and timing boundary</a:t>
            </a:r>
            <a:endParaRPr lang="en-US" sz="1700" dirty="0"/>
          </a:p>
        </p:txBody>
      </p:sp>
      <p:sp>
        <p:nvSpPr>
          <p:cNvPr id="44" name="Shape 42"/>
          <p:cNvSpPr/>
          <p:nvPr/>
        </p:nvSpPr>
        <p:spPr>
          <a:xfrm>
            <a:off x="7945120" y="4690262"/>
            <a:ext cx="3698240" cy="384658"/>
          </a:xfrm>
          <a:prstGeom prst="rect">
            <a:avLst/>
          </a:prstGeom>
          <a:solidFill>
            <a:srgbClr val="142238"/>
          </a:solidFill>
          <a:ln w="8890">
            <a:solidFill>
              <a:srgbClr val="142238"/>
            </a:solidFill>
            <a:prstDash val="solid"/>
          </a:ln>
        </p:spPr>
        <p:txBody>
          <a:bodyPr/>
          <a:p/>
        </p:txBody>
      </p:sp>
      <p:sp>
        <p:nvSpPr>
          <p:cNvPr id="45" name="Text 43"/>
          <p:cNvSpPr txBox="1"/>
          <p:nvPr/>
        </p:nvSpPr>
        <p:spPr>
          <a:xfrm>
            <a:off x="8073136" y="4740554"/>
            <a:ext cx="3442208" cy="293218"/>
          </a:xfrm>
          <a:prstGeom prst="rect">
            <a:avLst/>
          </a:prstGeom>
          <a:noFill/>
          <a:ln/>
        </p:spPr>
        <p:txBody>
          <a:bodyPr wrap="square" lIns="0" tIns="0" rIns="0" bIns="0" rtlCol="0" anchor="t"/>
          <a:lstStyle/>
          <a:p>
            <a:pPr algn="l" indent="0" marL="0">
              <a:lnSpc>
                <a:spcPct val="104000"/>
              </a:lnSpc>
              <a:buNone/>
            </a:pPr>
            <a:r>
              <a:rPr lang="en-US" sz="1700" dirty="0">
                <a:solidFill>
                  <a:srgbClr val="B3C3D6"/>
                </a:solidFill>
                <a:latin typeface="Arial" pitchFamily="34" charset="0"/>
                <a:ea typeface="Arial" pitchFamily="34" charset="-122"/>
                <a:cs typeface="Arial" pitchFamily="34" charset="-120"/>
              </a:rPr>
              <a:t>The instruction set alone explains it</a:t>
            </a:r>
            <a:endParaRPr lang="en-US" sz="1700" dirty="0"/>
          </a:p>
        </p:txBody>
      </p:sp>
      <p:sp>
        <p:nvSpPr>
          <p:cNvPr id="46" name="Shape 44"/>
          <p:cNvSpPr/>
          <p:nvPr/>
        </p:nvSpPr>
        <p:spPr>
          <a:xfrm>
            <a:off x="548640" y="5074920"/>
            <a:ext cx="11094720" cy="0"/>
          </a:xfrm>
          <a:prstGeom prst="line">
            <a:avLst/>
          </a:prstGeom>
          <a:noFill/>
          <a:ln w="12700">
            <a:solidFill>
              <a:srgbClr val="2B415A"/>
            </a:solidFill>
            <a:prstDash val="solid"/>
          </a:ln>
        </p:spPr>
        <p:txBody>
          <a:bodyPr/>
          <a:p/>
        </p:txBody>
      </p:sp>
      <p:sp>
        <p:nvSpPr>
          <p:cNvPr id="51" name="Text 49"/>
          <p:cNvSpPr txBox="1"/>
          <p:nvPr/>
        </p:nvSpPr>
        <p:spPr>
          <a:xfrm>
            <a:off x="548640" y="6601968"/>
            <a:ext cx="10241280" cy="128016"/>
          </a:xfrm>
          <a:prstGeom prst="rect">
            <a:avLst/>
          </a:prstGeom>
          <a:noFill/>
          <a:ln/>
        </p:spPr>
        <p:txBody>
          <a:bodyPr wrap="square" lIns="0" tIns="0" rIns="0" bIns="0" rtlCol="0" anchor="t"/>
          <a:lstStyle/>
          <a:p>
            <a:pPr algn="l" indent="0" marL="0">
              <a:lnSpc>
                <a:spcPct val="104000"/>
              </a:lnSpc>
              <a:buNone/>
            </a:pPr>
            <a:r>
              <a:rPr lang="en-US" sz="830" dirty="0">
                <a:solidFill>
                  <a:srgbClr val="B3C3D6"/>
                </a:solidFill>
                <a:latin typeface="Arial" pitchFamily="34" charset="0"/>
                <a:ea typeface="Arial" pitchFamily="34" charset="-122"/>
                <a:cs typeface="Arial" pitchFamily="34" charset="-120"/>
              </a:rPr>
              <a:t>Source: original 7, 11, 12, 19, 21 • Graduate extension</a:t>
            </a:r>
            <a:endParaRPr lang="en-US" sz="830" dirty="0"/>
          </a:p>
        </p:txBody>
      </p:sp>
      <p:sp>
        <p:nvSpPr>
          <p:cNvPr id="52" name="Text 50"/>
          <p:cNvSpPr txBox="1"/>
          <p:nvPr/>
        </p:nvSpPr>
        <p:spPr>
          <a:xfrm>
            <a:off x="10917936" y="6565392"/>
            <a:ext cx="722376" cy="219456"/>
          </a:xfrm>
          <a:prstGeom prst="rect">
            <a:avLst/>
          </a:prstGeom>
          <a:noFill/>
          <a:ln/>
        </p:spPr>
        <p:txBody>
          <a:bodyPr wrap="square" lIns="0" tIns="0" rIns="0" bIns="0" rtlCol="0" anchor="t"/>
          <a:lstStyle/>
          <a:p>
            <a:pPr algn="r" indent="0" marL="0">
              <a:lnSpc>
                <a:spcPct val="104000"/>
              </a:lnSpc>
              <a:buNone/>
            </a:pPr>
            <a:r>
              <a:rPr lang="en-US" sz="1050" dirty="0">
                <a:solidFill>
                  <a:srgbClr val="B3C3D6"/>
                </a:solidFill>
                <a:latin typeface="Arial" pitchFamily="34" charset="0"/>
                <a:ea typeface="Arial" pitchFamily="34" charset="-122"/>
                <a:cs typeface="Arial" pitchFamily="34" charset="-120"/>
              </a:rPr>
              <a:t>52 / 64</a:t>
            </a:r>
            <a:endParaRPr lang="en-US" sz="1050" dirty="0"/>
          </a:p>
        </p:txBody>
      </p:sp>
      <p:sp>
        <p:nvSpPr>
          <p:cNvPr id="53" name="Shape 51"/>
          <p:cNvSpPr/>
          <p:nvPr/>
        </p:nvSpPr>
        <p:spPr>
          <a:xfrm>
            <a:off x="0" y="6834226"/>
            <a:ext cx="12192000" cy="23774"/>
          </a:xfrm>
          <a:prstGeom prst="rect">
            <a:avLst/>
          </a:prstGeom>
          <a:solidFill>
            <a:srgbClr val="2B415A"/>
          </a:solidFill>
          <a:ln w="8890">
            <a:solidFill>
              <a:srgbClr val="2B415A"/>
            </a:solidFill>
            <a:prstDash val="solid"/>
          </a:ln>
        </p:spPr>
        <p:txBody>
          <a:bodyPr/>
          <a:p/>
        </p:txBody>
      </p:sp>
      <p:sp>
        <p:nvSpPr>
          <p:cNvPr id="54" name="Shape 52"/>
          <p:cNvSpPr/>
          <p:nvPr/>
        </p:nvSpPr>
        <p:spPr>
          <a:xfrm>
            <a:off x="0" y="6834226"/>
            <a:ext cx="9906000" cy="23774"/>
          </a:xfrm>
          <a:prstGeom prst="rect">
            <a:avLst/>
          </a:prstGeom>
          <a:solidFill>
            <a:srgbClr val="71D5DD"/>
          </a:solidFill>
          <a:ln w="8890">
            <a:solidFill>
              <a:srgbClr val="71D5DD"/>
            </a:solidFill>
            <a:prstDash val="solid"/>
          </a:ln>
        </p:spPr>
        <p:txBody>
          <a:body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txBox="1"/>
          <p:nvPr/>
        </p:nvSpPr>
        <p:spPr>
          <a:xfrm>
            <a:off x="548640" y="219456"/>
            <a:ext cx="9875520" cy="192024"/>
          </a:xfrm>
          <a:prstGeom prst="rect">
            <a:avLst/>
          </a:prstGeom>
          <a:noFill/>
          <a:ln/>
        </p:spPr>
        <p:txBody>
          <a:bodyPr wrap="square" lIns="0" tIns="0" rIns="0" bIns="0" rtlCol="0" anchor="t"/>
          <a:lstStyle/>
          <a:p>
            <a:pPr algn="l" indent="0" marL="0">
              <a:lnSpc>
                <a:spcPct val="104000"/>
              </a:lnSpc>
              <a:buNone/>
            </a:pPr>
            <a:r>
              <a:rPr lang="en-US" sz="970" b="1" spc="135" kern="0" dirty="0">
                <a:solidFill>
                  <a:srgbClr val="B3C3D6"/>
                </a:solidFill>
                <a:latin typeface="Arial" pitchFamily="34" charset="0"/>
                <a:ea typeface="Arial" pitchFamily="34" charset="-122"/>
                <a:cs typeface="Arial" pitchFamily="34" charset="-120"/>
              </a:rPr>
              <a:t>SYSTEMS PROGRAMMING AND MACHINE ORGANIZATION</a:t>
            </a:r>
            <a:endParaRPr lang="en-US" sz="970" dirty="0"/>
          </a:p>
        </p:txBody>
      </p:sp>
      <p:sp>
        <p:nvSpPr>
          <p:cNvPr id="3" name="Text 1"/>
          <p:cNvSpPr txBox="1"/>
          <p:nvPr/>
        </p:nvSpPr>
        <p:spPr>
          <a:xfrm>
            <a:off x="9601200" y="219456"/>
            <a:ext cx="2039112" cy="192024"/>
          </a:xfrm>
          <a:prstGeom prst="rect">
            <a:avLst/>
          </a:prstGeom>
          <a:noFill/>
          <a:ln/>
        </p:spPr>
        <p:txBody>
          <a:bodyPr wrap="square" lIns="0" tIns="0" rIns="0" bIns="0" rtlCol="0" anchor="t"/>
          <a:lstStyle/>
          <a:p>
            <a:pPr algn="r" indent="0" marL="0">
              <a:lnSpc>
                <a:spcPct val="104000"/>
              </a:lnSpc>
              <a:buNone/>
            </a:pPr>
            <a:r>
              <a:rPr lang="en-US" sz="970" b="1" dirty="0">
                <a:solidFill>
                  <a:srgbClr val="B3C3D6"/>
                </a:solidFill>
                <a:latin typeface="Arial" pitchFamily="34" charset="0"/>
                <a:ea typeface="Arial" pitchFamily="34" charset="-122"/>
                <a:cs typeface="Arial" pitchFamily="34" charset="-120"/>
              </a:rPr>
              <a:t>CHARLES DORNER</a:t>
            </a:r>
            <a:endParaRPr lang="en-US" sz="970" dirty="0"/>
          </a:p>
        </p:txBody>
      </p:sp>
      <p:sp>
        <p:nvSpPr>
          <p:cNvPr id="4" name="Text 2"/>
          <p:cNvSpPr txBox="1"/>
          <p:nvPr/>
        </p:nvSpPr>
        <p:spPr>
          <a:xfrm>
            <a:off x="548640" y="566928"/>
            <a:ext cx="11109960" cy="237744"/>
          </a:xfrm>
          <a:prstGeom prst="rect">
            <a:avLst/>
          </a:prstGeom>
          <a:noFill/>
          <a:ln/>
        </p:spPr>
        <p:txBody>
          <a:bodyPr wrap="square" lIns="0" tIns="0" rIns="0" bIns="0" rtlCol="0" anchor="t"/>
          <a:lstStyle/>
          <a:p>
            <a:pPr algn="l" indent="0" marL="0">
              <a:lnSpc>
                <a:spcPct val="104000"/>
              </a:lnSpc>
              <a:buNone/>
            </a:pPr>
            <a:r>
              <a:rPr lang="en-US" sz="1150" b="1" dirty="0">
                <a:solidFill>
                  <a:srgbClr val="71D5DD"/>
                </a:solidFill>
                <a:latin typeface="Arial" pitchFamily="34" charset="0"/>
                <a:ea typeface="Arial" pitchFamily="34" charset="-122"/>
                <a:cs typeface="Arial" pitchFamily="34" charset="-120"/>
              </a:rPr>
              <a:t>LAB 1 · BUILD, BREAK, OBSERVE, EXPLAIN</a:t>
            </a:r>
            <a:endParaRPr lang="en-US" sz="1150" dirty="0"/>
          </a:p>
        </p:txBody>
      </p:sp>
      <p:sp>
        <p:nvSpPr>
          <p:cNvPr id="5" name="Text 3"/>
          <p:cNvSpPr txBox="1"/>
          <p:nvPr/>
        </p:nvSpPr>
        <p:spPr>
          <a:xfrm>
            <a:off x="548640" y="941832"/>
            <a:ext cx="11091672" cy="676656"/>
          </a:xfrm>
          <a:prstGeom prst="rect">
            <a:avLst/>
          </a:prstGeom>
          <a:noFill/>
          <a:ln/>
        </p:spPr>
        <p:txBody>
          <a:bodyPr wrap="square" lIns="0" tIns="0" rIns="0" bIns="0" rtlCol="0" anchor="t"/>
          <a:lstStyle/>
          <a:p>
            <a:pPr algn="l" indent="0" marL="0">
              <a:lnSpc>
                <a:spcPct val="104000"/>
              </a:lnSpc>
              <a:buNone/>
            </a:pPr>
            <a:r>
              <a:rPr lang="en-US" sz="3150" b="1" dirty="0">
                <a:solidFill>
                  <a:srgbClr val="F4F7FB"/>
                </a:solidFill>
                <a:latin typeface="Arial" pitchFamily="34" charset="0"/>
                <a:ea typeface="Arial" pitchFamily="34" charset="-122"/>
                <a:cs typeface="Arial" pitchFamily="34" charset="-120"/>
              </a:rPr>
              <a:t>Guided lab: add a second independent function</a:t>
            </a:r>
            <a:endParaRPr lang="en-US" sz="3150" dirty="0"/>
          </a:p>
        </p:txBody>
      </p:sp>
      <p:sp>
        <p:nvSpPr>
          <p:cNvPr id="6" name="Shape 4"/>
          <p:cNvSpPr/>
          <p:nvPr/>
        </p:nvSpPr>
        <p:spPr>
          <a:xfrm>
            <a:off x="548640" y="1764792"/>
            <a:ext cx="7178040" cy="3310128"/>
          </a:xfrm>
          <a:prstGeom prst="rect">
            <a:avLst/>
          </a:prstGeom>
          <a:solidFill>
            <a:srgbClr val="142238"/>
          </a:solidFill>
          <a:ln w="8890">
            <a:solidFill>
              <a:srgbClr val="2B415A"/>
            </a:solidFill>
            <a:prstDash val="solid"/>
          </a:ln>
        </p:spPr>
        <p:txBody>
          <a:bodyPr/>
          <a:p/>
        </p:txBody>
      </p:sp>
      <p:sp>
        <p:nvSpPr>
          <p:cNvPr id="7" name="Text 5"/>
          <p:cNvSpPr txBox="1"/>
          <p:nvPr/>
        </p:nvSpPr>
        <p:spPr>
          <a:xfrm>
            <a:off x="749808" y="1938528"/>
            <a:ext cx="6775704" cy="237744"/>
          </a:xfrm>
          <a:prstGeom prst="rect">
            <a:avLst/>
          </a:prstGeom>
          <a:noFill/>
          <a:ln/>
        </p:spPr>
        <p:txBody>
          <a:bodyPr wrap="square" lIns="0" tIns="0" rIns="0" bIns="0" rtlCol="0" anchor="t"/>
          <a:lstStyle/>
          <a:p>
            <a:pPr algn="l" indent="0" marL="0">
              <a:lnSpc>
                <a:spcPct val="104000"/>
              </a:lnSpc>
              <a:buNone/>
            </a:pPr>
            <a:r>
              <a:rPr lang="en-US" sz="1160" b="1" dirty="0">
                <a:solidFill>
                  <a:srgbClr val="F1C984"/>
                </a:solidFill>
                <a:latin typeface="Arial" pitchFamily="34" charset="0"/>
                <a:ea typeface="Arial" pitchFamily="34" charset="-122"/>
                <a:cs typeface="Arial" pitchFamily="34" charset="-120"/>
              </a:rPr>
              <a:t>New declaration and implementation</a:t>
            </a:r>
            <a:endParaRPr lang="en-US" sz="1160" dirty="0"/>
          </a:p>
        </p:txBody>
      </p:sp>
      <p:sp>
        <p:nvSpPr>
          <p:cNvPr id="8" name="Shape 6"/>
          <p:cNvSpPr/>
          <p:nvPr/>
        </p:nvSpPr>
        <p:spPr>
          <a:xfrm>
            <a:off x="749808" y="2276856"/>
            <a:ext cx="6775704" cy="0"/>
          </a:xfrm>
          <a:prstGeom prst="line">
            <a:avLst/>
          </a:prstGeom>
          <a:noFill/>
          <a:ln w="12700">
            <a:solidFill>
              <a:srgbClr val="2B415A"/>
            </a:solidFill>
            <a:prstDash val="solid"/>
          </a:ln>
        </p:spPr>
        <p:txBody>
          <a:bodyPr/>
          <a:p/>
        </p:txBody>
      </p:sp>
      <p:sp>
        <p:nvSpPr>
          <p:cNvPr id="9" name="Text 7"/>
          <p:cNvSpPr txBox="1"/>
          <p:nvPr/>
        </p:nvSpPr>
        <p:spPr>
          <a:xfrm>
            <a:off x="749808" y="2478024"/>
            <a:ext cx="6775704" cy="2450592"/>
          </a:xfrm>
          <a:prstGeom prst="rect">
            <a:avLst/>
          </a:prstGeom>
          <a:noFill/>
          <a:ln/>
        </p:spPr>
        <p:txBody>
          <a:bodyPr wrap="square" lIns="0" tIns="0" rIns="0" bIns="0" rtlCol="0" anchor="t"/>
          <a:lstStyle/>
          <a:p>
            <a:pPr algn="l" indent="0" marL="0">
              <a:lnSpc>
                <a:spcPct val="104000"/>
              </a:lnSpc>
              <a:buNone/>
            </a:pPr>
            <a:r>
              <a:rPr lang="en-US" sz="1830" dirty="0">
                <a:solidFill>
                  <a:srgbClr val="DCE8F4"/>
                </a:solidFill>
                <a:latin typeface="DejaVu Sans Mono" pitchFamily="34" charset="0"/>
                <a:ea typeface="DejaVu Sans Mono" pitchFamily="34" charset="-122"/>
                <a:cs typeface="DejaVu Sans Mono" pitchFamily="34" charset="-120"/>
              </a:rPr>
              <a:t>/* calc.h */</a:t>
            </a:r>
            <a:endParaRPr lang="en-US" sz="1830" dirty="0"/>
          </a:p>
          <a:p>
            <a:pPr algn="l" indent="0" marL="0">
              <a:lnSpc>
                <a:spcPct val="104000"/>
              </a:lnSpc>
              <a:buNone/>
            </a:pPr>
            <a:r>
              <a:rPr lang="en-US" sz="1830" dirty="0">
                <a:solidFill>
                  <a:srgbClr val="DCE8F4"/>
                </a:solidFill>
                <a:latin typeface="DejaVu Sans Mono" pitchFamily="34" charset="0"/>
                <a:ea typeface="DejaVu Sans Mono" pitchFamily="34" charset="-122"/>
                <a:cs typeface="DejaVu Sans Mono" pitchFamily="34" charset="-120"/>
              </a:rPr>
              <a:t>int multiply(int a, int b);</a:t>
            </a:r>
            <a:endParaRPr lang="en-US" sz="1830" dirty="0"/>
          </a:p>
          <a:p>
            <a:pPr algn="l" indent="0" marL="0">
              <a:lnSpc>
                <a:spcPct val="104000"/>
              </a:lnSpc>
              <a:buNone/>
            </a:pPr>
            <a:endParaRPr lang="en-US" sz="1830" dirty="0"/>
          </a:p>
          <a:p>
            <a:pPr algn="l" indent="0" marL="0">
              <a:lnSpc>
                <a:spcPct val="104000"/>
              </a:lnSpc>
              <a:buNone/>
            </a:pPr>
            <a:r>
              <a:rPr lang="en-US" sz="1830" dirty="0">
                <a:solidFill>
                  <a:srgbClr val="DCE8F4"/>
                </a:solidFill>
                <a:latin typeface="DejaVu Sans Mono" pitchFamily="34" charset="0"/>
                <a:ea typeface="DejaVu Sans Mono" pitchFamily="34" charset="-122"/>
                <a:cs typeface="DejaVu Sans Mono" pitchFamily="34" charset="-120"/>
              </a:rPr>
              <a:t>/* calc.c */</a:t>
            </a:r>
            <a:endParaRPr lang="en-US" sz="1830" dirty="0"/>
          </a:p>
          <a:p>
            <a:pPr algn="l" indent="0" marL="0">
              <a:lnSpc>
                <a:spcPct val="104000"/>
              </a:lnSpc>
              <a:buNone/>
            </a:pPr>
            <a:r>
              <a:rPr lang="en-US" sz="1830" dirty="0">
                <a:solidFill>
                  <a:srgbClr val="DCE8F4"/>
                </a:solidFill>
                <a:latin typeface="DejaVu Sans Mono" pitchFamily="34" charset="0"/>
                <a:ea typeface="DejaVu Sans Mono" pitchFamily="34" charset="-122"/>
                <a:cs typeface="DejaVu Sans Mono" pitchFamily="34" charset="-120"/>
              </a:rPr>
              <a:t>#include "calc.h"</a:t>
            </a:r>
            <a:endParaRPr lang="en-US" sz="1830" dirty="0"/>
          </a:p>
          <a:p>
            <a:pPr algn="l" indent="0" marL="0">
              <a:lnSpc>
                <a:spcPct val="104000"/>
              </a:lnSpc>
              <a:buNone/>
            </a:pPr>
            <a:r>
              <a:rPr lang="en-US" sz="1830" dirty="0">
                <a:solidFill>
                  <a:srgbClr val="DCE8F4"/>
                </a:solidFill>
                <a:latin typeface="DejaVu Sans Mono" pitchFamily="34" charset="0"/>
                <a:ea typeface="DejaVu Sans Mono" pitchFamily="34" charset="-122"/>
                <a:cs typeface="DejaVu Sans Mono" pitchFamily="34" charset="-120"/>
              </a:rPr>
              <a:t>int multiply(int a, int b) {</a:t>
            </a:r>
            <a:endParaRPr lang="en-US" sz="1830" dirty="0"/>
          </a:p>
          <a:p>
            <a:pPr algn="l" indent="0" marL="0">
              <a:lnSpc>
                <a:spcPct val="104000"/>
              </a:lnSpc>
              <a:buNone/>
            </a:pPr>
            <a:r>
              <a:rPr lang="en-US" sz="1830" dirty="0">
                <a:solidFill>
                  <a:srgbClr val="DCE8F4"/>
                </a:solidFill>
                <a:latin typeface="DejaVu Sans Mono" pitchFamily="34" charset="0"/>
                <a:ea typeface="DejaVu Sans Mono" pitchFamily="34" charset="-122"/>
                <a:cs typeface="DejaVu Sans Mono" pitchFamily="34" charset="-120"/>
              </a:rPr>
              <a:t>    return a * b;</a:t>
            </a:r>
            <a:endParaRPr lang="en-US" sz="1830" dirty="0"/>
          </a:p>
          <a:p>
            <a:pPr algn="l" indent="0" marL="0">
              <a:lnSpc>
                <a:spcPct val="104000"/>
              </a:lnSpc>
              <a:buNone/>
            </a:pPr>
            <a:r>
              <a:rPr lang="en-US" sz="1830" dirty="0">
                <a:solidFill>
                  <a:srgbClr val="DCE8F4"/>
                </a:solidFill>
                <a:latin typeface="DejaVu Sans Mono" pitchFamily="34" charset="0"/>
                <a:ea typeface="DejaVu Sans Mono" pitchFamily="34" charset="-122"/>
                <a:cs typeface="DejaVu Sans Mono" pitchFamily="34" charset="-120"/>
              </a:rPr>
              <a:t>}</a:t>
            </a:r>
            <a:endParaRPr lang="en-US" sz="1830" dirty="0"/>
          </a:p>
        </p:txBody>
      </p:sp>
      <p:sp>
        <p:nvSpPr>
          <p:cNvPr id="10" name="Text 8"/>
          <p:cNvSpPr txBox="1"/>
          <p:nvPr/>
        </p:nvSpPr>
        <p:spPr>
          <a:xfrm>
            <a:off x="7946136" y="1883664"/>
            <a:ext cx="3696919" cy="237744"/>
          </a:xfrm>
          <a:prstGeom prst="rect">
            <a:avLst/>
          </a:prstGeom>
          <a:noFill/>
          <a:ln/>
        </p:spPr>
        <p:txBody>
          <a:bodyPr wrap="square" lIns="0" tIns="0" rIns="0" bIns="0" rtlCol="0" anchor="t"/>
          <a:lstStyle/>
          <a:p>
            <a:pPr algn="l" indent="0" marL="0">
              <a:lnSpc>
                <a:spcPct val="104000"/>
              </a:lnSpc>
              <a:buNone/>
            </a:pPr>
            <a:r>
              <a:rPr lang="en-US" sz="1330" b="1" dirty="0">
                <a:solidFill>
                  <a:srgbClr val="71D5DD"/>
                </a:solidFill>
                <a:latin typeface="Arial" pitchFamily="34" charset="0"/>
                <a:ea typeface="Arial" pitchFamily="34" charset="-122"/>
                <a:cs typeface="Arial" pitchFamily="34" charset="-120"/>
              </a:rPr>
              <a:t>STUDENT PREDICTIONS</a:t>
            </a:r>
            <a:endParaRPr lang="en-US" sz="1330" dirty="0"/>
          </a:p>
        </p:txBody>
      </p:sp>
      <p:sp>
        <p:nvSpPr>
          <p:cNvPr id="11" name="Shape 9"/>
          <p:cNvSpPr/>
          <p:nvPr/>
        </p:nvSpPr>
        <p:spPr>
          <a:xfrm>
            <a:off x="7946136" y="2386584"/>
            <a:ext cx="41148" cy="374904"/>
          </a:xfrm>
          <a:prstGeom prst="rect">
            <a:avLst/>
          </a:prstGeom>
          <a:solidFill>
            <a:srgbClr val="71D5DD"/>
          </a:solidFill>
          <a:ln w="8890">
            <a:solidFill>
              <a:srgbClr val="71D5DD"/>
            </a:solidFill>
            <a:prstDash val="solid"/>
          </a:ln>
        </p:spPr>
        <p:txBody>
          <a:bodyPr/>
          <a:p/>
        </p:txBody>
      </p:sp>
      <p:sp>
        <p:nvSpPr>
          <p:cNvPr id="12" name="Text 10"/>
          <p:cNvSpPr txBox="1"/>
          <p:nvPr/>
        </p:nvSpPr>
        <p:spPr>
          <a:xfrm>
            <a:off x="8110728" y="2350008"/>
            <a:ext cx="3532327" cy="617220"/>
          </a:xfrm>
          <a:prstGeom prst="rect">
            <a:avLst/>
          </a:prstGeom>
          <a:noFill/>
          <a:ln/>
        </p:spPr>
        <p:txBody>
          <a:bodyPr wrap="square" lIns="0" tIns="0" rIns="0" bIns="0" rtlCol="0" anchor="t"/>
          <a:lstStyle/>
          <a:p>
            <a:pPr algn="l" indent="0" marL="0">
              <a:lnSpc>
                <a:spcPct val="104000"/>
              </a:lnSpc>
              <a:buNone/>
            </a:pPr>
            <a:r>
              <a:rPr lang="en-US" sz="2010" dirty="0">
                <a:solidFill>
                  <a:srgbClr val="F4F7FB"/>
                </a:solidFill>
                <a:latin typeface="Arial" pitchFamily="34" charset="0"/>
                <a:ea typeface="Arial" pitchFamily="34" charset="-122"/>
                <a:cs typeface="Arial" pitchFamily="34" charset="-120"/>
              </a:rPr>
              <a:t>Which object defines multiply?</a:t>
            </a:r>
            <a:endParaRPr lang="en-US" sz="2010" dirty="0"/>
          </a:p>
        </p:txBody>
      </p:sp>
      <p:sp>
        <p:nvSpPr>
          <p:cNvPr id="13" name="Shape 11"/>
          <p:cNvSpPr/>
          <p:nvPr/>
        </p:nvSpPr>
        <p:spPr>
          <a:xfrm>
            <a:off x="7946136" y="3054096"/>
            <a:ext cx="41148" cy="374904"/>
          </a:xfrm>
          <a:prstGeom prst="rect">
            <a:avLst/>
          </a:prstGeom>
          <a:solidFill>
            <a:srgbClr val="71D5DD"/>
          </a:solidFill>
          <a:ln w="8890">
            <a:solidFill>
              <a:srgbClr val="71D5DD"/>
            </a:solidFill>
            <a:prstDash val="solid"/>
          </a:ln>
        </p:spPr>
        <p:txBody>
          <a:bodyPr/>
          <a:p/>
        </p:txBody>
      </p:sp>
      <p:sp>
        <p:nvSpPr>
          <p:cNvPr id="14" name="Text 12"/>
          <p:cNvSpPr txBox="1"/>
          <p:nvPr/>
        </p:nvSpPr>
        <p:spPr>
          <a:xfrm>
            <a:off x="8110728" y="3017520"/>
            <a:ext cx="3532327" cy="617220"/>
          </a:xfrm>
          <a:prstGeom prst="rect">
            <a:avLst/>
          </a:prstGeom>
          <a:noFill/>
          <a:ln/>
        </p:spPr>
        <p:txBody>
          <a:bodyPr wrap="square" lIns="0" tIns="0" rIns="0" bIns="0" rtlCol="0" anchor="t"/>
          <a:lstStyle/>
          <a:p>
            <a:pPr algn="l" indent="0" marL="0">
              <a:lnSpc>
                <a:spcPct val="104000"/>
              </a:lnSpc>
              <a:buNone/>
            </a:pPr>
            <a:r>
              <a:rPr lang="en-US" sz="2010" dirty="0">
                <a:solidFill>
                  <a:srgbClr val="F4F7FB"/>
                </a:solidFill>
                <a:latin typeface="Arial" pitchFamily="34" charset="0"/>
                <a:ea typeface="Arial" pitchFamily="34" charset="-122"/>
                <a:cs typeface="Arial" pitchFamily="34" charset="-120"/>
              </a:rPr>
              <a:t>Which object refers to it?</a:t>
            </a:r>
            <a:endParaRPr lang="en-US" sz="2010" dirty="0"/>
          </a:p>
        </p:txBody>
      </p:sp>
      <p:sp>
        <p:nvSpPr>
          <p:cNvPr id="15" name="Shape 13"/>
          <p:cNvSpPr/>
          <p:nvPr/>
        </p:nvSpPr>
        <p:spPr>
          <a:xfrm>
            <a:off x="7946136" y="3721608"/>
            <a:ext cx="41148" cy="374904"/>
          </a:xfrm>
          <a:prstGeom prst="rect">
            <a:avLst/>
          </a:prstGeom>
          <a:solidFill>
            <a:srgbClr val="71D5DD"/>
          </a:solidFill>
          <a:ln w="8890">
            <a:solidFill>
              <a:srgbClr val="71D5DD"/>
            </a:solidFill>
            <a:prstDash val="solid"/>
          </a:ln>
        </p:spPr>
        <p:txBody>
          <a:bodyPr/>
          <a:p/>
        </p:txBody>
      </p:sp>
      <p:sp>
        <p:nvSpPr>
          <p:cNvPr id="16" name="Text 14"/>
          <p:cNvSpPr txBox="1"/>
          <p:nvPr/>
        </p:nvSpPr>
        <p:spPr>
          <a:xfrm>
            <a:off x="8110728" y="3685032"/>
            <a:ext cx="3532327" cy="617220"/>
          </a:xfrm>
          <a:prstGeom prst="rect">
            <a:avLst/>
          </a:prstGeom>
          <a:noFill/>
          <a:ln/>
        </p:spPr>
        <p:txBody>
          <a:bodyPr wrap="square" lIns="0" tIns="0" rIns="0" bIns="0" rtlCol="0" anchor="t"/>
          <a:lstStyle/>
          <a:p>
            <a:pPr algn="l" indent="0" marL="0">
              <a:lnSpc>
                <a:spcPct val="104000"/>
              </a:lnSpc>
              <a:buNone/>
            </a:pPr>
            <a:r>
              <a:rPr lang="en-US" sz="2010" dirty="0">
                <a:solidFill>
                  <a:srgbClr val="F4F7FB"/>
                </a:solidFill>
                <a:latin typeface="Arial" pitchFamily="34" charset="0"/>
                <a:ea typeface="Arial" pitchFamily="34" charset="-122"/>
                <a:cs typeface="Arial" pitchFamily="34" charset="-120"/>
              </a:rPr>
              <a:t>Which link input is newly</a:t>
            </a:r>
            <a:endParaRPr lang="en-US" sz="2010" dirty="0"/>
          </a:p>
          <a:p>
            <a:pPr algn="l" indent="0" marL="0">
              <a:lnSpc>
                <a:spcPct val="104000"/>
              </a:lnSpc>
              <a:buNone/>
            </a:pPr>
            <a:r>
              <a:rPr lang="en-US" sz="2010" dirty="0">
                <a:solidFill>
                  <a:srgbClr val="F4F7FB"/>
                </a:solidFill>
                <a:latin typeface="Arial" pitchFamily="34" charset="0"/>
                <a:ea typeface="Arial" pitchFamily="34" charset="-122"/>
                <a:cs typeface="Arial" pitchFamily="34" charset="-120"/>
              </a:rPr>
              <a:t>required?</a:t>
            </a:r>
            <a:endParaRPr lang="en-US" sz="2010" dirty="0"/>
          </a:p>
        </p:txBody>
      </p:sp>
      <p:sp>
        <p:nvSpPr>
          <p:cNvPr id="17" name="Shape 15"/>
          <p:cNvSpPr/>
          <p:nvPr/>
        </p:nvSpPr>
        <p:spPr>
          <a:xfrm>
            <a:off x="7946136" y="4389120"/>
            <a:ext cx="41148" cy="374904"/>
          </a:xfrm>
          <a:prstGeom prst="rect">
            <a:avLst/>
          </a:prstGeom>
          <a:solidFill>
            <a:srgbClr val="71D5DD"/>
          </a:solidFill>
          <a:ln w="8890">
            <a:solidFill>
              <a:srgbClr val="71D5DD"/>
            </a:solidFill>
            <a:prstDash val="solid"/>
          </a:ln>
        </p:spPr>
        <p:txBody>
          <a:bodyPr/>
          <a:p/>
        </p:txBody>
      </p:sp>
      <p:sp>
        <p:nvSpPr>
          <p:cNvPr id="18" name="Text 16"/>
          <p:cNvSpPr txBox="1"/>
          <p:nvPr/>
        </p:nvSpPr>
        <p:spPr>
          <a:xfrm>
            <a:off x="8110728" y="4352544"/>
            <a:ext cx="3532327" cy="617220"/>
          </a:xfrm>
          <a:prstGeom prst="rect">
            <a:avLst/>
          </a:prstGeom>
          <a:noFill/>
          <a:ln/>
        </p:spPr>
        <p:txBody>
          <a:bodyPr wrap="square" lIns="0" tIns="0" rIns="0" bIns="0" rtlCol="0" anchor="t"/>
          <a:lstStyle/>
          <a:p>
            <a:pPr algn="l" indent="0" marL="0">
              <a:lnSpc>
                <a:spcPct val="104000"/>
              </a:lnSpc>
              <a:buNone/>
            </a:pPr>
            <a:r>
              <a:rPr lang="en-US" sz="2010" dirty="0">
                <a:solidFill>
                  <a:srgbClr val="F4F7FB"/>
                </a:solidFill>
                <a:latin typeface="Arial" pitchFamily="34" charset="0"/>
                <a:ea typeface="Arial" pitchFamily="34" charset="-122"/>
                <a:cs typeface="Arial" pitchFamily="34" charset="-120"/>
              </a:rPr>
              <a:t>What output should the</a:t>
            </a:r>
            <a:endParaRPr lang="en-US" sz="2010" dirty="0"/>
          </a:p>
          <a:p>
            <a:pPr algn="l" indent="0" marL="0">
              <a:lnSpc>
                <a:spcPct val="104000"/>
              </a:lnSpc>
              <a:buNone/>
            </a:pPr>
            <a:r>
              <a:rPr lang="en-US" sz="2010" dirty="0">
                <a:solidFill>
                  <a:srgbClr val="F4F7FB"/>
                </a:solidFill>
                <a:latin typeface="Arial" pitchFamily="34" charset="0"/>
                <a:ea typeface="Arial" pitchFamily="34" charset="-122"/>
                <a:cs typeface="Arial" pitchFamily="34" charset="-120"/>
              </a:rPr>
              <a:t>extended program produce?</a:t>
            </a:r>
            <a:endParaRPr lang="en-US" sz="2010" dirty="0"/>
          </a:p>
        </p:txBody>
      </p:sp>
      <p:sp>
        <p:nvSpPr>
          <p:cNvPr id="19" name="Text 17"/>
          <p:cNvSpPr txBox="1"/>
          <p:nvPr/>
        </p:nvSpPr>
        <p:spPr>
          <a:xfrm>
            <a:off x="548640" y="5193792"/>
            <a:ext cx="11094720" cy="274320"/>
          </a:xfrm>
          <a:prstGeom prst="rect">
            <a:avLst/>
          </a:prstGeom>
          <a:noFill/>
          <a:ln/>
        </p:spPr>
        <p:txBody>
          <a:bodyPr wrap="square" lIns="0" tIns="0" rIns="0" bIns="0" rtlCol="0" anchor="t"/>
          <a:lstStyle/>
          <a:p>
            <a:pPr algn="l" indent="0" marL="0">
              <a:lnSpc>
                <a:spcPct val="104000"/>
              </a:lnSpc>
              <a:buNone/>
            </a:pPr>
            <a:r>
              <a:rPr lang="en-US" sz="1140" dirty="0">
                <a:solidFill>
                  <a:srgbClr val="B3C3D6"/>
                </a:solidFill>
                <a:latin typeface="Arial" pitchFamily="34" charset="0"/>
                <a:ea typeface="Arial" pitchFamily="34" charset="-122"/>
                <a:cs typeface="Arial" pitchFamily="34" charset="-120"/>
              </a:rPr>
              <a:t>Expected and tested output: sum=42 product=425. Full files and include guards are in the companion lab.</a:t>
            </a:r>
            <a:endParaRPr lang="en-US" sz="1140" dirty="0"/>
          </a:p>
        </p:txBody>
      </p:sp>
      <p:sp>
        <p:nvSpPr>
          <p:cNvPr id="24" name="Text 22"/>
          <p:cNvSpPr txBox="1"/>
          <p:nvPr/>
        </p:nvSpPr>
        <p:spPr>
          <a:xfrm>
            <a:off x="548640" y="6601968"/>
            <a:ext cx="10241280" cy="128016"/>
          </a:xfrm>
          <a:prstGeom prst="rect">
            <a:avLst/>
          </a:prstGeom>
          <a:noFill/>
          <a:ln/>
        </p:spPr>
        <p:txBody>
          <a:bodyPr wrap="square" lIns="0" tIns="0" rIns="0" bIns="0" rtlCol="0" anchor="t"/>
          <a:lstStyle/>
          <a:p>
            <a:pPr algn="l" indent="0" marL="0">
              <a:lnSpc>
                <a:spcPct val="104000"/>
              </a:lnSpc>
              <a:buNone/>
            </a:pPr>
            <a:r>
              <a:rPr lang="en-US" sz="830" dirty="0">
                <a:solidFill>
                  <a:srgbClr val="B3C3D6"/>
                </a:solidFill>
                <a:latin typeface="Arial" pitchFamily="34" charset="0"/>
                <a:ea typeface="Arial" pitchFamily="34" charset="-122"/>
                <a:cs typeface="Arial" pitchFamily="34" charset="-120"/>
              </a:rPr>
              <a:t>Source: original 20 • Graduate extension</a:t>
            </a:r>
            <a:endParaRPr lang="en-US" sz="830" dirty="0"/>
          </a:p>
        </p:txBody>
      </p:sp>
      <p:sp>
        <p:nvSpPr>
          <p:cNvPr id="25" name="Text 23"/>
          <p:cNvSpPr txBox="1"/>
          <p:nvPr/>
        </p:nvSpPr>
        <p:spPr>
          <a:xfrm>
            <a:off x="10917936" y="6565392"/>
            <a:ext cx="722376" cy="219456"/>
          </a:xfrm>
          <a:prstGeom prst="rect">
            <a:avLst/>
          </a:prstGeom>
          <a:noFill/>
          <a:ln/>
        </p:spPr>
        <p:txBody>
          <a:bodyPr wrap="square" lIns="0" tIns="0" rIns="0" bIns="0" rtlCol="0" anchor="t"/>
          <a:lstStyle/>
          <a:p>
            <a:pPr algn="r" indent="0" marL="0">
              <a:lnSpc>
                <a:spcPct val="104000"/>
              </a:lnSpc>
              <a:buNone/>
            </a:pPr>
            <a:r>
              <a:rPr lang="en-US" sz="1050" dirty="0">
                <a:solidFill>
                  <a:srgbClr val="B3C3D6"/>
                </a:solidFill>
                <a:latin typeface="Arial" pitchFamily="34" charset="0"/>
                <a:ea typeface="Arial" pitchFamily="34" charset="-122"/>
                <a:cs typeface="Arial" pitchFamily="34" charset="-120"/>
              </a:rPr>
              <a:t>53 / 64</a:t>
            </a:r>
            <a:endParaRPr lang="en-US" sz="1050" dirty="0"/>
          </a:p>
        </p:txBody>
      </p:sp>
      <p:sp>
        <p:nvSpPr>
          <p:cNvPr id="26" name="Shape 24"/>
          <p:cNvSpPr/>
          <p:nvPr/>
        </p:nvSpPr>
        <p:spPr>
          <a:xfrm>
            <a:off x="0" y="6834226"/>
            <a:ext cx="12192000" cy="23774"/>
          </a:xfrm>
          <a:prstGeom prst="rect">
            <a:avLst/>
          </a:prstGeom>
          <a:solidFill>
            <a:srgbClr val="2B415A"/>
          </a:solidFill>
          <a:ln w="8890">
            <a:solidFill>
              <a:srgbClr val="2B415A"/>
            </a:solidFill>
            <a:prstDash val="solid"/>
          </a:ln>
        </p:spPr>
        <p:txBody>
          <a:bodyPr/>
          <a:p/>
        </p:txBody>
      </p:sp>
      <p:sp>
        <p:nvSpPr>
          <p:cNvPr id="27" name="Shape 25"/>
          <p:cNvSpPr/>
          <p:nvPr/>
        </p:nvSpPr>
        <p:spPr>
          <a:xfrm>
            <a:off x="0" y="6834226"/>
            <a:ext cx="10096500" cy="23774"/>
          </a:xfrm>
          <a:prstGeom prst="rect">
            <a:avLst/>
          </a:prstGeom>
          <a:solidFill>
            <a:srgbClr val="71D5DD"/>
          </a:solidFill>
          <a:ln w="8890">
            <a:solidFill>
              <a:srgbClr val="71D5DD"/>
            </a:solidFill>
            <a:prstDash val="solid"/>
          </a:ln>
        </p:spPr>
        <p:txBody>
          <a:body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txBox="1"/>
          <p:nvPr/>
        </p:nvSpPr>
        <p:spPr>
          <a:xfrm>
            <a:off x="548640" y="219456"/>
            <a:ext cx="9875520" cy="192024"/>
          </a:xfrm>
          <a:prstGeom prst="rect">
            <a:avLst/>
          </a:prstGeom>
          <a:noFill/>
          <a:ln/>
        </p:spPr>
        <p:txBody>
          <a:bodyPr wrap="square" lIns="0" tIns="0" rIns="0" bIns="0" rtlCol="0" anchor="t"/>
          <a:lstStyle/>
          <a:p>
            <a:pPr algn="l" indent="0" marL="0">
              <a:lnSpc>
                <a:spcPct val="104000"/>
              </a:lnSpc>
              <a:buNone/>
            </a:pPr>
            <a:r>
              <a:rPr lang="en-US" sz="970" b="1" spc="135" kern="0" dirty="0">
                <a:solidFill>
                  <a:srgbClr val="B3C3D6"/>
                </a:solidFill>
                <a:latin typeface="Arial" pitchFamily="34" charset="0"/>
                <a:ea typeface="Arial" pitchFamily="34" charset="-122"/>
                <a:cs typeface="Arial" pitchFamily="34" charset="-120"/>
              </a:rPr>
              <a:t>SYSTEMS PROGRAMMING AND MACHINE ORGANIZATION</a:t>
            </a:r>
            <a:endParaRPr lang="en-US" sz="970" dirty="0"/>
          </a:p>
        </p:txBody>
      </p:sp>
      <p:sp>
        <p:nvSpPr>
          <p:cNvPr id="3" name="Text 1"/>
          <p:cNvSpPr txBox="1"/>
          <p:nvPr/>
        </p:nvSpPr>
        <p:spPr>
          <a:xfrm>
            <a:off x="9601200" y="219456"/>
            <a:ext cx="2039112" cy="192024"/>
          </a:xfrm>
          <a:prstGeom prst="rect">
            <a:avLst/>
          </a:prstGeom>
          <a:noFill/>
          <a:ln/>
        </p:spPr>
        <p:txBody>
          <a:bodyPr wrap="square" lIns="0" tIns="0" rIns="0" bIns="0" rtlCol="0" anchor="t"/>
          <a:lstStyle/>
          <a:p>
            <a:pPr algn="r" indent="0" marL="0">
              <a:lnSpc>
                <a:spcPct val="104000"/>
              </a:lnSpc>
              <a:buNone/>
            </a:pPr>
            <a:r>
              <a:rPr lang="en-US" sz="970" b="1" dirty="0">
                <a:solidFill>
                  <a:srgbClr val="B3C3D6"/>
                </a:solidFill>
                <a:latin typeface="Arial" pitchFamily="34" charset="0"/>
                <a:ea typeface="Arial" pitchFamily="34" charset="-122"/>
                <a:cs typeface="Arial" pitchFamily="34" charset="-120"/>
              </a:rPr>
              <a:t>CHARLES DORNER</a:t>
            </a:r>
            <a:endParaRPr lang="en-US" sz="970" dirty="0"/>
          </a:p>
        </p:txBody>
      </p:sp>
      <p:sp>
        <p:nvSpPr>
          <p:cNvPr id="4" name="Text 2"/>
          <p:cNvSpPr txBox="1"/>
          <p:nvPr/>
        </p:nvSpPr>
        <p:spPr>
          <a:xfrm>
            <a:off x="548640" y="566928"/>
            <a:ext cx="11109960" cy="237744"/>
          </a:xfrm>
          <a:prstGeom prst="rect">
            <a:avLst/>
          </a:prstGeom>
          <a:noFill/>
          <a:ln/>
        </p:spPr>
        <p:txBody>
          <a:bodyPr wrap="square" lIns="0" tIns="0" rIns="0" bIns="0" rtlCol="0" anchor="t"/>
          <a:lstStyle/>
          <a:p>
            <a:pPr algn="l" indent="0" marL="0">
              <a:lnSpc>
                <a:spcPct val="104000"/>
              </a:lnSpc>
              <a:buNone/>
            </a:pPr>
            <a:r>
              <a:rPr lang="en-US" sz="1150" b="1" dirty="0">
                <a:solidFill>
                  <a:srgbClr val="71D5DD"/>
                </a:solidFill>
                <a:latin typeface="Arial" pitchFamily="34" charset="0"/>
                <a:ea typeface="Arial" pitchFamily="34" charset="-122"/>
                <a:cs typeface="Arial" pitchFamily="34" charset="-120"/>
              </a:rPr>
              <a:t>LAB 2 · DEPENDENCY EXPERIMENT</a:t>
            </a:r>
            <a:endParaRPr lang="en-US" sz="1150" dirty="0"/>
          </a:p>
        </p:txBody>
      </p:sp>
      <p:sp>
        <p:nvSpPr>
          <p:cNvPr id="5" name="Text 3"/>
          <p:cNvSpPr txBox="1"/>
          <p:nvPr/>
        </p:nvSpPr>
        <p:spPr>
          <a:xfrm>
            <a:off x="548640" y="941832"/>
            <a:ext cx="11091672" cy="676656"/>
          </a:xfrm>
          <a:prstGeom prst="rect">
            <a:avLst/>
          </a:prstGeom>
          <a:noFill/>
          <a:ln/>
        </p:spPr>
        <p:txBody>
          <a:bodyPr wrap="square" lIns="0" tIns="0" rIns="0" bIns="0" rtlCol="0" anchor="t"/>
          <a:lstStyle/>
          <a:p>
            <a:pPr algn="l" indent="0" marL="0">
              <a:lnSpc>
                <a:spcPct val="104000"/>
              </a:lnSpc>
              <a:buNone/>
            </a:pPr>
            <a:r>
              <a:rPr lang="en-US" sz="3100" b="1" dirty="0">
                <a:solidFill>
                  <a:srgbClr val="F4F7FB"/>
                </a:solidFill>
                <a:latin typeface="Arial" pitchFamily="34" charset="0"/>
                <a:ea typeface="Arial" pitchFamily="34" charset="-122"/>
                <a:cs typeface="Arial" pitchFamily="34" charset="-120"/>
              </a:rPr>
              <a:t>Guided lab: rebuild one implementation, then break its link</a:t>
            </a:r>
            <a:endParaRPr lang="en-US" sz="3100" dirty="0"/>
          </a:p>
        </p:txBody>
      </p:sp>
      <p:sp>
        <p:nvSpPr>
          <p:cNvPr id="6" name="Shape 4"/>
          <p:cNvSpPr/>
          <p:nvPr/>
        </p:nvSpPr>
        <p:spPr>
          <a:xfrm>
            <a:off x="548640" y="1764792"/>
            <a:ext cx="7178040" cy="3310128"/>
          </a:xfrm>
          <a:prstGeom prst="rect">
            <a:avLst/>
          </a:prstGeom>
          <a:solidFill>
            <a:srgbClr val="142238"/>
          </a:solidFill>
          <a:ln w="8890">
            <a:solidFill>
              <a:srgbClr val="2B415A"/>
            </a:solidFill>
            <a:prstDash val="solid"/>
          </a:ln>
        </p:spPr>
        <p:txBody>
          <a:bodyPr/>
          <a:p/>
        </p:txBody>
      </p:sp>
      <p:sp>
        <p:nvSpPr>
          <p:cNvPr id="7" name="Text 5"/>
          <p:cNvSpPr txBox="1"/>
          <p:nvPr/>
        </p:nvSpPr>
        <p:spPr>
          <a:xfrm>
            <a:off x="749808" y="1938528"/>
            <a:ext cx="6775704" cy="237744"/>
          </a:xfrm>
          <a:prstGeom prst="rect">
            <a:avLst/>
          </a:prstGeom>
          <a:noFill/>
          <a:ln/>
        </p:spPr>
        <p:txBody>
          <a:bodyPr wrap="square" lIns="0" tIns="0" rIns="0" bIns="0" rtlCol="0" anchor="t"/>
          <a:lstStyle/>
          <a:p>
            <a:pPr algn="l" indent="0" marL="0">
              <a:lnSpc>
                <a:spcPct val="104000"/>
              </a:lnSpc>
              <a:buNone/>
            </a:pPr>
            <a:r>
              <a:rPr lang="en-US" sz="1160" b="1" dirty="0">
                <a:solidFill>
                  <a:srgbClr val="F1C984"/>
                </a:solidFill>
                <a:latin typeface="Arial" pitchFamily="34" charset="0"/>
                <a:ea typeface="Arial" pitchFamily="34" charset="-122"/>
                <a:cs typeface="Arial" pitchFamily="34" charset="-120"/>
              </a:rPr>
              <a:t>Ordinary separate compilation; sum.o already exists</a:t>
            </a:r>
            <a:endParaRPr lang="en-US" sz="1160" dirty="0"/>
          </a:p>
        </p:txBody>
      </p:sp>
      <p:sp>
        <p:nvSpPr>
          <p:cNvPr id="8" name="Shape 6"/>
          <p:cNvSpPr/>
          <p:nvPr/>
        </p:nvSpPr>
        <p:spPr>
          <a:xfrm>
            <a:off x="749808" y="2276856"/>
            <a:ext cx="6775704" cy="0"/>
          </a:xfrm>
          <a:prstGeom prst="line">
            <a:avLst/>
          </a:prstGeom>
          <a:noFill/>
          <a:ln w="12700">
            <a:solidFill>
              <a:srgbClr val="2B415A"/>
            </a:solidFill>
            <a:prstDash val="solid"/>
          </a:ln>
        </p:spPr>
        <p:txBody>
          <a:bodyPr/>
          <a:p/>
        </p:txBody>
      </p:sp>
      <p:sp>
        <p:nvSpPr>
          <p:cNvPr id="9" name="Text 7"/>
          <p:cNvSpPr txBox="1"/>
          <p:nvPr/>
        </p:nvSpPr>
        <p:spPr>
          <a:xfrm>
            <a:off x="749808" y="2478024"/>
            <a:ext cx="6775704" cy="2450592"/>
          </a:xfrm>
          <a:prstGeom prst="rect">
            <a:avLst/>
          </a:prstGeom>
          <a:noFill/>
          <a:ln/>
        </p:spPr>
        <p:txBody>
          <a:bodyPr wrap="square" lIns="0" tIns="0" rIns="0" bIns="0" rtlCol="0" anchor="t"/>
          <a:lstStyle/>
          <a:p>
            <a:pPr algn="l" indent="0" marL="0">
              <a:lnSpc>
                <a:spcPct val="104000"/>
              </a:lnSpc>
              <a:buNone/>
            </a:pPr>
            <a:r>
              <a:rPr lang="en-US" sz="1830" dirty="0">
                <a:solidFill>
                  <a:srgbClr val="DCE8F4"/>
                </a:solidFill>
                <a:latin typeface="DejaVu Sans Mono" pitchFamily="34" charset="0"/>
                <a:ea typeface="DejaVu Sans Mono" pitchFamily="34" charset="-122"/>
                <a:cs typeface="DejaVu Sans Mono" pitchFamily="34" charset="-120"/>
              </a:rPr>
              <a:t>cc -std=c17 -c main_extended.c</a:t>
            </a:r>
            <a:endParaRPr lang="en-US" sz="1830" dirty="0"/>
          </a:p>
          <a:p>
            <a:pPr algn="l" indent="0" marL="0">
              <a:lnSpc>
                <a:spcPct val="104000"/>
              </a:lnSpc>
              <a:buNone/>
            </a:pPr>
            <a:r>
              <a:rPr lang="en-US" sz="1830" dirty="0">
                <a:solidFill>
                  <a:srgbClr val="DCE8F4"/>
                </a:solidFill>
                <a:latin typeface="DejaVu Sans Mono" pitchFamily="34" charset="0"/>
                <a:ea typeface="DejaVu Sans Mono" pitchFamily="34" charset="-122"/>
                <a:cs typeface="DejaVu Sans Mono" pitchFamily="34" charset="-120"/>
              </a:rPr>
              <a:t>cc -std=c17 -c calc.c</a:t>
            </a:r>
            <a:endParaRPr lang="en-US" sz="1830" dirty="0"/>
          </a:p>
          <a:p>
            <a:pPr algn="l" indent="0" marL="0">
              <a:lnSpc>
                <a:spcPct val="104000"/>
              </a:lnSpc>
              <a:buNone/>
            </a:pPr>
            <a:r>
              <a:rPr lang="en-US" sz="1830" dirty="0">
                <a:solidFill>
                  <a:srgbClr val="DCE8F4"/>
                </a:solidFill>
                <a:latin typeface="DejaVu Sans Mono" pitchFamily="34" charset="0"/>
                <a:ea typeface="DejaVu Sans Mono" pitchFamily="34" charset="-122"/>
                <a:cs typeface="DejaVu Sans Mono" pitchFamily="34" charset="-120"/>
              </a:rPr>
              <a:t>cc main_extended.o sum.o calc.o -o demo</a:t>
            </a:r>
            <a:endParaRPr lang="en-US" sz="1830" dirty="0"/>
          </a:p>
          <a:p>
            <a:pPr algn="l" indent="0" marL="0">
              <a:lnSpc>
                <a:spcPct val="104000"/>
              </a:lnSpc>
              <a:buNone/>
            </a:pPr>
            <a:r>
              <a:rPr lang="en-US" sz="1830" dirty="0">
                <a:solidFill>
                  <a:srgbClr val="DCE8F4"/>
                </a:solidFill>
                <a:latin typeface="DejaVu Sans Mono" pitchFamily="34" charset="0"/>
                <a:ea typeface="DejaVu Sans Mono" pitchFamily="34" charset="-122"/>
                <a:cs typeface="DejaVu Sans Mono" pitchFamily="34" charset="-120"/>
              </a:rPr>
              <a:t>./demo</a:t>
            </a:r>
            <a:endParaRPr lang="en-US" sz="1830" dirty="0"/>
          </a:p>
          <a:p>
            <a:pPr algn="l" indent="0" marL="0">
              <a:lnSpc>
                <a:spcPct val="104000"/>
              </a:lnSpc>
              <a:buNone/>
            </a:pPr>
            <a:endParaRPr lang="en-US" sz="1830" dirty="0"/>
          </a:p>
          <a:p>
            <a:pPr algn="l" indent="0" marL="0">
              <a:lnSpc>
                <a:spcPct val="104000"/>
              </a:lnSpc>
              <a:buNone/>
            </a:pPr>
            <a:r>
              <a:rPr lang="en-US" sz="1830" dirty="0">
                <a:solidFill>
                  <a:srgbClr val="DCE8F4"/>
                </a:solidFill>
                <a:latin typeface="DejaVu Sans Mono" pitchFamily="34" charset="0"/>
                <a:ea typeface="DejaVu Sans Mono" pitchFamily="34" charset="-122"/>
                <a:cs typeface="DejaVu Sans Mono" pitchFamily="34" charset="-120"/>
              </a:rPr>
              <a:t># Intentionally omit calc.o:</a:t>
            </a:r>
            <a:endParaRPr lang="en-US" sz="1830" dirty="0"/>
          </a:p>
          <a:p>
            <a:pPr algn="l" indent="0" marL="0">
              <a:lnSpc>
                <a:spcPct val="104000"/>
              </a:lnSpc>
              <a:buNone/>
            </a:pPr>
            <a:r>
              <a:rPr lang="en-US" sz="1830" dirty="0">
                <a:solidFill>
                  <a:srgbClr val="DCE8F4"/>
                </a:solidFill>
                <a:latin typeface="DejaVu Sans Mono" pitchFamily="34" charset="0"/>
                <a:ea typeface="DejaVu Sans Mono" pitchFamily="34" charset="-122"/>
                <a:cs typeface="DejaVu Sans Mono" pitchFamily="34" charset="-120"/>
              </a:rPr>
              <a:t>cc main_extended.o sum.o -o broken_demo</a:t>
            </a:r>
            <a:endParaRPr lang="en-US" sz="1830" dirty="0"/>
          </a:p>
        </p:txBody>
      </p:sp>
      <p:sp>
        <p:nvSpPr>
          <p:cNvPr id="10" name="Text 8"/>
          <p:cNvSpPr txBox="1"/>
          <p:nvPr/>
        </p:nvSpPr>
        <p:spPr>
          <a:xfrm>
            <a:off x="7946136" y="1883664"/>
            <a:ext cx="3696919" cy="237744"/>
          </a:xfrm>
          <a:prstGeom prst="rect">
            <a:avLst/>
          </a:prstGeom>
          <a:noFill/>
          <a:ln/>
        </p:spPr>
        <p:txBody>
          <a:bodyPr wrap="square" lIns="0" tIns="0" rIns="0" bIns="0" rtlCol="0" anchor="t"/>
          <a:lstStyle/>
          <a:p>
            <a:pPr algn="l" indent="0" marL="0">
              <a:lnSpc>
                <a:spcPct val="104000"/>
              </a:lnSpc>
              <a:buNone/>
            </a:pPr>
            <a:r>
              <a:rPr lang="en-US" sz="1330" b="1" dirty="0">
                <a:solidFill>
                  <a:srgbClr val="71D5DD"/>
                </a:solidFill>
                <a:latin typeface="Arial" pitchFamily="34" charset="0"/>
                <a:ea typeface="Arial" pitchFamily="34" charset="-122"/>
                <a:cs typeface="Arial" pitchFamily="34" charset="-120"/>
              </a:rPr>
              <a:t>PREDICT → OBSERVE → EXPLAIN</a:t>
            </a:r>
            <a:endParaRPr lang="en-US" sz="1330" dirty="0"/>
          </a:p>
        </p:txBody>
      </p:sp>
      <p:sp>
        <p:nvSpPr>
          <p:cNvPr id="11" name="Shape 9"/>
          <p:cNvSpPr/>
          <p:nvPr/>
        </p:nvSpPr>
        <p:spPr>
          <a:xfrm>
            <a:off x="7946136" y="2386584"/>
            <a:ext cx="41148" cy="374904"/>
          </a:xfrm>
          <a:prstGeom prst="rect">
            <a:avLst/>
          </a:prstGeom>
          <a:solidFill>
            <a:srgbClr val="71D5DD"/>
          </a:solidFill>
          <a:ln w="8890">
            <a:solidFill>
              <a:srgbClr val="71D5DD"/>
            </a:solidFill>
            <a:prstDash val="solid"/>
          </a:ln>
        </p:spPr>
        <p:txBody>
          <a:bodyPr/>
          <a:p/>
        </p:txBody>
      </p:sp>
      <p:sp>
        <p:nvSpPr>
          <p:cNvPr id="12" name="Text 10"/>
          <p:cNvSpPr txBox="1"/>
          <p:nvPr/>
        </p:nvSpPr>
        <p:spPr>
          <a:xfrm>
            <a:off x="8110728" y="2350008"/>
            <a:ext cx="3532327" cy="662940"/>
          </a:xfrm>
          <a:prstGeom prst="rect">
            <a:avLst/>
          </a:prstGeom>
          <a:noFill/>
          <a:ln/>
        </p:spPr>
        <p:txBody>
          <a:bodyPr wrap="square" lIns="0" tIns="0" rIns="0" bIns="0" rtlCol="0" anchor="t"/>
          <a:lstStyle/>
          <a:p>
            <a:pPr algn="l" indent="0" marL="0">
              <a:lnSpc>
                <a:spcPct val="104000"/>
              </a:lnSpc>
              <a:buNone/>
            </a:pPr>
            <a:r>
              <a:rPr lang="en-US" sz="2010" dirty="0">
                <a:solidFill>
                  <a:srgbClr val="F4F7FB"/>
                </a:solidFill>
                <a:latin typeface="Arial" pitchFamily="34" charset="0"/>
                <a:ea typeface="Arial" pitchFamily="34" charset="-122"/>
                <a:cs typeface="Arial" pitchFamily="34" charset="-120"/>
              </a:rPr>
              <a:t>Change only calc.c, then</a:t>
            </a:r>
            <a:endParaRPr lang="en-US" sz="2010" dirty="0"/>
          </a:p>
          <a:p>
            <a:pPr algn="l" indent="0" marL="0">
              <a:lnSpc>
                <a:spcPct val="104000"/>
              </a:lnSpc>
              <a:buNone/>
            </a:pPr>
            <a:r>
              <a:rPr lang="en-US" sz="2010" dirty="0">
                <a:solidFill>
                  <a:srgbClr val="F4F7FB"/>
                </a:solidFill>
                <a:latin typeface="Arial" pitchFamily="34" charset="0"/>
                <a:ea typeface="Arial" pitchFamily="34" charset="-122"/>
                <a:cs typeface="Arial" pitchFamily="34" charset="-120"/>
              </a:rPr>
              <a:t>rebuild calc.o.</a:t>
            </a:r>
            <a:endParaRPr lang="en-US" sz="2010" dirty="0"/>
          </a:p>
        </p:txBody>
      </p:sp>
      <p:sp>
        <p:nvSpPr>
          <p:cNvPr id="13" name="Shape 11"/>
          <p:cNvSpPr/>
          <p:nvPr/>
        </p:nvSpPr>
        <p:spPr>
          <a:xfrm>
            <a:off x="7946136" y="3099816"/>
            <a:ext cx="41148" cy="374904"/>
          </a:xfrm>
          <a:prstGeom prst="rect">
            <a:avLst/>
          </a:prstGeom>
          <a:solidFill>
            <a:srgbClr val="71D5DD"/>
          </a:solidFill>
          <a:ln w="8890">
            <a:solidFill>
              <a:srgbClr val="71D5DD"/>
            </a:solidFill>
            <a:prstDash val="solid"/>
          </a:ln>
        </p:spPr>
        <p:txBody>
          <a:bodyPr/>
          <a:p/>
        </p:txBody>
      </p:sp>
      <p:sp>
        <p:nvSpPr>
          <p:cNvPr id="14" name="Text 12"/>
          <p:cNvSpPr txBox="1"/>
          <p:nvPr/>
        </p:nvSpPr>
        <p:spPr>
          <a:xfrm>
            <a:off x="8110728" y="3063240"/>
            <a:ext cx="3532327" cy="662940"/>
          </a:xfrm>
          <a:prstGeom prst="rect">
            <a:avLst/>
          </a:prstGeom>
          <a:noFill/>
          <a:ln/>
        </p:spPr>
        <p:txBody>
          <a:bodyPr wrap="square" lIns="0" tIns="0" rIns="0" bIns="0" rtlCol="0" anchor="t"/>
          <a:lstStyle/>
          <a:p>
            <a:pPr algn="l" indent="0" marL="0">
              <a:lnSpc>
                <a:spcPct val="104000"/>
              </a:lnSpc>
              <a:buNone/>
            </a:pPr>
            <a:r>
              <a:rPr lang="en-US" sz="2010" dirty="0">
                <a:solidFill>
                  <a:srgbClr val="F4F7FB"/>
                </a:solidFill>
                <a:latin typeface="Arial" pitchFamily="34" charset="0"/>
                <a:ea typeface="Arial" pitchFamily="34" charset="-122"/>
                <a:cs typeface="Arial" pitchFamily="34" charset="-120"/>
              </a:rPr>
              <a:t>Relink with all required</a:t>
            </a:r>
            <a:endParaRPr lang="en-US" sz="2010" dirty="0"/>
          </a:p>
          <a:p>
            <a:pPr algn="l" indent="0" marL="0">
              <a:lnSpc>
                <a:spcPct val="104000"/>
              </a:lnSpc>
              <a:buNone/>
            </a:pPr>
            <a:r>
              <a:rPr lang="en-US" sz="2010" dirty="0">
                <a:solidFill>
                  <a:srgbClr val="F4F7FB"/>
                </a:solidFill>
                <a:latin typeface="Arial" pitchFamily="34" charset="0"/>
                <a:ea typeface="Arial" pitchFamily="34" charset="-122"/>
                <a:cs typeface="Arial" pitchFamily="34" charset="-120"/>
              </a:rPr>
              <a:t>objects.</a:t>
            </a:r>
            <a:endParaRPr lang="en-US" sz="2010" dirty="0"/>
          </a:p>
        </p:txBody>
      </p:sp>
      <p:sp>
        <p:nvSpPr>
          <p:cNvPr id="15" name="Shape 13"/>
          <p:cNvSpPr/>
          <p:nvPr/>
        </p:nvSpPr>
        <p:spPr>
          <a:xfrm>
            <a:off x="7946136" y="3813048"/>
            <a:ext cx="41148" cy="374904"/>
          </a:xfrm>
          <a:prstGeom prst="rect">
            <a:avLst/>
          </a:prstGeom>
          <a:solidFill>
            <a:srgbClr val="71D5DD"/>
          </a:solidFill>
          <a:ln w="8890">
            <a:solidFill>
              <a:srgbClr val="71D5DD"/>
            </a:solidFill>
            <a:prstDash val="solid"/>
          </a:ln>
        </p:spPr>
        <p:txBody>
          <a:bodyPr/>
          <a:p/>
        </p:txBody>
      </p:sp>
      <p:sp>
        <p:nvSpPr>
          <p:cNvPr id="16" name="Text 14"/>
          <p:cNvSpPr txBox="1"/>
          <p:nvPr/>
        </p:nvSpPr>
        <p:spPr>
          <a:xfrm>
            <a:off x="8110728" y="3776472"/>
            <a:ext cx="3532327" cy="662940"/>
          </a:xfrm>
          <a:prstGeom prst="rect">
            <a:avLst/>
          </a:prstGeom>
          <a:noFill/>
          <a:ln/>
        </p:spPr>
        <p:txBody>
          <a:bodyPr wrap="square" lIns="0" tIns="0" rIns="0" bIns="0" rtlCol="0" anchor="t"/>
          <a:lstStyle/>
          <a:p>
            <a:pPr algn="l" indent="0" marL="0">
              <a:lnSpc>
                <a:spcPct val="104000"/>
              </a:lnSpc>
              <a:buNone/>
            </a:pPr>
            <a:r>
              <a:rPr lang="en-US" sz="2010" dirty="0">
                <a:solidFill>
                  <a:srgbClr val="F4F7FB"/>
                </a:solidFill>
                <a:latin typeface="Arial" pitchFamily="34" charset="0"/>
                <a:ea typeface="Arial" pitchFamily="34" charset="-122"/>
                <a:cs typeface="Arial" pitchFamily="34" charset="-120"/>
              </a:rPr>
              <a:t>Omit calc.o to isolate a</a:t>
            </a:r>
            <a:endParaRPr lang="en-US" sz="2010" dirty="0"/>
          </a:p>
          <a:p>
            <a:pPr algn="l" indent="0" marL="0">
              <a:lnSpc>
                <a:spcPct val="104000"/>
              </a:lnSpc>
              <a:buNone/>
            </a:pPr>
            <a:r>
              <a:rPr lang="en-US" sz="2010" dirty="0">
                <a:solidFill>
                  <a:srgbClr val="F4F7FB"/>
                </a:solidFill>
                <a:latin typeface="Arial" pitchFamily="34" charset="0"/>
                <a:ea typeface="Arial" pitchFamily="34" charset="-122"/>
                <a:cs typeface="Arial" pitchFamily="34" charset="-120"/>
              </a:rPr>
              <a:t>missing definition.</a:t>
            </a:r>
            <a:endParaRPr lang="en-US" sz="2010" dirty="0"/>
          </a:p>
        </p:txBody>
      </p:sp>
      <p:sp>
        <p:nvSpPr>
          <p:cNvPr id="17" name="Text 15"/>
          <p:cNvSpPr txBox="1"/>
          <p:nvPr/>
        </p:nvSpPr>
        <p:spPr>
          <a:xfrm>
            <a:off x="548640" y="5193792"/>
            <a:ext cx="11094720" cy="274320"/>
          </a:xfrm>
          <a:prstGeom prst="rect">
            <a:avLst/>
          </a:prstGeom>
          <a:noFill/>
          <a:ln/>
        </p:spPr>
        <p:txBody>
          <a:bodyPr wrap="square" lIns="0" tIns="0" rIns="0" bIns="0" rtlCol="0" anchor="t"/>
          <a:lstStyle/>
          <a:p>
            <a:pPr algn="l" indent="0" marL="0">
              <a:lnSpc>
                <a:spcPct val="104000"/>
              </a:lnSpc>
              <a:buNone/>
            </a:pPr>
            <a:r>
              <a:rPr lang="en-US" sz="1140" dirty="0">
                <a:solidFill>
                  <a:srgbClr val="B3C3D6"/>
                </a:solidFill>
                <a:latin typeface="Arial" pitchFamily="34" charset="0"/>
                <a:ea typeface="Arial" pitchFamily="34" charset="-122"/>
                <a:cs typeface="Arial" pitchFamily="34" charset="-120"/>
              </a:rPr>
              <a:t>Exact diagnostics vary. The stable prediction is an unresolved multiply reference at link time.</a:t>
            </a:r>
            <a:endParaRPr lang="en-US" sz="1140" dirty="0"/>
          </a:p>
        </p:txBody>
      </p:sp>
      <p:sp>
        <p:nvSpPr>
          <p:cNvPr id="22" name="Text 20"/>
          <p:cNvSpPr txBox="1"/>
          <p:nvPr/>
        </p:nvSpPr>
        <p:spPr>
          <a:xfrm>
            <a:off x="548640" y="6601968"/>
            <a:ext cx="10241280" cy="128016"/>
          </a:xfrm>
          <a:prstGeom prst="rect">
            <a:avLst/>
          </a:prstGeom>
          <a:noFill/>
          <a:ln/>
        </p:spPr>
        <p:txBody>
          <a:bodyPr wrap="square" lIns="0" tIns="0" rIns="0" bIns="0" rtlCol="0" anchor="t"/>
          <a:lstStyle/>
          <a:p>
            <a:pPr algn="l" indent="0" marL="0">
              <a:lnSpc>
                <a:spcPct val="104000"/>
              </a:lnSpc>
              <a:buNone/>
            </a:pPr>
            <a:r>
              <a:rPr lang="en-US" sz="830" dirty="0">
                <a:solidFill>
                  <a:srgbClr val="B3C3D6"/>
                </a:solidFill>
                <a:latin typeface="Arial" pitchFamily="34" charset="0"/>
                <a:ea typeface="Arial" pitchFamily="34" charset="-122"/>
                <a:cs typeface="Arial" pitchFamily="34" charset="-120"/>
              </a:rPr>
              <a:t>Source: original 20 • Graduate extension • [GCC, LD]</a:t>
            </a:r>
            <a:endParaRPr lang="en-US" sz="830" dirty="0"/>
          </a:p>
        </p:txBody>
      </p:sp>
      <p:sp>
        <p:nvSpPr>
          <p:cNvPr id="23" name="Text 21"/>
          <p:cNvSpPr txBox="1"/>
          <p:nvPr/>
        </p:nvSpPr>
        <p:spPr>
          <a:xfrm>
            <a:off x="10917936" y="6565392"/>
            <a:ext cx="722376" cy="219456"/>
          </a:xfrm>
          <a:prstGeom prst="rect">
            <a:avLst/>
          </a:prstGeom>
          <a:noFill/>
          <a:ln/>
        </p:spPr>
        <p:txBody>
          <a:bodyPr wrap="square" lIns="0" tIns="0" rIns="0" bIns="0" rtlCol="0" anchor="t"/>
          <a:lstStyle/>
          <a:p>
            <a:pPr algn="r" indent="0" marL="0">
              <a:lnSpc>
                <a:spcPct val="104000"/>
              </a:lnSpc>
              <a:buNone/>
            </a:pPr>
            <a:r>
              <a:rPr lang="en-US" sz="1050" dirty="0">
                <a:solidFill>
                  <a:srgbClr val="B3C3D6"/>
                </a:solidFill>
                <a:latin typeface="Arial" pitchFamily="34" charset="0"/>
                <a:ea typeface="Arial" pitchFamily="34" charset="-122"/>
                <a:cs typeface="Arial" pitchFamily="34" charset="-120"/>
              </a:rPr>
              <a:t>54 / 64</a:t>
            </a:r>
            <a:endParaRPr lang="en-US" sz="1050" dirty="0"/>
          </a:p>
        </p:txBody>
      </p:sp>
      <p:sp>
        <p:nvSpPr>
          <p:cNvPr id="24" name="Shape 22"/>
          <p:cNvSpPr/>
          <p:nvPr/>
        </p:nvSpPr>
        <p:spPr>
          <a:xfrm>
            <a:off x="0" y="6834226"/>
            <a:ext cx="12192000" cy="23774"/>
          </a:xfrm>
          <a:prstGeom prst="rect">
            <a:avLst/>
          </a:prstGeom>
          <a:solidFill>
            <a:srgbClr val="2B415A"/>
          </a:solidFill>
          <a:ln w="8890">
            <a:solidFill>
              <a:srgbClr val="2B415A"/>
            </a:solidFill>
            <a:prstDash val="solid"/>
          </a:ln>
        </p:spPr>
        <p:txBody>
          <a:bodyPr/>
          <a:p/>
        </p:txBody>
      </p:sp>
      <p:sp>
        <p:nvSpPr>
          <p:cNvPr id="25" name="Shape 23"/>
          <p:cNvSpPr/>
          <p:nvPr/>
        </p:nvSpPr>
        <p:spPr>
          <a:xfrm>
            <a:off x="0" y="6834226"/>
            <a:ext cx="10287000" cy="23774"/>
          </a:xfrm>
          <a:prstGeom prst="rect">
            <a:avLst/>
          </a:prstGeom>
          <a:solidFill>
            <a:srgbClr val="71D5DD"/>
          </a:solidFill>
          <a:ln w="8890">
            <a:solidFill>
              <a:srgbClr val="71D5DD"/>
            </a:solidFill>
            <a:prstDash val="solid"/>
          </a:ln>
        </p:spPr>
        <p:txBody>
          <a:body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txBox="1"/>
          <p:nvPr/>
        </p:nvSpPr>
        <p:spPr>
          <a:xfrm>
            <a:off x="548640" y="219456"/>
            <a:ext cx="9875520" cy="192024"/>
          </a:xfrm>
          <a:prstGeom prst="rect">
            <a:avLst/>
          </a:prstGeom>
          <a:noFill/>
          <a:ln/>
        </p:spPr>
        <p:txBody>
          <a:bodyPr wrap="square" lIns="0" tIns="0" rIns="0" bIns="0" rtlCol="0" anchor="t"/>
          <a:lstStyle/>
          <a:p>
            <a:pPr algn="l" indent="0" marL="0">
              <a:lnSpc>
                <a:spcPct val="104000"/>
              </a:lnSpc>
              <a:buNone/>
            </a:pPr>
            <a:r>
              <a:rPr lang="en-US" sz="970" b="1" spc="135" kern="0" dirty="0">
                <a:solidFill>
                  <a:srgbClr val="B3C3D6"/>
                </a:solidFill>
                <a:latin typeface="Arial" pitchFamily="34" charset="0"/>
                <a:ea typeface="Arial" pitchFamily="34" charset="-122"/>
                <a:cs typeface="Arial" pitchFamily="34" charset="-120"/>
              </a:rPr>
              <a:t>SYSTEMS PROGRAMMING AND MACHINE ORGANIZATION</a:t>
            </a:r>
            <a:endParaRPr lang="en-US" sz="970" dirty="0"/>
          </a:p>
        </p:txBody>
      </p:sp>
      <p:sp>
        <p:nvSpPr>
          <p:cNvPr id="3" name="Text 1"/>
          <p:cNvSpPr txBox="1"/>
          <p:nvPr/>
        </p:nvSpPr>
        <p:spPr>
          <a:xfrm>
            <a:off x="9601200" y="219456"/>
            <a:ext cx="2039112" cy="192024"/>
          </a:xfrm>
          <a:prstGeom prst="rect">
            <a:avLst/>
          </a:prstGeom>
          <a:noFill/>
          <a:ln/>
        </p:spPr>
        <p:txBody>
          <a:bodyPr wrap="square" lIns="0" tIns="0" rIns="0" bIns="0" rtlCol="0" anchor="t"/>
          <a:lstStyle/>
          <a:p>
            <a:pPr algn="r" indent="0" marL="0">
              <a:lnSpc>
                <a:spcPct val="104000"/>
              </a:lnSpc>
              <a:buNone/>
            </a:pPr>
            <a:r>
              <a:rPr lang="en-US" sz="970" b="1" dirty="0">
                <a:solidFill>
                  <a:srgbClr val="B3C3D6"/>
                </a:solidFill>
                <a:latin typeface="Arial" pitchFamily="34" charset="0"/>
                <a:ea typeface="Arial" pitchFamily="34" charset="-122"/>
                <a:cs typeface="Arial" pitchFamily="34" charset="-120"/>
              </a:rPr>
              <a:t>CHARLES DORNER</a:t>
            </a:r>
            <a:endParaRPr lang="en-US" sz="970" dirty="0"/>
          </a:p>
        </p:txBody>
      </p:sp>
      <p:sp>
        <p:nvSpPr>
          <p:cNvPr id="4" name="Text 2"/>
          <p:cNvSpPr txBox="1"/>
          <p:nvPr/>
        </p:nvSpPr>
        <p:spPr>
          <a:xfrm>
            <a:off x="548640" y="566928"/>
            <a:ext cx="11109960" cy="237744"/>
          </a:xfrm>
          <a:prstGeom prst="rect">
            <a:avLst/>
          </a:prstGeom>
          <a:noFill/>
          <a:ln/>
        </p:spPr>
        <p:txBody>
          <a:bodyPr wrap="square" lIns="0" tIns="0" rIns="0" bIns="0" rtlCol="0" anchor="t"/>
          <a:lstStyle/>
          <a:p>
            <a:pPr algn="l" indent="0" marL="0">
              <a:lnSpc>
                <a:spcPct val="104000"/>
              </a:lnSpc>
              <a:buNone/>
            </a:pPr>
            <a:r>
              <a:rPr lang="en-US" sz="1150" b="1" dirty="0">
                <a:solidFill>
                  <a:srgbClr val="71D5DD"/>
                </a:solidFill>
                <a:latin typeface="Arial" pitchFamily="34" charset="0"/>
                <a:ea typeface="Arial" pitchFamily="34" charset="-122"/>
                <a:cs typeface="Arial" pitchFamily="34" charset="-120"/>
              </a:rPr>
              <a:t>LAB 3 · ACCEPTANCE CRITERIA</a:t>
            </a:r>
            <a:endParaRPr lang="en-US" sz="1150" dirty="0"/>
          </a:p>
        </p:txBody>
      </p:sp>
      <p:sp>
        <p:nvSpPr>
          <p:cNvPr id="5" name="Text 3"/>
          <p:cNvSpPr txBox="1"/>
          <p:nvPr/>
        </p:nvSpPr>
        <p:spPr>
          <a:xfrm>
            <a:off x="548640" y="941832"/>
            <a:ext cx="11091672" cy="676656"/>
          </a:xfrm>
          <a:prstGeom prst="rect">
            <a:avLst/>
          </a:prstGeom>
          <a:noFill/>
          <a:ln/>
        </p:spPr>
        <p:txBody>
          <a:bodyPr wrap="square" lIns="0" tIns="0" rIns="0" bIns="0" rtlCol="0" anchor="t"/>
          <a:lstStyle/>
          <a:p>
            <a:pPr algn="l" indent="0" marL="0">
              <a:lnSpc>
                <a:spcPct val="104000"/>
              </a:lnSpc>
              <a:buNone/>
            </a:pPr>
            <a:r>
              <a:rPr lang="en-US" sz="3150" b="1" dirty="0">
                <a:solidFill>
                  <a:srgbClr val="F4F7FB"/>
                </a:solidFill>
                <a:latin typeface="Arial" pitchFamily="34" charset="0"/>
                <a:ea typeface="Arial" pitchFamily="34" charset="-122"/>
                <a:cs typeface="Arial" pitchFamily="34" charset="-120"/>
              </a:rPr>
              <a:t>Guided lab: submit an evidence-based explanation</a:t>
            </a:r>
            <a:endParaRPr lang="en-US" sz="3150" dirty="0"/>
          </a:p>
        </p:txBody>
      </p:sp>
      <p:sp>
        <p:nvSpPr>
          <p:cNvPr id="6" name="Shape 4"/>
          <p:cNvSpPr/>
          <p:nvPr/>
        </p:nvSpPr>
        <p:spPr>
          <a:xfrm>
            <a:off x="548640" y="1764792"/>
            <a:ext cx="3328416" cy="402336"/>
          </a:xfrm>
          <a:prstGeom prst="rect">
            <a:avLst/>
          </a:prstGeom>
          <a:solidFill>
            <a:srgbClr val="172940"/>
          </a:solidFill>
          <a:ln w="8890">
            <a:solidFill>
              <a:srgbClr val="172940"/>
            </a:solidFill>
            <a:prstDash val="solid"/>
          </a:ln>
        </p:spPr>
        <p:txBody>
          <a:bodyPr/>
          <a:p/>
        </p:txBody>
      </p:sp>
      <p:sp>
        <p:nvSpPr>
          <p:cNvPr id="7" name="Text 5"/>
          <p:cNvSpPr txBox="1"/>
          <p:nvPr/>
        </p:nvSpPr>
        <p:spPr>
          <a:xfrm>
            <a:off x="676656" y="1851660"/>
            <a:ext cx="3072384" cy="301752"/>
          </a:xfrm>
          <a:prstGeom prst="rect">
            <a:avLst/>
          </a:prstGeom>
          <a:noFill/>
          <a:ln/>
        </p:spPr>
        <p:txBody>
          <a:bodyPr wrap="square" lIns="0" tIns="0" rIns="0" bIns="0" rtlCol="0" anchor="t"/>
          <a:lstStyle/>
          <a:p>
            <a:pPr algn="l" indent="0" marL="0">
              <a:lnSpc>
                <a:spcPct val="104000"/>
              </a:lnSpc>
              <a:buNone/>
            </a:pPr>
            <a:r>
              <a:rPr lang="en-US" sz="1240" b="1" dirty="0">
                <a:solidFill>
                  <a:srgbClr val="71D5DD"/>
                </a:solidFill>
                <a:latin typeface="Arial" pitchFamily="34" charset="0"/>
                <a:ea typeface="Arial" pitchFamily="34" charset="-122"/>
                <a:cs typeface="Arial" pitchFamily="34" charset="-120"/>
              </a:rPr>
              <a:t>Evidence package</a:t>
            </a:r>
            <a:endParaRPr lang="en-US" sz="1240" dirty="0"/>
          </a:p>
        </p:txBody>
      </p:sp>
      <p:sp>
        <p:nvSpPr>
          <p:cNvPr id="8" name="Shape 6"/>
          <p:cNvSpPr/>
          <p:nvPr/>
        </p:nvSpPr>
        <p:spPr>
          <a:xfrm>
            <a:off x="3877056" y="1764792"/>
            <a:ext cx="6009640" cy="402336"/>
          </a:xfrm>
          <a:prstGeom prst="rect">
            <a:avLst/>
          </a:prstGeom>
          <a:solidFill>
            <a:srgbClr val="172940"/>
          </a:solidFill>
          <a:ln w="8890">
            <a:solidFill>
              <a:srgbClr val="172940"/>
            </a:solidFill>
            <a:prstDash val="solid"/>
          </a:ln>
        </p:spPr>
        <p:txBody>
          <a:bodyPr/>
          <a:p/>
        </p:txBody>
      </p:sp>
      <p:sp>
        <p:nvSpPr>
          <p:cNvPr id="9" name="Text 7"/>
          <p:cNvSpPr txBox="1"/>
          <p:nvPr/>
        </p:nvSpPr>
        <p:spPr>
          <a:xfrm>
            <a:off x="4005072" y="1851660"/>
            <a:ext cx="5753608" cy="301752"/>
          </a:xfrm>
          <a:prstGeom prst="rect">
            <a:avLst/>
          </a:prstGeom>
          <a:noFill/>
          <a:ln/>
        </p:spPr>
        <p:txBody>
          <a:bodyPr wrap="square" lIns="0" tIns="0" rIns="0" bIns="0" rtlCol="0" anchor="t"/>
          <a:lstStyle/>
          <a:p>
            <a:pPr algn="l" indent="0" marL="0">
              <a:lnSpc>
                <a:spcPct val="104000"/>
              </a:lnSpc>
              <a:buNone/>
            </a:pPr>
            <a:r>
              <a:rPr lang="en-US" sz="1240" b="1" dirty="0">
                <a:solidFill>
                  <a:srgbClr val="71D5DD"/>
                </a:solidFill>
                <a:latin typeface="Arial" pitchFamily="34" charset="0"/>
                <a:ea typeface="Arial" pitchFamily="34" charset="-122"/>
                <a:cs typeface="Arial" pitchFamily="34" charset="-120"/>
              </a:rPr>
              <a:t>What a strong explanation establishes</a:t>
            </a:r>
            <a:endParaRPr lang="en-US" sz="1240" dirty="0"/>
          </a:p>
        </p:txBody>
      </p:sp>
      <p:sp>
        <p:nvSpPr>
          <p:cNvPr id="10" name="Shape 8"/>
          <p:cNvSpPr/>
          <p:nvPr/>
        </p:nvSpPr>
        <p:spPr>
          <a:xfrm>
            <a:off x="9886696" y="1764792"/>
            <a:ext cx="1756664" cy="402336"/>
          </a:xfrm>
          <a:prstGeom prst="rect">
            <a:avLst/>
          </a:prstGeom>
          <a:solidFill>
            <a:srgbClr val="172940"/>
          </a:solidFill>
          <a:ln w="8890">
            <a:solidFill>
              <a:srgbClr val="172940"/>
            </a:solidFill>
            <a:prstDash val="solid"/>
          </a:ln>
        </p:spPr>
        <p:txBody>
          <a:bodyPr/>
          <a:p/>
        </p:txBody>
      </p:sp>
      <p:sp>
        <p:nvSpPr>
          <p:cNvPr id="11" name="Text 9"/>
          <p:cNvSpPr txBox="1"/>
          <p:nvPr/>
        </p:nvSpPr>
        <p:spPr>
          <a:xfrm>
            <a:off x="10014712" y="1851660"/>
            <a:ext cx="1500632" cy="301752"/>
          </a:xfrm>
          <a:prstGeom prst="rect">
            <a:avLst/>
          </a:prstGeom>
          <a:noFill/>
          <a:ln/>
        </p:spPr>
        <p:txBody>
          <a:bodyPr wrap="square" lIns="0" tIns="0" rIns="0" bIns="0" rtlCol="0" anchor="t"/>
          <a:lstStyle/>
          <a:p>
            <a:pPr algn="l" indent="0" marL="0">
              <a:lnSpc>
                <a:spcPct val="104000"/>
              </a:lnSpc>
              <a:buNone/>
            </a:pPr>
            <a:r>
              <a:rPr lang="en-US" sz="1240" b="1" dirty="0">
                <a:solidFill>
                  <a:srgbClr val="71D5DD"/>
                </a:solidFill>
                <a:latin typeface="Arial" pitchFamily="34" charset="0"/>
                <a:ea typeface="Arial" pitchFamily="34" charset="-122"/>
                <a:cs typeface="Arial" pitchFamily="34" charset="-120"/>
              </a:rPr>
              <a:t>Suggested weight</a:t>
            </a:r>
            <a:endParaRPr lang="en-US" sz="1240" dirty="0"/>
          </a:p>
        </p:txBody>
      </p:sp>
      <p:sp>
        <p:nvSpPr>
          <p:cNvPr id="12" name="Shape 10"/>
          <p:cNvSpPr/>
          <p:nvPr/>
        </p:nvSpPr>
        <p:spPr>
          <a:xfrm>
            <a:off x="548640" y="2167128"/>
            <a:ext cx="3328416" cy="726948"/>
          </a:xfrm>
          <a:prstGeom prst="rect">
            <a:avLst/>
          </a:prstGeom>
          <a:solidFill>
            <a:srgbClr val="142238"/>
          </a:solidFill>
          <a:ln w="8890">
            <a:solidFill>
              <a:srgbClr val="142238"/>
            </a:solidFill>
            <a:prstDash val="solid"/>
          </a:ln>
        </p:spPr>
        <p:txBody>
          <a:bodyPr/>
          <a:p/>
        </p:txBody>
      </p:sp>
      <p:sp>
        <p:nvSpPr>
          <p:cNvPr id="13" name="Text 11"/>
          <p:cNvSpPr txBox="1"/>
          <p:nvPr/>
        </p:nvSpPr>
        <p:spPr>
          <a:xfrm>
            <a:off x="676656" y="2217420"/>
            <a:ext cx="3072384" cy="635508"/>
          </a:xfrm>
          <a:prstGeom prst="rect">
            <a:avLst/>
          </a:prstGeom>
          <a:noFill/>
          <a:ln/>
        </p:spPr>
        <p:txBody>
          <a:bodyPr wrap="square" lIns="0" tIns="0" rIns="0" bIns="0" rtlCol="0" anchor="t"/>
          <a:lstStyle/>
          <a:p>
            <a:pPr algn="l" indent="0" marL="0">
              <a:lnSpc>
                <a:spcPct val="104000"/>
              </a:lnSpc>
              <a:buNone/>
            </a:pPr>
            <a:r>
              <a:rPr lang="en-US" sz="1800" b="1" dirty="0">
                <a:solidFill>
                  <a:srgbClr val="F4F7FB"/>
                </a:solidFill>
                <a:latin typeface="Arial" pitchFamily="34" charset="0"/>
                <a:ea typeface="Arial" pitchFamily="34" charset="-122"/>
                <a:cs typeface="Arial" pitchFamily="34" charset="-120"/>
              </a:rPr>
              <a:t>Source and input contract</a:t>
            </a:r>
            <a:endParaRPr lang="en-US" sz="1800" dirty="0"/>
          </a:p>
        </p:txBody>
      </p:sp>
      <p:sp>
        <p:nvSpPr>
          <p:cNvPr id="14" name="Shape 12"/>
          <p:cNvSpPr/>
          <p:nvPr/>
        </p:nvSpPr>
        <p:spPr>
          <a:xfrm>
            <a:off x="3877056" y="2167128"/>
            <a:ext cx="6009640" cy="726948"/>
          </a:xfrm>
          <a:prstGeom prst="rect">
            <a:avLst/>
          </a:prstGeom>
          <a:solidFill>
            <a:srgbClr val="142238"/>
          </a:solidFill>
          <a:ln w="8890">
            <a:solidFill>
              <a:srgbClr val="142238"/>
            </a:solidFill>
            <a:prstDash val="solid"/>
          </a:ln>
        </p:spPr>
        <p:txBody>
          <a:bodyPr/>
          <a:p/>
        </p:txBody>
      </p:sp>
      <p:sp>
        <p:nvSpPr>
          <p:cNvPr id="15" name="Text 13"/>
          <p:cNvSpPr txBox="1"/>
          <p:nvPr/>
        </p:nvSpPr>
        <p:spPr>
          <a:xfrm>
            <a:off x="4005072" y="2217420"/>
            <a:ext cx="5753608" cy="635508"/>
          </a:xfrm>
          <a:prstGeom prst="rect">
            <a:avLst/>
          </a:prstGeom>
          <a:noFill/>
          <a:ln/>
        </p:spPr>
        <p:txBody>
          <a:bodyPr wrap="square" lIns="0" tIns="0" rIns="0" bIns="0" rtlCol="0" anchor="t"/>
          <a:lstStyle/>
          <a:p>
            <a:pPr algn="l" indent="0" marL="0">
              <a:lnSpc>
                <a:spcPct val="104000"/>
              </a:lnSpc>
              <a:buNone/>
            </a:pPr>
            <a:r>
              <a:rPr lang="en-US" sz="1800" dirty="0">
                <a:solidFill>
                  <a:srgbClr val="B3C3D6"/>
                </a:solidFill>
                <a:latin typeface="Arial" pitchFamily="34" charset="0"/>
                <a:ea typeface="Arial" pitchFamily="34" charset="-122"/>
                <a:cs typeface="Arial" pitchFamily="34" charset="-120"/>
              </a:rPr>
              <a:t>Declarations, definitions, and valid arithmetic domain</a:t>
            </a:r>
            <a:endParaRPr lang="en-US" sz="1800" dirty="0"/>
          </a:p>
        </p:txBody>
      </p:sp>
      <p:sp>
        <p:nvSpPr>
          <p:cNvPr id="16" name="Shape 14"/>
          <p:cNvSpPr/>
          <p:nvPr/>
        </p:nvSpPr>
        <p:spPr>
          <a:xfrm>
            <a:off x="9886696" y="2167128"/>
            <a:ext cx="1756664" cy="726948"/>
          </a:xfrm>
          <a:prstGeom prst="rect">
            <a:avLst/>
          </a:prstGeom>
          <a:solidFill>
            <a:srgbClr val="142238"/>
          </a:solidFill>
          <a:ln w="8890">
            <a:solidFill>
              <a:srgbClr val="142238"/>
            </a:solidFill>
            <a:prstDash val="solid"/>
          </a:ln>
        </p:spPr>
        <p:txBody>
          <a:bodyPr/>
          <a:p/>
        </p:txBody>
      </p:sp>
      <p:sp>
        <p:nvSpPr>
          <p:cNvPr id="17" name="Text 15"/>
          <p:cNvSpPr txBox="1"/>
          <p:nvPr/>
        </p:nvSpPr>
        <p:spPr>
          <a:xfrm>
            <a:off x="10014712" y="2217420"/>
            <a:ext cx="1500632" cy="635508"/>
          </a:xfrm>
          <a:prstGeom prst="rect">
            <a:avLst/>
          </a:prstGeom>
          <a:noFill/>
          <a:ln/>
        </p:spPr>
        <p:txBody>
          <a:bodyPr wrap="square" lIns="0" tIns="0" rIns="0" bIns="0" rtlCol="0" anchor="t"/>
          <a:lstStyle/>
          <a:p>
            <a:pPr algn="l" indent="0" marL="0">
              <a:lnSpc>
                <a:spcPct val="104000"/>
              </a:lnSpc>
              <a:buNone/>
            </a:pPr>
            <a:r>
              <a:rPr lang="en-US" sz="1800" dirty="0">
                <a:solidFill>
                  <a:srgbClr val="B3C3D6"/>
                </a:solidFill>
                <a:latin typeface="Arial" pitchFamily="34" charset="0"/>
                <a:ea typeface="Arial" pitchFamily="34" charset="-122"/>
                <a:cs typeface="Arial" pitchFamily="34" charset="-120"/>
              </a:rPr>
              <a:t>25%</a:t>
            </a:r>
            <a:endParaRPr lang="en-US" sz="1800" dirty="0"/>
          </a:p>
        </p:txBody>
      </p:sp>
      <p:sp>
        <p:nvSpPr>
          <p:cNvPr id="18" name="Shape 16"/>
          <p:cNvSpPr/>
          <p:nvPr/>
        </p:nvSpPr>
        <p:spPr>
          <a:xfrm>
            <a:off x="548640" y="2894076"/>
            <a:ext cx="11094720" cy="0"/>
          </a:xfrm>
          <a:prstGeom prst="line">
            <a:avLst/>
          </a:prstGeom>
          <a:noFill/>
          <a:ln w="12700">
            <a:solidFill>
              <a:srgbClr val="2B415A"/>
            </a:solidFill>
            <a:prstDash val="solid"/>
          </a:ln>
        </p:spPr>
        <p:txBody>
          <a:bodyPr/>
          <a:p/>
        </p:txBody>
      </p:sp>
      <p:sp>
        <p:nvSpPr>
          <p:cNvPr id="19" name="Shape 17"/>
          <p:cNvSpPr/>
          <p:nvPr/>
        </p:nvSpPr>
        <p:spPr>
          <a:xfrm>
            <a:off x="548640" y="2894076"/>
            <a:ext cx="3328416" cy="726948"/>
          </a:xfrm>
          <a:prstGeom prst="rect">
            <a:avLst/>
          </a:prstGeom>
          <a:solidFill>
            <a:srgbClr val="0B1322"/>
          </a:solidFill>
          <a:ln w="8890">
            <a:solidFill>
              <a:srgbClr val="0B1322"/>
            </a:solidFill>
            <a:prstDash val="solid"/>
          </a:ln>
        </p:spPr>
        <p:txBody>
          <a:bodyPr/>
          <a:p/>
        </p:txBody>
      </p:sp>
      <p:sp>
        <p:nvSpPr>
          <p:cNvPr id="20" name="Text 18"/>
          <p:cNvSpPr txBox="1"/>
          <p:nvPr/>
        </p:nvSpPr>
        <p:spPr>
          <a:xfrm>
            <a:off x="676656" y="2944368"/>
            <a:ext cx="3072384" cy="635508"/>
          </a:xfrm>
          <a:prstGeom prst="rect">
            <a:avLst/>
          </a:prstGeom>
          <a:noFill/>
          <a:ln/>
        </p:spPr>
        <p:txBody>
          <a:bodyPr wrap="square" lIns="0" tIns="0" rIns="0" bIns="0" rtlCol="0" anchor="t"/>
          <a:lstStyle/>
          <a:p>
            <a:pPr algn="l" indent="0" marL="0">
              <a:lnSpc>
                <a:spcPct val="104000"/>
              </a:lnSpc>
              <a:buNone/>
            </a:pPr>
            <a:r>
              <a:rPr lang="en-US" sz="1800" b="1" dirty="0">
                <a:solidFill>
                  <a:srgbClr val="F4F7FB"/>
                </a:solidFill>
                <a:latin typeface="Arial" pitchFamily="34" charset="0"/>
                <a:ea typeface="Arial" pitchFamily="34" charset="-122"/>
                <a:cs typeface="Arial" pitchFamily="34" charset="-120"/>
              </a:rPr>
              <a:t>Successful build and run</a:t>
            </a:r>
            <a:endParaRPr lang="en-US" sz="1800" dirty="0"/>
          </a:p>
        </p:txBody>
      </p:sp>
      <p:sp>
        <p:nvSpPr>
          <p:cNvPr id="21" name="Shape 19"/>
          <p:cNvSpPr/>
          <p:nvPr/>
        </p:nvSpPr>
        <p:spPr>
          <a:xfrm>
            <a:off x="3877056" y="2894076"/>
            <a:ext cx="6009640" cy="726948"/>
          </a:xfrm>
          <a:prstGeom prst="rect">
            <a:avLst/>
          </a:prstGeom>
          <a:solidFill>
            <a:srgbClr val="0B1322"/>
          </a:solidFill>
          <a:ln w="8890">
            <a:solidFill>
              <a:srgbClr val="0B1322"/>
            </a:solidFill>
            <a:prstDash val="solid"/>
          </a:ln>
        </p:spPr>
        <p:txBody>
          <a:bodyPr/>
          <a:p/>
        </p:txBody>
      </p:sp>
      <p:sp>
        <p:nvSpPr>
          <p:cNvPr id="22" name="Text 20"/>
          <p:cNvSpPr txBox="1"/>
          <p:nvPr/>
        </p:nvSpPr>
        <p:spPr>
          <a:xfrm>
            <a:off x="4005072" y="2944368"/>
            <a:ext cx="5753608" cy="635508"/>
          </a:xfrm>
          <a:prstGeom prst="rect">
            <a:avLst/>
          </a:prstGeom>
          <a:noFill/>
          <a:ln/>
        </p:spPr>
        <p:txBody>
          <a:bodyPr wrap="square" lIns="0" tIns="0" rIns="0" bIns="0" rtlCol="0" anchor="t"/>
          <a:lstStyle/>
          <a:p>
            <a:pPr algn="l" indent="0" marL="0">
              <a:lnSpc>
                <a:spcPct val="104000"/>
              </a:lnSpc>
              <a:buNone/>
            </a:pPr>
            <a:r>
              <a:rPr lang="en-US" sz="1800" dirty="0">
                <a:solidFill>
                  <a:srgbClr val="B3C3D6"/>
                </a:solidFill>
                <a:latin typeface="Arial" pitchFamily="34" charset="0"/>
                <a:ea typeface="Arial" pitchFamily="34" charset="-122"/>
                <a:cs typeface="Arial" pitchFamily="34" charset="-120"/>
              </a:rPr>
              <a:t>Separate compilation and predicted output</a:t>
            </a:r>
            <a:endParaRPr lang="en-US" sz="1800" dirty="0"/>
          </a:p>
        </p:txBody>
      </p:sp>
      <p:sp>
        <p:nvSpPr>
          <p:cNvPr id="23" name="Shape 21"/>
          <p:cNvSpPr/>
          <p:nvPr/>
        </p:nvSpPr>
        <p:spPr>
          <a:xfrm>
            <a:off x="9886696" y="2894076"/>
            <a:ext cx="1756664" cy="726948"/>
          </a:xfrm>
          <a:prstGeom prst="rect">
            <a:avLst/>
          </a:prstGeom>
          <a:solidFill>
            <a:srgbClr val="0B1322"/>
          </a:solidFill>
          <a:ln w="8890">
            <a:solidFill>
              <a:srgbClr val="0B1322"/>
            </a:solidFill>
            <a:prstDash val="solid"/>
          </a:ln>
        </p:spPr>
        <p:txBody>
          <a:bodyPr/>
          <a:p/>
        </p:txBody>
      </p:sp>
      <p:sp>
        <p:nvSpPr>
          <p:cNvPr id="24" name="Text 22"/>
          <p:cNvSpPr txBox="1"/>
          <p:nvPr/>
        </p:nvSpPr>
        <p:spPr>
          <a:xfrm>
            <a:off x="10014712" y="2944368"/>
            <a:ext cx="1500632" cy="635508"/>
          </a:xfrm>
          <a:prstGeom prst="rect">
            <a:avLst/>
          </a:prstGeom>
          <a:noFill/>
          <a:ln/>
        </p:spPr>
        <p:txBody>
          <a:bodyPr wrap="square" lIns="0" tIns="0" rIns="0" bIns="0" rtlCol="0" anchor="t"/>
          <a:lstStyle/>
          <a:p>
            <a:pPr algn="l" indent="0" marL="0">
              <a:lnSpc>
                <a:spcPct val="104000"/>
              </a:lnSpc>
              <a:buNone/>
            </a:pPr>
            <a:r>
              <a:rPr lang="en-US" sz="1800" dirty="0">
                <a:solidFill>
                  <a:srgbClr val="B3C3D6"/>
                </a:solidFill>
                <a:latin typeface="Arial" pitchFamily="34" charset="0"/>
                <a:ea typeface="Arial" pitchFamily="34" charset="-122"/>
                <a:cs typeface="Arial" pitchFamily="34" charset="-120"/>
              </a:rPr>
              <a:t>25%</a:t>
            </a:r>
            <a:endParaRPr lang="en-US" sz="1800" dirty="0"/>
          </a:p>
        </p:txBody>
      </p:sp>
      <p:sp>
        <p:nvSpPr>
          <p:cNvPr id="25" name="Shape 23"/>
          <p:cNvSpPr/>
          <p:nvPr/>
        </p:nvSpPr>
        <p:spPr>
          <a:xfrm>
            <a:off x="548640" y="3621024"/>
            <a:ext cx="11094720" cy="0"/>
          </a:xfrm>
          <a:prstGeom prst="line">
            <a:avLst/>
          </a:prstGeom>
          <a:noFill/>
          <a:ln w="12700">
            <a:solidFill>
              <a:srgbClr val="2B415A"/>
            </a:solidFill>
            <a:prstDash val="solid"/>
          </a:ln>
        </p:spPr>
        <p:txBody>
          <a:bodyPr/>
          <a:p/>
        </p:txBody>
      </p:sp>
      <p:sp>
        <p:nvSpPr>
          <p:cNvPr id="26" name="Shape 24"/>
          <p:cNvSpPr/>
          <p:nvPr/>
        </p:nvSpPr>
        <p:spPr>
          <a:xfrm>
            <a:off x="548640" y="3621024"/>
            <a:ext cx="3328416" cy="726948"/>
          </a:xfrm>
          <a:prstGeom prst="rect">
            <a:avLst/>
          </a:prstGeom>
          <a:solidFill>
            <a:srgbClr val="142238"/>
          </a:solidFill>
          <a:ln w="8890">
            <a:solidFill>
              <a:srgbClr val="142238"/>
            </a:solidFill>
            <a:prstDash val="solid"/>
          </a:ln>
        </p:spPr>
        <p:txBody>
          <a:bodyPr/>
          <a:p/>
        </p:txBody>
      </p:sp>
      <p:sp>
        <p:nvSpPr>
          <p:cNvPr id="27" name="Text 25"/>
          <p:cNvSpPr txBox="1"/>
          <p:nvPr/>
        </p:nvSpPr>
        <p:spPr>
          <a:xfrm>
            <a:off x="676656" y="3671316"/>
            <a:ext cx="3072384" cy="635508"/>
          </a:xfrm>
          <a:prstGeom prst="rect">
            <a:avLst/>
          </a:prstGeom>
          <a:noFill/>
          <a:ln/>
        </p:spPr>
        <p:txBody>
          <a:bodyPr wrap="square" lIns="0" tIns="0" rIns="0" bIns="0" rtlCol="0" anchor="t"/>
          <a:lstStyle/>
          <a:p>
            <a:pPr algn="l" indent="0" marL="0">
              <a:lnSpc>
                <a:spcPct val="104000"/>
              </a:lnSpc>
              <a:buNone/>
            </a:pPr>
            <a:r>
              <a:rPr lang="en-US" sz="1800" b="1" dirty="0">
                <a:solidFill>
                  <a:srgbClr val="F4F7FB"/>
                </a:solidFill>
                <a:latin typeface="Arial" pitchFamily="34" charset="0"/>
                <a:ea typeface="Arial" pitchFamily="34" charset="-122"/>
                <a:cs typeface="Arial" pitchFamily="34" charset="-120"/>
              </a:rPr>
              <a:t>Intentional link failure</a:t>
            </a:r>
            <a:endParaRPr lang="en-US" sz="1800" dirty="0"/>
          </a:p>
        </p:txBody>
      </p:sp>
      <p:sp>
        <p:nvSpPr>
          <p:cNvPr id="28" name="Shape 26"/>
          <p:cNvSpPr/>
          <p:nvPr/>
        </p:nvSpPr>
        <p:spPr>
          <a:xfrm>
            <a:off x="3877056" y="3621024"/>
            <a:ext cx="6009640" cy="726948"/>
          </a:xfrm>
          <a:prstGeom prst="rect">
            <a:avLst/>
          </a:prstGeom>
          <a:solidFill>
            <a:srgbClr val="142238"/>
          </a:solidFill>
          <a:ln w="8890">
            <a:solidFill>
              <a:srgbClr val="142238"/>
            </a:solidFill>
            <a:prstDash val="solid"/>
          </a:ln>
        </p:spPr>
        <p:txBody>
          <a:bodyPr/>
          <a:p/>
        </p:txBody>
      </p:sp>
      <p:sp>
        <p:nvSpPr>
          <p:cNvPr id="29" name="Text 27"/>
          <p:cNvSpPr txBox="1"/>
          <p:nvPr/>
        </p:nvSpPr>
        <p:spPr>
          <a:xfrm>
            <a:off x="4005072" y="3671316"/>
            <a:ext cx="5753608" cy="635508"/>
          </a:xfrm>
          <a:prstGeom prst="rect">
            <a:avLst/>
          </a:prstGeom>
          <a:noFill/>
          <a:ln/>
        </p:spPr>
        <p:txBody>
          <a:bodyPr wrap="square" lIns="0" tIns="0" rIns="0" bIns="0" rtlCol="0" anchor="t"/>
          <a:lstStyle/>
          <a:p>
            <a:pPr algn="l" indent="0" marL="0">
              <a:lnSpc>
                <a:spcPct val="104000"/>
              </a:lnSpc>
              <a:buNone/>
            </a:pPr>
            <a:r>
              <a:rPr lang="en-US" sz="1800" dirty="0">
                <a:solidFill>
                  <a:srgbClr val="B3C3D6"/>
                </a:solidFill>
                <a:latin typeface="Arial" pitchFamily="34" charset="0"/>
                <a:ea typeface="Arial" pitchFamily="34" charset="-122"/>
                <a:cs typeface="Arial" pitchFamily="34" charset="-120"/>
              </a:rPr>
              <a:t>Omitted definition and relevant symbol evidence</a:t>
            </a:r>
            <a:endParaRPr lang="en-US" sz="1800" dirty="0"/>
          </a:p>
        </p:txBody>
      </p:sp>
      <p:sp>
        <p:nvSpPr>
          <p:cNvPr id="30" name="Shape 28"/>
          <p:cNvSpPr/>
          <p:nvPr/>
        </p:nvSpPr>
        <p:spPr>
          <a:xfrm>
            <a:off x="9886696" y="3621024"/>
            <a:ext cx="1756664" cy="726948"/>
          </a:xfrm>
          <a:prstGeom prst="rect">
            <a:avLst/>
          </a:prstGeom>
          <a:solidFill>
            <a:srgbClr val="142238"/>
          </a:solidFill>
          <a:ln w="8890">
            <a:solidFill>
              <a:srgbClr val="142238"/>
            </a:solidFill>
            <a:prstDash val="solid"/>
          </a:ln>
        </p:spPr>
        <p:txBody>
          <a:bodyPr/>
          <a:p/>
        </p:txBody>
      </p:sp>
      <p:sp>
        <p:nvSpPr>
          <p:cNvPr id="31" name="Text 29"/>
          <p:cNvSpPr txBox="1"/>
          <p:nvPr/>
        </p:nvSpPr>
        <p:spPr>
          <a:xfrm>
            <a:off x="10014712" y="3671316"/>
            <a:ext cx="1500632" cy="635508"/>
          </a:xfrm>
          <a:prstGeom prst="rect">
            <a:avLst/>
          </a:prstGeom>
          <a:noFill/>
          <a:ln/>
        </p:spPr>
        <p:txBody>
          <a:bodyPr wrap="square" lIns="0" tIns="0" rIns="0" bIns="0" rtlCol="0" anchor="t"/>
          <a:lstStyle/>
          <a:p>
            <a:pPr algn="l" indent="0" marL="0">
              <a:lnSpc>
                <a:spcPct val="104000"/>
              </a:lnSpc>
              <a:buNone/>
            </a:pPr>
            <a:r>
              <a:rPr lang="en-US" sz="1800" dirty="0">
                <a:solidFill>
                  <a:srgbClr val="B3C3D6"/>
                </a:solidFill>
                <a:latin typeface="Arial" pitchFamily="34" charset="0"/>
                <a:ea typeface="Arial" pitchFamily="34" charset="-122"/>
                <a:cs typeface="Arial" pitchFamily="34" charset="-120"/>
              </a:rPr>
              <a:t>25%</a:t>
            </a:r>
            <a:endParaRPr lang="en-US" sz="1800" dirty="0"/>
          </a:p>
        </p:txBody>
      </p:sp>
      <p:sp>
        <p:nvSpPr>
          <p:cNvPr id="32" name="Shape 30"/>
          <p:cNvSpPr/>
          <p:nvPr/>
        </p:nvSpPr>
        <p:spPr>
          <a:xfrm>
            <a:off x="548640" y="4347972"/>
            <a:ext cx="11094720" cy="0"/>
          </a:xfrm>
          <a:prstGeom prst="line">
            <a:avLst/>
          </a:prstGeom>
          <a:noFill/>
          <a:ln w="12700">
            <a:solidFill>
              <a:srgbClr val="2B415A"/>
            </a:solidFill>
            <a:prstDash val="solid"/>
          </a:ln>
        </p:spPr>
        <p:txBody>
          <a:bodyPr/>
          <a:p/>
        </p:txBody>
      </p:sp>
      <p:sp>
        <p:nvSpPr>
          <p:cNvPr id="33" name="Shape 31"/>
          <p:cNvSpPr/>
          <p:nvPr/>
        </p:nvSpPr>
        <p:spPr>
          <a:xfrm>
            <a:off x="548640" y="4347972"/>
            <a:ext cx="3328416" cy="726948"/>
          </a:xfrm>
          <a:prstGeom prst="rect">
            <a:avLst/>
          </a:prstGeom>
          <a:solidFill>
            <a:srgbClr val="0B1322"/>
          </a:solidFill>
          <a:ln w="8890">
            <a:solidFill>
              <a:srgbClr val="0B1322"/>
            </a:solidFill>
            <a:prstDash val="solid"/>
          </a:ln>
        </p:spPr>
        <p:txBody>
          <a:bodyPr/>
          <a:p/>
        </p:txBody>
      </p:sp>
      <p:sp>
        <p:nvSpPr>
          <p:cNvPr id="34" name="Text 32"/>
          <p:cNvSpPr txBox="1"/>
          <p:nvPr/>
        </p:nvSpPr>
        <p:spPr>
          <a:xfrm>
            <a:off x="676656" y="4398264"/>
            <a:ext cx="3072384" cy="635508"/>
          </a:xfrm>
          <a:prstGeom prst="rect">
            <a:avLst/>
          </a:prstGeom>
          <a:noFill/>
          <a:ln/>
        </p:spPr>
        <p:txBody>
          <a:bodyPr wrap="square" lIns="0" tIns="0" rIns="0" bIns="0" rtlCol="0" anchor="t"/>
          <a:lstStyle/>
          <a:p>
            <a:pPr algn="l" indent="0" marL="0">
              <a:lnSpc>
                <a:spcPct val="104000"/>
              </a:lnSpc>
              <a:buNone/>
            </a:pPr>
            <a:r>
              <a:rPr lang="en-US" sz="1800" b="1" dirty="0">
                <a:solidFill>
                  <a:srgbClr val="F4F7FB"/>
                </a:solidFill>
                <a:latin typeface="Arial" pitchFamily="34" charset="0"/>
                <a:ea typeface="Arial" pitchFamily="34" charset="-122"/>
                <a:cs typeface="Arial" pitchFamily="34" charset="-120"/>
              </a:rPr>
              <a:t>Dependency reasoning</a:t>
            </a:r>
            <a:endParaRPr lang="en-US" sz="1800" dirty="0"/>
          </a:p>
        </p:txBody>
      </p:sp>
      <p:sp>
        <p:nvSpPr>
          <p:cNvPr id="35" name="Shape 33"/>
          <p:cNvSpPr/>
          <p:nvPr/>
        </p:nvSpPr>
        <p:spPr>
          <a:xfrm>
            <a:off x="3877056" y="4347972"/>
            <a:ext cx="6009640" cy="726948"/>
          </a:xfrm>
          <a:prstGeom prst="rect">
            <a:avLst/>
          </a:prstGeom>
          <a:solidFill>
            <a:srgbClr val="0B1322"/>
          </a:solidFill>
          <a:ln w="8890">
            <a:solidFill>
              <a:srgbClr val="0B1322"/>
            </a:solidFill>
            <a:prstDash val="solid"/>
          </a:ln>
        </p:spPr>
        <p:txBody>
          <a:bodyPr/>
          <a:p/>
        </p:txBody>
      </p:sp>
      <p:sp>
        <p:nvSpPr>
          <p:cNvPr id="36" name="Text 34"/>
          <p:cNvSpPr txBox="1"/>
          <p:nvPr/>
        </p:nvSpPr>
        <p:spPr>
          <a:xfrm>
            <a:off x="4005072" y="4398264"/>
            <a:ext cx="5753608" cy="635508"/>
          </a:xfrm>
          <a:prstGeom prst="rect">
            <a:avLst/>
          </a:prstGeom>
          <a:noFill/>
          <a:ln/>
        </p:spPr>
        <p:txBody>
          <a:bodyPr wrap="square" lIns="0" tIns="0" rIns="0" bIns="0" rtlCol="0" anchor="t"/>
          <a:lstStyle/>
          <a:p>
            <a:pPr algn="l" indent="0" marL="0">
              <a:lnSpc>
                <a:spcPct val="104000"/>
              </a:lnSpc>
              <a:buNone/>
            </a:pPr>
            <a:r>
              <a:rPr lang="en-US" sz="1800" dirty="0">
                <a:solidFill>
                  <a:srgbClr val="B3C3D6"/>
                </a:solidFill>
                <a:latin typeface="Arial" pitchFamily="34" charset="0"/>
                <a:ea typeface="Arial" pitchFamily="34" charset="-122"/>
                <a:cs typeface="Arial" pitchFamily="34" charset="-120"/>
              </a:rPr>
              <a:t>Required rebuilds; observation versus guarantee</a:t>
            </a:r>
            <a:endParaRPr lang="en-US" sz="1800" dirty="0"/>
          </a:p>
        </p:txBody>
      </p:sp>
      <p:sp>
        <p:nvSpPr>
          <p:cNvPr id="37" name="Shape 35"/>
          <p:cNvSpPr/>
          <p:nvPr/>
        </p:nvSpPr>
        <p:spPr>
          <a:xfrm>
            <a:off x="9886696" y="4347972"/>
            <a:ext cx="1756664" cy="726948"/>
          </a:xfrm>
          <a:prstGeom prst="rect">
            <a:avLst/>
          </a:prstGeom>
          <a:solidFill>
            <a:srgbClr val="0B1322"/>
          </a:solidFill>
          <a:ln w="8890">
            <a:solidFill>
              <a:srgbClr val="0B1322"/>
            </a:solidFill>
            <a:prstDash val="solid"/>
          </a:ln>
        </p:spPr>
        <p:txBody>
          <a:bodyPr/>
          <a:p/>
        </p:txBody>
      </p:sp>
      <p:sp>
        <p:nvSpPr>
          <p:cNvPr id="38" name="Text 36"/>
          <p:cNvSpPr txBox="1"/>
          <p:nvPr/>
        </p:nvSpPr>
        <p:spPr>
          <a:xfrm>
            <a:off x="10014712" y="4398264"/>
            <a:ext cx="1500632" cy="635508"/>
          </a:xfrm>
          <a:prstGeom prst="rect">
            <a:avLst/>
          </a:prstGeom>
          <a:noFill/>
          <a:ln/>
        </p:spPr>
        <p:txBody>
          <a:bodyPr wrap="square" lIns="0" tIns="0" rIns="0" bIns="0" rtlCol="0" anchor="t"/>
          <a:lstStyle/>
          <a:p>
            <a:pPr algn="l" indent="0" marL="0">
              <a:lnSpc>
                <a:spcPct val="104000"/>
              </a:lnSpc>
              <a:buNone/>
            </a:pPr>
            <a:r>
              <a:rPr lang="en-US" sz="1800" dirty="0">
                <a:solidFill>
                  <a:srgbClr val="B3C3D6"/>
                </a:solidFill>
                <a:latin typeface="Arial" pitchFamily="34" charset="0"/>
                <a:ea typeface="Arial" pitchFamily="34" charset="-122"/>
                <a:cs typeface="Arial" pitchFamily="34" charset="-120"/>
              </a:rPr>
              <a:t>25%</a:t>
            </a:r>
            <a:endParaRPr lang="en-US" sz="1800" dirty="0"/>
          </a:p>
        </p:txBody>
      </p:sp>
      <p:sp>
        <p:nvSpPr>
          <p:cNvPr id="39" name="Shape 37"/>
          <p:cNvSpPr/>
          <p:nvPr/>
        </p:nvSpPr>
        <p:spPr>
          <a:xfrm>
            <a:off x="548640" y="5074920"/>
            <a:ext cx="11094720" cy="0"/>
          </a:xfrm>
          <a:prstGeom prst="line">
            <a:avLst/>
          </a:prstGeom>
          <a:noFill/>
          <a:ln w="12700">
            <a:solidFill>
              <a:srgbClr val="2B415A"/>
            </a:solidFill>
            <a:prstDash val="solid"/>
          </a:ln>
        </p:spPr>
        <p:txBody>
          <a:bodyPr/>
          <a:p/>
        </p:txBody>
      </p:sp>
      <p:sp>
        <p:nvSpPr>
          <p:cNvPr id="40" name="Text 38"/>
          <p:cNvSpPr txBox="1"/>
          <p:nvPr/>
        </p:nvSpPr>
        <p:spPr>
          <a:xfrm>
            <a:off x="548640" y="5193792"/>
            <a:ext cx="11094720" cy="274320"/>
          </a:xfrm>
          <a:prstGeom prst="rect">
            <a:avLst/>
          </a:prstGeom>
          <a:noFill/>
          <a:ln/>
        </p:spPr>
        <p:txBody>
          <a:bodyPr wrap="square" lIns="0" tIns="0" rIns="0" bIns="0" rtlCol="0" anchor="t"/>
          <a:lstStyle/>
          <a:p>
            <a:pPr algn="l" indent="0" marL="0">
              <a:lnSpc>
                <a:spcPct val="104000"/>
              </a:lnSpc>
              <a:buNone/>
            </a:pPr>
            <a:r>
              <a:rPr lang="en-US" sz="1140" dirty="0">
                <a:solidFill>
                  <a:srgbClr val="B3C3D6"/>
                </a:solidFill>
                <a:latin typeface="Arial" pitchFamily="34" charset="0"/>
                <a:ea typeface="Arial" pitchFamily="34" charset="-122"/>
                <a:cs typeface="Arial" pitchFamily="34" charset="-120"/>
              </a:rPr>
              <a:t>Graduate extension: suggested rubric. Do not turn a single successful run into a universal claim.</a:t>
            </a:r>
            <a:endParaRPr lang="en-US" sz="1140" dirty="0"/>
          </a:p>
        </p:txBody>
      </p:sp>
      <p:sp>
        <p:nvSpPr>
          <p:cNvPr id="45" name="Text 43"/>
          <p:cNvSpPr txBox="1"/>
          <p:nvPr/>
        </p:nvSpPr>
        <p:spPr>
          <a:xfrm>
            <a:off x="548640" y="6601968"/>
            <a:ext cx="10241280" cy="128016"/>
          </a:xfrm>
          <a:prstGeom prst="rect">
            <a:avLst/>
          </a:prstGeom>
          <a:noFill/>
          <a:ln/>
        </p:spPr>
        <p:txBody>
          <a:bodyPr wrap="square" lIns="0" tIns="0" rIns="0" bIns="0" rtlCol="0" anchor="t"/>
          <a:lstStyle/>
          <a:p>
            <a:pPr algn="l" indent="0" marL="0">
              <a:lnSpc>
                <a:spcPct val="104000"/>
              </a:lnSpc>
              <a:buNone/>
            </a:pPr>
            <a:r>
              <a:rPr lang="en-US" sz="830" dirty="0">
                <a:solidFill>
                  <a:srgbClr val="B3C3D6"/>
                </a:solidFill>
                <a:latin typeface="Arial" pitchFamily="34" charset="0"/>
                <a:ea typeface="Arial" pitchFamily="34" charset="-122"/>
                <a:cs typeface="Arial" pitchFamily="34" charset="-120"/>
              </a:rPr>
              <a:t>Source: original 20 • Graduate extension</a:t>
            </a:r>
            <a:endParaRPr lang="en-US" sz="830" dirty="0"/>
          </a:p>
        </p:txBody>
      </p:sp>
      <p:sp>
        <p:nvSpPr>
          <p:cNvPr id="46" name="Text 44"/>
          <p:cNvSpPr txBox="1"/>
          <p:nvPr/>
        </p:nvSpPr>
        <p:spPr>
          <a:xfrm>
            <a:off x="10917936" y="6565392"/>
            <a:ext cx="722376" cy="219456"/>
          </a:xfrm>
          <a:prstGeom prst="rect">
            <a:avLst/>
          </a:prstGeom>
          <a:noFill/>
          <a:ln/>
        </p:spPr>
        <p:txBody>
          <a:bodyPr wrap="square" lIns="0" tIns="0" rIns="0" bIns="0" rtlCol="0" anchor="t"/>
          <a:lstStyle/>
          <a:p>
            <a:pPr algn="r" indent="0" marL="0">
              <a:lnSpc>
                <a:spcPct val="104000"/>
              </a:lnSpc>
              <a:buNone/>
            </a:pPr>
            <a:r>
              <a:rPr lang="en-US" sz="1050" dirty="0">
                <a:solidFill>
                  <a:srgbClr val="B3C3D6"/>
                </a:solidFill>
                <a:latin typeface="Arial" pitchFamily="34" charset="0"/>
                <a:ea typeface="Arial" pitchFamily="34" charset="-122"/>
                <a:cs typeface="Arial" pitchFamily="34" charset="-120"/>
              </a:rPr>
              <a:t>55 / 64</a:t>
            </a:r>
            <a:endParaRPr lang="en-US" sz="1050" dirty="0"/>
          </a:p>
        </p:txBody>
      </p:sp>
      <p:sp>
        <p:nvSpPr>
          <p:cNvPr id="47" name="Shape 45"/>
          <p:cNvSpPr/>
          <p:nvPr/>
        </p:nvSpPr>
        <p:spPr>
          <a:xfrm>
            <a:off x="0" y="6834226"/>
            <a:ext cx="12192000" cy="23774"/>
          </a:xfrm>
          <a:prstGeom prst="rect">
            <a:avLst/>
          </a:prstGeom>
          <a:solidFill>
            <a:srgbClr val="2B415A"/>
          </a:solidFill>
          <a:ln w="8890">
            <a:solidFill>
              <a:srgbClr val="2B415A"/>
            </a:solidFill>
            <a:prstDash val="solid"/>
          </a:ln>
        </p:spPr>
        <p:txBody>
          <a:bodyPr/>
          <a:p/>
        </p:txBody>
      </p:sp>
      <p:sp>
        <p:nvSpPr>
          <p:cNvPr id="48" name="Shape 46"/>
          <p:cNvSpPr/>
          <p:nvPr/>
        </p:nvSpPr>
        <p:spPr>
          <a:xfrm>
            <a:off x="0" y="6834226"/>
            <a:ext cx="10477500" cy="23774"/>
          </a:xfrm>
          <a:prstGeom prst="rect">
            <a:avLst/>
          </a:prstGeom>
          <a:solidFill>
            <a:srgbClr val="71D5DD"/>
          </a:solidFill>
          <a:ln w="8890">
            <a:solidFill>
              <a:srgbClr val="71D5DD"/>
            </a:solidFill>
            <a:prstDash val="solid"/>
          </a:ln>
        </p:spPr>
        <p:txBody>
          <a:body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txBox="1"/>
          <p:nvPr/>
        </p:nvSpPr>
        <p:spPr>
          <a:xfrm>
            <a:off x="548640" y="219456"/>
            <a:ext cx="9875520" cy="192024"/>
          </a:xfrm>
          <a:prstGeom prst="rect">
            <a:avLst/>
          </a:prstGeom>
          <a:noFill/>
          <a:ln/>
        </p:spPr>
        <p:txBody>
          <a:bodyPr wrap="square" lIns="0" tIns="0" rIns="0" bIns="0" rtlCol="0" anchor="t"/>
          <a:lstStyle/>
          <a:p>
            <a:pPr algn="l" indent="0" marL="0">
              <a:lnSpc>
                <a:spcPct val="104000"/>
              </a:lnSpc>
              <a:buNone/>
            </a:pPr>
            <a:r>
              <a:rPr lang="en-US" sz="970" b="1" spc="135" kern="0" dirty="0">
                <a:solidFill>
                  <a:srgbClr val="B3C3D6"/>
                </a:solidFill>
                <a:latin typeface="Arial" pitchFamily="34" charset="0"/>
                <a:ea typeface="Arial" pitchFamily="34" charset="-122"/>
                <a:cs typeface="Arial" pitchFamily="34" charset="-120"/>
              </a:rPr>
              <a:t>SYSTEMS PROGRAMMING AND MACHINE ORGANIZATION</a:t>
            </a:r>
            <a:endParaRPr lang="en-US" sz="970" dirty="0"/>
          </a:p>
        </p:txBody>
      </p:sp>
      <p:sp>
        <p:nvSpPr>
          <p:cNvPr id="3" name="Text 1"/>
          <p:cNvSpPr txBox="1"/>
          <p:nvPr/>
        </p:nvSpPr>
        <p:spPr>
          <a:xfrm>
            <a:off x="9601200" y="219456"/>
            <a:ext cx="2039112" cy="192024"/>
          </a:xfrm>
          <a:prstGeom prst="rect">
            <a:avLst/>
          </a:prstGeom>
          <a:noFill/>
          <a:ln/>
        </p:spPr>
        <p:txBody>
          <a:bodyPr wrap="square" lIns="0" tIns="0" rIns="0" bIns="0" rtlCol="0" anchor="t"/>
          <a:lstStyle/>
          <a:p>
            <a:pPr algn="r" indent="0" marL="0">
              <a:lnSpc>
                <a:spcPct val="104000"/>
              </a:lnSpc>
              <a:buNone/>
            </a:pPr>
            <a:r>
              <a:rPr lang="en-US" sz="970" b="1" dirty="0">
                <a:solidFill>
                  <a:srgbClr val="B3C3D6"/>
                </a:solidFill>
                <a:latin typeface="Arial" pitchFamily="34" charset="0"/>
                <a:ea typeface="Arial" pitchFamily="34" charset="-122"/>
                <a:cs typeface="Arial" pitchFamily="34" charset="-120"/>
              </a:rPr>
              <a:t>CHARLES DORNER</a:t>
            </a:r>
            <a:endParaRPr lang="en-US" sz="970" dirty="0"/>
          </a:p>
        </p:txBody>
      </p:sp>
      <p:sp>
        <p:nvSpPr>
          <p:cNvPr id="4" name="Text 2"/>
          <p:cNvSpPr txBox="1"/>
          <p:nvPr/>
        </p:nvSpPr>
        <p:spPr>
          <a:xfrm>
            <a:off x="548640" y="566928"/>
            <a:ext cx="11109960" cy="237744"/>
          </a:xfrm>
          <a:prstGeom prst="rect">
            <a:avLst/>
          </a:prstGeom>
          <a:noFill/>
          <a:ln/>
        </p:spPr>
        <p:txBody>
          <a:bodyPr wrap="square" lIns="0" tIns="0" rIns="0" bIns="0" rtlCol="0" anchor="t"/>
          <a:lstStyle/>
          <a:p>
            <a:pPr algn="l" indent="0" marL="0">
              <a:lnSpc>
                <a:spcPct val="104000"/>
              </a:lnSpc>
              <a:buNone/>
            </a:pPr>
            <a:r>
              <a:rPr lang="en-US" sz="1150" b="1" dirty="0">
                <a:solidFill>
                  <a:srgbClr val="71D5DD"/>
                </a:solidFill>
                <a:latin typeface="Arial" pitchFamily="34" charset="0"/>
                <a:ea typeface="Arial" pitchFamily="34" charset="-122"/>
                <a:cs typeface="Arial" pitchFamily="34" charset="-120"/>
              </a:rPr>
              <a:t>ORIGINAL REVIEW QUESTION · RUNTIME GUARANTEES</a:t>
            </a:r>
            <a:endParaRPr lang="en-US" sz="1150" dirty="0"/>
          </a:p>
        </p:txBody>
      </p:sp>
      <p:sp>
        <p:nvSpPr>
          <p:cNvPr id="5" name="Text 3"/>
          <p:cNvSpPr txBox="1"/>
          <p:nvPr/>
        </p:nvSpPr>
        <p:spPr>
          <a:xfrm>
            <a:off x="548640" y="941832"/>
            <a:ext cx="11091672" cy="676656"/>
          </a:xfrm>
          <a:prstGeom prst="rect">
            <a:avLst/>
          </a:prstGeom>
          <a:noFill/>
          <a:ln/>
        </p:spPr>
        <p:txBody>
          <a:bodyPr wrap="square" lIns="0" tIns="0" rIns="0" bIns="0" rtlCol="0" anchor="t"/>
          <a:lstStyle/>
          <a:p>
            <a:pPr algn="l" indent="0" marL="0">
              <a:lnSpc>
                <a:spcPct val="104000"/>
              </a:lnSpc>
              <a:buNone/>
            </a:pPr>
            <a:r>
              <a:rPr lang="en-US" sz="3125" b="1" dirty="0">
                <a:solidFill>
                  <a:srgbClr val="F4F7FB"/>
                </a:solidFill>
                <a:latin typeface="Arial" pitchFamily="34" charset="0"/>
                <a:ea typeface="Arial" pitchFamily="34" charset="-122"/>
                <a:cs typeface="Arial" pitchFamily="34" charset="-120"/>
              </a:rPr>
              <a:t>Review 1: loaded successfully, but the file operation failed</a:t>
            </a:r>
            <a:endParaRPr lang="en-US" sz="3125" dirty="0"/>
          </a:p>
        </p:txBody>
      </p:sp>
      <p:sp>
        <p:nvSpPr>
          <p:cNvPr id="6" name="Text 4"/>
          <p:cNvSpPr txBox="1"/>
          <p:nvPr/>
        </p:nvSpPr>
        <p:spPr>
          <a:xfrm>
            <a:off x="548640" y="1764792"/>
            <a:ext cx="11091672" cy="896112"/>
          </a:xfrm>
          <a:prstGeom prst="rect">
            <a:avLst/>
          </a:prstGeom>
          <a:noFill/>
          <a:ln/>
        </p:spPr>
        <p:txBody>
          <a:bodyPr wrap="square" lIns="0" tIns="0" rIns="0" bIns="0" rtlCol="0" anchor="t"/>
          <a:lstStyle/>
          <a:p>
            <a:pPr algn="l" indent="0" marL="0">
              <a:lnSpc>
                <a:spcPct val="104000"/>
              </a:lnSpc>
              <a:buNone/>
            </a:pPr>
            <a:r>
              <a:rPr lang="en-US" sz="2550" b="1" dirty="0">
                <a:solidFill>
                  <a:srgbClr val="F1C984"/>
                </a:solidFill>
                <a:latin typeface="Arial" pitchFamily="34" charset="0"/>
                <a:ea typeface="Arial" pitchFamily="34" charset="-122"/>
                <a:cs typeface="Arial" pitchFamily="34" charset="-120"/>
              </a:rPr>
              <a:t>Why can an executable load successfully and still fail on its first file</a:t>
            </a:r>
            <a:endParaRPr lang="en-US" sz="2550" dirty="0"/>
          </a:p>
          <a:p>
            <a:pPr algn="l" indent="0" marL="0">
              <a:lnSpc>
                <a:spcPct val="104000"/>
              </a:lnSpc>
              <a:buNone/>
            </a:pPr>
            <a:r>
              <a:rPr lang="en-US" sz="2550" b="1" dirty="0">
                <a:solidFill>
                  <a:srgbClr val="F1C984"/>
                </a:solidFill>
                <a:latin typeface="Arial" pitchFamily="34" charset="0"/>
                <a:ea typeface="Arial" pitchFamily="34" charset="-122"/>
                <a:cs typeface="Arial" pitchFamily="34" charset="-120"/>
              </a:rPr>
              <a:t>operation?</a:t>
            </a:r>
            <a:endParaRPr lang="en-US" sz="2550" dirty="0"/>
          </a:p>
        </p:txBody>
      </p:sp>
      <p:sp>
        <p:nvSpPr>
          <p:cNvPr id="7" name="Shape 5"/>
          <p:cNvSpPr/>
          <p:nvPr/>
        </p:nvSpPr>
        <p:spPr>
          <a:xfrm>
            <a:off x="548640" y="2871216"/>
            <a:ext cx="5445252" cy="2203704"/>
          </a:xfrm>
          <a:prstGeom prst="rect">
            <a:avLst/>
          </a:prstGeom>
          <a:solidFill>
            <a:srgbClr val="142238"/>
          </a:solidFill>
          <a:ln w="8890">
            <a:solidFill>
              <a:srgbClr val="2B415A"/>
            </a:solidFill>
            <a:prstDash val="solid"/>
          </a:ln>
        </p:spPr>
        <p:txBody>
          <a:bodyPr/>
          <a:p/>
        </p:txBody>
      </p:sp>
      <p:sp>
        <p:nvSpPr>
          <p:cNvPr id="8" name="Shape 6"/>
          <p:cNvSpPr/>
          <p:nvPr/>
        </p:nvSpPr>
        <p:spPr>
          <a:xfrm>
            <a:off x="548640" y="2871216"/>
            <a:ext cx="41148" cy="2203704"/>
          </a:xfrm>
          <a:prstGeom prst="rect">
            <a:avLst/>
          </a:prstGeom>
          <a:solidFill>
            <a:srgbClr val="71D5DD"/>
          </a:solidFill>
          <a:ln w="8890">
            <a:solidFill>
              <a:srgbClr val="71D5DD"/>
            </a:solidFill>
            <a:prstDash val="solid"/>
          </a:ln>
        </p:spPr>
        <p:txBody>
          <a:bodyPr/>
          <a:p/>
        </p:txBody>
      </p:sp>
      <p:sp>
        <p:nvSpPr>
          <p:cNvPr id="9" name="Text 7"/>
          <p:cNvSpPr txBox="1"/>
          <p:nvPr/>
        </p:nvSpPr>
        <p:spPr>
          <a:xfrm>
            <a:off x="758952" y="3081528"/>
            <a:ext cx="5015484" cy="557784"/>
          </a:xfrm>
          <a:prstGeom prst="rect">
            <a:avLst/>
          </a:prstGeom>
          <a:noFill/>
          <a:ln/>
        </p:spPr>
        <p:txBody>
          <a:bodyPr wrap="square" lIns="0" tIns="0" rIns="0" bIns="0" rtlCol="0" anchor="t"/>
          <a:lstStyle/>
          <a:p>
            <a:pPr algn="l" indent="0" marL="0">
              <a:lnSpc>
                <a:spcPct val="104000"/>
              </a:lnSpc>
              <a:buNone/>
            </a:pPr>
            <a:r>
              <a:rPr lang="en-US" sz="1680" b="1" dirty="0">
                <a:solidFill>
                  <a:srgbClr val="71D5DD"/>
                </a:solidFill>
                <a:latin typeface="Arial" pitchFamily="34" charset="0"/>
                <a:ea typeface="Arial" pitchFamily="34" charset="-122"/>
                <a:cs typeface="Arial" pitchFamily="34" charset="-120"/>
              </a:rPr>
              <a:t>LOADER SUCCESS</a:t>
            </a:r>
            <a:endParaRPr lang="en-US" sz="1680" dirty="0"/>
          </a:p>
        </p:txBody>
      </p:sp>
      <p:sp>
        <p:nvSpPr>
          <p:cNvPr id="10" name="Text 8"/>
          <p:cNvSpPr txBox="1"/>
          <p:nvPr/>
        </p:nvSpPr>
        <p:spPr>
          <a:xfrm>
            <a:off x="758952" y="3749040"/>
            <a:ext cx="5015484" cy="1161288"/>
          </a:xfrm>
          <a:prstGeom prst="rect">
            <a:avLst/>
          </a:prstGeom>
          <a:noFill/>
          <a:ln/>
        </p:spPr>
        <p:txBody>
          <a:bodyPr wrap="square" lIns="0" tIns="0" rIns="0" bIns="0" rtlCol="0" anchor="t"/>
          <a:lstStyle/>
          <a:p>
            <a:pPr algn="l" indent="0" marL="0">
              <a:lnSpc>
                <a:spcPct val="104000"/>
              </a:lnSpc>
              <a:buNone/>
            </a:pPr>
            <a:r>
              <a:rPr lang="en-US" sz="2220" dirty="0">
                <a:solidFill>
                  <a:srgbClr val="F4F7FB"/>
                </a:solidFill>
                <a:latin typeface="Arial" pitchFamily="34" charset="0"/>
                <a:ea typeface="Arial" pitchFamily="34" charset="-122"/>
                <a:cs typeface="Arial" pitchFamily="34" charset="-120"/>
              </a:rPr>
              <a:t>The executable image and start</a:t>
            </a:r>
            <a:endParaRPr lang="en-US" sz="2220" dirty="0"/>
          </a:p>
          <a:p>
            <a:pPr algn="l" indent="0" marL="0">
              <a:lnSpc>
                <a:spcPct val="104000"/>
              </a:lnSpc>
              <a:buNone/>
            </a:pPr>
            <a:r>
              <a:rPr lang="en-US" sz="2220" dirty="0">
                <a:solidFill>
                  <a:srgbClr val="F4F7FB"/>
                </a:solidFill>
                <a:latin typeface="Arial" pitchFamily="34" charset="0"/>
                <a:ea typeface="Arial" pitchFamily="34" charset="-122"/>
                <a:cs typeface="Arial" pitchFamily="34" charset="-120"/>
              </a:rPr>
              <a:t>conditions were established.</a:t>
            </a:r>
            <a:endParaRPr lang="en-US" sz="2220" dirty="0"/>
          </a:p>
        </p:txBody>
      </p:sp>
      <p:sp>
        <p:nvSpPr>
          <p:cNvPr id="11" name="Shape 9"/>
          <p:cNvSpPr/>
          <p:nvPr/>
        </p:nvSpPr>
        <p:spPr>
          <a:xfrm>
            <a:off x="6195060" y="2871216"/>
            <a:ext cx="5445252" cy="2203704"/>
          </a:xfrm>
          <a:prstGeom prst="rect">
            <a:avLst/>
          </a:prstGeom>
          <a:solidFill>
            <a:srgbClr val="142238"/>
          </a:solidFill>
          <a:ln w="8890">
            <a:solidFill>
              <a:srgbClr val="2B415A"/>
            </a:solidFill>
            <a:prstDash val="solid"/>
          </a:ln>
        </p:spPr>
        <p:txBody>
          <a:bodyPr/>
          <a:p/>
        </p:txBody>
      </p:sp>
      <p:sp>
        <p:nvSpPr>
          <p:cNvPr id="12" name="Shape 10"/>
          <p:cNvSpPr/>
          <p:nvPr/>
        </p:nvSpPr>
        <p:spPr>
          <a:xfrm>
            <a:off x="6195060" y="2871216"/>
            <a:ext cx="41148" cy="2203704"/>
          </a:xfrm>
          <a:prstGeom prst="rect">
            <a:avLst/>
          </a:prstGeom>
          <a:solidFill>
            <a:srgbClr val="71D5DD"/>
          </a:solidFill>
          <a:ln w="8890">
            <a:solidFill>
              <a:srgbClr val="71D5DD"/>
            </a:solidFill>
            <a:prstDash val="solid"/>
          </a:ln>
        </p:spPr>
        <p:txBody>
          <a:bodyPr/>
          <a:p/>
        </p:txBody>
      </p:sp>
      <p:sp>
        <p:nvSpPr>
          <p:cNvPr id="13" name="Text 11"/>
          <p:cNvSpPr txBox="1"/>
          <p:nvPr/>
        </p:nvSpPr>
        <p:spPr>
          <a:xfrm>
            <a:off x="6405372" y="3081528"/>
            <a:ext cx="5015484" cy="557784"/>
          </a:xfrm>
          <a:prstGeom prst="rect">
            <a:avLst/>
          </a:prstGeom>
          <a:noFill/>
          <a:ln/>
        </p:spPr>
        <p:txBody>
          <a:bodyPr wrap="square" lIns="0" tIns="0" rIns="0" bIns="0" rtlCol="0" anchor="t"/>
          <a:lstStyle/>
          <a:p>
            <a:pPr algn="l" indent="0" marL="0">
              <a:lnSpc>
                <a:spcPct val="104000"/>
              </a:lnSpc>
              <a:buNone/>
            </a:pPr>
            <a:r>
              <a:rPr lang="en-US" sz="1680" b="1" dirty="0">
                <a:solidFill>
                  <a:srgbClr val="71D5DD"/>
                </a:solidFill>
                <a:latin typeface="Arial" pitchFamily="34" charset="0"/>
                <a:ea typeface="Arial" pitchFamily="34" charset="-122"/>
                <a:cs typeface="Arial" pitchFamily="34" charset="-120"/>
              </a:rPr>
              <a:t>RUNTIME OPERATION</a:t>
            </a:r>
            <a:endParaRPr lang="en-US" sz="1680" dirty="0"/>
          </a:p>
        </p:txBody>
      </p:sp>
      <p:sp>
        <p:nvSpPr>
          <p:cNvPr id="14" name="Text 12"/>
          <p:cNvSpPr txBox="1"/>
          <p:nvPr/>
        </p:nvSpPr>
        <p:spPr>
          <a:xfrm>
            <a:off x="6405372" y="3749040"/>
            <a:ext cx="5015484" cy="1161288"/>
          </a:xfrm>
          <a:prstGeom prst="rect">
            <a:avLst/>
          </a:prstGeom>
          <a:noFill/>
          <a:ln/>
        </p:spPr>
        <p:txBody>
          <a:bodyPr wrap="square" lIns="0" tIns="0" rIns="0" bIns="0" rtlCol="0" anchor="t"/>
          <a:lstStyle/>
          <a:p>
            <a:pPr algn="l" indent="0" marL="0">
              <a:lnSpc>
                <a:spcPct val="104000"/>
              </a:lnSpc>
              <a:buNone/>
            </a:pPr>
            <a:r>
              <a:rPr lang="en-US" sz="2220" dirty="0">
                <a:solidFill>
                  <a:srgbClr val="F4F7FB"/>
                </a:solidFill>
                <a:latin typeface="Arial" pitchFamily="34" charset="0"/>
                <a:ea typeface="Arial" pitchFamily="34" charset="-122"/>
                <a:cs typeface="Arial" pitchFamily="34" charset="-120"/>
              </a:rPr>
              <a:t>The requested file and access</a:t>
            </a:r>
            <a:endParaRPr lang="en-US" sz="2220" dirty="0"/>
          </a:p>
          <a:p>
            <a:pPr algn="l" indent="0" marL="0">
              <a:lnSpc>
                <a:spcPct val="104000"/>
              </a:lnSpc>
              <a:buNone/>
            </a:pPr>
            <a:r>
              <a:rPr lang="en-US" sz="2220" dirty="0">
                <a:solidFill>
                  <a:srgbClr val="F4F7FB"/>
                </a:solidFill>
                <a:latin typeface="Arial" pitchFamily="34" charset="0"/>
                <a:ea typeface="Arial" pitchFamily="34" charset="-122"/>
                <a:cs typeface="Arial" pitchFamily="34" charset="-120"/>
              </a:rPr>
              <a:t>conditions are separate obligations.</a:t>
            </a:r>
            <a:endParaRPr lang="en-US" sz="2220" dirty="0"/>
          </a:p>
        </p:txBody>
      </p:sp>
      <p:sp>
        <p:nvSpPr>
          <p:cNvPr id="15" name="Text 13"/>
          <p:cNvSpPr txBox="1"/>
          <p:nvPr/>
        </p:nvSpPr>
        <p:spPr>
          <a:xfrm>
            <a:off x="548640" y="5193792"/>
            <a:ext cx="11094720" cy="274320"/>
          </a:xfrm>
          <a:prstGeom prst="rect">
            <a:avLst/>
          </a:prstGeom>
          <a:noFill/>
          <a:ln/>
        </p:spPr>
        <p:txBody>
          <a:bodyPr wrap="square" lIns="0" tIns="0" rIns="0" bIns="0" rtlCol="0" anchor="t"/>
          <a:lstStyle/>
          <a:p>
            <a:pPr algn="l" indent="0" marL="0">
              <a:lnSpc>
                <a:spcPct val="104000"/>
              </a:lnSpc>
              <a:buNone/>
            </a:pPr>
            <a:r>
              <a:rPr lang="en-US" sz="1140" dirty="0">
                <a:solidFill>
                  <a:srgbClr val="B3C3D6"/>
                </a:solidFill>
                <a:latin typeface="Arial" pitchFamily="34" charset="0"/>
                <a:ea typeface="Arial" pitchFamily="34" charset="-122"/>
                <a:cs typeface="Arial" pitchFamily="34" charset="-120"/>
              </a:rPr>
              <a:t>Diagnose the operation’s actual result. A missing file or denied access is a possibility—not an automatic conclusion.</a:t>
            </a:r>
            <a:endParaRPr lang="en-US" sz="1140" dirty="0"/>
          </a:p>
        </p:txBody>
      </p:sp>
      <p:sp>
        <p:nvSpPr>
          <p:cNvPr id="20" name="Text 18"/>
          <p:cNvSpPr txBox="1"/>
          <p:nvPr/>
        </p:nvSpPr>
        <p:spPr>
          <a:xfrm>
            <a:off x="548640" y="6601968"/>
            <a:ext cx="10241280" cy="128016"/>
          </a:xfrm>
          <a:prstGeom prst="rect">
            <a:avLst/>
          </a:prstGeom>
          <a:noFill/>
          <a:ln/>
        </p:spPr>
        <p:txBody>
          <a:bodyPr wrap="square" lIns="0" tIns="0" rIns="0" bIns="0" rtlCol="0" anchor="t"/>
          <a:lstStyle/>
          <a:p>
            <a:pPr algn="l" indent="0" marL="0">
              <a:lnSpc>
                <a:spcPct val="104000"/>
              </a:lnSpc>
              <a:buNone/>
            </a:pPr>
            <a:r>
              <a:rPr lang="en-US" sz="830" dirty="0">
                <a:solidFill>
                  <a:srgbClr val="B3C3D6"/>
                </a:solidFill>
                <a:latin typeface="Arial" pitchFamily="34" charset="0"/>
                <a:ea typeface="Arial" pitchFamily="34" charset="-122"/>
                <a:cs typeface="Arial" pitchFamily="34" charset="-120"/>
              </a:rPr>
              <a:t>Source: original 21 • [EXEC]</a:t>
            </a:r>
            <a:endParaRPr lang="en-US" sz="830" dirty="0"/>
          </a:p>
        </p:txBody>
      </p:sp>
      <p:sp>
        <p:nvSpPr>
          <p:cNvPr id="21" name="Text 19"/>
          <p:cNvSpPr txBox="1"/>
          <p:nvPr/>
        </p:nvSpPr>
        <p:spPr>
          <a:xfrm>
            <a:off x="10917936" y="6565392"/>
            <a:ext cx="722376" cy="219456"/>
          </a:xfrm>
          <a:prstGeom prst="rect">
            <a:avLst/>
          </a:prstGeom>
          <a:noFill/>
          <a:ln/>
        </p:spPr>
        <p:txBody>
          <a:bodyPr wrap="square" lIns="0" tIns="0" rIns="0" bIns="0" rtlCol="0" anchor="t"/>
          <a:lstStyle/>
          <a:p>
            <a:pPr algn="r" indent="0" marL="0">
              <a:lnSpc>
                <a:spcPct val="104000"/>
              </a:lnSpc>
              <a:buNone/>
            </a:pPr>
            <a:r>
              <a:rPr lang="en-US" sz="1050" dirty="0">
                <a:solidFill>
                  <a:srgbClr val="B3C3D6"/>
                </a:solidFill>
                <a:latin typeface="Arial" pitchFamily="34" charset="0"/>
                <a:ea typeface="Arial" pitchFamily="34" charset="-122"/>
                <a:cs typeface="Arial" pitchFamily="34" charset="-120"/>
              </a:rPr>
              <a:t>56 / 64</a:t>
            </a:r>
            <a:endParaRPr lang="en-US" sz="1050" dirty="0"/>
          </a:p>
        </p:txBody>
      </p:sp>
      <p:sp>
        <p:nvSpPr>
          <p:cNvPr id="22" name="Shape 20"/>
          <p:cNvSpPr/>
          <p:nvPr/>
        </p:nvSpPr>
        <p:spPr>
          <a:xfrm>
            <a:off x="0" y="6834226"/>
            <a:ext cx="12192000" cy="23774"/>
          </a:xfrm>
          <a:prstGeom prst="rect">
            <a:avLst/>
          </a:prstGeom>
          <a:solidFill>
            <a:srgbClr val="2B415A"/>
          </a:solidFill>
          <a:ln w="8890">
            <a:solidFill>
              <a:srgbClr val="2B415A"/>
            </a:solidFill>
            <a:prstDash val="solid"/>
          </a:ln>
        </p:spPr>
        <p:txBody>
          <a:bodyPr/>
          <a:p/>
        </p:txBody>
      </p:sp>
      <p:sp>
        <p:nvSpPr>
          <p:cNvPr id="23" name="Shape 21"/>
          <p:cNvSpPr/>
          <p:nvPr/>
        </p:nvSpPr>
        <p:spPr>
          <a:xfrm>
            <a:off x="0" y="6834226"/>
            <a:ext cx="10668000" cy="23774"/>
          </a:xfrm>
          <a:prstGeom prst="rect">
            <a:avLst/>
          </a:prstGeom>
          <a:solidFill>
            <a:srgbClr val="71D5DD"/>
          </a:solidFill>
          <a:ln w="8890">
            <a:solidFill>
              <a:srgbClr val="71D5DD"/>
            </a:solidFill>
            <a:prstDash val="solid"/>
          </a:ln>
        </p:spPr>
        <p:txBody>
          <a:body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txBox="1"/>
          <p:nvPr/>
        </p:nvSpPr>
        <p:spPr>
          <a:xfrm>
            <a:off x="548640" y="219456"/>
            <a:ext cx="9875520" cy="192024"/>
          </a:xfrm>
          <a:prstGeom prst="rect">
            <a:avLst/>
          </a:prstGeom>
          <a:noFill/>
          <a:ln/>
        </p:spPr>
        <p:txBody>
          <a:bodyPr wrap="square" lIns="0" tIns="0" rIns="0" bIns="0" rtlCol="0" anchor="t"/>
          <a:lstStyle/>
          <a:p>
            <a:pPr algn="l" indent="0" marL="0">
              <a:lnSpc>
                <a:spcPct val="104000"/>
              </a:lnSpc>
              <a:buNone/>
            </a:pPr>
            <a:r>
              <a:rPr lang="en-US" sz="970" b="1" spc="135" kern="0" dirty="0">
                <a:solidFill>
                  <a:srgbClr val="B3C3D6"/>
                </a:solidFill>
                <a:latin typeface="Arial" pitchFamily="34" charset="0"/>
                <a:ea typeface="Arial" pitchFamily="34" charset="-122"/>
                <a:cs typeface="Arial" pitchFamily="34" charset="-120"/>
              </a:rPr>
              <a:t>SYSTEMS PROGRAMMING AND MACHINE ORGANIZATION</a:t>
            </a:r>
            <a:endParaRPr lang="en-US" sz="970" dirty="0"/>
          </a:p>
        </p:txBody>
      </p:sp>
      <p:sp>
        <p:nvSpPr>
          <p:cNvPr id="3" name="Text 1"/>
          <p:cNvSpPr txBox="1"/>
          <p:nvPr/>
        </p:nvSpPr>
        <p:spPr>
          <a:xfrm>
            <a:off x="9601200" y="219456"/>
            <a:ext cx="2039112" cy="192024"/>
          </a:xfrm>
          <a:prstGeom prst="rect">
            <a:avLst/>
          </a:prstGeom>
          <a:noFill/>
          <a:ln/>
        </p:spPr>
        <p:txBody>
          <a:bodyPr wrap="square" lIns="0" tIns="0" rIns="0" bIns="0" rtlCol="0" anchor="t"/>
          <a:lstStyle/>
          <a:p>
            <a:pPr algn="r" indent="0" marL="0">
              <a:lnSpc>
                <a:spcPct val="104000"/>
              </a:lnSpc>
              <a:buNone/>
            </a:pPr>
            <a:r>
              <a:rPr lang="en-US" sz="970" b="1" dirty="0">
                <a:solidFill>
                  <a:srgbClr val="B3C3D6"/>
                </a:solidFill>
                <a:latin typeface="Arial" pitchFamily="34" charset="0"/>
                <a:ea typeface="Arial" pitchFamily="34" charset="-122"/>
                <a:cs typeface="Arial" pitchFamily="34" charset="-120"/>
              </a:rPr>
              <a:t>CHARLES DORNER</a:t>
            </a:r>
            <a:endParaRPr lang="en-US" sz="970" dirty="0"/>
          </a:p>
        </p:txBody>
      </p:sp>
      <p:sp>
        <p:nvSpPr>
          <p:cNvPr id="4" name="Text 2"/>
          <p:cNvSpPr txBox="1"/>
          <p:nvPr/>
        </p:nvSpPr>
        <p:spPr>
          <a:xfrm>
            <a:off x="548640" y="566928"/>
            <a:ext cx="11109960" cy="237744"/>
          </a:xfrm>
          <a:prstGeom prst="rect">
            <a:avLst/>
          </a:prstGeom>
          <a:noFill/>
          <a:ln/>
        </p:spPr>
        <p:txBody>
          <a:bodyPr wrap="square" lIns="0" tIns="0" rIns="0" bIns="0" rtlCol="0" anchor="t"/>
          <a:lstStyle/>
          <a:p>
            <a:pPr algn="l" indent="0" marL="0">
              <a:lnSpc>
                <a:spcPct val="104000"/>
              </a:lnSpc>
              <a:buNone/>
            </a:pPr>
            <a:r>
              <a:rPr lang="en-US" sz="1150" b="1" dirty="0">
                <a:solidFill>
                  <a:srgbClr val="71D5DD"/>
                </a:solidFill>
                <a:latin typeface="Arial" pitchFamily="34" charset="0"/>
                <a:ea typeface="Arial" pitchFamily="34" charset="-122"/>
                <a:cs typeface="Arial" pitchFamily="34" charset="-120"/>
              </a:rPr>
              <a:t>ORIGINAL REVIEW QUESTION · DEFINED BEHAVIOR</a:t>
            </a:r>
            <a:endParaRPr lang="en-US" sz="1150" dirty="0"/>
          </a:p>
        </p:txBody>
      </p:sp>
      <p:sp>
        <p:nvSpPr>
          <p:cNvPr id="5" name="Text 3"/>
          <p:cNvSpPr txBox="1"/>
          <p:nvPr/>
        </p:nvSpPr>
        <p:spPr>
          <a:xfrm>
            <a:off x="548640" y="941832"/>
            <a:ext cx="11091672" cy="676656"/>
          </a:xfrm>
          <a:prstGeom prst="rect">
            <a:avLst/>
          </a:prstGeom>
          <a:noFill/>
          <a:ln/>
        </p:spPr>
        <p:txBody>
          <a:bodyPr wrap="square" lIns="0" tIns="0" rIns="0" bIns="0" rtlCol="0" anchor="t"/>
          <a:lstStyle/>
          <a:p>
            <a:pPr algn="l" indent="0" marL="0">
              <a:lnSpc>
                <a:spcPct val="104000"/>
              </a:lnSpc>
              <a:buNone/>
            </a:pPr>
            <a:r>
              <a:rPr lang="en-US" sz="3150" b="1" dirty="0">
                <a:solidFill>
                  <a:srgbClr val="F4F7FB"/>
                </a:solidFill>
                <a:latin typeface="Arial" pitchFamily="34" charset="0"/>
                <a:ea typeface="Arial" pitchFamily="34" charset="-122"/>
                <a:cs typeface="Arial" pitchFamily="34" charset="-120"/>
              </a:rPr>
              <a:t>Review 2: correct output with an out-of-bounds read</a:t>
            </a:r>
            <a:endParaRPr lang="en-US" sz="3150" dirty="0"/>
          </a:p>
        </p:txBody>
      </p:sp>
      <p:sp>
        <p:nvSpPr>
          <p:cNvPr id="6" name="Text 4"/>
          <p:cNvSpPr txBox="1"/>
          <p:nvPr/>
        </p:nvSpPr>
        <p:spPr>
          <a:xfrm>
            <a:off x="548640" y="1764792"/>
            <a:ext cx="11091672" cy="896112"/>
          </a:xfrm>
          <a:prstGeom prst="rect">
            <a:avLst/>
          </a:prstGeom>
          <a:noFill/>
          <a:ln/>
        </p:spPr>
        <p:txBody>
          <a:bodyPr wrap="square" lIns="0" tIns="0" rIns="0" bIns="0" rtlCol="0" anchor="t"/>
          <a:lstStyle/>
          <a:p>
            <a:pPr algn="l" indent="0" marL="0">
              <a:lnSpc>
                <a:spcPct val="104000"/>
              </a:lnSpc>
              <a:buNone/>
            </a:pPr>
            <a:r>
              <a:rPr lang="en-US" sz="2550" b="1" dirty="0">
                <a:solidFill>
                  <a:srgbClr val="F1C984"/>
                </a:solidFill>
                <a:latin typeface="Arial" pitchFamily="34" charset="0"/>
                <a:ea typeface="Arial" pitchFamily="34" charset="-122"/>
                <a:cs typeface="Arial" pitchFamily="34" charset="-120"/>
              </a:rPr>
              <a:t>A program prints the right number once but reads beyond an array</a:t>
            </a:r>
            <a:endParaRPr lang="en-US" sz="2550" dirty="0"/>
          </a:p>
          <a:p>
            <a:pPr algn="l" indent="0" marL="0">
              <a:lnSpc>
                <a:spcPct val="104000"/>
              </a:lnSpc>
              <a:buNone/>
            </a:pPr>
            <a:r>
              <a:rPr lang="en-US" sz="2550" b="1" dirty="0">
                <a:solidFill>
                  <a:srgbClr val="F1C984"/>
                </a:solidFill>
                <a:latin typeface="Arial" pitchFamily="34" charset="0"/>
                <a:ea typeface="Arial" pitchFamily="34" charset="-122"/>
                <a:cs typeface="Arial" pitchFamily="34" charset="-120"/>
              </a:rPr>
              <a:t>boundary. Is that language-level correctness?</a:t>
            </a:r>
            <a:endParaRPr lang="en-US" sz="2550" dirty="0"/>
          </a:p>
        </p:txBody>
      </p:sp>
      <p:sp>
        <p:nvSpPr>
          <p:cNvPr id="7" name="Shape 5"/>
          <p:cNvSpPr/>
          <p:nvPr/>
        </p:nvSpPr>
        <p:spPr>
          <a:xfrm>
            <a:off x="548640" y="2871216"/>
            <a:ext cx="5445252" cy="2203704"/>
          </a:xfrm>
          <a:prstGeom prst="rect">
            <a:avLst/>
          </a:prstGeom>
          <a:solidFill>
            <a:srgbClr val="142238"/>
          </a:solidFill>
          <a:ln w="8890">
            <a:solidFill>
              <a:srgbClr val="2B415A"/>
            </a:solidFill>
            <a:prstDash val="solid"/>
          </a:ln>
        </p:spPr>
        <p:txBody>
          <a:bodyPr/>
          <a:p/>
        </p:txBody>
      </p:sp>
      <p:sp>
        <p:nvSpPr>
          <p:cNvPr id="8" name="Shape 6"/>
          <p:cNvSpPr/>
          <p:nvPr/>
        </p:nvSpPr>
        <p:spPr>
          <a:xfrm>
            <a:off x="548640" y="2871216"/>
            <a:ext cx="41148" cy="2203704"/>
          </a:xfrm>
          <a:prstGeom prst="rect">
            <a:avLst/>
          </a:prstGeom>
          <a:solidFill>
            <a:srgbClr val="71D5DD"/>
          </a:solidFill>
          <a:ln w="8890">
            <a:solidFill>
              <a:srgbClr val="71D5DD"/>
            </a:solidFill>
            <a:prstDash val="solid"/>
          </a:ln>
        </p:spPr>
        <p:txBody>
          <a:bodyPr/>
          <a:p/>
        </p:txBody>
      </p:sp>
      <p:sp>
        <p:nvSpPr>
          <p:cNvPr id="9" name="Text 7"/>
          <p:cNvSpPr txBox="1"/>
          <p:nvPr/>
        </p:nvSpPr>
        <p:spPr>
          <a:xfrm>
            <a:off x="758952" y="3081528"/>
            <a:ext cx="5015484" cy="557784"/>
          </a:xfrm>
          <a:prstGeom prst="rect">
            <a:avLst/>
          </a:prstGeom>
          <a:noFill/>
          <a:ln/>
        </p:spPr>
        <p:txBody>
          <a:bodyPr wrap="square" lIns="0" tIns="0" rIns="0" bIns="0" rtlCol="0" anchor="t"/>
          <a:lstStyle/>
          <a:p>
            <a:pPr algn="l" indent="0" marL="0">
              <a:lnSpc>
                <a:spcPct val="104000"/>
              </a:lnSpc>
              <a:buNone/>
            </a:pPr>
            <a:r>
              <a:rPr lang="en-US" sz="1680" b="1" dirty="0">
                <a:solidFill>
                  <a:srgbClr val="71D5DD"/>
                </a:solidFill>
                <a:latin typeface="Arial" pitchFamily="34" charset="0"/>
                <a:ea typeface="Arial" pitchFamily="34" charset="-122"/>
                <a:cs typeface="Arial" pitchFamily="34" charset="-120"/>
              </a:rPr>
              <a:t>OBSERVATION</a:t>
            </a:r>
            <a:endParaRPr lang="en-US" sz="1680" dirty="0"/>
          </a:p>
        </p:txBody>
      </p:sp>
      <p:sp>
        <p:nvSpPr>
          <p:cNvPr id="10" name="Text 8"/>
          <p:cNvSpPr txBox="1"/>
          <p:nvPr/>
        </p:nvSpPr>
        <p:spPr>
          <a:xfrm>
            <a:off x="758952" y="3749040"/>
            <a:ext cx="5015484" cy="1161288"/>
          </a:xfrm>
          <a:prstGeom prst="rect">
            <a:avLst/>
          </a:prstGeom>
          <a:noFill/>
          <a:ln/>
        </p:spPr>
        <p:txBody>
          <a:bodyPr wrap="square" lIns="0" tIns="0" rIns="0" bIns="0" rtlCol="0" anchor="t"/>
          <a:lstStyle/>
          <a:p>
            <a:pPr algn="l" indent="0" marL="0">
              <a:lnSpc>
                <a:spcPct val="104000"/>
              </a:lnSpc>
              <a:buNone/>
            </a:pPr>
            <a:r>
              <a:rPr lang="en-US" sz="2220" dirty="0">
                <a:solidFill>
                  <a:srgbClr val="F4F7FB"/>
                </a:solidFill>
                <a:latin typeface="Arial" pitchFamily="34" charset="0"/>
                <a:ea typeface="Arial" pitchFamily="34" charset="-122"/>
                <a:cs typeface="Arial" pitchFamily="34" charset="-120"/>
              </a:rPr>
              <a:t>The run printed the expected value.</a:t>
            </a:r>
            <a:endParaRPr lang="en-US" sz="2220" dirty="0"/>
          </a:p>
        </p:txBody>
      </p:sp>
      <p:sp>
        <p:nvSpPr>
          <p:cNvPr id="11" name="Shape 9"/>
          <p:cNvSpPr/>
          <p:nvPr/>
        </p:nvSpPr>
        <p:spPr>
          <a:xfrm>
            <a:off x="6195060" y="2871216"/>
            <a:ext cx="5445252" cy="2203704"/>
          </a:xfrm>
          <a:prstGeom prst="rect">
            <a:avLst/>
          </a:prstGeom>
          <a:solidFill>
            <a:srgbClr val="142238"/>
          </a:solidFill>
          <a:ln w="8890">
            <a:solidFill>
              <a:srgbClr val="2B415A"/>
            </a:solidFill>
            <a:prstDash val="solid"/>
          </a:ln>
        </p:spPr>
        <p:txBody>
          <a:bodyPr/>
          <a:p/>
        </p:txBody>
      </p:sp>
      <p:sp>
        <p:nvSpPr>
          <p:cNvPr id="12" name="Shape 10"/>
          <p:cNvSpPr/>
          <p:nvPr/>
        </p:nvSpPr>
        <p:spPr>
          <a:xfrm>
            <a:off x="6195060" y="2871216"/>
            <a:ext cx="41148" cy="2203704"/>
          </a:xfrm>
          <a:prstGeom prst="rect">
            <a:avLst/>
          </a:prstGeom>
          <a:solidFill>
            <a:srgbClr val="71D5DD"/>
          </a:solidFill>
          <a:ln w="8890">
            <a:solidFill>
              <a:srgbClr val="71D5DD"/>
            </a:solidFill>
            <a:prstDash val="solid"/>
          </a:ln>
        </p:spPr>
        <p:txBody>
          <a:bodyPr/>
          <a:p/>
        </p:txBody>
      </p:sp>
      <p:sp>
        <p:nvSpPr>
          <p:cNvPr id="13" name="Text 11"/>
          <p:cNvSpPr txBox="1"/>
          <p:nvPr/>
        </p:nvSpPr>
        <p:spPr>
          <a:xfrm>
            <a:off x="6405372" y="3081528"/>
            <a:ext cx="5015484" cy="557784"/>
          </a:xfrm>
          <a:prstGeom prst="rect">
            <a:avLst/>
          </a:prstGeom>
          <a:noFill/>
          <a:ln/>
        </p:spPr>
        <p:txBody>
          <a:bodyPr wrap="square" lIns="0" tIns="0" rIns="0" bIns="0" rtlCol="0" anchor="t"/>
          <a:lstStyle/>
          <a:p>
            <a:pPr algn="l" indent="0" marL="0">
              <a:lnSpc>
                <a:spcPct val="104000"/>
              </a:lnSpc>
              <a:buNone/>
            </a:pPr>
            <a:r>
              <a:rPr lang="en-US" sz="1680" b="1" dirty="0">
                <a:solidFill>
                  <a:srgbClr val="71D5DD"/>
                </a:solidFill>
                <a:latin typeface="Arial" pitchFamily="34" charset="0"/>
                <a:ea typeface="Arial" pitchFamily="34" charset="-122"/>
                <a:cs typeface="Arial" pitchFamily="34" charset="-120"/>
              </a:rPr>
              <a:t>CONTRACT VIOLATION</a:t>
            </a:r>
            <a:endParaRPr lang="en-US" sz="1680" dirty="0"/>
          </a:p>
        </p:txBody>
      </p:sp>
      <p:sp>
        <p:nvSpPr>
          <p:cNvPr id="14" name="Text 12"/>
          <p:cNvSpPr txBox="1"/>
          <p:nvPr/>
        </p:nvSpPr>
        <p:spPr>
          <a:xfrm>
            <a:off x="6405372" y="3749040"/>
            <a:ext cx="5015484" cy="1161288"/>
          </a:xfrm>
          <a:prstGeom prst="rect">
            <a:avLst/>
          </a:prstGeom>
          <a:noFill/>
          <a:ln/>
        </p:spPr>
        <p:txBody>
          <a:bodyPr wrap="square" lIns="0" tIns="0" rIns="0" bIns="0" rtlCol="0" anchor="t"/>
          <a:lstStyle/>
          <a:p>
            <a:pPr algn="l" indent="0" marL="0">
              <a:lnSpc>
                <a:spcPct val="104000"/>
              </a:lnSpc>
              <a:buNone/>
            </a:pPr>
            <a:r>
              <a:rPr lang="en-US" sz="2220" dirty="0">
                <a:solidFill>
                  <a:srgbClr val="F4F7FB"/>
                </a:solidFill>
                <a:latin typeface="Arial" pitchFamily="34" charset="0"/>
                <a:ea typeface="Arial" pitchFamily="34" charset="-122"/>
                <a:cs typeface="Arial" pitchFamily="34" charset="-120"/>
              </a:rPr>
              <a:t>The read was outside the array’s</a:t>
            </a:r>
            <a:endParaRPr lang="en-US" sz="2220" dirty="0"/>
          </a:p>
          <a:p>
            <a:pPr algn="l" indent="0" marL="0">
              <a:lnSpc>
                <a:spcPct val="104000"/>
              </a:lnSpc>
              <a:buNone/>
            </a:pPr>
            <a:r>
              <a:rPr lang="en-US" sz="2220" dirty="0">
                <a:solidFill>
                  <a:srgbClr val="F4F7FB"/>
                </a:solidFill>
                <a:latin typeface="Arial" pitchFamily="34" charset="0"/>
                <a:ea typeface="Arial" pitchFamily="34" charset="-122"/>
                <a:cs typeface="Arial" pitchFamily="34" charset="-120"/>
              </a:rPr>
              <a:t>permitted range.</a:t>
            </a:r>
            <a:endParaRPr lang="en-US" sz="2220" dirty="0"/>
          </a:p>
        </p:txBody>
      </p:sp>
      <p:sp>
        <p:nvSpPr>
          <p:cNvPr id="15" name="Text 13"/>
          <p:cNvSpPr txBox="1"/>
          <p:nvPr/>
        </p:nvSpPr>
        <p:spPr>
          <a:xfrm>
            <a:off x="548640" y="5193792"/>
            <a:ext cx="11094720" cy="274320"/>
          </a:xfrm>
          <a:prstGeom prst="rect">
            <a:avLst/>
          </a:prstGeom>
          <a:noFill/>
          <a:ln/>
        </p:spPr>
        <p:txBody>
          <a:bodyPr wrap="square" lIns="0" tIns="0" rIns="0" bIns="0" rtlCol="0" anchor="t"/>
          <a:lstStyle/>
          <a:p>
            <a:pPr algn="l" indent="0" marL="0">
              <a:lnSpc>
                <a:spcPct val="104000"/>
              </a:lnSpc>
              <a:buNone/>
            </a:pPr>
            <a:r>
              <a:rPr lang="en-US" sz="1140" dirty="0">
                <a:solidFill>
                  <a:srgbClr val="B3C3D6"/>
                </a:solidFill>
                <a:latin typeface="Arial" pitchFamily="34" charset="0"/>
                <a:ea typeface="Arial" pitchFamily="34" charset="-122"/>
                <a:cs typeface="Arial" pitchFamily="34" charset="-120"/>
              </a:rPr>
              <a:t>Repair the invalid access. Then test the corrected implementation and remeasure it.</a:t>
            </a:r>
            <a:endParaRPr lang="en-US" sz="1140" dirty="0"/>
          </a:p>
        </p:txBody>
      </p:sp>
      <p:sp>
        <p:nvSpPr>
          <p:cNvPr id="20" name="Text 18"/>
          <p:cNvSpPr txBox="1"/>
          <p:nvPr/>
        </p:nvSpPr>
        <p:spPr>
          <a:xfrm>
            <a:off x="548640" y="6601968"/>
            <a:ext cx="10241280" cy="128016"/>
          </a:xfrm>
          <a:prstGeom prst="rect">
            <a:avLst/>
          </a:prstGeom>
          <a:noFill/>
          <a:ln/>
        </p:spPr>
        <p:txBody>
          <a:bodyPr wrap="square" lIns="0" tIns="0" rIns="0" bIns="0" rtlCol="0" anchor="t"/>
          <a:lstStyle/>
          <a:p>
            <a:pPr algn="l" indent="0" marL="0">
              <a:lnSpc>
                <a:spcPct val="104000"/>
              </a:lnSpc>
              <a:buNone/>
            </a:pPr>
            <a:r>
              <a:rPr lang="en-US" sz="830" dirty="0">
                <a:solidFill>
                  <a:srgbClr val="B3C3D6"/>
                </a:solidFill>
                <a:latin typeface="Arial" pitchFamily="34" charset="0"/>
                <a:ea typeface="Arial" pitchFamily="34" charset="-122"/>
                <a:cs typeface="Arial" pitchFamily="34" charset="-120"/>
              </a:rPr>
              <a:t>Source: original 21, 19 • [LANG, ASAN]</a:t>
            </a:r>
            <a:endParaRPr lang="en-US" sz="830" dirty="0"/>
          </a:p>
        </p:txBody>
      </p:sp>
      <p:sp>
        <p:nvSpPr>
          <p:cNvPr id="21" name="Text 19"/>
          <p:cNvSpPr txBox="1"/>
          <p:nvPr/>
        </p:nvSpPr>
        <p:spPr>
          <a:xfrm>
            <a:off x="10917936" y="6565392"/>
            <a:ext cx="722376" cy="219456"/>
          </a:xfrm>
          <a:prstGeom prst="rect">
            <a:avLst/>
          </a:prstGeom>
          <a:noFill/>
          <a:ln/>
        </p:spPr>
        <p:txBody>
          <a:bodyPr wrap="square" lIns="0" tIns="0" rIns="0" bIns="0" rtlCol="0" anchor="t"/>
          <a:lstStyle/>
          <a:p>
            <a:pPr algn="r" indent="0" marL="0">
              <a:lnSpc>
                <a:spcPct val="104000"/>
              </a:lnSpc>
              <a:buNone/>
            </a:pPr>
            <a:r>
              <a:rPr lang="en-US" sz="1050" dirty="0">
                <a:solidFill>
                  <a:srgbClr val="B3C3D6"/>
                </a:solidFill>
                <a:latin typeface="Arial" pitchFamily="34" charset="0"/>
                <a:ea typeface="Arial" pitchFamily="34" charset="-122"/>
                <a:cs typeface="Arial" pitchFamily="34" charset="-120"/>
              </a:rPr>
              <a:t>57 / 64</a:t>
            </a:r>
            <a:endParaRPr lang="en-US" sz="1050" dirty="0"/>
          </a:p>
        </p:txBody>
      </p:sp>
      <p:sp>
        <p:nvSpPr>
          <p:cNvPr id="22" name="Shape 20"/>
          <p:cNvSpPr/>
          <p:nvPr/>
        </p:nvSpPr>
        <p:spPr>
          <a:xfrm>
            <a:off x="0" y="6834226"/>
            <a:ext cx="12192000" cy="23774"/>
          </a:xfrm>
          <a:prstGeom prst="rect">
            <a:avLst/>
          </a:prstGeom>
          <a:solidFill>
            <a:srgbClr val="2B415A"/>
          </a:solidFill>
          <a:ln w="8890">
            <a:solidFill>
              <a:srgbClr val="2B415A"/>
            </a:solidFill>
            <a:prstDash val="solid"/>
          </a:ln>
        </p:spPr>
        <p:txBody>
          <a:bodyPr/>
          <a:p/>
        </p:txBody>
      </p:sp>
      <p:sp>
        <p:nvSpPr>
          <p:cNvPr id="23" name="Shape 21"/>
          <p:cNvSpPr/>
          <p:nvPr/>
        </p:nvSpPr>
        <p:spPr>
          <a:xfrm>
            <a:off x="0" y="6834226"/>
            <a:ext cx="10858500" cy="23774"/>
          </a:xfrm>
          <a:prstGeom prst="rect">
            <a:avLst/>
          </a:prstGeom>
          <a:solidFill>
            <a:srgbClr val="71D5DD"/>
          </a:solidFill>
          <a:ln w="8890">
            <a:solidFill>
              <a:srgbClr val="71D5DD"/>
            </a:solidFill>
            <a:prstDash val="solid"/>
          </a:ln>
        </p:spPr>
        <p:txBody>
          <a:body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txBox="1"/>
          <p:nvPr/>
        </p:nvSpPr>
        <p:spPr>
          <a:xfrm>
            <a:off x="548640" y="219456"/>
            <a:ext cx="9875520" cy="192024"/>
          </a:xfrm>
          <a:prstGeom prst="rect">
            <a:avLst/>
          </a:prstGeom>
          <a:noFill/>
          <a:ln/>
        </p:spPr>
        <p:txBody>
          <a:bodyPr wrap="square" lIns="0" tIns="0" rIns="0" bIns="0" rtlCol="0" anchor="t"/>
          <a:lstStyle/>
          <a:p>
            <a:pPr algn="l" indent="0" marL="0">
              <a:lnSpc>
                <a:spcPct val="104000"/>
              </a:lnSpc>
              <a:buNone/>
            </a:pPr>
            <a:r>
              <a:rPr lang="en-US" sz="970" b="1" spc="135" kern="0" dirty="0">
                <a:solidFill>
                  <a:srgbClr val="B3C3D6"/>
                </a:solidFill>
                <a:latin typeface="Arial" pitchFamily="34" charset="0"/>
                <a:ea typeface="Arial" pitchFamily="34" charset="-122"/>
                <a:cs typeface="Arial" pitchFamily="34" charset="-120"/>
              </a:rPr>
              <a:t>SYSTEMS PROGRAMMING AND MACHINE ORGANIZATION</a:t>
            </a:r>
            <a:endParaRPr lang="en-US" sz="970" dirty="0"/>
          </a:p>
        </p:txBody>
      </p:sp>
      <p:sp>
        <p:nvSpPr>
          <p:cNvPr id="3" name="Text 1"/>
          <p:cNvSpPr txBox="1"/>
          <p:nvPr/>
        </p:nvSpPr>
        <p:spPr>
          <a:xfrm>
            <a:off x="9601200" y="219456"/>
            <a:ext cx="2039112" cy="192024"/>
          </a:xfrm>
          <a:prstGeom prst="rect">
            <a:avLst/>
          </a:prstGeom>
          <a:noFill/>
          <a:ln/>
        </p:spPr>
        <p:txBody>
          <a:bodyPr wrap="square" lIns="0" tIns="0" rIns="0" bIns="0" rtlCol="0" anchor="t"/>
          <a:lstStyle/>
          <a:p>
            <a:pPr algn="r" indent="0" marL="0">
              <a:lnSpc>
                <a:spcPct val="104000"/>
              </a:lnSpc>
              <a:buNone/>
            </a:pPr>
            <a:r>
              <a:rPr lang="en-US" sz="970" b="1" dirty="0">
                <a:solidFill>
                  <a:srgbClr val="B3C3D6"/>
                </a:solidFill>
                <a:latin typeface="Arial" pitchFamily="34" charset="0"/>
                <a:ea typeface="Arial" pitchFamily="34" charset="-122"/>
                <a:cs typeface="Arial" pitchFamily="34" charset="-120"/>
              </a:rPr>
              <a:t>CHARLES DORNER</a:t>
            </a:r>
            <a:endParaRPr lang="en-US" sz="970" dirty="0"/>
          </a:p>
        </p:txBody>
      </p:sp>
      <p:sp>
        <p:nvSpPr>
          <p:cNvPr id="4" name="Text 2"/>
          <p:cNvSpPr txBox="1"/>
          <p:nvPr/>
        </p:nvSpPr>
        <p:spPr>
          <a:xfrm>
            <a:off x="548640" y="566928"/>
            <a:ext cx="11109960" cy="237744"/>
          </a:xfrm>
          <a:prstGeom prst="rect">
            <a:avLst/>
          </a:prstGeom>
          <a:noFill/>
          <a:ln/>
        </p:spPr>
        <p:txBody>
          <a:bodyPr wrap="square" lIns="0" tIns="0" rIns="0" bIns="0" rtlCol="0" anchor="t"/>
          <a:lstStyle/>
          <a:p>
            <a:pPr algn="l" indent="0" marL="0">
              <a:lnSpc>
                <a:spcPct val="104000"/>
              </a:lnSpc>
              <a:buNone/>
            </a:pPr>
            <a:r>
              <a:rPr lang="en-US" sz="1150" b="1" dirty="0">
                <a:solidFill>
                  <a:srgbClr val="71D5DD"/>
                </a:solidFill>
                <a:latin typeface="Arial" pitchFamily="34" charset="0"/>
                <a:ea typeface="Arial" pitchFamily="34" charset="-122"/>
                <a:cs typeface="Arial" pitchFamily="34" charset="-120"/>
              </a:rPr>
              <a:t>SYNTHESIS · API, ABI &amp; LINKING</a:t>
            </a:r>
            <a:endParaRPr lang="en-US" sz="1150" dirty="0"/>
          </a:p>
        </p:txBody>
      </p:sp>
      <p:sp>
        <p:nvSpPr>
          <p:cNvPr id="5" name="Text 3"/>
          <p:cNvSpPr txBox="1"/>
          <p:nvPr/>
        </p:nvSpPr>
        <p:spPr>
          <a:xfrm>
            <a:off x="548640" y="941832"/>
            <a:ext cx="11091672" cy="676656"/>
          </a:xfrm>
          <a:prstGeom prst="rect">
            <a:avLst/>
          </a:prstGeom>
          <a:noFill/>
          <a:ln/>
        </p:spPr>
        <p:txBody>
          <a:bodyPr wrap="square" lIns="0" tIns="0" rIns="0" bIns="0" rtlCol="0" anchor="t"/>
          <a:lstStyle/>
          <a:p>
            <a:pPr algn="l" indent="0" marL="0">
              <a:lnSpc>
                <a:spcPct val="104000"/>
              </a:lnSpc>
              <a:buNone/>
            </a:pPr>
            <a:r>
              <a:rPr lang="en-US" sz="2900" b="1" dirty="0">
                <a:solidFill>
                  <a:srgbClr val="F4F7FB"/>
                </a:solidFill>
                <a:latin typeface="Arial" pitchFamily="34" charset="0"/>
                <a:ea typeface="Arial" pitchFamily="34" charset="-122"/>
                <a:cs typeface="Arial" pitchFamily="34" charset="-120"/>
              </a:rPr>
              <a:t>Graduate review: a symbol can link despite incompatible types</a:t>
            </a:r>
            <a:endParaRPr lang="en-US" sz="2900" dirty="0"/>
          </a:p>
        </p:txBody>
      </p:sp>
      <p:sp>
        <p:nvSpPr>
          <p:cNvPr id="6" name="Shape 4"/>
          <p:cNvSpPr/>
          <p:nvPr/>
        </p:nvSpPr>
        <p:spPr>
          <a:xfrm>
            <a:off x="548640" y="1764792"/>
            <a:ext cx="5446776" cy="3310128"/>
          </a:xfrm>
          <a:prstGeom prst="rect">
            <a:avLst/>
          </a:prstGeom>
          <a:solidFill>
            <a:srgbClr val="142238"/>
          </a:solidFill>
          <a:ln w="8890">
            <a:solidFill>
              <a:srgbClr val="2B415A"/>
            </a:solidFill>
            <a:prstDash val="solid"/>
          </a:ln>
        </p:spPr>
        <p:txBody>
          <a:bodyPr/>
          <a:p/>
        </p:txBody>
      </p:sp>
      <p:sp>
        <p:nvSpPr>
          <p:cNvPr id="7" name="Shape 5"/>
          <p:cNvSpPr/>
          <p:nvPr/>
        </p:nvSpPr>
        <p:spPr>
          <a:xfrm>
            <a:off x="548640" y="1764792"/>
            <a:ext cx="41148" cy="3310128"/>
          </a:xfrm>
          <a:prstGeom prst="rect">
            <a:avLst/>
          </a:prstGeom>
          <a:solidFill>
            <a:srgbClr val="71D5DD"/>
          </a:solidFill>
          <a:ln w="8890">
            <a:solidFill>
              <a:srgbClr val="71D5DD"/>
            </a:solidFill>
            <a:prstDash val="solid"/>
          </a:ln>
        </p:spPr>
        <p:txBody>
          <a:bodyPr/>
          <a:p/>
        </p:txBody>
      </p:sp>
      <p:sp>
        <p:nvSpPr>
          <p:cNvPr id="8" name="Text 6"/>
          <p:cNvSpPr txBox="1"/>
          <p:nvPr/>
        </p:nvSpPr>
        <p:spPr>
          <a:xfrm>
            <a:off x="758952" y="1975104"/>
            <a:ext cx="5017008" cy="557784"/>
          </a:xfrm>
          <a:prstGeom prst="rect">
            <a:avLst/>
          </a:prstGeom>
          <a:noFill/>
          <a:ln/>
        </p:spPr>
        <p:txBody>
          <a:bodyPr wrap="square" lIns="0" tIns="0" rIns="0" bIns="0" rtlCol="0" anchor="t"/>
          <a:lstStyle/>
          <a:p>
            <a:pPr algn="l" indent="0" marL="0">
              <a:lnSpc>
                <a:spcPct val="104000"/>
              </a:lnSpc>
              <a:buNone/>
            </a:pPr>
            <a:r>
              <a:rPr lang="en-US" sz="1750" b="1" dirty="0">
                <a:solidFill>
                  <a:srgbClr val="71D5DD"/>
                </a:solidFill>
                <a:latin typeface="Arial" pitchFamily="34" charset="0"/>
                <a:ea typeface="Arial" pitchFamily="34" charset="-122"/>
                <a:cs typeface="Arial" pitchFamily="34" charset="-120"/>
              </a:rPr>
              <a:t>CALLER’S TRANSLATION UNIT</a:t>
            </a:r>
            <a:endParaRPr lang="en-US" sz="1750" dirty="0"/>
          </a:p>
        </p:txBody>
      </p:sp>
      <p:sp>
        <p:nvSpPr>
          <p:cNvPr id="9" name="Text 7"/>
          <p:cNvSpPr txBox="1"/>
          <p:nvPr/>
        </p:nvSpPr>
        <p:spPr>
          <a:xfrm>
            <a:off x="758952" y="2642616"/>
            <a:ext cx="5017008" cy="2267712"/>
          </a:xfrm>
          <a:prstGeom prst="rect">
            <a:avLst/>
          </a:prstGeom>
          <a:noFill/>
          <a:ln/>
        </p:spPr>
        <p:txBody>
          <a:bodyPr wrap="square" lIns="0" tIns="0" rIns="0" bIns="0" rtlCol="0" anchor="t"/>
          <a:lstStyle/>
          <a:p>
            <a:pPr algn="l" indent="0" marL="0">
              <a:lnSpc>
                <a:spcPct val="104000"/>
              </a:lnSpc>
              <a:buNone/>
            </a:pPr>
            <a:r>
              <a:rPr lang="en-US" sz="2300" dirty="0">
                <a:solidFill>
                  <a:srgbClr val="F4F7FB"/>
                </a:solidFill>
                <a:latin typeface="Arial" pitchFamily="34" charset="0"/>
                <a:ea typeface="Arial" pitchFamily="34" charset="-122"/>
                <a:cs typeface="Arial" pitchFamily="34" charset="-120"/>
              </a:rPr>
              <a:t>int convert(double x);</a:t>
            </a:r>
            <a:endParaRPr lang="en-US" sz="2300" dirty="0"/>
          </a:p>
          <a:p>
            <a:pPr algn="l" indent="0" marL="0">
              <a:lnSpc>
                <a:spcPct val="104000"/>
              </a:lnSpc>
              <a:buNone/>
            </a:pPr>
            <a:endParaRPr lang="en-US" sz="2300" dirty="0"/>
          </a:p>
          <a:p>
            <a:pPr algn="l" indent="0" marL="0">
              <a:lnSpc>
                <a:spcPct val="104000"/>
              </a:lnSpc>
              <a:buNone/>
            </a:pPr>
            <a:r>
              <a:rPr lang="en-US" sz="2300" dirty="0">
                <a:solidFill>
                  <a:srgbClr val="F4F7FB"/>
                </a:solidFill>
                <a:latin typeface="Arial" pitchFamily="34" charset="0"/>
                <a:ea typeface="Arial" pitchFamily="34" charset="-122"/>
                <a:cs typeface="Arial" pitchFamily="34" charset="-120"/>
              </a:rPr>
              <a:t>The call is checked against this</a:t>
            </a:r>
            <a:endParaRPr lang="en-US" sz="2300" dirty="0"/>
          </a:p>
          <a:p>
            <a:pPr algn="l" indent="0" marL="0">
              <a:lnSpc>
                <a:spcPct val="104000"/>
              </a:lnSpc>
              <a:buNone/>
            </a:pPr>
            <a:r>
              <a:rPr lang="en-US" sz="2300" dirty="0">
                <a:solidFill>
                  <a:srgbClr val="F4F7FB"/>
                </a:solidFill>
                <a:latin typeface="Arial" pitchFamily="34" charset="0"/>
                <a:ea typeface="Arial" pitchFamily="34" charset="-122"/>
                <a:cs typeface="Arial" pitchFamily="34" charset="-120"/>
              </a:rPr>
              <a:t>declaration.</a:t>
            </a:r>
            <a:endParaRPr lang="en-US" sz="2300" dirty="0"/>
          </a:p>
        </p:txBody>
      </p:sp>
      <p:sp>
        <p:nvSpPr>
          <p:cNvPr id="10" name="Shape 8"/>
          <p:cNvSpPr/>
          <p:nvPr/>
        </p:nvSpPr>
        <p:spPr>
          <a:xfrm>
            <a:off x="6196584" y="1764792"/>
            <a:ext cx="5446776" cy="3310128"/>
          </a:xfrm>
          <a:prstGeom prst="rect">
            <a:avLst/>
          </a:prstGeom>
          <a:solidFill>
            <a:srgbClr val="142238"/>
          </a:solidFill>
          <a:ln w="8890">
            <a:solidFill>
              <a:srgbClr val="2B415A"/>
            </a:solidFill>
            <a:prstDash val="solid"/>
          </a:ln>
        </p:spPr>
        <p:txBody>
          <a:bodyPr/>
          <a:p/>
        </p:txBody>
      </p:sp>
      <p:sp>
        <p:nvSpPr>
          <p:cNvPr id="11" name="Shape 9"/>
          <p:cNvSpPr/>
          <p:nvPr/>
        </p:nvSpPr>
        <p:spPr>
          <a:xfrm>
            <a:off x="6196584" y="1764792"/>
            <a:ext cx="41148" cy="3310128"/>
          </a:xfrm>
          <a:prstGeom prst="rect">
            <a:avLst/>
          </a:prstGeom>
          <a:solidFill>
            <a:srgbClr val="71D5DD"/>
          </a:solidFill>
          <a:ln w="8890">
            <a:solidFill>
              <a:srgbClr val="71D5DD"/>
            </a:solidFill>
            <a:prstDash val="solid"/>
          </a:ln>
        </p:spPr>
        <p:txBody>
          <a:bodyPr/>
          <a:p/>
        </p:txBody>
      </p:sp>
      <p:sp>
        <p:nvSpPr>
          <p:cNvPr id="12" name="Text 10"/>
          <p:cNvSpPr txBox="1"/>
          <p:nvPr/>
        </p:nvSpPr>
        <p:spPr>
          <a:xfrm>
            <a:off x="6406896" y="1975104"/>
            <a:ext cx="5017008" cy="557784"/>
          </a:xfrm>
          <a:prstGeom prst="rect">
            <a:avLst/>
          </a:prstGeom>
          <a:noFill/>
          <a:ln/>
        </p:spPr>
        <p:txBody>
          <a:bodyPr wrap="square" lIns="0" tIns="0" rIns="0" bIns="0" rtlCol="0" anchor="t"/>
          <a:lstStyle/>
          <a:p>
            <a:pPr algn="l" indent="0" marL="0">
              <a:lnSpc>
                <a:spcPct val="104000"/>
              </a:lnSpc>
              <a:buNone/>
            </a:pPr>
            <a:r>
              <a:rPr lang="en-US" sz="1750" b="1" dirty="0">
                <a:solidFill>
                  <a:srgbClr val="71D5DD"/>
                </a:solidFill>
                <a:latin typeface="Arial" pitchFamily="34" charset="0"/>
                <a:ea typeface="Arial" pitchFamily="34" charset="-122"/>
                <a:cs typeface="Arial" pitchFamily="34" charset="-120"/>
              </a:rPr>
              <a:t>DEFINITION’S TRANSLATION UNIT</a:t>
            </a:r>
            <a:endParaRPr lang="en-US" sz="1750" dirty="0"/>
          </a:p>
        </p:txBody>
      </p:sp>
      <p:sp>
        <p:nvSpPr>
          <p:cNvPr id="13" name="Text 11"/>
          <p:cNvSpPr txBox="1"/>
          <p:nvPr/>
        </p:nvSpPr>
        <p:spPr>
          <a:xfrm>
            <a:off x="6406896" y="2642616"/>
            <a:ext cx="5017008" cy="2267712"/>
          </a:xfrm>
          <a:prstGeom prst="rect">
            <a:avLst/>
          </a:prstGeom>
          <a:noFill/>
          <a:ln/>
        </p:spPr>
        <p:txBody>
          <a:bodyPr wrap="square" lIns="0" tIns="0" rIns="0" bIns="0" rtlCol="0" anchor="t"/>
          <a:lstStyle/>
          <a:p>
            <a:pPr algn="l" indent="0" marL="0">
              <a:lnSpc>
                <a:spcPct val="104000"/>
              </a:lnSpc>
              <a:buNone/>
            </a:pPr>
            <a:r>
              <a:rPr lang="en-US" sz="2300" dirty="0">
                <a:solidFill>
                  <a:srgbClr val="F4F7FB"/>
                </a:solidFill>
                <a:latin typeface="Arial" pitchFamily="34" charset="0"/>
                <a:ea typeface="Arial" pitchFamily="34" charset="-122"/>
                <a:cs typeface="Arial" pitchFamily="34" charset="-120"/>
              </a:rPr>
              <a:t>int convert(int x) {</a:t>
            </a:r>
            <a:endParaRPr lang="en-US" sz="2300" dirty="0"/>
          </a:p>
          <a:p>
            <a:pPr algn="l" indent="0" marL="0">
              <a:lnSpc>
                <a:spcPct val="104000"/>
              </a:lnSpc>
              <a:buNone/>
            </a:pPr>
            <a:r>
              <a:rPr lang="en-US" sz="2300" dirty="0">
                <a:solidFill>
                  <a:srgbClr val="F4F7FB"/>
                </a:solidFill>
                <a:latin typeface="Arial" pitchFamily="34" charset="0"/>
                <a:ea typeface="Arial" pitchFamily="34" charset="-122"/>
                <a:cs typeface="Arial" pitchFamily="34" charset="-120"/>
              </a:rPr>
              <a:t>return x;</a:t>
            </a:r>
            <a:endParaRPr lang="en-US" sz="2300" dirty="0"/>
          </a:p>
          <a:p>
            <a:pPr algn="l" indent="0" marL="0">
              <a:lnSpc>
                <a:spcPct val="104000"/>
              </a:lnSpc>
              <a:buNone/>
            </a:pPr>
            <a:r>
              <a:rPr lang="en-US" sz="2300" dirty="0">
                <a:solidFill>
                  <a:srgbClr val="F4F7FB"/>
                </a:solidFill>
                <a:latin typeface="Arial" pitchFamily="34" charset="0"/>
                <a:ea typeface="Arial" pitchFamily="34" charset="-122"/>
                <a:cs typeface="Arial" pitchFamily="34" charset="-120"/>
              </a:rPr>
              <a:t>}</a:t>
            </a:r>
            <a:endParaRPr lang="en-US" sz="2300" dirty="0"/>
          </a:p>
          <a:p>
            <a:pPr algn="l" indent="0" marL="0">
              <a:lnSpc>
                <a:spcPct val="104000"/>
              </a:lnSpc>
              <a:buNone/>
            </a:pPr>
            <a:endParaRPr lang="en-US" sz="2300" dirty="0"/>
          </a:p>
          <a:p>
            <a:pPr algn="l" indent="0" marL="0">
              <a:lnSpc>
                <a:spcPct val="104000"/>
              </a:lnSpc>
              <a:buNone/>
            </a:pPr>
            <a:r>
              <a:rPr lang="en-US" sz="2300" dirty="0">
                <a:solidFill>
                  <a:srgbClr val="F4F7FB"/>
                </a:solidFill>
                <a:latin typeface="Arial" pitchFamily="34" charset="0"/>
                <a:ea typeface="Arial" pitchFamily="34" charset="-122"/>
                <a:cs typeface="Arial" pitchFamily="34" charset="-120"/>
              </a:rPr>
              <a:t>A different interface was implemented.</a:t>
            </a:r>
            <a:endParaRPr lang="en-US" sz="2300" dirty="0"/>
          </a:p>
        </p:txBody>
      </p:sp>
      <p:sp>
        <p:nvSpPr>
          <p:cNvPr id="14" name="Text 12"/>
          <p:cNvSpPr txBox="1"/>
          <p:nvPr/>
        </p:nvSpPr>
        <p:spPr>
          <a:xfrm>
            <a:off x="548640" y="5193792"/>
            <a:ext cx="11094720" cy="274320"/>
          </a:xfrm>
          <a:prstGeom prst="rect">
            <a:avLst/>
          </a:prstGeom>
          <a:noFill/>
          <a:ln/>
        </p:spPr>
        <p:txBody>
          <a:bodyPr wrap="square" lIns="0" tIns="0" rIns="0" bIns="0" rtlCol="0" anchor="t"/>
          <a:lstStyle/>
          <a:p>
            <a:pPr algn="l" indent="0" marL="0">
              <a:lnSpc>
                <a:spcPct val="104000"/>
              </a:lnSpc>
              <a:buNone/>
            </a:pPr>
            <a:r>
              <a:rPr lang="en-US" sz="1140" dirty="0">
                <a:solidFill>
                  <a:srgbClr val="B3C3D6"/>
                </a:solidFill>
                <a:latin typeface="Arial" pitchFamily="34" charset="0"/>
                <a:ea typeface="Arial" pitchFamily="34" charset="-122"/>
                <a:cs typeface="Arial" pitchFamily="34" charset="-120"/>
              </a:rPr>
              <a:t>Deliberately incompatible scenario. Matching the symbol name is not a proof of a valid call.</a:t>
            </a:r>
            <a:endParaRPr lang="en-US" sz="1140" dirty="0"/>
          </a:p>
        </p:txBody>
      </p:sp>
      <p:sp>
        <p:nvSpPr>
          <p:cNvPr id="19" name="Text 17"/>
          <p:cNvSpPr txBox="1"/>
          <p:nvPr/>
        </p:nvSpPr>
        <p:spPr>
          <a:xfrm>
            <a:off x="548640" y="6601968"/>
            <a:ext cx="10241280" cy="128016"/>
          </a:xfrm>
          <a:prstGeom prst="rect">
            <a:avLst/>
          </a:prstGeom>
          <a:noFill/>
          <a:ln/>
        </p:spPr>
        <p:txBody>
          <a:bodyPr wrap="square" lIns="0" tIns="0" rIns="0" bIns="0" rtlCol="0" anchor="t"/>
          <a:lstStyle/>
          <a:p>
            <a:pPr algn="l" indent="0" marL="0">
              <a:lnSpc>
                <a:spcPct val="104000"/>
              </a:lnSpc>
              <a:buNone/>
            </a:pPr>
            <a:r>
              <a:rPr lang="en-US" sz="830" dirty="0">
                <a:solidFill>
                  <a:srgbClr val="B3C3D6"/>
                </a:solidFill>
                <a:latin typeface="Arial" pitchFamily="34" charset="0"/>
                <a:ea typeface="Arial" pitchFamily="34" charset="-122"/>
                <a:cs typeface="Arial" pitchFamily="34" charset="-120"/>
              </a:rPr>
              <a:t>Source: original 6, 9, 11, 16 • Graduate extension • [LANG, LD]</a:t>
            </a:r>
            <a:endParaRPr lang="en-US" sz="830" dirty="0"/>
          </a:p>
        </p:txBody>
      </p:sp>
      <p:sp>
        <p:nvSpPr>
          <p:cNvPr id="20" name="Text 18"/>
          <p:cNvSpPr txBox="1"/>
          <p:nvPr/>
        </p:nvSpPr>
        <p:spPr>
          <a:xfrm>
            <a:off x="10917936" y="6565392"/>
            <a:ext cx="722376" cy="219456"/>
          </a:xfrm>
          <a:prstGeom prst="rect">
            <a:avLst/>
          </a:prstGeom>
          <a:noFill/>
          <a:ln/>
        </p:spPr>
        <p:txBody>
          <a:bodyPr wrap="square" lIns="0" tIns="0" rIns="0" bIns="0" rtlCol="0" anchor="t"/>
          <a:lstStyle/>
          <a:p>
            <a:pPr algn="r" indent="0" marL="0">
              <a:lnSpc>
                <a:spcPct val="104000"/>
              </a:lnSpc>
              <a:buNone/>
            </a:pPr>
            <a:r>
              <a:rPr lang="en-US" sz="1050" dirty="0">
                <a:solidFill>
                  <a:srgbClr val="B3C3D6"/>
                </a:solidFill>
                <a:latin typeface="Arial" pitchFamily="34" charset="0"/>
                <a:ea typeface="Arial" pitchFamily="34" charset="-122"/>
                <a:cs typeface="Arial" pitchFamily="34" charset="-120"/>
              </a:rPr>
              <a:t>58 / 64</a:t>
            </a:r>
            <a:endParaRPr lang="en-US" sz="1050" dirty="0"/>
          </a:p>
        </p:txBody>
      </p:sp>
      <p:sp>
        <p:nvSpPr>
          <p:cNvPr id="21" name="Shape 19"/>
          <p:cNvSpPr/>
          <p:nvPr/>
        </p:nvSpPr>
        <p:spPr>
          <a:xfrm>
            <a:off x="0" y="6834226"/>
            <a:ext cx="12192000" cy="23774"/>
          </a:xfrm>
          <a:prstGeom prst="rect">
            <a:avLst/>
          </a:prstGeom>
          <a:solidFill>
            <a:srgbClr val="2B415A"/>
          </a:solidFill>
          <a:ln w="8890">
            <a:solidFill>
              <a:srgbClr val="2B415A"/>
            </a:solidFill>
            <a:prstDash val="solid"/>
          </a:ln>
        </p:spPr>
        <p:txBody>
          <a:bodyPr/>
          <a:p/>
        </p:txBody>
      </p:sp>
      <p:sp>
        <p:nvSpPr>
          <p:cNvPr id="22" name="Shape 20"/>
          <p:cNvSpPr/>
          <p:nvPr/>
        </p:nvSpPr>
        <p:spPr>
          <a:xfrm>
            <a:off x="0" y="6834226"/>
            <a:ext cx="11049000" cy="23774"/>
          </a:xfrm>
          <a:prstGeom prst="rect">
            <a:avLst/>
          </a:prstGeom>
          <a:solidFill>
            <a:srgbClr val="71D5DD"/>
          </a:solidFill>
          <a:ln w="8890">
            <a:solidFill>
              <a:srgbClr val="71D5DD"/>
            </a:solidFill>
            <a:prstDash val="solid"/>
          </a:ln>
        </p:spPr>
        <p:txBody>
          <a:body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txBox="1"/>
          <p:nvPr/>
        </p:nvSpPr>
        <p:spPr>
          <a:xfrm>
            <a:off x="548640" y="219456"/>
            <a:ext cx="9875520" cy="192024"/>
          </a:xfrm>
          <a:prstGeom prst="rect">
            <a:avLst/>
          </a:prstGeom>
          <a:noFill/>
          <a:ln/>
        </p:spPr>
        <p:txBody>
          <a:bodyPr wrap="square" lIns="0" tIns="0" rIns="0" bIns="0" rtlCol="0" anchor="t"/>
          <a:lstStyle/>
          <a:p>
            <a:pPr algn="l" indent="0" marL="0">
              <a:lnSpc>
                <a:spcPct val="104000"/>
              </a:lnSpc>
              <a:buNone/>
            </a:pPr>
            <a:r>
              <a:rPr lang="en-US" sz="970" b="1" spc="135" kern="0" dirty="0">
                <a:solidFill>
                  <a:srgbClr val="B3C3D6"/>
                </a:solidFill>
                <a:latin typeface="Arial" pitchFamily="34" charset="0"/>
                <a:ea typeface="Arial" pitchFamily="34" charset="-122"/>
                <a:cs typeface="Arial" pitchFamily="34" charset="-120"/>
              </a:rPr>
              <a:t>SYSTEMS PROGRAMMING AND MACHINE ORGANIZATION</a:t>
            </a:r>
            <a:endParaRPr lang="en-US" sz="970" dirty="0"/>
          </a:p>
        </p:txBody>
      </p:sp>
      <p:sp>
        <p:nvSpPr>
          <p:cNvPr id="3" name="Text 1"/>
          <p:cNvSpPr txBox="1"/>
          <p:nvPr/>
        </p:nvSpPr>
        <p:spPr>
          <a:xfrm>
            <a:off x="9601200" y="219456"/>
            <a:ext cx="2039112" cy="192024"/>
          </a:xfrm>
          <a:prstGeom prst="rect">
            <a:avLst/>
          </a:prstGeom>
          <a:noFill/>
          <a:ln/>
        </p:spPr>
        <p:txBody>
          <a:bodyPr wrap="square" lIns="0" tIns="0" rIns="0" bIns="0" rtlCol="0" anchor="t"/>
          <a:lstStyle/>
          <a:p>
            <a:pPr algn="r" indent="0" marL="0">
              <a:lnSpc>
                <a:spcPct val="104000"/>
              </a:lnSpc>
              <a:buNone/>
            </a:pPr>
            <a:r>
              <a:rPr lang="en-US" sz="970" b="1" dirty="0">
                <a:solidFill>
                  <a:srgbClr val="B3C3D6"/>
                </a:solidFill>
                <a:latin typeface="Arial" pitchFamily="34" charset="0"/>
                <a:ea typeface="Arial" pitchFamily="34" charset="-122"/>
                <a:cs typeface="Arial" pitchFamily="34" charset="-120"/>
              </a:rPr>
              <a:t>CHARLES DORNER</a:t>
            </a:r>
            <a:endParaRPr lang="en-US" sz="970" dirty="0"/>
          </a:p>
        </p:txBody>
      </p:sp>
      <p:sp>
        <p:nvSpPr>
          <p:cNvPr id="4" name="Text 2"/>
          <p:cNvSpPr txBox="1"/>
          <p:nvPr/>
        </p:nvSpPr>
        <p:spPr>
          <a:xfrm>
            <a:off x="548640" y="566928"/>
            <a:ext cx="11109960" cy="237744"/>
          </a:xfrm>
          <a:prstGeom prst="rect">
            <a:avLst/>
          </a:prstGeom>
          <a:noFill/>
          <a:ln/>
        </p:spPr>
        <p:txBody>
          <a:bodyPr wrap="square" lIns="0" tIns="0" rIns="0" bIns="0" rtlCol="0" anchor="t"/>
          <a:lstStyle/>
          <a:p>
            <a:pPr algn="l" indent="0" marL="0">
              <a:lnSpc>
                <a:spcPct val="104000"/>
              </a:lnSpc>
              <a:buNone/>
            </a:pPr>
            <a:r>
              <a:rPr lang="en-US" sz="1150" b="1" dirty="0">
                <a:solidFill>
                  <a:srgbClr val="71D5DD"/>
                </a:solidFill>
                <a:latin typeface="Arial" pitchFamily="34" charset="0"/>
                <a:ea typeface="Arial" pitchFamily="34" charset="-122"/>
                <a:cs typeface="Arial" pitchFamily="34" charset="-120"/>
              </a:rPr>
              <a:t>GRADUATE ORAL / WRITTEN SYNTHESIS</a:t>
            </a:r>
            <a:endParaRPr lang="en-US" sz="1150" dirty="0"/>
          </a:p>
        </p:txBody>
      </p:sp>
      <p:sp>
        <p:nvSpPr>
          <p:cNvPr id="5" name="Text 3"/>
          <p:cNvSpPr txBox="1"/>
          <p:nvPr/>
        </p:nvSpPr>
        <p:spPr>
          <a:xfrm>
            <a:off x="548640" y="941832"/>
            <a:ext cx="11091672" cy="676656"/>
          </a:xfrm>
          <a:prstGeom prst="rect">
            <a:avLst/>
          </a:prstGeom>
          <a:noFill/>
          <a:ln/>
        </p:spPr>
        <p:txBody>
          <a:bodyPr wrap="square" lIns="0" tIns="0" rIns="0" bIns="0" rtlCol="0" anchor="t"/>
          <a:lstStyle/>
          <a:p>
            <a:pPr algn="l" indent="0" marL="0">
              <a:lnSpc>
                <a:spcPct val="104000"/>
              </a:lnSpc>
              <a:buNone/>
            </a:pPr>
            <a:r>
              <a:rPr lang="en-US" sz="3150" b="1" dirty="0">
                <a:solidFill>
                  <a:srgbClr val="F4F7FB"/>
                </a:solidFill>
                <a:latin typeface="Arial" pitchFamily="34" charset="0"/>
                <a:ea typeface="Arial" pitchFamily="34" charset="-122"/>
                <a:cs typeface="Arial" pitchFamily="34" charset="-120"/>
              </a:rPr>
              <a:t>Defend a systems explanation—not just a result</a:t>
            </a:r>
            <a:endParaRPr lang="en-US" sz="3150" dirty="0"/>
          </a:p>
        </p:txBody>
      </p:sp>
      <p:sp>
        <p:nvSpPr>
          <p:cNvPr id="6" name="Shape 4"/>
          <p:cNvSpPr/>
          <p:nvPr/>
        </p:nvSpPr>
        <p:spPr>
          <a:xfrm>
            <a:off x="548640" y="1764792"/>
            <a:ext cx="3564128" cy="3310128"/>
          </a:xfrm>
          <a:prstGeom prst="rect">
            <a:avLst/>
          </a:prstGeom>
          <a:solidFill>
            <a:srgbClr val="142238"/>
          </a:solidFill>
          <a:ln w="8890">
            <a:solidFill>
              <a:srgbClr val="2B415A"/>
            </a:solidFill>
            <a:prstDash val="solid"/>
          </a:ln>
        </p:spPr>
        <p:txBody>
          <a:bodyPr/>
          <a:p/>
        </p:txBody>
      </p:sp>
      <p:sp>
        <p:nvSpPr>
          <p:cNvPr id="7" name="Shape 5"/>
          <p:cNvSpPr/>
          <p:nvPr/>
        </p:nvSpPr>
        <p:spPr>
          <a:xfrm>
            <a:off x="548640" y="1764792"/>
            <a:ext cx="41148" cy="3310128"/>
          </a:xfrm>
          <a:prstGeom prst="rect">
            <a:avLst/>
          </a:prstGeom>
          <a:solidFill>
            <a:srgbClr val="71D5DD"/>
          </a:solidFill>
          <a:ln w="8890">
            <a:solidFill>
              <a:srgbClr val="71D5DD"/>
            </a:solidFill>
            <a:prstDash val="solid"/>
          </a:ln>
        </p:spPr>
        <p:txBody>
          <a:bodyPr/>
          <a:p/>
        </p:txBody>
      </p:sp>
      <p:sp>
        <p:nvSpPr>
          <p:cNvPr id="8" name="Text 6"/>
          <p:cNvSpPr txBox="1"/>
          <p:nvPr/>
        </p:nvSpPr>
        <p:spPr>
          <a:xfrm>
            <a:off x="758952" y="1975104"/>
            <a:ext cx="3134360" cy="557784"/>
          </a:xfrm>
          <a:prstGeom prst="rect">
            <a:avLst/>
          </a:prstGeom>
          <a:noFill/>
          <a:ln/>
        </p:spPr>
        <p:txBody>
          <a:bodyPr wrap="square" lIns="0" tIns="0" rIns="0" bIns="0" rtlCol="0" anchor="t"/>
          <a:lstStyle/>
          <a:p>
            <a:pPr algn="l" indent="0" marL="0">
              <a:lnSpc>
                <a:spcPct val="104000"/>
              </a:lnSpc>
              <a:buNone/>
            </a:pPr>
            <a:r>
              <a:rPr lang="en-US" sz="1750" b="1" dirty="0">
                <a:solidFill>
                  <a:srgbClr val="71D5DD"/>
                </a:solidFill>
                <a:latin typeface="Arial" pitchFamily="34" charset="0"/>
                <a:ea typeface="Arial" pitchFamily="34" charset="-122"/>
                <a:cs typeface="Arial" pitchFamily="34" charset="-120"/>
              </a:rPr>
              <a:t>TRACE</a:t>
            </a:r>
            <a:endParaRPr lang="en-US" sz="1750" dirty="0"/>
          </a:p>
        </p:txBody>
      </p:sp>
      <p:sp>
        <p:nvSpPr>
          <p:cNvPr id="9" name="Text 7"/>
          <p:cNvSpPr txBox="1"/>
          <p:nvPr/>
        </p:nvSpPr>
        <p:spPr>
          <a:xfrm>
            <a:off x="758952" y="2642616"/>
            <a:ext cx="3134360" cy="2267712"/>
          </a:xfrm>
          <a:prstGeom prst="rect">
            <a:avLst/>
          </a:prstGeom>
          <a:noFill/>
          <a:ln/>
        </p:spPr>
        <p:txBody>
          <a:bodyPr wrap="square" lIns="0" tIns="0" rIns="0" bIns="0" rtlCol="0" anchor="t"/>
          <a:lstStyle/>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Follow one value</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through the language,</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build, runtime, and</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machine.</a:t>
            </a:r>
            <a:endParaRPr lang="en-US" sz="2200" dirty="0"/>
          </a:p>
        </p:txBody>
      </p:sp>
      <p:sp>
        <p:nvSpPr>
          <p:cNvPr id="10" name="Shape 8"/>
          <p:cNvSpPr/>
          <p:nvPr/>
        </p:nvSpPr>
        <p:spPr>
          <a:xfrm>
            <a:off x="4313936" y="1764792"/>
            <a:ext cx="3564128" cy="3310128"/>
          </a:xfrm>
          <a:prstGeom prst="rect">
            <a:avLst/>
          </a:prstGeom>
          <a:solidFill>
            <a:srgbClr val="142238"/>
          </a:solidFill>
          <a:ln w="8890">
            <a:solidFill>
              <a:srgbClr val="2B415A"/>
            </a:solidFill>
            <a:prstDash val="solid"/>
          </a:ln>
        </p:spPr>
        <p:txBody>
          <a:bodyPr/>
          <a:p/>
        </p:txBody>
      </p:sp>
      <p:sp>
        <p:nvSpPr>
          <p:cNvPr id="11" name="Shape 9"/>
          <p:cNvSpPr/>
          <p:nvPr/>
        </p:nvSpPr>
        <p:spPr>
          <a:xfrm>
            <a:off x="4313936" y="1764792"/>
            <a:ext cx="41148" cy="3310128"/>
          </a:xfrm>
          <a:prstGeom prst="rect">
            <a:avLst/>
          </a:prstGeom>
          <a:solidFill>
            <a:srgbClr val="71D5DD"/>
          </a:solidFill>
          <a:ln w="8890">
            <a:solidFill>
              <a:srgbClr val="71D5DD"/>
            </a:solidFill>
            <a:prstDash val="solid"/>
          </a:ln>
        </p:spPr>
        <p:txBody>
          <a:bodyPr/>
          <a:p/>
        </p:txBody>
      </p:sp>
      <p:sp>
        <p:nvSpPr>
          <p:cNvPr id="12" name="Text 10"/>
          <p:cNvSpPr txBox="1"/>
          <p:nvPr/>
        </p:nvSpPr>
        <p:spPr>
          <a:xfrm>
            <a:off x="4524248" y="1975104"/>
            <a:ext cx="3134360" cy="557784"/>
          </a:xfrm>
          <a:prstGeom prst="rect">
            <a:avLst/>
          </a:prstGeom>
          <a:noFill/>
          <a:ln/>
        </p:spPr>
        <p:txBody>
          <a:bodyPr wrap="square" lIns="0" tIns="0" rIns="0" bIns="0" rtlCol="0" anchor="t"/>
          <a:lstStyle/>
          <a:p>
            <a:pPr algn="l" indent="0" marL="0">
              <a:lnSpc>
                <a:spcPct val="104000"/>
              </a:lnSpc>
              <a:buNone/>
            </a:pPr>
            <a:r>
              <a:rPr lang="en-US" sz="1750" b="1" dirty="0">
                <a:solidFill>
                  <a:srgbClr val="71D5DD"/>
                </a:solidFill>
                <a:latin typeface="Arial" pitchFamily="34" charset="0"/>
                <a:ea typeface="Arial" pitchFamily="34" charset="-122"/>
                <a:cs typeface="Arial" pitchFamily="34" charset="-120"/>
              </a:rPr>
              <a:t>BREAK</a:t>
            </a:r>
            <a:endParaRPr lang="en-US" sz="1750" dirty="0"/>
          </a:p>
        </p:txBody>
      </p:sp>
      <p:sp>
        <p:nvSpPr>
          <p:cNvPr id="13" name="Text 11"/>
          <p:cNvSpPr txBox="1"/>
          <p:nvPr/>
        </p:nvSpPr>
        <p:spPr>
          <a:xfrm>
            <a:off x="4524248" y="2642616"/>
            <a:ext cx="3134360" cy="2267712"/>
          </a:xfrm>
          <a:prstGeom prst="rect">
            <a:avLst/>
          </a:prstGeom>
          <a:noFill/>
          <a:ln/>
        </p:spPr>
        <p:txBody>
          <a:bodyPr wrap="square" lIns="0" tIns="0" rIns="0" bIns="0" rtlCol="0" anchor="t"/>
          <a:lstStyle/>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Choose one violated</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obligation and identify</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the responsible</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boundary.</a:t>
            </a:r>
            <a:endParaRPr lang="en-US" sz="2200" dirty="0"/>
          </a:p>
        </p:txBody>
      </p:sp>
      <p:sp>
        <p:nvSpPr>
          <p:cNvPr id="14" name="Shape 12"/>
          <p:cNvSpPr/>
          <p:nvPr/>
        </p:nvSpPr>
        <p:spPr>
          <a:xfrm>
            <a:off x="8079232" y="1764792"/>
            <a:ext cx="3564128" cy="3310128"/>
          </a:xfrm>
          <a:prstGeom prst="rect">
            <a:avLst/>
          </a:prstGeom>
          <a:solidFill>
            <a:srgbClr val="142238"/>
          </a:solidFill>
          <a:ln w="8890">
            <a:solidFill>
              <a:srgbClr val="2B415A"/>
            </a:solidFill>
            <a:prstDash val="solid"/>
          </a:ln>
        </p:spPr>
        <p:txBody>
          <a:bodyPr/>
          <a:p/>
        </p:txBody>
      </p:sp>
      <p:sp>
        <p:nvSpPr>
          <p:cNvPr id="15" name="Shape 13"/>
          <p:cNvSpPr/>
          <p:nvPr/>
        </p:nvSpPr>
        <p:spPr>
          <a:xfrm>
            <a:off x="8079232" y="1764792"/>
            <a:ext cx="41148" cy="3310128"/>
          </a:xfrm>
          <a:prstGeom prst="rect">
            <a:avLst/>
          </a:prstGeom>
          <a:solidFill>
            <a:srgbClr val="71D5DD"/>
          </a:solidFill>
          <a:ln w="8890">
            <a:solidFill>
              <a:srgbClr val="71D5DD"/>
            </a:solidFill>
            <a:prstDash val="solid"/>
          </a:ln>
        </p:spPr>
        <p:txBody>
          <a:bodyPr/>
          <a:p/>
        </p:txBody>
      </p:sp>
      <p:sp>
        <p:nvSpPr>
          <p:cNvPr id="16" name="Text 14"/>
          <p:cNvSpPr txBox="1"/>
          <p:nvPr/>
        </p:nvSpPr>
        <p:spPr>
          <a:xfrm>
            <a:off x="8289544" y="1975104"/>
            <a:ext cx="3134360" cy="557784"/>
          </a:xfrm>
          <a:prstGeom prst="rect">
            <a:avLst/>
          </a:prstGeom>
          <a:noFill/>
          <a:ln/>
        </p:spPr>
        <p:txBody>
          <a:bodyPr wrap="square" lIns="0" tIns="0" rIns="0" bIns="0" rtlCol="0" anchor="t"/>
          <a:lstStyle/>
          <a:p>
            <a:pPr algn="l" indent="0" marL="0">
              <a:lnSpc>
                <a:spcPct val="104000"/>
              </a:lnSpc>
              <a:buNone/>
            </a:pPr>
            <a:r>
              <a:rPr lang="en-US" sz="1750" b="1" dirty="0">
                <a:solidFill>
                  <a:srgbClr val="71D5DD"/>
                </a:solidFill>
                <a:latin typeface="Arial" pitchFamily="34" charset="0"/>
                <a:ea typeface="Arial" pitchFamily="34" charset="-122"/>
                <a:cs typeface="Arial" pitchFamily="34" charset="-120"/>
              </a:rPr>
              <a:t>DEFEND</a:t>
            </a:r>
            <a:endParaRPr lang="en-US" sz="1750" dirty="0"/>
          </a:p>
        </p:txBody>
      </p:sp>
      <p:sp>
        <p:nvSpPr>
          <p:cNvPr id="17" name="Text 15"/>
          <p:cNvSpPr txBox="1"/>
          <p:nvPr/>
        </p:nvSpPr>
        <p:spPr>
          <a:xfrm>
            <a:off x="8289544" y="2642616"/>
            <a:ext cx="3134360" cy="2267712"/>
          </a:xfrm>
          <a:prstGeom prst="rect">
            <a:avLst/>
          </a:prstGeom>
          <a:noFill/>
          <a:ln/>
        </p:spPr>
        <p:txBody>
          <a:bodyPr wrap="square" lIns="0" tIns="0" rIns="0" bIns="0" rtlCol="0" anchor="t"/>
          <a:lstStyle/>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Provide evidence, state</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assumptions, and limit</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the conclusion.</a:t>
            </a:r>
            <a:endParaRPr lang="en-US" sz="2200" dirty="0"/>
          </a:p>
        </p:txBody>
      </p:sp>
      <p:sp>
        <p:nvSpPr>
          <p:cNvPr id="18" name="Text 16"/>
          <p:cNvSpPr txBox="1"/>
          <p:nvPr/>
        </p:nvSpPr>
        <p:spPr>
          <a:xfrm>
            <a:off x="548640" y="5193792"/>
            <a:ext cx="11094720" cy="274320"/>
          </a:xfrm>
          <a:prstGeom prst="rect">
            <a:avLst/>
          </a:prstGeom>
          <a:noFill/>
          <a:ln/>
        </p:spPr>
        <p:txBody>
          <a:bodyPr wrap="square" lIns="0" tIns="0" rIns="0" bIns="0" rtlCol="0" anchor="t"/>
          <a:lstStyle/>
          <a:p>
            <a:pPr algn="l" indent="0" marL="0">
              <a:lnSpc>
                <a:spcPct val="104000"/>
              </a:lnSpc>
              <a:buNone/>
            </a:pPr>
            <a:r>
              <a:rPr lang="en-US" sz="1140" dirty="0">
                <a:solidFill>
                  <a:srgbClr val="B3C3D6"/>
                </a:solidFill>
                <a:latin typeface="Arial" pitchFamily="34" charset="0"/>
                <a:ea typeface="Arial" pitchFamily="34" charset="-122"/>
                <a:cs typeface="Arial" pitchFamily="34" charset="-120"/>
              </a:rPr>
              <a:t>Assessment question: what does each successful stage prove—and what does it leave unproved?</a:t>
            </a:r>
            <a:endParaRPr lang="en-US" sz="1140" dirty="0"/>
          </a:p>
        </p:txBody>
      </p:sp>
      <p:sp>
        <p:nvSpPr>
          <p:cNvPr id="23" name="Text 21"/>
          <p:cNvSpPr txBox="1"/>
          <p:nvPr/>
        </p:nvSpPr>
        <p:spPr>
          <a:xfrm>
            <a:off x="548640" y="6601968"/>
            <a:ext cx="10241280" cy="128016"/>
          </a:xfrm>
          <a:prstGeom prst="rect">
            <a:avLst/>
          </a:prstGeom>
          <a:noFill/>
          <a:ln/>
        </p:spPr>
        <p:txBody>
          <a:bodyPr wrap="square" lIns="0" tIns="0" rIns="0" bIns="0" rtlCol="0" anchor="t"/>
          <a:lstStyle/>
          <a:p>
            <a:pPr algn="l" indent="0" marL="0">
              <a:lnSpc>
                <a:spcPct val="104000"/>
              </a:lnSpc>
              <a:buNone/>
            </a:pPr>
            <a:r>
              <a:rPr lang="en-US" sz="830" dirty="0">
                <a:solidFill>
                  <a:srgbClr val="B3C3D6"/>
                </a:solidFill>
                <a:latin typeface="Arial" pitchFamily="34" charset="0"/>
                <a:ea typeface="Arial" pitchFamily="34" charset="-122"/>
                <a:cs typeface="Arial" pitchFamily="34" charset="-120"/>
              </a:rPr>
              <a:t>Source: original 2, 17, 20, 21, 22 • Graduate extension</a:t>
            </a:r>
            <a:endParaRPr lang="en-US" sz="830" dirty="0"/>
          </a:p>
        </p:txBody>
      </p:sp>
      <p:sp>
        <p:nvSpPr>
          <p:cNvPr id="24" name="Text 22"/>
          <p:cNvSpPr txBox="1"/>
          <p:nvPr/>
        </p:nvSpPr>
        <p:spPr>
          <a:xfrm>
            <a:off x="10917936" y="6565392"/>
            <a:ext cx="722376" cy="219456"/>
          </a:xfrm>
          <a:prstGeom prst="rect">
            <a:avLst/>
          </a:prstGeom>
          <a:noFill/>
          <a:ln/>
        </p:spPr>
        <p:txBody>
          <a:bodyPr wrap="square" lIns="0" tIns="0" rIns="0" bIns="0" rtlCol="0" anchor="t"/>
          <a:lstStyle/>
          <a:p>
            <a:pPr algn="r" indent="0" marL="0">
              <a:lnSpc>
                <a:spcPct val="104000"/>
              </a:lnSpc>
              <a:buNone/>
            </a:pPr>
            <a:r>
              <a:rPr lang="en-US" sz="1050" dirty="0">
                <a:solidFill>
                  <a:srgbClr val="B3C3D6"/>
                </a:solidFill>
                <a:latin typeface="Arial" pitchFamily="34" charset="0"/>
                <a:ea typeface="Arial" pitchFamily="34" charset="-122"/>
                <a:cs typeface="Arial" pitchFamily="34" charset="-120"/>
              </a:rPr>
              <a:t>59 / 64</a:t>
            </a:r>
            <a:endParaRPr lang="en-US" sz="1050" dirty="0"/>
          </a:p>
        </p:txBody>
      </p:sp>
      <p:sp>
        <p:nvSpPr>
          <p:cNvPr id="25" name="Shape 23"/>
          <p:cNvSpPr/>
          <p:nvPr/>
        </p:nvSpPr>
        <p:spPr>
          <a:xfrm>
            <a:off x="0" y="6834226"/>
            <a:ext cx="12192000" cy="23774"/>
          </a:xfrm>
          <a:prstGeom prst="rect">
            <a:avLst/>
          </a:prstGeom>
          <a:solidFill>
            <a:srgbClr val="2B415A"/>
          </a:solidFill>
          <a:ln w="8890">
            <a:solidFill>
              <a:srgbClr val="2B415A"/>
            </a:solidFill>
            <a:prstDash val="solid"/>
          </a:ln>
        </p:spPr>
        <p:txBody>
          <a:bodyPr/>
          <a:p/>
        </p:txBody>
      </p:sp>
      <p:sp>
        <p:nvSpPr>
          <p:cNvPr id="26" name="Shape 24"/>
          <p:cNvSpPr/>
          <p:nvPr/>
        </p:nvSpPr>
        <p:spPr>
          <a:xfrm>
            <a:off x="0" y="6834226"/>
            <a:ext cx="11239500" cy="23774"/>
          </a:xfrm>
          <a:prstGeom prst="rect">
            <a:avLst/>
          </a:prstGeom>
          <a:solidFill>
            <a:srgbClr val="71D5DD"/>
          </a:solidFill>
          <a:ln w="8890">
            <a:solidFill>
              <a:srgbClr val="71D5DD"/>
            </a:solidFill>
            <a:prstDash val="solid"/>
          </a:ln>
        </p:spPr>
        <p:txBody>
          <a:body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txBox="1"/>
          <p:nvPr/>
        </p:nvSpPr>
        <p:spPr>
          <a:xfrm>
            <a:off x="548640" y="219456"/>
            <a:ext cx="9875520" cy="192024"/>
          </a:xfrm>
          <a:prstGeom prst="rect">
            <a:avLst/>
          </a:prstGeom>
          <a:noFill/>
          <a:ln/>
        </p:spPr>
        <p:txBody>
          <a:bodyPr wrap="square" lIns="0" tIns="0" rIns="0" bIns="0" rtlCol="0" anchor="t"/>
          <a:lstStyle/>
          <a:p>
            <a:pPr algn="l" indent="0" marL="0">
              <a:lnSpc>
                <a:spcPct val="104000"/>
              </a:lnSpc>
              <a:buNone/>
            </a:pPr>
            <a:r>
              <a:rPr lang="en-US" sz="970" b="1" spc="135" kern="0" dirty="0">
                <a:solidFill>
                  <a:srgbClr val="B3C3D6"/>
                </a:solidFill>
                <a:latin typeface="Arial" pitchFamily="34" charset="0"/>
                <a:ea typeface="Arial" pitchFamily="34" charset="-122"/>
                <a:cs typeface="Arial" pitchFamily="34" charset="-120"/>
              </a:rPr>
              <a:t>SYSTEMS PROGRAMMING AND MACHINE ORGANIZATION</a:t>
            </a:r>
            <a:endParaRPr lang="en-US" sz="970" dirty="0"/>
          </a:p>
        </p:txBody>
      </p:sp>
      <p:sp>
        <p:nvSpPr>
          <p:cNvPr id="3" name="Text 1"/>
          <p:cNvSpPr txBox="1"/>
          <p:nvPr/>
        </p:nvSpPr>
        <p:spPr>
          <a:xfrm>
            <a:off x="9601200" y="219456"/>
            <a:ext cx="2039112" cy="192024"/>
          </a:xfrm>
          <a:prstGeom prst="rect">
            <a:avLst/>
          </a:prstGeom>
          <a:noFill/>
          <a:ln/>
        </p:spPr>
        <p:txBody>
          <a:bodyPr wrap="square" lIns="0" tIns="0" rIns="0" bIns="0" rtlCol="0" anchor="t"/>
          <a:lstStyle/>
          <a:p>
            <a:pPr algn="r" indent="0" marL="0">
              <a:lnSpc>
                <a:spcPct val="104000"/>
              </a:lnSpc>
              <a:buNone/>
            </a:pPr>
            <a:r>
              <a:rPr lang="en-US" sz="970" b="1" dirty="0">
                <a:solidFill>
                  <a:srgbClr val="B3C3D6"/>
                </a:solidFill>
                <a:latin typeface="Arial" pitchFamily="34" charset="0"/>
                <a:ea typeface="Arial" pitchFamily="34" charset="-122"/>
                <a:cs typeface="Arial" pitchFamily="34" charset="-120"/>
              </a:rPr>
              <a:t>CHARLES DORNER</a:t>
            </a:r>
            <a:endParaRPr lang="en-US" sz="970" dirty="0"/>
          </a:p>
        </p:txBody>
      </p:sp>
      <p:sp>
        <p:nvSpPr>
          <p:cNvPr id="4" name="Text 2"/>
          <p:cNvSpPr txBox="1"/>
          <p:nvPr/>
        </p:nvSpPr>
        <p:spPr>
          <a:xfrm>
            <a:off x="548640" y="566928"/>
            <a:ext cx="11109960" cy="237744"/>
          </a:xfrm>
          <a:prstGeom prst="rect">
            <a:avLst/>
          </a:prstGeom>
          <a:noFill/>
          <a:ln/>
        </p:spPr>
        <p:txBody>
          <a:bodyPr wrap="square" lIns="0" tIns="0" rIns="0" bIns="0" rtlCol="0" anchor="t"/>
          <a:lstStyle/>
          <a:p>
            <a:pPr algn="l" indent="0" marL="0">
              <a:lnSpc>
                <a:spcPct val="104000"/>
              </a:lnSpc>
              <a:buNone/>
            </a:pPr>
            <a:r>
              <a:rPr lang="en-US" sz="1150" b="1" dirty="0">
                <a:solidFill>
                  <a:srgbClr val="71D5DD"/>
                </a:solidFill>
                <a:latin typeface="Arial" pitchFamily="34" charset="0"/>
                <a:ea typeface="Arial" pitchFamily="34" charset="-122"/>
                <a:cs typeface="Arial" pitchFamily="34" charset="-120"/>
              </a:rPr>
              <a:t>TAKEAWAYS &amp; CHAPTER 2 PREVIEW</a:t>
            </a:r>
            <a:endParaRPr lang="en-US" sz="1150" dirty="0"/>
          </a:p>
        </p:txBody>
      </p:sp>
      <p:sp>
        <p:nvSpPr>
          <p:cNvPr id="5" name="Text 3"/>
          <p:cNvSpPr txBox="1"/>
          <p:nvPr/>
        </p:nvSpPr>
        <p:spPr>
          <a:xfrm>
            <a:off x="548640" y="941832"/>
            <a:ext cx="11091672" cy="676656"/>
          </a:xfrm>
          <a:prstGeom prst="rect">
            <a:avLst/>
          </a:prstGeom>
          <a:noFill/>
          <a:ln/>
        </p:spPr>
        <p:txBody>
          <a:bodyPr wrap="square" lIns="0" tIns="0" rIns="0" bIns="0" rtlCol="0" anchor="t"/>
          <a:lstStyle/>
          <a:p>
            <a:pPr algn="l" indent="0" marL="0">
              <a:lnSpc>
                <a:spcPct val="104000"/>
              </a:lnSpc>
              <a:buNone/>
            </a:pPr>
            <a:r>
              <a:rPr lang="en-US" sz="3150" b="1" dirty="0">
                <a:solidFill>
                  <a:srgbClr val="F4F7FB"/>
                </a:solidFill>
                <a:latin typeface="Arial" pitchFamily="34" charset="0"/>
                <a:ea typeface="Arial" pitchFamily="34" charset="-122"/>
                <a:cs typeface="Arial" pitchFamily="34" charset="-120"/>
              </a:rPr>
              <a:t>Chapter 1: the system is a chain of contracts</a:t>
            </a:r>
            <a:endParaRPr lang="en-US" sz="3150" dirty="0"/>
          </a:p>
        </p:txBody>
      </p:sp>
      <p:sp>
        <p:nvSpPr>
          <p:cNvPr id="6" name="Shape 4"/>
          <p:cNvSpPr/>
          <p:nvPr/>
        </p:nvSpPr>
        <p:spPr>
          <a:xfrm>
            <a:off x="548640" y="1764792"/>
            <a:ext cx="3564128" cy="3310128"/>
          </a:xfrm>
          <a:prstGeom prst="rect">
            <a:avLst/>
          </a:prstGeom>
          <a:solidFill>
            <a:srgbClr val="142238"/>
          </a:solidFill>
          <a:ln w="8890">
            <a:solidFill>
              <a:srgbClr val="2B415A"/>
            </a:solidFill>
            <a:prstDash val="solid"/>
          </a:ln>
        </p:spPr>
        <p:txBody>
          <a:bodyPr/>
          <a:p/>
        </p:txBody>
      </p:sp>
      <p:sp>
        <p:nvSpPr>
          <p:cNvPr id="7" name="Shape 5"/>
          <p:cNvSpPr/>
          <p:nvPr/>
        </p:nvSpPr>
        <p:spPr>
          <a:xfrm>
            <a:off x="548640" y="1764792"/>
            <a:ext cx="41148" cy="3310128"/>
          </a:xfrm>
          <a:prstGeom prst="rect">
            <a:avLst/>
          </a:prstGeom>
          <a:solidFill>
            <a:srgbClr val="71D5DD"/>
          </a:solidFill>
          <a:ln w="8890">
            <a:solidFill>
              <a:srgbClr val="71D5DD"/>
            </a:solidFill>
            <a:prstDash val="solid"/>
          </a:ln>
        </p:spPr>
        <p:txBody>
          <a:bodyPr/>
          <a:p/>
        </p:txBody>
      </p:sp>
      <p:sp>
        <p:nvSpPr>
          <p:cNvPr id="8" name="Text 6"/>
          <p:cNvSpPr txBox="1"/>
          <p:nvPr/>
        </p:nvSpPr>
        <p:spPr>
          <a:xfrm>
            <a:off x="758952" y="1975104"/>
            <a:ext cx="3134360" cy="557784"/>
          </a:xfrm>
          <a:prstGeom prst="rect">
            <a:avLst/>
          </a:prstGeom>
          <a:noFill/>
          <a:ln/>
        </p:spPr>
        <p:txBody>
          <a:bodyPr wrap="square" lIns="0" tIns="0" rIns="0" bIns="0" rtlCol="0" anchor="t"/>
          <a:lstStyle/>
          <a:p>
            <a:pPr algn="l" indent="0" marL="0">
              <a:lnSpc>
                <a:spcPct val="104000"/>
              </a:lnSpc>
              <a:buNone/>
            </a:pPr>
            <a:r>
              <a:rPr lang="en-US" sz="1750" b="1" dirty="0">
                <a:solidFill>
                  <a:srgbClr val="71D5DD"/>
                </a:solidFill>
                <a:latin typeface="Arial" pitchFamily="34" charset="0"/>
                <a:ea typeface="Arial" pitchFamily="34" charset="-122"/>
                <a:cs typeface="Arial" pitchFamily="34" charset="-120"/>
              </a:rPr>
              <a:t>INTERFACES</a:t>
            </a:r>
            <a:endParaRPr lang="en-US" sz="1750" dirty="0"/>
          </a:p>
        </p:txBody>
      </p:sp>
      <p:sp>
        <p:nvSpPr>
          <p:cNvPr id="9" name="Text 7"/>
          <p:cNvSpPr txBox="1"/>
          <p:nvPr/>
        </p:nvSpPr>
        <p:spPr>
          <a:xfrm>
            <a:off x="758952" y="2642616"/>
            <a:ext cx="3134360" cy="2267712"/>
          </a:xfrm>
          <a:prstGeom prst="rect">
            <a:avLst/>
          </a:prstGeom>
          <a:noFill/>
          <a:ln/>
        </p:spPr>
        <p:txBody>
          <a:bodyPr wrap="square" lIns="0" tIns="0" rIns="0" bIns="0" rtlCol="0" anchor="t"/>
          <a:lstStyle/>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API ≠ ABI ≠ ISA.</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Hidden details do not</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create extra guarantees.</a:t>
            </a:r>
            <a:endParaRPr lang="en-US" sz="2200" dirty="0"/>
          </a:p>
        </p:txBody>
      </p:sp>
      <p:sp>
        <p:nvSpPr>
          <p:cNvPr id="10" name="Shape 8"/>
          <p:cNvSpPr/>
          <p:nvPr/>
        </p:nvSpPr>
        <p:spPr>
          <a:xfrm>
            <a:off x="4313936" y="1764792"/>
            <a:ext cx="3564128" cy="3310128"/>
          </a:xfrm>
          <a:prstGeom prst="rect">
            <a:avLst/>
          </a:prstGeom>
          <a:solidFill>
            <a:srgbClr val="142238"/>
          </a:solidFill>
          <a:ln w="8890">
            <a:solidFill>
              <a:srgbClr val="2B415A"/>
            </a:solidFill>
            <a:prstDash val="solid"/>
          </a:ln>
        </p:spPr>
        <p:txBody>
          <a:bodyPr/>
          <a:p/>
        </p:txBody>
      </p:sp>
      <p:sp>
        <p:nvSpPr>
          <p:cNvPr id="11" name="Shape 9"/>
          <p:cNvSpPr/>
          <p:nvPr/>
        </p:nvSpPr>
        <p:spPr>
          <a:xfrm>
            <a:off x="4313936" y="1764792"/>
            <a:ext cx="41148" cy="3310128"/>
          </a:xfrm>
          <a:prstGeom prst="rect">
            <a:avLst/>
          </a:prstGeom>
          <a:solidFill>
            <a:srgbClr val="71D5DD"/>
          </a:solidFill>
          <a:ln w="8890">
            <a:solidFill>
              <a:srgbClr val="71D5DD"/>
            </a:solidFill>
            <a:prstDash val="solid"/>
          </a:ln>
        </p:spPr>
        <p:txBody>
          <a:bodyPr/>
          <a:p/>
        </p:txBody>
      </p:sp>
      <p:sp>
        <p:nvSpPr>
          <p:cNvPr id="12" name="Text 10"/>
          <p:cNvSpPr txBox="1"/>
          <p:nvPr/>
        </p:nvSpPr>
        <p:spPr>
          <a:xfrm>
            <a:off x="4524248" y="1975104"/>
            <a:ext cx="3134360" cy="557784"/>
          </a:xfrm>
          <a:prstGeom prst="rect">
            <a:avLst/>
          </a:prstGeom>
          <a:noFill/>
          <a:ln/>
        </p:spPr>
        <p:txBody>
          <a:bodyPr wrap="square" lIns="0" tIns="0" rIns="0" bIns="0" rtlCol="0" anchor="t"/>
          <a:lstStyle/>
          <a:p>
            <a:pPr algn="l" indent="0" marL="0">
              <a:lnSpc>
                <a:spcPct val="104000"/>
              </a:lnSpc>
              <a:buNone/>
            </a:pPr>
            <a:r>
              <a:rPr lang="en-US" sz="1750" b="1" dirty="0">
                <a:solidFill>
                  <a:srgbClr val="71D5DD"/>
                </a:solidFill>
                <a:latin typeface="Arial" pitchFamily="34" charset="0"/>
                <a:ea typeface="Arial" pitchFamily="34" charset="-122"/>
                <a:cs typeface="Arial" pitchFamily="34" charset="-120"/>
              </a:rPr>
              <a:t>EXECUTION</a:t>
            </a:r>
            <a:endParaRPr lang="en-US" sz="1750" dirty="0"/>
          </a:p>
        </p:txBody>
      </p:sp>
      <p:sp>
        <p:nvSpPr>
          <p:cNvPr id="13" name="Text 11"/>
          <p:cNvSpPr txBox="1"/>
          <p:nvPr/>
        </p:nvSpPr>
        <p:spPr>
          <a:xfrm>
            <a:off x="4524248" y="2642616"/>
            <a:ext cx="3134360" cy="2267712"/>
          </a:xfrm>
          <a:prstGeom prst="rect">
            <a:avLst/>
          </a:prstGeom>
          <a:noFill/>
          <a:ln/>
        </p:spPr>
        <p:txBody>
          <a:bodyPr wrap="square" lIns="0" tIns="0" rIns="0" bIns="0" rtlCol="0" anchor="t"/>
          <a:lstStyle/>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Source → preprocess →</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compile → assemble →</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link → load → run.</a:t>
            </a:r>
            <a:endParaRPr lang="en-US" sz="2200" dirty="0"/>
          </a:p>
        </p:txBody>
      </p:sp>
      <p:sp>
        <p:nvSpPr>
          <p:cNvPr id="14" name="Shape 12"/>
          <p:cNvSpPr/>
          <p:nvPr/>
        </p:nvSpPr>
        <p:spPr>
          <a:xfrm>
            <a:off x="8079232" y="1764792"/>
            <a:ext cx="3564128" cy="3310128"/>
          </a:xfrm>
          <a:prstGeom prst="rect">
            <a:avLst/>
          </a:prstGeom>
          <a:solidFill>
            <a:srgbClr val="142238"/>
          </a:solidFill>
          <a:ln w="8890">
            <a:solidFill>
              <a:srgbClr val="2B415A"/>
            </a:solidFill>
            <a:prstDash val="solid"/>
          </a:ln>
        </p:spPr>
        <p:txBody>
          <a:bodyPr/>
          <a:p/>
        </p:txBody>
      </p:sp>
      <p:sp>
        <p:nvSpPr>
          <p:cNvPr id="15" name="Shape 13"/>
          <p:cNvSpPr/>
          <p:nvPr/>
        </p:nvSpPr>
        <p:spPr>
          <a:xfrm>
            <a:off x="8079232" y="1764792"/>
            <a:ext cx="41148" cy="3310128"/>
          </a:xfrm>
          <a:prstGeom prst="rect">
            <a:avLst/>
          </a:prstGeom>
          <a:solidFill>
            <a:srgbClr val="71D5DD"/>
          </a:solidFill>
          <a:ln w="8890">
            <a:solidFill>
              <a:srgbClr val="71D5DD"/>
            </a:solidFill>
            <a:prstDash val="solid"/>
          </a:ln>
        </p:spPr>
        <p:txBody>
          <a:bodyPr/>
          <a:p/>
        </p:txBody>
      </p:sp>
      <p:sp>
        <p:nvSpPr>
          <p:cNvPr id="16" name="Text 14"/>
          <p:cNvSpPr txBox="1"/>
          <p:nvPr/>
        </p:nvSpPr>
        <p:spPr>
          <a:xfrm>
            <a:off x="8289544" y="1975104"/>
            <a:ext cx="3134360" cy="557784"/>
          </a:xfrm>
          <a:prstGeom prst="rect">
            <a:avLst/>
          </a:prstGeom>
          <a:noFill/>
          <a:ln/>
        </p:spPr>
        <p:txBody>
          <a:bodyPr wrap="square" lIns="0" tIns="0" rIns="0" bIns="0" rtlCol="0" anchor="t"/>
          <a:lstStyle/>
          <a:p>
            <a:pPr algn="l" indent="0" marL="0">
              <a:lnSpc>
                <a:spcPct val="104000"/>
              </a:lnSpc>
              <a:buNone/>
            </a:pPr>
            <a:r>
              <a:rPr lang="en-US" sz="1750" b="1" dirty="0">
                <a:solidFill>
                  <a:srgbClr val="71D5DD"/>
                </a:solidFill>
                <a:latin typeface="Arial" pitchFamily="34" charset="0"/>
                <a:ea typeface="Arial" pitchFamily="34" charset="-122"/>
                <a:cs typeface="Arial" pitchFamily="34" charset="-120"/>
              </a:rPr>
              <a:t>ENGINEERING</a:t>
            </a:r>
            <a:endParaRPr lang="en-US" sz="1750" dirty="0"/>
          </a:p>
        </p:txBody>
      </p:sp>
      <p:sp>
        <p:nvSpPr>
          <p:cNvPr id="17" name="Text 15"/>
          <p:cNvSpPr txBox="1"/>
          <p:nvPr/>
        </p:nvSpPr>
        <p:spPr>
          <a:xfrm>
            <a:off x="8289544" y="2642616"/>
            <a:ext cx="3134360" cy="2267712"/>
          </a:xfrm>
          <a:prstGeom prst="rect">
            <a:avLst/>
          </a:prstGeom>
          <a:noFill/>
          <a:ln/>
        </p:spPr>
        <p:txBody>
          <a:bodyPr wrap="square" lIns="0" tIns="0" rIns="0" bIns="0" rtlCol="0" anchor="t"/>
          <a:lstStyle/>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Make representation,</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ownership, failure, and</a:t>
            </a:r>
            <a:endParaRPr lang="en-US" sz="2200" dirty="0"/>
          </a:p>
          <a:p>
            <a:pPr algn="l" indent="0" marL="0">
              <a:lnSpc>
                <a:spcPct val="104000"/>
              </a:lnSpc>
              <a:buNone/>
            </a:pPr>
            <a:r>
              <a:rPr lang="en-US" sz="2200" dirty="0">
                <a:solidFill>
                  <a:srgbClr val="F4F7FB"/>
                </a:solidFill>
                <a:latin typeface="Arial" pitchFamily="34" charset="0"/>
                <a:ea typeface="Arial" pitchFamily="34" charset="-122"/>
                <a:cs typeface="Arial" pitchFamily="34" charset="-120"/>
              </a:rPr>
              <a:t>assumptions explicit.</a:t>
            </a:r>
            <a:endParaRPr lang="en-US" sz="2200" dirty="0"/>
          </a:p>
        </p:txBody>
      </p:sp>
      <p:sp>
        <p:nvSpPr>
          <p:cNvPr id="18" name="Text 16"/>
          <p:cNvSpPr txBox="1"/>
          <p:nvPr/>
        </p:nvSpPr>
        <p:spPr>
          <a:xfrm>
            <a:off x="548640" y="5193792"/>
            <a:ext cx="11094720" cy="274320"/>
          </a:xfrm>
          <a:prstGeom prst="rect">
            <a:avLst/>
          </a:prstGeom>
          <a:noFill/>
          <a:ln/>
        </p:spPr>
        <p:txBody>
          <a:bodyPr wrap="square" lIns="0" tIns="0" rIns="0" bIns="0" rtlCol="0" anchor="t"/>
          <a:lstStyle/>
          <a:p>
            <a:pPr algn="l" indent="0" marL="0">
              <a:lnSpc>
                <a:spcPct val="104000"/>
              </a:lnSpc>
              <a:buNone/>
            </a:pPr>
            <a:r>
              <a:rPr lang="en-US" sz="1140" dirty="0">
                <a:solidFill>
                  <a:srgbClr val="B3C3D6"/>
                </a:solidFill>
                <a:latin typeface="Arial" pitchFamily="34" charset="0"/>
                <a:ea typeface="Arial" pitchFamily="34" charset="-122"/>
                <a:cs typeface="Arial" pitchFamily="34" charset="-120"/>
              </a:rPr>
              <a:t>Next: C and C++ for Systems Programming. Correctness first; performance claims need their own evidence.</a:t>
            </a:r>
            <a:endParaRPr lang="en-US" sz="1140" dirty="0"/>
          </a:p>
        </p:txBody>
      </p:sp>
      <p:sp>
        <p:nvSpPr>
          <p:cNvPr id="23" name="Text 21"/>
          <p:cNvSpPr txBox="1"/>
          <p:nvPr/>
        </p:nvSpPr>
        <p:spPr>
          <a:xfrm>
            <a:off x="548640" y="6601968"/>
            <a:ext cx="10241280" cy="128016"/>
          </a:xfrm>
          <a:prstGeom prst="rect">
            <a:avLst/>
          </a:prstGeom>
          <a:noFill/>
          <a:ln/>
        </p:spPr>
        <p:txBody>
          <a:bodyPr wrap="square" lIns="0" tIns="0" rIns="0" bIns="0" rtlCol="0" anchor="t"/>
          <a:lstStyle/>
          <a:p>
            <a:pPr algn="l" indent="0" marL="0">
              <a:lnSpc>
                <a:spcPct val="104000"/>
              </a:lnSpc>
              <a:buNone/>
            </a:pPr>
            <a:r>
              <a:rPr lang="en-US" sz="830" dirty="0">
                <a:solidFill>
                  <a:srgbClr val="B3C3D6"/>
                </a:solidFill>
                <a:latin typeface="Arial" pitchFamily="34" charset="0"/>
                <a:ea typeface="Arial" pitchFamily="34" charset="-122"/>
                <a:cs typeface="Arial" pitchFamily="34" charset="-120"/>
              </a:rPr>
              <a:t>Source: original 22</a:t>
            </a:r>
            <a:endParaRPr lang="en-US" sz="830" dirty="0"/>
          </a:p>
        </p:txBody>
      </p:sp>
      <p:sp>
        <p:nvSpPr>
          <p:cNvPr id="24" name="Text 22"/>
          <p:cNvSpPr txBox="1"/>
          <p:nvPr/>
        </p:nvSpPr>
        <p:spPr>
          <a:xfrm>
            <a:off x="10917936" y="6565392"/>
            <a:ext cx="722376" cy="219456"/>
          </a:xfrm>
          <a:prstGeom prst="rect">
            <a:avLst/>
          </a:prstGeom>
          <a:noFill/>
          <a:ln/>
        </p:spPr>
        <p:txBody>
          <a:bodyPr wrap="square" lIns="0" tIns="0" rIns="0" bIns="0" rtlCol="0" anchor="t"/>
          <a:lstStyle/>
          <a:p>
            <a:pPr algn="r" indent="0" marL="0">
              <a:lnSpc>
                <a:spcPct val="104000"/>
              </a:lnSpc>
              <a:buNone/>
            </a:pPr>
            <a:r>
              <a:rPr lang="en-US" sz="1050" dirty="0">
                <a:solidFill>
                  <a:srgbClr val="B3C3D6"/>
                </a:solidFill>
                <a:latin typeface="Arial" pitchFamily="34" charset="0"/>
                <a:ea typeface="Arial" pitchFamily="34" charset="-122"/>
                <a:cs typeface="Arial" pitchFamily="34" charset="-120"/>
              </a:rPr>
              <a:t>60 / 64</a:t>
            </a:r>
            <a:endParaRPr lang="en-US" sz="1050" dirty="0"/>
          </a:p>
        </p:txBody>
      </p:sp>
      <p:sp>
        <p:nvSpPr>
          <p:cNvPr id="25" name="Shape 23"/>
          <p:cNvSpPr/>
          <p:nvPr/>
        </p:nvSpPr>
        <p:spPr>
          <a:xfrm>
            <a:off x="0" y="6834226"/>
            <a:ext cx="12192000" cy="23774"/>
          </a:xfrm>
          <a:prstGeom prst="rect">
            <a:avLst/>
          </a:prstGeom>
          <a:solidFill>
            <a:srgbClr val="2B415A"/>
          </a:solidFill>
          <a:ln w="8890">
            <a:solidFill>
              <a:srgbClr val="2B415A"/>
            </a:solidFill>
            <a:prstDash val="solid"/>
          </a:ln>
        </p:spPr>
        <p:txBody>
          <a:bodyPr/>
          <a:p/>
        </p:txBody>
      </p:sp>
      <p:sp>
        <p:nvSpPr>
          <p:cNvPr id="26" name="Shape 24"/>
          <p:cNvSpPr/>
          <p:nvPr/>
        </p:nvSpPr>
        <p:spPr>
          <a:xfrm>
            <a:off x="0" y="6834226"/>
            <a:ext cx="11430000" cy="23774"/>
          </a:xfrm>
          <a:prstGeom prst="rect">
            <a:avLst/>
          </a:prstGeom>
          <a:solidFill>
            <a:srgbClr val="71D5DD"/>
          </a:solidFill>
          <a:ln w="8890">
            <a:solidFill>
              <a:srgbClr val="71D5DD"/>
            </a:solidFill>
            <a:prstDash val="solid"/>
          </a:ln>
        </p:spPr>
        <p:txBody>
          <a:body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txBox="1"/>
          <p:nvPr/>
        </p:nvSpPr>
        <p:spPr>
          <a:xfrm>
            <a:off x="548640" y="219456"/>
            <a:ext cx="9875520" cy="192024"/>
          </a:xfrm>
          <a:prstGeom prst="rect">
            <a:avLst/>
          </a:prstGeom>
          <a:noFill/>
          <a:ln/>
        </p:spPr>
        <p:txBody>
          <a:bodyPr wrap="square" lIns="0" tIns="0" rIns="0" bIns="0" rtlCol="0" anchor="t"/>
          <a:lstStyle/>
          <a:p>
            <a:pPr algn="l" indent="0" marL="0">
              <a:lnSpc>
                <a:spcPct val="104000"/>
              </a:lnSpc>
              <a:buNone/>
            </a:pPr>
            <a:r>
              <a:rPr lang="en-US" sz="970" b="1" spc="135" kern="0" dirty="0">
                <a:solidFill>
                  <a:srgbClr val="B3C3D6"/>
                </a:solidFill>
                <a:latin typeface="Arial" pitchFamily="34" charset="0"/>
                <a:ea typeface="Arial" pitchFamily="34" charset="-122"/>
                <a:cs typeface="Arial" pitchFamily="34" charset="-120"/>
              </a:rPr>
              <a:t>SYSTEMS PROGRAMMING AND MACHINE ORGANIZATION</a:t>
            </a:r>
            <a:endParaRPr lang="en-US" sz="970" dirty="0"/>
          </a:p>
        </p:txBody>
      </p:sp>
      <p:sp>
        <p:nvSpPr>
          <p:cNvPr id="3" name="Text 1"/>
          <p:cNvSpPr txBox="1"/>
          <p:nvPr/>
        </p:nvSpPr>
        <p:spPr>
          <a:xfrm>
            <a:off x="9601200" y="219456"/>
            <a:ext cx="2039112" cy="192024"/>
          </a:xfrm>
          <a:prstGeom prst="rect">
            <a:avLst/>
          </a:prstGeom>
          <a:noFill/>
          <a:ln/>
        </p:spPr>
        <p:txBody>
          <a:bodyPr wrap="square" lIns="0" tIns="0" rIns="0" bIns="0" rtlCol="0" anchor="t"/>
          <a:lstStyle/>
          <a:p>
            <a:pPr algn="r" indent="0" marL="0">
              <a:lnSpc>
                <a:spcPct val="104000"/>
              </a:lnSpc>
              <a:buNone/>
            </a:pPr>
            <a:r>
              <a:rPr lang="en-US" sz="970" b="1" dirty="0">
                <a:solidFill>
                  <a:srgbClr val="B3C3D6"/>
                </a:solidFill>
                <a:latin typeface="Arial" pitchFamily="34" charset="0"/>
                <a:ea typeface="Arial" pitchFamily="34" charset="-122"/>
                <a:cs typeface="Arial" pitchFamily="34" charset="-120"/>
              </a:rPr>
              <a:t>CHARLES DORNER</a:t>
            </a:r>
            <a:endParaRPr lang="en-US" sz="970" dirty="0"/>
          </a:p>
        </p:txBody>
      </p:sp>
      <p:sp>
        <p:nvSpPr>
          <p:cNvPr id="4" name="Text 2"/>
          <p:cNvSpPr txBox="1"/>
          <p:nvPr/>
        </p:nvSpPr>
        <p:spPr>
          <a:xfrm>
            <a:off x="548640" y="566928"/>
            <a:ext cx="11109960" cy="237744"/>
          </a:xfrm>
          <a:prstGeom prst="rect">
            <a:avLst/>
          </a:prstGeom>
          <a:noFill/>
          <a:ln/>
        </p:spPr>
        <p:txBody>
          <a:bodyPr wrap="square" lIns="0" tIns="0" rIns="0" bIns="0" rtlCol="0" anchor="t"/>
          <a:lstStyle/>
          <a:p>
            <a:pPr algn="l" indent="0" marL="0">
              <a:lnSpc>
                <a:spcPct val="104000"/>
              </a:lnSpc>
              <a:buNone/>
            </a:pPr>
            <a:r>
              <a:rPr lang="en-US" sz="1150" b="1" dirty="0">
                <a:solidFill>
                  <a:srgbClr val="71D5DD"/>
                </a:solidFill>
                <a:latin typeface="Arial" pitchFamily="34" charset="0"/>
                <a:ea typeface="Arial" pitchFamily="34" charset="-122"/>
                <a:cs typeface="Arial" pitchFamily="34" charset="-120"/>
              </a:rPr>
              <a:t>APPENDIX · SOURCE-TO-LECTURE TRACEABILITY</a:t>
            </a:r>
            <a:endParaRPr lang="en-US" sz="1150" dirty="0"/>
          </a:p>
        </p:txBody>
      </p:sp>
      <p:sp>
        <p:nvSpPr>
          <p:cNvPr id="5" name="Text 3"/>
          <p:cNvSpPr txBox="1"/>
          <p:nvPr/>
        </p:nvSpPr>
        <p:spPr>
          <a:xfrm>
            <a:off x="548640" y="941832"/>
            <a:ext cx="11091672" cy="676656"/>
          </a:xfrm>
          <a:prstGeom prst="rect">
            <a:avLst/>
          </a:prstGeom>
          <a:noFill/>
          <a:ln/>
        </p:spPr>
        <p:txBody>
          <a:bodyPr wrap="square" lIns="0" tIns="0" rIns="0" bIns="0" rtlCol="0" anchor="t"/>
          <a:lstStyle/>
          <a:p>
            <a:pPr algn="l" indent="0" marL="0">
              <a:lnSpc>
                <a:spcPct val="104000"/>
              </a:lnSpc>
              <a:buNone/>
            </a:pPr>
            <a:r>
              <a:rPr lang="en-US" sz="3150" b="1" dirty="0">
                <a:solidFill>
                  <a:srgbClr val="F4F7FB"/>
                </a:solidFill>
                <a:latin typeface="Arial" pitchFamily="34" charset="0"/>
                <a:ea typeface="Arial" pitchFamily="34" charset="-122"/>
                <a:cs typeface="Arial" pitchFamily="34" charset="-120"/>
              </a:rPr>
              <a:t>Coverage map 1: every original topic retained</a:t>
            </a:r>
            <a:endParaRPr lang="en-US" sz="3150" dirty="0"/>
          </a:p>
        </p:txBody>
      </p:sp>
      <p:sp>
        <p:nvSpPr>
          <p:cNvPr id="6" name="Shape 4"/>
          <p:cNvSpPr/>
          <p:nvPr/>
        </p:nvSpPr>
        <p:spPr>
          <a:xfrm>
            <a:off x="548640" y="1764792"/>
            <a:ext cx="1525524" cy="292608"/>
          </a:xfrm>
          <a:prstGeom prst="rect">
            <a:avLst/>
          </a:prstGeom>
          <a:solidFill>
            <a:srgbClr val="172940"/>
          </a:solidFill>
          <a:ln w="8890">
            <a:solidFill>
              <a:srgbClr val="172940"/>
            </a:solidFill>
            <a:prstDash val="solid"/>
          </a:ln>
        </p:spPr>
        <p:txBody>
          <a:bodyPr/>
          <a:p/>
        </p:txBody>
      </p:sp>
      <p:sp>
        <p:nvSpPr>
          <p:cNvPr id="7" name="Text 5"/>
          <p:cNvSpPr txBox="1"/>
          <p:nvPr/>
        </p:nvSpPr>
        <p:spPr>
          <a:xfrm>
            <a:off x="676656" y="1851660"/>
            <a:ext cx="1269492" cy="192024"/>
          </a:xfrm>
          <a:prstGeom prst="rect">
            <a:avLst/>
          </a:prstGeom>
          <a:noFill/>
          <a:ln/>
        </p:spPr>
        <p:txBody>
          <a:bodyPr wrap="square" lIns="0" tIns="0" rIns="0" bIns="0" rtlCol="0" anchor="t"/>
          <a:lstStyle/>
          <a:p>
            <a:pPr algn="l" indent="0" marL="0">
              <a:lnSpc>
                <a:spcPct val="104000"/>
              </a:lnSpc>
              <a:buNone/>
            </a:pPr>
            <a:r>
              <a:rPr lang="en-US" sz="1140" b="1" dirty="0">
                <a:solidFill>
                  <a:srgbClr val="71D5DD"/>
                </a:solidFill>
                <a:latin typeface="Arial" pitchFamily="34" charset="0"/>
                <a:ea typeface="Arial" pitchFamily="34" charset="-122"/>
                <a:cs typeface="Arial" pitchFamily="34" charset="-120"/>
              </a:rPr>
              <a:t>Original slide</a:t>
            </a:r>
            <a:endParaRPr lang="en-US" sz="1140" dirty="0"/>
          </a:p>
        </p:txBody>
      </p:sp>
      <p:sp>
        <p:nvSpPr>
          <p:cNvPr id="8" name="Shape 6"/>
          <p:cNvSpPr/>
          <p:nvPr/>
        </p:nvSpPr>
        <p:spPr>
          <a:xfrm>
            <a:off x="2074164" y="1764792"/>
            <a:ext cx="7211568" cy="292608"/>
          </a:xfrm>
          <a:prstGeom prst="rect">
            <a:avLst/>
          </a:prstGeom>
          <a:solidFill>
            <a:srgbClr val="172940"/>
          </a:solidFill>
          <a:ln w="8890">
            <a:solidFill>
              <a:srgbClr val="172940"/>
            </a:solidFill>
            <a:prstDash val="solid"/>
          </a:ln>
        </p:spPr>
        <p:txBody>
          <a:bodyPr/>
          <a:p/>
        </p:txBody>
      </p:sp>
      <p:sp>
        <p:nvSpPr>
          <p:cNvPr id="9" name="Text 7"/>
          <p:cNvSpPr txBox="1"/>
          <p:nvPr/>
        </p:nvSpPr>
        <p:spPr>
          <a:xfrm>
            <a:off x="2202180" y="1851660"/>
            <a:ext cx="6955536" cy="192024"/>
          </a:xfrm>
          <a:prstGeom prst="rect">
            <a:avLst/>
          </a:prstGeom>
          <a:noFill/>
          <a:ln/>
        </p:spPr>
        <p:txBody>
          <a:bodyPr wrap="square" lIns="0" tIns="0" rIns="0" bIns="0" rtlCol="0" anchor="t"/>
          <a:lstStyle/>
          <a:p>
            <a:pPr algn="l" indent="0" marL="0">
              <a:lnSpc>
                <a:spcPct val="104000"/>
              </a:lnSpc>
              <a:buNone/>
            </a:pPr>
            <a:r>
              <a:rPr lang="en-US" sz="1140" b="1" dirty="0">
                <a:solidFill>
                  <a:srgbClr val="71D5DD"/>
                </a:solidFill>
                <a:latin typeface="Arial" pitchFamily="34" charset="0"/>
                <a:ea typeface="Arial" pitchFamily="34" charset="-122"/>
                <a:cs typeface="Arial" pitchFamily="34" charset="-120"/>
              </a:rPr>
              <a:t>Source topic</a:t>
            </a:r>
            <a:endParaRPr lang="en-US" sz="1140" dirty="0"/>
          </a:p>
        </p:txBody>
      </p:sp>
      <p:sp>
        <p:nvSpPr>
          <p:cNvPr id="10" name="Shape 8"/>
          <p:cNvSpPr/>
          <p:nvPr/>
        </p:nvSpPr>
        <p:spPr>
          <a:xfrm>
            <a:off x="9285732" y="1764792"/>
            <a:ext cx="2357628" cy="292608"/>
          </a:xfrm>
          <a:prstGeom prst="rect">
            <a:avLst/>
          </a:prstGeom>
          <a:solidFill>
            <a:srgbClr val="172940"/>
          </a:solidFill>
          <a:ln w="8890">
            <a:solidFill>
              <a:srgbClr val="172940"/>
            </a:solidFill>
            <a:prstDash val="solid"/>
          </a:ln>
        </p:spPr>
        <p:txBody>
          <a:bodyPr/>
          <a:p/>
        </p:txBody>
      </p:sp>
      <p:sp>
        <p:nvSpPr>
          <p:cNvPr id="11" name="Text 9"/>
          <p:cNvSpPr txBox="1"/>
          <p:nvPr/>
        </p:nvSpPr>
        <p:spPr>
          <a:xfrm>
            <a:off x="9413748" y="1851660"/>
            <a:ext cx="2101596" cy="192024"/>
          </a:xfrm>
          <a:prstGeom prst="rect">
            <a:avLst/>
          </a:prstGeom>
          <a:noFill/>
          <a:ln/>
        </p:spPr>
        <p:txBody>
          <a:bodyPr wrap="square" lIns="0" tIns="0" rIns="0" bIns="0" rtlCol="0" anchor="t"/>
          <a:lstStyle/>
          <a:p>
            <a:pPr algn="l" indent="0" marL="0">
              <a:lnSpc>
                <a:spcPct val="104000"/>
              </a:lnSpc>
              <a:buNone/>
            </a:pPr>
            <a:r>
              <a:rPr lang="en-US" sz="1140" b="1" dirty="0">
                <a:solidFill>
                  <a:srgbClr val="71D5DD"/>
                </a:solidFill>
                <a:latin typeface="Arial" pitchFamily="34" charset="0"/>
                <a:ea typeface="Arial" pitchFamily="34" charset="-122"/>
                <a:cs typeface="Arial" pitchFamily="34" charset="-120"/>
              </a:rPr>
              <a:t>Expanded slides</a:t>
            </a:r>
            <a:endParaRPr lang="en-US" sz="1140" dirty="0"/>
          </a:p>
        </p:txBody>
      </p:sp>
      <p:sp>
        <p:nvSpPr>
          <p:cNvPr id="12" name="Shape 10"/>
          <p:cNvSpPr/>
          <p:nvPr/>
        </p:nvSpPr>
        <p:spPr>
          <a:xfrm>
            <a:off x="548640" y="2057400"/>
            <a:ext cx="1525524" cy="274320"/>
          </a:xfrm>
          <a:prstGeom prst="rect">
            <a:avLst/>
          </a:prstGeom>
          <a:solidFill>
            <a:srgbClr val="142238"/>
          </a:solidFill>
          <a:ln w="8890">
            <a:solidFill>
              <a:srgbClr val="142238"/>
            </a:solidFill>
            <a:prstDash val="solid"/>
          </a:ln>
        </p:spPr>
        <p:txBody>
          <a:bodyPr/>
          <a:p/>
        </p:txBody>
      </p:sp>
      <p:sp>
        <p:nvSpPr>
          <p:cNvPr id="13" name="Text 11"/>
          <p:cNvSpPr txBox="1"/>
          <p:nvPr/>
        </p:nvSpPr>
        <p:spPr>
          <a:xfrm>
            <a:off x="676656" y="2080260"/>
            <a:ext cx="1269492" cy="233172"/>
          </a:xfrm>
          <a:prstGeom prst="rect">
            <a:avLst/>
          </a:prstGeom>
          <a:noFill/>
          <a:ln/>
        </p:spPr>
        <p:txBody>
          <a:bodyPr wrap="square" lIns="0" tIns="0" rIns="0" bIns="0" rtlCol="0" anchor="t"/>
          <a:lstStyle/>
          <a:p>
            <a:pPr algn="l" indent="0" marL="0">
              <a:lnSpc>
                <a:spcPct val="104000"/>
              </a:lnSpc>
              <a:buNone/>
            </a:pPr>
            <a:r>
              <a:rPr lang="en-US" sz="1420" b="1" dirty="0">
                <a:solidFill>
                  <a:srgbClr val="F4F7FB"/>
                </a:solidFill>
                <a:latin typeface="Arial" pitchFamily="34" charset="0"/>
                <a:ea typeface="Arial" pitchFamily="34" charset="-122"/>
                <a:cs typeface="Arial" pitchFamily="34" charset="-120"/>
              </a:rPr>
              <a:t>1</a:t>
            </a:r>
            <a:endParaRPr lang="en-US" sz="1420" dirty="0"/>
          </a:p>
        </p:txBody>
      </p:sp>
      <p:sp>
        <p:nvSpPr>
          <p:cNvPr id="14" name="Shape 12"/>
          <p:cNvSpPr/>
          <p:nvPr/>
        </p:nvSpPr>
        <p:spPr>
          <a:xfrm>
            <a:off x="2074164" y="2057400"/>
            <a:ext cx="7211568" cy="274320"/>
          </a:xfrm>
          <a:prstGeom prst="rect">
            <a:avLst/>
          </a:prstGeom>
          <a:solidFill>
            <a:srgbClr val="142238"/>
          </a:solidFill>
          <a:ln w="8890">
            <a:solidFill>
              <a:srgbClr val="142238"/>
            </a:solidFill>
            <a:prstDash val="solid"/>
          </a:ln>
        </p:spPr>
        <p:txBody>
          <a:bodyPr/>
          <a:p/>
        </p:txBody>
      </p:sp>
      <p:sp>
        <p:nvSpPr>
          <p:cNvPr id="15" name="Text 13"/>
          <p:cNvSpPr txBox="1"/>
          <p:nvPr/>
        </p:nvSpPr>
        <p:spPr>
          <a:xfrm>
            <a:off x="2202180" y="2080260"/>
            <a:ext cx="6955536" cy="233172"/>
          </a:xfrm>
          <a:prstGeom prst="rect">
            <a:avLst/>
          </a:prstGeom>
          <a:noFill/>
          <a:ln/>
        </p:spPr>
        <p:txBody>
          <a:bodyPr wrap="square" lIns="0" tIns="0" rIns="0" bIns="0" rtlCol="0" anchor="t"/>
          <a:lstStyle/>
          <a:p>
            <a:pPr algn="l" indent="0" marL="0">
              <a:lnSpc>
                <a:spcPct val="104000"/>
              </a:lnSpc>
              <a:buNone/>
            </a:pPr>
            <a:r>
              <a:rPr lang="en-US" sz="1420" dirty="0">
                <a:solidFill>
                  <a:srgbClr val="B3C3D6"/>
                </a:solidFill>
                <a:latin typeface="Arial" pitchFamily="34" charset="0"/>
                <a:ea typeface="Arial" pitchFamily="34" charset="-122"/>
                <a:cs typeface="Arial" pitchFamily="34" charset="-120"/>
              </a:rPr>
              <a:t>Opening and systems mental model</a:t>
            </a:r>
            <a:endParaRPr lang="en-US" sz="1420" dirty="0"/>
          </a:p>
        </p:txBody>
      </p:sp>
      <p:sp>
        <p:nvSpPr>
          <p:cNvPr id="16" name="Shape 14"/>
          <p:cNvSpPr/>
          <p:nvPr/>
        </p:nvSpPr>
        <p:spPr>
          <a:xfrm>
            <a:off x="9285732" y="2057400"/>
            <a:ext cx="2357628" cy="274320"/>
          </a:xfrm>
          <a:prstGeom prst="rect">
            <a:avLst/>
          </a:prstGeom>
          <a:solidFill>
            <a:srgbClr val="142238"/>
          </a:solidFill>
          <a:ln w="8890">
            <a:solidFill>
              <a:srgbClr val="142238"/>
            </a:solidFill>
            <a:prstDash val="solid"/>
          </a:ln>
        </p:spPr>
        <p:txBody>
          <a:bodyPr/>
          <a:p/>
        </p:txBody>
      </p:sp>
      <p:sp>
        <p:nvSpPr>
          <p:cNvPr id="17" name="Text 15"/>
          <p:cNvSpPr txBox="1"/>
          <p:nvPr/>
        </p:nvSpPr>
        <p:spPr>
          <a:xfrm>
            <a:off x="9413748" y="2080260"/>
            <a:ext cx="2101596" cy="233172"/>
          </a:xfrm>
          <a:prstGeom prst="rect">
            <a:avLst/>
          </a:prstGeom>
          <a:noFill/>
          <a:ln/>
        </p:spPr>
        <p:txBody>
          <a:bodyPr wrap="square" lIns="0" tIns="0" rIns="0" bIns="0" rtlCol="0" anchor="t"/>
          <a:lstStyle/>
          <a:p>
            <a:pPr algn="l" indent="0" marL="0">
              <a:lnSpc>
                <a:spcPct val="104000"/>
              </a:lnSpc>
              <a:buNone/>
            </a:pPr>
            <a:r>
              <a:rPr lang="en-US" sz="1420" dirty="0">
                <a:solidFill>
                  <a:srgbClr val="B3C3D6"/>
                </a:solidFill>
                <a:latin typeface="Arial" pitchFamily="34" charset="0"/>
                <a:ea typeface="Arial" pitchFamily="34" charset="-122"/>
                <a:cs typeface="Arial" pitchFamily="34" charset="-120"/>
              </a:rPr>
              <a:t>1–3, 29, 60</a:t>
            </a:r>
            <a:endParaRPr lang="en-US" sz="1420" dirty="0"/>
          </a:p>
        </p:txBody>
      </p:sp>
      <p:sp>
        <p:nvSpPr>
          <p:cNvPr id="18" name="Shape 16"/>
          <p:cNvSpPr/>
          <p:nvPr/>
        </p:nvSpPr>
        <p:spPr>
          <a:xfrm>
            <a:off x="548640" y="2331720"/>
            <a:ext cx="11094720" cy="0"/>
          </a:xfrm>
          <a:prstGeom prst="line">
            <a:avLst/>
          </a:prstGeom>
          <a:noFill/>
          <a:ln w="12700">
            <a:solidFill>
              <a:srgbClr val="2B415A"/>
            </a:solidFill>
            <a:prstDash val="solid"/>
          </a:ln>
        </p:spPr>
        <p:txBody>
          <a:bodyPr/>
          <a:p/>
        </p:txBody>
      </p:sp>
      <p:sp>
        <p:nvSpPr>
          <p:cNvPr id="19" name="Shape 17"/>
          <p:cNvSpPr/>
          <p:nvPr/>
        </p:nvSpPr>
        <p:spPr>
          <a:xfrm>
            <a:off x="548640" y="2331720"/>
            <a:ext cx="1525524" cy="274320"/>
          </a:xfrm>
          <a:prstGeom prst="rect">
            <a:avLst/>
          </a:prstGeom>
          <a:solidFill>
            <a:srgbClr val="0B1322"/>
          </a:solidFill>
          <a:ln w="8890">
            <a:solidFill>
              <a:srgbClr val="0B1322"/>
            </a:solidFill>
            <a:prstDash val="solid"/>
          </a:ln>
        </p:spPr>
        <p:txBody>
          <a:bodyPr/>
          <a:p/>
        </p:txBody>
      </p:sp>
      <p:sp>
        <p:nvSpPr>
          <p:cNvPr id="20" name="Text 18"/>
          <p:cNvSpPr txBox="1"/>
          <p:nvPr/>
        </p:nvSpPr>
        <p:spPr>
          <a:xfrm>
            <a:off x="676656" y="2354580"/>
            <a:ext cx="1269492" cy="233172"/>
          </a:xfrm>
          <a:prstGeom prst="rect">
            <a:avLst/>
          </a:prstGeom>
          <a:noFill/>
          <a:ln/>
        </p:spPr>
        <p:txBody>
          <a:bodyPr wrap="square" lIns="0" tIns="0" rIns="0" bIns="0" rtlCol="0" anchor="t"/>
          <a:lstStyle/>
          <a:p>
            <a:pPr algn="l" indent="0" marL="0">
              <a:lnSpc>
                <a:spcPct val="104000"/>
              </a:lnSpc>
              <a:buNone/>
            </a:pPr>
            <a:r>
              <a:rPr lang="en-US" sz="1420" b="1" dirty="0">
                <a:solidFill>
                  <a:srgbClr val="F4F7FB"/>
                </a:solidFill>
                <a:latin typeface="Arial" pitchFamily="34" charset="0"/>
                <a:ea typeface="Arial" pitchFamily="34" charset="-122"/>
                <a:cs typeface="Arial" pitchFamily="34" charset="-120"/>
              </a:rPr>
              <a:t>2</a:t>
            </a:r>
            <a:endParaRPr lang="en-US" sz="1420" dirty="0"/>
          </a:p>
        </p:txBody>
      </p:sp>
      <p:sp>
        <p:nvSpPr>
          <p:cNvPr id="21" name="Shape 19"/>
          <p:cNvSpPr/>
          <p:nvPr/>
        </p:nvSpPr>
        <p:spPr>
          <a:xfrm>
            <a:off x="2074164" y="2331720"/>
            <a:ext cx="7211568" cy="274320"/>
          </a:xfrm>
          <a:prstGeom prst="rect">
            <a:avLst/>
          </a:prstGeom>
          <a:solidFill>
            <a:srgbClr val="0B1322"/>
          </a:solidFill>
          <a:ln w="8890">
            <a:solidFill>
              <a:srgbClr val="0B1322"/>
            </a:solidFill>
            <a:prstDash val="solid"/>
          </a:ln>
        </p:spPr>
        <p:txBody>
          <a:bodyPr/>
          <a:p/>
        </p:txBody>
      </p:sp>
      <p:sp>
        <p:nvSpPr>
          <p:cNvPr id="22" name="Text 20"/>
          <p:cNvSpPr txBox="1"/>
          <p:nvPr/>
        </p:nvSpPr>
        <p:spPr>
          <a:xfrm>
            <a:off x="2202180" y="2354580"/>
            <a:ext cx="6955536" cy="233172"/>
          </a:xfrm>
          <a:prstGeom prst="rect">
            <a:avLst/>
          </a:prstGeom>
          <a:noFill/>
          <a:ln/>
        </p:spPr>
        <p:txBody>
          <a:bodyPr wrap="square" lIns="0" tIns="0" rIns="0" bIns="0" rtlCol="0" anchor="t"/>
          <a:lstStyle/>
          <a:p>
            <a:pPr algn="l" indent="0" marL="0">
              <a:lnSpc>
                <a:spcPct val="104000"/>
              </a:lnSpc>
              <a:buNone/>
            </a:pPr>
            <a:r>
              <a:rPr lang="en-US" sz="1420" dirty="0">
                <a:solidFill>
                  <a:srgbClr val="B3C3D6"/>
                </a:solidFill>
                <a:latin typeface="Arial" pitchFamily="34" charset="0"/>
                <a:ea typeface="Arial" pitchFamily="34" charset="-122"/>
                <a:cs typeface="Arial" pitchFamily="34" charset="-120"/>
              </a:rPr>
              <a:t>Objectives and cross-layer guarantees</a:t>
            </a:r>
            <a:endParaRPr lang="en-US" sz="1420" dirty="0"/>
          </a:p>
        </p:txBody>
      </p:sp>
      <p:sp>
        <p:nvSpPr>
          <p:cNvPr id="23" name="Shape 21"/>
          <p:cNvSpPr/>
          <p:nvPr/>
        </p:nvSpPr>
        <p:spPr>
          <a:xfrm>
            <a:off x="9285732" y="2331720"/>
            <a:ext cx="2357628" cy="274320"/>
          </a:xfrm>
          <a:prstGeom prst="rect">
            <a:avLst/>
          </a:prstGeom>
          <a:solidFill>
            <a:srgbClr val="0B1322"/>
          </a:solidFill>
          <a:ln w="8890">
            <a:solidFill>
              <a:srgbClr val="0B1322"/>
            </a:solidFill>
            <a:prstDash val="solid"/>
          </a:ln>
        </p:spPr>
        <p:txBody>
          <a:bodyPr/>
          <a:p/>
        </p:txBody>
      </p:sp>
      <p:sp>
        <p:nvSpPr>
          <p:cNvPr id="24" name="Text 22"/>
          <p:cNvSpPr txBox="1"/>
          <p:nvPr/>
        </p:nvSpPr>
        <p:spPr>
          <a:xfrm>
            <a:off x="9413748" y="2354580"/>
            <a:ext cx="2101596" cy="233172"/>
          </a:xfrm>
          <a:prstGeom prst="rect">
            <a:avLst/>
          </a:prstGeom>
          <a:noFill/>
          <a:ln/>
        </p:spPr>
        <p:txBody>
          <a:bodyPr wrap="square" lIns="0" tIns="0" rIns="0" bIns="0" rtlCol="0" anchor="t"/>
          <a:lstStyle/>
          <a:p>
            <a:pPr algn="l" indent="0" marL="0">
              <a:lnSpc>
                <a:spcPct val="104000"/>
              </a:lnSpc>
              <a:buNone/>
            </a:pPr>
            <a:r>
              <a:rPr lang="en-US" sz="1420" dirty="0">
                <a:solidFill>
                  <a:srgbClr val="B3C3D6"/>
                </a:solidFill>
                <a:latin typeface="Arial" pitchFamily="34" charset="0"/>
                <a:ea typeface="Arial" pitchFamily="34" charset="-122"/>
                <a:cs typeface="Arial" pitchFamily="34" charset="-120"/>
              </a:rPr>
              <a:t>2–3, 29, 59</a:t>
            </a:r>
            <a:endParaRPr lang="en-US" sz="1420" dirty="0"/>
          </a:p>
        </p:txBody>
      </p:sp>
      <p:sp>
        <p:nvSpPr>
          <p:cNvPr id="25" name="Shape 23"/>
          <p:cNvSpPr/>
          <p:nvPr/>
        </p:nvSpPr>
        <p:spPr>
          <a:xfrm>
            <a:off x="548640" y="2606040"/>
            <a:ext cx="11094720" cy="0"/>
          </a:xfrm>
          <a:prstGeom prst="line">
            <a:avLst/>
          </a:prstGeom>
          <a:noFill/>
          <a:ln w="12700">
            <a:solidFill>
              <a:srgbClr val="2B415A"/>
            </a:solidFill>
            <a:prstDash val="solid"/>
          </a:ln>
        </p:spPr>
        <p:txBody>
          <a:bodyPr/>
          <a:p/>
        </p:txBody>
      </p:sp>
      <p:sp>
        <p:nvSpPr>
          <p:cNvPr id="26" name="Shape 24"/>
          <p:cNvSpPr/>
          <p:nvPr/>
        </p:nvSpPr>
        <p:spPr>
          <a:xfrm>
            <a:off x="548640" y="2606040"/>
            <a:ext cx="1525524" cy="274320"/>
          </a:xfrm>
          <a:prstGeom prst="rect">
            <a:avLst/>
          </a:prstGeom>
          <a:solidFill>
            <a:srgbClr val="142238"/>
          </a:solidFill>
          <a:ln w="8890">
            <a:solidFill>
              <a:srgbClr val="142238"/>
            </a:solidFill>
            <a:prstDash val="solid"/>
          </a:ln>
        </p:spPr>
        <p:txBody>
          <a:bodyPr/>
          <a:p/>
        </p:txBody>
      </p:sp>
      <p:sp>
        <p:nvSpPr>
          <p:cNvPr id="27" name="Text 25"/>
          <p:cNvSpPr txBox="1"/>
          <p:nvPr/>
        </p:nvSpPr>
        <p:spPr>
          <a:xfrm>
            <a:off x="676656" y="2628900"/>
            <a:ext cx="1269492" cy="233172"/>
          </a:xfrm>
          <a:prstGeom prst="rect">
            <a:avLst/>
          </a:prstGeom>
          <a:noFill/>
          <a:ln/>
        </p:spPr>
        <p:txBody>
          <a:bodyPr wrap="square" lIns="0" tIns="0" rIns="0" bIns="0" rtlCol="0" anchor="t"/>
          <a:lstStyle/>
          <a:p>
            <a:pPr algn="l" indent="0" marL="0">
              <a:lnSpc>
                <a:spcPct val="104000"/>
              </a:lnSpc>
              <a:buNone/>
            </a:pPr>
            <a:r>
              <a:rPr lang="en-US" sz="1420" b="1" dirty="0">
                <a:solidFill>
                  <a:srgbClr val="F4F7FB"/>
                </a:solidFill>
                <a:latin typeface="Arial" pitchFamily="34" charset="0"/>
                <a:ea typeface="Arial" pitchFamily="34" charset="-122"/>
                <a:cs typeface="Arial" pitchFamily="34" charset="-120"/>
              </a:rPr>
              <a:t>3</a:t>
            </a:r>
            <a:endParaRPr lang="en-US" sz="1420" dirty="0"/>
          </a:p>
        </p:txBody>
      </p:sp>
      <p:sp>
        <p:nvSpPr>
          <p:cNvPr id="28" name="Shape 26"/>
          <p:cNvSpPr/>
          <p:nvPr/>
        </p:nvSpPr>
        <p:spPr>
          <a:xfrm>
            <a:off x="2074164" y="2606040"/>
            <a:ext cx="7211568" cy="274320"/>
          </a:xfrm>
          <a:prstGeom prst="rect">
            <a:avLst/>
          </a:prstGeom>
          <a:solidFill>
            <a:srgbClr val="142238"/>
          </a:solidFill>
          <a:ln w="8890">
            <a:solidFill>
              <a:srgbClr val="142238"/>
            </a:solidFill>
            <a:prstDash val="solid"/>
          </a:ln>
        </p:spPr>
        <p:txBody>
          <a:bodyPr/>
          <a:p/>
        </p:txBody>
      </p:sp>
      <p:sp>
        <p:nvSpPr>
          <p:cNvPr id="29" name="Text 27"/>
          <p:cNvSpPr txBox="1"/>
          <p:nvPr/>
        </p:nvSpPr>
        <p:spPr>
          <a:xfrm>
            <a:off x="2202180" y="2628900"/>
            <a:ext cx="6955536" cy="233172"/>
          </a:xfrm>
          <a:prstGeom prst="rect">
            <a:avLst/>
          </a:prstGeom>
          <a:noFill/>
          <a:ln/>
        </p:spPr>
        <p:txBody>
          <a:bodyPr wrap="square" lIns="0" tIns="0" rIns="0" bIns="0" rtlCol="0" anchor="t"/>
          <a:lstStyle/>
          <a:p>
            <a:pPr algn="l" indent="0" marL="0">
              <a:lnSpc>
                <a:spcPct val="104000"/>
              </a:lnSpc>
              <a:buNone/>
            </a:pPr>
            <a:r>
              <a:rPr lang="en-US" sz="1420" dirty="0">
                <a:solidFill>
                  <a:srgbClr val="B3C3D6"/>
                </a:solidFill>
                <a:latin typeface="Arial" pitchFamily="34" charset="0"/>
                <a:ea typeface="Arial" pitchFamily="34" charset="-122"/>
                <a:cs typeface="Arial" pitchFamily="34" charset="-120"/>
              </a:rPr>
              <a:t>Hardware, software, CPU, memory, I/O</a:t>
            </a:r>
            <a:endParaRPr lang="en-US" sz="1420" dirty="0"/>
          </a:p>
        </p:txBody>
      </p:sp>
      <p:sp>
        <p:nvSpPr>
          <p:cNvPr id="30" name="Shape 28"/>
          <p:cNvSpPr/>
          <p:nvPr/>
        </p:nvSpPr>
        <p:spPr>
          <a:xfrm>
            <a:off x="9285732" y="2606040"/>
            <a:ext cx="2357628" cy="274320"/>
          </a:xfrm>
          <a:prstGeom prst="rect">
            <a:avLst/>
          </a:prstGeom>
          <a:solidFill>
            <a:srgbClr val="142238"/>
          </a:solidFill>
          <a:ln w="8890">
            <a:solidFill>
              <a:srgbClr val="142238"/>
            </a:solidFill>
            <a:prstDash val="solid"/>
          </a:ln>
        </p:spPr>
        <p:txBody>
          <a:bodyPr/>
          <a:p/>
        </p:txBody>
      </p:sp>
      <p:sp>
        <p:nvSpPr>
          <p:cNvPr id="31" name="Text 29"/>
          <p:cNvSpPr txBox="1"/>
          <p:nvPr/>
        </p:nvSpPr>
        <p:spPr>
          <a:xfrm>
            <a:off x="9413748" y="2628900"/>
            <a:ext cx="2101596" cy="233172"/>
          </a:xfrm>
          <a:prstGeom prst="rect">
            <a:avLst/>
          </a:prstGeom>
          <a:noFill/>
          <a:ln/>
        </p:spPr>
        <p:txBody>
          <a:bodyPr wrap="square" lIns="0" tIns="0" rIns="0" bIns="0" rtlCol="0" anchor="t"/>
          <a:lstStyle/>
          <a:p>
            <a:pPr algn="l" indent="0" marL="0">
              <a:lnSpc>
                <a:spcPct val="104000"/>
              </a:lnSpc>
              <a:buNone/>
            </a:pPr>
            <a:r>
              <a:rPr lang="en-US" sz="1420" dirty="0">
                <a:solidFill>
                  <a:srgbClr val="B3C3D6"/>
                </a:solidFill>
                <a:latin typeface="Arial" pitchFamily="34" charset="0"/>
                <a:ea typeface="Arial" pitchFamily="34" charset="-122"/>
                <a:cs typeface="Arial" pitchFamily="34" charset="-120"/>
              </a:rPr>
              <a:t>4–6, 12, 38</a:t>
            </a:r>
            <a:endParaRPr lang="en-US" sz="1420" dirty="0"/>
          </a:p>
        </p:txBody>
      </p:sp>
      <p:sp>
        <p:nvSpPr>
          <p:cNvPr id="32" name="Shape 30"/>
          <p:cNvSpPr/>
          <p:nvPr/>
        </p:nvSpPr>
        <p:spPr>
          <a:xfrm>
            <a:off x="548640" y="2880360"/>
            <a:ext cx="11094720" cy="0"/>
          </a:xfrm>
          <a:prstGeom prst="line">
            <a:avLst/>
          </a:prstGeom>
          <a:noFill/>
          <a:ln w="12700">
            <a:solidFill>
              <a:srgbClr val="2B415A"/>
            </a:solidFill>
            <a:prstDash val="solid"/>
          </a:ln>
        </p:spPr>
        <p:txBody>
          <a:bodyPr/>
          <a:p/>
        </p:txBody>
      </p:sp>
      <p:sp>
        <p:nvSpPr>
          <p:cNvPr id="33" name="Shape 31"/>
          <p:cNvSpPr/>
          <p:nvPr/>
        </p:nvSpPr>
        <p:spPr>
          <a:xfrm>
            <a:off x="548640" y="2880360"/>
            <a:ext cx="1525524" cy="274320"/>
          </a:xfrm>
          <a:prstGeom prst="rect">
            <a:avLst/>
          </a:prstGeom>
          <a:solidFill>
            <a:srgbClr val="0B1322"/>
          </a:solidFill>
          <a:ln w="8890">
            <a:solidFill>
              <a:srgbClr val="0B1322"/>
            </a:solidFill>
            <a:prstDash val="solid"/>
          </a:ln>
        </p:spPr>
        <p:txBody>
          <a:bodyPr/>
          <a:p/>
        </p:txBody>
      </p:sp>
      <p:sp>
        <p:nvSpPr>
          <p:cNvPr id="34" name="Text 32"/>
          <p:cNvSpPr txBox="1"/>
          <p:nvPr/>
        </p:nvSpPr>
        <p:spPr>
          <a:xfrm>
            <a:off x="676656" y="2903220"/>
            <a:ext cx="1269492" cy="233172"/>
          </a:xfrm>
          <a:prstGeom prst="rect">
            <a:avLst/>
          </a:prstGeom>
          <a:noFill/>
          <a:ln/>
        </p:spPr>
        <p:txBody>
          <a:bodyPr wrap="square" lIns="0" tIns="0" rIns="0" bIns="0" rtlCol="0" anchor="t"/>
          <a:lstStyle/>
          <a:p>
            <a:pPr algn="l" indent="0" marL="0">
              <a:lnSpc>
                <a:spcPct val="104000"/>
              </a:lnSpc>
              <a:buNone/>
            </a:pPr>
            <a:r>
              <a:rPr lang="en-US" sz="1420" b="1" dirty="0">
                <a:solidFill>
                  <a:srgbClr val="F4F7FB"/>
                </a:solidFill>
                <a:latin typeface="Arial" pitchFamily="34" charset="0"/>
                <a:ea typeface="Arial" pitchFamily="34" charset="-122"/>
                <a:cs typeface="Arial" pitchFamily="34" charset="-120"/>
              </a:rPr>
              <a:t>4</a:t>
            </a:r>
            <a:endParaRPr lang="en-US" sz="1420" dirty="0"/>
          </a:p>
        </p:txBody>
      </p:sp>
      <p:sp>
        <p:nvSpPr>
          <p:cNvPr id="35" name="Shape 33"/>
          <p:cNvSpPr/>
          <p:nvPr/>
        </p:nvSpPr>
        <p:spPr>
          <a:xfrm>
            <a:off x="2074164" y="2880360"/>
            <a:ext cx="7211568" cy="274320"/>
          </a:xfrm>
          <a:prstGeom prst="rect">
            <a:avLst/>
          </a:prstGeom>
          <a:solidFill>
            <a:srgbClr val="0B1322"/>
          </a:solidFill>
          <a:ln w="8890">
            <a:solidFill>
              <a:srgbClr val="0B1322"/>
            </a:solidFill>
            <a:prstDash val="solid"/>
          </a:ln>
        </p:spPr>
        <p:txBody>
          <a:bodyPr/>
          <a:p/>
        </p:txBody>
      </p:sp>
      <p:sp>
        <p:nvSpPr>
          <p:cNvPr id="36" name="Text 34"/>
          <p:cNvSpPr txBox="1"/>
          <p:nvPr/>
        </p:nvSpPr>
        <p:spPr>
          <a:xfrm>
            <a:off x="2202180" y="2903220"/>
            <a:ext cx="6955536" cy="233172"/>
          </a:xfrm>
          <a:prstGeom prst="rect">
            <a:avLst/>
          </a:prstGeom>
          <a:noFill/>
          <a:ln/>
        </p:spPr>
        <p:txBody>
          <a:bodyPr wrap="square" lIns="0" tIns="0" rIns="0" bIns="0" rtlCol="0" anchor="t"/>
          <a:lstStyle/>
          <a:p>
            <a:pPr algn="l" indent="0" marL="0">
              <a:lnSpc>
                <a:spcPct val="104000"/>
              </a:lnSpc>
              <a:buNone/>
            </a:pPr>
            <a:r>
              <a:rPr lang="en-US" sz="1420" dirty="0">
                <a:solidFill>
                  <a:srgbClr val="B3C3D6"/>
                </a:solidFill>
                <a:latin typeface="Arial" pitchFamily="34" charset="0"/>
                <a:ea typeface="Arial" pitchFamily="34" charset="-122"/>
                <a:cs typeface="Arial" pitchFamily="34" charset="-120"/>
              </a:rPr>
              <a:t>Systems software versus applications</a:t>
            </a:r>
            <a:endParaRPr lang="en-US" sz="1420" dirty="0"/>
          </a:p>
        </p:txBody>
      </p:sp>
      <p:sp>
        <p:nvSpPr>
          <p:cNvPr id="37" name="Shape 35"/>
          <p:cNvSpPr/>
          <p:nvPr/>
        </p:nvSpPr>
        <p:spPr>
          <a:xfrm>
            <a:off x="9285732" y="2880360"/>
            <a:ext cx="2357628" cy="274320"/>
          </a:xfrm>
          <a:prstGeom prst="rect">
            <a:avLst/>
          </a:prstGeom>
          <a:solidFill>
            <a:srgbClr val="0B1322"/>
          </a:solidFill>
          <a:ln w="8890">
            <a:solidFill>
              <a:srgbClr val="0B1322"/>
            </a:solidFill>
            <a:prstDash val="solid"/>
          </a:ln>
        </p:spPr>
        <p:txBody>
          <a:bodyPr/>
          <a:p/>
        </p:txBody>
      </p:sp>
      <p:sp>
        <p:nvSpPr>
          <p:cNvPr id="38" name="Text 36"/>
          <p:cNvSpPr txBox="1"/>
          <p:nvPr/>
        </p:nvSpPr>
        <p:spPr>
          <a:xfrm>
            <a:off x="9413748" y="2903220"/>
            <a:ext cx="2101596" cy="233172"/>
          </a:xfrm>
          <a:prstGeom prst="rect">
            <a:avLst/>
          </a:prstGeom>
          <a:noFill/>
          <a:ln/>
        </p:spPr>
        <p:txBody>
          <a:bodyPr wrap="square" lIns="0" tIns="0" rIns="0" bIns="0" rtlCol="0" anchor="t"/>
          <a:lstStyle/>
          <a:p>
            <a:pPr algn="l" indent="0" marL="0">
              <a:lnSpc>
                <a:spcPct val="104000"/>
              </a:lnSpc>
              <a:buNone/>
            </a:pPr>
            <a:r>
              <a:rPr lang="en-US" sz="1420" dirty="0">
                <a:solidFill>
                  <a:srgbClr val="B3C3D6"/>
                </a:solidFill>
                <a:latin typeface="Arial" pitchFamily="34" charset="0"/>
                <a:ea typeface="Arial" pitchFamily="34" charset="-122"/>
                <a:cs typeface="Arial" pitchFamily="34" charset="-120"/>
              </a:rPr>
              <a:t>7</a:t>
            </a:r>
            <a:endParaRPr lang="en-US" sz="1420" dirty="0"/>
          </a:p>
        </p:txBody>
      </p:sp>
      <p:sp>
        <p:nvSpPr>
          <p:cNvPr id="39" name="Shape 37"/>
          <p:cNvSpPr/>
          <p:nvPr/>
        </p:nvSpPr>
        <p:spPr>
          <a:xfrm>
            <a:off x="548640" y="3154680"/>
            <a:ext cx="11094720" cy="0"/>
          </a:xfrm>
          <a:prstGeom prst="line">
            <a:avLst/>
          </a:prstGeom>
          <a:noFill/>
          <a:ln w="12700">
            <a:solidFill>
              <a:srgbClr val="2B415A"/>
            </a:solidFill>
            <a:prstDash val="solid"/>
          </a:ln>
        </p:spPr>
        <p:txBody>
          <a:bodyPr/>
          <a:p/>
        </p:txBody>
      </p:sp>
      <p:sp>
        <p:nvSpPr>
          <p:cNvPr id="40" name="Shape 38"/>
          <p:cNvSpPr/>
          <p:nvPr/>
        </p:nvSpPr>
        <p:spPr>
          <a:xfrm>
            <a:off x="548640" y="3154680"/>
            <a:ext cx="1525524" cy="274320"/>
          </a:xfrm>
          <a:prstGeom prst="rect">
            <a:avLst/>
          </a:prstGeom>
          <a:solidFill>
            <a:srgbClr val="142238"/>
          </a:solidFill>
          <a:ln w="8890">
            <a:solidFill>
              <a:srgbClr val="142238"/>
            </a:solidFill>
            <a:prstDash val="solid"/>
          </a:ln>
        </p:spPr>
        <p:txBody>
          <a:bodyPr/>
          <a:p/>
        </p:txBody>
      </p:sp>
      <p:sp>
        <p:nvSpPr>
          <p:cNvPr id="41" name="Text 39"/>
          <p:cNvSpPr txBox="1"/>
          <p:nvPr/>
        </p:nvSpPr>
        <p:spPr>
          <a:xfrm>
            <a:off x="676656" y="3177540"/>
            <a:ext cx="1269492" cy="233172"/>
          </a:xfrm>
          <a:prstGeom prst="rect">
            <a:avLst/>
          </a:prstGeom>
          <a:noFill/>
          <a:ln/>
        </p:spPr>
        <p:txBody>
          <a:bodyPr wrap="square" lIns="0" tIns="0" rIns="0" bIns="0" rtlCol="0" anchor="t"/>
          <a:lstStyle/>
          <a:p>
            <a:pPr algn="l" indent="0" marL="0">
              <a:lnSpc>
                <a:spcPct val="104000"/>
              </a:lnSpc>
              <a:buNone/>
            </a:pPr>
            <a:r>
              <a:rPr lang="en-US" sz="1420" b="1" dirty="0">
                <a:solidFill>
                  <a:srgbClr val="F4F7FB"/>
                </a:solidFill>
                <a:latin typeface="Arial" pitchFamily="34" charset="0"/>
                <a:ea typeface="Arial" pitchFamily="34" charset="-122"/>
                <a:cs typeface="Arial" pitchFamily="34" charset="-120"/>
              </a:rPr>
              <a:t>5</a:t>
            </a:r>
            <a:endParaRPr lang="en-US" sz="1420" dirty="0"/>
          </a:p>
        </p:txBody>
      </p:sp>
      <p:sp>
        <p:nvSpPr>
          <p:cNvPr id="42" name="Shape 40"/>
          <p:cNvSpPr/>
          <p:nvPr/>
        </p:nvSpPr>
        <p:spPr>
          <a:xfrm>
            <a:off x="2074164" y="3154680"/>
            <a:ext cx="7211568" cy="274320"/>
          </a:xfrm>
          <a:prstGeom prst="rect">
            <a:avLst/>
          </a:prstGeom>
          <a:solidFill>
            <a:srgbClr val="142238"/>
          </a:solidFill>
          <a:ln w="8890">
            <a:solidFill>
              <a:srgbClr val="142238"/>
            </a:solidFill>
            <a:prstDash val="solid"/>
          </a:ln>
        </p:spPr>
        <p:txBody>
          <a:bodyPr/>
          <a:p/>
        </p:txBody>
      </p:sp>
      <p:sp>
        <p:nvSpPr>
          <p:cNvPr id="43" name="Text 41"/>
          <p:cNvSpPr txBox="1"/>
          <p:nvPr/>
        </p:nvSpPr>
        <p:spPr>
          <a:xfrm>
            <a:off x="2202180" y="3177540"/>
            <a:ext cx="6955536" cy="233172"/>
          </a:xfrm>
          <a:prstGeom prst="rect">
            <a:avLst/>
          </a:prstGeom>
          <a:noFill/>
          <a:ln/>
        </p:spPr>
        <p:txBody>
          <a:bodyPr wrap="square" lIns="0" tIns="0" rIns="0" bIns="0" rtlCol="0" anchor="t"/>
          <a:lstStyle/>
          <a:p>
            <a:pPr algn="l" indent="0" marL="0">
              <a:lnSpc>
                <a:spcPct val="104000"/>
              </a:lnSpc>
              <a:buNone/>
            </a:pPr>
            <a:r>
              <a:rPr lang="en-US" sz="1420" dirty="0">
                <a:solidFill>
                  <a:srgbClr val="B3C3D6"/>
                </a:solidFill>
                <a:latin typeface="Arial" pitchFamily="34" charset="0"/>
                <a:ea typeface="Arial" pitchFamily="34" charset="-122"/>
                <a:cs typeface="Arial" pitchFamily="34" charset="-120"/>
              </a:rPr>
              <a:t>Abstraction and types of guarantees</a:t>
            </a:r>
            <a:endParaRPr lang="en-US" sz="1420" dirty="0"/>
          </a:p>
        </p:txBody>
      </p:sp>
      <p:sp>
        <p:nvSpPr>
          <p:cNvPr id="44" name="Shape 42"/>
          <p:cNvSpPr/>
          <p:nvPr/>
        </p:nvSpPr>
        <p:spPr>
          <a:xfrm>
            <a:off x="9285732" y="3154680"/>
            <a:ext cx="2357628" cy="274320"/>
          </a:xfrm>
          <a:prstGeom prst="rect">
            <a:avLst/>
          </a:prstGeom>
          <a:solidFill>
            <a:srgbClr val="142238"/>
          </a:solidFill>
          <a:ln w="8890">
            <a:solidFill>
              <a:srgbClr val="142238"/>
            </a:solidFill>
            <a:prstDash val="solid"/>
          </a:ln>
        </p:spPr>
        <p:txBody>
          <a:bodyPr/>
          <a:p/>
        </p:txBody>
      </p:sp>
      <p:sp>
        <p:nvSpPr>
          <p:cNvPr id="45" name="Text 43"/>
          <p:cNvSpPr txBox="1"/>
          <p:nvPr/>
        </p:nvSpPr>
        <p:spPr>
          <a:xfrm>
            <a:off x="9413748" y="3177540"/>
            <a:ext cx="2101596" cy="233172"/>
          </a:xfrm>
          <a:prstGeom prst="rect">
            <a:avLst/>
          </a:prstGeom>
          <a:noFill/>
          <a:ln/>
        </p:spPr>
        <p:txBody>
          <a:bodyPr wrap="square" lIns="0" tIns="0" rIns="0" bIns="0" rtlCol="0" anchor="t"/>
          <a:lstStyle/>
          <a:p>
            <a:pPr algn="l" indent="0" marL="0">
              <a:lnSpc>
                <a:spcPct val="104000"/>
              </a:lnSpc>
              <a:buNone/>
            </a:pPr>
            <a:r>
              <a:rPr lang="en-US" sz="1420" dirty="0">
                <a:solidFill>
                  <a:srgbClr val="B3C3D6"/>
                </a:solidFill>
                <a:latin typeface="Arial" pitchFamily="34" charset="0"/>
                <a:ea typeface="Arial" pitchFamily="34" charset="-122"/>
                <a:cs typeface="Arial" pitchFamily="34" charset="-120"/>
              </a:rPr>
              <a:t>8–9</a:t>
            </a:r>
            <a:endParaRPr lang="en-US" sz="1420" dirty="0"/>
          </a:p>
        </p:txBody>
      </p:sp>
      <p:sp>
        <p:nvSpPr>
          <p:cNvPr id="46" name="Shape 44"/>
          <p:cNvSpPr/>
          <p:nvPr/>
        </p:nvSpPr>
        <p:spPr>
          <a:xfrm>
            <a:off x="548640" y="3429000"/>
            <a:ext cx="11094720" cy="0"/>
          </a:xfrm>
          <a:prstGeom prst="line">
            <a:avLst/>
          </a:prstGeom>
          <a:noFill/>
          <a:ln w="12700">
            <a:solidFill>
              <a:srgbClr val="2B415A"/>
            </a:solidFill>
            <a:prstDash val="solid"/>
          </a:ln>
        </p:spPr>
        <p:txBody>
          <a:bodyPr/>
          <a:p/>
        </p:txBody>
      </p:sp>
      <p:sp>
        <p:nvSpPr>
          <p:cNvPr id="47" name="Shape 45"/>
          <p:cNvSpPr/>
          <p:nvPr/>
        </p:nvSpPr>
        <p:spPr>
          <a:xfrm>
            <a:off x="548640" y="3429000"/>
            <a:ext cx="1525524" cy="274320"/>
          </a:xfrm>
          <a:prstGeom prst="rect">
            <a:avLst/>
          </a:prstGeom>
          <a:solidFill>
            <a:srgbClr val="0B1322"/>
          </a:solidFill>
          <a:ln w="8890">
            <a:solidFill>
              <a:srgbClr val="0B1322"/>
            </a:solidFill>
            <a:prstDash val="solid"/>
          </a:ln>
        </p:spPr>
        <p:txBody>
          <a:bodyPr/>
          <a:p/>
        </p:txBody>
      </p:sp>
      <p:sp>
        <p:nvSpPr>
          <p:cNvPr id="48" name="Text 46"/>
          <p:cNvSpPr txBox="1"/>
          <p:nvPr/>
        </p:nvSpPr>
        <p:spPr>
          <a:xfrm>
            <a:off x="676656" y="3451860"/>
            <a:ext cx="1269492" cy="233172"/>
          </a:xfrm>
          <a:prstGeom prst="rect">
            <a:avLst/>
          </a:prstGeom>
          <a:noFill/>
          <a:ln/>
        </p:spPr>
        <p:txBody>
          <a:bodyPr wrap="square" lIns="0" tIns="0" rIns="0" bIns="0" rtlCol="0" anchor="t"/>
          <a:lstStyle/>
          <a:p>
            <a:pPr algn="l" indent="0" marL="0">
              <a:lnSpc>
                <a:spcPct val="104000"/>
              </a:lnSpc>
              <a:buNone/>
            </a:pPr>
            <a:r>
              <a:rPr lang="en-US" sz="1420" b="1" dirty="0">
                <a:solidFill>
                  <a:srgbClr val="F4F7FB"/>
                </a:solidFill>
                <a:latin typeface="Arial" pitchFamily="34" charset="0"/>
                <a:ea typeface="Arial" pitchFamily="34" charset="-122"/>
                <a:cs typeface="Arial" pitchFamily="34" charset="-120"/>
              </a:rPr>
              <a:t>6</a:t>
            </a:r>
            <a:endParaRPr lang="en-US" sz="1420" dirty="0"/>
          </a:p>
        </p:txBody>
      </p:sp>
      <p:sp>
        <p:nvSpPr>
          <p:cNvPr id="49" name="Shape 47"/>
          <p:cNvSpPr/>
          <p:nvPr/>
        </p:nvSpPr>
        <p:spPr>
          <a:xfrm>
            <a:off x="2074164" y="3429000"/>
            <a:ext cx="7211568" cy="274320"/>
          </a:xfrm>
          <a:prstGeom prst="rect">
            <a:avLst/>
          </a:prstGeom>
          <a:solidFill>
            <a:srgbClr val="0B1322"/>
          </a:solidFill>
          <a:ln w="8890">
            <a:solidFill>
              <a:srgbClr val="0B1322"/>
            </a:solidFill>
            <a:prstDash val="solid"/>
          </a:ln>
        </p:spPr>
        <p:txBody>
          <a:bodyPr/>
          <a:p/>
        </p:txBody>
      </p:sp>
      <p:sp>
        <p:nvSpPr>
          <p:cNvPr id="50" name="Text 48"/>
          <p:cNvSpPr txBox="1"/>
          <p:nvPr/>
        </p:nvSpPr>
        <p:spPr>
          <a:xfrm>
            <a:off x="2202180" y="3451860"/>
            <a:ext cx="6955536" cy="233172"/>
          </a:xfrm>
          <a:prstGeom prst="rect">
            <a:avLst/>
          </a:prstGeom>
          <a:noFill/>
          <a:ln/>
        </p:spPr>
        <p:txBody>
          <a:bodyPr wrap="square" lIns="0" tIns="0" rIns="0" bIns="0" rtlCol="0" anchor="t"/>
          <a:lstStyle/>
          <a:p>
            <a:pPr algn="l" indent="0" marL="0">
              <a:lnSpc>
                <a:spcPct val="104000"/>
              </a:lnSpc>
              <a:buNone/>
            </a:pPr>
            <a:r>
              <a:rPr lang="en-US" sz="1420" dirty="0">
                <a:solidFill>
                  <a:srgbClr val="B3C3D6"/>
                </a:solidFill>
                <a:latin typeface="Arial" pitchFamily="34" charset="0"/>
                <a:ea typeface="Arial" pitchFamily="34" charset="-122"/>
                <a:cs typeface="Arial" pitchFamily="34" charset="-120"/>
              </a:rPr>
              <a:t>API, ABI, ISA, and compatibility</a:t>
            </a:r>
            <a:endParaRPr lang="en-US" sz="1420" dirty="0"/>
          </a:p>
        </p:txBody>
      </p:sp>
      <p:sp>
        <p:nvSpPr>
          <p:cNvPr id="51" name="Shape 49"/>
          <p:cNvSpPr/>
          <p:nvPr/>
        </p:nvSpPr>
        <p:spPr>
          <a:xfrm>
            <a:off x="9285732" y="3429000"/>
            <a:ext cx="2357628" cy="274320"/>
          </a:xfrm>
          <a:prstGeom prst="rect">
            <a:avLst/>
          </a:prstGeom>
          <a:solidFill>
            <a:srgbClr val="0B1322"/>
          </a:solidFill>
          <a:ln w="8890">
            <a:solidFill>
              <a:srgbClr val="0B1322"/>
            </a:solidFill>
            <a:prstDash val="solid"/>
          </a:ln>
        </p:spPr>
        <p:txBody>
          <a:bodyPr/>
          <a:p/>
        </p:txBody>
      </p:sp>
      <p:sp>
        <p:nvSpPr>
          <p:cNvPr id="52" name="Text 50"/>
          <p:cNvSpPr txBox="1"/>
          <p:nvPr/>
        </p:nvSpPr>
        <p:spPr>
          <a:xfrm>
            <a:off x="9413748" y="3451860"/>
            <a:ext cx="2101596" cy="233172"/>
          </a:xfrm>
          <a:prstGeom prst="rect">
            <a:avLst/>
          </a:prstGeom>
          <a:noFill/>
          <a:ln/>
        </p:spPr>
        <p:txBody>
          <a:bodyPr wrap="square" lIns="0" tIns="0" rIns="0" bIns="0" rtlCol="0" anchor="t"/>
          <a:lstStyle/>
          <a:p>
            <a:pPr algn="l" indent="0" marL="0">
              <a:lnSpc>
                <a:spcPct val="104000"/>
              </a:lnSpc>
              <a:buNone/>
            </a:pPr>
            <a:r>
              <a:rPr lang="en-US" sz="1420" dirty="0">
                <a:solidFill>
                  <a:srgbClr val="B3C3D6"/>
                </a:solidFill>
                <a:latin typeface="Arial" pitchFamily="34" charset="0"/>
                <a:ea typeface="Arial" pitchFamily="34" charset="-122"/>
                <a:cs typeface="Arial" pitchFamily="34" charset="-120"/>
              </a:rPr>
              <a:t>10–13, 58</a:t>
            </a:r>
            <a:endParaRPr lang="en-US" sz="1420" dirty="0"/>
          </a:p>
        </p:txBody>
      </p:sp>
      <p:sp>
        <p:nvSpPr>
          <p:cNvPr id="53" name="Shape 51"/>
          <p:cNvSpPr/>
          <p:nvPr/>
        </p:nvSpPr>
        <p:spPr>
          <a:xfrm>
            <a:off x="548640" y="3703320"/>
            <a:ext cx="11094720" cy="0"/>
          </a:xfrm>
          <a:prstGeom prst="line">
            <a:avLst/>
          </a:prstGeom>
          <a:noFill/>
          <a:ln w="12700">
            <a:solidFill>
              <a:srgbClr val="2B415A"/>
            </a:solidFill>
            <a:prstDash val="solid"/>
          </a:ln>
        </p:spPr>
        <p:txBody>
          <a:bodyPr/>
          <a:p/>
        </p:txBody>
      </p:sp>
      <p:sp>
        <p:nvSpPr>
          <p:cNvPr id="54" name="Shape 52"/>
          <p:cNvSpPr/>
          <p:nvPr/>
        </p:nvSpPr>
        <p:spPr>
          <a:xfrm>
            <a:off x="548640" y="3703320"/>
            <a:ext cx="1525524" cy="274320"/>
          </a:xfrm>
          <a:prstGeom prst="rect">
            <a:avLst/>
          </a:prstGeom>
          <a:solidFill>
            <a:srgbClr val="142238"/>
          </a:solidFill>
          <a:ln w="8890">
            <a:solidFill>
              <a:srgbClr val="142238"/>
            </a:solidFill>
            <a:prstDash val="solid"/>
          </a:ln>
        </p:spPr>
        <p:txBody>
          <a:bodyPr/>
          <a:p/>
        </p:txBody>
      </p:sp>
      <p:sp>
        <p:nvSpPr>
          <p:cNvPr id="55" name="Text 53"/>
          <p:cNvSpPr txBox="1"/>
          <p:nvPr/>
        </p:nvSpPr>
        <p:spPr>
          <a:xfrm>
            <a:off x="676656" y="3726180"/>
            <a:ext cx="1269492" cy="233172"/>
          </a:xfrm>
          <a:prstGeom prst="rect">
            <a:avLst/>
          </a:prstGeom>
          <a:noFill/>
          <a:ln/>
        </p:spPr>
        <p:txBody>
          <a:bodyPr wrap="square" lIns="0" tIns="0" rIns="0" bIns="0" rtlCol="0" anchor="t"/>
          <a:lstStyle/>
          <a:p>
            <a:pPr algn="l" indent="0" marL="0">
              <a:lnSpc>
                <a:spcPct val="104000"/>
              </a:lnSpc>
              <a:buNone/>
            </a:pPr>
            <a:r>
              <a:rPr lang="en-US" sz="1420" b="1" dirty="0">
                <a:solidFill>
                  <a:srgbClr val="F4F7FB"/>
                </a:solidFill>
                <a:latin typeface="Arial" pitchFamily="34" charset="0"/>
                <a:ea typeface="Arial" pitchFamily="34" charset="-122"/>
                <a:cs typeface="Arial" pitchFamily="34" charset="-120"/>
              </a:rPr>
              <a:t>7</a:t>
            </a:r>
            <a:endParaRPr lang="en-US" sz="1420" dirty="0"/>
          </a:p>
        </p:txBody>
      </p:sp>
      <p:sp>
        <p:nvSpPr>
          <p:cNvPr id="56" name="Shape 54"/>
          <p:cNvSpPr/>
          <p:nvPr/>
        </p:nvSpPr>
        <p:spPr>
          <a:xfrm>
            <a:off x="2074164" y="3703320"/>
            <a:ext cx="7211568" cy="274320"/>
          </a:xfrm>
          <a:prstGeom prst="rect">
            <a:avLst/>
          </a:prstGeom>
          <a:solidFill>
            <a:srgbClr val="142238"/>
          </a:solidFill>
          <a:ln w="8890">
            <a:solidFill>
              <a:srgbClr val="142238"/>
            </a:solidFill>
            <a:prstDash val="solid"/>
          </a:ln>
        </p:spPr>
        <p:txBody>
          <a:bodyPr/>
          <a:p/>
        </p:txBody>
      </p:sp>
      <p:sp>
        <p:nvSpPr>
          <p:cNvPr id="57" name="Text 55"/>
          <p:cNvSpPr txBox="1"/>
          <p:nvPr/>
        </p:nvSpPr>
        <p:spPr>
          <a:xfrm>
            <a:off x="2202180" y="3726180"/>
            <a:ext cx="6955536" cy="233172"/>
          </a:xfrm>
          <a:prstGeom prst="rect">
            <a:avLst/>
          </a:prstGeom>
          <a:noFill/>
          <a:ln/>
        </p:spPr>
        <p:txBody>
          <a:bodyPr wrap="square" lIns="0" tIns="0" rIns="0" bIns="0" rtlCol="0" anchor="t"/>
          <a:lstStyle/>
          <a:p>
            <a:pPr algn="l" indent="0" marL="0">
              <a:lnSpc>
                <a:spcPct val="104000"/>
              </a:lnSpc>
              <a:buNone/>
            </a:pPr>
            <a:r>
              <a:rPr lang="en-US" sz="1420" dirty="0">
                <a:solidFill>
                  <a:srgbClr val="B3C3D6"/>
                </a:solidFill>
                <a:latin typeface="Arial" pitchFamily="34" charset="0"/>
                <a:ea typeface="Arial" pitchFamily="34" charset="-122"/>
                <a:cs typeface="Arial" pitchFamily="34" charset="-120"/>
              </a:rPr>
              <a:t>The complete execution pipeline</a:t>
            </a:r>
            <a:endParaRPr lang="en-US" sz="1420" dirty="0"/>
          </a:p>
        </p:txBody>
      </p:sp>
      <p:sp>
        <p:nvSpPr>
          <p:cNvPr id="58" name="Shape 56"/>
          <p:cNvSpPr/>
          <p:nvPr/>
        </p:nvSpPr>
        <p:spPr>
          <a:xfrm>
            <a:off x="9285732" y="3703320"/>
            <a:ext cx="2357628" cy="274320"/>
          </a:xfrm>
          <a:prstGeom prst="rect">
            <a:avLst/>
          </a:prstGeom>
          <a:solidFill>
            <a:srgbClr val="142238"/>
          </a:solidFill>
          <a:ln w="8890">
            <a:solidFill>
              <a:srgbClr val="142238"/>
            </a:solidFill>
            <a:prstDash val="solid"/>
          </a:ln>
        </p:spPr>
        <p:txBody>
          <a:bodyPr/>
          <a:p/>
        </p:txBody>
      </p:sp>
      <p:sp>
        <p:nvSpPr>
          <p:cNvPr id="59" name="Text 57"/>
          <p:cNvSpPr txBox="1"/>
          <p:nvPr/>
        </p:nvSpPr>
        <p:spPr>
          <a:xfrm>
            <a:off x="9413748" y="3726180"/>
            <a:ext cx="2101596" cy="233172"/>
          </a:xfrm>
          <a:prstGeom prst="rect">
            <a:avLst/>
          </a:prstGeom>
          <a:noFill/>
          <a:ln/>
        </p:spPr>
        <p:txBody>
          <a:bodyPr wrap="square" lIns="0" tIns="0" rIns="0" bIns="0" rtlCol="0" anchor="t"/>
          <a:lstStyle/>
          <a:p>
            <a:pPr algn="l" indent="0" marL="0">
              <a:lnSpc>
                <a:spcPct val="104000"/>
              </a:lnSpc>
              <a:buNone/>
            </a:pPr>
            <a:r>
              <a:rPr lang="en-US" sz="1420" dirty="0">
                <a:solidFill>
                  <a:srgbClr val="B3C3D6"/>
                </a:solidFill>
                <a:latin typeface="Arial" pitchFamily="34" charset="0"/>
                <a:ea typeface="Arial" pitchFamily="34" charset="-122"/>
                <a:cs typeface="Arial" pitchFamily="34" charset="-120"/>
              </a:rPr>
              <a:t>14</a:t>
            </a:r>
            <a:endParaRPr lang="en-US" sz="1420" dirty="0"/>
          </a:p>
        </p:txBody>
      </p:sp>
      <p:sp>
        <p:nvSpPr>
          <p:cNvPr id="60" name="Shape 58"/>
          <p:cNvSpPr/>
          <p:nvPr/>
        </p:nvSpPr>
        <p:spPr>
          <a:xfrm>
            <a:off x="548640" y="3977640"/>
            <a:ext cx="11094720" cy="0"/>
          </a:xfrm>
          <a:prstGeom prst="line">
            <a:avLst/>
          </a:prstGeom>
          <a:noFill/>
          <a:ln w="12700">
            <a:solidFill>
              <a:srgbClr val="2B415A"/>
            </a:solidFill>
            <a:prstDash val="solid"/>
          </a:ln>
        </p:spPr>
        <p:txBody>
          <a:bodyPr/>
          <a:p/>
        </p:txBody>
      </p:sp>
      <p:sp>
        <p:nvSpPr>
          <p:cNvPr id="61" name="Shape 59"/>
          <p:cNvSpPr/>
          <p:nvPr/>
        </p:nvSpPr>
        <p:spPr>
          <a:xfrm>
            <a:off x="548640" y="3977640"/>
            <a:ext cx="1525524" cy="274320"/>
          </a:xfrm>
          <a:prstGeom prst="rect">
            <a:avLst/>
          </a:prstGeom>
          <a:solidFill>
            <a:srgbClr val="0B1322"/>
          </a:solidFill>
          <a:ln w="8890">
            <a:solidFill>
              <a:srgbClr val="0B1322"/>
            </a:solidFill>
            <a:prstDash val="solid"/>
          </a:ln>
        </p:spPr>
        <p:txBody>
          <a:bodyPr/>
          <a:p/>
        </p:txBody>
      </p:sp>
      <p:sp>
        <p:nvSpPr>
          <p:cNvPr id="62" name="Text 60"/>
          <p:cNvSpPr txBox="1"/>
          <p:nvPr/>
        </p:nvSpPr>
        <p:spPr>
          <a:xfrm>
            <a:off x="676656" y="4000500"/>
            <a:ext cx="1269492" cy="233172"/>
          </a:xfrm>
          <a:prstGeom prst="rect">
            <a:avLst/>
          </a:prstGeom>
          <a:noFill/>
          <a:ln/>
        </p:spPr>
        <p:txBody>
          <a:bodyPr wrap="square" lIns="0" tIns="0" rIns="0" bIns="0" rtlCol="0" anchor="t"/>
          <a:lstStyle/>
          <a:p>
            <a:pPr algn="l" indent="0" marL="0">
              <a:lnSpc>
                <a:spcPct val="104000"/>
              </a:lnSpc>
              <a:buNone/>
            </a:pPr>
            <a:r>
              <a:rPr lang="en-US" sz="1420" b="1" dirty="0">
                <a:solidFill>
                  <a:srgbClr val="F4F7FB"/>
                </a:solidFill>
                <a:latin typeface="Arial" pitchFamily="34" charset="0"/>
                <a:ea typeface="Arial" pitchFamily="34" charset="-122"/>
                <a:cs typeface="Arial" pitchFamily="34" charset="-120"/>
              </a:rPr>
              <a:t>8</a:t>
            </a:r>
            <a:endParaRPr lang="en-US" sz="1420" dirty="0"/>
          </a:p>
        </p:txBody>
      </p:sp>
      <p:sp>
        <p:nvSpPr>
          <p:cNvPr id="63" name="Shape 61"/>
          <p:cNvSpPr/>
          <p:nvPr/>
        </p:nvSpPr>
        <p:spPr>
          <a:xfrm>
            <a:off x="2074164" y="3977640"/>
            <a:ext cx="7211568" cy="274320"/>
          </a:xfrm>
          <a:prstGeom prst="rect">
            <a:avLst/>
          </a:prstGeom>
          <a:solidFill>
            <a:srgbClr val="0B1322"/>
          </a:solidFill>
          <a:ln w="8890">
            <a:solidFill>
              <a:srgbClr val="0B1322"/>
            </a:solidFill>
            <a:prstDash val="solid"/>
          </a:ln>
        </p:spPr>
        <p:txBody>
          <a:bodyPr/>
          <a:p/>
        </p:txBody>
      </p:sp>
      <p:sp>
        <p:nvSpPr>
          <p:cNvPr id="64" name="Text 62"/>
          <p:cNvSpPr txBox="1"/>
          <p:nvPr/>
        </p:nvSpPr>
        <p:spPr>
          <a:xfrm>
            <a:off x="2202180" y="4000500"/>
            <a:ext cx="6955536" cy="233172"/>
          </a:xfrm>
          <a:prstGeom prst="rect">
            <a:avLst/>
          </a:prstGeom>
          <a:noFill/>
          <a:ln/>
        </p:spPr>
        <p:txBody>
          <a:bodyPr wrap="square" lIns="0" tIns="0" rIns="0" bIns="0" rtlCol="0" anchor="t"/>
          <a:lstStyle/>
          <a:p>
            <a:pPr algn="l" indent="0" marL="0">
              <a:lnSpc>
                <a:spcPct val="104000"/>
              </a:lnSpc>
              <a:buNone/>
            </a:pPr>
            <a:r>
              <a:rPr lang="en-US" sz="1420" dirty="0">
                <a:solidFill>
                  <a:srgbClr val="B3C3D6"/>
                </a:solidFill>
                <a:latin typeface="Arial" pitchFamily="34" charset="0"/>
                <a:ea typeface="Arial" pitchFamily="34" charset="-122"/>
                <a:cs typeface="Arial" pitchFamily="34" charset="-120"/>
              </a:rPr>
              <a:t>Source semantics and defined behavior</a:t>
            </a:r>
            <a:endParaRPr lang="en-US" sz="1420" dirty="0"/>
          </a:p>
        </p:txBody>
      </p:sp>
      <p:sp>
        <p:nvSpPr>
          <p:cNvPr id="65" name="Shape 63"/>
          <p:cNvSpPr/>
          <p:nvPr/>
        </p:nvSpPr>
        <p:spPr>
          <a:xfrm>
            <a:off x="9285732" y="3977640"/>
            <a:ext cx="2357628" cy="274320"/>
          </a:xfrm>
          <a:prstGeom prst="rect">
            <a:avLst/>
          </a:prstGeom>
          <a:solidFill>
            <a:srgbClr val="0B1322"/>
          </a:solidFill>
          <a:ln w="8890">
            <a:solidFill>
              <a:srgbClr val="0B1322"/>
            </a:solidFill>
            <a:prstDash val="solid"/>
          </a:ln>
        </p:spPr>
        <p:txBody>
          <a:bodyPr/>
          <a:p/>
        </p:txBody>
      </p:sp>
      <p:sp>
        <p:nvSpPr>
          <p:cNvPr id="66" name="Text 64"/>
          <p:cNvSpPr txBox="1"/>
          <p:nvPr/>
        </p:nvSpPr>
        <p:spPr>
          <a:xfrm>
            <a:off x="9413748" y="4000500"/>
            <a:ext cx="2101596" cy="233172"/>
          </a:xfrm>
          <a:prstGeom prst="rect">
            <a:avLst/>
          </a:prstGeom>
          <a:noFill/>
          <a:ln/>
        </p:spPr>
        <p:txBody>
          <a:bodyPr wrap="square" lIns="0" tIns="0" rIns="0" bIns="0" rtlCol="0" anchor="t"/>
          <a:lstStyle/>
          <a:p>
            <a:pPr algn="l" indent="0" marL="0">
              <a:lnSpc>
                <a:spcPct val="104000"/>
              </a:lnSpc>
              <a:buNone/>
            </a:pPr>
            <a:r>
              <a:rPr lang="en-US" sz="1420" dirty="0">
                <a:solidFill>
                  <a:srgbClr val="B3C3D6"/>
                </a:solidFill>
                <a:latin typeface="Arial" pitchFamily="34" charset="0"/>
                <a:ea typeface="Arial" pitchFamily="34" charset="-122"/>
                <a:cs typeface="Arial" pitchFamily="34" charset="-120"/>
              </a:rPr>
              <a:t>15–16, 21, 35</a:t>
            </a:r>
            <a:endParaRPr lang="en-US" sz="1420" dirty="0"/>
          </a:p>
        </p:txBody>
      </p:sp>
      <p:sp>
        <p:nvSpPr>
          <p:cNvPr id="67" name="Shape 65"/>
          <p:cNvSpPr/>
          <p:nvPr/>
        </p:nvSpPr>
        <p:spPr>
          <a:xfrm>
            <a:off x="548640" y="4251960"/>
            <a:ext cx="11094720" cy="0"/>
          </a:xfrm>
          <a:prstGeom prst="line">
            <a:avLst/>
          </a:prstGeom>
          <a:noFill/>
          <a:ln w="12700">
            <a:solidFill>
              <a:srgbClr val="2B415A"/>
            </a:solidFill>
            <a:prstDash val="solid"/>
          </a:ln>
        </p:spPr>
        <p:txBody>
          <a:bodyPr/>
          <a:p/>
        </p:txBody>
      </p:sp>
      <p:sp>
        <p:nvSpPr>
          <p:cNvPr id="68" name="Shape 66"/>
          <p:cNvSpPr/>
          <p:nvPr/>
        </p:nvSpPr>
        <p:spPr>
          <a:xfrm>
            <a:off x="548640" y="4251960"/>
            <a:ext cx="1525524" cy="274320"/>
          </a:xfrm>
          <a:prstGeom prst="rect">
            <a:avLst/>
          </a:prstGeom>
          <a:solidFill>
            <a:srgbClr val="142238"/>
          </a:solidFill>
          <a:ln w="8890">
            <a:solidFill>
              <a:srgbClr val="142238"/>
            </a:solidFill>
            <a:prstDash val="solid"/>
          </a:ln>
        </p:spPr>
        <p:txBody>
          <a:bodyPr/>
          <a:p/>
        </p:txBody>
      </p:sp>
      <p:sp>
        <p:nvSpPr>
          <p:cNvPr id="69" name="Text 67"/>
          <p:cNvSpPr txBox="1"/>
          <p:nvPr/>
        </p:nvSpPr>
        <p:spPr>
          <a:xfrm>
            <a:off x="676656" y="4274820"/>
            <a:ext cx="1269492" cy="233172"/>
          </a:xfrm>
          <a:prstGeom prst="rect">
            <a:avLst/>
          </a:prstGeom>
          <a:noFill/>
          <a:ln/>
        </p:spPr>
        <p:txBody>
          <a:bodyPr wrap="square" lIns="0" tIns="0" rIns="0" bIns="0" rtlCol="0" anchor="t"/>
          <a:lstStyle/>
          <a:p>
            <a:pPr algn="l" indent="0" marL="0">
              <a:lnSpc>
                <a:spcPct val="104000"/>
              </a:lnSpc>
              <a:buNone/>
            </a:pPr>
            <a:r>
              <a:rPr lang="en-US" sz="1420" b="1" dirty="0">
                <a:solidFill>
                  <a:srgbClr val="F4F7FB"/>
                </a:solidFill>
                <a:latin typeface="Arial" pitchFamily="34" charset="0"/>
                <a:ea typeface="Arial" pitchFamily="34" charset="-122"/>
                <a:cs typeface="Arial" pitchFamily="34" charset="-120"/>
              </a:rPr>
              <a:t>9</a:t>
            </a:r>
            <a:endParaRPr lang="en-US" sz="1420" dirty="0"/>
          </a:p>
        </p:txBody>
      </p:sp>
      <p:sp>
        <p:nvSpPr>
          <p:cNvPr id="70" name="Shape 68"/>
          <p:cNvSpPr/>
          <p:nvPr/>
        </p:nvSpPr>
        <p:spPr>
          <a:xfrm>
            <a:off x="2074164" y="4251960"/>
            <a:ext cx="7211568" cy="274320"/>
          </a:xfrm>
          <a:prstGeom prst="rect">
            <a:avLst/>
          </a:prstGeom>
          <a:solidFill>
            <a:srgbClr val="142238"/>
          </a:solidFill>
          <a:ln w="8890">
            <a:solidFill>
              <a:srgbClr val="142238"/>
            </a:solidFill>
            <a:prstDash val="solid"/>
          </a:ln>
        </p:spPr>
        <p:txBody>
          <a:bodyPr/>
          <a:p/>
        </p:txBody>
      </p:sp>
      <p:sp>
        <p:nvSpPr>
          <p:cNvPr id="71" name="Text 69"/>
          <p:cNvSpPr txBox="1"/>
          <p:nvPr/>
        </p:nvSpPr>
        <p:spPr>
          <a:xfrm>
            <a:off x="2202180" y="4274820"/>
            <a:ext cx="6955536" cy="233172"/>
          </a:xfrm>
          <a:prstGeom prst="rect">
            <a:avLst/>
          </a:prstGeom>
          <a:noFill/>
          <a:ln/>
        </p:spPr>
        <p:txBody>
          <a:bodyPr wrap="square" lIns="0" tIns="0" rIns="0" bIns="0" rtlCol="0" anchor="t"/>
          <a:lstStyle/>
          <a:p>
            <a:pPr algn="l" indent="0" marL="0">
              <a:lnSpc>
                <a:spcPct val="104000"/>
              </a:lnSpc>
              <a:buNone/>
            </a:pPr>
            <a:r>
              <a:rPr lang="en-US" sz="1420" dirty="0">
                <a:solidFill>
                  <a:srgbClr val="B3C3D6"/>
                </a:solidFill>
                <a:latin typeface="Arial" pitchFamily="34" charset="0"/>
                <a:ea typeface="Arial" pitchFamily="34" charset="-122"/>
                <a:cs typeface="Arial" pitchFamily="34" charset="-120"/>
              </a:rPr>
              <a:t>Preprocessing; declarations and definitions</a:t>
            </a:r>
            <a:endParaRPr lang="en-US" sz="1420" dirty="0"/>
          </a:p>
        </p:txBody>
      </p:sp>
      <p:sp>
        <p:nvSpPr>
          <p:cNvPr id="72" name="Shape 70"/>
          <p:cNvSpPr/>
          <p:nvPr/>
        </p:nvSpPr>
        <p:spPr>
          <a:xfrm>
            <a:off x="9285732" y="4251960"/>
            <a:ext cx="2357628" cy="274320"/>
          </a:xfrm>
          <a:prstGeom prst="rect">
            <a:avLst/>
          </a:prstGeom>
          <a:solidFill>
            <a:srgbClr val="142238"/>
          </a:solidFill>
          <a:ln w="8890">
            <a:solidFill>
              <a:srgbClr val="142238"/>
            </a:solidFill>
            <a:prstDash val="solid"/>
          </a:ln>
        </p:spPr>
        <p:txBody>
          <a:bodyPr/>
          <a:p/>
        </p:txBody>
      </p:sp>
      <p:sp>
        <p:nvSpPr>
          <p:cNvPr id="73" name="Text 71"/>
          <p:cNvSpPr txBox="1"/>
          <p:nvPr/>
        </p:nvSpPr>
        <p:spPr>
          <a:xfrm>
            <a:off x="9413748" y="4274820"/>
            <a:ext cx="2101596" cy="233172"/>
          </a:xfrm>
          <a:prstGeom prst="rect">
            <a:avLst/>
          </a:prstGeom>
          <a:noFill/>
          <a:ln/>
        </p:spPr>
        <p:txBody>
          <a:bodyPr wrap="square" lIns="0" tIns="0" rIns="0" bIns="0" rtlCol="0" anchor="t"/>
          <a:lstStyle/>
          <a:p>
            <a:pPr algn="l" indent="0" marL="0">
              <a:lnSpc>
                <a:spcPct val="104000"/>
              </a:lnSpc>
              <a:buNone/>
            </a:pPr>
            <a:r>
              <a:rPr lang="en-US" sz="1420" dirty="0">
                <a:solidFill>
                  <a:srgbClr val="B3C3D6"/>
                </a:solidFill>
                <a:latin typeface="Arial" pitchFamily="34" charset="0"/>
                <a:ea typeface="Arial" pitchFamily="34" charset="-122"/>
                <a:cs typeface="Arial" pitchFamily="34" charset="-120"/>
              </a:rPr>
              <a:t>17–19</a:t>
            </a:r>
            <a:endParaRPr lang="en-US" sz="1420" dirty="0"/>
          </a:p>
        </p:txBody>
      </p:sp>
      <p:sp>
        <p:nvSpPr>
          <p:cNvPr id="74" name="Shape 72"/>
          <p:cNvSpPr/>
          <p:nvPr/>
        </p:nvSpPr>
        <p:spPr>
          <a:xfrm>
            <a:off x="548640" y="4526280"/>
            <a:ext cx="11094720" cy="0"/>
          </a:xfrm>
          <a:prstGeom prst="line">
            <a:avLst/>
          </a:prstGeom>
          <a:noFill/>
          <a:ln w="12700">
            <a:solidFill>
              <a:srgbClr val="2B415A"/>
            </a:solidFill>
            <a:prstDash val="solid"/>
          </a:ln>
        </p:spPr>
        <p:txBody>
          <a:bodyPr/>
          <a:p/>
        </p:txBody>
      </p:sp>
      <p:sp>
        <p:nvSpPr>
          <p:cNvPr id="75" name="Shape 73"/>
          <p:cNvSpPr/>
          <p:nvPr/>
        </p:nvSpPr>
        <p:spPr>
          <a:xfrm>
            <a:off x="548640" y="4526280"/>
            <a:ext cx="1525524" cy="274320"/>
          </a:xfrm>
          <a:prstGeom prst="rect">
            <a:avLst/>
          </a:prstGeom>
          <a:solidFill>
            <a:srgbClr val="0B1322"/>
          </a:solidFill>
          <a:ln w="8890">
            <a:solidFill>
              <a:srgbClr val="0B1322"/>
            </a:solidFill>
            <a:prstDash val="solid"/>
          </a:ln>
        </p:spPr>
        <p:txBody>
          <a:bodyPr/>
          <a:p/>
        </p:txBody>
      </p:sp>
      <p:sp>
        <p:nvSpPr>
          <p:cNvPr id="76" name="Text 74"/>
          <p:cNvSpPr txBox="1"/>
          <p:nvPr/>
        </p:nvSpPr>
        <p:spPr>
          <a:xfrm>
            <a:off x="676656" y="4549140"/>
            <a:ext cx="1269492" cy="233172"/>
          </a:xfrm>
          <a:prstGeom prst="rect">
            <a:avLst/>
          </a:prstGeom>
          <a:noFill/>
          <a:ln/>
        </p:spPr>
        <p:txBody>
          <a:bodyPr wrap="square" lIns="0" tIns="0" rIns="0" bIns="0" rtlCol="0" anchor="t"/>
          <a:lstStyle/>
          <a:p>
            <a:pPr algn="l" indent="0" marL="0">
              <a:lnSpc>
                <a:spcPct val="104000"/>
              </a:lnSpc>
              <a:buNone/>
            </a:pPr>
            <a:r>
              <a:rPr lang="en-US" sz="1420" b="1" dirty="0">
                <a:solidFill>
                  <a:srgbClr val="F4F7FB"/>
                </a:solidFill>
                <a:latin typeface="Arial" pitchFamily="34" charset="0"/>
                <a:ea typeface="Arial" pitchFamily="34" charset="-122"/>
                <a:cs typeface="Arial" pitchFamily="34" charset="-120"/>
              </a:rPr>
              <a:t>10</a:t>
            </a:r>
            <a:endParaRPr lang="en-US" sz="1420" dirty="0"/>
          </a:p>
        </p:txBody>
      </p:sp>
      <p:sp>
        <p:nvSpPr>
          <p:cNvPr id="77" name="Shape 75"/>
          <p:cNvSpPr/>
          <p:nvPr/>
        </p:nvSpPr>
        <p:spPr>
          <a:xfrm>
            <a:off x="2074164" y="4526280"/>
            <a:ext cx="7211568" cy="274320"/>
          </a:xfrm>
          <a:prstGeom prst="rect">
            <a:avLst/>
          </a:prstGeom>
          <a:solidFill>
            <a:srgbClr val="0B1322"/>
          </a:solidFill>
          <a:ln w="8890">
            <a:solidFill>
              <a:srgbClr val="0B1322"/>
            </a:solidFill>
            <a:prstDash val="solid"/>
          </a:ln>
        </p:spPr>
        <p:txBody>
          <a:bodyPr/>
          <a:p/>
        </p:txBody>
      </p:sp>
      <p:sp>
        <p:nvSpPr>
          <p:cNvPr id="78" name="Text 76"/>
          <p:cNvSpPr txBox="1"/>
          <p:nvPr/>
        </p:nvSpPr>
        <p:spPr>
          <a:xfrm>
            <a:off x="2202180" y="4549140"/>
            <a:ext cx="6955536" cy="233172"/>
          </a:xfrm>
          <a:prstGeom prst="rect">
            <a:avLst/>
          </a:prstGeom>
          <a:noFill/>
          <a:ln/>
        </p:spPr>
        <p:txBody>
          <a:bodyPr wrap="square" lIns="0" tIns="0" rIns="0" bIns="0" rtlCol="0" anchor="t"/>
          <a:lstStyle/>
          <a:p>
            <a:pPr algn="l" indent="0" marL="0">
              <a:lnSpc>
                <a:spcPct val="104000"/>
              </a:lnSpc>
              <a:buNone/>
            </a:pPr>
            <a:r>
              <a:rPr lang="en-US" sz="1420" dirty="0">
                <a:solidFill>
                  <a:srgbClr val="B3C3D6"/>
                </a:solidFill>
                <a:latin typeface="Arial" pitchFamily="34" charset="0"/>
                <a:ea typeface="Arial" pitchFamily="34" charset="-122"/>
                <a:cs typeface="Arial" pitchFamily="34" charset="-120"/>
              </a:rPr>
              <a:t>Compilation and assembly</a:t>
            </a:r>
            <a:endParaRPr lang="en-US" sz="1420" dirty="0"/>
          </a:p>
        </p:txBody>
      </p:sp>
      <p:sp>
        <p:nvSpPr>
          <p:cNvPr id="79" name="Shape 77"/>
          <p:cNvSpPr/>
          <p:nvPr/>
        </p:nvSpPr>
        <p:spPr>
          <a:xfrm>
            <a:off x="9285732" y="4526280"/>
            <a:ext cx="2357628" cy="274320"/>
          </a:xfrm>
          <a:prstGeom prst="rect">
            <a:avLst/>
          </a:prstGeom>
          <a:solidFill>
            <a:srgbClr val="0B1322"/>
          </a:solidFill>
          <a:ln w="8890">
            <a:solidFill>
              <a:srgbClr val="0B1322"/>
            </a:solidFill>
            <a:prstDash val="solid"/>
          </a:ln>
        </p:spPr>
        <p:txBody>
          <a:bodyPr/>
          <a:p/>
        </p:txBody>
      </p:sp>
      <p:sp>
        <p:nvSpPr>
          <p:cNvPr id="80" name="Text 78"/>
          <p:cNvSpPr txBox="1"/>
          <p:nvPr/>
        </p:nvSpPr>
        <p:spPr>
          <a:xfrm>
            <a:off x="9413748" y="4549140"/>
            <a:ext cx="2101596" cy="233172"/>
          </a:xfrm>
          <a:prstGeom prst="rect">
            <a:avLst/>
          </a:prstGeom>
          <a:noFill/>
          <a:ln/>
        </p:spPr>
        <p:txBody>
          <a:bodyPr wrap="square" lIns="0" tIns="0" rIns="0" bIns="0" rtlCol="0" anchor="t"/>
          <a:lstStyle/>
          <a:p>
            <a:pPr algn="l" indent="0" marL="0">
              <a:lnSpc>
                <a:spcPct val="104000"/>
              </a:lnSpc>
              <a:buNone/>
            </a:pPr>
            <a:r>
              <a:rPr lang="en-US" sz="1420" dirty="0">
                <a:solidFill>
                  <a:srgbClr val="B3C3D6"/>
                </a:solidFill>
                <a:latin typeface="Arial" pitchFamily="34" charset="0"/>
                <a:ea typeface="Arial" pitchFamily="34" charset="-122"/>
                <a:cs typeface="Arial" pitchFamily="34" charset="-120"/>
              </a:rPr>
              <a:t>20–22</a:t>
            </a:r>
            <a:endParaRPr lang="en-US" sz="1420" dirty="0"/>
          </a:p>
        </p:txBody>
      </p:sp>
      <p:sp>
        <p:nvSpPr>
          <p:cNvPr id="81" name="Shape 79"/>
          <p:cNvSpPr/>
          <p:nvPr/>
        </p:nvSpPr>
        <p:spPr>
          <a:xfrm>
            <a:off x="548640" y="4800600"/>
            <a:ext cx="11094720" cy="0"/>
          </a:xfrm>
          <a:prstGeom prst="line">
            <a:avLst/>
          </a:prstGeom>
          <a:noFill/>
          <a:ln w="12700">
            <a:solidFill>
              <a:srgbClr val="2B415A"/>
            </a:solidFill>
            <a:prstDash val="solid"/>
          </a:ln>
        </p:spPr>
        <p:txBody>
          <a:bodyPr/>
          <a:p/>
        </p:txBody>
      </p:sp>
      <p:sp>
        <p:nvSpPr>
          <p:cNvPr id="82" name="Shape 80"/>
          <p:cNvSpPr/>
          <p:nvPr/>
        </p:nvSpPr>
        <p:spPr>
          <a:xfrm>
            <a:off x="548640" y="4800600"/>
            <a:ext cx="1525524" cy="274320"/>
          </a:xfrm>
          <a:prstGeom prst="rect">
            <a:avLst/>
          </a:prstGeom>
          <a:solidFill>
            <a:srgbClr val="142238"/>
          </a:solidFill>
          <a:ln w="8890">
            <a:solidFill>
              <a:srgbClr val="142238"/>
            </a:solidFill>
            <a:prstDash val="solid"/>
          </a:ln>
        </p:spPr>
        <p:txBody>
          <a:bodyPr/>
          <a:p/>
        </p:txBody>
      </p:sp>
      <p:sp>
        <p:nvSpPr>
          <p:cNvPr id="83" name="Text 81"/>
          <p:cNvSpPr txBox="1"/>
          <p:nvPr/>
        </p:nvSpPr>
        <p:spPr>
          <a:xfrm>
            <a:off x="676656" y="4823460"/>
            <a:ext cx="1269492" cy="233172"/>
          </a:xfrm>
          <a:prstGeom prst="rect">
            <a:avLst/>
          </a:prstGeom>
          <a:noFill/>
          <a:ln/>
        </p:spPr>
        <p:txBody>
          <a:bodyPr wrap="square" lIns="0" tIns="0" rIns="0" bIns="0" rtlCol="0" anchor="t"/>
          <a:lstStyle/>
          <a:p>
            <a:pPr algn="l" indent="0" marL="0">
              <a:lnSpc>
                <a:spcPct val="104000"/>
              </a:lnSpc>
              <a:buNone/>
            </a:pPr>
            <a:r>
              <a:rPr lang="en-US" sz="1420" b="1" dirty="0">
                <a:solidFill>
                  <a:srgbClr val="F4F7FB"/>
                </a:solidFill>
                <a:latin typeface="Arial" pitchFamily="34" charset="0"/>
                <a:ea typeface="Arial" pitchFamily="34" charset="-122"/>
                <a:cs typeface="Arial" pitchFamily="34" charset="-120"/>
              </a:rPr>
              <a:t>11</a:t>
            </a:r>
            <a:endParaRPr lang="en-US" sz="1420" dirty="0"/>
          </a:p>
        </p:txBody>
      </p:sp>
      <p:sp>
        <p:nvSpPr>
          <p:cNvPr id="84" name="Shape 82"/>
          <p:cNvSpPr/>
          <p:nvPr/>
        </p:nvSpPr>
        <p:spPr>
          <a:xfrm>
            <a:off x="2074164" y="4800600"/>
            <a:ext cx="7211568" cy="274320"/>
          </a:xfrm>
          <a:prstGeom prst="rect">
            <a:avLst/>
          </a:prstGeom>
          <a:solidFill>
            <a:srgbClr val="142238"/>
          </a:solidFill>
          <a:ln w="8890">
            <a:solidFill>
              <a:srgbClr val="142238"/>
            </a:solidFill>
            <a:prstDash val="solid"/>
          </a:ln>
        </p:spPr>
        <p:txBody>
          <a:bodyPr/>
          <a:p/>
        </p:txBody>
      </p:sp>
      <p:sp>
        <p:nvSpPr>
          <p:cNvPr id="85" name="Text 83"/>
          <p:cNvSpPr txBox="1"/>
          <p:nvPr/>
        </p:nvSpPr>
        <p:spPr>
          <a:xfrm>
            <a:off x="2202180" y="4823460"/>
            <a:ext cx="6955536" cy="233172"/>
          </a:xfrm>
          <a:prstGeom prst="rect">
            <a:avLst/>
          </a:prstGeom>
          <a:noFill/>
          <a:ln/>
        </p:spPr>
        <p:txBody>
          <a:bodyPr wrap="square" lIns="0" tIns="0" rIns="0" bIns="0" rtlCol="0" anchor="t"/>
          <a:lstStyle/>
          <a:p>
            <a:pPr algn="l" indent="0" marL="0">
              <a:lnSpc>
                <a:spcPct val="104000"/>
              </a:lnSpc>
              <a:buNone/>
            </a:pPr>
            <a:r>
              <a:rPr lang="en-US" sz="1420" dirty="0">
                <a:solidFill>
                  <a:srgbClr val="B3C3D6"/>
                </a:solidFill>
                <a:latin typeface="Arial" pitchFamily="34" charset="0"/>
                <a:ea typeface="Arial" pitchFamily="34" charset="-122"/>
                <a:cs typeface="Arial" pitchFamily="34" charset="-120"/>
              </a:rPr>
              <a:t>Linking, symbols, sections, relocations</a:t>
            </a:r>
            <a:endParaRPr lang="en-US" sz="1420" dirty="0"/>
          </a:p>
        </p:txBody>
      </p:sp>
      <p:sp>
        <p:nvSpPr>
          <p:cNvPr id="86" name="Shape 84"/>
          <p:cNvSpPr/>
          <p:nvPr/>
        </p:nvSpPr>
        <p:spPr>
          <a:xfrm>
            <a:off x="9285732" y="4800600"/>
            <a:ext cx="2357628" cy="274320"/>
          </a:xfrm>
          <a:prstGeom prst="rect">
            <a:avLst/>
          </a:prstGeom>
          <a:solidFill>
            <a:srgbClr val="142238"/>
          </a:solidFill>
          <a:ln w="8890">
            <a:solidFill>
              <a:srgbClr val="142238"/>
            </a:solidFill>
            <a:prstDash val="solid"/>
          </a:ln>
        </p:spPr>
        <p:txBody>
          <a:bodyPr/>
          <a:p/>
        </p:txBody>
      </p:sp>
      <p:sp>
        <p:nvSpPr>
          <p:cNvPr id="87" name="Text 85"/>
          <p:cNvSpPr txBox="1"/>
          <p:nvPr/>
        </p:nvSpPr>
        <p:spPr>
          <a:xfrm>
            <a:off x="9413748" y="4823460"/>
            <a:ext cx="2101596" cy="233172"/>
          </a:xfrm>
          <a:prstGeom prst="rect">
            <a:avLst/>
          </a:prstGeom>
          <a:noFill/>
          <a:ln/>
        </p:spPr>
        <p:txBody>
          <a:bodyPr wrap="square" lIns="0" tIns="0" rIns="0" bIns="0" rtlCol="0" anchor="t"/>
          <a:lstStyle/>
          <a:p>
            <a:pPr algn="l" indent="0" marL="0">
              <a:lnSpc>
                <a:spcPct val="104000"/>
              </a:lnSpc>
              <a:buNone/>
            </a:pPr>
            <a:r>
              <a:rPr lang="en-US" sz="1420" dirty="0">
                <a:solidFill>
                  <a:srgbClr val="B3C3D6"/>
                </a:solidFill>
                <a:latin typeface="Arial" pitchFamily="34" charset="0"/>
                <a:ea typeface="Arial" pitchFamily="34" charset="-122"/>
                <a:cs typeface="Arial" pitchFamily="34" charset="-120"/>
              </a:rPr>
              <a:t>23–25, 32–33, 58</a:t>
            </a:r>
            <a:endParaRPr lang="en-US" sz="1420" dirty="0"/>
          </a:p>
        </p:txBody>
      </p:sp>
      <p:sp>
        <p:nvSpPr>
          <p:cNvPr id="88" name="Shape 86"/>
          <p:cNvSpPr/>
          <p:nvPr/>
        </p:nvSpPr>
        <p:spPr>
          <a:xfrm>
            <a:off x="548640" y="5074920"/>
            <a:ext cx="11094720" cy="0"/>
          </a:xfrm>
          <a:prstGeom prst="line">
            <a:avLst/>
          </a:prstGeom>
          <a:noFill/>
          <a:ln w="12700">
            <a:solidFill>
              <a:srgbClr val="2B415A"/>
            </a:solidFill>
            <a:prstDash val="solid"/>
          </a:ln>
        </p:spPr>
        <p:txBody>
          <a:bodyPr/>
          <a:p/>
        </p:txBody>
      </p:sp>
      <p:sp>
        <p:nvSpPr>
          <p:cNvPr id="89" name="Text 87"/>
          <p:cNvSpPr txBox="1"/>
          <p:nvPr/>
        </p:nvSpPr>
        <p:spPr>
          <a:xfrm>
            <a:off x="548640" y="5193792"/>
            <a:ext cx="11094720" cy="274320"/>
          </a:xfrm>
          <a:prstGeom prst="rect">
            <a:avLst/>
          </a:prstGeom>
          <a:noFill/>
          <a:ln/>
        </p:spPr>
        <p:txBody>
          <a:bodyPr wrap="square" lIns="0" tIns="0" rIns="0" bIns="0" rtlCol="0" anchor="t"/>
          <a:lstStyle/>
          <a:p>
            <a:pPr algn="l" indent="0" marL="0">
              <a:lnSpc>
                <a:spcPct val="104000"/>
              </a:lnSpc>
              <a:buNone/>
            </a:pPr>
            <a:r>
              <a:rPr lang="en-US" sz="1140" dirty="0">
                <a:solidFill>
                  <a:srgbClr val="B3C3D6"/>
                </a:solidFill>
                <a:latin typeface="Arial" pitchFamily="34" charset="0"/>
                <a:ea typeface="Arial" pitchFamily="34" charset="-122"/>
                <a:cs typeface="Arial" pitchFamily="34" charset="-120"/>
              </a:rPr>
              <a:t>Coverage is relative to the attached 22-slide Chapter 1 deck.</a:t>
            </a:r>
            <a:endParaRPr lang="en-US" sz="1140" dirty="0"/>
          </a:p>
        </p:txBody>
      </p:sp>
      <p:sp>
        <p:nvSpPr>
          <p:cNvPr id="94" name="Text 92"/>
          <p:cNvSpPr txBox="1"/>
          <p:nvPr/>
        </p:nvSpPr>
        <p:spPr>
          <a:xfrm>
            <a:off x="548640" y="6601968"/>
            <a:ext cx="10241280" cy="128016"/>
          </a:xfrm>
          <a:prstGeom prst="rect">
            <a:avLst/>
          </a:prstGeom>
          <a:noFill/>
          <a:ln/>
        </p:spPr>
        <p:txBody>
          <a:bodyPr wrap="square" lIns="0" tIns="0" rIns="0" bIns="0" rtlCol="0" anchor="t"/>
          <a:lstStyle/>
          <a:p>
            <a:pPr algn="l" indent="0" marL="0">
              <a:lnSpc>
                <a:spcPct val="104000"/>
              </a:lnSpc>
              <a:buNone/>
            </a:pPr>
            <a:r>
              <a:rPr lang="en-US" sz="830" dirty="0">
                <a:solidFill>
                  <a:srgbClr val="B3C3D6"/>
                </a:solidFill>
                <a:latin typeface="Arial" pitchFamily="34" charset="0"/>
                <a:ea typeface="Arial" pitchFamily="34" charset="-122"/>
                <a:cs typeface="Arial" pitchFamily="34" charset="-120"/>
              </a:rPr>
              <a:t>Source: original 1, 2, 3, 4, 5, 6, 7, 8, 9, 10, 11</a:t>
            </a:r>
            <a:endParaRPr lang="en-US" sz="830" dirty="0"/>
          </a:p>
        </p:txBody>
      </p:sp>
      <p:sp>
        <p:nvSpPr>
          <p:cNvPr id="95" name="Text 93"/>
          <p:cNvSpPr txBox="1"/>
          <p:nvPr/>
        </p:nvSpPr>
        <p:spPr>
          <a:xfrm>
            <a:off x="10917936" y="6565392"/>
            <a:ext cx="722376" cy="219456"/>
          </a:xfrm>
          <a:prstGeom prst="rect">
            <a:avLst/>
          </a:prstGeom>
          <a:noFill/>
          <a:ln/>
        </p:spPr>
        <p:txBody>
          <a:bodyPr wrap="square" lIns="0" tIns="0" rIns="0" bIns="0" rtlCol="0" anchor="t"/>
          <a:lstStyle/>
          <a:p>
            <a:pPr algn="r" indent="0" marL="0">
              <a:lnSpc>
                <a:spcPct val="104000"/>
              </a:lnSpc>
              <a:buNone/>
            </a:pPr>
            <a:r>
              <a:rPr lang="en-US" sz="1050" dirty="0">
                <a:solidFill>
                  <a:srgbClr val="B3C3D6"/>
                </a:solidFill>
                <a:latin typeface="Arial" pitchFamily="34" charset="0"/>
                <a:ea typeface="Arial" pitchFamily="34" charset="-122"/>
                <a:cs typeface="Arial" pitchFamily="34" charset="-120"/>
              </a:rPr>
              <a:t>61 / 64</a:t>
            </a:r>
            <a:endParaRPr lang="en-US" sz="1050" dirty="0"/>
          </a:p>
        </p:txBody>
      </p:sp>
      <p:sp>
        <p:nvSpPr>
          <p:cNvPr id="96" name="Shape 94"/>
          <p:cNvSpPr/>
          <p:nvPr/>
        </p:nvSpPr>
        <p:spPr>
          <a:xfrm>
            <a:off x="0" y="6834226"/>
            <a:ext cx="12192000" cy="23774"/>
          </a:xfrm>
          <a:prstGeom prst="rect">
            <a:avLst/>
          </a:prstGeom>
          <a:solidFill>
            <a:srgbClr val="2B415A"/>
          </a:solidFill>
          <a:ln w="8890">
            <a:solidFill>
              <a:srgbClr val="2B415A"/>
            </a:solidFill>
            <a:prstDash val="solid"/>
          </a:ln>
        </p:spPr>
        <p:txBody>
          <a:bodyPr/>
          <a:p/>
        </p:txBody>
      </p:sp>
      <p:sp>
        <p:nvSpPr>
          <p:cNvPr id="97" name="Shape 95"/>
          <p:cNvSpPr/>
          <p:nvPr/>
        </p:nvSpPr>
        <p:spPr>
          <a:xfrm>
            <a:off x="0" y="6834226"/>
            <a:ext cx="11620500" cy="23774"/>
          </a:xfrm>
          <a:prstGeom prst="rect">
            <a:avLst/>
          </a:prstGeom>
          <a:solidFill>
            <a:srgbClr val="71D5DD"/>
          </a:solidFill>
          <a:ln w="8890">
            <a:solidFill>
              <a:srgbClr val="71D5DD"/>
            </a:solidFill>
            <a:prstDash val="solid"/>
          </a:ln>
        </p:spPr>
        <p:txBody>
          <a:body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txBox="1"/>
          <p:nvPr/>
        </p:nvSpPr>
        <p:spPr>
          <a:xfrm>
            <a:off x="548640" y="219456"/>
            <a:ext cx="9875520" cy="192024"/>
          </a:xfrm>
          <a:prstGeom prst="rect">
            <a:avLst/>
          </a:prstGeom>
          <a:noFill/>
          <a:ln/>
        </p:spPr>
        <p:txBody>
          <a:bodyPr wrap="square" lIns="0" tIns="0" rIns="0" bIns="0" rtlCol="0" anchor="t"/>
          <a:lstStyle/>
          <a:p>
            <a:pPr algn="l" indent="0" marL="0">
              <a:lnSpc>
                <a:spcPct val="104000"/>
              </a:lnSpc>
              <a:buNone/>
            </a:pPr>
            <a:r>
              <a:rPr lang="en-US" sz="970" b="1" spc="135" kern="0" dirty="0">
                <a:solidFill>
                  <a:srgbClr val="B3C3D6"/>
                </a:solidFill>
                <a:latin typeface="Arial" pitchFamily="34" charset="0"/>
                <a:ea typeface="Arial" pitchFamily="34" charset="-122"/>
                <a:cs typeface="Arial" pitchFamily="34" charset="-120"/>
              </a:rPr>
              <a:t>SYSTEMS PROGRAMMING AND MACHINE ORGANIZATION</a:t>
            </a:r>
            <a:endParaRPr lang="en-US" sz="970" dirty="0"/>
          </a:p>
        </p:txBody>
      </p:sp>
      <p:sp>
        <p:nvSpPr>
          <p:cNvPr id="3" name="Text 1"/>
          <p:cNvSpPr txBox="1"/>
          <p:nvPr/>
        </p:nvSpPr>
        <p:spPr>
          <a:xfrm>
            <a:off x="9601200" y="219456"/>
            <a:ext cx="2039112" cy="192024"/>
          </a:xfrm>
          <a:prstGeom prst="rect">
            <a:avLst/>
          </a:prstGeom>
          <a:noFill/>
          <a:ln/>
        </p:spPr>
        <p:txBody>
          <a:bodyPr wrap="square" lIns="0" tIns="0" rIns="0" bIns="0" rtlCol="0" anchor="t"/>
          <a:lstStyle/>
          <a:p>
            <a:pPr algn="r" indent="0" marL="0">
              <a:lnSpc>
                <a:spcPct val="104000"/>
              </a:lnSpc>
              <a:buNone/>
            </a:pPr>
            <a:r>
              <a:rPr lang="en-US" sz="970" b="1" dirty="0">
                <a:solidFill>
                  <a:srgbClr val="B3C3D6"/>
                </a:solidFill>
                <a:latin typeface="Arial" pitchFamily="34" charset="0"/>
                <a:ea typeface="Arial" pitchFamily="34" charset="-122"/>
                <a:cs typeface="Arial" pitchFamily="34" charset="-120"/>
              </a:rPr>
              <a:t>CHARLES DORNER</a:t>
            </a:r>
            <a:endParaRPr lang="en-US" sz="970" dirty="0"/>
          </a:p>
        </p:txBody>
      </p:sp>
      <p:sp>
        <p:nvSpPr>
          <p:cNvPr id="4" name="Text 2"/>
          <p:cNvSpPr txBox="1"/>
          <p:nvPr/>
        </p:nvSpPr>
        <p:spPr>
          <a:xfrm>
            <a:off x="548640" y="566928"/>
            <a:ext cx="11109960" cy="237744"/>
          </a:xfrm>
          <a:prstGeom prst="rect">
            <a:avLst/>
          </a:prstGeom>
          <a:noFill/>
          <a:ln/>
        </p:spPr>
        <p:txBody>
          <a:bodyPr wrap="square" lIns="0" tIns="0" rIns="0" bIns="0" rtlCol="0" anchor="t"/>
          <a:lstStyle/>
          <a:p>
            <a:pPr algn="l" indent="0" marL="0">
              <a:lnSpc>
                <a:spcPct val="104000"/>
              </a:lnSpc>
              <a:buNone/>
            </a:pPr>
            <a:r>
              <a:rPr lang="en-US" sz="1150" b="1" dirty="0">
                <a:solidFill>
                  <a:srgbClr val="71D5DD"/>
                </a:solidFill>
                <a:latin typeface="Arial" pitchFamily="34" charset="0"/>
                <a:ea typeface="Arial" pitchFamily="34" charset="-122"/>
                <a:cs typeface="Arial" pitchFamily="34" charset="-120"/>
              </a:rPr>
              <a:t>APPENDIX · SOURCE-TO-LECTURE TRACEABILITY</a:t>
            </a:r>
            <a:endParaRPr lang="en-US" sz="1150" dirty="0"/>
          </a:p>
        </p:txBody>
      </p:sp>
      <p:sp>
        <p:nvSpPr>
          <p:cNvPr id="5" name="Text 3"/>
          <p:cNvSpPr txBox="1"/>
          <p:nvPr/>
        </p:nvSpPr>
        <p:spPr>
          <a:xfrm>
            <a:off x="548640" y="941832"/>
            <a:ext cx="11091672" cy="676656"/>
          </a:xfrm>
          <a:prstGeom prst="rect">
            <a:avLst/>
          </a:prstGeom>
          <a:noFill/>
          <a:ln/>
        </p:spPr>
        <p:txBody>
          <a:bodyPr wrap="square" lIns="0" tIns="0" rIns="0" bIns="0" rtlCol="0" anchor="t"/>
          <a:lstStyle/>
          <a:p>
            <a:pPr algn="l" indent="0" marL="0">
              <a:lnSpc>
                <a:spcPct val="104000"/>
              </a:lnSpc>
              <a:buNone/>
            </a:pPr>
            <a:r>
              <a:rPr lang="en-US" sz="3150" b="1" dirty="0">
                <a:solidFill>
                  <a:srgbClr val="F4F7FB"/>
                </a:solidFill>
                <a:latin typeface="Arial" pitchFamily="34" charset="0"/>
                <a:ea typeface="Arial" pitchFamily="34" charset="-122"/>
                <a:cs typeface="Arial" pitchFamily="34" charset="-120"/>
              </a:rPr>
              <a:t>Coverage map 2: every original topic retained</a:t>
            </a:r>
            <a:endParaRPr lang="en-US" sz="3150" dirty="0"/>
          </a:p>
        </p:txBody>
      </p:sp>
      <p:sp>
        <p:nvSpPr>
          <p:cNvPr id="6" name="Shape 4"/>
          <p:cNvSpPr/>
          <p:nvPr/>
        </p:nvSpPr>
        <p:spPr>
          <a:xfrm>
            <a:off x="548640" y="1764792"/>
            <a:ext cx="1525524" cy="292608"/>
          </a:xfrm>
          <a:prstGeom prst="rect">
            <a:avLst/>
          </a:prstGeom>
          <a:solidFill>
            <a:srgbClr val="172940"/>
          </a:solidFill>
          <a:ln w="8890">
            <a:solidFill>
              <a:srgbClr val="172940"/>
            </a:solidFill>
            <a:prstDash val="solid"/>
          </a:ln>
        </p:spPr>
        <p:txBody>
          <a:bodyPr/>
          <a:p/>
        </p:txBody>
      </p:sp>
      <p:sp>
        <p:nvSpPr>
          <p:cNvPr id="7" name="Text 5"/>
          <p:cNvSpPr txBox="1"/>
          <p:nvPr/>
        </p:nvSpPr>
        <p:spPr>
          <a:xfrm>
            <a:off x="676656" y="1851660"/>
            <a:ext cx="1269492" cy="192024"/>
          </a:xfrm>
          <a:prstGeom prst="rect">
            <a:avLst/>
          </a:prstGeom>
          <a:noFill/>
          <a:ln/>
        </p:spPr>
        <p:txBody>
          <a:bodyPr wrap="square" lIns="0" tIns="0" rIns="0" bIns="0" rtlCol="0" anchor="t"/>
          <a:lstStyle/>
          <a:p>
            <a:pPr algn="l" indent="0" marL="0">
              <a:lnSpc>
                <a:spcPct val="104000"/>
              </a:lnSpc>
              <a:buNone/>
            </a:pPr>
            <a:r>
              <a:rPr lang="en-US" sz="1140" b="1" dirty="0">
                <a:solidFill>
                  <a:srgbClr val="71D5DD"/>
                </a:solidFill>
                <a:latin typeface="Arial" pitchFamily="34" charset="0"/>
                <a:ea typeface="Arial" pitchFamily="34" charset="-122"/>
                <a:cs typeface="Arial" pitchFamily="34" charset="-120"/>
              </a:rPr>
              <a:t>Original slide</a:t>
            </a:r>
            <a:endParaRPr lang="en-US" sz="1140" dirty="0"/>
          </a:p>
        </p:txBody>
      </p:sp>
      <p:sp>
        <p:nvSpPr>
          <p:cNvPr id="8" name="Shape 6"/>
          <p:cNvSpPr/>
          <p:nvPr/>
        </p:nvSpPr>
        <p:spPr>
          <a:xfrm>
            <a:off x="2074164" y="1764792"/>
            <a:ext cx="7211568" cy="292608"/>
          </a:xfrm>
          <a:prstGeom prst="rect">
            <a:avLst/>
          </a:prstGeom>
          <a:solidFill>
            <a:srgbClr val="172940"/>
          </a:solidFill>
          <a:ln w="8890">
            <a:solidFill>
              <a:srgbClr val="172940"/>
            </a:solidFill>
            <a:prstDash val="solid"/>
          </a:ln>
        </p:spPr>
        <p:txBody>
          <a:bodyPr/>
          <a:p/>
        </p:txBody>
      </p:sp>
      <p:sp>
        <p:nvSpPr>
          <p:cNvPr id="9" name="Text 7"/>
          <p:cNvSpPr txBox="1"/>
          <p:nvPr/>
        </p:nvSpPr>
        <p:spPr>
          <a:xfrm>
            <a:off x="2202180" y="1851660"/>
            <a:ext cx="6955536" cy="192024"/>
          </a:xfrm>
          <a:prstGeom prst="rect">
            <a:avLst/>
          </a:prstGeom>
          <a:noFill/>
          <a:ln/>
        </p:spPr>
        <p:txBody>
          <a:bodyPr wrap="square" lIns="0" tIns="0" rIns="0" bIns="0" rtlCol="0" anchor="t"/>
          <a:lstStyle/>
          <a:p>
            <a:pPr algn="l" indent="0" marL="0">
              <a:lnSpc>
                <a:spcPct val="104000"/>
              </a:lnSpc>
              <a:buNone/>
            </a:pPr>
            <a:r>
              <a:rPr lang="en-US" sz="1140" b="1" dirty="0">
                <a:solidFill>
                  <a:srgbClr val="71D5DD"/>
                </a:solidFill>
                <a:latin typeface="Arial" pitchFamily="34" charset="0"/>
                <a:ea typeface="Arial" pitchFamily="34" charset="-122"/>
                <a:cs typeface="Arial" pitchFamily="34" charset="-120"/>
              </a:rPr>
              <a:t>Source topic</a:t>
            </a:r>
            <a:endParaRPr lang="en-US" sz="1140" dirty="0"/>
          </a:p>
        </p:txBody>
      </p:sp>
      <p:sp>
        <p:nvSpPr>
          <p:cNvPr id="10" name="Shape 8"/>
          <p:cNvSpPr/>
          <p:nvPr/>
        </p:nvSpPr>
        <p:spPr>
          <a:xfrm>
            <a:off x="9285732" y="1764792"/>
            <a:ext cx="2357628" cy="292608"/>
          </a:xfrm>
          <a:prstGeom prst="rect">
            <a:avLst/>
          </a:prstGeom>
          <a:solidFill>
            <a:srgbClr val="172940"/>
          </a:solidFill>
          <a:ln w="8890">
            <a:solidFill>
              <a:srgbClr val="172940"/>
            </a:solidFill>
            <a:prstDash val="solid"/>
          </a:ln>
        </p:spPr>
        <p:txBody>
          <a:bodyPr/>
          <a:p/>
        </p:txBody>
      </p:sp>
      <p:sp>
        <p:nvSpPr>
          <p:cNvPr id="11" name="Text 9"/>
          <p:cNvSpPr txBox="1"/>
          <p:nvPr/>
        </p:nvSpPr>
        <p:spPr>
          <a:xfrm>
            <a:off x="9413748" y="1851660"/>
            <a:ext cx="2101596" cy="192024"/>
          </a:xfrm>
          <a:prstGeom prst="rect">
            <a:avLst/>
          </a:prstGeom>
          <a:noFill/>
          <a:ln/>
        </p:spPr>
        <p:txBody>
          <a:bodyPr wrap="square" lIns="0" tIns="0" rIns="0" bIns="0" rtlCol="0" anchor="t"/>
          <a:lstStyle/>
          <a:p>
            <a:pPr algn="l" indent="0" marL="0">
              <a:lnSpc>
                <a:spcPct val="104000"/>
              </a:lnSpc>
              <a:buNone/>
            </a:pPr>
            <a:r>
              <a:rPr lang="en-US" sz="1140" b="1" dirty="0">
                <a:solidFill>
                  <a:srgbClr val="71D5DD"/>
                </a:solidFill>
                <a:latin typeface="Arial" pitchFamily="34" charset="0"/>
                <a:ea typeface="Arial" pitchFamily="34" charset="-122"/>
                <a:cs typeface="Arial" pitchFamily="34" charset="-120"/>
              </a:rPr>
              <a:t>Expanded slides</a:t>
            </a:r>
            <a:endParaRPr lang="en-US" sz="1140" dirty="0"/>
          </a:p>
        </p:txBody>
      </p:sp>
      <p:sp>
        <p:nvSpPr>
          <p:cNvPr id="12" name="Shape 10"/>
          <p:cNvSpPr/>
          <p:nvPr/>
        </p:nvSpPr>
        <p:spPr>
          <a:xfrm>
            <a:off x="548640" y="2057400"/>
            <a:ext cx="1525524" cy="274320"/>
          </a:xfrm>
          <a:prstGeom prst="rect">
            <a:avLst/>
          </a:prstGeom>
          <a:solidFill>
            <a:srgbClr val="142238"/>
          </a:solidFill>
          <a:ln w="8890">
            <a:solidFill>
              <a:srgbClr val="142238"/>
            </a:solidFill>
            <a:prstDash val="solid"/>
          </a:ln>
        </p:spPr>
        <p:txBody>
          <a:bodyPr/>
          <a:p/>
        </p:txBody>
      </p:sp>
      <p:sp>
        <p:nvSpPr>
          <p:cNvPr id="13" name="Text 11"/>
          <p:cNvSpPr txBox="1"/>
          <p:nvPr/>
        </p:nvSpPr>
        <p:spPr>
          <a:xfrm>
            <a:off x="676656" y="2080260"/>
            <a:ext cx="1269492" cy="233172"/>
          </a:xfrm>
          <a:prstGeom prst="rect">
            <a:avLst/>
          </a:prstGeom>
          <a:noFill/>
          <a:ln/>
        </p:spPr>
        <p:txBody>
          <a:bodyPr wrap="square" lIns="0" tIns="0" rIns="0" bIns="0" rtlCol="0" anchor="t"/>
          <a:lstStyle/>
          <a:p>
            <a:pPr algn="l" indent="0" marL="0">
              <a:lnSpc>
                <a:spcPct val="104000"/>
              </a:lnSpc>
              <a:buNone/>
            </a:pPr>
            <a:r>
              <a:rPr lang="en-US" sz="1420" b="1" dirty="0">
                <a:solidFill>
                  <a:srgbClr val="F4F7FB"/>
                </a:solidFill>
                <a:latin typeface="Arial" pitchFamily="34" charset="0"/>
                <a:ea typeface="Arial" pitchFamily="34" charset="-122"/>
                <a:cs typeface="Arial" pitchFamily="34" charset="-120"/>
              </a:rPr>
              <a:t>12</a:t>
            </a:r>
            <a:endParaRPr lang="en-US" sz="1420" dirty="0"/>
          </a:p>
        </p:txBody>
      </p:sp>
      <p:sp>
        <p:nvSpPr>
          <p:cNvPr id="14" name="Shape 12"/>
          <p:cNvSpPr/>
          <p:nvPr/>
        </p:nvSpPr>
        <p:spPr>
          <a:xfrm>
            <a:off x="2074164" y="2057400"/>
            <a:ext cx="7211568" cy="274320"/>
          </a:xfrm>
          <a:prstGeom prst="rect">
            <a:avLst/>
          </a:prstGeom>
          <a:solidFill>
            <a:srgbClr val="142238"/>
          </a:solidFill>
          <a:ln w="8890">
            <a:solidFill>
              <a:srgbClr val="142238"/>
            </a:solidFill>
            <a:prstDash val="solid"/>
          </a:ln>
        </p:spPr>
        <p:txBody>
          <a:bodyPr/>
          <a:p/>
        </p:txBody>
      </p:sp>
      <p:sp>
        <p:nvSpPr>
          <p:cNvPr id="15" name="Text 13"/>
          <p:cNvSpPr txBox="1"/>
          <p:nvPr/>
        </p:nvSpPr>
        <p:spPr>
          <a:xfrm>
            <a:off x="2202180" y="2080260"/>
            <a:ext cx="6955536" cy="233172"/>
          </a:xfrm>
          <a:prstGeom prst="rect">
            <a:avLst/>
          </a:prstGeom>
          <a:noFill/>
          <a:ln/>
        </p:spPr>
        <p:txBody>
          <a:bodyPr wrap="square" lIns="0" tIns="0" rIns="0" bIns="0" rtlCol="0" anchor="t"/>
          <a:lstStyle/>
          <a:p>
            <a:pPr algn="l" indent="0" marL="0">
              <a:lnSpc>
                <a:spcPct val="104000"/>
              </a:lnSpc>
              <a:buNone/>
            </a:pPr>
            <a:r>
              <a:rPr lang="en-US" sz="1420" dirty="0">
                <a:solidFill>
                  <a:srgbClr val="B3C3D6"/>
                </a:solidFill>
                <a:latin typeface="Arial" pitchFamily="34" charset="0"/>
                <a:ea typeface="Arial" pitchFamily="34" charset="-122"/>
                <a:cs typeface="Arial" pitchFamily="34" charset="-120"/>
              </a:rPr>
              <a:t>Loading and runtime execution</a:t>
            </a:r>
            <a:endParaRPr lang="en-US" sz="1420" dirty="0"/>
          </a:p>
        </p:txBody>
      </p:sp>
      <p:sp>
        <p:nvSpPr>
          <p:cNvPr id="16" name="Shape 14"/>
          <p:cNvSpPr/>
          <p:nvPr/>
        </p:nvSpPr>
        <p:spPr>
          <a:xfrm>
            <a:off x="9285732" y="2057400"/>
            <a:ext cx="2357628" cy="274320"/>
          </a:xfrm>
          <a:prstGeom prst="rect">
            <a:avLst/>
          </a:prstGeom>
          <a:solidFill>
            <a:srgbClr val="142238"/>
          </a:solidFill>
          <a:ln w="8890">
            <a:solidFill>
              <a:srgbClr val="142238"/>
            </a:solidFill>
            <a:prstDash val="solid"/>
          </a:ln>
        </p:spPr>
        <p:txBody>
          <a:bodyPr/>
          <a:p/>
        </p:txBody>
      </p:sp>
      <p:sp>
        <p:nvSpPr>
          <p:cNvPr id="17" name="Text 15"/>
          <p:cNvSpPr txBox="1"/>
          <p:nvPr/>
        </p:nvSpPr>
        <p:spPr>
          <a:xfrm>
            <a:off x="9413748" y="2080260"/>
            <a:ext cx="2101596" cy="233172"/>
          </a:xfrm>
          <a:prstGeom prst="rect">
            <a:avLst/>
          </a:prstGeom>
          <a:noFill/>
          <a:ln/>
        </p:spPr>
        <p:txBody>
          <a:bodyPr wrap="square" lIns="0" tIns="0" rIns="0" bIns="0" rtlCol="0" anchor="t"/>
          <a:lstStyle/>
          <a:p>
            <a:pPr algn="l" indent="0" marL="0">
              <a:lnSpc>
                <a:spcPct val="104000"/>
              </a:lnSpc>
              <a:buNone/>
            </a:pPr>
            <a:r>
              <a:rPr lang="en-US" sz="1420" dirty="0">
                <a:solidFill>
                  <a:srgbClr val="B3C3D6"/>
                </a:solidFill>
                <a:latin typeface="Arial" pitchFamily="34" charset="0"/>
                <a:ea typeface="Arial" pitchFamily="34" charset="-122"/>
                <a:cs typeface="Arial" pitchFamily="34" charset="-120"/>
              </a:rPr>
              <a:t>26–29</a:t>
            </a:r>
            <a:endParaRPr lang="en-US" sz="1420" dirty="0"/>
          </a:p>
        </p:txBody>
      </p:sp>
      <p:sp>
        <p:nvSpPr>
          <p:cNvPr id="18" name="Shape 16"/>
          <p:cNvSpPr/>
          <p:nvPr/>
        </p:nvSpPr>
        <p:spPr>
          <a:xfrm>
            <a:off x="548640" y="2331720"/>
            <a:ext cx="11094720" cy="0"/>
          </a:xfrm>
          <a:prstGeom prst="line">
            <a:avLst/>
          </a:prstGeom>
          <a:noFill/>
          <a:ln w="12700">
            <a:solidFill>
              <a:srgbClr val="2B415A"/>
            </a:solidFill>
            <a:prstDash val="solid"/>
          </a:ln>
        </p:spPr>
        <p:txBody>
          <a:bodyPr/>
          <a:p/>
        </p:txBody>
      </p:sp>
      <p:sp>
        <p:nvSpPr>
          <p:cNvPr id="19" name="Shape 17"/>
          <p:cNvSpPr/>
          <p:nvPr/>
        </p:nvSpPr>
        <p:spPr>
          <a:xfrm>
            <a:off x="548640" y="2331720"/>
            <a:ext cx="1525524" cy="274320"/>
          </a:xfrm>
          <a:prstGeom prst="rect">
            <a:avLst/>
          </a:prstGeom>
          <a:solidFill>
            <a:srgbClr val="0B1322"/>
          </a:solidFill>
          <a:ln w="8890">
            <a:solidFill>
              <a:srgbClr val="0B1322"/>
            </a:solidFill>
            <a:prstDash val="solid"/>
          </a:ln>
        </p:spPr>
        <p:txBody>
          <a:bodyPr/>
          <a:p/>
        </p:txBody>
      </p:sp>
      <p:sp>
        <p:nvSpPr>
          <p:cNvPr id="20" name="Text 18"/>
          <p:cNvSpPr txBox="1"/>
          <p:nvPr/>
        </p:nvSpPr>
        <p:spPr>
          <a:xfrm>
            <a:off x="676656" y="2354580"/>
            <a:ext cx="1269492" cy="233172"/>
          </a:xfrm>
          <a:prstGeom prst="rect">
            <a:avLst/>
          </a:prstGeom>
          <a:noFill/>
          <a:ln/>
        </p:spPr>
        <p:txBody>
          <a:bodyPr wrap="square" lIns="0" tIns="0" rIns="0" bIns="0" rtlCol="0" anchor="t"/>
          <a:lstStyle/>
          <a:p>
            <a:pPr algn="l" indent="0" marL="0">
              <a:lnSpc>
                <a:spcPct val="104000"/>
              </a:lnSpc>
              <a:buNone/>
            </a:pPr>
            <a:r>
              <a:rPr lang="en-US" sz="1420" b="1" dirty="0">
                <a:solidFill>
                  <a:srgbClr val="F4F7FB"/>
                </a:solidFill>
                <a:latin typeface="Arial" pitchFamily="34" charset="0"/>
                <a:ea typeface="Arial" pitchFamily="34" charset="-122"/>
                <a:cs typeface="Arial" pitchFamily="34" charset="-120"/>
              </a:rPr>
              <a:t>13</a:t>
            </a:r>
            <a:endParaRPr lang="en-US" sz="1420" dirty="0"/>
          </a:p>
        </p:txBody>
      </p:sp>
      <p:sp>
        <p:nvSpPr>
          <p:cNvPr id="21" name="Shape 19"/>
          <p:cNvSpPr/>
          <p:nvPr/>
        </p:nvSpPr>
        <p:spPr>
          <a:xfrm>
            <a:off x="2074164" y="2331720"/>
            <a:ext cx="7211568" cy="274320"/>
          </a:xfrm>
          <a:prstGeom prst="rect">
            <a:avLst/>
          </a:prstGeom>
          <a:solidFill>
            <a:srgbClr val="0B1322"/>
          </a:solidFill>
          <a:ln w="8890">
            <a:solidFill>
              <a:srgbClr val="0B1322"/>
            </a:solidFill>
            <a:prstDash val="solid"/>
          </a:ln>
        </p:spPr>
        <p:txBody>
          <a:bodyPr/>
          <a:p/>
        </p:txBody>
      </p:sp>
      <p:sp>
        <p:nvSpPr>
          <p:cNvPr id="22" name="Text 20"/>
          <p:cNvSpPr txBox="1"/>
          <p:nvPr/>
        </p:nvSpPr>
        <p:spPr>
          <a:xfrm>
            <a:off x="2202180" y="2354580"/>
            <a:ext cx="6955536" cy="233172"/>
          </a:xfrm>
          <a:prstGeom prst="rect">
            <a:avLst/>
          </a:prstGeom>
          <a:noFill/>
          <a:ln/>
        </p:spPr>
        <p:txBody>
          <a:bodyPr wrap="square" lIns="0" tIns="0" rIns="0" bIns="0" rtlCol="0" anchor="t"/>
          <a:lstStyle/>
          <a:p>
            <a:pPr algn="l" indent="0" marL="0">
              <a:lnSpc>
                <a:spcPct val="104000"/>
              </a:lnSpc>
              <a:buNone/>
            </a:pPr>
            <a:r>
              <a:rPr lang="en-US" sz="1420" dirty="0">
                <a:solidFill>
                  <a:srgbClr val="B3C3D6"/>
                </a:solidFill>
                <a:latin typeface="Arial" pitchFamily="34" charset="0"/>
                <a:ea typeface="Arial" pitchFamily="34" charset="-122"/>
                <a:cs typeface="Arial" pitchFamily="34" charset="-120"/>
              </a:rPr>
              <a:t>Six systems-programming concerns</a:t>
            </a:r>
            <a:endParaRPr lang="en-US" sz="1420" dirty="0"/>
          </a:p>
        </p:txBody>
      </p:sp>
      <p:sp>
        <p:nvSpPr>
          <p:cNvPr id="23" name="Shape 21"/>
          <p:cNvSpPr/>
          <p:nvPr/>
        </p:nvSpPr>
        <p:spPr>
          <a:xfrm>
            <a:off x="9285732" y="2331720"/>
            <a:ext cx="2357628" cy="274320"/>
          </a:xfrm>
          <a:prstGeom prst="rect">
            <a:avLst/>
          </a:prstGeom>
          <a:solidFill>
            <a:srgbClr val="0B1322"/>
          </a:solidFill>
          <a:ln w="8890">
            <a:solidFill>
              <a:srgbClr val="0B1322"/>
            </a:solidFill>
            <a:prstDash val="solid"/>
          </a:ln>
        </p:spPr>
        <p:txBody>
          <a:bodyPr/>
          <a:p/>
        </p:txBody>
      </p:sp>
      <p:sp>
        <p:nvSpPr>
          <p:cNvPr id="24" name="Text 22"/>
          <p:cNvSpPr txBox="1"/>
          <p:nvPr/>
        </p:nvSpPr>
        <p:spPr>
          <a:xfrm>
            <a:off x="9413748" y="2354580"/>
            <a:ext cx="2101596" cy="233172"/>
          </a:xfrm>
          <a:prstGeom prst="rect">
            <a:avLst/>
          </a:prstGeom>
          <a:noFill/>
          <a:ln/>
        </p:spPr>
        <p:txBody>
          <a:bodyPr wrap="square" lIns="0" tIns="0" rIns="0" bIns="0" rtlCol="0" anchor="t"/>
          <a:lstStyle/>
          <a:p>
            <a:pPr algn="l" indent="0" marL="0">
              <a:lnSpc>
                <a:spcPct val="104000"/>
              </a:lnSpc>
              <a:buNone/>
            </a:pPr>
            <a:r>
              <a:rPr lang="en-US" sz="1420" dirty="0">
                <a:solidFill>
                  <a:srgbClr val="B3C3D6"/>
                </a:solidFill>
                <a:latin typeface="Arial" pitchFamily="34" charset="0"/>
                <a:ea typeface="Arial" pitchFamily="34" charset="-122"/>
                <a:cs typeface="Arial" pitchFamily="34" charset="-120"/>
              </a:rPr>
              <a:t>37–41, 48</a:t>
            </a:r>
            <a:endParaRPr lang="en-US" sz="1420" dirty="0"/>
          </a:p>
        </p:txBody>
      </p:sp>
      <p:sp>
        <p:nvSpPr>
          <p:cNvPr id="25" name="Shape 23"/>
          <p:cNvSpPr/>
          <p:nvPr/>
        </p:nvSpPr>
        <p:spPr>
          <a:xfrm>
            <a:off x="548640" y="2606040"/>
            <a:ext cx="11094720" cy="0"/>
          </a:xfrm>
          <a:prstGeom prst="line">
            <a:avLst/>
          </a:prstGeom>
          <a:noFill/>
          <a:ln w="12700">
            <a:solidFill>
              <a:srgbClr val="2B415A"/>
            </a:solidFill>
            <a:prstDash val="solid"/>
          </a:ln>
        </p:spPr>
        <p:txBody>
          <a:bodyPr/>
          <a:p/>
        </p:txBody>
      </p:sp>
      <p:sp>
        <p:nvSpPr>
          <p:cNvPr id="26" name="Shape 24"/>
          <p:cNvSpPr/>
          <p:nvPr/>
        </p:nvSpPr>
        <p:spPr>
          <a:xfrm>
            <a:off x="548640" y="2606040"/>
            <a:ext cx="1525524" cy="274320"/>
          </a:xfrm>
          <a:prstGeom prst="rect">
            <a:avLst/>
          </a:prstGeom>
          <a:solidFill>
            <a:srgbClr val="142238"/>
          </a:solidFill>
          <a:ln w="8890">
            <a:solidFill>
              <a:srgbClr val="142238"/>
            </a:solidFill>
            <a:prstDash val="solid"/>
          </a:ln>
        </p:spPr>
        <p:txBody>
          <a:bodyPr/>
          <a:p/>
        </p:txBody>
      </p:sp>
      <p:sp>
        <p:nvSpPr>
          <p:cNvPr id="27" name="Text 25"/>
          <p:cNvSpPr txBox="1"/>
          <p:nvPr/>
        </p:nvSpPr>
        <p:spPr>
          <a:xfrm>
            <a:off x="676656" y="2628900"/>
            <a:ext cx="1269492" cy="233172"/>
          </a:xfrm>
          <a:prstGeom prst="rect">
            <a:avLst/>
          </a:prstGeom>
          <a:noFill/>
          <a:ln/>
        </p:spPr>
        <p:txBody>
          <a:bodyPr wrap="square" lIns="0" tIns="0" rIns="0" bIns="0" rtlCol="0" anchor="t"/>
          <a:lstStyle/>
          <a:p>
            <a:pPr algn="l" indent="0" marL="0">
              <a:lnSpc>
                <a:spcPct val="104000"/>
              </a:lnSpc>
              <a:buNone/>
            </a:pPr>
            <a:r>
              <a:rPr lang="en-US" sz="1420" b="1" dirty="0">
                <a:solidFill>
                  <a:srgbClr val="F4F7FB"/>
                </a:solidFill>
                <a:latin typeface="Arial" pitchFamily="34" charset="0"/>
                <a:ea typeface="Arial" pitchFamily="34" charset="-122"/>
                <a:cs typeface="Arial" pitchFamily="34" charset="-120"/>
              </a:rPr>
              <a:t>14</a:t>
            </a:r>
            <a:endParaRPr lang="en-US" sz="1420" dirty="0"/>
          </a:p>
        </p:txBody>
      </p:sp>
      <p:sp>
        <p:nvSpPr>
          <p:cNvPr id="28" name="Shape 26"/>
          <p:cNvSpPr/>
          <p:nvPr/>
        </p:nvSpPr>
        <p:spPr>
          <a:xfrm>
            <a:off x="2074164" y="2606040"/>
            <a:ext cx="7211568" cy="274320"/>
          </a:xfrm>
          <a:prstGeom prst="rect">
            <a:avLst/>
          </a:prstGeom>
          <a:solidFill>
            <a:srgbClr val="142238"/>
          </a:solidFill>
          <a:ln w="8890">
            <a:solidFill>
              <a:srgbClr val="142238"/>
            </a:solidFill>
            <a:prstDash val="solid"/>
          </a:ln>
        </p:spPr>
        <p:txBody>
          <a:bodyPr/>
          <a:p/>
        </p:txBody>
      </p:sp>
      <p:sp>
        <p:nvSpPr>
          <p:cNvPr id="29" name="Text 27"/>
          <p:cNvSpPr txBox="1"/>
          <p:nvPr/>
        </p:nvSpPr>
        <p:spPr>
          <a:xfrm>
            <a:off x="2202180" y="2628900"/>
            <a:ext cx="6955536" cy="233172"/>
          </a:xfrm>
          <a:prstGeom prst="rect">
            <a:avLst/>
          </a:prstGeom>
          <a:noFill/>
          <a:ln/>
        </p:spPr>
        <p:txBody>
          <a:bodyPr wrap="square" lIns="0" tIns="0" rIns="0" bIns="0" rtlCol="0" anchor="t"/>
          <a:lstStyle/>
          <a:p>
            <a:pPr algn="l" indent="0" marL="0">
              <a:lnSpc>
                <a:spcPct val="104000"/>
              </a:lnSpc>
              <a:buNone/>
            </a:pPr>
            <a:r>
              <a:rPr lang="en-US" sz="1420" dirty="0">
                <a:solidFill>
                  <a:srgbClr val="B3C3D6"/>
                </a:solidFill>
                <a:latin typeface="Arial" pitchFamily="34" charset="0"/>
                <a:ea typeface="Arial" pitchFamily="34" charset="-122"/>
                <a:cs typeface="Arial" pitchFamily="34" charset="-120"/>
              </a:rPr>
              <a:t>Ownership, resources, and invariants</a:t>
            </a:r>
            <a:endParaRPr lang="en-US" sz="1420" dirty="0"/>
          </a:p>
        </p:txBody>
      </p:sp>
      <p:sp>
        <p:nvSpPr>
          <p:cNvPr id="30" name="Shape 28"/>
          <p:cNvSpPr/>
          <p:nvPr/>
        </p:nvSpPr>
        <p:spPr>
          <a:xfrm>
            <a:off x="9285732" y="2606040"/>
            <a:ext cx="2357628" cy="274320"/>
          </a:xfrm>
          <a:prstGeom prst="rect">
            <a:avLst/>
          </a:prstGeom>
          <a:solidFill>
            <a:srgbClr val="142238"/>
          </a:solidFill>
          <a:ln w="8890">
            <a:solidFill>
              <a:srgbClr val="142238"/>
            </a:solidFill>
            <a:prstDash val="solid"/>
          </a:ln>
        </p:spPr>
        <p:txBody>
          <a:bodyPr/>
          <a:p/>
        </p:txBody>
      </p:sp>
      <p:sp>
        <p:nvSpPr>
          <p:cNvPr id="31" name="Text 29"/>
          <p:cNvSpPr txBox="1"/>
          <p:nvPr/>
        </p:nvSpPr>
        <p:spPr>
          <a:xfrm>
            <a:off x="9413748" y="2628900"/>
            <a:ext cx="2101596" cy="233172"/>
          </a:xfrm>
          <a:prstGeom prst="rect">
            <a:avLst/>
          </a:prstGeom>
          <a:noFill/>
          <a:ln/>
        </p:spPr>
        <p:txBody>
          <a:bodyPr wrap="square" lIns="0" tIns="0" rIns="0" bIns="0" rtlCol="0" anchor="t"/>
          <a:lstStyle/>
          <a:p>
            <a:pPr algn="l" indent="0" marL="0">
              <a:lnSpc>
                <a:spcPct val="104000"/>
              </a:lnSpc>
              <a:buNone/>
            </a:pPr>
            <a:r>
              <a:rPr lang="en-US" sz="1420" dirty="0">
                <a:solidFill>
                  <a:srgbClr val="B3C3D6"/>
                </a:solidFill>
                <a:latin typeface="Arial" pitchFamily="34" charset="0"/>
                <a:ea typeface="Arial" pitchFamily="34" charset="-122"/>
                <a:cs typeface="Arial" pitchFamily="34" charset="-120"/>
              </a:rPr>
              <a:t>42–45</a:t>
            </a:r>
            <a:endParaRPr lang="en-US" sz="1420" dirty="0"/>
          </a:p>
        </p:txBody>
      </p:sp>
      <p:sp>
        <p:nvSpPr>
          <p:cNvPr id="32" name="Shape 30"/>
          <p:cNvSpPr/>
          <p:nvPr/>
        </p:nvSpPr>
        <p:spPr>
          <a:xfrm>
            <a:off x="548640" y="2880360"/>
            <a:ext cx="11094720" cy="0"/>
          </a:xfrm>
          <a:prstGeom prst="line">
            <a:avLst/>
          </a:prstGeom>
          <a:noFill/>
          <a:ln w="12700">
            <a:solidFill>
              <a:srgbClr val="2B415A"/>
            </a:solidFill>
            <a:prstDash val="solid"/>
          </a:ln>
        </p:spPr>
        <p:txBody>
          <a:bodyPr/>
          <a:p/>
        </p:txBody>
      </p:sp>
      <p:sp>
        <p:nvSpPr>
          <p:cNvPr id="33" name="Shape 31"/>
          <p:cNvSpPr/>
          <p:nvPr/>
        </p:nvSpPr>
        <p:spPr>
          <a:xfrm>
            <a:off x="548640" y="2880360"/>
            <a:ext cx="1525524" cy="274320"/>
          </a:xfrm>
          <a:prstGeom prst="rect">
            <a:avLst/>
          </a:prstGeom>
          <a:solidFill>
            <a:srgbClr val="0B1322"/>
          </a:solidFill>
          <a:ln w="8890">
            <a:solidFill>
              <a:srgbClr val="0B1322"/>
            </a:solidFill>
            <a:prstDash val="solid"/>
          </a:ln>
        </p:spPr>
        <p:txBody>
          <a:bodyPr/>
          <a:p/>
        </p:txBody>
      </p:sp>
      <p:sp>
        <p:nvSpPr>
          <p:cNvPr id="34" name="Text 32"/>
          <p:cNvSpPr txBox="1"/>
          <p:nvPr/>
        </p:nvSpPr>
        <p:spPr>
          <a:xfrm>
            <a:off x="676656" y="2903220"/>
            <a:ext cx="1269492" cy="233172"/>
          </a:xfrm>
          <a:prstGeom prst="rect">
            <a:avLst/>
          </a:prstGeom>
          <a:noFill/>
          <a:ln/>
        </p:spPr>
        <p:txBody>
          <a:bodyPr wrap="square" lIns="0" tIns="0" rIns="0" bIns="0" rtlCol="0" anchor="t"/>
          <a:lstStyle/>
          <a:p>
            <a:pPr algn="l" indent="0" marL="0">
              <a:lnSpc>
                <a:spcPct val="104000"/>
              </a:lnSpc>
              <a:buNone/>
            </a:pPr>
            <a:r>
              <a:rPr lang="en-US" sz="1420" b="1" dirty="0">
                <a:solidFill>
                  <a:srgbClr val="F4F7FB"/>
                </a:solidFill>
                <a:latin typeface="Arial" pitchFamily="34" charset="0"/>
                <a:ea typeface="Arial" pitchFamily="34" charset="-122"/>
                <a:cs typeface="Arial" pitchFamily="34" charset="-120"/>
              </a:rPr>
              <a:t>15</a:t>
            </a:r>
            <a:endParaRPr lang="en-US" sz="1420" dirty="0"/>
          </a:p>
        </p:txBody>
      </p:sp>
      <p:sp>
        <p:nvSpPr>
          <p:cNvPr id="35" name="Shape 33"/>
          <p:cNvSpPr/>
          <p:nvPr/>
        </p:nvSpPr>
        <p:spPr>
          <a:xfrm>
            <a:off x="2074164" y="2880360"/>
            <a:ext cx="7211568" cy="274320"/>
          </a:xfrm>
          <a:prstGeom prst="rect">
            <a:avLst/>
          </a:prstGeom>
          <a:solidFill>
            <a:srgbClr val="0B1322"/>
          </a:solidFill>
          <a:ln w="8890">
            <a:solidFill>
              <a:srgbClr val="0B1322"/>
            </a:solidFill>
            <a:prstDash val="solid"/>
          </a:ln>
        </p:spPr>
        <p:txBody>
          <a:bodyPr/>
          <a:p/>
        </p:txBody>
      </p:sp>
      <p:sp>
        <p:nvSpPr>
          <p:cNvPr id="36" name="Text 34"/>
          <p:cNvSpPr txBox="1"/>
          <p:nvPr/>
        </p:nvSpPr>
        <p:spPr>
          <a:xfrm>
            <a:off x="2202180" y="2903220"/>
            <a:ext cx="6955536" cy="233172"/>
          </a:xfrm>
          <a:prstGeom prst="rect">
            <a:avLst/>
          </a:prstGeom>
          <a:noFill/>
          <a:ln/>
        </p:spPr>
        <p:txBody>
          <a:bodyPr wrap="square" lIns="0" tIns="0" rIns="0" bIns="0" rtlCol="0" anchor="t"/>
          <a:lstStyle/>
          <a:p>
            <a:pPr algn="l" indent="0" marL="0">
              <a:lnSpc>
                <a:spcPct val="104000"/>
              </a:lnSpc>
              <a:buNone/>
            </a:pPr>
            <a:r>
              <a:rPr lang="en-US" sz="1420" dirty="0">
                <a:solidFill>
                  <a:srgbClr val="B3C3D6"/>
                </a:solidFill>
                <a:latin typeface="Arial" pitchFamily="34" charset="0"/>
                <a:ea typeface="Arial" pitchFamily="34" charset="-122"/>
                <a:cs typeface="Arial" pitchFamily="34" charset="-120"/>
              </a:rPr>
              <a:t>Robustness, portability, serialization</a:t>
            </a:r>
            <a:endParaRPr lang="en-US" sz="1420" dirty="0"/>
          </a:p>
        </p:txBody>
      </p:sp>
      <p:sp>
        <p:nvSpPr>
          <p:cNvPr id="37" name="Shape 35"/>
          <p:cNvSpPr/>
          <p:nvPr/>
        </p:nvSpPr>
        <p:spPr>
          <a:xfrm>
            <a:off x="9285732" y="2880360"/>
            <a:ext cx="2357628" cy="274320"/>
          </a:xfrm>
          <a:prstGeom prst="rect">
            <a:avLst/>
          </a:prstGeom>
          <a:solidFill>
            <a:srgbClr val="0B1322"/>
          </a:solidFill>
          <a:ln w="8890">
            <a:solidFill>
              <a:srgbClr val="0B1322"/>
            </a:solidFill>
            <a:prstDash val="solid"/>
          </a:ln>
        </p:spPr>
        <p:txBody>
          <a:bodyPr/>
          <a:p/>
        </p:txBody>
      </p:sp>
      <p:sp>
        <p:nvSpPr>
          <p:cNvPr id="38" name="Text 36"/>
          <p:cNvSpPr txBox="1"/>
          <p:nvPr/>
        </p:nvSpPr>
        <p:spPr>
          <a:xfrm>
            <a:off x="9413748" y="2903220"/>
            <a:ext cx="2101596" cy="233172"/>
          </a:xfrm>
          <a:prstGeom prst="rect">
            <a:avLst/>
          </a:prstGeom>
          <a:noFill/>
          <a:ln/>
        </p:spPr>
        <p:txBody>
          <a:bodyPr wrap="square" lIns="0" tIns="0" rIns="0" bIns="0" rtlCol="0" anchor="t"/>
          <a:lstStyle/>
          <a:p>
            <a:pPr algn="l" indent="0" marL="0">
              <a:lnSpc>
                <a:spcPct val="104000"/>
              </a:lnSpc>
              <a:buNone/>
            </a:pPr>
            <a:r>
              <a:rPr lang="en-US" sz="1420" dirty="0">
                <a:solidFill>
                  <a:srgbClr val="B3C3D6"/>
                </a:solidFill>
                <a:latin typeface="Arial" pitchFamily="34" charset="0"/>
                <a:ea typeface="Arial" pitchFamily="34" charset="-122"/>
                <a:cs typeface="Arial" pitchFamily="34" charset="-120"/>
              </a:rPr>
              <a:t>46–49</a:t>
            </a:r>
            <a:endParaRPr lang="en-US" sz="1420" dirty="0"/>
          </a:p>
        </p:txBody>
      </p:sp>
      <p:sp>
        <p:nvSpPr>
          <p:cNvPr id="39" name="Shape 37"/>
          <p:cNvSpPr/>
          <p:nvPr/>
        </p:nvSpPr>
        <p:spPr>
          <a:xfrm>
            <a:off x="548640" y="3154680"/>
            <a:ext cx="11094720" cy="0"/>
          </a:xfrm>
          <a:prstGeom prst="line">
            <a:avLst/>
          </a:prstGeom>
          <a:noFill/>
          <a:ln w="12700">
            <a:solidFill>
              <a:srgbClr val="2B415A"/>
            </a:solidFill>
            <a:prstDash val="solid"/>
          </a:ln>
        </p:spPr>
        <p:txBody>
          <a:bodyPr/>
          <a:p/>
        </p:txBody>
      </p:sp>
      <p:sp>
        <p:nvSpPr>
          <p:cNvPr id="40" name="Shape 38"/>
          <p:cNvSpPr/>
          <p:nvPr/>
        </p:nvSpPr>
        <p:spPr>
          <a:xfrm>
            <a:off x="548640" y="3154680"/>
            <a:ext cx="1525524" cy="274320"/>
          </a:xfrm>
          <a:prstGeom prst="rect">
            <a:avLst/>
          </a:prstGeom>
          <a:solidFill>
            <a:srgbClr val="142238"/>
          </a:solidFill>
          <a:ln w="8890">
            <a:solidFill>
              <a:srgbClr val="142238"/>
            </a:solidFill>
            <a:prstDash val="solid"/>
          </a:ln>
        </p:spPr>
        <p:txBody>
          <a:bodyPr/>
          <a:p/>
        </p:txBody>
      </p:sp>
      <p:sp>
        <p:nvSpPr>
          <p:cNvPr id="41" name="Text 39"/>
          <p:cNvSpPr txBox="1"/>
          <p:nvPr/>
        </p:nvSpPr>
        <p:spPr>
          <a:xfrm>
            <a:off x="676656" y="3177540"/>
            <a:ext cx="1269492" cy="233172"/>
          </a:xfrm>
          <a:prstGeom prst="rect">
            <a:avLst/>
          </a:prstGeom>
          <a:noFill/>
          <a:ln/>
        </p:spPr>
        <p:txBody>
          <a:bodyPr wrap="square" lIns="0" tIns="0" rIns="0" bIns="0" rtlCol="0" anchor="t"/>
          <a:lstStyle/>
          <a:p>
            <a:pPr algn="l" indent="0" marL="0">
              <a:lnSpc>
                <a:spcPct val="104000"/>
              </a:lnSpc>
              <a:buNone/>
            </a:pPr>
            <a:r>
              <a:rPr lang="en-US" sz="1420" b="1" dirty="0">
                <a:solidFill>
                  <a:srgbClr val="F4F7FB"/>
                </a:solidFill>
                <a:latin typeface="Arial" pitchFamily="34" charset="0"/>
                <a:ea typeface="Arial" pitchFamily="34" charset="-122"/>
                <a:cs typeface="Arial" pitchFamily="34" charset="-120"/>
              </a:rPr>
              <a:t>16</a:t>
            </a:r>
            <a:endParaRPr lang="en-US" sz="1420" dirty="0"/>
          </a:p>
        </p:txBody>
      </p:sp>
      <p:sp>
        <p:nvSpPr>
          <p:cNvPr id="42" name="Shape 40"/>
          <p:cNvSpPr/>
          <p:nvPr/>
        </p:nvSpPr>
        <p:spPr>
          <a:xfrm>
            <a:off x="2074164" y="3154680"/>
            <a:ext cx="7211568" cy="274320"/>
          </a:xfrm>
          <a:prstGeom prst="rect">
            <a:avLst/>
          </a:prstGeom>
          <a:solidFill>
            <a:srgbClr val="142238"/>
          </a:solidFill>
          <a:ln w="8890">
            <a:solidFill>
              <a:srgbClr val="142238"/>
            </a:solidFill>
            <a:prstDash val="solid"/>
          </a:ln>
        </p:spPr>
        <p:txBody>
          <a:bodyPr/>
          <a:p/>
        </p:txBody>
      </p:sp>
      <p:sp>
        <p:nvSpPr>
          <p:cNvPr id="43" name="Text 41"/>
          <p:cNvSpPr txBox="1"/>
          <p:nvPr/>
        </p:nvSpPr>
        <p:spPr>
          <a:xfrm>
            <a:off x="2202180" y="3177540"/>
            <a:ext cx="6955536" cy="233172"/>
          </a:xfrm>
          <a:prstGeom prst="rect">
            <a:avLst/>
          </a:prstGeom>
          <a:noFill/>
          <a:ln/>
        </p:spPr>
        <p:txBody>
          <a:bodyPr wrap="square" lIns="0" tIns="0" rIns="0" bIns="0" rtlCol="0" anchor="t"/>
          <a:lstStyle/>
          <a:p>
            <a:pPr algn="l" indent="0" marL="0">
              <a:lnSpc>
                <a:spcPct val="104000"/>
              </a:lnSpc>
              <a:buNone/>
            </a:pPr>
            <a:r>
              <a:rPr lang="en-US" sz="1420" dirty="0">
                <a:solidFill>
                  <a:srgbClr val="B3C3D6"/>
                </a:solidFill>
                <a:latin typeface="Arial" pitchFamily="34" charset="0"/>
                <a:ea typeface="Arial" pitchFamily="34" charset="-122"/>
                <a:cs typeface="Arial" pitchFamily="34" charset="-120"/>
              </a:rPr>
              <a:t>Two-file worked example</a:t>
            </a:r>
            <a:endParaRPr lang="en-US" sz="1420" dirty="0"/>
          </a:p>
        </p:txBody>
      </p:sp>
      <p:sp>
        <p:nvSpPr>
          <p:cNvPr id="44" name="Shape 42"/>
          <p:cNvSpPr/>
          <p:nvPr/>
        </p:nvSpPr>
        <p:spPr>
          <a:xfrm>
            <a:off x="9285732" y="3154680"/>
            <a:ext cx="2357628" cy="274320"/>
          </a:xfrm>
          <a:prstGeom prst="rect">
            <a:avLst/>
          </a:prstGeom>
          <a:solidFill>
            <a:srgbClr val="142238"/>
          </a:solidFill>
          <a:ln w="8890">
            <a:solidFill>
              <a:srgbClr val="142238"/>
            </a:solidFill>
            <a:prstDash val="solid"/>
          </a:ln>
        </p:spPr>
        <p:txBody>
          <a:bodyPr/>
          <a:p/>
        </p:txBody>
      </p:sp>
      <p:sp>
        <p:nvSpPr>
          <p:cNvPr id="45" name="Text 43"/>
          <p:cNvSpPr txBox="1"/>
          <p:nvPr/>
        </p:nvSpPr>
        <p:spPr>
          <a:xfrm>
            <a:off x="9413748" y="3177540"/>
            <a:ext cx="2101596" cy="233172"/>
          </a:xfrm>
          <a:prstGeom prst="rect">
            <a:avLst/>
          </a:prstGeom>
          <a:noFill/>
          <a:ln/>
        </p:spPr>
        <p:txBody>
          <a:bodyPr wrap="square" lIns="0" tIns="0" rIns="0" bIns="0" rtlCol="0" anchor="t"/>
          <a:lstStyle/>
          <a:p>
            <a:pPr algn="l" indent="0" marL="0">
              <a:lnSpc>
                <a:spcPct val="104000"/>
              </a:lnSpc>
              <a:buNone/>
            </a:pPr>
            <a:r>
              <a:rPr lang="en-US" sz="1420" dirty="0">
                <a:solidFill>
                  <a:srgbClr val="B3C3D6"/>
                </a:solidFill>
                <a:latin typeface="Arial" pitchFamily="34" charset="0"/>
                <a:ea typeface="Arial" pitchFamily="34" charset="-122"/>
                <a:cs typeface="Arial" pitchFamily="34" charset="-120"/>
              </a:rPr>
              <a:t>19, 29–30</a:t>
            </a:r>
            <a:endParaRPr lang="en-US" sz="1420" dirty="0"/>
          </a:p>
        </p:txBody>
      </p:sp>
      <p:sp>
        <p:nvSpPr>
          <p:cNvPr id="46" name="Shape 44"/>
          <p:cNvSpPr/>
          <p:nvPr/>
        </p:nvSpPr>
        <p:spPr>
          <a:xfrm>
            <a:off x="548640" y="3429000"/>
            <a:ext cx="11094720" cy="0"/>
          </a:xfrm>
          <a:prstGeom prst="line">
            <a:avLst/>
          </a:prstGeom>
          <a:noFill/>
          <a:ln w="12700">
            <a:solidFill>
              <a:srgbClr val="2B415A"/>
            </a:solidFill>
            <a:prstDash val="solid"/>
          </a:ln>
        </p:spPr>
        <p:txBody>
          <a:bodyPr/>
          <a:p/>
        </p:txBody>
      </p:sp>
      <p:sp>
        <p:nvSpPr>
          <p:cNvPr id="47" name="Shape 45"/>
          <p:cNvSpPr/>
          <p:nvPr/>
        </p:nvSpPr>
        <p:spPr>
          <a:xfrm>
            <a:off x="548640" y="3429000"/>
            <a:ext cx="1525524" cy="274320"/>
          </a:xfrm>
          <a:prstGeom prst="rect">
            <a:avLst/>
          </a:prstGeom>
          <a:solidFill>
            <a:srgbClr val="0B1322"/>
          </a:solidFill>
          <a:ln w="8890">
            <a:solidFill>
              <a:srgbClr val="0B1322"/>
            </a:solidFill>
            <a:prstDash val="solid"/>
          </a:ln>
        </p:spPr>
        <p:txBody>
          <a:bodyPr/>
          <a:p/>
        </p:txBody>
      </p:sp>
      <p:sp>
        <p:nvSpPr>
          <p:cNvPr id="48" name="Text 46"/>
          <p:cNvSpPr txBox="1"/>
          <p:nvPr/>
        </p:nvSpPr>
        <p:spPr>
          <a:xfrm>
            <a:off x="676656" y="3451860"/>
            <a:ext cx="1269492" cy="233172"/>
          </a:xfrm>
          <a:prstGeom prst="rect">
            <a:avLst/>
          </a:prstGeom>
          <a:noFill/>
          <a:ln/>
        </p:spPr>
        <p:txBody>
          <a:bodyPr wrap="square" lIns="0" tIns="0" rIns="0" bIns="0" rtlCol="0" anchor="t"/>
          <a:lstStyle/>
          <a:p>
            <a:pPr algn="l" indent="0" marL="0">
              <a:lnSpc>
                <a:spcPct val="104000"/>
              </a:lnSpc>
              <a:buNone/>
            </a:pPr>
            <a:r>
              <a:rPr lang="en-US" sz="1420" b="1" dirty="0">
                <a:solidFill>
                  <a:srgbClr val="F4F7FB"/>
                </a:solidFill>
                <a:latin typeface="Arial" pitchFamily="34" charset="0"/>
                <a:ea typeface="Arial" pitchFamily="34" charset="-122"/>
                <a:cs typeface="Arial" pitchFamily="34" charset="-120"/>
              </a:rPr>
              <a:t>17</a:t>
            </a:r>
            <a:endParaRPr lang="en-US" sz="1420" dirty="0"/>
          </a:p>
        </p:txBody>
      </p:sp>
      <p:sp>
        <p:nvSpPr>
          <p:cNvPr id="49" name="Shape 47"/>
          <p:cNvSpPr/>
          <p:nvPr/>
        </p:nvSpPr>
        <p:spPr>
          <a:xfrm>
            <a:off x="2074164" y="3429000"/>
            <a:ext cx="7211568" cy="274320"/>
          </a:xfrm>
          <a:prstGeom prst="rect">
            <a:avLst/>
          </a:prstGeom>
          <a:solidFill>
            <a:srgbClr val="0B1322"/>
          </a:solidFill>
          <a:ln w="8890">
            <a:solidFill>
              <a:srgbClr val="0B1322"/>
            </a:solidFill>
            <a:prstDash val="solid"/>
          </a:ln>
        </p:spPr>
        <p:txBody>
          <a:bodyPr/>
          <a:p/>
        </p:txBody>
      </p:sp>
      <p:sp>
        <p:nvSpPr>
          <p:cNvPr id="50" name="Text 48"/>
          <p:cNvSpPr txBox="1"/>
          <p:nvPr/>
        </p:nvSpPr>
        <p:spPr>
          <a:xfrm>
            <a:off x="2202180" y="3451860"/>
            <a:ext cx="6955536" cy="233172"/>
          </a:xfrm>
          <a:prstGeom prst="rect">
            <a:avLst/>
          </a:prstGeom>
          <a:noFill/>
          <a:ln/>
        </p:spPr>
        <p:txBody>
          <a:bodyPr wrap="square" lIns="0" tIns="0" rIns="0" bIns="0" rtlCol="0" anchor="t"/>
          <a:lstStyle/>
          <a:p>
            <a:pPr algn="l" indent="0" marL="0">
              <a:lnSpc>
                <a:spcPct val="104000"/>
              </a:lnSpc>
              <a:buNone/>
            </a:pPr>
            <a:r>
              <a:rPr lang="en-US" sz="1420" dirty="0">
                <a:solidFill>
                  <a:srgbClr val="B3C3D6"/>
                </a:solidFill>
                <a:latin typeface="Arial" pitchFamily="34" charset="0"/>
                <a:ea typeface="Arial" pitchFamily="34" charset="-122"/>
                <a:cs typeface="Arial" pitchFamily="34" charset="-120"/>
              </a:rPr>
              <a:t>Stop at build stages; missing definition</a:t>
            </a:r>
            <a:endParaRPr lang="en-US" sz="1420" dirty="0"/>
          </a:p>
        </p:txBody>
      </p:sp>
      <p:sp>
        <p:nvSpPr>
          <p:cNvPr id="51" name="Shape 49"/>
          <p:cNvSpPr/>
          <p:nvPr/>
        </p:nvSpPr>
        <p:spPr>
          <a:xfrm>
            <a:off x="9285732" y="3429000"/>
            <a:ext cx="2357628" cy="274320"/>
          </a:xfrm>
          <a:prstGeom prst="rect">
            <a:avLst/>
          </a:prstGeom>
          <a:solidFill>
            <a:srgbClr val="0B1322"/>
          </a:solidFill>
          <a:ln w="8890">
            <a:solidFill>
              <a:srgbClr val="0B1322"/>
            </a:solidFill>
            <a:prstDash val="solid"/>
          </a:ln>
        </p:spPr>
        <p:txBody>
          <a:bodyPr/>
          <a:p/>
        </p:txBody>
      </p:sp>
      <p:sp>
        <p:nvSpPr>
          <p:cNvPr id="52" name="Text 50"/>
          <p:cNvSpPr txBox="1"/>
          <p:nvPr/>
        </p:nvSpPr>
        <p:spPr>
          <a:xfrm>
            <a:off x="9413748" y="3451860"/>
            <a:ext cx="2101596" cy="233172"/>
          </a:xfrm>
          <a:prstGeom prst="rect">
            <a:avLst/>
          </a:prstGeom>
          <a:noFill/>
          <a:ln/>
        </p:spPr>
        <p:txBody>
          <a:bodyPr wrap="square" lIns="0" tIns="0" rIns="0" bIns="0" rtlCol="0" anchor="t"/>
          <a:lstStyle/>
          <a:p>
            <a:pPr algn="l" indent="0" marL="0">
              <a:lnSpc>
                <a:spcPct val="104000"/>
              </a:lnSpc>
              <a:buNone/>
            </a:pPr>
            <a:r>
              <a:rPr lang="en-US" sz="1420" dirty="0">
                <a:solidFill>
                  <a:srgbClr val="B3C3D6"/>
                </a:solidFill>
                <a:latin typeface="Arial" pitchFamily="34" charset="0"/>
                <a:ea typeface="Arial" pitchFamily="34" charset="-122"/>
                <a:cs typeface="Arial" pitchFamily="34" charset="-120"/>
              </a:rPr>
              <a:t>31–33</a:t>
            </a:r>
            <a:endParaRPr lang="en-US" sz="1420" dirty="0"/>
          </a:p>
        </p:txBody>
      </p:sp>
      <p:sp>
        <p:nvSpPr>
          <p:cNvPr id="53" name="Shape 51"/>
          <p:cNvSpPr/>
          <p:nvPr/>
        </p:nvSpPr>
        <p:spPr>
          <a:xfrm>
            <a:off x="548640" y="3703320"/>
            <a:ext cx="11094720" cy="0"/>
          </a:xfrm>
          <a:prstGeom prst="line">
            <a:avLst/>
          </a:prstGeom>
          <a:noFill/>
          <a:ln w="12700">
            <a:solidFill>
              <a:srgbClr val="2B415A"/>
            </a:solidFill>
            <a:prstDash val="solid"/>
          </a:ln>
        </p:spPr>
        <p:txBody>
          <a:bodyPr/>
          <a:p/>
        </p:txBody>
      </p:sp>
      <p:sp>
        <p:nvSpPr>
          <p:cNvPr id="54" name="Shape 52"/>
          <p:cNvSpPr/>
          <p:nvPr/>
        </p:nvSpPr>
        <p:spPr>
          <a:xfrm>
            <a:off x="548640" y="3703320"/>
            <a:ext cx="1525524" cy="274320"/>
          </a:xfrm>
          <a:prstGeom prst="rect">
            <a:avLst/>
          </a:prstGeom>
          <a:solidFill>
            <a:srgbClr val="142238"/>
          </a:solidFill>
          <a:ln w="8890">
            <a:solidFill>
              <a:srgbClr val="142238"/>
            </a:solidFill>
            <a:prstDash val="solid"/>
          </a:ln>
        </p:spPr>
        <p:txBody>
          <a:bodyPr/>
          <a:p/>
        </p:txBody>
      </p:sp>
      <p:sp>
        <p:nvSpPr>
          <p:cNvPr id="55" name="Text 53"/>
          <p:cNvSpPr txBox="1"/>
          <p:nvPr/>
        </p:nvSpPr>
        <p:spPr>
          <a:xfrm>
            <a:off x="676656" y="3726180"/>
            <a:ext cx="1269492" cy="233172"/>
          </a:xfrm>
          <a:prstGeom prst="rect">
            <a:avLst/>
          </a:prstGeom>
          <a:noFill/>
          <a:ln/>
        </p:spPr>
        <p:txBody>
          <a:bodyPr wrap="square" lIns="0" tIns="0" rIns="0" bIns="0" rtlCol="0" anchor="t"/>
          <a:lstStyle/>
          <a:p>
            <a:pPr algn="l" indent="0" marL="0">
              <a:lnSpc>
                <a:spcPct val="104000"/>
              </a:lnSpc>
              <a:buNone/>
            </a:pPr>
            <a:r>
              <a:rPr lang="en-US" sz="1420" b="1" dirty="0">
                <a:solidFill>
                  <a:srgbClr val="F4F7FB"/>
                </a:solidFill>
                <a:latin typeface="Arial" pitchFamily="34" charset="0"/>
                <a:ea typeface="Arial" pitchFamily="34" charset="-122"/>
                <a:cs typeface="Arial" pitchFamily="34" charset="-120"/>
              </a:rPr>
              <a:t>18</a:t>
            </a:r>
            <a:endParaRPr lang="en-US" sz="1420" dirty="0"/>
          </a:p>
        </p:txBody>
      </p:sp>
      <p:sp>
        <p:nvSpPr>
          <p:cNvPr id="56" name="Shape 54"/>
          <p:cNvSpPr/>
          <p:nvPr/>
        </p:nvSpPr>
        <p:spPr>
          <a:xfrm>
            <a:off x="2074164" y="3703320"/>
            <a:ext cx="7211568" cy="274320"/>
          </a:xfrm>
          <a:prstGeom prst="rect">
            <a:avLst/>
          </a:prstGeom>
          <a:solidFill>
            <a:srgbClr val="142238"/>
          </a:solidFill>
          <a:ln w="8890">
            <a:solidFill>
              <a:srgbClr val="142238"/>
            </a:solidFill>
            <a:prstDash val="solid"/>
          </a:ln>
        </p:spPr>
        <p:txBody>
          <a:bodyPr/>
          <a:p/>
        </p:txBody>
      </p:sp>
      <p:sp>
        <p:nvSpPr>
          <p:cNvPr id="57" name="Text 55"/>
          <p:cNvSpPr txBox="1"/>
          <p:nvPr/>
        </p:nvSpPr>
        <p:spPr>
          <a:xfrm>
            <a:off x="2202180" y="3726180"/>
            <a:ext cx="6955536" cy="233172"/>
          </a:xfrm>
          <a:prstGeom prst="rect">
            <a:avLst/>
          </a:prstGeom>
          <a:noFill/>
          <a:ln/>
        </p:spPr>
        <p:txBody>
          <a:bodyPr wrap="square" lIns="0" tIns="0" rIns="0" bIns="0" rtlCol="0" anchor="t"/>
          <a:lstStyle/>
          <a:p>
            <a:pPr algn="l" indent="0" marL="0">
              <a:lnSpc>
                <a:spcPct val="104000"/>
              </a:lnSpc>
              <a:buNone/>
            </a:pPr>
            <a:r>
              <a:rPr lang="en-US" sz="1420" dirty="0">
                <a:solidFill>
                  <a:srgbClr val="B3C3D6"/>
                </a:solidFill>
                <a:latin typeface="Arial" pitchFamily="34" charset="0"/>
                <a:ea typeface="Arial" pitchFamily="34" charset="-122"/>
                <a:cs typeface="Arial" pitchFamily="34" charset="-120"/>
              </a:rPr>
              <a:t>Expression through the system</a:t>
            </a:r>
            <a:endParaRPr lang="en-US" sz="1420" dirty="0"/>
          </a:p>
        </p:txBody>
      </p:sp>
      <p:sp>
        <p:nvSpPr>
          <p:cNvPr id="58" name="Shape 56"/>
          <p:cNvSpPr/>
          <p:nvPr/>
        </p:nvSpPr>
        <p:spPr>
          <a:xfrm>
            <a:off x="9285732" y="3703320"/>
            <a:ext cx="2357628" cy="274320"/>
          </a:xfrm>
          <a:prstGeom prst="rect">
            <a:avLst/>
          </a:prstGeom>
          <a:solidFill>
            <a:srgbClr val="142238"/>
          </a:solidFill>
          <a:ln w="8890">
            <a:solidFill>
              <a:srgbClr val="142238"/>
            </a:solidFill>
            <a:prstDash val="solid"/>
          </a:ln>
        </p:spPr>
        <p:txBody>
          <a:bodyPr/>
          <a:p/>
        </p:txBody>
      </p:sp>
      <p:sp>
        <p:nvSpPr>
          <p:cNvPr id="59" name="Text 57"/>
          <p:cNvSpPr txBox="1"/>
          <p:nvPr/>
        </p:nvSpPr>
        <p:spPr>
          <a:xfrm>
            <a:off x="9413748" y="3726180"/>
            <a:ext cx="2101596" cy="233172"/>
          </a:xfrm>
          <a:prstGeom prst="rect">
            <a:avLst/>
          </a:prstGeom>
          <a:noFill/>
          <a:ln/>
        </p:spPr>
        <p:txBody>
          <a:bodyPr wrap="square" lIns="0" tIns="0" rIns="0" bIns="0" rtlCol="0" anchor="t"/>
          <a:lstStyle/>
          <a:p>
            <a:pPr algn="l" indent="0" marL="0">
              <a:lnSpc>
                <a:spcPct val="104000"/>
              </a:lnSpc>
              <a:buNone/>
            </a:pPr>
            <a:r>
              <a:rPr lang="en-US" sz="1420" dirty="0">
                <a:solidFill>
                  <a:srgbClr val="B3C3D6"/>
                </a:solidFill>
                <a:latin typeface="Arial" pitchFamily="34" charset="0"/>
                <a:ea typeface="Arial" pitchFamily="34" charset="-122"/>
                <a:cs typeface="Arial" pitchFamily="34" charset="-120"/>
              </a:rPr>
              <a:t>5, 21, 35–36</a:t>
            </a:r>
            <a:endParaRPr lang="en-US" sz="1420" dirty="0"/>
          </a:p>
        </p:txBody>
      </p:sp>
      <p:sp>
        <p:nvSpPr>
          <p:cNvPr id="60" name="Shape 58"/>
          <p:cNvSpPr/>
          <p:nvPr/>
        </p:nvSpPr>
        <p:spPr>
          <a:xfrm>
            <a:off x="548640" y="3977640"/>
            <a:ext cx="11094720" cy="0"/>
          </a:xfrm>
          <a:prstGeom prst="line">
            <a:avLst/>
          </a:prstGeom>
          <a:noFill/>
          <a:ln w="12700">
            <a:solidFill>
              <a:srgbClr val="2B415A"/>
            </a:solidFill>
            <a:prstDash val="solid"/>
          </a:ln>
        </p:spPr>
        <p:txBody>
          <a:bodyPr/>
          <a:p/>
        </p:txBody>
      </p:sp>
      <p:sp>
        <p:nvSpPr>
          <p:cNvPr id="61" name="Shape 59"/>
          <p:cNvSpPr/>
          <p:nvPr/>
        </p:nvSpPr>
        <p:spPr>
          <a:xfrm>
            <a:off x="548640" y="3977640"/>
            <a:ext cx="1525524" cy="274320"/>
          </a:xfrm>
          <a:prstGeom prst="rect">
            <a:avLst/>
          </a:prstGeom>
          <a:solidFill>
            <a:srgbClr val="0B1322"/>
          </a:solidFill>
          <a:ln w="8890">
            <a:solidFill>
              <a:srgbClr val="0B1322"/>
            </a:solidFill>
            <a:prstDash val="solid"/>
          </a:ln>
        </p:spPr>
        <p:txBody>
          <a:bodyPr/>
          <a:p/>
        </p:txBody>
      </p:sp>
      <p:sp>
        <p:nvSpPr>
          <p:cNvPr id="62" name="Text 60"/>
          <p:cNvSpPr txBox="1"/>
          <p:nvPr/>
        </p:nvSpPr>
        <p:spPr>
          <a:xfrm>
            <a:off x="676656" y="4000500"/>
            <a:ext cx="1269492" cy="233172"/>
          </a:xfrm>
          <a:prstGeom prst="rect">
            <a:avLst/>
          </a:prstGeom>
          <a:noFill/>
          <a:ln/>
        </p:spPr>
        <p:txBody>
          <a:bodyPr wrap="square" lIns="0" tIns="0" rIns="0" bIns="0" rtlCol="0" anchor="t"/>
          <a:lstStyle/>
          <a:p>
            <a:pPr algn="l" indent="0" marL="0">
              <a:lnSpc>
                <a:spcPct val="104000"/>
              </a:lnSpc>
              <a:buNone/>
            </a:pPr>
            <a:r>
              <a:rPr lang="en-US" sz="1420" b="1" dirty="0">
                <a:solidFill>
                  <a:srgbClr val="F4F7FB"/>
                </a:solidFill>
                <a:latin typeface="Arial" pitchFamily="34" charset="0"/>
                <a:ea typeface="Arial" pitchFamily="34" charset="-122"/>
                <a:cs typeface="Arial" pitchFamily="34" charset="-120"/>
              </a:rPr>
              <a:t>19</a:t>
            </a:r>
            <a:endParaRPr lang="en-US" sz="1420" dirty="0"/>
          </a:p>
        </p:txBody>
      </p:sp>
      <p:sp>
        <p:nvSpPr>
          <p:cNvPr id="63" name="Shape 61"/>
          <p:cNvSpPr/>
          <p:nvPr/>
        </p:nvSpPr>
        <p:spPr>
          <a:xfrm>
            <a:off x="2074164" y="3977640"/>
            <a:ext cx="7211568" cy="274320"/>
          </a:xfrm>
          <a:prstGeom prst="rect">
            <a:avLst/>
          </a:prstGeom>
          <a:solidFill>
            <a:srgbClr val="0B1322"/>
          </a:solidFill>
          <a:ln w="8890">
            <a:solidFill>
              <a:srgbClr val="0B1322"/>
            </a:solidFill>
            <a:prstDash val="solid"/>
          </a:ln>
        </p:spPr>
        <p:txBody>
          <a:bodyPr/>
          <a:p/>
        </p:txBody>
      </p:sp>
      <p:sp>
        <p:nvSpPr>
          <p:cNvPr id="64" name="Text 62"/>
          <p:cNvSpPr txBox="1"/>
          <p:nvPr/>
        </p:nvSpPr>
        <p:spPr>
          <a:xfrm>
            <a:off x="2202180" y="4000500"/>
            <a:ext cx="6955536" cy="233172"/>
          </a:xfrm>
          <a:prstGeom prst="rect">
            <a:avLst/>
          </a:prstGeom>
          <a:noFill/>
          <a:ln/>
        </p:spPr>
        <p:txBody>
          <a:bodyPr wrap="square" lIns="0" tIns="0" rIns="0" bIns="0" rtlCol="0" anchor="t"/>
          <a:lstStyle/>
          <a:p>
            <a:pPr algn="l" indent="0" marL="0">
              <a:lnSpc>
                <a:spcPct val="104000"/>
              </a:lnSpc>
              <a:buNone/>
            </a:pPr>
            <a:r>
              <a:rPr lang="en-US" sz="1420" dirty="0">
                <a:solidFill>
                  <a:srgbClr val="B3C3D6"/>
                </a:solidFill>
                <a:latin typeface="Arial" pitchFamily="34" charset="0"/>
                <a:ea typeface="Arial" pitchFamily="34" charset="-122"/>
                <a:cs typeface="Arial" pitchFamily="34" charset="-120"/>
              </a:rPr>
              <a:t>Correctness versus performance</a:t>
            </a:r>
            <a:endParaRPr lang="en-US" sz="1420" dirty="0"/>
          </a:p>
        </p:txBody>
      </p:sp>
      <p:sp>
        <p:nvSpPr>
          <p:cNvPr id="65" name="Shape 63"/>
          <p:cNvSpPr/>
          <p:nvPr/>
        </p:nvSpPr>
        <p:spPr>
          <a:xfrm>
            <a:off x="9285732" y="3977640"/>
            <a:ext cx="2357628" cy="274320"/>
          </a:xfrm>
          <a:prstGeom prst="rect">
            <a:avLst/>
          </a:prstGeom>
          <a:solidFill>
            <a:srgbClr val="0B1322"/>
          </a:solidFill>
          <a:ln w="8890">
            <a:solidFill>
              <a:srgbClr val="0B1322"/>
            </a:solidFill>
            <a:prstDash val="solid"/>
          </a:ln>
        </p:spPr>
        <p:txBody>
          <a:bodyPr/>
          <a:p/>
        </p:txBody>
      </p:sp>
      <p:sp>
        <p:nvSpPr>
          <p:cNvPr id="66" name="Text 64"/>
          <p:cNvSpPr txBox="1"/>
          <p:nvPr/>
        </p:nvSpPr>
        <p:spPr>
          <a:xfrm>
            <a:off x="9413748" y="4000500"/>
            <a:ext cx="2101596" cy="233172"/>
          </a:xfrm>
          <a:prstGeom prst="rect">
            <a:avLst/>
          </a:prstGeom>
          <a:noFill/>
          <a:ln/>
        </p:spPr>
        <p:txBody>
          <a:bodyPr wrap="square" lIns="0" tIns="0" rIns="0" bIns="0" rtlCol="0" anchor="t"/>
          <a:lstStyle/>
          <a:p>
            <a:pPr algn="l" indent="0" marL="0">
              <a:lnSpc>
                <a:spcPct val="104000"/>
              </a:lnSpc>
              <a:buNone/>
            </a:pPr>
            <a:r>
              <a:rPr lang="en-US" sz="1420" dirty="0">
                <a:solidFill>
                  <a:srgbClr val="B3C3D6"/>
                </a:solidFill>
                <a:latin typeface="Arial" pitchFamily="34" charset="0"/>
                <a:ea typeface="Arial" pitchFamily="34" charset="-122"/>
                <a:cs typeface="Arial" pitchFamily="34" charset="-120"/>
              </a:rPr>
              <a:t>39–41, 50–51</a:t>
            </a:r>
            <a:endParaRPr lang="en-US" sz="1420" dirty="0"/>
          </a:p>
        </p:txBody>
      </p:sp>
      <p:sp>
        <p:nvSpPr>
          <p:cNvPr id="67" name="Shape 65"/>
          <p:cNvSpPr/>
          <p:nvPr/>
        </p:nvSpPr>
        <p:spPr>
          <a:xfrm>
            <a:off x="548640" y="4251960"/>
            <a:ext cx="11094720" cy="0"/>
          </a:xfrm>
          <a:prstGeom prst="line">
            <a:avLst/>
          </a:prstGeom>
          <a:noFill/>
          <a:ln w="12700">
            <a:solidFill>
              <a:srgbClr val="2B415A"/>
            </a:solidFill>
            <a:prstDash val="solid"/>
          </a:ln>
        </p:spPr>
        <p:txBody>
          <a:bodyPr/>
          <a:p/>
        </p:txBody>
      </p:sp>
      <p:sp>
        <p:nvSpPr>
          <p:cNvPr id="68" name="Shape 66"/>
          <p:cNvSpPr/>
          <p:nvPr/>
        </p:nvSpPr>
        <p:spPr>
          <a:xfrm>
            <a:off x="548640" y="4251960"/>
            <a:ext cx="1525524" cy="274320"/>
          </a:xfrm>
          <a:prstGeom prst="rect">
            <a:avLst/>
          </a:prstGeom>
          <a:solidFill>
            <a:srgbClr val="142238"/>
          </a:solidFill>
          <a:ln w="8890">
            <a:solidFill>
              <a:srgbClr val="142238"/>
            </a:solidFill>
            <a:prstDash val="solid"/>
          </a:ln>
        </p:spPr>
        <p:txBody>
          <a:bodyPr/>
          <a:p/>
        </p:txBody>
      </p:sp>
      <p:sp>
        <p:nvSpPr>
          <p:cNvPr id="69" name="Text 67"/>
          <p:cNvSpPr txBox="1"/>
          <p:nvPr/>
        </p:nvSpPr>
        <p:spPr>
          <a:xfrm>
            <a:off x="676656" y="4274820"/>
            <a:ext cx="1269492" cy="233172"/>
          </a:xfrm>
          <a:prstGeom prst="rect">
            <a:avLst/>
          </a:prstGeom>
          <a:noFill/>
          <a:ln/>
        </p:spPr>
        <p:txBody>
          <a:bodyPr wrap="square" lIns="0" tIns="0" rIns="0" bIns="0" rtlCol="0" anchor="t"/>
          <a:lstStyle/>
          <a:p>
            <a:pPr algn="l" indent="0" marL="0">
              <a:lnSpc>
                <a:spcPct val="104000"/>
              </a:lnSpc>
              <a:buNone/>
            </a:pPr>
            <a:r>
              <a:rPr lang="en-US" sz="1420" b="1" dirty="0">
                <a:solidFill>
                  <a:srgbClr val="F4F7FB"/>
                </a:solidFill>
                <a:latin typeface="Arial" pitchFamily="34" charset="0"/>
                <a:ea typeface="Arial" pitchFamily="34" charset="-122"/>
                <a:cs typeface="Arial" pitchFamily="34" charset="-120"/>
              </a:rPr>
              <a:t>20</a:t>
            </a:r>
            <a:endParaRPr lang="en-US" sz="1420" dirty="0"/>
          </a:p>
        </p:txBody>
      </p:sp>
      <p:sp>
        <p:nvSpPr>
          <p:cNvPr id="70" name="Shape 68"/>
          <p:cNvSpPr/>
          <p:nvPr/>
        </p:nvSpPr>
        <p:spPr>
          <a:xfrm>
            <a:off x="2074164" y="4251960"/>
            <a:ext cx="7211568" cy="274320"/>
          </a:xfrm>
          <a:prstGeom prst="rect">
            <a:avLst/>
          </a:prstGeom>
          <a:solidFill>
            <a:srgbClr val="142238"/>
          </a:solidFill>
          <a:ln w="8890">
            <a:solidFill>
              <a:srgbClr val="142238"/>
            </a:solidFill>
            <a:prstDash val="solid"/>
          </a:ln>
        </p:spPr>
        <p:txBody>
          <a:bodyPr/>
          <a:p/>
        </p:txBody>
      </p:sp>
      <p:sp>
        <p:nvSpPr>
          <p:cNvPr id="71" name="Text 69"/>
          <p:cNvSpPr txBox="1"/>
          <p:nvPr/>
        </p:nvSpPr>
        <p:spPr>
          <a:xfrm>
            <a:off x="2202180" y="4274820"/>
            <a:ext cx="6955536" cy="233172"/>
          </a:xfrm>
          <a:prstGeom prst="rect">
            <a:avLst/>
          </a:prstGeom>
          <a:noFill/>
          <a:ln/>
        </p:spPr>
        <p:txBody>
          <a:bodyPr wrap="square" lIns="0" tIns="0" rIns="0" bIns="0" rtlCol="0" anchor="t"/>
          <a:lstStyle/>
          <a:p>
            <a:pPr algn="l" indent="0" marL="0">
              <a:lnSpc>
                <a:spcPct val="104000"/>
              </a:lnSpc>
              <a:buNone/>
            </a:pPr>
            <a:r>
              <a:rPr lang="en-US" sz="1420" dirty="0">
                <a:solidFill>
                  <a:srgbClr val="B3C3D6"/>
                </a:solidFill>
                <a:latin typeface="Arial" pitchFamily="34" charset="0"/>
                <a:ea typeface="Arial" pitchFamily="34" charset="-122"/>
                <a:cs typeface="Arial" pitchFamily="34" charset="-120"/>
              </a:rPr>
              <a:t>Guided build / break / observe lab</a:t>
            </a:r>
            <a:endParaRPr lang="en-US" sz="1420" dirty="0"/>
          </a:p>
        </p:txBody>
      </p:sp>
      <p:sp>
        <p:nvSpPr>
          <p:cNvPr id="72" name="Shape 70"/>
          <p:cNvSpPr/>
          <p:nvPr/>
        </p:nvSpPr>
        <p:spPr>
          <a:xfrm>
            <a:off x="9285732" y="4251960"/>
            <a:ext cx="2357628" cy="274320"/>
          </a:xfrm>
          <a:prstGeom prst="rect">
            <a:avLst/>
          </a:prstGeom>
          <a:solidFill>
            <a:srgbClr val="142238"/>
          </a:solidFill>
          <a:ln w="8890">
            <a:solidFill>
              <a:srgbClr val="142238"/>
            </a:solidFill>
            <a:prstDash val="solid"/>
          </a:ln>
        </p:spPr>
        <p:txBody>
          <a:bodyPr/>
          <a:p/>
        </p:txBody>
      </p:sp>
      <p:sp>
        <p:nvSpPr>
          <p:cNvPr id="73" name="Text 71"/>
          <p:cNvSpPr txBox="1"/>
          <p:nvPr/>
        </p:nvSpPr>
        <p:spPr>
          <a:xfrm>
            <a:off x="9413748" y="4274820"/>
            <a:ext cx="2101596" cy="233172"/>
          </a:xfrm>
          <a:prstGeom prst="rect">
            <a:avLst/>
          </a:prstGeom>
          <a:noFill/>
          <a:ln/>
        </p:spPr>
        <p:txBody>
          <a:bodyPr wrap="square" lIns="0" tIns="0" rIns="0" bIns="0" rtlCol="0" anchor="t"/>
          <a:lstStyle/>
          <a:p>
            <a:pPr algn="l" indent="0" marL="0">
              <a:lnSpc>
                <a:spcPct val="104000"/>
              </a:lnSpc>
              <a:buNone/>
            </a:pPr>
            <a:r>
              <a:rPr lang="en-US" sz="1420" dirty="0">
                <a:solidFill>
                  <a:srgbClr val="B3C3D6"/>
                </a:solidFill>
                <a:latin typeface="Arial" pitchFamily="34" charset="0"/>
                <a:ea typeface="Arial" pitchFamily="34" charset="-122"/>
                <a:cs typeface="Arial" pitchFamily="34" charset="-120"/>
              </a:rPr>
              <a:t>34, 53–55</a:t>
            </a:r>
            <a:endParaRPr lang="en-US" sz="1420" dirty="0"/>
          </a:p>
        </p:txBody>
      </p:sp>
      <p:sp>
        <p:nvSpPr>
          <p:cNvPr id="74" name="Shape 72"/>
          <p:cNvSpPr/>
          <p:nvPr/>
        </p:nvSpPr>
        <p:spPr>
          <a:xfrm>
            <a:off x="548640" y="4526280"/>
            <a:ext cx="11094720" cy="0"/>
          </a:xfrm>
          <a:prstGeom prst="line">
            <a:avLst/>
          </a:prstGeom>
          <a:noFill/>
          <a:ln w="12700">
            <a:solidFill>
              <a:srgbClr val="2B415A"/>
            </a:solidFill>
            <a:prstDash val="solid"/>
          </a:ln>
        </p:spPr>
        <p:txBody>
          <a:bodyPr/>
          <a:p/>
        </p:txBody>
      </p:sp>
      <p:sp>
        <p:nvSpPr>
          <p:cNvPr id="75" name="Shape 73"/>
          <p:cNvSpPr/>
          <p:nvPr/>
        </p:nvSpPr>
        <p:spPr>
          <a:xfrm>
            <a:off x="548640" y="4526280"/>
            <a:ext cx="1525524" cy="274320"/>
          </a:xfrm>
          <a:prstGeom prst="rect">
            <a:avLst/>
          </a:prstGeom>
          <a:solidFill>
            <a:srgbClr val="0B1322"/>
          </a:solidFill>
          <a:ln w="8890">
            <a:solidFill>
              <a:srgbClr val="0B1322"/>
            </a:solidFill>
            <a:prstDash val="solid"/>
          </a:ln>
        </p:spPr>
        <p:txBody>
          <a:bodyPr/>
          <a:p/>
        </p:txBody>
      </p:sp>
      <p:sp>
        <p:nvSpPr>
          <p:cNvPr id="76" name="Text 74"/>
          <p:cNvSpPr txBox="1"/>
          <p:nvPr/>
        </p:nvSpPr>
        <p:spPr>
          <a:xfrm>
            <a:off x="676656" y="4549140"/>
            <a:ext cx="1269492" cy="233172"/>
          </a:xfrm>
          <a:prstGeom prst="rect">
            <a:avLst/>
          </a:prstGeom>
          <a:noFill/>
          <a:ln/>
        </p:spPr>
        <p:txBody>
          <a:bodyPr wrap="square" lIns="0" tIns="0" rIns="0" bIns="0" rtlCol="0" anchor="t"/>
          <a:lstStyle/>
          <a:p>
            <a:pPr algn="l" indent="0" marL="0">
              <a:lnSpc>
                <a:spcPct val="104000"/>
              </a:lnSpc>
              <a:buNone/>
            </a:pPr>
            <a:r>
              <a:rPr lang="en-US" sz="1420" b="1" dirty="0">
                <a:solidFill>
                  <a:srgbClr val="F4F7FB"/>
                </a:solidFill>
                <a:latin typeface="Arial" pitchFamily="34" charset="0"/>
                <a:ea typeface="Arial" pitchFamily="34" charset="-122"/>
                <a:cs typeface="Arial" pitchFamily="34" charset="-120"/>
              </a:rPr>
              <a:t>21</a:t>
            </a:r>
            <a:endParaRPr lang="en-US" sz="1420" dirty="0"/>
          </a:p>
        </p:txBody>
      </p:sp>
      <p:sp>
        <p:nvSpPr>
          <p:cNvPr id="77" name="Shape 75"/>
          <p:cNvSpPr/>
          <p:nvPr/>
        </p:nvSpPr>
        <p:spPr>
          <a:xfrm>
            <a:off x="2074164" y="4526280"/>
            <a:ext cx="7211568" cy="274320"/>
          </a:xfrm>
          <a:prstGeom prst="rect">
            <a:avLst/>
          </a:prstGeom>
          <a:solidFill>
            <a:srgbClr val="0B1322"/>
          </a:solidFill>
          <a:ln w="8890">
            <a:solidFill>
              <a:srgbClr val="0B1322"/>
            </a:solidFill>
            <a:prstDash val="solid"/>
          </a:ln>
        </p:spPr>
        <p:txBody>
          <a:bodyPr/>
          <a:p/>
        </p:txBody>
      </p:sp>
      <p:sp>
        <p:nvSpPr>
          <p:cNvPr id="78" name="Text 76"/>
          <p:cNvSpPr txBox="1"/>
          <p:nvPr/>
        </p:nvSpPr>
        <p:spPr>
          <a:xfrm>
            <a:off x="2202180" y="4549140"/>
            <a:ext cx="6955536" cy="233172"/>
          </a:xfrm>
          <a:prstGeom prst="rect">
            <a:avLst/>
          </a:prstGeom>
          <a:noFill/>
          <a:ln/>
        </p:spPr>
        <p:txBody>
          <a:bodyPr wrap="square" lIns="0" tIns="0" rIns="0" bIns="0" rtlCol="0" anchor="t"/>
          <a:lstStyle/>
          <a:p>
            <a:pPr algn="l" indent="0" marL="0">
              <a:lnSpc>
                <a:spcPct val="104000"/>
              </a:lnSpc>
              <a:buNone/>
            </a:pPr>
            <a:r>
              <a:rPr lang="en-US" sz="1420" dirty="0">
                <a:solidFill>
                  <a:srgbClr val="B3C3D6"/>
                </a:solidFill>
                <a:latin typeface="Arial" pitchFamily="34" charset="0"/>
                <a:ea typeface="Arial" pitchFamily="34" charset="-122"/>
                <a:cs typeface="Arial" pitchFamily="34" charset="-120"/>
              </a:rPr>
              <a:t>Both original review questions</a:t>
            </a:r>
            <a:endParaRPr lang="en-US" sz="1420" dirty="0"/>
          </a:p>
        </p:txBody>
      </p:sp>
      <p:sp>
        <p:nvSpPr>
          <p:cNvPr id="79" name="Shape 77"/>
          <p:cNvSpPr/>
          <p:nvPr/>
        </p:nvSpPr>
        <p:spPr>
          <a:xfrm>
            <a:off x="9285732" y="4526280"/>
            <a:ext cx="2357628" cy="274320"/>
          </a:xfrm>
          <a:prstGeom prst="rect">
            <a:avLst/>
          </a:prstGeom>
          <a:solidFill>
            <a:srgbClr val="0B1322"/>
          </a:solidFill>
          <a:ln w="8890">
            <a:solidFill>
              <a:srgbClr val="0B1322"/>
            </a:solidFill>
            <a:prstDash val="solid"/>
          </a:ln>
        </p:spPr>
        <p:txBody>
          <a:bodyPr/>
          <a:p/>
        </p:txBody>
      </p:sp>
      <p:sp>
        <p:nvSpPr>
          <p:cNvPr id="80" name="Text 78"/>
          <p:cNvSpPr txBox="1"/>
          <p:nvPr/>
        </p:nvSpPr>
        <p:spPr>
          <a:xfrm>
            <a:off x="9413748" y="4549140"/>
            <a:ext cx="2101596" cy="233172"/>
          </a:xfrm>
          <a:prstGeom prst="rect">
            <a:avLst/>
          </a:prstGeom>
          <a:noFill/>
          <a:ln/>
        </p:spPr>
        <p:txBody>
          <a:bodyPr wrap="square" lIns="0" tIns="0" rIns="0" bIns="0" rtlCol="0" anchor="t"/>
          <a:lstStyle/>
          <a:p>
            <a:pPr algn="l" indent="0" marL="0">
              <a:lnSpc>
                <a:spcPct val="104000"/>
              </a:lnSpc>
              <a:buNone/>
            </a:pPr>
            <a:r>
              <a:rPr lang="en-US" sz="1420" dirty="0">
                <a:solidFill>
                  <a:srgbClr val="B3C3D6"/>
                </a:solidFill>
                <a:latin typeface="Arial" pitchFamily="34" charset="0"/>
                <a:ea typeface="Arial" pitchFamily="34" charset="-122"/>
                <a:cs typeface="Arial" pitchFamily="34" charset="-120"/>
              </a:rPr>
              <a:t>56–57</a:t>
            </a:r>
            <a:endParaRPr lang="en-US" sz="1420" dirty="0"/>
          </a:p>
        </p:txBody>
      </p:sp>
      <p:sp>
        <p:nvSpPr>
          <p:cNvPr id="81" name="Shape 79"/>
          <p:cNvSpPr/>
          <p:nvPr/>
        </p:nvSpPr>
        <p:spPr>
          <a:xfrm>
            <a:off x="548640" y="4800600"/>
            <a:ext cx="11094720" cy="0"/>
          </a:xfrm>
          <a:prstGeom prst="line">
            <a:avLst/>
          </a:prstGeom>
          <a:noFill/>
          <a:ln w="12700">
            <a:solidFill>
              <a:srgbClr val="2B415A"/>
            </a:solidFill>
            <a:prstDash val="solid"/>
          </a:ln>
        </p:spPr>
        <p:txBody>
          <a:bodyPr/>
          <a:p/>
        </p:txBody>
      </p:sp>
      <p:sp>
        <p:nvSpPr>
          <p:cNvPr id="82" name="Shape 80"/>
          <p:cNvSpPr/>
          <p:nvPr/>
        </p:nvSpPr>
        <p:spPr>
          <a:xfrm>
            <a:off x="548640" y="4800600"/>
            <a:ext cx="1525524" cy="274320"/>
          </a:xfrm>
          <a:prstGeom prst="rect">
            <a:avLst/>
          </a:prstGeom>
          <a:solidFill>
            <a:srgbClr val="142238"/>
          </a:solidFill>
          <a:ln w="8890">
            <a:solidFill>
              <a:srgbClr val="142238"/>
            </a:solidFill>
            <a:prstDash val="solid"/>
          </a:ln>
        </p:spPr>
        <p:txBody>
          <a:bodyPr/>
          <a:p/>
        </p:txBody>
      </p:sp>
      <p:sp>
        <p:nvSpPr>
          <p:cNvPr id="83" name="Text 81"/>
          <p:cNvSpPr txBox="1"/>
          <p:nvPr/>
        </p:nvSpPr>
        <p:spPr>
          <a:xfrm>
            <a:off x="676656" y="4823460"/>
            <a:ext cx="1269492" cy="233172"/>
          </a:xfrm>
          <a:prstGeom prst="rect">
            <a:avLst/>
          </a:prstGeom>
          <a:noFill/>
          <a:ln/>
        </p:spPr>
        <p:txBody>
          <a:bodyPr wrap="square" lIns="0" tIns="0" rIns="0" bIns="0" rtlCol="0" anchor="t"/>
          <a:lstStyle/>
          <a:p>
            <a:pPr algn="l" indent="0" marL="0">
              <a:lnSpc>
                <a:spcPct val="104000"/>
              </a:lnSpc>
              <a:buNone/>
            </a:pPr>
            <a:r>
              <a:rPr lang="en-US" sz="1420" b="1" dirty="0">
                <a:solidFill>
                  <a:srgbClr val="F4F7FB"/>
                </a:solidFill>
                <a:latin typeface="Arial" pitchFamily="34" charset="0"/>
                <a:ea typeface="Arial" pitchFamily="34" charset="-122"/>
                <a:cs typeface="Arial" pitchFamily="34" charset="-120"/>
              </a:rPr>
              <a:t>22</a:t>
            </a:r>
            <a:endParaRPr lang="en-US" sz="1420" dirty="0"/>
          </a:p>
        </p:txBody>
      </p:sp>
      <p:sp>
        <p:nvSpPr>
          <p:cNvPr id="84" name="Shape 82"/>
          <p:cNvSpPr/>
          <p:nvPr/>
        </p:nvSpPr>
        <p:spPr>
          <a:xfrm>
            <a:off x="2074164" y="4800600"/>
            <a:ext cx="7211568" cy="274320"/>
          </a:xfrm>
          <a:prstGeom prst="rect">
            <a:avLst/>
          </a:prstGeom>
          <a:solidFill>
            <a:srgbClr val="142238"/>
          </a:solidFill>
          <a:ln w="8890">
            <a:solidFill>
              <a:srgbClr val="142238"/>
            </a:solidFill>
            <a:prstDash val="solid"/>
          </a:ln>
        </p:spPr>
        <p:txBody>
          <a:bodyPr/>
          <a:p/>
        </p:txBody>
      </p:sp>
      <p:sp>
        <p:nvSpPr>
          <p:cNvPr id="85" name="Text 83"/>
          <p:cNvSpPr txBox="1"/>
          <p:nvPr/>
        </p:nvSpPr>
        <p:spPr>
          <a:xfrm>
            <a:off x="2202180" y="4823460"/>
            <a:ext cx="6955536" cy="233172"/>
          </a:xfrm>
          <a:prstGeom prst="rect">
            <a:avLst/>
          </a:prstGeom>
          <a:noFill/>
          <a:ln/>
        </p:spPr>
        <p:txBody>
          <a:bodyPr wrap="square" lIns="0" tIns="0" rIns="0" bIns="0" rtlCol="0" anchor="t"/>
          <a:lstStyle/>
          <a:p>
            <a:pPr algn="l" indent="0" marL="0">
              <a:lnSpc>
                <a:spcPct val="104000"/>
              </a:lnSpc>
              <a:buNone/>
            </a:pPr>
            <a:r>
              <a:rPr lang="en-US" sz="1420" dirty="0">
                <a:solidFill>
                  <a:srgbClr val="B3C3D6"/>
                </a:solidFill>
                <a:latin typeface="Arial" pitchFamily="34" charset="0"/>
                <a:ea typeface="Arial" pitchFamily="34" charset="-122"/>
                <a:cs typeface="Arial" pitchFamily="34" charset="-120"/>
              </a:rPr>
              <a:t>Takeaways and Chapter 2 transition</a:t>
            </a:r>
            <a:endParaRPr lang="en-US" sz="1420" dirty="0"/>
          </a:p>
        </p:txBody>
      </p:sp>
      <p:sp>
        <p:nvSpPr>
          <p:cNvPr id="86" name="Shape 84"/>
          <p:cNvSpPr/>
          <p:nvPr/>
        </p:nvSpPr>
        <p:spPr>
          <a:xfrm>
            <a:off x="9285732" y="4800600"/>
            <a:ext cx="2357628" cy="274320"/>
          </a:xfrm>
          <a:prstGeom prst="rect">
            <a:avLst/>
          </a:prstGeom>
          <a:solidFill>
            <a:srgbClr val="142238"/>
          </a:solidFill>
          <a:ln w="8890">
            <a:solidFill>
              <a:srgbClr val="142238"/>
            </a:solidFill>
            <a:prstDash val="solid"/>
          </a:ln>
        </p:spPr>
        <p:txBody>
          <a:bodyPr/>
          <a:p/>
        </p:txBody>
      </p:sp>
      <p:sp>
        <p:nvSpPr>
          <p:cNvPr id="87" name="Text 85"/>
          <p:cNvSpPr txBox="1"/>
          <p:nvPr/>
        </p:nvSpPr>
        <p:spPr>
          <a:xfrm>
            <a:off x="9413748" y="4823460"/>
            <a:ext cx="2101596" cy="233172"/>
          </a:xfrm>
          <a:prstGeom prst="rect">
            <a:avLst/>
          </a:prstGeom>
          <a:noFill/>
          <a:ln/>
        </p:spPr>
        <p:txBody>
          <a:bodyPr wrap="square" lIns="0" tIns="0" rIns="0" bIns="0" rtlCol="0" anchor="t"/>
          <a:lstStyle/>
          <a:p>
            <a:pPr algn="l" indent="0" marL="0">
              <a:lnSpc>
                <a:spcPct val="104000"/>
              </a:lnSpc>
              <a:buNone/>
            </a:pPr>
            <a:r>
              <a:rPr lang="en-US" sz="1420" dirty="0">
                <a:solidFill>
                  <a:srgbClr val="B3C3D6"/>
                </a:solidFill>
                <a:latin typeface="Arial" pitchFamily="34" charset="0"/>
                <a:ea typeface="Arial" pitchFamily="34" charset="-122"/>
                <a:cs typeface="Arial" pitchFamily="34" charset="-120"/>
              </a:rPr>
              <a:t>59–60</a:t>
            </a:r>
            <a:endParaRPr lang="en-US" sz="1420" dirty="0"/>
          </a:p>
        </p:txBody>
      </p:sp>
      <p:sp>
        <p:nvSpPr>
          <p:cNvPr id="88" name="Shape 86"/>
          <p:cNvSpPr/>
          <p:nvPr/>
        </p:nvSpPr>
        <p:spPr>
          <a:xfrm>
            <a:off x="548640" y="5074920"/>
            <a:ext cx="11094720" cy="0"/>
          </a:xfrm>
          <a:prstGeom prst="line">
            <a:avLst/>
          </a:prstGeom>
          <a:noFill/>
          <a:ln w="12700">
            <a:solidFill>
              <a:srgbClr val="2B415A"/>
            </a:solidFill>
            <a:prstDash val="solid"/>
          </a:ln>
        </p:spPr>
        <p:txBody>
          <a:bodyPr/>
          <a:p/>
        </p:txBody>
      </p:sp>
      <p:sp>
        <p:nvSpPr>
          <p:cNvPr id="89" name="Text 87"/>
          <p:cNvSpPr txBox="1"/>
          <p:nvPr/>
        </p:nvSpPr>
        <p:spPr>
          <a:xfrm>
            <a:off x="548640" y="5193792"/>
            <a:ext cx="11094720" cy="274320"/>
          </a:xfrm>
          <a:prstGeom prst="rect">
            <a:avLst/>
          </a:prstGeom>
          <a:noFill/>
          <a:ln/>
        </p:spPr>
        <p:txBody>
          <a:bodyPr wrap="square" lIns="0" tIns="0" rIns="0" bIns="0" rtlCol="0" anchor="t"/>
          <a:lstStyle/>
          <a:p>
            <a:pPr algn="l" indent="0" marL="0">
              <a:lnSpc>
                <a:spcPct val="104000"/>
              </a:lnSpc>
              <a:buNone/>
            </a:pPr>
            <a:r>
              <a:rPr lang="en-US" sz="1140" dirty="0">
                <a:solidFill>
                  <a:srgbClr val="B3C3D6"/>
                </a:solidFill>
                <a:latin typeface="Arial" pitchFamily="34" charset="0"/>
                <a:ea typeface="Arial" pitchFamily="34" charset="-122"/>
                <a:cs typeface="Arial" pitchFamily="34" charset="-120"/>
              </a:rPr>
              <a:t>Coverage is relative to the attached 22-slide Chapter 1 deck.</a:t>
            </a:r>
            <a:endParaRPr lang="en-US" sz="1140" dirty="0"/>
          </a:p>
        </p:txBody>
      </p:sp>
      <p:sp>
        <p:nvSpPr>
          <p:cNvPr id="94" name="Text 92"/>
          <p:cNvSpPr txBox="1"/>
          <p:nvPr/>
        </p:nvSpPr>
        <p:spPr>
          <a:xfrm>
            <a:off x="548640" y="6601968"/>
            <a:ext cx="10241280" cy="128016"/>
          </a:xfrm>
          <a:prstGeom prst="rect">
            <a:avLst/>
          </a:prstGeom>
          <a:noFill/>
          <a:ln/>
        </p:spPr>
        <p:txBody>
          <a:bodyPr wrap="square" lIns="0" tIns="0" rIns="0" bIns="0" rtlCol="0" anchor="t"/>
          <a:lstStyle/>
          <a:p>
            <a:pPr algn="l" indent="0" marL="0">
              <a:lnSpc>
                <a:spcPct val="104000"/>
              </a:lnSpc>
              <a:buNone/>
            </a:pPr>
            <a:r>
              <a:rPr lang="en-US" sz="830" dirty="0">
                <a:solidFill>
                  <a:srgbClr val="B3C3D6"/>
                </a:solidFill>
                <a:latin typeface="Arial" pitchFamily="34" charset="0"/>
                <a:ea typeface="Arial" pitchFamily="34" charset="-122"/>
                <a:cs typeface="Arial" pitchFamily="34" charset="-120"/>
              </a:rPr>
              <a:t>Source: original 12, 13, 14, 15, 16, 17, 18, 19, 20, 21, 22</a:t>
            </a:r>
            <a:endParaRPr lang="en-US" sz="830" dirty="0"/>
          </a:p>
        </p:txBody>
      </p:sp>
      <p:sp>
        <p:nvSpPr>
          <p:cNvPr id="95" name="Text 93"/>
          <p:cNvSpPr txBox="1"/>
          <p:nvPr/>
        </p:nvSpPr>
        <p:spPr>
          <a:xfrm>
            <a:off x="10917936" y="6565392"/>
            <a:ext cx="722376" cy="219456"/>
          </a:xfrm>
          <a:prstGeom prst="rect">
            <a:avLst/>
          </a:prstGeom>
          <a:noFill/>
          <a:ln/>
        </p:spPr>
        <p:txBody>
          <a:bodyPr wrap="square" lIns="0" tIns="0" rIns="0" bIns="0" rtlCol="0" anchor="t"/>
          <a:lstStyle/>
          <a:p>
            <a:pPr algn="r" indent="0" marL="0">
              <a:lnSpc>
                <a:spcPct val="104000"/>
              </a:lnSpc>
              <a:buNone/>
            </a:pPr>
            <a:r>
              <a:rPr lang="en-US" sz="1050" dirty="0">
                <a:solidFill>
                  <a:srgbClr val="B3C3D6"/>
                </a:solidFill>
                <a:latin typeface="Arial" pitchFamily="34" charset="0"/>
                <a:ea typeface="Arial" pitchFamily="34" charset="-122"/>
                <a:cs typeface="Arial" pitchFamily="34" charset="-120"/>
              </a:rPr>
              <a:t>62 / 64</a:t>
            </a:r>
            <a:endParaRPr lang="en-US" sz="1050" dirty="0"/>
          </a:p>
        </p:txBody>
      </p:sp>
      <p:sp>
        <p:nvSpPr>
          <p:cNvPr id="96" name="Shape 94"/>
          <p:cNvSpPr/>
          <p:nvPr/>
        </p:nvSpPr>
        <p:spPr>
          <a:xfrm>
            <a:off x="0" y="6834226"/>
            <a:ext cx="12192000" cy="23774"/>
          </a:xfrm>
          <a:prstGeom prst="rect">
            <a:avLst/>
          </a:prstGeom>
          <a:solidFill>
            <a:srgbClr val="2B415A"/>
          </a:solidFill>
          <a:ln w="8890">
            <a:solidFill>
              <a:srgbClr val="2B415A"/>
            </a:solidFill>
            <a:prstDash val="solid"/>
          </a:ln>
        </p:spPr>
        <p:txBody>
          <a:bodyPr/>
          <a:p/>
        </p:txBody>
      </p:sp>
      <p:sp>
        <p:nvSpPr>
          <p:cNvPr id="97" name="Shape 95"/>
          <p:cNvSpPr/>
          <p:nvPr/>
        </p:nvSpPr>
        <p:spPr>
          <a:xfrm>
            <a:off x="0" y="6834226"/>
            <a:ext cx="11811000" cy="23774"/>
          </a:xfrm>
          <a:prstGeom prst="rect">
            <a:avLst/>
          </a:prstGeom>
          <a:solidFill>
            <a:srgbClr val="71D5DD"/>
          </a:solidFill>
          <a:ln w="8890">
            <a:solidFill>
              <a:srgbClr val="71D5DD"/>
            </a:solidFill>
            <a:prstDash val="solid"/>
          </a:ln>
        </p:spPr>
        <p:txBody>
          <a:body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txBox="1"/>
          <p:nvPr/>
        </p:nvSpPr>
        <p:spPr>
          <a:xfrm>
            <a:off x="548640" y="219456"/>
            <a:ext cx="9875520" cy="192024"/>
          </a:xfrm>
          <a:prstGeom prst="rect">
            <a:avLst/>
          </a:prstGeom>
          <a:noFill/>
          <a:ln/>
        </p:spPr>
        <p:txBody>
          <a:bodyPr wrap="square" lIns="0" tIns="0" rIns="0" bIns="0" rtlCol="0" anchor="t"/>
          <a:lstStyle/>
          <a:p>
            <a:pPr algn="l" indent="0" marL="0">
              <a:lnSpc>
                <a:spcPct val="104000"/>
              </a:lnSpc>
              <a:buNone/>
            </a:pPr>
            <a:r>
              <a:rPr lang="en-US" sz="970" b="1" spc="135" kern="0" dirty="0">
                <a:solidFill>
                  <a:srgbClr val="B3C3D6"/>
                </a:solidFill>
                <a:latin typeface="Arial" pitchFamily="34" charset="0"/>
                <a:ea typeface="Arial" pitchFamily="34" charset="-122"/>
                <a:cs typeface="Arial" pitchFamily="34" charset="-120"/>
              </a:rPr>
              <a:t>SYSTEMS PROGRAMMING AND MACHINE ORGANIZATION</a:t>
            </a:r>
            <a:endParaRPr lang="en-US" sz="970" dirty="0"/>
          </a:p>
        </p:txBody>
      </p:sp>
      <p:sp>
        <p:nvSpPr>
          <p:cNvPr id="3" name="Text 1"/>
          <p:cNvSpPr txBox="1"/>
          <p:nvPr/>
        </p:nvSpPr>
        <p:spPr>
          <a:xfrm>
            <a:off x="9601200" y="219456"/>
            <a:ext cx="2039112" cy="192024"/>
          </a:xfrm>
          <a:prstGeom prst="rect">
            <a:avLst/>
          </a:prstGeom>
          <a:noFill/>
          <a:ln/>
        </p:spPr>
        <p:txBody>
          <a:bodyPr wrap="square" lIns="0" tIns="0" rIns="0" bIns="0" rtlCol="0" anchor="t"/>
          <a:lstStyle/>
          <a:p>
            <a:pPr algn="r" indent="0" marL="0">
              <a:lnSpc>
                <a:spcPct val="104000"/>
              </a:lnSpc>
              <a:buNone/>
            </a:pPr>
            <a:r>
              <a:rPr lang="en-US" sz="970" b="1" dirty="0">
                <a:solidFill>
                  <a:srgbClr val="B3C3D6"/>
                </a:solidFill>
                <a:latin typeface="Arial" pitchFamily="34" charset="0"/>
                <a:ea typeface="Arial" pitchFamily="34" charset="-122"/>
                <a:cs typeface="Arial" pitchFamily="34" charset="-120"/>
              </a:rPr>
              <a:t>CHARLES DORNER</a:t>
            </a:r>
            <a:endParaRPr lang="en-US" sz="970" dirty="0"/>
          </a:p>
        </p:txBody>
      </p:sp>
      <p:sp>
        <p:nvSpPr>
          <p:cNvPr id="4" name="Text 2"/>
          <p:cNvSpPr txBox="1"/>
          <p:nvPr/>
        </p:nvSpPr>
        <p:spPr>
          <a:xfrm>
            <a:off x="548640" y="566928"/>
            <a:ext cx="11109960" cy="237744"/>
          </a:xfrm>
          <a:prstGeom prst="rect">
            <a:avLst/>
          </a:prstGeom>
          <a:noFill/>
          <a:ln/>
        </p:spPr>
        <p:txBody>
          <a:bodyPr wrap="square" lIns="0" tIns="0" rIns="0" bIns="0" rtlCol="0" anchor="t"/>
          <a:lstStyle/>
          <a:p>
            <a:pPr algn="l" indent="0" marL="0">
              <a:lnSpc>
                <a:spcPct val="104000"/>
              </a:lnSpc>
              <a:buNone/>
            </a:pPr>
            <a:r>
              <a:rPr lang="en-US" sz="1150" b="1" dirty="0">
                <a:solidFill>
                  <a:srgbClr val="71D5DD"/>
                </a:solidFill>
                <a:latin typeface="Arial" pitchFamily="34" charset="0"/>
                <a:ea typeface="Arial" pitchFamily="34" charset="-122"/>
                <a:cs typeface="Arial" pitchFamily="34" charset="-120"/>
              </a:rPr>
              <a:t>APPENDIX · PRIMARY SOURCES FOR GRADUATE EXTENSIONS</a:t>
            </a:r>
            <a:endParaRPr lang="en-US" sz="1150" dirty="0"/>
          </a:p>
        </p:txBody>
      </p:sp>
      <p:sp>
        <p:nvSpPr>
          <p:cNvPr id="5" name="Text 3"/>
          <p:cNvSpPr txBox="1"/>
          <p:nvPr/>
        </p:nvSpPr>
        <p:spPr>
          <a:xfrm>
            <a:off x="548640" y="941832"/>
            <a:ext cx="11091672" cy="676656"/>
          </a:xfrm>
          <a:prstGeom prst="rect">
            <a:avLst/>
          </a:prstGeom>
          <a:noFill/>
          <a:ln/>
        </p:spPr>
        <p:txBody>
          <a:bodyPr wrap="square" lIns="0" tIns="0" rIns="0" bIns="0" rtlCol="0" anchor="t"/>
          <a:lstStyle/>
          <a:p>
            <a:pPr algn="l" indent="0" marL="0">
              <a:lnSpc>
                <a:spcPct val="104000"/>
              </a:lnSpc>
              <a:buNone/>
            </a:pPr>
            <a:r>
              <a:rPr lang="en-US" sz="3150" b="1" dirty="0">
                <a:solidFill>
                  <a:srgbClr val="F4F7FB"/>
                </a:solidFill>
                <a:latin typeface="Arial" pitchFamily="34" charset="0"/>
                <a:ea typeface="Arial" pitchFamily="34" charset="-122"/>
                <a:cs typeface="Arial" pitchFamily="34" charset="-120"/>
              </a:rPr>
              <a:t>References: language, translation, and binary artifacts</a:t>
            </a:r>
            <a:endParaRPr lang="en-US" sz="3150" dirty="0"/>
          </a:p>
        </p:txBody>
      </p:sp>
      <p:sp>
        <p:nvSpPr>
          <p:cNvPr id="6" name="Shape 4"/>
          <p:cNvSpPr/>
          <p:nvPr/>
        </p:nvSpPr>
        <p:spPr>
          <a:xfrm>
            <a:off x="548640" y="1764792"/>
            <a:ext cx="3564128" cy="3310128"/>
          </a:xfrm>
          <a:prstGeom prst="rect">
            <a:avLst/>
          </a:prstGeom>
          <a:solidFill>
            <a:srgbClr val="142238"/>
          </a:solidFill>
          <a:ln w="8890">
            <a:solidFill>
              <a:srgbClr val="2B415A"/>
            </a:solidFill>
            <a:prstDash val="solid"/>
          </a:ln>
        </p:spPr>
        <p:txBody>
          <a:bodyPr/>
          <a:p/>
        </p:txBody>
      </p:sp>
      <p:sp>
        <p:nvSpPr>
          <p:cNvPr id="7" name="Shape 5"/>
          <p:cNvSpPr/>
          <p:nvPr/>
        </p:nvSpPr>
        <p:spPr>
          <a:xfrm>
            <a:off x="548640" y="1764792"/>
            <a:ext cx="41148" cy="3310128"/>
          </a:xfrm>
          <a:prstGeom prst="rect">
            <a:avLst/>
          </a:prstGeom>
          <a:solidFill>
            <a:srgbClr val="71D5DD"/>
          </a:solidFill>
          <a:ln w="8890">
            <a:solidFill>
              <a:srgbClr val="71D5DD"/>
            </a:solidFill>
            <a:prstDash val="solid"/>
          </a:ln>
        </p:spPr>
        <p:txBody>
          <a:bodyPr/>
          <a:p/>
        </p:txBody>
      </p:sp>
      <p:sp>
        <p:nvSpPr>
          <p:cNvPr id="8" name="Text 6"/>
          <p:cNvSpPr txBox="1"/>
          <p:nvPr/>
        </p:nvSpPr>
        <p:spPr>
          <a:xfrm>
            <a:off x="758952" y="1975104"/>
            <a:ext cx="3134360" cy="557784"/>
          </a:xfrm>
          <a:prstGeom prst="rect">
            <a:avLst/>
          </a:prstGeom>
          <a:noFill/>
          <a:ln/>
        </p:spPr>
        <p:txBody>
          <a:bodyPr wrap="square" lIns="0" tIns="0" rIns="0" bIns="0" rtlCol="0" anchor="t"/>
          <a:lstStyle/>
          <a:p>
            <a:pPr algn="l" indent="0" marL="0">
              <a:lnSpc>
                <a:spcPct val="104000"/>
              </a:lnSpc>
              <a:buNone/>
            </a:pPr>
            <a:r>
              <a:rPr lang="en-US" sz="1540" b="1" dirty="0">
                <a:solidFill>
                  <a:srgbClr val="71D5DD"/>
                </a:solidFill>
                <a:latin typeface="Arial" pitchFamily="34" charset="0"/>
                <a:ea typeface="Arial" pitchFamily="34" charset="-122"/>
                <a:cs typeface="Arial" pitchFamily="34" charset="-120"/>
              </a:rPr>
              <a:t>LANGUAGE</a:t>
            </a:r>
            <a:endParaRPr lang="en-US" sz="1540" dirty="0"/>
          </a:p>
        </p:txBody>
      </p:sp>
      <p:sp>
        <p:nvSpPr>
          <p:cNvPr id="9" name="Text 7"/>
          <p:cNvSpPr txBox="1"/>
          <p:nvPr/>
        </p:nvSpPr>
        <p:spPr>
          <a:xfrm>
            <a:off x="758952" y="2642616"/>
            <a:ext cx="3134360" cy="2267712"/>
          </a:xfrm>
          <a:prstGeom prst="rect">
            <a:avLst/>
          </a:prstGeom>
          <a:noFill/>
          <a:ln/>
        </p:spPr>
        <p:txBody>
          <a:bodyPr wrap="square" lIns="0" tIns="0" rIns="0" bIns="0" rtlCol="0" anchor="t"/>
          <a:lstStyle/>
          <a:p>
            <a:pPr algn="l" indent="0" marL="0">
              <a:lnSpc>
                <a:spcPct val="104000"/>
              </a:lnSpc>
              <a:buNone/>
            </a:pPr>
            <a:r>
              <a:rPr lang="en-US" sz="1800" dirty="0">
                <a:solidFill>
                  <a:srgbClr val="F4F7FB"/>
                </a:solidFill>
                <a:latin typeface="Arial" pitchFamily="34" charset="0"/>
                <a:ea typeface="Arial" pitchFamily="34" charset="-122"/>
                <a:cs typeface="Arial" pitchFamily="34" charset="-120"/>
              </a:rPr>
              <a:t>LANG · WG14 N1570:</a:t>
            </a:r>
            <a:endParaRPr lang="en-US" sz="1800" dirty="0"/>
          </a:p>
          <a:p>
            <a:pPr algn="l" indent="0" marL="0">
              <a:lnSpc>
                <a:spcPct val="104000"/>
              </a:lnSpc>
              <a:buNone/>
            </a:pPr>
            <a:r>
              <a:rPr lang="en-US" sz="1800" dirty="0">
                <a:solidFill>
                  <a:srgbClr val="F4F7FB"/>
                </a:solidFill>
                <a:latin typeface="Arial" pitchFamily="34" charset="0"/>
                <a:ea typeface="Arial" pitchFamily="34" charset="-122"/>
                <a:cs typeface="Arial" pitchFamily="34" charset="-120"/>
              </a:rPr>
              <a:t>program execution,</a:t>
            </a:r>
            <a:endParaRPr lang="en-US" sz="1800" dirty="0"/>
          </a:p>
          <a:p>
            <a:pPr algn="l" indent="0" marL="0">
              <a:lnSpc>
                <a:spcPct val="104000"/>
              </a:lnSpc>
              <a:buNone/>
            </a:pPr>
            <a:r>
              <a:rPr lang="en-US" sz="1800" dirty="0">
                <a:solidFill>
                  <a:srgbClr val="F4F7FB"/>
                </a:solidFill>
                <a:latin typeface="Arial" pitchFamily="34" charset="0"/>
                <a:ea typeface="Arial" pitchFamily="34" charset="-122"/>
                <a:cs typeface="Arial" pitchFamily="34" charset="-120"/>
              </a:rPr>
              <a:t>expressions, declarations</a:t>
            </a:r>
            <a:endParaRPr lang="en-US" sz="1800" dirty="0"/>
          </a:p>
        </p:txBody>
      </p:sp>
      <p:sp>
        <p:nvSpPr>
          <p:cNvPr id="10" name="Shape 8"/>
          <p:cNvSpPr/>
          <p:nvPr/>
        </p:nvSpPr>
        <p:spPr>
          <a:xfrm>
            <a:off x="4313936" y="1764792"/>
            <a:ext cx="3564128" cy="3310128"/>
          </a:xfrm>
          <a:prstGeom prst="rect">
            <a:avLst/>
          </a:prstGeom>
          <a:solidFill>
            <a:srgbClr val="142238"/>
          </a:solidFill>
          <a:ln w="8890">
            <a:solidFill>
              <a:srgbClr val="2B415A"/>
            </a:solidFill>
            <a:prstDash val="solid"/>
          </a:ln>
        </p:spPr>
        <p:txBody>
          <a:bodyPr/>
          <a:p/>
        </p:txBody>
      </p:sp>
      <p:sp>
        <p:nvSpPr>
          <p:cNvPr id="11" name="Shape 9"/>
          <p:cNvSpPr/>
          <p:nvPr/>
        </p:nvSpPr>
        <p:spPr>
          <a:xfrm>
            <a:off x="4313936" y="1764792"/>
            <a:ext cx="41148" cy="3310128"/>
          </a:xfrm>
          <a:prstGeom prst="rect">
            <a:avLst/>
          </a:prstGeom>
          <a:solidFill>
            <a:srgbClr val="71D5DD"/>
          </a:solidFill>
          <a:ln w="8890">
            <a:solidFill>
              <a:srgbClr val="71D5DD"/>
            </a:solidFill>
            <a:prstDash val="solid"/>
          </a:ln>
        </p:spPr>
        <p:txBody>
          <a:bodyPr/>
          <a:p/>
        </p:txBody>
      </p:sp>
      <p:sp>
        <p:nvSpPr>
          <p:cNvPr id="12" name="Text 10"/>
          <p:cNvSpPr txBox="1"/>
          <p:nvPr/>
        </p:nvSpPr>
        <p:spPr>
          <a:xfrm>
            <a:off x="4524248" y="1975104"/>
            <a:ext cx="3134360" cy="557784"/>
          </a:xfrm>
          <a:prstGeom prst="rect">
            <a:avLst/>
          </a:prstGeom>
          <a:noFill/>
          <a:ln/>
        </p:spPr>
        <p:txBody>
          <a:bodyPr wrap="square" lIns="0" tIns="0" rIns="0" bIns="0" rtlCol="0" anchor="t"/>
          <a:lstStyle/>
          <a:p>
            <a:pPr algn="l" indent="0" marL="0">
              <a:lnSpc>
                <a:spcPct val="104000"/>
              </a:lnSpc>
              <a:buNone/>
            </a:pPr>
            <a:r>
              <a:rPr lang="en-US" sz="1540" b="1" dirty="0">
                <a:solidFill>
                  <a:srgbClr val="71D5DD"/>
                </a:solidFill>
                <a:latin typeface="Arial" pitchFamily="34" charset="0"/>
                <a:ea typeface="Arial" pitchFamily="34" charset="-122"/>
                <a:cs typeface="Arial" pitchFamily="34" charset="-120"/>
              </a:rPr>
              <a:t>COMPILER &amp; PREPROCESSOR</a:t>
            </a:r>
            <a:endParaRPr lang="en-US" sz="1540" dirty="0"/>
          </a:p>
        </p:txBody>
      </p:sp>
      <p:sp>
        <p:nvSpPr>
          <p:cNvPr id="13" name="Text 11"/>
          <p:cNvSpPr txBox="1"/>
          <p:nvPr/>
        </p:nvSpPr>
        <p:spPr>
          <a:xfrm>
            <a:off x="4524248" y="2642616"/>
            <a:ext cx="3134360" cy="2267712"/>
          </a:xfrm>
          <a:prstGeom prst="rect">
            <a:avLst/>
          </a:prstGeom>
          <a:noFill/>
          <a:ln/>
        </p:spPr>
        <p:txBody>
          <a:bodyPr wrap="square" lIns="0" tIns="0" rIns="0" bIns="0" rtlCol="0" anchor="t"/>
          <a:lstStyle/>
          <a:p>
            <a:pPr algn="l" indent="0" marL="0">
              <a:lnSpc>
                <a:spcPct val="104000"/>
              </a:lnSpc>
              <a:buNone/>
            </a:pPr>
            <a:r>
              <a:rPr lang="en-US" sz="1800" dirty="0">
                <a:solidFill>
                  <a:srgbClr val="F4F7FB"/>
                </a:solidFill>
                <a:latin typeface="Arial" pitchFamily="34" charset="0"/>
                <a:ea typeface="Arial" pitchFamily="34" charset="-122"/>
                <a:cs typeface="Arial" pitchFamily="34" charset="-120"/>
              </a:rPr>
              <a:t>GCC · Overall Options</a:t>
            </a:r>
            <a:endParaRPr lang="en-US" sz="1800" dirty="0"/>
          </a:p>
          <a:p>
            <a:pPr algn="l" indent="0" marL="0">
              <a:lnSpc>
                <a:spcPct val="104000"/>
              </a:lnSpc>
              <a:buNone/>
            </a:pPr>
            <a:r>
              <a:rPr lang="en-US" sz="1800" dirty="0">
                <a:solidFill>
                  <a:srgbClr val="F4F7FB"/>
                </a:solidFill>
                <a:latin typeface="Arial" pitchFamily="34" charset="0"/>
                <a:ea typeface="Arial" pitchFamily="34" charset="-122"/>
                <a:cs typeface="Arial" pitchFamily="34" charset="-120"/>
              </a:rPr>
              <a:t>CPP · Macro side-effect</a:t>
            </a:r>
            <a:endParaRPr lang="en-US" sz="1800" dirty="0"/>
          </a:p>
          <a:p>
            <a:pPr algn="l" indent="0" marL="0">
              <a:lnSpc>
                <a:spcPct val="104000"/>
              </a:lnSpc>
              <a:buNone/>
            </a:pPr>
            <a:r>
              <a:rPr lang="en-US" sz="1800" dirty="0">
                <a:solidFill>
                  <a:srgbClr val="F4F7FB"/>
                </a:solidFill>
                <a:latin typeface="Arial" pitchFamily="34" charset="0"/>
                <a:ea typeface="Arial" pitchFamily="34" charset="-122"/>
                <a:cs typeface="Arial" pitchFamily="34" charset="-120"/>
              </a:rPr>
              <a:t>duplication</a:t>
            </a:r>
            <a:endParaRPr lang="en-US" sz="1800" dirty="0"/>
          </a:p>
          <a:p>
            <a:pPr algn="l" indent="0" marL="0">
              <a:lnSpc>
                <a:spcPct val="104000"/>
              </a:lnSpc>
              <a:buNone/>
            </a:pPr>
            <a:r>
              <a:rPr lang="en-US" sz="1800" dirty="0">
                <a:solidFill>
                  <a:srgbClr val="F4F7FB"/>
                </a:solidFill>
                <a:latin typeface="Arial" pitchFamily="34" charset="0"/>
                <a:ea typeface="Arial" pitchFamily="34" charset="-122"/>
                <a:cs typeface="Arial" pitchFamily="34" charset="-120"/>
              </a:rPr>
              <a:t>OPT · Optimization Options</a:t>
            </a:r>
            <a:endParaRPr lang="en-US" sz="1800" dirty="0"/>
          </a:p>
        </p:txBody>
      </p:sp>
      <p:sp>
        <p:nvSpPr>
          <p:cNvPr id="14" name="Shape 12"/>
          <p:cNvSpPr/>
          <p:nvPr/>
        </p:nvSpPr>
        <p:spPr>
          <a:xfrm>
            <a:off x="8079232" y="1764792"/>
            <a:ext cx="3564128" cy="3310128"/>
          </a:xfrm>
          <a:prstGeom prst="rect">
            <a:avLst/>
          </a:prstGeom>
          <a:solidFill>
            <a:srgbClr val="142238"/>
          </a:solidFill>
          <a:ln w="8890">
            <a:solidFill>
              <a:srgbClr val="2B415A"/>
            </a:solidFill>
            <a:prstDash val="solid"/>
          </a:ln>
        </p:spPr>
        <p:txBody>
          <a:bodyPr/>
          <a:p/>
        </p:txBody>
      </p:sp>
      <p:sp>
        <p:nvSpPr>
          <p:cNvPr id="15" name="Shape 13"/>
          <p:cNvSpPr/>
          <p:nvPr/>
        </p:nvSpPr>
        <p:spPr>
          <a:xfrm>
            <a:off x="8079232" y="1764792"/>
            <a:ext cx="41148" cy="3310128"/>
          </a:xfrm>
          <a:prstGeom prst="rect">
            <a:avLst/>
          </a:prstGeom>
          <a:solidFill>
            <a:srgbClr val="71D5DD"/>
          </a:solidFill>
          <a:ln w="8890">
            <a:solidFill>
              <a:srgbClr val="71D5DD"/>
            </a:solidFill>
            <a:prstDash val="solid"/>
          </a:ln>
        </p:spPr>
        <p:txBody>
          <a:bodyPr/>
          <a:p/>
        </p:txBody>
      </p:sp>
      <p:sp>
        <p:nvSpPr>
          <p:cNvPr id="16" name="Text 14"/>
          <p:cNvSpPr txBox="1"/>
          <p:nvPr/>
        </p:nvSpPr>
        <p:spPr>
          <a:xfrm>
            <a:off x="8289544" y="1975104"/>
            <a:ext cx="3134360" cy="557784"/>
          </a:xfrm>
          <a:prstGeom prst="rect">
            <a:avLst/>
          </a:prstGeom>
          <a:noFill/>
          <a:ln/>
        </p:spPr>
        <p:txBody>
          <a:bodyPr wrap="square" lIns="0" tIns="0" rIns="0" bIns="0" rtlCol="0" anchor="t"/>
          <a:lstStyle/>
          <a:p>
            <a:pPr algn="l" indent="0" marL="0">
              <a:lnSpc>
                <a:spcPct val="104000"/>
              </a:lnSpc>
              <a:buNone/>
            </a:pPr>
            <a:r>
              <a:rPr lang="en-US" sz="1540" b="1" dirty="0">
                <a:solidFill>
                  <a:srgbClr val="71D5DD"/>
                </a:solidFill>
                <a:latin typeface="Arial" pitchFamily="34" charset="0"/>
                <a:ea typeface="Arial" pitchFamily="34" charset="-122"/>
                <a:cs typeface="Arial" pitchFamily="34" charset="-120"/>
              </a:rPr>
              <a:t>BINARY TOOLS &amp; FORMAT</a:t>
            </a:r>
            <a:endParaRPr lang="en-US" sz="1540" dirty="0"/>
          </a:p>
        </p:txBody>
      </p:sp>
      <p:sp>
        <p:nvSpPr>
          <p:cNvPr id="17" name="Text 15"/>
          <p:cNvSpPr txBox="1"/>
          <p:nvPr/>
        </p:nvSpPr>
        <p:spPr>
          <a:xfrm>
            <a:off x="8289544" y="2642616"/>
            <a:ext cx="3134360" cy="2267712"/>
          </a:xfrm>
          <a:prstGeom prst="rect">
            <a:avLst/>
          </a:prstGeom>
          <a:noFill/>
          <a:ln/>
        </p:spPr>
        <p:txBody>
          <a:bodyPr wrap="square" lIns="0" tIns="0" rIns="0" bIns="0" rtlCol="0" anchor="t"/>
          <a:lstStyle/>
          <a:p>
            <a:pPr algn="l" indent="0" marL="0">
              <a:lnSpc>
                <a:spcPct val="104000"/>
              </a:lnSpc>
              <a:buNone/>
            </a:pPr>
            <a:r>
              <a:rPr lang="en-US" sz="1800" dirty="0">
                <a:solidFill>
                  <a:srgbClr val="F4F7FB"/>
                </a:solidFill>
                <a:latin typeface="Arial" pitchFamily="34" charset="0"/>
                <a:ea typeface="Arial" pitchFamily="34" charset="-122"/>
                <a:cs typeface="Arial" pitchFamily="34" charset="-120"/>
              </a:rPr>
              <a:t>AS · GNU assembler symbols</a:t>
            </a:r>
            <a:endParaRPr lang="en-US" sz="1800" dirty="0"/>
          </a:p>
          <a:p>
            <a:pPr algn="l" indent="0" marL="0">
              <a:lnSpc>
                <a:spcPct val="104000"/>
              </a:lnSpc>
              <a:buNone/>
            </a:pPr>
            <a:r>
              <a:rPr lang="en-US" sz="1800" dirty="0">
                <a:solidFill>
                  <a:srgbClr val="F4F7FB"/>
                </a:solidFill>
                <a:latin typeface="Arial" pitchFamily="34" charset="0"/>
                <a:ea typeface="Arial" pitchFamily="34" charset="-122"/>
                <a:cs typeface="Arial" pitchFamily="34" charset="-120"/>
              </a:rPr>
              <a:t>LD · GNU linker overview</a:t>
            </a:r>
            <a:endParaRPr lang="en-US" sz="1800" dirty="0"/>
          </a:p>
          <a:p>
            <a:pPr algn="l" indent="0" marL="0">
              <a:lnSpc>
                <a:spcPct val="104000"/>
              </a:lnSpc>
              <a:buNone/>
            </a:pPr>
            <a:r>
              <a:rPr lang="en-US" sz="1800" dirty="0">
                <a:solidFill>
                  <a:srgbClr val="F4F7FB"/>
                </a:solidFill>
                <a:latin typeface="Arial" pitchFamily="34" charset="0"/>
                <a:ea typeface="Arial" pitchFamily="34" charset="-122"/>
                <a:cs typeface="Arial" pitchFamily="34" charset="-120"/>
              </a:rPr>
              <a:t>NM / READELF · GNU binary</a:t>
            </a:r>
            <a:endParaRPr lang="en-US" sz="1800" dirty="0"/>
          </a:p>
          <a:p>
            <a:pPr algn="l" indent="0" marL="0">
              <a:lnSpc>
                <a:spcPct val="104000"/>
              </a:lnSpc>
              <a:buNone/>
            </a:pPr>
            <a:r>
              <a:rPr lang="en-US" sz="1800" dirty="0">
                <a:solidFill>
                  <a:srgbClr val="F4F7FB"/>
                </a:solidFill>
                <a:latin typeface="Arial" pitchFamily="34" charset="0"/>
                <a:ea typeface="Arial" pitchFamily="34" charset="-122"/>
                <a:cs typeface="Arial" pitchFamily="34" charset="-120"/>
              </a:rPr>
              <a:t>utilities</a:t>
            </a:r>
            <a:endParaRPr lang="en-US" sz="1800" dirty="0"/>
          </a:p>
          <a:p>
            <a:pPr algn="l" indent="0" marL="0">
              <a:lnSpc>
                <a:spcPct val="104000"/>
              </a:lnSpc>
              <a:buNone/>
            </a:pPr>
            <a:r>
              <a:rPr lang="en-US" sz="1800" dirty="0">
                <a:solidFill>
                  <a:srgbClr val="F4F7FB"/>
                </a:solidFill>
                <a:latin typeface="Arial" pitchFamily="34" charset="0"/>
                <a:ea typeface="Arial" pitchFamily="34" charset="-122"/>
                <a:cs typeface="Arial" pitchFamily="34" charset="-120"/>
              </a:rPr>
              <a:t>ELF · System V relocation</a:t>
            </a:r>
            <a:endParaRPr lang="en-US" sz="1800" dirty="0"/>
          </a:p>
          <a:p>
            <a:pPr algn="l" indent="0" marL="0">
              <a:lnSpc>
                <a:spcPct val="104000"/>
              </a:lnSpc>
              <a:buNone/>
            </a:pPr>
            <a:r>
              <a:rPr lang="en-US" sz="1800" dirty="0">
                <a:solidFill>
                  <a:srgbClr val="F4F7FB"/>
                </a:solidFill>
                <a:latin typeface="Arial" pitchFamily="34" charset="0"/>
                <a:ea typeface="Arial" pitchFamily="34" charset="-122"/>
                <a:cs typeface="Arial" pitchFamily="34" charset="-120"/>
              </a:rPr>
              <a:t>model</a:t>
            </a:r>
            <a:endParaRPr lang="en-US" sz="1800" dirty="0"/>
          </a:p>
        </p:txBody>
      </p:sp>
      <p:sp>
        <p:nvSpPr>
          <p:cNvPr id="18" name="Text 16"/>
          <p:cNvSpPr txBox="1"/>
          <p:nvPr/>
        </p:nvSpPr>
        <p:spPr>
          <a:xfrm>
            <a:off x="548640" y="5193792"/>
            <a:ext cx="11094720" cy="274320"/>
          </a:xfrm>
          <a:prstGeom prst="rect">
            <a:avLst/>
          </a:prstGeom>
          <a:noFill/>
          <a:ln/>
        </p:spPr>
        <p:txBody>
          <a:bodyPr wrap="square" lIns="0" tIns="0" rIns="0" bIns="0" rtlCol="0" anchor="t"/>
          <a:lstStyle/>
          <a:p>
            <a:pPr algn="l" indent="0" marL="0">
              <a:lnSpc>
                <a:spcPct val="104000"/>
              </a:lnSpc>
              <a:buNone/>
            </a:pPr>
            <a:r>
              <a:rPr lang="en-US" sz="1140" dirty="0">
                <a:solidFill>
                  <a:srgbClr val="B3C3D6"/>
                </a:solidFill>
                <a:latin typeface="Arial" pitchFamily="34" charset="0"/>
                <a:ea typeface="Arial" pitchFamily="34" charset="-122"/>
                <a:cs typeface="Arial" pitchFamily="34" charset="-120"/>
              </a:rPr>
              <a:t>Full references and URLs are in speaker notes and References.md. Accessed September 23, 2026.</a:t>
            </a:r>
            <a:endParaRPr lang="en-US" sz="1140" dirty="0"/>
          </a:p>
        </p:txBody>
      </p:sp>
      <p:sp>
        <p:nvSpPr>
          <p:cNvPr id="23" name="Text 21"/>
          <p:cNvSpPr txBox="1"/>
          <p:nvPr/>
        </p:nvSpPr>
        <p:spPr>
          <a:xfrm>
            <a:off x="548640" y="6601968"/>
            <a:ext cx="10241280" cy="128016"/>
          </a:xfrm>
          <a:prstGeom prst="rect">
            <a:avLst/>
          </a:prstGeom>
          <a:noFill/>
          <a:ln/>
        </p:spPr>
        <p:txBody>
          <a:bodyPr wrap="square" lIns="0" tIns="0" rIns="0" bIns="0" rtlCol="0" anchor="t"/>
          <a:lstStyle/>
          <a:p>
            <a:pPr algn="l" indent="0" marL="0">
              <a:lnSpc>
                <a:spcPct val="104000"/>
              </a:lnSpc>
              <a:buNone/>
            </a:pPr>
            <a:r>
              <a:rPr lang="en-US" sz="830" dirty="0">
                <a:solidFill>
                  <a:srgbClr val="B3C3D6"/>
                </a:solidFill>
                <a:latin typeface="Arial" pitchFamily="34" charset="0"/>
                <a:ea typeface="Arial" pitchFamily="34" charset="-122"/>
                <a:cs typeface="Arial" pitchFamily="34" charset="-120"/>
              </a:rPr>
              <a:t>Source: original 2, 7, 8, 9, 10, 11, 17 • Graduate extension • [LANG, GCC, CPP, OPT, AS, LD, NM, READELF, ELF]</a:t>
            </a:r>
            <a:endParaRPr lang="en-US" sz="830" dirty="0"/>
          </a:p>
        </p:txBody>
      </p:sp>
      <p:sp>
        <p:nvSpPr>
          <p:cNvPr id="24" name="Text 22"/>
          <p:cNvSpPr txBox="1"/>
          <p:nvPr/>
        </p:nvSpPr>
        <p:spPr>
          <a:xfrm>
            <a:off x="10917936" y="6565392"/>
            <a:ext cx="722376" cy="219456"/>
          </a:xfrm>
          <a:prstGeom prst="rect">
            <a:avLst/>
          </a:prstGeom>
          <a:noFill/>
          <a:ln/>
        </p:spPr>
        <p:txBody>
          <a:bodyPr wrap="square" lIns="0" tIns="0" rIns="0" bIns="0" rtlCol="0" anchor="t"/>
          <a:lstStyle/>
          <a:p>
            <a:pPr algn="r" indent="0" marL="0">
              <a:lnSpc>
                <a:spcPct val="104000"/>
              </a:lnSpc>
              <a:buNone/>
            </a:pPr>
            <a:r>
              <a:rPr lang="en-US" sz="1050" dirty="0">
                <a:solidFill>
                  <a:srgbClr val="B3C3D6"/>
                </a:solidFill>
                <a:latin typeface="Arial" pitchFamily="34" charset="0"/>
                <a:ea typeface="Arial" pitchFamily="34" charset="-122"/>
                <a:cs typeface="Arial" pitchFamily="34" charset="-120"/>
              </a:rPr>
              <a:t>63 / 64</a:t>
            </a:r>
            <a:endParaRPr lang="en-US" sz="1050" dirty="0"/>
          </a:p>
        </p:txBody>
      </p:sp>
      <p:sp>
        <p:nvSpPr>
          <p:cNvPr id="25" name="Shape 23"/>
          <p:cNvSpPr/>
          <p:nvPr/>
        </p:nvSpPr>
        <p:spPr>
          <a:xfrm>
            <a:off x="0" y="6834226"/>
            <a:ext cx="12192000" cy="23774"/>
          </a:xfrm>
          <a:prstGeom prst="rect">
            <a:avLst/>
          </a:prstGeom>
          <a:solidFill>
            <a:srgbClr val="2B415A"/>
          </a:solidFill>
          <a:ln w="8890">
            <a:solidFill>
              <a:srgbClr val="2B415A"/>
            </a:solidFill>
            <a:prstDash val="solid"/>
          </a:ln>
        </p:spPr>
        <p:txBody>
          <a:bodyPr/>
          <a:p/>
        </p:txBody>
      </p:sp>
      <p:sp>
        <p:nvSpPr>
          <p:cNvPr id="26" name="Shape 24"/>
          <p:cNvSpPr/>
          <p:nvPr/>
        </p:nvSpPr>
        <p:spPr>
          <a:xfrm>
            <a:off x="0" y="6834226"/>
            <a:ext cx="12001500" cy="23774"/>
          </a:xfrm>
          <a:prstGeom prst="rect">
            <a:avLst/>
          </a:prstGeom>
          <a:solidFill>
            <a:srgbClr val="71D5DD"/>
          </a:solidFill>
          <a:ln w="8890">
            <a:solidFill>
              <a:srgbClr val="71D5DD"/>
            </a:solidFill>
            <a:prstDash val="solid"/>
          </a:ln>
        </p:spPr>
        <p:txBody>
          <a:body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txBox="1"/>
          <p:nvPr/>
        </p:nvSpPr>
        <p:spPr>
          <a:xfrm>
            <a:off x="548640" y="219456"/>
            <a:ext cx="9875520" cy="192024"/>
          </a:xfrm>
          <a:prstGeom prst="rect">
            <a:avLst/>
          </a:prstGeom>
          <a:noFill/>
          <a:ln/>
        </p:spPr>
        <p:txBody>
          <a:bodyPr wrap="square" lIns="0" tIns="0" rIns="0" bIns="0" rtlCol="0" anchor="t"/>
          <a:lstStyle/>
          <a:p>
            <a:pPr algn="l" indent="0" marL="0">
              <a:lnSpc>
                <a:spcPct val="104000"/>
              </a:lnSpc>
              <a:buNone/>
            </a:pPr>
            <a:r>
              <a:rPr lang="en-US" sz="970" b="1" spc="135" kern="0" dirty="0">
                <a:solidFill>
                  <a:srgbClr val="B3C3D6"/>
                </a:solidFill>
                <a:latin typeface="Arial" pitchFamily="34" charset="0"/>
                <a:ea typeface="Arial" pitchFamily="34" charset="-122"/>
                <a:cs typeface="Arial" pitchFamily="34" charset="-120"/>
              </a:rPr>
              <a:t>SYSTEMS PROGRAMMING AND MACHINE ORGANIZATION</a:t>
            </a:r>
            <a:endParaRPr lang="en-US" sz="970" dirty="0"/>
          </a:p>
        </p:txBody>
      </p:sp>
      <p:sp>
        <p:nvSpPr>
          <p:cNvPr id="3" name="Text 1"/>
          <p:cNvSpPr txBox="1"/>
          <p:nvPr/>
        </p:nvSpPr>
        <p:spPr>
          <a:xfrm>
            <a:off x="9601200" y="219456"/>
            <a:ext cx="2039112" cy="192024"/>
          </a:xfrm>
          <a:prstGeom prst="rect">
            <a:avLst/>
          </a:prstGeom>
          <a:noFill/>
          <a:ln/>
        </p:spPr>
        <p:txBody>
          <a:bodyPr wrap="square" lIns="0" tIns="0" rIns="0" bIns="0" rtlCol="0" anchor="t"/>
          <a:lstStyle/>
          <a:p>
            <a:pPr algn="r" indent="0" marL="0">
              <a:lnSpc>
                <a:spcPct val="104000"/>
              </a:lnSpc>
              <a:buNone/>
            </a:pPr>
            <a:r>
              <a:rPr lang="en-US" sz="970" b="1" dirty="0">
                <a:solidFill>
                  <a:srgbClr val="B3C3D6"/>
                </a:solidFill>
                <a:latin typeface="Arial" pitchFamily="34" charset="0"/>
                <a:ea typeface="Arial" pitchFamily="34" charset="-122"/>
                <a:cs typeface="Arial" pitchFamily="34" charset="-120"/>
              </a:rPr>
              <a:t>CHARLES DORNER</a:t>
            </a:r>
            <a:endParaRPr lang="en-US" sz="970" dirty="0"/>
          </a:p>
        </p:txBody>
      </p:sp>
      <p:sp>
        <p:nvSpPr>
          <p:cNvPr id="4" name="Text 2"/>
          <p:cNvSpPr txBox="1"/>
          <p:nvPr/>
        </p:nvSpPr>
        <p:spPr>
          <a:xfrm>
            <a:off x="548640" y="566928"/>
            <a:ext cx="11109960" cy="237744"/>
          </a:xfrm>
          <a:prstGeom prst="rect">
            <a:avLst/>
          </a:prstGeom>
          <a:noFill/>
          <a:ln/>
        </p:spPr>
        <p:txBody>
          <a:bodyPr wrap="square" lIns="0" tIns="0" rIns="0" bIns="0" rtlCol="0" anchor="t"/>
          <a:lstStyle/>
          <a:p>
            <a:pPr algn="l" indent="0" marL="0">
              <a:lnSpc>
                <a:spcPct val="104000"/>
              </a:lnSpc>
              <a:buNone/>
            </a:pPr>
            <a:r>
              <a:rPr lang="en-US" sz="1150" b="1" dirty="0">
                <a:solidFill>
                  <a:srgbClr val="71D5DD"/>
                </a:solidFill>
                <a:latin typeface="Arial" pitchFamily="34" charset="0"/>
                <a:ea typeface="Arial" pitchFamily="34" charset="-122"/>
                <a:cs typeface="Arial" pitchFamily="34" charset="-120"/>
              </a:rPr>
              <a:t>APPENDIX · PRIMARY SOURCES FOR GRADUATE EXTENSIONS</a:t>
            </a:r>
            <a:endParaRPr lang="en-US" sz="1150" dirty="0"/>
          </a:p>
        </p:txBody>
      </p:sp>
      <p:sp>
        <p:nvSpPr>
          <p:cNvPr id="5" name="Text 3"/>
          <p:cNvSpPr txBox="1"/>
          <p:nvPr/>
        </p:nvSpPr>
        <p:spPr>
          <a:xfrm>
            <a:off x="548640" y="941832"/>
            <a:ext cx="11091672" cy="676656"/>
          </a:xfrm>
          <a:prstGeom prst="rect">
            <a:avLst/>
          </a:prstGeom>
          <a:noFill/>
          <a:ln/>
        </p:spPr>
        <p:txBody>
          <a:bodyPr wrap="square" lIns="0" tIns="0" rIns="0" bIns="0" rtlCol="0" anchor="t"/>
          <a:lstStyle/>
          <a:p>
            <a:pPr algn="l" indent="0" marL="0">
              <a:lnSpc>
                <a:spcPct val="104000"/>
              </a:lnSpc>
              <a:buNone/>
            </a:pPr>
            <a:r>
              <a:rPr lang="en-US" sz="3150" b="1" dirty="0">
                <a:solidFill>
                  <a:srgbClr val="F4F7FB"/>
                </a:solidFill>
                <a:latin typeface="Arial" pitchFamily="34" charset="0"/>
                <a:ea typeface="Arial" pitchFamily="34" charset="-122"/>
                <a:cs typeface="Arial" pitchFamily="34" charset="-120"/>
              </a:rPr>
              <a:t>References: ABI, loading, runtime, and diagnostics</a:t>
            </a:r>
            <a:endParaRPr lang="en-US" sz="3150" dirty="0"/>
          </a:p>
        </p:txBody>
      </p:sp>
      <p:sp>
        <p:nvSpPr>
          <p:cNvPr id="6" name="Shape 4"/>
          <p:cNvSpPr/>
          <p:nvPr/>
        </p:nvSpPr>
        <p:spPr>
          <a:xfrm>
            <a:off x="548640" y="1764792"/>
            <a:ext cx="3564128" cy="3310128"/>
          </a:xfrm>
          <a:prstGeom prst="rect">
            <a:avLst/>
          </a:prstGeom>
          <a:solidFill>
            <a:srgbClr val="142238"/>
          </a:solidFill>
          <a:ln w="8890">
            <a:solidFill>
              <a:srgbClr val="2B415A"/>
            </a:solidFill>
            <a:prstDash val="solid"/>
          </a:ln>
        </p:spPr>
        <p:txBody>
          <a:bodyPr/>
          <a:p/>
        </p:txBody>
      </p:sp>
      <p:sp>
        <p:nvSpPr>
          <p:cNvPr id="7" name="Shape 5"/>
          <p:cNvSpPr/>
          <p:nvPr/>
        </p:nvSpPr>
        <p:spPr>
          <a:xfrm>
            <a:off x="548640" y="1764792"/>
            <a:ext cx="41148" cy="3310128"/>
          </a:xfrm>
          <a:prstGeom prst="rect">
            <a:avLst/>
          </a:prstGeom>
          <a:solidFill>
            <a:srgbClr val="71D5DD"/>
          </a:solidFill>
          <a:ln w="8890">
            <a:solidFill>
              <a:srgbClr val="71D5DD"/>
            </a:solidFill>
            <a:prstDash val="solid"/>
          </a:ln>
        </p:spPr>
        <p:txBody>
          <a:bodyPr/>
          <a:p/>
        </p:txBody>
      </p:sp>
      <p:sp>
        <p:nvSpPr>
          <p:cNvPr id="8" name="Text 6"/>
          <p:cNvSpPr txBox="1"/>
          <p:nvPr/>
        </p:nvSpPr>
        <p:spPr>
          <a:xfrm>
            <a:off x="758952" y="1975104"/>
            <a:ext cx="3134360" cy="557784"/>
          </a:xfrm>
          <a:prstGeom prst="rect">
            <a:avLst/>
          </a:prstGeom>
          <a:noFill/>
          <a:ln/>
        </p:spPr>
        <p:txBody>
          <a:bodyPr wrap="square" lIns="0" tIns="0" rIns="0" bIns="0" rtlCol="0" anchor="t"/>
          <a:lstStyle/>
          <a:p>
            <a:pPr algn="l" indent="0" marL="0">
              <a:lnSpc>
                <a:spcPct val="104000"/>
              </a:lnSpc>
              <a:buNone/>
            </a:pPr>
            <a:r>
              <a:rPr lang="en-US" sz="1540" b="1" dirty="0">
                <a:solidFill>
                  <a:srgbClr val="71D5DD"/>
                </a:solidFill>
                <a:latin typeface="Arial" pitchFamily="34" charset="0"/>
                <a:ea typeface="Arial" pitchFamily="34" charset="-122"/>
                <a:cs typeface="Arial" pitchFamily="34" charset="-120"/>
              </a:rPr>
              <a:t>BINARY CALLING RULES</a:t>
            </a:r>
            <a:endParaRPr lang="en-US" sz="1540" dirty="0"/>
          </a:p>
        </p:txBody>
      </p:sp>
      <p:sp>
        <p:nvSpPr>
          <p:cNvPr id="9" name="Text 7"/>
          <p:cNvSpPr txBox="1"/>
          <p:nvPr/>
        </p:nvSpPr>
        <p:spPr>
          <a:xfrm>
            <a:off x="758952" y="2642616"/>
            <a:ext cx="3134360" cy="2267712"/>
          </a:xfrm>
          <a:prstGeom prst="rect">
            <a:avLst/>
          </a:prstGeom>
          <a:noFill/>
          <a:ln/>
        </p:spPr>
        <p:txBody>
          <a:bodyPr wrap="square" lIns="0" tIns="0" rIns="0" bIns="0" rtlCol="0" anchor="t"/>
          <a:lstStyle/>
          <a:p>
            <a:pPr algn="l" indent="0" marL="0">
              <a:lnSpc>
                <a:spcPct val="104000"/>
              </a:lnSpc>
              <a:buNone/>
            </a:pPr>
            <a:r>
              <a:rPr lang="en-US" sz="1800" dirty="0">
                <a:solidFill>
                  <a:srgbClr val="F4F7FB"/>
                </a:solidFill>
                <a:latin typeface="Arial" pitchFamily="34" charset="0"/>
                <a:ea typeface="Arial" pitchFamily="34" charset="-122"/>
                <a:cs typeface="Arial" pitchFamily="34" charset="-120"/>
              </a:rPr>
              <a:t>ABI · System V AMD64 ABI,</a:t>
            </a:r>
            <a:endParaRPr lang="en-US" sz="1800" dirty="0"/>
          </a:p>
          <a:p>
            <a:pPr algn="l" indent="0" marL="0">
              <a:lnSpc>
                <a:spcPct val="104000"/>
              </a:lnSpc>
              <a:buNone/>
            </a:pPr>
            <a:r>
              <a:rPr lang="en-US" sz="1800" dirty="0">
                <a:solidFill>
                  <a:srgbClr val="F4F7FB"/>
                </a:solidFill>
                <a:latin typeface="Arial" pitchFamily="34" charset="0"/>
                <a:ea typeface="Arial" pitchFamily="34" charset="-122"/>
                <a:cs typeface="Arial" pitchFamily="34" charset="-120"/>
              </a:rPr>
              <a:t>§3.2</a:t>
            </a:r>
            <a:endParaRPr lang="en-US" sz="1800" dirty="0"/>
          </a:p>
          <a:p>
            <a:pPr algn="l" indent="0" marL="0">
              <a:lnSpc>
                <a:spcPct val="104000"/>
              </a:lnSpc>
              <a:buNone/>
            </a:pPr>
            <a:r>
              <a:rPr lang="en-US" sz="1800" dirty="0">
                <a:solidFill>
                  <a:srgbClr val="F4F7FB"/>
                </a:solidFill>
                <a:latin typeface="Arial" pitchFamily="34" charset="0"/>
                <a:ea typeface="Arial" pitchFamily="34" charset="-122"/>
                <a:cs typeface="Arial" pitchFamily="34" charset="-120"/>
              </a:rPr>
              <a:t>MS · Microsoft x64 calling</a:t>
            </a:r>
            <a:endParaRPr lang="en-US" sz="1800" dirty="0"/>
          </a:p>
          <a:p>
            <a:pPr algn="l" indent="0" marL="0">
              <a:lnSpc>
                <a:spcPct val="104000"/>
              </a:lnSpc>
              <a:buNone/>
            </a:pPr>
            <a:r>
              <a:rPr lang="en-US" sz="1800" dirty="0">
                <a:solidFill>
                  <a:srgbClr val="F4F7FB"/>
                </a:solidFill>
                <a:latin typeface="Arial" pitchFamily="34" charset="0"/>
                <a:ea typeface="Arial" pitchFamily="34" charset="-122"/>
                <a:cs typeface="Arial" pitchFamily="34" charset="-120"/>
              </a:rPr>
              <a:t>convention</a:t>
            </a:r>
            <a:endParaRPr lang="en-US" sz="1800" dirty="0"/>
          </a:p>
          <a:p>
            <a:pPr algn="l" indent="0" marL="0">
              <a:lnSpc>
                <a:spcPct val="104000"/>
              </a:lnSpc>
              <a:buNone/>
            </a:pPr>
            <a:r>
              <a:rPr lang="en-US" sz="1800" dirty="0">
                <a:solidFill>
                  <a:srgbClr val="F4F7FB"/>
                </a:solidFill>
                <a:latin typeface="Arial" pitchFamily="34" charset="0"/>
                <a:ea typeface="Arial" pitchFamily="34" charset="-122"/>
                <a:cs typeface="Arial" pitchFamily="34" charset="-120"/>
              </a:rPr>
              <a:t>PH · ELF program headers</a:t>
            </a:r>
            <a:endParaRPr lang="en-US" sz="1800" dirty="0"/>
          </a:p>
        </p:txBody>
      </p:sp>
      <p:sp>
        <p:nvSpPr>
          <p:cNvPr id="10" name="Shape 8"/>
          <p:cNvSpPr/>
          <p:nvPr/>
        </p:nvSpPr>
        <p:spPr>
          <a:xfrm>
            <a:off x="4313936" y="1764792"/>
            <a:ext cx="3564128" cy="3310128"/>
          </a:xfrm>
          <a:prstGeom prst="rect">
            <a:avLst/>
          </a:prstGeom>
          <a:solidFill>
            <a:srgbClr val="142238"/>
          </a:solidFill>
          <a:ln w="8890">
            <a:solidFill>
              <a:srgbClr val="2B415A"/>
            </a:solidFill>
            <a:prstDash val="solid"/>
          </a:ln>
        </p:spPr>
        <p:txBody>
          <a:bodyPr/>
          <a:p/>
        </p:txBody>
      </p:sp>
      <p:sp>
        <p:nvSpPr>
          <p:cNvPr id="11" name="Shape 9"/>
          <p:cNvSpPr/>
          <p:nvPr/>
        </p:nvSpPr>
        <p:spPr>
          <a:xfrm>
            <a:off x="4313936" y="1764792"/>
            <a:ext cx="41148" cy="3310128"/>
          </a:xfrm>
          <a:prstGeom prst="rect">
            <a:avLst/>
          </a:prstGeom>
          <a:solidFill>
            <a:srgbClr val="71D5DD"/>
          </a:solidFill>
          <a:ln w="8890">
            <a:solidFill>
              <a:srgbClr val="71D5DD"/>
            </a:solidFill>
            <a:prstDash val="solid"/>
          </a:ln>
        </p:spPr>
        <p:txBody>
          <a:bodyPr/>
          <a:p/>
        </p:txBody>
      </p:sp>
      <p:sp>
        <p:nvSpPr>
          <p:cNvPr id="12" name="Text 10"/>
          <p:cNvSpPr txBox="1"/>
          <p:nvPr/>
        </p:nvSpPr>
        <p:spPr>
          <a:xfrm>
            <a:off x="4524248" y="1975104"/>
            <a:ext cx="3134360" cy="557784"/>
          </a:xfrm>
          <a:prstGeom prst="rect">
            <a:avLst/>
          </a:prstGeom>
          <a:noFill/>
          <a:ln/>
        </p:spPr>
        <p:txBody>
          <a:bodyPr wrap="square" lIns="0" tIns="0" rIns="0" bIns="0" rtlCol="0" anchor="t"/>
          <a:lstStyle/>
          <a:p>
            <a:pPr algn="l" indent="0" marL="0">
              <a:lnSpc>
                <a:spcPct val="104000"/>
              </a:lnSpc>
              <a:buNone/>
            </a:pPr>
            <a:r>
              <a:rPr lang="en-US" sz="1540" b="1" dirty="0">
                <a:solidFill>
                  <a:srgbClr val="71D5DD"/>
                </a:solidFill>
                <a:latin typeface="Arial" pitchFamily="34" charset="0"/>
                <a:ea typeface="Arial" pitchFamily="34" charset="-122"/>
                <a:cs typeface="Arial" pitchFamily="34" charset="-120"/>
              </a:rPr>
              <a:t>LINUX RUNTIME</a:t>
            </a:r>
            <a:endParaRPr lang="en-US" sz="1540" dirty="0"/>
          </a:p>
        </p:txBody>
      </p:sp>
      <p:sp>
        <p:nvSpPr>
          <p:cNvPr id="13" name="Text 11"/>
          <p:cNvSpPr txBox="1"/>
          <p:nvPr/>
        </p:nvSpPr>
        <p:spPr>
          <a:xfrm>
            <a:off x="4524248" y="2642616"/>
            <a:ext cx="3134360" cy="2267712"/>
          </a:xfrm>
          <a:prstGeom prst="rect">
            <a:avLst/>
          </a:prstGeom>
          <a:noFill/>
          <a:ln/>
        </p:spPr>
        <p:txBody>
          <a:bodyPr wrap="square" lIns="0" tIns="0" rIns="0" bIns="0" rtlCol="0" anchor="t"/>
          <a:lstStyle/>
          <a:p>
            <a:pPr algn="l" indent="0" marL="0">
              <a:lnSpc>
                <a:spcPct val="104000"/>
              </a:lnSpc>
              <a:buNone/>
            </a:pPr>
            <a:r>
              <a:rPr lang="en-US" sz="1800" dirty="0">
                <a:solidFill>
                  <a:srgbClr val="F4F7FB"/>
                </a:solidFill>
                <a:latin typeface="Arial" pitchFamily="34" charset="0"/>
                <a:ea typeface="Arial" pitchFamily="34" charset="-122"/>
                <a:cs typeface="Arial" pitchFamily="34" charset="-120"/>
              </a:rPr>
              <a:t>EXEC · execve(2)</a:t>
            </a:r>
            <a:endParaRPr lang="en-US" sz="1800" dirty="0"/>
          </a:p>
          <a:p>
            <a:pPr algn="l" indent="0" marL="0">
              <a:lnSpc>
                <a:spcPct val="104000"/>
              </a:lnSpc>
              <a:buNone/>
            </a:pPr>
            <a:r>
              <a:rPr lang="en-US" sz="1800" dirty="0">
                <a:solidFill>
                  <a:srgbClr val="F4F7FB"/>
                </a:solidFill>
                <a:latin typeface="Arial" pitchFamily="34" charset="0"/>
                <a:ea typeface="Arial" pitchFamily="34" charset="-122"/>
                <a:cs typeface="Arial" pitchFamily="34" charset="-120"/>
              </a:rPr>
              <a:t>DYNL · ld.so(8)</a:t>
            </a:r>
            <a:endParaRPr lang="en-US" sz="1800" dirty="0"/>
          </a:p>
          <a:p>
            <a:pPr algn="l" indent="0" marL="0">
              <a:lnSpc>
                <a:spcPct val="104000"/>
              </a:lnSpc>
              <a:buNone/>
            </a:pPr>
            <a:r>
              <a:rPr lang="en-US" sz="1800" dirty="0">
                <a:solidFill>
                  <a:srgbClr val="F4F7FB"/>
                </a:solidFill>
                <a:latin typeface="Arial" pitchFamily="34" charset="0"/>
                <a:ea typeface="Arial" pitchFamily="34" charset="-122"/>
                <a:cs typeface="Arial" pitchFamily="34" charset="-120"/>
              </a:rPr>
              <a:t>MMAP · mmap(2)</a:t>
            </a:r>
            <a:endParaRPr lang="en-US" sz="1800" dirty="0"/>
          </a:p>
          <a:p>
            <a:pPr algn="l" indent="0" marL="0">
              <a:lnSpc>
                <a:spcPct val="104000"/>
              </a:lnSpc>
              <a:buNone/>
            </a:pPr>
            <a:r>
              <a:rPr lang="en-US" sz="1800" dirty="0">
                <a:solidFill>
                  <a:srgbClr val="F4F7FB"/>
                </a:solidFill>
                <a:latin typeface="Arial" pitchFamily="34" charset="0"/>
                <a:ea typeface="Arial" pitchFamily="34" charset="-122"/>
                <a:cs typeface="Arial" pitchFamily="34" charset="-120"/>
              </a:rPr>
              <a:t>W / EXIT · write(2), exit(3)</a:t>
            </a:r>
            <a:endParaRPr lang="en-US" sz="1800" dirty="0"/>
          </a:p>
        </p:txBody>
      </p:sp>
      <p:sp>
        <p:nvSpPr>
          <p:cNvPr id="14" name="Shape 12"/>
          <p:cNvSpPr/>
          <p:nvPr/>
        </p:nvSpPr>
        <p:spPr>
          <a:xfrm>
            <a:off x="8079232" y="1764792"/>
            <a:ext cx="3564128" cy="3310128"/>
          </a:xfrm>
          <a:prstGeom prst="rect">
            <a:avLst/>
          </a:prstGeom>
          <a:solidFill>
            <a:srgbClr val="142238"/>
          </a:solidFill>
          <a:ln w="8890">
            <a:solidFill>
              <a:srgbClr val="2B415A"/>
            </a:solidFill>
            <a:prstDash val="solid"/>
          </a:ln>
        </p:spPr>
        <p:txBody>
          <a:bodyPr/>
          <a:p/>
        </p:txBody>
      </p:sp>
      <p:sp>
        <p:nvSpPr>
          <p:cNvPr id="15" name="Shape 13"/>
          <p:cNvSpPr/>
          <p:nvPr/>
        </p:nvSpPr>
        <p:spPr>
          <a:xfrm>
            <a:off x="8079232" y="1764792"/>
            <a:ext cx="41148" cy="3310128"/>
          </a:xfrm>
          <a:prstGeom prst="rect">
            <a:avLst/>
          </a:prstGeom>
          <a:solidFill>
            <a:srgbClr val="71D5DD"/>
          </a:solidFill>
          <a:ln w="8890">
            <a:solidFill>
              <a:srgbClr val="71D5DD"/>
            </a:solidFill>
            <a:prstDash val="solid"/>
          </a:ln>
        </p:spPr>
        <p:txBody>
          <a:bodyPr/>
          <a:p/>
        </p:txBody>
      </p:sp>
      <p:sp>
        <p:nvSpPr>
          <p:cNvPr id="16" name="Text 14"/>
          <p:cNvSpPr txBox="1"/>
          <p:nvPr/>
        </p:nvSpPr>
        <p:spPr>
          <a:xfrm>
            <a:off x="8289544" y="1975104"/>
            <a:ext cx="3134360" cy="557784"/>
          </a:xfrm>
          <a:prstGeom prst="rect">
            <a:avLst/>
          </a:prstGeom>
          <a:noFill/>
          <a:ln/>
        </p:spPr>
        <p:txBody>
          <a:bodyPr wrap="square" lIns="0" tIns="0" rIns="0" bIns="0" rtlCol="0" anchor="t"/>
          <a:lstStyle/>
          <a:p>
            <a:pPr algn="l" indent="0" marL="0">
              <a:lnSpc>
                <a:spcPct val="104000"/>
              </a:lnSpc>
              <a:buNone/>
            </a:pPr>
            <a:r>
              <a:rPr lang="en-US" sz="1540" b="1" dirty="0">
                <a:solidFill>
                  <a:srgbClr val="71D5DD"/>
                </a:solidFill>
                <a:latin typeface="Arial" pitchFamily="34" charset="0"/>
                <a:ea typeface="Arial" pitchFamily="34" charset="-122"/>
                <a:cs typeface="Arial" pitchFamily="34" charset="-120"/>
              </a:rPr>
              <a:t>DIAGNOSTICS</a:t>
            </a:r>
            <a:endParaRPr lang="en-US" sz="1540" dirty="0"/>
          </a:p>
        </p:txBody>
      </p:sp>
      <p:sp>
        <p:nvSpPr>
          <p:cNvPr id="17" name="Text 15"/>
          <p:cNvSpPr txBox="1"/>
          <p:nvPr/>
        </p:nvSpPr>
        <p:spPr>
          <a:xfrm>
            <a:off x="8289544" y="2642616"/>
            <a:ext cx="3134360" cy="2267712"/>
          </a:xfrm>
          <a:prstGeom prst="rect">
            <a:avLst/>
          </a:prstGeom>
          <a:noFill/>
          <a:ln/>
        </p:spPr>
        <p:txBody>
          <a:bodyPr wrap="square" lIns="0" tIns="0" rIns="0" bIns="0" rtlCol="0" anchor="t"/>
          <a:lstStyle/>
          <a:p>
            <a:pPr algn="l" indent="0" marL="0">
              <a:lnSpc>
                <a:spcPct val="104000"/>
              </a:lnSpc>
              <a:buNone/>
            </a:pPr>
            <a:r>
              <a:rPr lang="en-US" sz="1800" dirty="0">
                <a:solidFill>
                  <a:srgbClr val="F4F7FB"/>
                </a:solidFill>
                <a:latin typeface="Arial" pitchFamily="34" charset="0"/>
                <a:ea typeface="Arial" pitchFamily="34" charset="-122"/>
                <a:cs typeface="Arial" pitchFamily="34" charset="-120"/>
              </a:rPr>
              <a:t>ASAN · Clang</a:t>
            </a:r>
            <a:endParaRPr lang="en-US" sz="1800" dirty="0"/>
          </a:p>
          <a:p>
            <a:pPr algn="l" indent="0" marL="0">
              <a:lnSpc>
                <a:spcPct val="104000"/>
              </a:lnSpc>
              <a:buNone/>
            </a:pPr>
            <a:r>
              <a:rPr lang="en-US" sz="1800" dirty="0">
                <a:solidFill>
                  <a:srgbClr val="F4F7FB"/>
                </a:solidFill>
                <a:latin typeface="Arial" pitchFamily="34" charset="0"/>
                <a:ea typeface="Arial" pitchFamily="34" charset="-122"/>
                <a:cs typeface="Arial" pitchFamily="34" charset="-120"/>
              </a:rPr>
              <a:t>AddressSanitizer</a:t>
            </a:r>
            <a:endParaRPr lang="en-US" sz="1800" dirty="0"/>
          </a:p>
          <a:p>
            <a:pPr algn="l" indent="0" marL="0">
              <a:lnSpc>
                <a:spcPct val="104000"/>
              </a:lnSpc>
              <a:buNone/>
            </a:pPr>
            <a:r>
              <a:rPr lang="en-US" sz="1800" dirty="0">
                <a:solidFill>
                  <a:srgbClr val="F4F7FB"/>
                </a:solidFill>
                <a:latin typeface="Arial" pitchFamily="34" charset="0"/>
                <a:ea typeface="Arial" pitchFamily="34" charset="-122"/>
                <a:cs typeface="Arial" pitchFamily="34" charset="-120"/>
              </a:rPr>
              <a:t>UBSAN · Clang</a:t>
            </a:r>
            <a:endParaRPr lang="en-US" sz="1800" dirty="0"/>
          </a:p>
          <a:p>
            <a:pPr algn="l" indent="0" marL="0">
              <a:lnSpc>
                <a:spcPct val="104000"/>
              </a:lnSpc>
              <a:buNone/>
            </a:pPr>
            <a:r>
              <a:rPr lang="en-US" sz="1800" dirty="0">
                <a:solidFill>
                  <a:srgbClr val="F4F7FB"/>
                </a:solidFill>
                <a:latin typeface="Arial" pitchFamily="34" charset="0"/>
                <a:ea typeface="Arial" pitchFamily="34" charset="-122"/>
                <a:cs typeface="Arial" pitchFamily="34" charset="-120"/>
              </a:rPr>
              <a:t>UndefinedBehaviorSanitizer</a:t>
            </a:r>
            <a:endParaRPr lang="en-US" sz="1800" dirty="0"/>
          </a:p>
          <a:p>
            <a:pPr algn="l" indent="0" marL="0">
              <a:lnSpc>
                <a:spcPct val="104000"/>
              </a:lnSpc>
              <a:buNone/>
            </a:pPr>
            <a:endParaRPr lang="en-US" sz="1800" dirty="0"/>
          </a:p>
          <a:p>
            <a:pPr algn="l" indent="0" marL="0">
              <a:lnSpc>
                <a:spcPct val="104000"/>
              </a:lnSpc>
              <a:buNone/>
            </a:pPr>
            <a:r>
              <a:rPr lang="en-US" sz="1800" dirty="0">
                <a:solidFill>
                  <a:srgbClr val="F4F7FB"/>
                </a:solidFill>
                <a:latin typeface="Arial" pitchFamily="34" charset="0"/>
                <a:ea typeface="Arial" pitchFamily="34" charset="-122"/>
                <a:cs typeface="Arial" pitchFamily="34" charset="-120"/>
              </a:rPr>
              <a:t>Limits: platform-specific rules;</a:t>
            </a:r>
            <a:endParaRPr lang="en-US" sz="1800" dirty="0"/>
          </a:p>
          <a:p>
            <a:pPr algn="l" indent="0" marL="0">
              <a:lnSpc>
                <a:spcPct val="104000"/>
              </a:lnSpc>
              <a:buNone/>
            </a:pPr>
            <a:r>
              <a:rPr lang="en-US" sz="1800" dirty="0">
                <a:solidFill>
                  <a:srgbClr val="F4F7FB"/>
                </a:solidFill>
                <a:latin typeface="Arial" pitchFamily="34" charset="0"/>
                <a:ea typeface="Arial" pitchFamily="34" charset="-122"/>
                <a:cs typeface="Arial" pitchFamily="34" charset="-120"/>
              </a:rPr>
              <a:t>tests are not complete proofs.</a:t>
            </a:r>
            <a:endParaRPr lang="en-US" sz="1800" dirty="0"/>
          </a:p>
        </p:txBody>
      </p:sp>
      <p:sp>
        <p:nvSpPr>
          <p:cNvPr id="18" name="Text 16"/>
          <p:cNvSpPr txBox="1"/>
          <p:nvPr/>
        </p:nvSpPr>
        <p:spPr>
          <a:xfrm>
            <a:off x="548640" y="5193792"/>
            <a:ext cx="11094720" cy="274320"/>
          </a:xfrm>
          <a:prstGeom prst="rect">
            <a:avLst/>
          </a:prstGeom>
          <a:noFill/>
          <a:ln/>
        </p:spPr>
        <p:txBody>
          <a:bodyPr wrap="square" lIns="0" tIns="0" rIns="0" bIns="0" rtlCol="0" anchor="t"/>
          <a:lstStyle/>
          <a:p>
            <a:pPr algn="l" indent="0" marL="0">
              <a:lnSpc>
                <a:spcPct val="104000"/>
              </a:lnSpc>
              <a:buNone/>
            </a:pPr>
            <a:r>
              <a:rPr lang="en-US" sz="1140" dirty="0">
                <a:solidFill>
                  <a:srgbClr val="B3C3D6"/>
                </a:solidFill>
                <a:latin typeface="Arial" pitchFamily="34" charset="0"/>
                <a:ea typeface="Arial" pitchFamily="34" charset="-122"/>
                <a:cs typeface="Arial" pitchFamily="34" charset="-120"/>
              </a:rPr>
              <a:t>The attached deck determines coverage. Primary documentation supports the explicitly added technical depth.</a:t>
            </a:r>
            <a:endParaRPr lang="en-US" sz="1140" dirty="0"/>
          </a:p>
        </p:txBody>
      </p:sp>
      <p:sp>
        <p:nvSpPr>
          <p:cNvPr id="23" name="Text 21"/>
          <p:cNvSpPr txBox="1"/>
          <p:nvPr/>
        </p:nvSpPr>
        <p:spPr>
          <a:xfrm>
            <a:off x="548640" y="6601968"/>
            <a:ext cx="10241280" cy="128016"/>
          </a:xfrm>
          <a:prstGeom prst="rect">
            <a:avLst/>
          </a:prstGeom>
          <a:noFill/>
          <a:ln/>
        </p:spPr>
        <p:txBody>
          <a:bodyPr wrap="square" lIns="0" tIns="0" rIns="0" bIns="0" rtlCol="0" anchor="t"/>
          <a:lstStyle/>
          <a:p>
            <a:pPr algn="l" indent="0" marL="0">
              <a:lnSpc>
                <a:spcPct val="104000"/>
              </a:lnSpc>
              <a:buNone/>
            </a:pPr>
            <a:r>
              <a:rPr lang="en-US" sz="830" dirty="0">
                <a:solidFill>
                  <a:srgbClr val="B3C3D6"/>
                </a:solidFill>
                <a:latin typeface="Arial" pitchFamily="34" charset="0"/>
                <a:ea typeface="Arial" pitchFamily="34" charset="-122"/>
                <a:cs typeface="Arial" pitchFamily="34" charset="-120"/>
              </a:rPr>
              <a:t>Source: original 6, 12, 15, 19, 21 • Graduate extension • [ABI, MS, PH, EXEC, DYNL, MMAP, W, EXIT, ASAN, UBSAN]</a:t>
            </a:r>
            <a:endParaRPr lang="en-US" sz="830" dirty="0"/>
          </a:p>
        </p:txBody>
      </p:sp>
      <p:sp>
        <p:nvSpPr>
          <p:cNvPr id="24" name="Text 22"/>
          <p:cNvSpPr txBox="1"/>
          <p:nvPr/>
        </p:nvSpPr>
        <p:spPr>
          <a:xfrm>
            <a:off x="10917936" y="6565392"/>
            <a:ext cx="722376" cy="219456"/>
          </a:xfrm>
          <a:prstGeom prst="rect">
            <a:avLst/>
          </a:prstGeom>
          <a:noFill/>
          <a:ln/>
        </p:spPr>
        <p:txBody>
          <a:bodyPr wrap="square" lIns="0" tIns="0" rIns="0" bIns="0" rtlCol="0" anchor="t"/>
          <a:lstStyle/>
          <a:p>
            <a:pPr algn="r" indent="0" marL="0">
              <a:lnSpc>
                <a:spcPct val="104000"/>
              </a:lnSpc>
              <a:buNone/>
            </a:pPr>
            <a:r>
              <a:rPr lang="en-US" sz="1050" dirty="0">
                <a:solidFill>
                  <a:srgbClr val="B3C3D6"/>
                </a:solidFill>
                <a:latin typeface="Arial" pitchFamily="34" charset="0"/>
                <a:ea typeface="Arial" pitchFamily="34" charset="-122"/>
                <a:cs typeface="Arial" pitchFamily="34" charset="-120"/>
              </a:rPr>
              <a:t>64 / 64</a:t>
            </a:r>
            <a:endParaRPr lang="en-US" sz="1050" dirty="0"/>
          </a:p>
        </p:txBody>
      </p:sp>
      <p:sp>
        <p:nvSpPr>
          <p:cNvPr id="25" name="Shape 23"/>
          <p:cNvSpPr/>
          <p:nvPr/>
        </p:nvSpPr>
        <p:spPr>
          <a:xfrm>
            <a:off x="0" y="6834226"/>
            <a:ext cx="12192000" cy="23774"/>
          </a:xfrm>
          <a:prstGeom prst="rect">
            <a:avLst/>
          </a:prstGeom>
          <a:solidFill>
            <a:srgbClr val="2B415A"/>
          </a:solidFill>
          <a:ln w="8890">
            <a:solidFill>
              <a:srgbClr val="2B415A"/>
            </a:solidFill>
            <a:prstDash val="solid"/>
          </a:ln>
        </p:spPr>
        <p:txBody>
          <a:bodyPr/>
          <a:p/>
        </p:txBody>
      </p:sp>
      <p:sp>
        <p:nvSpPr>
          <p:cNvPr id="26" name="Shape 24"/>
          <p:cNvSpPr/>
          <p:nvPr/>
        </p:nvSpPr>
        <p:spPr>
          <a:xfrm>
            <a:off x="0" y="6834226"/>
            <a:ext cx="12192000" cy="23774"/>
          </a:xfrm>
          <a:prstGeom prst="rect">
            <a:avLst/>
          </a:prstGeom>
          <a:solidFill>
            <a:srgbClr val="71D5DD"/>
          </a:solidFill>
          <a:ln w="8890">
            <a:solidFill>
              <a:srgbClr val="71D5DD"/>
            </a:solidFill>
            <a:prstDash val="solid"/>
          </a:ln>
        </p:spPr>
        <p:txBody>
          <a:body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64</Slides>
  <Notes>64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64</vt:i4>
      </vt:variant>
    </vt:vector>
  </HeadingPairs>
  <TitlesOfParts>
    <vt:vector size="6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vector>
  </TitlesOfParts>
  <Company>Charles Dorner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Systems Programming and Machine Organization — Chapter 1 Graduate Lecture</dc:title>
  <dc:subject>Chapter 1 graduate lecture with sixth-grade explanations on every slide</dc:subject>
  <dc:creator>Charles Dorner</dc:creator>
  <cp:lastModifiedBy>Charles Dorner</cp:lastModifiedBy>
  <cp:revision>1</cp:revision>
  <dcterms:created xsi:type="dcterms:W3CDTF">2026-09-23T19:27:06Z</dcterms:created>
  <dcterms:modified xsi:type="dcterms:W3CDTF">2026-09-23T19:27:06Z</dcterms:modified>
</cp:coreProperties>
</file>