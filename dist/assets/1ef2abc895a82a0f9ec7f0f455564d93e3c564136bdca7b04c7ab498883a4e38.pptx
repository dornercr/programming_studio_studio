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31 — Cache Replacement</a:t>
            </a:r>
          </a:p>
          <a:p/>
          <a:p>
            <a:r>
              <a:t>LECTURE NARRATION</a:t>
            </a:r>
          </a:p>
          <a:p>
            <a:r>
              <a:t>When a set is full and a new block must be installed, the cache chooses a resident victim. Replacement policy attempts to retain blocks that will be useful again. Because future accesses are usually unknown, practical policies use limited history and inexpensive approximations. The policies in this chapter apply to abstract caches and also illuminate software caches, page replacement, and bounded object stores. Actual processor caches need not implement exact LRU. The best policy depends on the workload, implementation cost, and information available.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when a set is full and a new block must be installed, the cache chooses a resident victim.</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When a set is full and a new block must be installed, the cache chooses a resident victim. Replacement policy attempts to retain blocks that will be useful again. Because future accesses are usually unknown, practical policies use limited history and inexpensive approximations. The policies in this chapter apply to abstract caches and also illuminate software caches, page replacement, and bounded object stores. Actual processor caches need not implement exact LRU. The best policy depends on the workload, implementation cost, and information available.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when a set is full and a new block must be installed, the cache chooses a resident victim.</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31.1 FIFO 31.2 LRU 31.3 Optimal replacement 31.4 Eviction ...plus 6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31.1 FIFO 31.2 LRU 31.3 Optimal replacement 31.4 Eviction ...plus 6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31.1 FIFO</a:t>
            </a:r>
          </a:p>
          <a:p/>
          <a:p>
            <a:r>
              <a:t>LECTURE NARRATION</a:t>
            </a:r>
          </a:p>
          <a:p>
            <a:r>
              <a:t>First in, first out evicts the block that entered earliest among the eligible residents. Hits do not refresh its position. FIFO is simple because insertion age, rather than every access, determines replacement order. Insertion age can be a poor predictor of future use. A frequently accessed old block may be evicted while a newer block that will never be reused remains. FIFO also lacks the general stack property associated with exact LRU, so increasing capacity does not guarantee fewer misses for every trace.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first in, first out evicts the block that entered earliest among the eligible residents.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31.1 FIFO — Deep Dive</a:t>
            </a:r>
          </a:p>
          <a:p/>
          <a:p>
            <a:r>
              <a:t>LECTURE NARRATION</a:t>
            </a:r>
          </a:p>
          <a:p>
            <a:r>
              <a:t>First in, first out evicts the block that entered earliest among the eligible residents. Hits do not refresh its position. FIFO is simple because insertion age, rather than every access, determines replacement order. Insertion age can be a poor predictor of future use. A frequently accessed old block may be evicted while a newer block that will never be reused remains. FIFO also lacks the general stack property associated with exact LRU, so increasing capacity does not guarantee fewer misses for every trace.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first in, first out evicts the block that entered earliest among the eligible residents.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31.2 LRU</a:t>
            </a:r>
          </a:p>
          <a:p/>
          <a:p>
            <a:r>
              <a:t>LECTURE NARRATION</a:t>
            </a:r>
          </a:p>
          <a:p>
            <a:r>
              <a:t>Least recently used evicts the block whose most recent access is oldest. Hits refresh recency. It exploits the assumption that recently used blocks are more likely to be used again soon. Exact LRU requires tracking access order, which has a cost. Hardware often uses approximations or other policies. LRU can also perform poorly on cyclic scans slightly larger than capacity: every returning block may have just been evicted.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least recently used evicts the block whose most recent access is oldest.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31.2 LRU — Deep Dive</a:t>
            </a:r>
          </a:p>
          <a:p/>
          <a:p>
            <a:r>
              <a:t>LECTURE NARRATION</a:t>
            </a:r>
          </a:p>
          <a:p>
            <a:r>
              <a:t>Least recently used evicts the block whose most recent access is oldest. Hits refresh recency. It exploits the assumption that recently used blocks are more likely to be used again soon. Exact LRU requires tracking access order, which has a cost. Hardware often uses approximations or other policies. LRU can also perform poorly on cyclic scans slightly larger than capacity: every returning block may have just been evicted.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least recently used evicts the block whose most recent access is oldest.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31.3 Optimal replacement</a:t>
            </a:r>
          </a:p>
          <a:p/>
          <a:p>
            <a:r>
              <a:t>LECTURE NARRATION</a:t>
            </a:r>
          </a:p>
          <a:p>
            <a:r>
              <a:t>Optimal replacement evicts the block whose next use lies farthest in the future, or that will never be used again. With a fully known trace, it provides a lower bound on misses for the stated cache model. It is not generally implementable online because future accesses are unknown. Its purpose is comparison: it separates unavoidable misses under the model from misses caused by a practical policy’s limited information. Calling a policy “optimal” requires specifying the objective and assumptions.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optimal replacement evicts the block whose next use lies farthest in the future, or that will never be used again.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31.3 Optimal replacement — Deep Dive</a:t>
            </a:r>
          </a:p>
          <a:p/>
          <a:p>
            <a:r>
              <a:t>LECTURE NARRATION</a:t>
            </a:r>
          </a:p>
          <a:p>
            <a:r>
              <a:t>Optimal replacement evicts the block whose next use lies farthest in the future, or that will never be used again. With a fully known trace, it provides a lower bound on misses for the stated cache model. It is not generally implementable online because future accesses are unknown. Its purpose is comparison: it separates unavoidable misses under the model from misses caused by a practical policy’s limited information. Calling a policy “optimal” requires specifying the objective and assumptions.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optimal replacement evicts the block whose next use lies farthest in the future, or that will never be used again.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31.4 Eviction</a:t>
            </a:r>
          </a:p>
          <a:p/>
          <a:p>
            <a:r>
              <a:t>LECTURE NARRATION</a:t>
            </a:r>
          </a:p>
          <a:p>
            <a:r>
              <a:t>Eviction removes a resident block to make space or satisfy another policy. Its cost depends on the block’s state. A clean copy can often be discarded; a modified copy may require propagation before its only current contents are lost. Eviction can also disrupt future locality. A streaming workload may evict a small hot set and then immediately require that set again. Software techniques such as separating phases or limiting batch size can sometimes reduce this interference.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eviction removes a resident block to make space or satisfy another policy.</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31.4 Eviction — Deep Dive</a:t>
            </a:r>
          </a:p>
          <a:p/>
          <a:p>
            <a:r>
              <a:t>LECTURE NARRATION</a:t>
            </a:r>
          </a:p>
          <a:p>
            <a:r>
              <a:t>Eviction removes a resident block to make space or satisfy another policy. Its cost depends on the block’s state. A clean copy can often be discarded; a modified copy may require propagation before its only current contents are lost. Eviction can also disrupt future locality. A streaming workload may evict a small hot set and then immediately require that set again. Software techniques such as separating phases or limiting batch size can sometimes reduce this interference.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eviction removes a resident block to make space or satisfy another policy.</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31.5 Dirty blocks</a:t>
            </a:r>
          </a:p>
          <a:p/>
          <a:p>
            <a:r>
              <a:t>LECTURE NARRATION</a:t>
            </a:r>
          </a:p>
          <a:p>
            <a:r>
              <a:t>A dirty block contains modifications not yet reflected in the next level according to a write-back policy. Evicting it requires preserving those modifications through the appropriate writeback path. Dirty state therefore adds work beyond fetching the incoming block. Dirty does not mean corrupted. It means newer than the backing copy at the relevant level. The term applies similarly to file-cache pages whose updates have not yet been written according to the filesystem’s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dirty block contains modifications not yet reflected in the next level according to a write-back policy.</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31.5 Dirty blocks — Deep Dive</a:t>
            </a:r>
          </a:p>
          <a:p/>
          <a:p>
            <a:r>
              <a:t>LECTURE NARRATION</a:t>
            </a:r>
          </a:p>
          <a:p>
            <a:r>
              <a:t>A dirty block contains modifications not yet reflected in the next level according to a write-back policy. Evicting it requires preserving those modifications through the appropriate writeback path. Dirty state therefore adds work beyond fetching the incoming block. Dirty does not mean corrupted. It means newer than the backing copy at the relevant level. The term applies similarly to file-cache pages whose updates have not yet been written according to the filesystem’s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dirty block contains modifications not yet reflected in the next level according to a write-back policy.</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31.6 Clean blocks</a:t>
            </a:r>
          </a:p>
          <a:p/>
          <a:p>
            <a:r>
              <a:t>LECTURE NARRATION</a:t>
            </a:r>
          </a:p>
          <a:p>
            <a:r>
              <a:t>A clean block matches the relevant backing copy under the cache’s protocol. It can be discarded without losing unique modifications. A later access may fetch it again if needed. Cleanliness and usefulness are different properties. A clean block may be extremely valuable to retain because it will be reused immediately, while a dirty block may never be referenced again. Replacement policy must balance future usefulness, writeback cost, and implementation constraints.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clean block matches the relevant backing copy under the cache’s protocol.</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31.6 Clean blocks — Deep Dive</a:t>
            </a:r>
          </a:p>
          <a:p/>
          <a:p>
            <a:r>
              <a:t>LECTURE NARRATION</a:t>
            </a:r>
          </a:p>
          <a:p>
            <a:r>
              <a:t>A clean block matches the relevant backing copy under the cache’s protocol. It can be discarded without losing unique modifications. A later access may fetch it again if needed. Cleanliness and usefulness are different properties. A clean block may be extremely valuable to retain because it will be reused immediately, while a dirty block may never be referenced again. Replacement policy must balance future usefulness, writeback cost, and implementation constraints.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clean block matches the relevant backing copy under the cache’s protocol.</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FIFO and LRU choose different victims</a:t>
            </a:r>
          </a:p>
          <a:p/>
          <a:p>
            <a:r>
              <a:t>LECTURE NARRATION</a:t>
            </a:r>
          </a:p>
          <a:p>
            <a:r>
              <a:t>Use a fully associative three-line cache and the block trace: After loading A, B, and C, both caches are full. The next A is a hit. FIFO retains insertion order A, B, C ; LRU updates recency to B, C, A , from oldest to newest. When D arrives, FIFO evicts A, while LRU evicts B. The final A therefore misses under FIFO and hits under LRU. FIFO has five misses and one hit; LRU has four misses and two hits. This trace demonstrates a difference, not a proof that LRU wins on every trace. Another workload can favor a different policy. Now mark A dirty before D arrives. FIFO’s eviction requires writeback of A in a write-back model; LRU’s eviction of clean B does not. The event counts alone still do not yield time: the model must say whether writeback overlaps other work and how much each operation costs.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use a fully associative three-line cache and the block trace: After loading A, B, and C, both caches are full.</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FIFO and LRU choose different victims — Deep Dive</a:t>
            </a:r>
          </a:p>
          <a:p/>
          <a:p>
            <a:r>
              <a:t>LECTURE NARRATION</a:t>
            </a:r>
          </a:p>
          <a:p>
            <a:r>
              <a:t>Use a fully associative three-line cache and the block trace: After loading A, B, and C, both caches are full. The next A is a hit. FIFO retains insertion order A, B, C ; LRU updates recency to B, C, A , from oldest to newest. When D arrives, FIFO evicts A, while LRU evicts B. The final A therefore misses under FIFO and hits under LRU. FIFO has five misses and one hit; LRU has four misses and two hits. This trace demonstrates a difference, not a proof that LRU wins on every trace. Another workload can favor a different policy. Now mark A dirty before D arrives. FIFO’s eviction requires writeback of A in a write-back model; LRU’s eviction of clean B does not. The event counts alone still do not yield time: the model must say whether writeback overlaps other work and how much each operation costs.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use a fully associative three-line cache and the block trace: After loading A, B, and C, both caches are full.</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LRU replacement</a:t>
            </a:r>
          </a:p>
          <a:p/>
          <a:p>
            <a:r>
              <a:t>LECTURE NARRATION</a:t>
            </a:r>
          </a:p>
          <a:p>
            <a:r>
              <a:t>A 2-way set currently holds A and B, with A used most recently. Accessing new block C requires an eviction. Under LRU, B is removed because it has gone unused longer. After the access, the set contains A and C, with C now most recent.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2-way set currently holds A and B, with A used most recently.</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LRU replacement — Deep Dive</a:t>
            </a:r>
          </a:p>
          <a:p/>
          <a:p>
            <a:r>
              <a:t>LECTURE NARRATION</a:t>
            </a:r>
          </a:p>
          <a:p>
            <a:r>
              <a:t>A 2-way set currently holds A and B, with A used most recently. Accessing new block C requires an eviction. Under LRU, B is removed because it has gone unused longer. After the access, the set contains A and C, with C now most recent.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2-way set currently holds A and B, with A used most recently.</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Dirty versus clean eviction</a:t>
            </a:r>
          </a:p>
          <a:p/>
          <a:p>
            <a:r>
              <a:t>LECTURE NARRATION</a:t>
            </a:r>
          </a:p>
          <a:p>
            <a:r>
              <a:t>Evicting a clean cache line can simply discard it because lower memory already has the same data. Evicting a dirty line in a write-back cache requires writing its modified contents to the next level before reuse of the slot. Dirty state therefore changes eviction cost.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evicting a clean cache line can simply discard it because lower memory already has the same data.</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Dirty versus clean eviction — Deep Dive</a:t>
            </a:r>
          </a:p>
          <a:p/>
          <a:p>
            <a:r>
              <a:t>LECTURE NARRATION</a:t>
            </a:r>
          </a:p>
          <a:p>
            <a:r>
              <a:t>Evicting a clean cache line can simply discard it because lower memory already has the same data. Evicting a dirty line in a write-back cache requires writing its modified contents to the next level before reuse of the slot. Dirty state therefore changes eviction cost.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evicting a clean cache line can simply discard it because lower memory already has the same data.</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Guided lab and review</a:t>
            </a:r>
          </a:p>
          <a:p/>
          <a:p>
            <a:r>
              <a:t>LECTURE NARRATION</a:t>
            </a:r>
          </a:p>
          <a:p>
            <a:r>
              <a:t>Lab 31. Simulate the same trace with two lines. Then calculate the optimal policy’s misses with three lines, assuming the complete future trace is known. Review 1. Does an LRU hit change future replacement decisions? Review 2. Why can a dirty eviction cost more than a clean eviction?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31.</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Guided lab and review — Deep Dive</a:t>
            </a:r>
          </a:p>
          <a:p/>
          <a:p>
            <a:r>
              <a:t>LECTURE NARRATION</a:t>
            </a:r>
          </a:p>
          <a:p>
            <a:r>
              <a:t>Lab 31. Simulate the same trace with two lines. Then calculate the optimal policy’s misses with three lines, assuming the complete future trace is known. Review 1. Does an LRU hit change future replacement decisions? Review 2. Why can a dirty eviction cost more than a clean eviction?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31.</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Chapter Synthesis</a:t>
            </a:r>
          </a:p>
          <a:p/>
          <a:p>
            <a:r>
              <a:t>LECTURE NARRATION</a:t>
            </a:r>
          </a:p>
          <a:p>
            <a:r>
              <a:t>The chapter's central subject is cache replacement.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cache replacement.</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Cache Performance.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31 — Cache Replacement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When a set is full and a new block must be installed, the cache chooses a resident victim.</a:t>
            </a:r>
          </a:p>
          <a:p>
            <a:pPr>
              <a:spcAft>
                <a:spcPts val="1100"/>
              </a:spcAft>
              <a:defRPr sz="1900">
                <a:solidFill>
                  <a:srgbClr val="F2F5F8"/>
                </a:solidFill>
              </a:defRPr>
            </a:pPr>
            <a:r>
              <a:t>• Replacement policy attempts to retain blocks that will be useful again.</a:t>
            </a:r>
          </a:p>
          <a:p>
            <a:pPr>
              <a:spcAft>
                <a:spcPts val="1100"/>
              </a:spcAft>
              <a:defRPr sz="1900">
                <a:solidFill>
                  <a:srgbClr val="F2F5F8"/>
                </a:solidFill>
              </a:defRPr>
            </a:pPr>
            <a:r>
              <a:t>• Because future accesses are usually unknown, practical policies use limited history and inexpensive approximations.</a:t>
            </a:r>
          </a:p>
          <a:p>
            <a:pPr>
              <a:spcAft>
                <a:spcPts val="1100"/>
              </a:spcAft>
              <a:defRPr sz="1700">
                <a:solidFill>
                  <a:srgbClr val="F2F5F8"/>
                </a:solidFill>
              </a:defRPr>
            </a:pPr>
            <a:r>
              <a:t>• The policies in this chapter apply to abstract caches and also illuminate software caches, page replacement, and bounded object stores.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Cache Replacement.</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31.1 FIFO</a:t>
            </a:r>
          </a:p>
          <a:p>
            <a:pPr>
              <a:spcAft>
                <a:spcPts val="1100"/>
              </a:spcAft>
              <a:defRPr sz="1900">
                <a:solidFill>
                  <a:srgbClr val="F2F5F8"/>
                </a:solidFill>
              </a:defRPr>
            </a:pPr>
            <a:r>
              <a:t>• 31.2 LRU</a:t>
            </a:r>
          </a:p>
          <a:p>
            <a:pPr>
              <a:spcAft>
                <a:spcPts val="1100"/>
              </a:spcAft>
              <a:defRPr sz="1900">
                <a:solidFill>
                  <a:srgbClr val="F2F5F8"/>
                </a:solidFill>
              </a:defRPr>
            </a:pPr>
            <a:r>
              <a:t>• 31.3 Optimal replacement</a:t>
            </a:r>
          </a:p>
          <a:p>
            <a:pPr>
              <a:spcAft>
                <a:spcPts val="1100"/>
              </a:spcAft>
              <a:defRPr sz="1900">
                <a:solidFill>
                  <a:srgbClr val="F2F5F8"/>
                </a:solidFill>
              </a:defRPr>
            </a:pPr>
            <a:r>
              <a:t>• 31.4 Eviction</a:t>
            </a:r>
          </a:p>
          <a:p>
            <a:pPr>
              <a:spcAft>
                <a:spcPts val="1100"/>
              </a:spcAft>
              <a:defRPr sz="1900">
                <a:solidFill>
                  <a:srgbClr val="F2F5F8"/>
                </a:solidFill>
              </a:defRPr>
            </a:pPr>
            <a:r>
              <a:t>• ...plus 6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31.1 FIFO</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First in, first out evicts the block that entered earliest among the eligible residents.</a:t>
            </a:r>
          </a:p>
          <a:p>
            <a:pPr>
              <a:spcAft>
                <a:spcPts val="1100"/>
              </a:spcAft>
              <a:defRPr sz="1900">
                <a:solidFill>
                  <a:srgbClr val="F2F5F8"/>
                </a:solidFill>
              </a:defRPr>
            </a:pPr>
            <a:r>
              <a:t>• Hits do not refresh its position.</a:t>
            </a:r>
          </a:p>
          <a:p>
            <a:pPr>
              <a:spcAft>
                <a:spcPts val="1100"/>
              </a:spcAft>
              <a:defRPr sz="1900">
                <a:solidFill>
                  <a:srgbClr val="F2F5F8"/>
                </a:solidFill>
              </a:defRPr>
            </a:pPr>
            <a:r>
              <a:t>• FIFO is simple because insertion age, rather than every access, determines replacement order.</a:t>
            </a:r>
          </a:p>
          <a:p>
            <a:pPr>
              <a:spcAft>
                <a:spcPts val="1100"/>
              </a:spcAft>
              <a:defRPr sz="1900">
                <a:solidFill>
                  <a:srgbClr val="F2F5F8"/>
                </a:solidFill>
              </a:defRPr>
            </a:pPr>
            <a:r>
              <a:t>• Insertion age can be a poor predictor of future use.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31.1 FIFO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Insertion age can be a poor predictor of future use.</a:t>
            </a:r>
          </a:p>
          <a:p>
            <a:pPr>
              <a:spcAft>
                <a:spcPts val="1100"/>
              </a:spcAft>
              <a:defRPr sz="1900">
                <a:solidFill>
                  <a:srgbClr val="F2F5F8"/>
                </a:solidFill>
              </a:defRPr>
            </a:pPr>
            <a:r>
              <a:t>• A frequently accessed old block may be evicted while a newer block that will never be reused remains.</a:t>
            </a:r>
          </a:p>
          <a:p>
            <a:pPr>
              <a:spcAft>
                <a:spcPts val="1100"/>
              </a:spcAft>
              <a:defRPr sz="1700">
                <a:solidFill>
                  <a:srgbClr val="F2F5F8"/>
                </a:solidFill>
              </a:defRPr>
            </a:pPr>
            <a:r>
              <a:t>• FIFO also lacks the general stack property associated with exact LRU, so increasing capacity does not guarantee fewer misses for every trace.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31.2 LRU</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Least recently used evicts the block whose most recent access is oldest.</a:t>
            </a:r>
          </a:p>
          <a:p>
            <a:pPr>
              <a:spcAft>
                <a:spcPts val="1100"/>
              </a:spcAft>
              <a:defRPr sz="1900">
                <a:solidFill>
                  <a:srgbClr val="F2F5F8"/>
                </a:solidFill>
              </a:defRPr>
            </a:pPr>
            <a:r>
              <a:t>• Hits refresh recency.</a:t>
            </a:r>
          </a:p>
          <a:p>
            <a:pPr>
              <a:spcAft>
                <a:spcPts val="1100"/>
              </a:spcAft>
              <a:defRPr sz="1900">
                <a:solidFill>
                  <a:srgbClr val="F2F5F8"/>
                </a:solidFill>
              </a:defRPr>
            </a:pPr>
            <a:r>
              <a:t>• It exploits the assumption that recently used blocks are more likely to be used again soon.</a:t>
            </a:r>
          </a:p>
          <a:p>
            <a:pPr>
              <a:spcAft>
                <a:spcPts val="1100"/>
              </a:spcAft>
              <a:defRPr sz="1900">
                <a:solidFill>
                  <a:srgbClr val="F2F5F8"/>
                </a:solidFill>
              </a:defRPr>
            </a:pPr>
            <a:r>
              <a:t>• Exact LRU requires tracking access order, which has a cost.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31.2 LRU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Exact LRU requires tracking access order, which has a cost.</a:t>
            </a:r>
          </a:p>
          <a:p>
            <a:pPr>
              <a:spcAft>
                <a:spcPts val="1100"/>
              </a:spcAft>
              <a:defRPr sz="1900">
                <a:solidFill>
                  <a:srgbClr val="F2F5F8"/>
                </a:solidFill>
              </a:defRPr>
            </a:pPr>
            <a:r>
              <a:t>• Hardware often uses approximations or other policies.</a:t>
            </a:r>
          </a:p>
          <a:p>
            <a:pPr>
              <a:spcAft>
                <a:spcPts val="1100"/>
              </a:spcAft>
              <a:defRPr sz="1700">
                <a:solidFill>
                  <a:srgbClr val="F2F5F8"/>
                </a:solidFill>
              </a:defRPr>
            </a:pPr>
            <a:r>
              <a:t>• LRU can also perform poorly on cyclic scans slightly larger than capacity: every returning block may have just been evicted.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31.3 Optimal replacement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Optimal replacement evicts the block whose next use lies farthest in the future, or that will never be used again.</a:t>
            </a:r>
          </a:p>
          <a:p>
            <a:pPr>
              <a:spcAft>
                <a:spcPts val="1100"/>
              </a:spcAft>
              <a:defRPr sz="1900">
                <a:solidFill>
                  <a:srgbClr val="F2F5F8"/>
                </a:solidFill>
              </a:defRPr>
            </a:pPr>
            <a:r>
              <a:t>• With a fully known trace, it provides a lower bound on misses for the stated cache model.</a:t>
            </a:r>
          </a:p>
          <a:p>
            <a:pPr>
              <a:spcAft>
                <a:spcPts val="1100"/>
              </a:spcAft>
              <a:defRPr sz="1900">
                <a:solidFill>
                  <a:srgbClr val="F2F5F8"/>
                </a:solidFill>
              </a:defRPr>
            </a:pPr>
            <a:r>
              <a:t>• It is not generally implementable online because future accesses are unknown.</a:t>
            </a:r>
          </a:p>
          <a:p>
            <a:pPr>
              <a:spcAft>
                <a:spcPts val="1100"/>
              </a:spcAft>
              <a:defRPr sz="1700">
                <a:solidFill>
                  <a:srgbClr val="F2F5F8"/>
                </a:solidFill>
              </a:defRPr>
            </a:pPr>
            <a:r>
              <a:t>• Its purpose is comparison: it separates unavoidable misses under the model from misses caused by a practical policy’s limited information.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31.3 Optimal replacement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It is not generally implementable online because future accesses are unknown.</a:t>
            </a:r>
          </a:p>
          <a:p>
            <a:pPr>
              <a:spcAft>
                <a:spcPts val="1100"/>
              </a:spcAft>
              <a:defRPr sz="1700">
                <a:solidFill>
                  <a:srgbClr val="F2F5F8"/>
                </a:solidFill>
              </a:defRPr>
            </a:pPr>
            <a:r>
              <a:t>• Its purpose is comparison: it separates unavoidable misses under the model from misses caused by a practical policy’s limited information.</a:t>
            </a:r>
          </a:p>
          <a:p>
            <a:pPr>
              <a:spcAft>
                <a:spcPts val="1100"/>
              </a:spcAft>
              <a:defRPr sz="1900">
                <a:solidFill>
                  <a:srgbClr val="F2F5F8"/>
                </a:solidFill>
              </a:defRPr>
            </a:pPr>
            <a:r>
              <a:t>• Calling a policy “optimal” requires specifying the objective and assumptions.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31.4 Eviction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Eviction removes a resident block to make space or satisfy another policy.</a:t>
            </a:r>
          </a:p>
          <a:p>
            <a:pPr>
              <a:spcAft>
                <a:spcPts val="1100"/>
              </a:spcAft>
              <a:defRPr sz="1900">
                <a:solidFill>
                  <a:srgbClr val="F2F5F8"/>
                </a:solidFill>
              </a:defRPr>
            </a:pPr>
            <a:r>
              <a:t>• Its cost depends on the block’s state.</a:t>
            </a:r>
          </a:p>
          <a:p>
            <a:pPr>
              <a:spcAft>
                <a:spcPts val="1100"/>
              </a:spcAft>
              <a:defRPr sz="1900">
                <a:solidFill>
                  <a:srgbClr val="F2F5F8"/>
                </a:solidFill>
              </a:defRPr>
            </a:pPr>
            <a:r>
              <a:t>• A clean copy can often be discarded; a modified copy may require propagation before its only current contents are lost.</a:t>
            </a:r>
          </a:p>
          <a:p>
            <a:pPr>
              <a:spcAft>
                <a:spcPts val="1100"/>
              </a:spcAft>
              <a:defRPr sz="1900">
                <a:solidFill>
                  <a:srgbClr val="F2F5F8"/>
                </a:solidFill>
              </a:defRPr>
            </a:pPr>
            <a:r>
              <a:t>• Eviction can also disrupt future locality.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31.4 Eviction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Eviction can also disrupt future locality.</a:t>
            </a:r>
          </a:p>
          <a:p>
            <a:pPr>
              <a:spcAft>
                <a:spcPts val="1100"/>
              </a:spcAft>
              <a:defRPr sz="1900">
                <a:solidFill>
                  <a:srgbClr val="F2F5F8"/>
                </a:solidFill>
              </a:defRPr>
            </a:pPr>
            <a:r>
              <a:t>• A streaming workload may evict a small hot set and then immediately require that set again.</a:t>
            </a:r>
          </a:p>
          <a:p>
            <a:pPr>
              <a:spcAft>
                <a:spcPts val="1100"/>
              </a:spcAft>
              <a:defRPr sz="1900">
                <a:solidFill>
                  <a:srgbClr val="F2F5F8"/>
                </a:solidFill>
              </a:defRPr>
            </a:pPr>
            <a:r>
              <a:t>• Software techniques such as separating phases or limiting batch size can sometimes reduce this interference.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31.5 Dirty blocks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dirty block contains modifications not yet reflected in the next level according to a write-back policy.</a:t>
            </a:r>
          </a:p>
          <a:p>
            <a:pPr>
              <a:spcAft>
                <a:spcPts val="1100"/>
              </a:spcAft>
              <a:defRPr sz="1900">
                <a:solidFill>
                  <a:srgbClr val="F2F5F8"/>
                </a:solidFill>
              </a:defRPr>
            </a:pPr>
            <a:r>
              <a:t>• Evicting it requires preserving those modifications through the appropriate writeback path.</a:t>
            </a:r>
          </a:p>
          <a:p>
            <a:pPr>
              <a:spcAft>
                <a:spcPts val="1100"/>
              </a:spcAft>
              <a:defRPr sz="1900">
                <a:solidFill>
                  <a:srgbClr val="F2F5F8"/>
                </a:solidFill>
              </a:defRPr>
            </a:pPr>
            <a:r>
              <a:t>• Dirty state therefore adds work beyond fetching the incoming block.</a:t>
            </a:r>
          </a:p>
          <a:p>
            <a:pPr>
              <a:spcAft>
                <a:spcPts val="1100"/>
              </a:spcAft>
              <a:defRPr sz="1900">
                <a:solidFill>
                  <a:srgbClr val="F2F5F8"/>
                </a:solidFill>
              </a:defRPr>
            </a:pPr>
            <a:r>
              <a:t>• Dirty does not mean corrupted.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31.5 Dirty blocks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Dirty does not mean corrupted.</a:t>
            </a:r>
          </a:p>
          <a:p>
            <a:pPr>
              <a:spcAft>
                <a:spcPts val="1100"/>
              </a:spcAft>
              <a:defRPr sz="1900">
                <a:solidFill>
                  <a:srgbClr val="F2F5F8"/>
                </a:solidFill>
              </a:defRPr>
            </a:pPr>
            <a:r>
              <a:t>• It means newer than the backing copy at the relevant level.</a:t>
            </a:r>
          </a:p>
          <a:p>
            <a:pPr>
              <a:spcAft>
                <a:spcPts val="1100"/>
              </a:spcAft>
              <a:defRPr sz="1700">
                <a:solidFill>
                  <a:srgbClr val="F2F5F8"/>
                </a:solidFill>
              </a:defRPr>
            </a:pPr>
            <a:r>
              <a:t>• The term applies similarly to file-cache pages whose updates have not yet been written according to the filesystem’s policy.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31.6 Clean blocks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clean block matches the relevant backing copy under the cache’s protocol.</a:t>
            </a:r>
          </a:p>
          <a:p>
            <a:pPr>
              <a:spcAft>
                <a:spcPts val="1100"/>
              </a:spcAft>
              <a:defRPr sz="1900">
                <a:solidFill>
                  <a:srgbClr val="F2F5F8"/>
                </a:solidFill>
              </a:defRPr>
            </a:pPr>
            <a:r>
              <a:t>• It can be discarded without losing unique modifications.</a:t>
            </a:r>
          </a:p>
          <a:p>
            <a:pPr>
              <a:spcAft>
                <a:spcPts val="1100"/>
              </a:spcAft>
              <a:defRPr sz="1900">
                <a:solidFill>
                  <a:srgbClr val="F2F5F8"/>
                </a:solidFill>
              </a:defRPr>
            </a:pPr>
            <a:r>
              <a:t>• A later access may fetch it again if needed.</a:t>
            </a:r>
          </a:p>
          <a:p>
            <a:pPr>
              <a:spcAft>
                <a:spcPts val="1100"/>
              </a:spcAft>
              <a:defRPr sz="1900">
                <a:solidFill>
                  <a:srgbClr val="F2F5F8"/>
                </a:solidFill>
              </a:defRPr>
            </a:pPr>
            <a:r>
              <a:t>• Cleanliness and usefulness are different properties.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31.6 Clean blocks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Cleanliness and usefulness are different properties.</a:t>
            </a:r>
          </a:p>
          <a:p>
            <a:pPr>
              <a:spcAft>
                <a:spcPts val="1100"/>
              </a:spcAft>
              <a:defRPr sz="1700">
                <a:solidFill>
                  <a:srgbClr val="F2F5F8"/>
                </a:solidFill>
              </a:defRPr>
            </a:pPr>
            <a:r>
              <a:t>• A clean block may be extremely valuable to retain because it will be reused immediately, while a dirty block may never be referenced again.</a:t>
            </a:r>
          </a:p>
          <a:p>
            <a:pPr>
              <a:spcAft>
                <a:spcPts val="1100"/>
              </a:spcAft>
              <a:defRPr sz="1900">
                <a:solidFill>
                  <a:srgbClr val="F2F5F8"/>
                </a:solidFill>
              </a:defRPr>
            </a:pPr>
            <a:r>
              <a:t>• Replacement policy must balance future usefulness, writeback cost, and implementation constraints.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FIFO and LRU choose different victims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 a fully associative three-line cache and the block trace:</a:t>
            </a:r>
          </a:p>
          <a:p>
            <a:pPr>
              <a:spcAft>
                <a:spcPts val="1100"/>
              </a:spcAft>
              <a:defRPr sz="1900">
                <a:solidFill>
                  <a:srgbClr val="F2F5F8"/>
                </a:solidFill>
              </a:defRPr>
            </a:pPr>
            <a:r>
              <a:t>• After loading A, B, and C, both caches are full.</a:t>
            </a:r>
          </a:p>
          <a:p>
            <a:pPr>
              <a:spcAft>
                <a:spcPts val="1100"/>
              </a:spcAft>
              <a:defRPr sz="1900">
                <a:solidFill>
                  <a:srgbClr val="F2F5F8"/>
                </a:solidFill>
              </a:defRPr>
            </a:pPr>
            <a:r>
              <a:t>• The next A is a hit.</a:t>
            </a:r>
          </a:p>
          <a:p>
            <a:pPr>
              <a:spcAft>
                <a:spcPts val="1100"/>
              </a:spcAft>
              <a:defRPr sz="1900">
                <a:solidFill>
                  <a:srgbClr val="F2F5F8"/>
                </a:solidFill>
              </a:defRPr>
            </a:pPr>
            <a:r>
              <a:t>• FIFO retains insertion order A, B, C ; LRU updates recency to B, C, A , from oldest to newest.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FIFO and LRU choose different victims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After loading A, B, and C, both caches are full.</a:t>
            </a:r>
          </a:p>
          <a:p>
            <a:pPr>
              <a:spcAft>
                <a:spcPts val="1100"/>
              </a:spcAft>
              <a:defRPr sz="1900">
                <a:solidFill>
                  <a:srgbClr val="F2F5F8"/>
                </a:solidFill>
              </a:defRPr>
            </a:pPr>
            <a:r>
              <a:t>• The next A is a hit.</a:t>
            </a:r>
          </a:p>
          <a:p>
            <a:pPr>
              <a:spcAft>
                <a:spcPts val="1100"/>
              </a:spcAft>
              <a:defRPr sz="1900">
                <a:solidFill>
                  <a:srgbClr val="F2F5F8"/>
                </a:solidFill>
              </a:defRPr>
            </a:pPr>
            <a:r>
              <a:t>• FIFO retains insertion order A, B, C ; LRU updates recency to B, C, A , from oldest to newest.</a:t>
            </a:r>
          </a:p>
          <a:p>
            <a:pPr>
              <a:spcAft>
                <a:spcPts val="1100"/>
              </a:spcAft>
              <a:defRPr sz="1900">
                <a:solidFill>
                  <a:srgbClr val="F2F5F8"/>
                </a:solidFill>
              </a:defRPr>
            </a:pPr>
            <a:r>
              <a:t>• When D arrives, FIFO evicts A, while LRU evicts 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LRU replacement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2-way set currently holds A and B, with A used most recently.</a:t>
            </a:r>
          </a:p>
          <a:p>
            <a:pPr>
              <a:spcAft>
                <a:spcPts val="1100"/>
              </a:spcAft>
              <a:defRPr sz="1900">
                <a:solidFill>
                  <a:srgbClr val="F2F5F8"/>
                </a:solidFill>
              </a:defRPr>
            </a:pPr>
            <a:r>
              <a:t>• Accessing new block C requires an eviction.</a:t>
            </a:r>
          </a:p>
          <a:p>
            <a:pPr>
              <a:spcAft>
                <a:spcPts val="1100"/>
              </a:spcAft>
              <a:defRPr sz="1900">
                <a:solidFill>
                  <a:srgbClr val="F2F5F8"/>
                </a:solidFill>
              </a:defRPr>
            </a:pPr>
            <a:r>
              <a:t>• Under LRU, B is removed because it has gone unused longer.</a:t>
            </a:r>
          </a:p>
          <a:p>
            <a:pPr>
              <a:spcAft>
                <a:spcPts val="1100"/>
              </a:spcAft>
              <a:defRPr sz="1900">
                <a:solidFill>
                  <a:srgbClr val="F2F5F8"/>
                </a:solidFill>
              </a:defRPr>
            </a:pPr>
            <a:r>
              <a:t>• After the access, the set contains A and C, with C now most recent.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LRU replacement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2-way set currently holds A and B, with A used most recently.</a:t>
            </a:r>
          </a:p>
          <a:p>
            <a:pPr>
              <a:spcAft>
                <a:spcPts val="1100"/>
              </a:spcAft>
              <a:defRPr sz="1900">
                <a:solidFill>
                  <a:srgbClr val="F2F5F8"/>
                </a:solidFill>
              </a:defRPr>
            </a:pPr>
            <a:r>
              <a:t>• Accessing new block C requires an eviction.</a:t>
            </a:r>
          </a:p>
          <a:p>
            <a:pPr>
              <a:spcAft>
                <a:spcPts val="1100"/>
              </a:spcAft>
              <a:defRPr sz="1900">
                <a:solidFill>
                  <a:srgbClr val="F2F5F8"/>
                </a:solidFill>
              </a:defRPr>
            </a:pPr>
            <a:r>
              <a:t>• Under LRU, B is removed because it has gone unused longer.</a:t>
            </a:r>
          </a:p>
          <a:p>
            <a:pPr>
              <a:spcAft>
                <a:spcPts val="1100"/>
              </a:spcAft>
              <a:defRPr sz="1900">
                <a:solidFill>
                  <a:srgbClr val="F2F5F8"/>
                </a:solidFill>
              </a:defRPr>
            </a:pPr>
            <a:r>
              <a:t>• After the access, the set contains A and C, with C now most recent.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Dirty versus clean eviction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Evicting a clean cache line can simply discard it because lower memory already has the same data.</a:t>
            </a:r>
          </a:p>
          <a:p>
            <a:pPr>
              <a:spcAft>
                <a:spcPts val="1100"/>
              </a:spcAft>
              <a:defRPr sz="1700">
                <a:solidFill>
                  <a:srgbClr val="F2F5F8"/>
                </a:solidFill>
              </a:defRPr>
            </a:pPr>
            <a:r>
              <a:t>• Evicting a dirty line in a write-back cache requires writing its modified contents to the next level before reuse of the slot.</a:t>
            </a:r>
          </a:p>
          <a:p>
            <a:pPr>
              <a:spcAft>
                <a:spcPts val="1100"/>
              </a:spcAft>
              <a:defRPr sz="1900">
                <a:solidFill>
                  <a:srgbClr val="F2F5F8"/>
                </a:solidFill>
              </a:defRPr>
            </a:pPr>
            <a:r>
              <a:t>• Dirty state therefore changes eviction cost.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Dirty versus clean eviction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Evicting a clean cache line can simply discard it because lower memory already has the same data.</a:t>
            </a:r>
          </a:p>
          <a:p>
            <a:pPr>
              <a:spcAft>
                <a:spcPts val="1100"/>
              </a:spcAft>
              <a:defRPr sz="1700">
                <a:solidFill>
                  <a:srgbClr val="F2F5F8"/>
                </a:solidFill>
              </a:defRPr>
            </a:pPr>
            <a:r>
              <a:t>• Evicting a dirty line in a write-back cache requires writing its modified contents to the next level before reuse of the slot.</a:t>
            </a:r>
          </a:p>
          <a:p>
            <a:pPr>
              <a:spcAft>
                <a:spcPts val="1100"/>
              </a:spcAft>
              <a:defRPr sz="1900">
                <a:solidFill>
                  <a:srgbClr val="F2F5F8"/>
                </a:solidFill>
              </a:defRPr>
            </a:pPr>
            <a:r>
              <a:t>• Dirty state therefore changes eviction cost.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31.</a:t>
            </a:r>
          </a:p>
          <a:p>
            <a:pPr>
              <a:spcAft>
                <a:spcPts val="1100"/>
              </a:spcAft>
              <a:defRPr sz="1900">
                <a:solidFill>
                  <a:srgbClr val="F2F5F8"/>
                </a:solidFill>
              </a:defRPr>
            </a:pPr>
            <a:r>
              <a:t>• Simulate the same trace with two lines.</a:t>
            </a:r>
          </a:p>
          <a:p>
            <a:pPr>
              <a:spcAft>
                <a:spcPts val="1100"/>
              </a:spcAft>
              <a:defRPr sz="1900">
                <a:solidFill>
                  <a:srgbClr val="F2F5F8"/>
                </a:solidFill>
              </a:defRPr>
            </a:pPr>
            <a:r>
              <a:t>• Then calculate the optimal policy’s misses with three lines, assuming the complete future trace is known.</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Does an LRU hit change future replacement decisions?</a:t>
            </a:r>
          </a:p>
          <a:p>
            <a:pPr>
              <a:spcAft>
                <a:spcPts val="1100"/>
              </a:spcAft>
              <a:defRPr sz="1900">
                <a:solidFill>
                  <a:srgbClr val="F2F5F8"/>
                </a:solidFill>
              </a:defRPr>
            </a:pPr>
            <a:r>
              <a:t>• Review 2.</a:t>
            </a:r>
          </a:p>
          <a:p>
            <a:pPr>
              <a:spcAft>
                <a:spcPts val="1100"/>
              </a:spcAft>
              <a:defRPr sz="1900">
                <a:solidFill>
                  <a:srgbClr val="F2F5F8"/>
                </a:solidFill>
              </a:defRPr>
            </a:pPr>
            <a:r>
              <a:t>• Why can a dirty eviction cost more than a clean eviction?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cache replacement.</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Cache Performance.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31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