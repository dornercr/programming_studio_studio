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14 — Assembly Data Movement</a:t>
            </a:r>
          </a:p>
          <a:p/>
          <a:p>
            <a:r>
              <a:t>LECTURE NARRATION</a:t>
            </a:r>
          </a:p>
          <a:p>
            <a:r>
              <a:t>Data movement instructions connect registers and memory. Address calculation determines which bytes are accessed, while operand width determines how many bytes and how the destination changes. The AT&amp;T syntax used here writes source before destination, prefixes registers with % , and prefixes immediate values with $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data movement instructions connect registers and memory.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Data movement instructions connect registers and memory. Address calculation determines which bytes are accessed, while operand width determines how many bytes and how the destination changes. The AT&amp;T syntax used here writes source before destination, prefixes registers with % , and prefixes immediate values with $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data movement instructions connect registers and memory.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14.1 Immediate operands 14.2 Register operands 14.3 Memory operands 14.4 mov ...plus 10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14.1 Immediate operands 14.2 Register operands 14.3 Memory operands 14.4 mov ...plus 10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14.1 Immediate operands</a:t>
            </a:r>
          </a:p>
          <a:p/>
          <a:p>
            <a:r>
              <a:t>LECTURE NARRATION</a:t>
            </a:r>
          </a:p>
          <a:p>
            <a:r>
              <a:t>An immediate operand encodes a constant in the instruction, such as $7 . It is a value, not a request to read memory at address seven. The distinction between $symbol and symbol can similarly distinguish an address-like immediate from a memory reference, subject to relocation and encoding rules. Not every instruction accepts every immediate width. Some encodings sign-extend a smaller immediate, and a full 64-bit constant may require a different encoding or instruction form. Let the assembler diagnose illegal forms, then inspect the actual encoding when code size or exact semantics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immediate operand encodes a constant in the instruction, such as $7 .</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14.1 Immediate operands — Deep Dive</a:t>
            </a:r>
          </a:p>
          <a:p/>
          <a:p>
            <a:r>
              <a:t>LECTURE NARRATION</a:t>
            </a:r>
          </a:p>
          <a:p>
            <a:r>
              <a:t>An immediate operand encodes a constant in the instruction, such as $7 . It is a value, not a request to read memory at address seven. The distinction between $symbol and symbol can similarly distinguish an address-like immediate from a memory reference, subject to relocation and encoding rules. Not every instruction accepts every immediate width. Some encodings sign-extend a smaller immediate, and a full 64-bit constant may require a different encoding or instruction form. Let the assembler diagnose illegal forms, then inspect the actual encoding when code size or exact semantics matter.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immediate operand encodes a constant in the instruction, such as $7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14.2 Register operands</a:t>
            </a:r>
          </a:p>
          <a:p/>
          <a:p>
            <a:r>
              <a:t>LECTURE NARRATION</a:t>
            </a:r>
          </a:p>
          <a:p>
            <a:r>
              <a:t>A register operand names an architectural register or subregister. movq %rdi, %rax copies the 64-bit value from %rdi to %rax . The source remains unchanged. The q suffix indicates a quadword, or 64-bit operation, in this syntax. Register moves can sometimes be handled efficiently inside a processor through renaming or other mechanisms, but they remain architectural operations. Do not assume a source-level assignment always requires a move instruction; the compiler may keep two names associated with one value or remove an unused assignment.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register operand names an architectural register or subregister. movq %rdi, %rax copies the 64-bit value from %rdi to %rax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14.2 Register operands — Deep Dive</a:t>
            </a:r>
          </a:p>
          <a:p/>
          <a:p>
            <a:r>
              <a:t>LECTURE NARRATION</a:t>
            </a:r>
          </a:p>
          <a:p>
            <a:r>
              <a:t>A register operand names an architectural register or subregister. movq %rdi, %rax copies the 64-bit value from %rdi to %rax . The source remains unchanged. The q suffix indicates a quadword, or 64-bit operation, in this syntax. Register moves can sometimes be handled efficiently inside a processor through renaming or other mechanisms, but they remain architectural operations. Do not assume a source-level assignment always requires a move instruction; the compiler may keep two names associated with one value or remove an unused assignment.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register operand names an architectural register or subregister. movq %rdi, %rax copies the 64-bit value from %rdi to %rax .</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14.3 Memory operands</a:t>
            </a:r>
          </a:p>
          <a:p/>
          <a:p>
            <a:r>
              <a:t>LECTURE NARRATION</a:t>
            </a:r>
          </a:p>
          <a:p>
            <a:r>
              <a:t>A memory operand describes an effective address. (%rdi) refers to memory at the address held in %rdi ; it does not refer to the register’s bits as the final data value. movq (%rdi), %rax loads eight bytes, while movq %rax, (%rdi) stores eight bytes. Most ordinary two-operand x86 data-processing instructions do not allow two explicit memory operands. Moving between two memory locations generally requires a register or a specialized instruction. A memory operand can fault even when its address calculation is simple, because mapping and permission checks occur separately from arithmetic validity.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 operand describes an effective address. (%rdi) refers to memory at the address held in %rdi ; it does not refer to the register’s bits as the final data value. movq (%rdi), %rax loads eight bytes, while movq %rax, (%rdi) stores eight bytes.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14.3 Memory operands — Deep Dive</a:t>
            </a:r>
          </a:p>
          <a:p/>
          <a:p>
            <a:r>
              <a:t>LECTURE NARRATION</a:t>
            </a:r>
          </a:p>
          <a:p>
            <a:r>
              <a:t>A memory operand describes an effective address. (%rdi) refers to memory at the address held in %rdi ; it does not refer to the register’s bits as the final data value. movq (%rdi), %rax loads eight bytes, while movq %rax, (%rdi) stores eight bytes. Most ordinary two-operand x86 data-processing instructions do not allow two explicit memory operands. Moving between two memory locations generally requires a register or a specialized instruction. A memory operand can fault even when its address calculation is simple, because mapping and permission checks occur separately from arithmetic validity.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memory operand describes an effective address. (%rdi) refers to memory at the address held in %rdi ; it does not refer to the register’s bits as the final data value. movq (%rdi), %rax loads eight bytes, while movq %rax, (%rdi) stores eight bytes.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14.4 mov</a:t>
            </a:r>
          </a:p>
          <a:p/>
          <a:p>
            <a:r>
              <a:t>LECTURE NARRATION</a:t>
            </a:r>
          </a:p>
          <a:p>
            <a:r>
              <a:t>The mov family copies data without ordinary arithmetic transformation. Width matters: movb , movw , movl , and movq operate on 8, 16, 32, and 64 bits. The 32-bit register-destination rule zeroes the upper half of the corresponding 64-bit register. Sign-extending and zero-extending moves are separate forms. A byte loaded as unsigned into a larger register needs zero extension; a signed byte may need sign extension. A plain narrow load can leave unrelated upper bits unchanged. Always identify whether later code consumes only the narrow value or the full register.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mov family copies data without ordinary arithmetic transformation.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14.4 mov — Deep Dive</a:t>
            </a:r>
          </a:p>
          <a:p/>
          <a:p>
            <a:r>
              <a:t>LECTURE NARRATION</a:t>
            </a:r>
          </a:p>
          <a:p>
            <a:r>
              <a:t>The mov family copies data without ordinary arithmetic transformation. Width matters: movb , movw , movl , and movq operate on 8, 16, 32, and 64 bits. The 32-bit register-destination rule zeroes the upper half of the corresponding 64-bit register. Sign-extending and zero-extending moves are separate forms. A byte loaded as unsigned into a larger register needs zero extension; a signed byte may need sign extension. A plain narrow load can leave unrelated upper bits unchanged. Always identify whether later code consumes only the narrow value or the full register.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mov family copies data without ordinary arithmetic transformation.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14.5 Addressing modes</a:t>
            </a:r>
          </a:p>
          <a:p/>
          <a:p>
            <a:r>
              <a:t>LECTURE NARRATION</a:t>
            </a:r>
          </a:p>
          <a:p>
            <a:r>
              <a:t>A common x86-64 memory-address form is D(B,I,S) : displacement plus base register plus index register multiplied by scale. In mathematical notation, the effective address is D + B + I*S . Missing components contribute zero or their applicable default. The addressing mode computes a byte address. The source language’s element size has already been translated into a scale or explicit arithmetic. A scale of eight is natural for an array of eight-byte elements, but a structure size of 24 may require an additional multiply or combination of additions. The hardware does not know the source-level array type.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14.5 Addressing modes — Deep Dive</a:t>
            </a:r>
          </a:p>
          <a:p/>
          <a:p>
            <a:r>
              <a:t>LECTURE NARRATION</a:t>
            </a:r>
          </a:p>
          <a:p>
            <a:r>
              <a:t>A common x86-64 memory-address form is D(B,I,S) : displacement plus base register plus index register multiplied by scale. In mathematical notation, the effective address is D + B + I*S . Missing components contribute zero or their applicable default. The addressing mode computes a byte address. The source language’s element size has already been translated into a scale or explicit arithmetic. A scale of eight is natural for an array of eight-byte elements, but a structure size of 24 may require an additional multiply or combination of additions. The hardware does not know the source-level array type.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14.6 Displacement</a:t>
            </a:r>
          </a:p>
          <a:p/>
          <a:p>
            <a:r>
              <a:t>LECTURE NARRATION</a:t>
            </a:r>
          </a:p>
          <a:p>
            <a:r>
              <a:t>A displacement is a constant offset included in the address expression. 8(%rdi) accesses eight bytes beyond the address in %rdi . It can identify a structure member, a later array element, or a stack-frame location. Displacements are not automatically bounds-checked against a structure definition. The assembler sees an address expression, not the C++ object contract. When reverse-engineering generated code, relate the displacement to known member offsets and widths. A load at offset eight might be one eight-byte field or several smaller fields depending on the instruction and layout.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displacement is a constant offset included in the address expression.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14.6 Displacement — Deep Dive</a:t>
            </a:r>
          </a:p>
          <a:p/>
          <a:p>
            <a:r>
              <a:t>LECTURE NARRATION</a:t>
            </a:r>
          </a:p>
          <a:p>
            <a:r>
              <a:t>A displacement is a constant offset included in the address expression. 8(%rdi) accesses eight bytes beyond the address in %rdi . It can identify a structure member, a later array element, or a stack-frame location. Displacements are not automatically bounds-checked against a structure definition. The assembler sees an address expression, not the C++ object contract. When reverse-engineering generated code, relate the displacement to known member offsets and widths. A load at offset eight might be one eight-byte field or several smaller fields depending on the instruction and layout.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displacement is a constant offset included in the address expression.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14.7 Base/index addressing</a:t>
            </a:r>
          </a:p>
          <a:p/>
          <a:p>
            <a:r>
              <a:t>LECTURE NARRATION</a:t>
            </a:r>
          </a:p>
          <a:p>
            <a:r>
              <a:t>Base/index addressing combines a starting address with a variable position. (%rdi,%rsi) adds the two register values. If %rdi is a byte-buffer base and %rsi is a byte offset, this directly selects the desired byte position. A valid numerical addition does not prove that the resulting access stays inside an object. High-level bounds checks must precede the load or store when the index is not already trusted. Optimized assembly may move or combine checks, but the programmer’s correctness argument still needs a bounded input domain.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14.7 Base/index addressing — Deep Dive</a:t>
            </a:r>
          </a:p>
          <a:p/>
          <a:p>
            <a:r>
              <a:t>LECTURE NARRATION</a:t>
            </a:r>
          </a:p>
          <a:p>
            <a:r>
              <a:t>Base/index addressing combines a starting address with a variable position. (%rdi,%rsi) adds the two register values. If %rdi is a byte-buffer base and %rsi is a byte offset, this directly selects the desired byte position. A valid numerical addition does not prove that the resulting access stays inside an object. High-level bounds checks must precede the load or store when the index is not already trusted. Optimized assembly may move or combine checks, but the programmer’s correctness argument still needs a bounded input domain.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14.8 Scaled indexing</a:t>
            </a:r>
          </a:p>
          <a:p/>
          <a:p>
            <a:r>
              <a:t>LECTURE NARRATION</a:t>
            </a:r>
          </a:p>
          <a:p>
            <a:r>
              <a:t>The standard scaled-index factor is 1, 2, 4, or 8. (%rdi,%rsi,8) is convenient for eight-byte elements. A separate displacement can select a field or shift the element index, as in 8(%rdi,%rsi,8) . For an array of 24-byte records, the compiler might compute 3*i with an lea , then use a scale of eight. Several equivalent instruction sequences can implement the same address formula. Choose the interpretation that explains the complete expression rather than assigning one source operation to each instruction mechanically.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standard scaled-index factor is 1, 2, 4, or 8. (%rdi,%rsi,8) is convenient for eight-byte elements.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14.8 Scaled indexing — Deep Dive</a:t>
            </a:r>
          </a:p>
          <a:p/>
          <a:p>
            <a:r>
              <a:t>LECTURE NARRATION</a:t>
            </a:r>
          </a:p>
          <a:p>
            <a:r>
              <a:t>The standard scaled-index factor is 1, 2, 4, or 8. (%rdi,%rsi,8) is convenient for eight-byte elements. A separate displacement can select a field or shift the element index, as in 8(%rdi,%rsi,8) . For an array of 24-byte records, the compiler might compute 3*i with an lea , then use a scale of eight. Several equivalent instruction sequences can implement the same address formula. Choose the interpretation that explains the complete expression rather than assigning one source operation to each instruction mechanically.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standard scaled-index factor is 1, 2, 4, or 8. (%rdi,%rsi,8) is convenient for eight-byte elements.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14.9 RIP-relative addressing</a:t>
            </a:r>
          </a:p>
          <a:p/>
          <a:p>
            <a:r>
              <a:t>LECTURE NARRATION</a:t>
            </a:r>
          </a:p>
          <a:p>
            <a:r>
              <a:t>RIP-relative addressing computes a location from the next instruction’s address plus a displacement. It is widely used for position-independent references to code and data within a reachable range. The assembler and linker supply relocations when the displacement cannot yet be finalized. A RIP-relative reference is not an indirect pointer lookup by itself. It computes an address relative to the instruction stream and then, for a memory instruction, accesses that address. Some dynamic-linking sequences do add another level through a table entry. Distinguish the address of a pointer slot from the pointer value stored in that slot.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14.9 RIP-relative addressing — Deep Dive</a:t>
            </a:r>
          </a:p>
          <a:p/>
          <a:p>
            <a:r>
              <a:t>LECTURE NARRATION</a:t>
            </a:r>
          </a:p>
          <a:p>
            <a:r>
              <a:t>RIP-relative addressing computes a location from the next instruction’s address plus a displacement. It is widely used for position-independent references to code and data within a reachable range. The assembler and linker supply relocations when the displacement cannot yet be finalized. A RIP-relative reference is not an indirect pointer lookup by itself. It computes an address relative to the instruction stream and then, for a memory instruction, accesses that address. Some dynamic-linking sequences do add another level through a table entry. Distinguish the address of a pointer slot from the pointer value stored in that slot.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14.10 lea</a:t>
            </a:r>
          </a:p>
          <a:p/>
          <a:p>
            <a:r>
              <a:t>LECTURE NARRATION</a:t>
            </a:r>
          </a:p>
          <a:p>
            <a:r>
              <a:t>lea , or load effective address, computes an address-form expression and places the resulting value in a register without reading the memory at that address. It is useful for pointers and for arithmetic combinations such as x + 2*x . Unlike an ordinary add instruction, lea does not update the usual arithmetic condition flags. This can preserve a comparison result for a later branch. The name does not imply that the result must be used as a pointer; the instruction computes a numeric expression using address-generation syntax.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lea , or load effective address, computes an address-form expression and places the resulting value in a register without reading the memory at that address.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14.10 lea — Deep Dive</a:t>
            </a:r>
          </a:p>
          <a:p/>
          <a:p>
            <a:r>
              <a:t>LECTURE NARRATION</a:t>
            </a:r>
          </a:p>
          <a:p>
            <a:r>
              <a:t>lea , or load effective address, computes an address-form expression and places the resulting value in a register without reading the memory at that address. It is useful for pointers and for arithmetic combinations such as x + 2*x . Unlike an ordinary add instruction, lea does not update the usual arithmetic condition flags. This can preserve a comparison result for a later branch. The name does not imply that the result must be used as a pointer; the instruction computes a numeric expression using address-generation syntax.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lea , or load effective address, computes an address-form expression and places the resulting value in a register without reading the memory at that address.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Translating an indexed load</a:t>
            </a:r>
          </a:p>
          <a:p/>
          <a:p>
            <a:r>
              <a:t>LECTURE NARRATION</a:t>
            </a:r>
          </a:p>
          <a:p>
            <a:r>
              <a:t>The requirement is to return values[index + 1] from a valid array of 64-bit unsigned integers. The caller guarantees that the requested element exists. The assembly combines the extra element offset and scaled indexing in one memory operand. Companion listing: ch14/pick.S Companion listing: ch14/main.c With a hypothetical base of 0x3000 , index 2 gives 0x3000 + 8 + 2 × 8 = 0x3018 . That is element 3, whose value is 44. The example’s address is a model; the actual allocation address is not fixed. Replacing movq with leaq would return the computed address instead of reading the value 44.</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return values[index + 1] from a valid array of 64-bit unsigned integers.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Translating an indexed load — Deep Dive</a:t>
            </a:r>
          </a:p>
          <a:p/>
          <a:p>
            <a:r>
              <a:t>LECTURE NARRATION</a:t>
            </a:r>
          </a:p>
          <a:p>
            <a:r>
              <a:t>The requirement is to return values[index + 1] from a valid array of 64-bit unsigned integers. The caller guarantees that the requested element exists. The assembly combines the extra element offset and scaled indexing in one memory operand. Companion listing: ch14/pick.S Companion listing: ch14/main.c With a hypothetical base of 0x3000 , index 2 gives 0x3000 + 8 + 2 × 8 = 0x3018 . That is element 3, whose value is 44. The example’s address is a model; the actual allocation address is not fixed. Replacing movq with leaq would return the computed address instead of reading the value 44.</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return values[index + 1] from a valid array of 64-bit unsigned integers.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Decoding scaled-index addressing</a:t>
            </a:r>
          </a:p>
          <a:p/>
          <a:p>
            <a:r>
              <a:t>LECTURE NARRATION</a:t>
            </a:r>
          </a:p>
          <a:p>
            <a:r>
              <a:t>An address such as 8(%rbx,%rcx,4) means base rbx plus index rcx multiplied by 4 plus displacement 8. If rbx=0x1000 and rcx=3 , the effective address is 0x1000 + 12 + 8 = 0x1014 . This form naturally addresses array elements plus a field displacement.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Decoding scaled-index addressing — Deep Dive</a:t>
            </a:r>
          </a:p>
          <a:p/>
          <a:p>
            <a:r>
              <a:t>LECTURE NARRATION</a:t>
            </a:r>
          </a:p>
          <a:p>
            <a:r>
              <a:t>An address such as 8(%rbx,%rcx,4) means base rbx plus index rcx multiplied by 4 plus displacement 8. If rbx=0x1000 and rcx=3 , the effective address is 0x1000 + 12 + 8 = 0x1014 . This form naturally addresses array elements plus a field displacement.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Using lea for arithmetic</a:t>
            </a:r>
          </a:p>
          <a:p/>
          <a:p>
            <a:r>
              <a:t>LECTURE NARRATION</a:t>
            </a:r>
          </a:p>
          <a:p>
            <a:r>
              <a:t>lea computes an effective address without dereferencing memory. If rax=7 , an instruction like lea 5(%rax,%rax,2), %rdx computes 5 + 7 + 14 = 26 in rdx . Compilers exploit this addressing arithmetic for integer expressions as well as actual addresses.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lea computes an effective address without dereferencing memory.</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Using lea for arithmetic — Deep Dive</a:t>
            </a:r>
          </a:p>
          <a:p/>
          <a:p>
            <a:r>
              <a:t>LECTURE NARRATION</a:t>
            </a:r>
          </a:p>
          <a:p>
            <a:r>
              <a:t>lea computes an effective address without dereferencing memory. If rax=7 , an instruction like lea 5(%rax,%rax,2), %rdx computes 5 + 7 + 14 = 26 in rdx . Compilers exploit this addressing arithmetic for integer expressions as well as actual addresses.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lea computes an effective address without dereferencing memory.</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Guided lab and review</a:t>
            </a:r>
          </a:p>
          <a:p/>
          <a:p>
            <a:r>
              <a:t>LECTURE NARRATION</a:t>
            </a:r>
          </a:p>
          <a:p>
            <a:r>
              <a:t>Lab 14. Write a C wrapper that checks index &lt; count - 1 only after verifying count &gt; 0 , then calls the assembly routine. Test empty, one-element, and four-element arrays without performing an invalid load. Review 1. What value does leaq (%rdi,%rdi,2), %rax compute? Review 2. Why is a memory operand not automatically safe merely because the arithmetic does not overflow?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14.</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Guided lab and review — Deep Dive</a:t>
            </a:r>
          </a:p>
          <a:p/>
          <a:p>
            <a:r>
              <a:t>LECTURE NARRATION</a:t>
            </a:r>
          </a:p>
          <a:p>
            <a:r>
              <a:t>Lab 14. Write a C wrapper that checks index &lt; count - 1 only after verifying count &gt; 0 , then calls the assembly routine. Test empty, one-element, and four-element arrays without performing an invalid load. Review 1. What value does leaq (%rdi,%rdi,2), %rax compute? Review 2. Why is a memory operand not automatically safe merely because the arithmetic does not overflow?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14.</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Chapter Synthesis</a:t>
            </a:r>
          </a:p>
          <a:p/>
          <a:p>
            <a:r>
              <a:t>LECTURE NARRATION</a:t>
            </a:r>
          </a:p>
          <a:p>
            <a:r>
              <a:t>The chapter's central subject is assembly data movement.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assembly data movement.</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Assembly Arithmetic.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14 — Assembly Data Movement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Data movement instructions connect registers and memory.</a:t>
            </a:r>
          </a:p>
          <a:p>
            <a:pPr>
              <a:spcAft>
                <a:spcPts val="1100"/>
              </a:spcAft>
              <a:defRPr sz="1700">
                <a:solidFill>
                  <a:srgbClr val="F2F5F8"/>
                </a:solidFill>
              </a:defRPr>
            </a:pPr>
            <a:r>
              <a:t>• Address calculation determines which bytes are accessed, while operand width determines how many bytes and how the destination changes.</a:t>
            </a:r>
          </a:p>
          <a:p>
            <a:pPr>
              <a:spcAft>
                <a:spcPts val="1100"/>
              </a:spcAft>
              <a:defRPr sz="1700">
                <a:solidFill>
                  <a:srgbClr val="F2F5F8"/>
                </a:solidFill>
              </a:defRPr>
            </a:pPr>
            <a:r>
              <a:t>• The AT&amp;T syntax used here writes source before destination, prefixes registers with % , and prefixes immediate values with $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Assembly Data Movement.</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14.1 Immediate operands</a:t>
            </a:r>
          </a:p>
          <a:p>
            <a:pPr>
              <a:spcAft>
                <a:spcPts val="1100"/>
              </a:spcAft>
              <a:defRPr sz="1900">
                <a:solidFill>
                  <a:srgbClr val="F2F5F8"/>
                </a:solidFill>
              </a:defRPr>
            </a:pPr>
            <a:r>
              <a:t>• 14.2 Register operands</a:t>
            </a:r>
          </a:p>
          <a:p>
            <a:pPr>
              <a:spcAft>
                <a:spcPts val="1100"/>
              </a:spcAft>
              <a:defRPr sz="1900">
                <a:solidFill>
                  <a:srgbClr val="F2F5F8"/>
                </a:solidFill>
              </a:defRPr>
            </a:pPr>
            <a:r>
              <a:t>• 14.3 Memory operands</a:t>
            </a:r>
          </a:p>
          <a:p>
            <a:pPr>
              <a:spcAft>
                <a:spcPts val="1100"/>
              </a:spcAft>
              <a:defRPr sz="1900">
                <a:solidFill>
                  <a:srgbClr val="F2F5F8"/>
                </a:solidFill>
              </a:defRPr>
            </a:pPr>
            <a:r>
              <a:t>• 14.4 mov</a:t>
            </a:r>
          </a:p>
          <a:p>
            <a:pPr>
              <a:spcAft>
                <a:spcPts val="1100"/>
              </a:spcAft>
              <a:defRPr sz="1900">
                <a:solidFill>
                  <a:srgbClr val="F2F5F8"/>
                </a:solidFill>
              </a:defRPr>
            </a:pPr>
            <a:r>
              <a:t>• ...plus 10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14.1 Immediate operands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immediate operand encodes a constant in the instruction, such as $7 .</a:t>
            </a:r>
          </a:p>
          <a:p>
            <a:pPr>
              <a:spcAft>
                <a:spcPts val="1100"/>
              </a:spcAft>
              <a:defRPr sz="1900">
                <a:solidFill>
                  <a:srgbClr val="F2F5F8"/>
                </a:solidFill>
              </a:defRPr>
            </a:pPr>
            <a:r>
              <a:t>• It is a value, not a request to read memory at address seven.</a:t>
            </a:r>
          </a:p>
          <a:p>
            <a:pPr>
              <a:spcAft>
                <a:spcPts val="1100"/>
              </a:spcAft>
              <a:defRPr sz="1700">
                <a:solidFill>
                  <a:srgbClr val="F2F5F8"/>
                </a:solidFill>
              </a:defRPr>
            </a:pPr>
            <a:r>
              <a:t>• The distinction between $symbol and symbol can similarly distinguish an address-like immediate from a memory reference, subject to relocation and encoding rules.</a:t>
            </a:r>
          </a:p>
          <a:p>
            <a:pPr>
              <a:spcAft>
                <a:spcPts val="1100"/>
              </a:spcAft>
              <a:defRPr sz="1900">
                <a:solidFill>
                  <a:srgbClr val="F2F5F8"/>
                </a:solidFill>
              </a:defRPr>
            </a:pPr>
            <a:r>
              <a:t>• Not every instruction accepts every immediate width.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14.1 Immediate operands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Not every instruction accepts every immediate width.</a:t>
            </a:r>
          </a:p>
          <a:p>
            <a:pPr>
              <a:spcAft>
                <a:spcPts val="1100"/>
              </a:spcAft>
              <a:defRPr sz="1700">
                <a:solidFill>
                  <a:srgbClr val="F2F5F8"/>
                </a:solidFill>
              </a:defRPr>
            </a:pPr>
            <a:r>
              <a:t>• Some encodings sign-extend a smaller immediate, and a full 64-bit constant may require a different encoding or instruction form.</a:t>
            </a:r>
          </a:p>
          <a:p>
            <a:pPr>
              <a:spcAft>
                <a:spcPts val="1100"/>
              </a:spcAft>
              <a:defRPr sz="1900">
                <a:solidFill>
                  <a:srgbClr val="F2F5F8"/>
                </a:solidFill>
              </a:defRPr>
            </a:pPr>
            <a:r>
              <a:t>• Let the assembler diagnose illegal forms, then inspect the actual encoding when code size or exact semantics matter.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14.2 Register operands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register operand names an architectural register or subregister. movq %rdi, %rax copies the 64-bit value from %rdi to %rax .</a:t>
            </a:r>
          </a:p>
          <a:p>
            <a:pPr>
              <a:spcAft>
                <a:spcPts val="1100"/>
              </a:spcAft>
              <a:defRPr sz="1900">
                <a:solidFill>
                  <a:srgbClr val="F2F5F8"/>
                </a:solidFill>
              </a:defRPr>
            </a:pPr>
            <a:r>
              <a:t>• The source remains unchanged.</a:t>
            </a:r>
          </a:p>
          <a:p>
            <a:pPr>
              <a:spcAft>
                <a:spcPts val="1100"/>
              </a:spcAft>
              <a:defRPr sz="1900">
                <a:solidFill>
                  <a:srgbClr val="F2F5F8"/>
                </a:solidFill>
              </a:defRPr>
            </a:pPr>
            <a:r>
              <a:t>• The q suffix indicates a quadword, or 64-bit operation, in this syntax.</a:t>
            </a:r>
          </a:p>
          <a:p>
            <a:pPr>
              <a:spcAft>
                <a:spcPts val="1100"/>
              </a:spcAft>
              <a:defRPr sz="1700">
                <a:solidFill>
                  <a:srgbClr val="F2F5F8"/>
                </a:solidFill>
              </a:defRPr>
            </a:pPr>
            <a:r>
              <a:t>• Register moves can sometimes be handled efficiently inside a processor through renaming or other mechanisms, but they remain architectural operations.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14.2 Register operands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Register moves can sometimes be handled efficiently inside a processor through renaming or other mechanisms, but they remain architectural operations.</a:t>
            </a:r>
          </a:p>
          <a:p>
            <a:pPr>
              <a:spcAft>
                <a:spcPts val="1100"/>
              </a:spcAft>
              <a:defRPr sz="1700">
                <a:solidFill>
                  <a:srgbClr val="F2F5F8"/>
                </a:solidFill>
              </a:defRPr>
            </a:pPr>
            <a:r>
              <a:t>• Do not assume a source-level assignment always requires a move instruction; the compiler may keep two names associated with one value or remove an unused assignment.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14.3 Memory operands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memory operand describes an effective address. (%rdi) refers to memory at the address held in %rdi ; it does not refer to the register’s bits as the final data value. movq...</a:t>
            </a:r>
          </a:p>
          <a:p>
            <a:pPr>
              <a:spcAft>
                <a:spcPts val="1100"/>
              </a:spcAft>
              <a:defRPr sz="1900">
                <a:solidFill>
                  <a:srgbClr val="F2F5F8"/>
                </a:solidFill>
              </a:defRPr>
            </a:pPr>
            <a:r>
              <a:t>• Most ordinary two-operand x86 data-processing instructions do not allow two explicit memory operands.</a:t>
            </a:r>
          </a:p>
          <a:p>
            <a:pPr>
              <a:spcAft>
                <a:spcPts val="1100"/>
              </a:spcAft>
              <a:defRPr sz="1900">
                <a:solidFill>
                  <a:srgbClr val="F2F5F8"/>
                </a:solidFill>
              </a:defRPr>
            </a:pPr>
            <a:r>
              <a:t>• Moving between two memory locations generally requires a register or a specialized instruction.</a:t>
            </a:r>
          </a:p>
          <a:p>
            <a:pPr>
              <a:spcAft>
                <a:spcPts val="1100"/>
              </a:spcAft>
              <a:defRPr sz="1700">
                <a:solidFill>
                  <a:srgbClr val="F2F5F8"/>
                </a:solidFill>
              </a:defRPr>
            </a:pPr>
            <a:r>
              <a:t>• A memory operand can fault even when its address calculation is simple, because mapping and permission checks occur separately from arithmetic validity.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14.3 Memory operands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Most ordinary two-operand x86 data-processing instructions do not allow two explicit memory operands.</a:t>
            </a:r>
          </a:p>
          <a:p>
            <a:pPr>
              <a:spcAft>
                <a:spcPts val="1100"/>
              </a:spcAft>
              <a:defRPr sz="1900">
                <a:solidFill>
                  <a:srgbClr val="F2F5F8"/>
                </a:solidFill>
              </a:defRPr>
            </a:pPr>
            <a:r>
              <a:t>• Moving between two memory locations generally requires a register or a specialized instruction.</a:t>
            </a:r>
          </a:p>
          <a:p>
            <a:pPr>
              <a:spcAft>
                <a:spcPts val="1100"/>
              </a:spcAft>
              <a:defRPr sz="1700">
                <a:solidFill>
                  <a:srgbClr val="F2F5F8"/>
                </a:solidFill>
              </a:defRPr>
            </a:pPr>
            <a:r>
              <a:t>• A memory operand can fault even when its address calculation is simple, because mapping and permission checks occur separately from arithmetic validity.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14.4 mov</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mov family copies data without ordinary arithmetic transformation.</a:t>
            </a:r>
          </a:p>
          <a:p>
            <a:pPr>
              <a:spcAft>
                <a:spcPts val="1100"/>
              </a:spcAft>
              <a:defRPr sz="1900">
                <a:solidFill>
                  <a:srgbClr val="F2F5F8"/>
                </a:solidFill>
              </a:defRPr>
            </a:pPr>
            <a:r>
              <a:t>• Width matters: movb , movw , movl , and movq operate on 8, 16, 32, and 64 bits.</a:t>
            </a:r>
          </a:p>
          <a:p>
            <a:pPr>
              <a:spcAft>
                <a:spcPts val="1100"/>
              </a:spcAft>
              <a:defRPr sz="1900">
                <a:solidFill>
                  <a:srgbClr val="F2F5F8"/>
                </a:solidFill>
              </a:defRPr>
            </a:pPr>
            <a:r>
              <a:t>• The 32-bit register-destination rule zeroes the upper half of the corresponding 64-bit register.</a:t>
            </a:r>
          </a:p>
          <a:p>
            <a:pPr>
              <a:spcAft>
                <a:spcPts val="1100"/>
              </a:spcAft>
              <a:defRPr sz="1900">
                <a:solidFill>
                  <a:srgbClr val="F2F5F8"/>
                </a:solidFill>
              </a:defRPr>
            </a:pPr>
            <a:r>
              <a:t>• Sign-extending and zero-extending moves are separate forms.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14.4 mov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Sign-extending and zero-extending moves are separate forms.</a:t>
            </a:r>
          </a:p>
          <a:p>
            <a:pPr>
              <a:spcAft>
                <a:spcPts val="1100"/>
              </a:spcAft>
              <a:defRPr sz="1900">
                <a:solidFill>
                  <a:srgbClr val="F2F5F8"/>
                </a:solidFill>
              </a:defRPr>
            </a:pPr>
            <a:r>
              <a:t>• A byte loaded as unsigned into a larger register needs zero extension; a signed byte may need sign extension.</a:t>
            </a:r>
          </a:p>
          <a:p>
            <a:pPr>
              <a:spcAft>
                <a:spcPts val="1100"/>
              </a:spcAft>
              <a:defRPr sz="1900">
                <a:solidFill>
                  <a:srgbClr val="F2F5F8"/>
                </a:solidFill>
              </a:defRPr>
            </a:pPr>
            <a:r>
              <a:t>• A plain narrow load can leave unrelated upper bits unchanged.</a:t>
            </a:r>
          </a:p>
          <a:p>
            <a:pPr>
              <a:spcAft>
                <a:spcPts val="1100"/>
              </a:spcAft>
              <a:defRPr sz="1900">
                <a:solidFill>
                  <a:srgbClr val="F2F5F8"/>
                </a:solidFill>
              </a:defRPr>
            </a:pPr>
            <a:r>
              <a:t>• Always identify whether later code consumes only the narrow value or the full register.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14.5 Addressing modes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common x86-64 memory-address form is D(B,I,S) : displacement plus base register plus index register multiplied by scale.</a:t>
            </a:r>
          </a:p>
          <a:p>
            <a:pPr>
              <a:spcAft>
                <a:spcPts val="1100"/>
              </a:spcAft>
              <a:defRPr sz="1900">
                <a:solidFill>
                  <a:srgbClr val="F2F5F8"/>
                </a:solidFill>
              </a:defRPr>
            </a:pPr>
            <a:r>
              <a:t>• In mathematical notation, the effective address is D + B + I*S .</a:t>
            </a:r>
          </a:p>
          <a:p>
            <a:pPr>
              <a:spcAft>
                <a:spcPts val="1100"/>
              </a:spcAft>
              <a:defRPr sz="1900">
                <a:solidFill>
                  <a:srgbClr val="F2F5F8"/>
                </a:solidFill>
              </a:defRPr>
            </a:pPr>
            <a:r>
              <a:t>• Missing components contribute zero or their applicable default.</a:t>
            </a:r>
          </a:p>
          <a:p>
            <a:pPr>
              <a:spcAft>
                <a:spcPts val="1100"/>
              </a:spcAft>
              <a:defRPr sz="1900">
                <a:solidFill>
                  <a:srgbClr val="F2F5F8"/>
                </a:solidFill>
              </a:defRPr>
            </a:pPr>
            <a:r>
              <a:t>• The addressing mode computes a byte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14.5 Addressing modes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addressing mode computes a byte address.</a:t>
            </a:r>
          </a:p>
          <a:p>
            <a:pPr>
              <a:spcAft>
                <a:spcPts val="1100"/>
              </a:spcAft>
              <a:defRPr sz="1900">
                <a:solidFill>
                  <a:srgbClr val="F2F5F8"/>
                </a:solidFill>
              </a:defRPr>
            </a:pPr>
            <a:r>
              <a:t>• The source language’s element size has already been translated into a scale or explicit arithmetic.</a:t>
            </a:r>
          </a:p>
          <a:p>
            <a:pPr>
              <a:spcAft>
                <a:spcPts val="1100"/>
              </a:spcAft>
              <a:defRPr sz="1700">
                <a:solidFill>
                  <a:srgbClr val="F2F5F8"/>
                </a:solidFill>
              </a:defRPr>
            </a:pPr>
            <a:r>
              <a:t>• A scale of eight is natural for an array of eight-byte elements, but a structure size of 24 may require an additional multiply or combination of additions.</a:t>
            </a:r>
          </a:p>
          <a:p>
            <a:pPr>
              <a:spcAft>
                <a:spcPts val="1100"/>
              </a:spcAft>
              <a:defRPr sz="1900">
                <a:solidFill>
                  <a:srgbClr val="F2F5F8"/>
                </a:solidFill>
              </a:defRPr>
            </a:pPr>
            <a:r>
              <a:t>• The hardware does not know the source-level array type.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14.6 Displacement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displacement is a constant offset included in the address expression.</a:t>
            </a:r>
          </a:p>
          <a:p>
            <a:pPr>
              <a:spcAft>
                <a:spcPts val="1100"/>
              </a:spcAft>
              <a:defRPr sz="1900">
                <a:solidFill>
                  <a:srgbClr val="F2F5F8"/>
                </a:solidFill>
              </a:defRPr>
            </a:pPr>
            <a:r>
              <a:t>• 8(%rdi) accesses eight bytes beyond the address in %rdi .</a:t>
            </a:r>
          </a:p>
          <a:p>
            <a:pPr>
              <a:spcAft>
                <a:spcPts val="1100"/>
              </a:spcAft>
              <a:defRPr sz="1900">
                <a:solidFill>
                  <a:srgbClr val="F2F5F8"/>
                </a:solidFill>
              </a:defRPr>
            </a:pPr>
            <a:r>
              <a:t>• It can identify a structure member, a later array element, or a stack-frame location.</a:t>
            </a:r>
          </a:p>
          <a:p>
            <a:pPr>
              <a:spcAft>
                <a:spcPts val="1100"/>
              </a:spcAft>
              <a:defRPr sz="1900">
                <a:solidFill>
                  <a:srgbClr val="F2F5F8"/>
                </a:solidFill>
              </a:defRPr>
            </a:pPr>
            <a:r>
              <a:t>• Displacements are not automatically bounds-checked against a structure definition.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14.6 Displacement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Displacements are not automatically bounds-checked against a structure definition.</a:t>
            </a:r>
          </a:p>
          <a:p>
            <a:pPr>
              <a:spcAft>
                <a:spcPts val="1100"/>
              </a:spcAft>
              <a:defRPr sz="1900">
                <a:solidFill>
                  <a:srgbClr val="F2F5F8"/>
                </a:solidFill>
              </a:defRPr>
            </a:pPr>
            <a:r>
              <a:t>• The assembler sees an address expression, not the C++ object contract.</a:t>
            </a:r>
          </a:p>
          <a:p>
            <a:pPr>
              <a:spcAft>
                <a:spcPts val="1100"/>
              </a:spcAft>
              <a:defRPr sz="1900">
                <a:solidFill>
                  <a:srgbClr val="F2F5F8"/>
                </a:solidFill>
              </a:defRPr>
            </a:pPr>
            <a:r>
              <a:t>• When reverse-engineering generated code, relate the displacement to known member offsets and widths.</a:t>
            </a:r>
          </a:p>
          <a:p>
            <a:pPr>
              <a:spcAft>
                <a:spcPts val="1100"/>
              </a:spcAft>
              <a:defRPr sz="1900">
                <a:solidFill>
                  <a:srgbClr val="F2F5F8"/>
                </a:solidFill>
              </a:defRPr>
            </a:pPr>
            <a:r>
              <a:t>• A load at offset eight might be one eight-byte field or several smaller fields depending on the instruction and layout.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14.7 Base/index addressing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Base/index addressing combines a starting address with a variable position. (%rdi,%rsi) adds the two register values.</a:t>
            </a:r>
          </a:p>
          <a:p>
            <a:pPr>
              <a:spcAft>
                <a:spcPts val="1100"/>
              </a:spcAft>
              <a:defRPr sz="1900">
                <a:solidFill>
                  <a:srgbClr val="F2F5F8"/>
                </a:solidFill>
              </a:defRPr>
            </a:pPr>
            <a:r>
              <a:t>• If %rdi is a byte-buffer base and %rsi is a byte offset, this directly selects the desired byte position.</a:t>
            </a:r>
          </a:p>
          <a:p>
            <a:pPr>
              <a:spcAft>
                <a:spcPts val="1100"/>
              </a:spcAft>
              <a:defRPr sz="1900">
                <a:solidFill>
                  <a:srgbClr val="F2F5F8"/>
                </a:solidFill>
              </a:defRPr>
            </a:pPr>
            <a:r>
              <a:t>• A valid numerical addition does not prove that the resulting access stays inside an object.</a:t>
            </a:r>
          </a:p>
          <a:p>
            <a:pPr>
              <a:spcAft>
                <a:spcPts val="1100"/>
              </a:spcAft>
              <a:defRPr sz="1900">
                <a:solidFill>
                  <a:srgbClr val="F2F5F8"/>
                </a:solidFill>
              </a:defRPr>
            </a:pPr>
            <a:r>
              <a:t>• High-level bounds checks must precede the load or store when the index is not already trusted.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14.7 Base/index addressing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valid numerical addition does not prove that the resulting access stays inside an object.</a:t>
            </a:r>
          </a:p>
          <a:p>
            <a:pPr>
              <a:spcAft>
                <a:spcPts val="1100"/>
              </a:spcAft>
              <a:defRPr sz="1900">
                <a:solidFill>
                  <a:srgbClr val="F2F5F8"/>
                </a:solidFill>
              </a:defRPr>
            </a:pPr>
            <a:r>
              <a:t>• High-level bounds checks must precede the load or store when the index is not already trusted.</a:t>
            </a:r>
          </a:p>
          <a:p>
            <a:pPr>
              <a:spcAft>
                <a:spcPts val="1100"/>
              </a:spcAft>
              <a:defRPr sz="1700">
                <a:solidFill>
                  <a:srgbClr val="F2F5F8"/>
                </a:solidFill>
              </a:defRPr>
            </a:pPr>
            <a:r>
              <a:t>• Optimized assembly may move or combine checks, but the programmer’s correctness argument still needs a bounded input domain.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14.8 Scaled indexing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standard scaled-index factor is 1, 2, 4, or 8. (%rdi,%rsi,8) is convenient for eight-byte elements.</a:t>
            </a:r>
          </a:p>
          <a:p>
            <a:pPr>
              <a:spcAft>
                <a:spcPts val="1100"/>
              </a:spcAft>
              <a:defRPr sz="1900">
                <a:solidFill>
                  <a:srgbClr val="F2F5F8"/>
                </a:solidFill>
              </a:defRPr>
            </a:pPr>
            <a:r>
              <a:t>• A separate displacement can select a field or shift the element index, as in 8(%rdi,%rsi,8) .</a:t>
            </a:r>
          </a:p>
          <a:p>
            <a:pPr>
              <a:spcAft>
                <a:spcPts val="1100"/>
              </a:spcAft>
              <a:defRPr sz="1900">
                <a:solidFill>
                  <a:srgbClr val="F2F5F8"/>
                </a:solidFill>
              </a:defRPr>
            </a:pPr>
            <a:r>
              <a:t>• For an array of 24-byte records, the compiler might compute 3*i with an lea , then use a scale of eight.</a:t>
            </a:r>
          </a:p>
          <a:p>
            <a:pPr>
              <a:spcAft>
                <a:spcPts val="1100"/>
              </a:spcAft>
              <a:defRPr sz="1900">
                <a:solidFill>
                  <a:srgbClr val="F2F5F8"/>
                </a:solidFill>
              </a:defRPr>
            </a:pPr>
            <a:r>
              <a:t>• Several equivalent instruction sequences can implement the same address formula.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14.8 Scaled indexing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an array of 24-byte records, the compiler might compute 3*i with an lea , then use a scale of eight.</a:t>
            </a:r>
          </a:p>
          <a:p>
            <a:pPr>
              <a:spcAft>
                <a:spcPts val="1100"/>
              </a:spcAft>
              <a:defRPr sz="1900">
                <a:solidFill>
                  <a:srgbClr val="F2F5F8"/>
                </a:solidFill>
              </a:defRPr>
            </a:pPr>
            <a:r>
              <a:t>• Several equivalent instruction sequences can implement the same address formula.</a:t>
            </a:r>
          </a:p>
          <a:p>
            <a:pPr>
              <a:spcAft>
                <a:spcPts val="1100"/>
              </a:spcAft>
              <a:defRPr sz="1700">
                <a:solidFill>
                  <a:srgbClr val="F2F5F8"/>
                </a:solidFill>
              </a:defRPr>
            </a:pPr>
            <a:r>
              <a:t>• Choose the interpretation that explains the complete expression rather than assigning one source operation to each instruction mechanically.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14.9 RIP-relative addressing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RIP-relative addressing computes a location from the next instruction’s address plus a displacement.</a:t>
            </a:r>
          </a:p>
          <a:p>
            <a:pPr>
              <a:spcAft>
                <a:spcPts val="1100"/>
              </a:spcAft>
              <a:defRPr sz="1900">
                <a:solidFill>
                  <a:srgbClr val="F2F5F8"/>
                </a:solidFill>
              </a:defRPr>
            </a:pPr>
            <a:r>
              <a:t>• It is widely used for position-independent references to code and data within a reachable range.</a:t>
            </a:r>
          </a:p>
          <a:p>
            <a:pPr>
              <a:spcAft>
                <a:spcPts val="1100"/>
              </a:spcAft>
              <a:defRPr sz="1900">
                <a:solidFill>
                  <a:srgbClr val="F2F5F8"/>
                </a:solidFill>
              </a:defRPr>
            </a:pPr>
            <a:r>
              <a:t>• The assembler and linker supply relocations when the displacement cannot yet be finalized.</a:t>
            </a:r>
          </a:p>
          <a:p>
            <a:pPr>
              <a:spcAft>
                <a:spcPts val="1100"/>
              </a:spcAft>
              <a:defRPr sz="1900">
                <a:solidFill>
                  <a:srgbClr val="F2F5F8"/>
                </a:solidFill>
              </a:defRPr>
            </a:pPr>
            <a:r>
              <a:t>• A RIP-relative reference is not an indirect pointer lookup by itself.</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14.9 RIP-relative addressing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RIP-relative reference is not an indirect pointer lookup by itself.</a:t>
            </a:r>
          </a:p>
          <a:p>
            <a:pPr>
              <a:spcAft>
                <a:spcPts val="1100"/>
              </a:spcAft>
              <a:defRPr sz="1900">
                <a:solidFill>
                  <a:srgbClr val="F2F5F8"/>
                </a:solidFill>
              </a:defRPr>
            </a:pPr>
            <a:r>
              <a:t>• It computes an address relative to the instruction stream and then, for a memory instruction, accesses that address.</a:t>
            </a:r>
          </a:p>
          <a:p>
            <a:pPr>
              <a:spcAft>
                <a:spcPts val="1100"/>
              </a:spcAft>
              <a:defRPr sz="1900">
                <a:solidFill>
                  <a:srgbClr val="F2F5F8"/>
                </a:solidFill>
              </a:defRPr>
            </a:pPr>
            <a:r>
              <a:t>• Some dynamic-linking sequences do add another level through a table entry.</a:t>
            </a:r>
          </a:p>
          <a:p>
            <a:pPr>
              <a:spcAft>
                <a:spcPts val="1100"/>
              </a:spcAft>
              <a:defRPr sz="1900">
                <a:solidFill>
                  <a:srgbClr val="F2F5F8"/>
                </a:solidFill>
              </a:defRPr>
            </a:pPr>
            <a:r>
              <a:t>• Distinguish the address of a pointer slot from the pointer value stored in that slot.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14.10 lea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lea , or load effective address, computes an address-form expression and places the resulting value in a register without reading the memory at that address.</a:t>
            </a:r>
          </a:p>
          <a:p>
            <a:pPr>
              <a:spcAft>
                <a:spcPts val="1100"/>
              </a:spcAft>
              <a:defRPr sz="1900">
                <a:solidFill>
                  <a:srgbClr val="F2F5F8"/>
                </a:solidFill>
              </a:defRPr>
            </a:pPr>
            <a:r>
              <a:t>• It is useful for pointers and for arithmetic combinations such as x + 2*x .</a:t>
            </a:r>
          </a:p>
          <a:p>
            <a:pPr>
              <a:spcAft>
                <a:spcPts val="1100"/>
              </a:spcAft>
              <a:defRPr sz="1900">
                <a:solidFill>
                  <a:srgbClr val="F2F5F8"/>
                </a:solidFill>
              </a:defRPr>
            </a:pPr>
            <a:r>
              <a:t>• Unlike an ordinary add instruction, lea does not update the usual arithmetic condition flags.</a:t>
            </a:r>
          </a:p>
          <a:p>
            <a:pPr>
              <a:spcAft>
                <a:spcPts val="1100"/>
              </a:spcAft>
              <a:defRPr sz="1900">
                <a:solidFill>
                  <a:srgbClr val="F2F5F8"/>
                </a:solidFill>
              </a:defRPr>
            </a:pPr>
            <a:r>
              <a:t>• This can preserve a comparison result for a later branch.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14.10 lea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Unlike an ordinary add instruction, lea does not update the usual arithmetic condition flags.</a:t>
            </a:r>
          </a:p>
          <a:p>
            <a:pPr>
              <a:spcAft>
                <a:spcPts val="1100"/>
              </a:spcAft>
              <a:defRPr sz="1900">
                <a:solidFill>
                  <a:srgbClr val="F2F5F8"/>
                </a:solidFill>
              </a:defRPr>
            </a:pPr>
            <a:r>
              <a:t>• This can preserve a comparison result for a later branch.</a:t>
            </a:r>
          </a:p>
          <a:p>
            <a:pPr>
              <a:spcAft>
                <a:spcPts val="1100"/>
              </a:spcAft>
              <a:defRPr sz="1700">
                <a:solidFill>
                  <a:srgbClr val="F2F5F8"/>
                </a:solidFill>
              </a:defRPr>
            </a:pPr>
            <a:r>
              <a:t>• The name does not imply that the result must be used as a pointer; the instruction computes a numeric expression using address-generation syntax.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Translating an indexed load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return values[index + 1] from a valid array of 64-bit unsigned integers.</a:t>
            </a:r>
          </a:p>
          <a:p>
            <a:pPr>
              <a:spcAft>
                <a:spcPts val="1100"/>
              </a:spcAft>
              <a:defRPr sz="1900">
                <a:solidFill>
                  <a:srgbClr val="F2F5F8"/>
                </a:solidFill>
              </a:defRPr>
            </a:pPr>
            <a:r>
              <a:t>• The caller guarantees that the requested element exists.</a:t>
            </a:r>
          </a:p>
          <a:p>
            <a:pPr>
              <a:spcAft>
                <a:spcPts val="1100"/>
              </a:spcAft>
              <a:defRPr sz="1900">
                <a:solidFill>
                  <a:srgbClr val="F2F5F8"/>
                </a:solidFill>
              </a:defRPr>
            </a:pPr>
            <a:r>
              <a:t>• The assembly combines the extra element offset and scaled indexing in one memory operand.</a:t>
            </a:r>
          </a:p>
          <a:p>
            <a:pPr>
              <a:spcAft>
                <a:spcPts val="1100"/>
              </a:spcAft>
              <a:defRPr sz="1900">
                <a:solidFill>
                  <a:srgbClr val="F2F5F8"/>
                </a:solidFill>
              </a:defRPr>
            </a:pPr>
            <a:r>
              <a:t>• Companion listing: ch14/pick.S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Translating an indexed load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ch14/pick.S</a:t>
            </a:r>
          </a:p>
          <a:p>
            <a:pPr>
              <a:spcAft>
                <a:spcPts val="1100"/>
              </a:spcAft>
              <a:defRPr sz="1900">
                <a:solidFill>
                  <a:srgbClr val="F2F5F8"/>
                </a:solidFill>
              </a:defRPr>
            </a:pPr>
            <a:r>
              <a:t>• Companion listing: ch14/main.c</a:t>
            </a:r>
          </a:p>
          <a:p>
            <a:pPr>
              <a:spcAft>
                <a:spcPts val="1100"/>
              </a:spcAft>
              <a:defRPr sz="1900">
                <a:solidFill>
                  <a:srgbClr val="F2F5F8"/>
                </a:solidFill>
              </a:defRPr>
            </a:pPr>
            <a:r>
              <a:t>• With a hypothetical base of 0x3000 , index 2 gives 0x3000 + 8 + 2 × 8 = 0x3018 .</a:t>
            </a:r>
          </a:p>
          <a:p>
            <a:pPr>
              <a:spcAft>
                <a:spcPts val="1100"/>
              </a:spcAft>
              <a:defRPr sz="1900">
                <a:solidFill>
                  <a:srgbClr val="F2F5F8"/>
                </a:solidFill>
              </a:defRPr>
            </a:pPr>
            <a:r>
              <a:t>• That is element 3, whose value is 44.</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Decoding scaled-index addressing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address such as 8(%rbx,%rcx,4) means base rbx plus index rcx multiplied by 4 plus displacement 8.</a:t>
            </a:r>
          </a:p>
          <a:p>
            <a:pPr>
              <a:spcAft>
                <a:spcPts val="1100"/>
              </a:spcAft>
              <a:defRPr sz="1900">
                <a:solidFill>
                  <a:srgbClr val="F2F5F8"/>
                </a:solidFill>
              </a:defRPr>
            </a:pPr>
            <a:r>
              <a:t>• If rbx=0x1000 and rcx=3 , the effective address is 0x1000 + 12 + 8 = 0x1014 .</a:t>
            </a:r>
          </a:p>
          <a:p>
            <a:pPr>
              <a:spcAft>
                <a:spcPts val="1100"/>
              </a:spcAft>
              <a:defRPr sz="1900">
                <a:solidFill>
                  <a:srgbClr val="F2F5F8"/>
                </a:solidFill>
              </a:defRPr>
            </a:pPr>
            <a:r>
              <a:t>• This form naturally addresses array elements plus a field displacement.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Decoding scaled-index addressing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address such as 8(%rbx,%rcx,4) means base rbx plus index rcx multiplied by 4 plus displacement 8.</a:t>
            </a:r>
          </a:p>
          <a:p>
            <a:pPr>
              <a:spcAft>
                <a:spcPts val="1100"/>
              </a:spcAft>
              <a:defRPr sz="1900">
                <a:solidFill>
                  <a:srgbClr val="F2F5F8"/>
                </a:solidFill>
              </a:defRPr>
            </a:pPr>
            <a:r>
              <a:t>• If rbx=0x1000 and rcx=3 , the effective address is 0x1000 + 12 + 8 = 0x1014 .</a:t>
            </a:r>
          </a:p>
          <a:p>
            <a:pPr>
              <a:spcAft>
                <a:spcPts val="1100"/>
              </a:spcAft>
              <a:defRPr sz="1900">
                <a:solidFill>
                  <a:srgbClr val="F2F5F8"/>
                </a:solidFill>
              </a:defRPr>
            </a:pPr>
            <a:r>
              <a:t>• This form naturally addresses array elements plus a field displacement.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Using lea for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lea computes an effective address without dereferencing memory.</a:t>
            </a:r>
          </a:p>
          <a:p>
            <a:pPr>
              <a:spcAft>
                <a:spcPts val="1100"/>
              </a:spcAft>
              <a:defRPr sz="1900">
                <a:solidFill>
                  <a:srgbClr val="F2F5F8"/>
                </a:solidFill>
              </a:defRPr>
            </a:pPr>
            <a:r>
              <a:t>• If rax=7 , an instruction like lea 5(%rax,%rax,2), %rdx computes 5 + 7 + 14 = 26 in rdx .</a:t>
            </a:r>
          </a:p>
          <a:p>
            <a:pPr>
              <a:spcAft>
                <a:spcPts val="1100"/>
              </a:spcAft>
              <a:defRPr sz="1900">
                <a:solidFill>
                  <a:srgbClr val="F2F5F8"/>
                </a:solidFill>
              </a:defRPr>
            </a:pPr>
            <a:r>
              <a:t>• Compilers exploit this addressing arithmetic for integer expressions as well as actual addresses.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Using lea for arithmetic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lea computes an effective address without dereferencing memory.</a:t>
            </a:r>
          </a:p>
          <a:p>
            <a:pPr>
              <a:spcAft>
                <a:spcPts val="1100"/>
              </a:spcAft>
              <a:defRPr sz="1900">
                <a:solidFill>
                  <a:srgbClr val="F2F5F8"/>
                </a:solidFill>
              </a:defRPr>
            </a:pPr>
            <a:r>
              <a:t>• If rax=7 , an instruction like lea 5(%rax,%rax,2), %rdx computes 5 + 7 + 14 = 26 in rdx .</a:t>
            </a:r>
          </a:p>
          <a:p>
            <a:pPr>
              <a:spcAft>
                <a:spcPts val="1100"/>
              </a:spcAft>
              <a:defRPr sz="1900">
                <a:solidFill>
                  <a:srgbClr val="F2F5F8"/>
                </a:solidFill>
              </a:defRPr>
            </a:pPr>
            <a:r>
              <a:t>• Compilers exploit this addressing arithmetic for integer expressions as well as actual addresses.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14.</a:t>
            </a:r>
          </a:p>
          <a:p>
            <a:pPr>
              <a:spcAft>
                <a:spcPts val="1100"/>
              </a:spcAft>
              <a:defRPr sz="1900">
                <a:solidFill>
                  <a:srgbClr val="F2F5F8"/>
                </a:solidFill>
              </a:defRPr>
            </a:pPr>
            <a:r>
              <a:t>• Write a C wrapper that checks index &lt; count - 1 only after verifying count &gt; 0 , then calls the assembly routine.</a:t>
            </a:r>
          </a:p>
          <a:p>
            <a:pPr>
              <a:spcAft>
                <a:spcPts val="1100"/>
              </a:spcAft>
              <a:defRPr sz="1900">
                <a:solidFill>
                  <a:srgbClr val="F2F5F8"/>
                </a:solidFill>
              </a:defRPr>
            </a:pPr>
            <a:r>
              <a:t>• Test empty, one-element, and four-element arrays without performing an invalid load.</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What value does leaq (%rdi,%rdi,2), %rax compute?</a:t>
            </a:r>
          </a:p>
          <a:p>
            <a:pPr>
              <a:spcAft>
                <a:spcPts val="1100"/>
              </a:spcAft>
              <a:defRPr sz="1900">
                <a:solidFill>
                  <a:srgbClr val="F2F5F8"/>
                </a:solidFill>
              </a:defRPr>
            </a:pPr>
            <a:r>
              <a:t>• Review 2.</a:t>
            </a:r>
          </a:p>
          <a:p>
            <a:pPr>
              <a:spcAft>
                <a:spcPts val="1100"/>
              </a:spcAft>
              <a:defRPr sz="1900">
                <a:solidFill>
                  <a:srgbClr val="F2F5F8"/>
                </a:solidFill>
              </a:defRPr>
            </a:pPr>
            <a:r>
              <a:t>• Why is a memory operand not automatically safe merely because the arithmetic does not overflow?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assembly data movement.</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Assembly Arithmetic.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14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