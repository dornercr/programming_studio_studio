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29 — Cache Organization</a:t>
            </a:r>
          </a:p>
          <a:p/>
          <a:p>
            <a:r>
              <a:t>LECTURE NARRATION</a:t>
            </a:r>
          </a:p>
          <a:p>
            <a:r>
              <a:t>A cache stores copies of blocks from a larger addressable space. Its organization determines where a block may reside and how hardware recognizes whether the requested block is present. The following models use byte addresses and power-of-two sizes to make the arithmetic transparent. Real processors add details such as physical or virtual indexing choices, coherence states, replacement approximations, and multiple cache levels. Use the simplified models to understand mapping and conflicts, not to infer every detail of a particular CPU from a virtual address alone.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cache stores copies of blocks from a larger addressable space.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cache stores copies of blocks from a larger addressable space. Its organization determines where a block may reside and how hardware recognizes whether the requested block is present. The following models use byte addresses and power-of-two sizes to make the arithmetic transparent. Real processors add details such as physical or virtual indexing choices, coherence states, replacement approximations, and multiple cache levels. Use the simplified models to understand mapping and conflicts, not to infer every detail of a particular CPU from a virtual address alone.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cache stores copies of blocks from a larger addressable space.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29.1 Cache blocks 29.2 Cache lines 29.3 Cache slots 29.4 Cache sets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29.1 Cache blocks 29.2 Cache lines 29.3 Cache slots 29.4 Cache sets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29.1 Cache blocks</a:t>
            </a:r>
          </a:p>
          <a:p/>
          <a:p>
            <a:r>
              <a:t>LECTURE NARRATION</a:t>
            </a:r>
          </a:p>
          <a:p>
            <a:r>
              <a:t>A block is the fixed-size unit transferred between levels in the model. If blocks contain 64 bytes, addresses 0 through 63 belong to block 0, and addresses 64 through 127 belong to block 1. The block number is address / block_size , rounded down. The within-block offset selects the requested byte after the correct block has been found. Fetching a block can benefit later accesses to any of its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29.1 Cache blocks — Deep Dive</a:t>
            </a:r>
          </a:p>
          <a:p/>
          <a:p>
            <a:r>
              <a:t>LECTURE NARRATION</a:t>
            </a:r>
          </a:p>
          <a:p>
            <a:r>
              <a:t>A block is the fixed-size unit transferred between levels in the model. If blocks contain 64 bytes, addresses 0 through 63 belong to block 0, and addresses 64 through 127 belong to block 1. The block number is address / block_size , rounded down. The within-block offset selects the requested byte after the correct block has been found. Fetching a block can benefit later accesses to any of its bytes.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29.2 Cache lines</a:t>
            </a:r>
          </a:p>
          <a:p/>
          <a:p>
            <a:r>
              <a:t>LECTURE NARRATION</a:t>
            </a:r>
          </a:p>
          <a:p>
            <a:r>
              <a:t>A cache line is the cache storage associated with one block’s data and its identifying state. Informal usage often treats “block” and “line” as interchangeable, but distinguishing the transferred block from its cache-resident slot can clarify replacement. A line contains metadata as well as data: a tag, validity information, and potentially dirty and coherence state. Capacity specifications usually refer to data capacity rather than including every metadata bit.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29.2 Cache lines — Deep Dive</a:t>
            </a:r>
          </a:p>
          <a:p/>
          <a:p>
            <a:r>
              <a:t>LECTURE NARRATION</a:t>
            </a:r>
          </a:p>
          <a:p>
            <a:r>
              <a:t>A cache line is the cache storage associated with one block’s data and its identifying state. Informal usage often treats “block” and “line” as interchangeable, but distinguishing the transferred block from its cache-resident slot can clarify replacement. A line contains metadata as well as data: a tag, validity information, and potentially dirty and coherence state. Capacity specifications usually refer to data capacity rather than including every metadata bit.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29.3 Cache slots</a:t>
            </a:r>
          </a:p>
          <a:p/>
          <a:p>
            <a:r>
              <a:t>LECTURE NARRATION</a:t>
            </a:r>
          </a:p>
          <a:p>
            <a:r>
              <a:t>A slot is a possible resident location for a block. A direct-mapped cache gives each block exactly one eligible slot. More associative organizations give a block several or all slots as candidates. Replacement selects among eligible resident lines, not among arbitrary locations that the indexing rule forbids. This distinction is why unused capacity in one set does not necessarily help a different set that is experiencing conflicts.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29.3 Cache slots — Deep Dive</a:t>
            </a:r>
          </a:p>
          <a:p/>
          <a:p>
            <a:r>
              <a:t>LECTURE NARRATION</a:t>
            </a:r>
          </a:p>
          <a:p>
            <a:r>
              <a:t>A slot is a possible resident location for a block. A direct-mapped cache gives each block exactly one eligible slot. More associative organizations give a block several or all slots as candidates. Replacement selects among eligible resident lines, not among arbitrary locations that the indexing rule forbids. This distinction is why unused capacity in one set does not necessarily help a different set that is experiencing conflicts.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29.4 Cache sets</a:t>
            </a:r>
          </a:p>
          <a:p/>
          <a:p>
            <a:r>
              <a:t>LECTURE NARRATION</a:t>
            </a:r>
          </a:p>
          <a:p>
            <a:r>
              <a:t>A set groups the eligible slots for a mapping. If a cache has S sets and E ways per set, it has S*E data-line slots. A block maps to one set and can occupy one of that set’s ways. A two-way cache does not mean two sets. It means two eligible line positions within each set. Keep set count, associativity, and line size separate when calculating capacity.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29.4 Cache sets — Deep Dive</a:t>
            </a:r>
          </a:p>
          <a:p/>
          <a:p>
            <a:r>
              <a:t>LECTURE NARRATION</a:t>
            </a:r>
          </a:p>
          <a:p>
            <a:r>
              <a:t>A set groups the eligible slots for a mapping. If a cache has S sets and E ways per set, it has S*E data-line slots. A block maps to one set and can occupy one of that set’s ways. A two-way cache does not mean two sets. It means two eligible line positions within each set. Keep set count, associativity, and line size separate when calculating capacity.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29.5 Tags</a:t>
            </a:r>
          </a:p>
          <a:p/>
          <a:p>
            <a:r>
              <a:t>LECTURE NARRATION</a:t>
            </a:r>
          </a:p>
          <a:p>
            <a:r>
              <a:t>A tag identifies which of the many blocks mapping to a set occupies a particular valid line. After selecting the set, the cache compares the requested tag with the valid resident tags. A tag match without a valid line is not a hit. Other state can affect whether a request can proceed, especially for writes in a coherent system. The basic read-only model tracks validity and tag identity.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tag identifies which of the many blocks mapping to a set occupies a particular valid line.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29.5 Tags — Deep Dive</a:t>
            </a:r>
          </a:p>
          <a:p/>
          <a:p>
            <a:r>
              <a:t>LECTURE NARRATION</a:t>
            </a:r>
          </a:p>
          <a:p>
            <a:r>
              <a:t>A tag identifies which of the many blocks mapping to a set occupies a particular valid line. After selecting the set, the cache compares the requested tag with the valid resident tags. A tag match without a valid line is not a hit. Other state can affect whether a request can proceed, especially for writes in a coherent system. The basic read-only model tracks validity and tag identity.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tag identifies which of the many blocks mapping to a set occupies a particular valid line.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29.6 Cache indexing</a:t>
            </a:r>
          </a:p>
          <a:p/>
          <a:p>
            <a:r>
              <a:t>LECTURE NARRATION</a:t>
            </a:r>
          </a:p>
          <a:p>
            <a:r>
              <a:t>For line size B and S sets, the simple modulo-indexed model uses: When B and S are powers of two, these fields correspond to contiguous bit ranges. Some actual caches use more complex indexing or hashing. State the model before applying the formula to a hardware prediction.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29.6 Cache indexing — Deep Dive</a:t>
            </a:r>
          </a:p>
          <a:p/>
          <a:p>
            <a:r>
              <a:t>LECTURE NARRATION</a:t>
            </a:r>
          </a:p>
          <a:p>
            <a:r>
              <a:t>For line size B and S sets, the simple modulo-indexed model uses: When B and S are powers of two, these fields correspond to contiguous bit ranges. Some actual caches use more complex indexing or hashing. State the model before applying the formula to a hardware prediction.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29.7 Direct-mapped caches</a:t>
            </a:r>
          </a:p>
          <a:p/>
          <a:p>
            <a:r>
              <a:t>LECTURE NARRATION</a:t>
            </a:r>
          </a:p>
          <a:p>
            <a:r>
              <a:t>A direct-mapped cache has one way per set. Lookup and replacement are simple because each block has one possible location. Two frequently used blocks that map to the same set can repeatedly evict each other even when other sets are empty. This behavior is a conflict, not a shortage of total line slots alone. Changing layout, padding, or associativity can alter the conflict pattern. Whether such a change helps an actual application must be measured under the real cache organization.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29.7 Direct-mapped caches — Deep Dive</a:t>
            </a:r>
          </a:p>
          <a:p/>
          <a:p>
            <a:r>
              <a:t>LECTURE NARRATION</a:t>
            </a:r>
          </a:p>
          <a:p>
            <a:r>
              <a:t>A direct-mapped cache has one way per set. Lookup and replacement are simple because each block has one possible location. Two frequently used blocks that map to the same set can repeatedly evict each other even when other sets are empty. This behavior is a conflict, not a shortage of total line slots alone. Changing layout, padding, or associativity can alter the conflict pattern. Whether such a change helps an actual application must be measured under the real cache organization.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29.8 Set-associative caches</a:t>
            </a:r>
          </a:p>
          <a:p/>
          <a:p>
            <a:r>
              <a:t>LECTURE NARRATION</a:t>
            </a:r>
          </a:p>
          <a:p>
            <a:r>
              <a:t>An E -way set-associative cache permits up to E resident blocks in each set. Associativity reduces some conflicts at the cost of more lookup and replacement complexity. It does not eliminate capacity limits or every conflict pattern. For example, a two-way set repeatedly accessed by three mutually conflicting blocks can still thrash under LRU. More ways help only when the increased flexibility retains useful blocks that would otherwise be displaced.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29.8 Set-associative caches — Deep Dive</a:t>
            </a:r>
          </a:p>
          <a:p/>
          <a:p>
            <a:r>
              <a:t>LECTURE NARRATION</a:t>
            </a:r>
          </a:p>
          <a:p>
            <a:r>
              <a:t>An E -way set-associative cache permits up to E resident blocks in each set. Associativity reduces some conflicts at the cost of more lookup and replacement complexity. It does not eliminate capacity limits or every conflict pattern. For example, a two-way set repeatedly accessed by three mutually conflicting blocks can still thrash under LRU. More ways help only when the increased flexibility retains useful blocks that would otherwise be displaced.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29.9 Fully associative caches</a:t>
            </a:r>
          </a:p>
          <a:p/>
          <a:p>
            <a:r>
              <a:t>LECTURE NARRATION</a:t>
            </a:r>
          </a:p>
          <a:p>
            <a:r>
              <a:t>A fully associative cache allows a block to occupy any line slot. In the model, it has one set and as many ways as resident lines. This removes set-index conflicts but leaves finite capacity and replacement decisions. Fully associative models are useful reference points for classifying misses. They are not automatically practical implementations for large, low-latency hardware caches because searching and maintaining many candidate entries has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29.9 Fully associative caches — Deep Dive</a:t>
            </a:r>
          </a:p>
          <a:p/>
          <a:p>
            <a:r>
              <a:t>LECTURE NARRATION</a:t>
            </a:r>
          </a:p>
          <a:p>
            <a:r>
              <a:t>A fully associative cache allows a block to occupy any line slot. In the model, it has one set and as many ways as resident lines. This removes set-index conflicts but leaves finite capacity and replacement decisions. Fully associative models are useful reference points for classifying misses. They are not automatically practical implementations for large, low-latency hardware caches because searching and maintaining many candidate entries has costs.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Decomposing an address</a:t>
            </a:r>
          </a:p>
          <a:p/>
          <a:p>
            <a:r>
              <a:t>LECTURE NARRATION</a:t>
            </a:r>
          </a:p>
          <a:p>
            <a:r>
              <a:t>Assume a 32-KiB data cache, 64-byte lines, and eight ways. The set count is: There are 6 offset bits and 6 set-index bits. For address 0x1234 , the offset is 0x34 (52), the set is 0x08 (8), and the tag is 0x1 . The block number is 0x48 , or 72; 72 mod 64 = 8 . Address 0x2234 has the same offset and set but tag 2. The two addresses can coexist in different ways of the same set. In a direct-mapped cache with the same 64 sets and line size, they would compete for one line position. Notice that holding set count fixed while changing associativity also changes total capacity; fair comparisons must state which dimensions remain fixed.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Decomposing an address — Deep Dive</a:t>
            </a:r>
          </a:p>
          <a:p/>
          <a:p>
            <a:r>
              <a:t>LECTURE NARRATION</a:t>
            </a:r>
          </a:p>
          <a:p>
            <a:r>
              <a:t>Assume a 32-KiB data cache, 64-byte lines, and eight ways. The set count is: There are 6 offset bits and 6 set-index bits. For address 0x1234 , the offset is 0x34 (52), the set is 0x08 (8), and the tag is 0x1 . The block number is 0x48 , or 72; 72 mod 64 = 8 . Address 0x2234 has the same offset and set but tag 2. The two addresses can coexist in different ways of the same set. In a direct-mapped cache with the same 64 sets and line size, they would compete for one line position. Notice that holding set count fixed while changing associativity also changes total capacity; fair comparisons must state which dimensions remain fixed.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Finding set and tag bits</a:t>
            </a:r>
          </a:p>
          <a:p/>
          <a:p>
            <a:r>
              <a:t>LECTURE NARRATION</a:t>
            </a:r>
          </a:p>
          <a:p>
            <a:r>
              <a:t>For a 32 KiB, 8-way cache with 64-byte lines, there are 32768/(64 × 8)=64 sets. Six offset bits select a byte within a line and six index bits select one of 64 sets. Remaining address bits form the tag. Two addresses with equal set index but different tags may coexist up to the associativity limit.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32 KiB, 8-way cache with 64-byte lines, there are 32768/(64 × 8)=64 sets.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Finding set and tag bits — Deep Dive</a:t>
            </a:r>
          </a:p>
          <a:p/>
          <a:p>
            <a:r>
              <a:t>LECTURE NARRATION</a:t>
            </a:r>
          </a:p>
          <a:p>
            <a:r>
              <a:t>For a 32 KiB, 8-way cache with 64-byte lines, there are 32768/(64 × 8)=64 sets. Six offset bits select a byte within a line and six index bits select one of 64 sets. Remaining address bits form the tag. Two addresses with equal set index but different tags may coexist up to the associativity limit.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32 KiB, 8-way cache with 64-byte lines, there are 32768/(64 × 8)=64 sets.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Direct-mapped conflict</a:t>
            </a:r>
          </a:p>
          <a:p/>
          <a:p>
            <a:r>
              <a:t>LECTURE NARRATION</a:t>
            </a:r>
          </a:p>
          <a:p>
            <a:r>
              <a:t>In a direct-mapped cache, each memory block has exactly one destination set. If two frequently used blocks map to the same set, alternating accesses can evict each other even when the cache has plenty of unused capacity elsewhere. Increasing associativity can remove this conflict without increasing total capacity.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a direct-mapped cache, each memory block has exactly one destination set.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Direct-mapped conflict — Deep Dive</a:t>
            </a:r>
          </a:p>
          <a:p/>
          <a:p>
            <a:r>
              <a:t>LECTURE NARRATION</a:t>
            </a:r>
          </a:p>
          <a:p>
            <a:r>
              <a:t>In a direct-mapped cache, each memory block has exactly one destination set. If two frequently used blocks map to the same set, alternating accesses can evict each other even when the cache has plenty of unused capacity elsewhere. Increasing associativity can remove this conflict without increasing total capacity.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a direct-mapped cache, each memory block has exactly one destination set.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29. Decompose address 0x3ABC for a cache with 32-byte lines and 128 sets. Calculate capacity when it is four-way associative. Review 1. Why can a set overflow while other sets have empty lines? Review 2. Which fields are needed to distinguish a hit from an invalid slot?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29.</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29. Decompose address 0x3ABC for a cache with 32-byte lines and 128 sets. Calculate capacity when it is four-way associative. Review 1. Why can a set overflow while other sets have empty lines? Review 2. Which fields are needed to distinguish a hit from an invalid slot?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29.</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cache organization.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cache organization.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Cache Behavior.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29 — Cache Organization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cache stores copies of blocks from a larger addressable space.</a:t>
            </a:r>
          </a:p>
          <a:p>
            <a:pPr>
              <a:spcAft>
                <a:spcPts val="1100"/>
              </a:spcAft>
              <a:defRPr sz="1700">
                <a:solidFill>
                  <a:srgbClr val="F2F5F8"/>
                </a:solidFill>
              </a:defRPr>
            </a:pPr>
            <a:r>
              <a:t>• Its organization determines where a block may reside and how hardware recognizes whether the requested block is present.</a:t>
            </a:r>
          </a:p>
          <a:p>
            <a:pPr>
              <a:spcAft>
                <a:spcPts val="1100"/>
              </a:spcAft>
              <a:defRPr sz="1900">
                <a:solidFill>
                  <a:srgbClr val="F2F5F8"/>
                </a:solidFill>
              </a:defRPr>
            </a:pPr>
            <a:r>
              <a:t>• The following models use byte addresses and power-of-two sizes to make the arithmetic transparent.</a:t>
            </a:r>
          </a:p>
          <a:p>
            <a:pPr>
              <a:spcAft>
                <a:spcPts val="1100"/>
              </a:spcAft>
              <a:defRPr sz="1700">
                <a:solidFill>
                  <a:srgbClr val="F2F5F8"/>
                </a:solidFill>
              </a:defRPr>
            </a:pPr>
            <a:r>
              <a:t>• Real processors add details such as physical or virtual indexing choices, coherence states, replacement approximations, and multiple cache levels.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Cache Organization.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29.1 Cache blocks</a:t>
            </a:r>
          </a:p>
          <a:p>
            <a:pPr>
              <a:spcAft>
                <a:spcPts val="1100"/>
              </a:spcAft>
              <a:defRPr sz="1900">
                <a:solidFill>
                  <a:srgbClr val="F2F5F8"/>
                </a:solidFill>
              </a:defRPr>
            </a:pPr>
            <a:r>
              <a:t>• 29.2 Cache lines</a:t>
            </a:r>
          </a:p>
          <a:p>
            <a:pPr>
              <a:spcAft>
                <a:spcPts val="1100"/>
              </a:spcAft>
              <a:defRPr sz="1900">
                <a:solidFill>
                  <a:srgbClr val="F2F5F8"/>
                </a:solidFill>
              </a:defRPr>
            </a:pPr>
            <a:r>
              <a:t>• 29.3 Cache slots</a:t>
            </a:r>
          </a:p>
          <a:p>
            <a:pPr>
              <a:spcAft>
                <a:spcPts val="1100"/>
              </a:spcAft>
              <a:defRPr sz="1900">
                <a:solidFill>
                  <a:srgbClr val="F2F5F8"/>
                </a:solidFill>
              </a:defRPr>
            </a:pPr>
            <a:r>
              <a:t>• 29.4 Cache sets</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29.1 Cache blocks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block is the fixed-size unit transferred between levels in the model.</a:t>
            </a:r>
          </a:p>
          <a:p>
            <a:pPr>
              <a:spcAft>
                <a:spcPts val="1100"/>
              </a:spcAft>
              <a:defRPr sz="1900">
                <a:solidFill>
                  <a:srgbClr val="F2F5F8"/>
                </a:solidFill>
              </a:defRPr>
            </a:pPr>
            <a:r>
              <a:t>• If blocks contain 64 bytes, addresses 0 through 63 belong to block 0, and addresses 64 through 127 belong to block 1.</a:t>
            </a:r>
          </a:p>
          <a:p>
            <a:pPr>
              <a:spcAft>
                <a:spcPts val="1100"/>
              </a:spcAft>
              <a:defRPr sz="1900">
                <a:solidFill>
                  <a:srgbClr val="F2F5F8"/>
                </a:solidFill>
              </a:defRPr>
            </a:pPr>
            <a:r>
              <a:t>• The block number is address / block_size , rounded down.</a:t>
            </a:r>
          </a:p>
          <a:p>
            <a:pPr>
              <a:spcAft>
                <a:spcPts val="1100"/>
              </a:spcAft>
              <a:defRPr sz="1900">
                <a:solidFill>
                  <a:srgbClr val="F2F5F8"/>
                </a:solidFill>
              </a:defRPr>
            </a:pPr>
            <a:r>
              <a:t>• The within-block offset selects the requested byte after the correct block has been found.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29.1 Cache blocks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block number is address / block_size , rounded down.</a:t>
            </a:r>
          </a:p>
          <a:p>
            <a:pPr>
              <a:spcAft>
                <a:spcPts val="1100"/>
              </a:spcAft>
              <a:defRPr sz="1900">
                <a:solidFill>
                  <a:srgbClr val="F2F5F8"/>
                </a:solidFill>
              </a:defRPr>
            </a:pPr>
            <a:r>
              <a:t>• The within-block offset selects the requested byte after the correct block has been found.</a:t>
            </a:r>
          </a:p>
          <a:p>
            <a:pPr>
              <a:spcAft>
                <a:spcPts val="1100"/>
              </a:spcAft>
              <a:defRPr sz="1900">
                <a:solidFill>
                  <a:srgbClr val="F2F5F8"/>
                </a:solidFill>
              </a:defRPr>
            </a:pPr>
            <a:r>
              <a:t>• Fetching a block can benefit later accesses to any of its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29.2 Cache lines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cache line is the cache storage associated with one block’s data and its identifying state.</a:t>
            </a:r>
          </a:p>
          <a:p>
            <a:pPr>
              <a:spcAft>
                <a:spcPts val="1100"/>
              </a:spcAft>
              <a:defRPr sz="1700">
                <a:solidFill>
                  <a:srgbClr val="F2F5F8"/>
                </a:solidFill>
              </a:defRPr>
            </a:pPr>
            <a:r>
              <a:t>• Informal usage often treats “block” and “line” as interchangeable, but distinguishing the transferred block from its cache-resident slot can clarify replacement.</a:t>
            </a:r>
          </a:p>
          <a:p>
            <a:pPr>
              <a:spcAft>
                <a:spcPts val="1100"/>
              </a:spcAft>
              <a:defRPr sz="1900">
                <a:solidFill>
                  <a:srgbClr val="F2F5F8"/>
                </a:solidFill>
              </a:defRPr>
            </a:pPr>
            <a:r>
              <a:t>• A line contains metadata as well as data: a tag, validity information, and potentially dirty and coherence state.</a:t>
            </a:r>
          </a:p>
          <a:p>
            <a:pPr>
              <a:spcAft>
                <a:spcPts val="1100"/>
              </a:spcAft>
              <a:defRPr sz="1900">
                <a:solidFill>
                  <a:srgbClr val="F2F5F8"/>
                </a:solidFill>
              </a:defRPr>
            </a:pPr>
            <a:r>
              <a:t>• Capacity specifications usually refer to data capacity rather than including every metadata bit.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29.2 Cache lines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line contains metadata as well as data: a tag, validity information, and potentially dirty and coherence state.</a:t>
            </a:r>
          </a:p>
          <a:p>
            <a:pPr>
              <a:spcAft>
                <a:spcPts val="1100"/>
              </a:spcAft>
              <a:defRPr sz="1900">
                <a:solidFill>
                  <a:srgbClr val="F2F5F8"/>
                </a:solidFill>
              </a:defRPr>
            </a:pPr>
            <a:r>
              <a:t>• Capacity specifications usually refer to data capacity rather than including every metadata bit.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29.3 Cache slots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slot is a possible resident location for a block.</a:t>
            </a:r>
          </a:p>
          <a:p>
            <a:pPr>
              <a:spcAft>
                <a:spcPts val="1100"/>
              </a:spcAft>
              <a:defRPr sz="1900">
                <a:solidFill>
                  <a:srgbClr val="F2F5F8"/>
                </a:solidFill>
              </a:defRPr>
            </a:pPr>
            <a:r>
              <a:t>• A direct-mapped cache gives each block exactly one eligible slot.</a:t>
            </a:r>
          </a:p>
          <a:p>
            <a:pPr>
              <a:spcAft>
                <a:spcPts val="1100"/>
              </a:spcAft>
              <a:defRPr sz="1900">
                <a:solidFill>
                  <a:srgbClr val="F2F5F8"/>
                </a:solidFill>
              </a:defRPr>
            </a:pPr>
            <a:r>
              <a:t>• More associative organizations give a block several or all slots as candidates.</a:t>
            </a:r>
          </a:p>
          <a:p>
            <a:pPr>
              <a:spcAft>
                <a:spcPts val="1100"/>
              </a:spcAft>
              <a:defRPr sz="1900">
                <a:solidFill>
                  <a:srgbClr val="F2F5F8"/>
                </a:solidFill>
              </a:defRPr>
            </a:pPr>
            <a:r>
              <a:t>• Replacement selects among eligible resident lines, not among arbitrary locations that the indexing rule forbids.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29.3 Cache slots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Replacement selects among eligible resident lines, not among arbitrary locations that the indexing rule forbids.</a:t>
            </a:r>
          </a:p>
          <a:p>
            <a:pPr>
              <a:spcAft>
                <a:spcPts val="1100"/>
              </a:spcAft>
              <a:defRPr sz="1700">
                <a:solidFill>
                  <a:srgbClr val="F2F5F8"/>
                </a:solidFill>
              </a:defRPr>
            </a:pPr>
            <a:r>
              <a:t>• This distinction is why unused capacity in one set does not necessarily help a different set that is experiencing conflicts.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29.4 Cache sets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set groups the eligible slots for a mapping.</a:t>
            </a:r>
          </a:p>
          <a:p>
            <a:pPr>
              <a:spcAft>
                <a:spcPts val="1100"/>
              </a:spcAft>
              <a:defRPr sz="1900">
                <a:solidFill>
                  <a:srgbClr val="F2F5F8"/>
                </a:solidFill>
              </a:defRPr>
            </a:pPr>
            <a:r>
              <a:t>• If a cache has S sets and E ways per set, it has S*E data-line slots.</a:t>
            </a:r>
          </a:p>
          <a:p>
            <a:pPr>
              <a:spcAft>
                <a:spcPts val="1100"/>
              </a:spcAft>
              <a:defRPr sz="1900">
                <a:solidFill>
                  <a:srgbClr val="F2F5F8"/>
                </a:solidFill>
              </a:defRPr>
            </a:pPr>
            <a:r>
              <a:t>• A block maps to one set and can occupy one of that set’s ways.</a:t>
            </a:r>
          </a:p>
          <a:p>
            <a:pPr>
              <a:spcAft>
                <a:spcPts val="1100"/>
              </a:spcAft>
              <a:defRPr sz="1900">
                <a:solidFill>
                  <a:srgbClr val="F2F5F8"/>
                </a:solidFill>
              </a:defRPr>
            </a:pPr>
            <a:r>
              <a:t>• A two-way cache does not mean two sets.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29.4 Cache sets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two-way cache does not mean two sets.</a:t>
            </a:r>
          </a:p>
          <a:p>
            <a:pPr>
              <a:spcAft>
                <a:spcPts val="1100"/>
              </a:spcAft>
              <a:defRPr sz="1900">
                <a:solidFill>
                  <a:srgbClr val="F2F5F8"/>
                </a:solidFill>
              </a:defRPr>
            </a:pPr>
            <a:r>
              <a:t>• It means two eligible line positions within each set.</a:t>
            </a:r>
          </a:p>
          <a:p>
            <a:pPr>
              <a:spcAft>
                <a:spcPts val="1100"/>
              </a:spcAft>
              <a:defRPr sz="1900">
                <a:solidFill>
                  <a:srgbClr val="F2F5F8"/>
                </a:solidFill>
              </a:defRPr>
            </a:pPr>
            <a:r>
              <a:t>• Keep set count, associativity, and line size separate when calculating capacity.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29.5 Tags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tag identifies which of the many blocks mapping to a set occupies a particular valid line.</a:t>
            </a:r>
          </a:p>
          <a:p>
            <a:pPr>
              <a:spcAft>
                <a:spcPts val="1100"/>
              </a:spcAft>
              <a:defRPr sz="1900">
                <a:solidFill>
                  <a:srgbClr val="F2F5F8"/>
                </a:solidFill>
              </a:defRPr>
            </a:pPr>
            <a:r>
              <a:t>• After selecting the set, the cache compares the requested tag with the valid resident tags.</a:t>
            </a:r>
          </a:p>
          <a:p>
            <a:pPr>
              <a:spcAft>
                <a:spcPts val="1100"/>
              </a:spcAft>
              <a:defRPr sz="1900">
                <a:solidFill>
                  <a:srgbClr val="F2F5F8"/>
                </a:solidFill>
              </a:defRPr>
            </a:pPr>
            <a:r>
              <a:t>• A tag match without a valid line is not a hit.</a:t>
            </a:r>
          </a:p>
          <a:p>
            <a:pPr>
              <a:spcAft>
                <a:spcPts val="1100"/>
              </a:spcAft>
              <a:defRPr sz="1900">
                <a:solidFill>
                  <a:srgbClr val="F2F5F8"/>
                </a:solidFill>
              </a:defRPr>
            </a:pPr>
            <a:r>
              <a:t>• Other state can affect whether a request can proceed, especially for writes in a coherent system.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29.5 Tags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tag match without a valid line is not a hit.</a:t>
            </a:r>
          </a:p>
          <a:p>
            <a:pPr>
              <a:spcAft>
                <a:spcPts val="1100"/>
              </a:spcAft>
              <a:defRPr sz="1900">
                <a:solidFill>
                  <a:srgbClr val="F2F5F8"/>
                </a:solidFill>
              </a:defRPr>
            </a:pPr>
            <a:r>
              <a:t>• Other state can affect whether a request can proceed, especially for writes in a coherent system.</a:t>
            </a:r>
          </a:p>
          <a:p>
            <a:pPr>
              <a:spcAft>
                <a:spcPts val="1100"/>
              </a:spcAft>
              <a:defRPr sz="1900">
                <a:solidFill>
                  <a:srgbClr val="F2F5F8"/>
                </a:solidFill>
              </a:defRPr>
            </a:pPr>
            <a:r>
              <a:t>• The basic read-only model tracks validity and tag identity.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29.6 Cache indexing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line size B and S sets, the simple modulo-indexed model uses:</a:t>
            </a:r>
          </a:p>
          <a:p>
            <a:pPr>
              <a:spcAft>
                <a:spcPts val="1100"/>
              </a:spcAft>
              <a:defRPr sz="1900">
                <a:solidFill>
                  <a:srgbClr val="F2F5F8"/>
                </a:solidFill>
              </a:defRPr>
            </a:pPr>
            <a:r>
              <a:t>• When B and S are powers of two, these fields correspond to contiguous bit ranges.</a:t>
            </a:r>
          </a:p>
          <a:p>
            <a:pPr>
              <a:spcAft>
                <a:spcPts val="1100"/>
              </a:spcAft>
              <a:defRPr sz="1900">
                <a:solidFill>
                  <a:srgbClr val="F2F5F8"/>
                </a:solidFill>
              </a:defRPr>
            </a:pPr>
            <a:r>
              <a:t>• Some actual caches use more complex indexing or hashing.</a:t>
            </a:r>
          </a:p>
          <a:p>
            <a:pPr>
              <a:spcAft>
                <a:spcPts val="1100"/>
              </a:spcAft>
              <a:defRPr sz="1900">
                <a:solidFill>
                  <a:srgbClr val="F2F5F8"/>
                </a:solidFill>
              </a:defRPr>
            </a:pPr>
            <a:r>
              <a:t>• State the model before applying the formula to a hardware prediction.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29.6 Cache indexing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B and S are powers of two, these fields correspond to contiguous bit ranges.</a:t>
            </a:r>
          </a:p>
          <a:p>
            <a:pPr>
              <a:spcAft>
                <a:spcPts val="1100"/>
              </a:spcAft>
              <a:defRPr sz="1900">
                <a:solidFill>
                  <a:srgbClr val="F2F5F8"/>
                </a:solidFill>
              </a:defRPr>
            </a:pPr>
            <a:r>
              <a:t>• Some actual caches use more complex indexing or hashing.</a:t>
            </a:r>
          </a:p>
          <a:p>
            <a:pPr>
              <a:spcAft>
                <a:spcPts val="1100"/>
              </a:spcAft>
              <a:defRPr sz="1900">
                <a:solidFill>
                  <a:srgbClr val="F2F5F8"/>
                </a:solidFill>
              </a:defRPr>
            </a:pPr>
            <a:r>
              <a:t>• State the model before applying the formula to a hardware prediction.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29.7 Direct-mapped caches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direct-mapped cache has one way per set.</a:t>
            </a:r>
          </a:p>
          <a:p>
            <a:pPr>
              <a:spcAft>
                <a:spcPts val="1100"/>
              </a:spcAft>
              <a:defRPr sz="1900">
                <a:solidFill>
                  <a:srgbClr val="F2F5F8"/>
                </a:solidFill>
              </a:defRPr>
            </a:pPr>
            <a:r>
              <a:t>• Lookup and replacement are simple because each block has one possible location.</a:t>
            </a:r>
          </a:p>
          <a:p>
            <a:pPr>
              <a:spcAft>
                <a:spcPts val="1100"/>
              </a:spcAft>
              <a:defRPr sz="1900">
                <a:solidFill>
                  <a:srgbClr val="F2F5F8"/>
                </a:solidFill>
              </a:defRPr>
            </a:pPr>
            <a:r>
              <a:t>• Two frequently used blocks that map to the same set can repeatedly evict each other even when other sets are empty.</a:t>
            </a:r>
          </a:p>
          <a:p>
            <a:pPr>
              <a:spcAft>
                <a:spcPts val="1100"/>
              </a:spcAft>
              <a:defRPr sz="1900">
                <a:solidFill>
                  <a:srgbClr val="F2F5F8"/>
                </a:solidFill>
              </a:defRPr>
            </a:pPr>
            <a:r>
              <a:t>• This behavior is a conflict, not a shortage of total line slots alone.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29.7 Direct-mapped caches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behavior is a conflict, not a shortage of total line slots alone.</a:t>
            </a:r>
          </a:p>
          <a:p>
            <a:pPr>
              <a:spcAft>
                <a:spcPts val="1100"/>
              </a:spcAft>
              <a:defRPr sz="1900">
                <a:solidFill>
                  <a:srgbClr val="F2F5F8"/>
                </a:solidFill>
              </a:defRPr>
            </a:pPr>
            <a:r>
              <a:t>• Changing layout, padding, or associativity can alter the conflict pattern.</a:t>
            </a:r>
          </a:p>
          <a:p>
            <a:pPr>
              <a:spcAft>
                <a:spcPts val="1100"/>
              </a:spcAft>
              <a:defRPr sz="1900">
                <a:solidFill>
                  <a:srgbClr val="F2F5F8"/>
                </a:solidFill>
              </a:defRPr>
            </a:pPr>
            <a:r>
              <a:t>• Whether such a change helps an actual application must be measured under the real cache organization.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29.8 Set-associative caches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E -way set-associative cache permits up to E resident blocks in each set.</a:t>
            </a:r>
          </a:p>
          <a:p>
            <a:pPr>
              <a:spcAft>
                <a:spcPts val="1100"/>
              </a:spcAft>
              <a:defRPr sz="1900">
                <a:solidFill>
                  <a:srgbClr val="F2F5F8"/>
                </a:solidFill>
              </a:defRPr>
            </a:pPr>
            <a:r>
              <a:t>• Associativity reduces some conflicts at the cost of more lookup and replacement complexity.</a:t>
            </a:r>
          </a:p>
          <a:p>
            <a:pPr>
              <a:spcAft>
                <a:spcPts val="1100"/>
              </a:spcAft>
              <a:defRPr sz="1900">
                <a:solidFill>
                  <a:srgbClr val="F2F5F8"/>
                </a:solidFill>
              </a:defRPr>
            </a:pPr>
            <a:r>
              <a:t>• It does not eliminate capacity limits or every conflict pattern.</a:t>
            </a:r>
          </a:p>
          <a:p>
            <a:pPr>
              <a:spcAft>
                <a:spcPts val="1100"/>
              </a:spcAft>
              <a:defRPr sz="1900">
                <a:solidFill>
                  <a:srgbClr val="F2F5F8"/>
                </a:solidFill>
              </a:defRPr>
            </a:pPr>
            <a:r>
              <a:t>• For example, a two-way set repeatedly accessed by three mutually conflicting blocks can still thrash under LRU.</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29.8 Set-associative caches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example, a two-way set repeatedly accessed by three mutually conflicting blocks can still thrash under LRU.</a:t>
            </a:r>
          </a:p>
          <a:p>
            <a:pPr>
              <a:spcAft>
                <a:spcPts val="1100"/>
              </a:spcAft>
              <a:defRPr sz="1900">
                <a:solidFill>
                  <a:srgbClr val="F2F5F8"/>
                </a:solidFill>
              </a:defRPr>
            </a:pPr>
            <a:r>
              <a:t>• More ways help only when the increased flexibility retains useful blocks that would otherwise be displaced.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29.9 Fully associative caches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fully associative cache allows a block to occupy any line slot.</a:t>
            </a:r>
          </a:p>
          <a:p>
            <a:pPr>
              <a:spcAft>
                <a:spcPts val="1100"/>
              </a:spcAft>
              <a:defRPr sz="1900">
                <a:solidFill>
                  <a:srgbClr val="F2F5F8"/>
                </a:solidFill>
              </a:defRPr>
            </a:pPr>
            <a:r>
              <a:t>• In the model, it has one set and as many ways as resident lines.</a:t>
            </a:r>
          </a:p>
          <a:p>
            <a:pPr>
              <a:spcAft>
                <a:spcPts val="1100"/>
              </a:spcAft>
              <a:defRPr sz="1900">
                <a:solidFill>
                  <a:srgbClr val="F2F5F8"/>
                </a:solidFill>
              </a:defRPr>
            </a:pPr>
            <a:r>
              <a:t>• This removes set-index conflicts but leaves finite capacity and replacement decisions.</a:t>
            </a:r>
          </a:p>
          <a:p>
            <a:pPr>
              <a:spcAft>
                <a:spcPts val="1100"/>
              </a:spcAft>
              <a:defRPr sz="1900">
                <a:solidFill>
                  <a:srgbClr val="F2F5F8"/>
                </a:solidFill>
              </a:defRPr>
            </a:pPr>
            <a:r>
              <a:t>• Fully associative models are useful reference points for classifying misses.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29.9 Fully associative caches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Fully associative models are useful reference points for classifying misses.</a:t>
            </a:r>
          </a:p>
          <a:p>
            <a:pPr>
              <a:spcAft>
                <a:spcPts val="1100"/>
              </a:spcAft>
              <a:defRPr sz="1700">
                <a:solidFill>
                  <a:srgbClr val="F2F5F8"/>
                </a:solidFill>
              </a:defRPr>
            </a:pPr>
            <a:r>
              <a:t>• They are not automatically practical implementations for large, low-latency hardware caches because searching and maintaining many candidate entries has costs.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Decomposing an address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a 32-KiB data cache, 64-byte lines, and eight ways.</a:t>
            </a:r>
          </a:p>
          <a:p>
            <a:pPr>
              <a:spcAft>
                <a:spcPts val="1100"/>
              </a:spcAft>
              <a:defRPr sz="1900">
                <a:solidFill>
                  <a:srgbClr val="F2F5F8"/>
                </a:solidFill>
              </a:defRPr>
            </a:pPr>
            <a:r>
              <a:t>• The set count is:</a:t>
            </a:r>
          </a:p>
          <a:p>
            <a:pPr>
              <a:spcAft>
                <a:spcPts val="1100"/>
              </a:spcAft>
              <a:defRPr sz="1900">
                <a:solidFill>
                  <a:srgbClr val="F2F5F8"/>
                </a:solidFill>
              </a:defRPr>
            </a:pPr>
            <a:r>
              <a:t>• There are 6 offset bits and 6 set-index bits.</a:t>
            </a:r>
          </a:p>
          <a:p>
            <a:pPr>
              <a:spcAft>
                <a:spcPts val="1100"/>
              </a:spcAft>
              <a:defRPr sz="1900">
                <a:solidFill>
                  <a:srgbClr val="F2F5F8"/>
                </a:solidFill>
              </a:defRPr>
            </a:pPr>
            <a:r>
              <a:t>• For address 0x1234 , the offset is 0x34 (52), the set is 0x08 (8), and the tag is 0x1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Decomposing an address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There are 6 offset bits and 6 set-index bits.</a:t>
            </a:r>
          </a:p>
          <a:p>
            <a:pPr>
              <a:spcAft>
                <a:spcPts val="1100"/>
              </a:spcAft>
              <a:defRPr sz="1900">
                <a:solidFill>
                  <a:srgbClr val="F2F5F8"/>
                </a:solidFill>
              </a:defRPr>
            </a:pPr>
            <a:r>
              <a:t>• For address 0x1234 , the offset is 0x34 (52), the set is 0x08 (8), and the tag is 0x1 .</a:t>
            </a:r>
          </a:p>
          <a:p>
            <a:pPr>
              <a:spcAft>
                <a:spcPts val="1100"/>
              </a:spcAft>
              <a:defRPr sz="1900">
                <a:solidFill>
                  <a:srgbClr val="F2F5F8"/>
                </a:solidFill>
              </a:defRPr>
            </a:pPr>
            <a:r>
              <a:t>• The block number is 0x48 , or 72; 72 mod 64 = 8 .</a:t>
            </a:r>
          </a:p>
          <a:p>
            <a:pPr>
              <a:spcAft>
                <a:spcPts val="1100"/>
              </a:spcAft>
              <a:defRPr sz="1900">
                <a:solidFill>
                  <a:srgbClr val="F2F5F8"/>
                </a:solidFill>
              </a:defRPr>
            </a:pPr>
            <a:r>
              <a:t>• Address 0x2234 has the same offset and set but tag 2.</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Finding set and tag bits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32 KiB, 8-way cache with 64-byte lines, there are 32768/(64 × 8)=64 sets.</a:t>
            </a:r>
          </a:p>
          <a:p>
            <a:pPr>
              <a:spcAft>
                <a:spcPts val="1100"/>
              </a:spcAft>
              <a:defRPr sz="1900">
                <a:solidFill>
                  <a:srgbClr val="F2F5F8"/>
                </a:solidFill>
              </a:defRPr>
            </a:pPr>
            <a:r>
              <a:t>• Six offset bits select a byte within a line and six index bits select one of 64 sets.</a:t>
            </a:r>
          </a:p>
          <a:p>
            <a:pPr>
              <a:spcAft>
                <a:spcPts val="1100"/>
              </a:spcAft>
              <a:defRPr sz="1900">
                <a:solidFill>
                  <a:srgbClr val="F2F5F8"/>
                </a:solidFill>
              </a:defRPr>
            </a:pPr>
            <a:r>
              <a:t>• Remaining address bits form the tag.</a:t>
            </a:r>
          </a:p>
          <a:p>
            <a:pPr>
              <a:spcAft>
                <a:spcPts val="1100"/>
              </a:spcAft>
              <a:defRPr sz="1900">
                <a:solidFill>
                  <a:srgbClr val="F2F5F8"/>
                </a:solidFill>
              </a:defRPr>
            </a:pPr>
            <a:r>
              <a:t>• Two addresses with equal set index but different tags may coexist up to the associativity limit.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Finding set and tag bits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32 KiB, 8-way cache with 64-byte lines, there are 32768/(64 × 8)=64 sets.</a:t>
            </a:r>
          </a:p>
          <a:p>
            <a:pPr>
              <a:spcAft>
                <a:spcPts val="1100"/>
              </a:spcAft>
              <a:defRPr sz="1900">
                <a:solidFill>
                  <a:srgbClr val="F2F5F8"/>
                </a:solidFill>
              </a:defRPr>
            </a:pPr>
            <a:r>
              <a:t>• Six offset bits select a byte within a line and six index bits select one of 64 sets.</a:t>
            </a:r>
          </a:p>
          <a:p>
            <a:pPr>
              <a:spcAft>
                <a:spcPts val="1100"/>
              </a:spcAft>
              <a:defRPr sz="1900">
                <a:solidFill>
                  <a:srgbClr val="F2F5F8"/>
                </a:solidFill>
              </a:defRPr>
            </a:pPr>
            <a:r>
              <a:t>• Remaining address bits form the tag.</a:t>
            </a:r>
          </a:p>
          <a:p>
            <a:pPr>
              <a:spcAft>
                <a:spcPts val="1100"/>
              </a:spcAft>
              <a:defRPr sz="1900">
                <a:solidFill>
                  <a:srgbClr val="F2F5F8"/>
                </a:solidFill>
              </a:defRPr>
            </a:pPr>
            <a:r>
              <a:t>• Two addresses with equal set index but different tags may coexist up to the associativity limit.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Direct-mapped conflict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a direct-mapped cache, each memory block has exactly one destination set.</a:t>
            </a:r>
          </a:p>
          <a:p>
            <a:pPr>
              <a:spcAft>
                <a:spcPts val="1100"/>
              </a:spcAft>
              <a:defRPr sz="1700">
                <a:solidFill>
                  <a:srgbClr val="F2F5F8"/>
                </a:solidFill>
              </a:defRPr>
            </a:pPr>
            <a:r>
              <a:t>• If two frequently used blocks map to the same set, alternating accesses can evict each other even when the cache has plenty of unused capacity elsewhere.</a:t>
            </a:r>
          </a:p>
          <a:p>
            <a:pPr>
              <a:spcAft>
                <a:spcPts val="1100"/>
              </a:spcAft>
              <a:defRPr sz="1900">
                <a:solidFill>
                  <a:srgbClr val="F2F5F8"/>
                </a:solidFill>
              </a:defRPr>
            </a:pPr>
            <a:r>
              <a:t>• Increasing associativity can remove this conflict without increasing total capacity.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Direct-mapped conflict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a direct-mapped cache, each memory block has exactly one destination set.</a:t>
            </a:r>
          </a:p>
          <a:p>
            <a:pPr>
              <a:spcAft>
                <a:spcPts val="1100"/>
              </a:spcAft>
              <a:defRPr sz="1700">
                <a:solidFill>
                  <a:srgbClr val="F2F5F8"/>
                </a:solidFill>
              </a:defRPr>
            </a:pPr>
            <a:r>
              <a:t>• If two frequently used blocks map to the same set, alternating accesses can evict each other even when the cache has plenty of unused capacity elsewhere.</a:t>
            </a:r>
          </a:p>
          <a:p>
            <a:pPr>
              <a:spcAft>
                <a:spcPts val="1100"/>
              </a:spcAft>
              <a:defRPr sz="1900">
                <a:solidFill>
                  <a:srgbClr val="F2F5F8"/>
                </a:solidFill>
              </a:defRPr>
            </a:pPr>
            <a:r>
              <a:t>• Increasing associativity can remove this conflict without increasing total capacity.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29.</a:t>
            </a:r>
          </a:p>
          <a:p>
            <a:pPr>
              <a:spcAft>
                <a:spcPts val="1100"/>
              </a:spcAft>
              <a:defRPr sz="1900">
                <a:solidFill>
                  <a:srgbClr val="F2F5F8"/>
                </a:solidFill>
              </a:defRPr>
            </a:pPr>
            <a:r>
              <a:t>• Decompose address 0x3ABC for a cache with 32-byte lines and 128 sets.</a:t>
            </a:r>
          </a:p>
          <a:p>
            <a:pPr>
              <a:spcAft>
                <a:spcPts val="1100"/>
              </a:spcAft>
              <a:defRPr sz="1900">
                <a:solidFill>
                  <a:srgbClr val="F2F5F8"/>
                </a:solidFill>
              </a:defRPr>
            </a:pPr>
            <a:r>
              <a:t>• Calculate capacity when it is four-way associative.</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a set overflow while other sets have empty lines?</a:t>
            </a:r>
          </a:p>
          <a:p>
            <a:pPr>
              <a:spcAft>
                <a:spcPts val="1100"/>
              </a:spcAft>
              <a:defRPr sz="1900">
                <a:solidFill>
                  <a:srgbClr val="F2F5F8"/>
                </a:solidFill>
              </a:defRPr>
            </a:pPr>
            <a:r>
              <a:t>• Review 2.</a:t>
            </a:r>
          </a:p>
          <a:p>
            <a:pPr>
              <a:spcAft>
                <a:spcPts val="1100"/>
              </a:spcAft>
              <a:defRPr sz="1900">
                <a:solidFill>
                  <a:srgbClr val="F2F5F8"/>
                </a:solidFill>
              </a:defRPr>
            </a:pPr>
            <a:r>
              <a:t>• Which fields are needed to distinguish a hit from an invalid slot?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cache organization.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Cache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29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