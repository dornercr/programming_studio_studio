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17 — Procedures and Calling Conventions</a:t>
            </a:r>
          </a:p>
          <a:p/>
          <a:p>
            <a:r>
              <a:t>LECTURE NARRATION</a:t>
            </a:r>
          </a:p>
          <a:p>
            <a:r>
              <a:t>A calling convention lets independently compiled functions exchange arguments, results, and control without knowing one another’s internal implementation. It specifies the state that must exist at a call boundary and what may change before return. Handwritten assembly must satisfy that contract just as compiler-generated code does.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calling convention lets independently compiled functions exchange arguments, results, and control without knowing one another’s internal implementation.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calling convention lets independently compiled functions exchange arguments, results, and control without knowing one another’s internal implementation. It specifies the state that must exist at a call boundary and what may change before return. Handwritten assembly must satisfy that contract just as compiler-generated code does.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calling convention lets independently compiled functions exchange arguments, results, and control without knowing one another’s internal implementation.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17.1 call 17.2 ret 17.3 Argument registers 17.4 Return registers ...plus 13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17.1 call 17.2 ret 17.3 Argument registers 17.4 Return registers ...plus 13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17.1 call</a:t>
            </a:r>
          </a:p>
          <a:p/>
          <a:p>
            <a:r>
              <a:t>LECTURE NARRATION</a:t>
            </a:r>
          </a:p>
          <a:p>
            <a:r>
              <a:t>A near call transfers control to a target and places a return address on the stack. The return address identifies where execution should continue after the callee finishes. On the reference 64-bit convention, the pushed return address occupies eight bytes. The instruction itself does not allocate a complete source-level stack frame or save every register. Those are responsibilities handled by the caller and callee according to the ABI. A function can therefore be extremely small if it needs no local stack storage and changes no callee-saved register.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near call transfers control to a target and places a return address on the stack.</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17.1 call — Deep Dive</a:t>
            </a:r>
          </a:p>
          <a:p/>
          <a:p>
            <a:r>
              <a:t>LECTURE NARRATION</a:t>
            </a:r>
          </a:p>
          <a:p>
            <a:r>
              <a:t>A near call transfers control to a target and places a return address on the stack. The return address identifies where execution should continue after the callee finishes. On the reference 64-bit convention, the pushed return address occupies eight bytes. The instruction itself does not allocate a complete source-level stack frame or save every register. Those are responsibilities handled by the caller and callee according to the ABI. A function can therefore be extremely small if it needs no local stack storage and changes no callee-saved register.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near call transfers control to a target and places a return address on the stack.</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17.2 ret</a:t>
            </a:r>
          </a:p>
          <a:p/>
          <a:p>
            <a:r>
              <a:t>LECTURE NARRATION</a:t>
            </a:r>
          </a:p>
          <a:p>
            <a:r>
              <a:t>A normal ret obtains the return address from the stack and transfers control there, advancing the stack pointer accordingly. It assumes the stack state has been restored to the expected return-address position. A mismatched push/pop sequence or corrupted return address can send execution to the wrong location. Stack canaries and other mitigations can detect or constrain some corruption, but they do not make an incorrect frame layout safe. Verify the stack pointer at each return path, especially when a function has early exits.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normal ret obtains the return address from the stack and transfers control there, advancing the stack pointer accordingly.</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17.2 ret — Deep Dive</a:t>
            </a:r>
          </a:p>
          <a:p/>
          <a:p>
            <a:r>
              <a:t>LECTURE NARRATION</a:t>
            </a:r>
          </a:p>
          <a:p>
            <a:r>
              <a:t>A normal ret obtains the return address from the stack and transfers control there, advancing the stack pointer accordingly. It assumes the stack state has been restored to the expected return-address position. A mismatched push/pop sequence or corrupted return address can send execution to the wrong location. Stack canaries and other mitigations can detect or constrain some corruption, but they do not make an incorrect frame layout safe. Verify the stack pointer at each return path, especially when a function has early exits.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normal ret obtains the return address from the stack and transfers control there, advancing the stack pointer accordingly.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17.3 Argument registers</a:t>
            </a:r>
          </a:p>
          <a:p/>
          <a:p>
            <a:r>
              <a:t>LECTURE NARRATION</a:t>
            </a:r>
          </a:p>
          <a:p>
            <a:r>
              <a:t>For ordinary integer and pointer arguments in the System V AMD64 ABI, the first six use %rdi , %rsi , %rdx , %rcx , %r8 , and %r9 . Additional arguments may use the stack. Floating-point and vector arguments use other rules and register classes, and aggregates require ABI classification. This simplified rule is enough for the scalar examples in this book. It is not sufficient for every structure return, variadic call, or C++ object interface. When interoperating with an unfamiliar signature, consult the full ABI and inspect a compiler-generated reference rather than guessing from the number of parameters. [ R4 ]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ordinary integer and pointer arguments in the System V AMD64 ABI, the first six use %rdi , %rsi , %rdx , %rcx , %r8 , and %r9 .</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17.3 Argument registers — Deep Dive</a:t>
            </a:r>
          </a:p>
          <a:p/>
          <a:p>
            <a:r>
              <a:t>LECTURE NARRATION</a:t>
            </a:r>
          </a:p>
          <a:p>
            <a:r>
              <a:t>For ordinary integer and pointer arguments in the System V AMD64 ABI, the first six use %rdi , %rsi , %rdx , %rcx , %r8 , and %r9 . Additional arguments may use the stack. Floating-point and vector arguments use other rules and register classes, and aggregates require ABI classification. This simplified rule is enough for the scalar examples in this book. It is not sufficient for every structure return, variadic call, or C++ object interface. When interoperating with an unfamiliar signature, consult the full ABI and inspect a compiler-generated reference rather than guessing from the number of parameters. [ R4 ]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ordinary integer and pointer arguments in the System V AMD64 ABI, the first six use %rdi , %rsi , %rdx , %rcx , %r8 , and %r9 .</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17.4 Return registers</a:t>
            </a:r>
          </a:p>
          <a:p/>
          <a:p>
            <a:r>
              <a:t>LECTURE NARRATION</a:t>
            </a:r>
          </a:p>
          <a:p>
            <a:r>
              <a:t>Ordinary scalar integer and pointer results commonly return in %rax . Some wider or aggregate results use multiple registers or caller-provided storage. Floating-point results commonly use vector registers such as %xmm0 under the applicable rules. The result type determines how the caller interprets the returned bits. Declaring an assembly function with the wrong C type can produce a mismatch even when the routine returns a sensible machine value. Keep the declaration and assembly contract together, including width, signedness, and any hidden storage assumptions.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ordinary scalar integer and pointer results commonly return in %rax .</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17.4 Return registers — Deep Dive</a:t>
            </a:r>
          </a:p>
          <a:p/>
          <a:p>
            <a:r>
              <a:t>LECTURE NARRATION</a:t>
            </a:r>
          </a:p>
          <a:p>
            <a:r>
              <a:t>Ordinary scalar integer and pointer results commonly return in %rax . Some wider or aggregate results use multiple registers or caller-provided storage. Floating-point results commonly use vector registers such as %xmm0 under the applicable rules. The result type determines how the caller interprets the returned bits. Declaring an assembly function with the wrong C type can produce a mismatch even when the routine returns a sensible machine value. Keep the declaration and assembly contract together, including width, signedness, and any hidden storage assumptions.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ordinary scalar integer and pointer results commonly return in %rax .</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17.5 Stack pointer</a:t>
            </a:r>
          </a:p>
          <a:p/>
          <a:p>
            <a:r>
              <a:t>LECTURE NARRATION</a:t>
            </a:r>
          </a:p>
          <a:p>
            <a:r>
              <a:t>The stack pointer tracks the active stack region used by calls and local storage. The callee must return with the caller’s expected stack position restored. Adjustments reserve or release space but do not initialize the bytes automatically. A stack allocation can be large enough numerically yet violate alignment or exceed the mapped stack. Dynamic-sized stack objects need careful bounds. Prefer heap or arena storage when input-controlled size could make stack use unbounded. A call chain’s total stack requirement includes every simultaneously active frame.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17.5 Stack pointer — Deep Dive</a:t>
            </a:r>
          </a:p>
          <a:p/>
          <a:p>
            <a:r>
              <a:t>LECTURE NARRATION</a:t>
            </a:r>
          </a:p>
          <a:p>
            <a:r>
              <a:t>The stack pointer tracks the active stack region used by calls and local storage. The callee must return with the caller’s expected stack position restored. Adjustments reserve or release space but do not initialize the bytes automatically. A stack allocation can be large enough numerically yet violate alignment or exceed the mapped stack. Dynamic-sized stack objects need careful bounds. Prefer heap or arena storage when input-controlled size could make stack use unbounded. A call chain’s total stack requirement includes every simultaneously active frame.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17.6 Stack frames</a:t>
            </a:r>
          </a:p>
          <a:p/>
          <a:p>
            <a:r>
              <a:t>LECTURE NARRATION</a:t>
            </a:r>
          </a:p>
          <a:p>
            <a:r>
              <a:t>A stack frame is the region and saved state associated with one active call. It may hold saved registers, spilled values, local objects, and outgoing arguments. Some leaf functions need no explicit frame allocation. Frame layout is a compiler and ABI matter, not a fixed translation of source declaration order. Optimization can reuse slots for nonoverlapping lifetimes or eliminate objects. Debugger displays reconstruct source concepts from machine state and metadata; an optimized-out variable is not necessarily missing from the computation.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stack frame is the region and saved state associated with one active call.</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17.6 Stack frames — Deep Dive</a:t>
            </a:r>
          </a:p>
          <a:p/>
          <a:p>
            <a:r>
              <a:t>LECTURE NARRATION</a:t>
            </a:r>
          </a:p>
          <a:p>
            <a:r>
              <a:t>A stack frame is the region and saved state associated with one active call. It may hold saved registers, spilled values, local objects, and outgoing arguments. Some leaf functions need no explicit frame allocation. Frame layout is a compiler and ABI matter, not a fixed translation of source declaration order. Optimization can reuse slots for nonoverlapping lifetimes or eliminate objects. Debugger displays reconstruct source concepts from machine state and metadata; an optimized-out variable is not necessarily missing from the computation.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stack frame is the region and saved state associated with one active call.</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17.7 Stack alignment</a:t>
            </a:r>
          </a:p>
          <a:p/>
          <a:p>
            <a:r>
              <a:t>LECTURE NARRATION</a:t>
            </a:r>
          </a:p>
          <a:p>
            <a:r>
              <a:t>For the ordinary scalar calls used here, %rsp is 16-byte aligned immediately before call . The eight-byte return-address push means %rsp is eight modulo sixteen at callee entry, or equivalently %rsp + 8 is aligned. Additional alignment requirements can apply to particular stack-passed vector arguments. A callee that makes another call must account for its pushes and local allocation before doing so. One eight-byte push at entry changes the stack pointer from eight modulo sixteen to zero modulo sixteen, making it ready for a nested ordinary call. A second push would require another adjustment. Count bytes, not just source variables.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the ordinary scalar calls used here, %rsp is 16-byte aligned immediately before call .</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17.7 Stack alignment — Deep Dive</a:t>
            </a:r>
          </a:p>
          <a:p/>
          <a:p>
            <a:r>
              <a:t>LECTURE NARRATION</a:t>
            </a:r>
          </a:p>
          <a:p>
            <a:r>
              <a:t>For the ordinary scalar calls used here, %rsp is 16-byte aligned immediately before call . The eight-byte return-address push means %rsp is eight modulo sixteen at callee entry, or equivalently %rsp + 8 is aligned. Additional alignment requirements can apply to particular stack-passed vector arguments. A callee that makes another call must account for its pushes and local allocation before doing so. One eight-byte push at entry changes the stack pointer from eight modulo sixteen to zero modulo sixteen, making it ready for a nested ordinary call. A second push would require another adjustment. Count bytes, not just source variables.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the ordinary scalar calls used here, %rsp is 16-byte aligned immediately before call .</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17.8 Caller-saved registers</a:t>
            </a:r>
          </a:p>
          <a:p/>
          <a:p>
            <a:r>
              <a:t>LECTURE NARRATION</a:t>
            </a:r>
          </a:p>
          <a:p>
            <a:r>
              <a:t>Caller-saved registers may be overwritten by a callee. If the caller needs one of their values after a call, it must save the value in a preserved register or memory, or recompute it. The choice depends on lifetime and cost. An assembly routine cannot promise preservation accidentally and expect every future implementation to keep doing so unless that stronger promise is part of its interface. Callers should rely on the ABI contract, not on what a current disassembly happens not to modify.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caller-saved registers may be overwritten by a callee.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17.8 Caller-saved registers — Deep Dive</a:t>
            </a:r>
          </a:p>
          <a:p/>
          <a:p>
            <a:r>
              <a:t>LECTURE NARRATION</a:t>
            </a:r>
          </a:p>
          <a:p>
            <a:r>
              <a:t>Caller-saved registers may be overwritten by a callee. If the caller needs one of their values after a call, it must save the value in a preserved register or memory, or recompute it. The choice depends on lifetime and cost. An assembly routine cannot promise preservation accidentally and expect every future implementation to keep doing so unless that stronger promise is part of its interface. Callers should rely on the ABI contract, not on what a current disassembly happens not to modify.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caller-saved registers may be overwritten by a callee.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17.9 Callee-saved registers</a:t>
            </a:r>
          </a:p>
          <a:p/>
          <a:p>
            <a:r>
              <a:t>LECTURE NARRATION</a:t>
            </a:r>
          </a:p>
          <a:p>
            <a:r>
              <a:t>A callee using %rbx , %rbp , or %r12 through %r15 must restore their incoming values before return. Saving them on entry and restoring them on exit is common, but optimized code can save only on paths that need them if unwind information and control flow remain correct. The saved value belongs to the caller. It is not the callee’s previous invocation state. Recursive calls therefore need independent preservation at each active level. A missing restore can corrupt a caller long after the callee’s own result appears correct.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callee using %rbx , %rbp , or %r12 through %r15 must restore their incoming values before return.</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17.9 Callee-saved registers — Deep Dive</a:t>
            </a:r>
          </a:p>
          <a:p/>
          <a:p>
            <a:r>
              <a:t>LECTURE NARRATION</a:t>
            </a:r>
          </a:p>
          <a:p>
            <a:r>
              <a:t>A callee using %rbx , %rbp , or %r12 through %r15 must restore their incoming values before return. Saving them on entry and restoring them on exit is common, but optimized code can save only on paths that need them if unwind information and control flow remain correct. The saved value belongs to the caller. It is not the callee’s previous invocation state. Recursive calls therefore need independent preservation at each active level. A missing restore can corrupt a caller long after the callee’s own result appears correct.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callee using %rbx , %rbp , or %r12 through %r15 must restore their incoming values before return.</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17.10 Local variables</a:t>
            </a:r>
          </a:p>
          <a:p/>
          <a:p>
            <a:r>
              <a:t>LECTURE NARRATION</a:t>
            </a:r>
          </a:p>
          <a:p>
            <a:r>
              <a:t>Local source objects may live in registers, stack slots, or no materialized storage at all. Address-taking can require an object to have addressable storage, but even then the compiler may optimize within the language’s observable behavior rules. A local array’s address must remain valid throughout every borrowed use. Passing it to a function that retains the pointer beyond return is unsafe. The calling convention transports the pointer correctly; it cannot extend the pointed-to object’s lifetime. ABI correctness and object-lifetime correctness are separate obligations.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local source objects may live in registers, stack slots, or no materialized storage at all.</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17.10 Local variables — Deep Dive</a:t>
            </a:r>
          </a:p>
          <a:p/>
          <a:p>
            <a:r>
              <a:t>LECTURE NARRATION</a:t>
            </a:r>
          </a:p>
          <a:p>
            <a:r>
              <a:t>Local source objects may live in registers, stack slots, or no materialized storage at all. Address-taking can require an object to have addressable storage, but even then the compiler may optimize within the language’s observable behavior rules. A local array’s address must remain valid throughout every borrowed use. Passing it to a function that retains the pointer beyond return is unsafe. The calling convention transports the pointer correctly; it cannot extend the pointed-to object’s lifetime. ABI correctness and object-lifetime correctness are separate obligations.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local source objects may live in registers, stack slots, or no materialized storage at all.</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17.11 Recursive calls</a:t>
            </a:r>
          </a:p>
          <a:p/>
          <a:p>
            <a:r>
              <a:t>LECTURE NARRATION</a:t>
            </a:r>
          </a:p>
          <a:p>
            <a:r>
              <a:t>Each recursive invocation has its own logical parameters and local state. The machine commonly represents that state with repeated frames. If the recursion depth is d and each active frame requires roughly f bytes, stack use grows approximately with d*f , plus calling and alignment overhead. A base case is necessary but not sufficient for robustness. A valid but deeply nested input can still exceed the stack. Bound input depth, choose an iterative representation, or provide a resource-aware algorithm. Do not depend on tail-call optimization unless the implementation contract explicitly guarantees the needed behavior.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each recursive invocation has its own logical parameters and local state.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17.11 Recursive calls — Deep Dive</a:t>
            </a:r>
          </a:p>
          <a:p/>
          <a:p>
            <a:r>
              <a:t>LECTURE NARRATION</a:t>
            </a:r>
          </a:p>
          <a:p>
            <a:r>
              <a:t>Each recursive invocation has its own logical parameters and local state. The machine commonly represents that state with repeated frames. If the recursion depth is d and each active frame requires roughly f bytes, stack use grows approximately with d*f , plus calling and alignment overhead. A base case is necessary but not sufficient for robustness. A valid but deeply nested input can still exceed the stack. Bound input depth, choose an iterative representation, or provide a resource-aware algorithm. Do not depend on tail-call optimization unless the implementation contract explicitly guarantees the needed behavior.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each recursive invocation has its own logical parameters and local state.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17.12 Function prologue</a:t>
            </a:r>
          </a:p>
          <a:p/>
          <a:p>
            <a:r>
              <a:t>LECTURE NARRATION</a:t>
            </a:r>
          </a:p>
          <a:p>
            <a:r>
              <a:t>A prologue establishes any required frame, saves preserved registers, and reserves local storage. A conventional sequence might push %rbp , copy %rsp into it, and subtract space. Many functions use a different or shorter sequence. Handwritten assembly intended to participate in debugging or unwinding should provide appropriate call-frame information directives. Those directives describe how to recover caller state; they are not executed instructions. A correct normal return path does not automatically imply correct exception or debugger unwinding through the routine.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prologue establishes any required frame, saves preserved registers, and reserves local storage.</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17.12 Function prologue — Deep Dive</a:t>
            </a:r>
          </a:p>
          <a:p/>
          <a:p>
            <a:r>
              <a:t>LECTURE NARRATION</a:t>
            </a:r>
          </a:p>
          <a:p>
            <a:r>
              <a:t>A prologue establishes any required frame, saves preserved registers, and reserves local storage. A conventional sequence might push %rbp , copy %rsp into it, and subtract space. Many functions use a different or shorter sequence. Handwritten assembly intended to participate in debugging or unwinding should provide appropriate call-frame information directives. Those directives describe how to recover caller state; they are not executed instructions. A correct normal return path does not automatically imply correct exception or debugger unwinding through the routine.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prologue establishes any required frame, saves preserved registers, and reserves local storage.</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17.13 Function epilogue</a:t>
            </a:r>
          </a:p>
          <a:p/>
          <a:p>
            <a:r>
              <a:t>LECTURE NARRATION</a:t>
            </a:r>
          </a:p>
          <a:p>
            <a:r>
              <a:t>An epilogue reverses the frame setup: release local space, restore preserved registers, and return. Every exit path must satisfy the same caller-visible contract. A function with an error return still owes the caller its saved registers and stack alignment state. The epilogue is a useful review boundary. List what the function acquired or changed, then verify that each relevant item has been restored or intentionally returned. This resembles resource cleanup in C and C++ because both problems are about preserving invariants across a boundary.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epilogue reverses the frame setup: release local space, restore preserved registers, and return.</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17.13 Function epilogue — Deep Dive</a:t>
            </a:r>
          </a:p>
          <a:p/>
          <a:p>
            <a:r>
              <a:t>LECTURE NARRATION</a:t>
            </a:r>
          </a:p>
          <a:p>
            <a:r>
              <a:t>An epilogue reverses the frame setup: release local space, restore preserved registers, and return. Every exit path must satisfy the same caller-visible contract. A function with an error return still owes the caller its saved registers and stack alignment state. The epilogue is a useful review boundary. List what the function acquired or changed, then verify that each relevant item has been restored or intentionally returned. This resembles resource cleanup in C and C++ because both problems are about preserving invariants across a boundary.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epilogue reverses the frame setup: release local space, restore preserved registers, and return.</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Worked example — Preserving a value across a nested call</a:t>
            </a:r>
          </a:p>
          <a:p/>
          <a:p>
            <a:r>
              <a:t>LECTURE NARRATION</a:t>
            </a:r>
          </a:p>
          <a:p>
            <a:r>
              <a:t>The requirement is to compute mix(x, 5) + x , where mix(x, y) returns 3*x + y using unsigned arithmetic. The assembly caller must retain x across the call to mix . It uses the callee-saved %rbx , saving and restoring the caller’s original value. Companion listing: ch17/nested.S Companion listing: ch17/main.c At entry, %rsp is eight modulo sixteen. Pushing %rbx makes it zero modulo sixteen, satisfying the ordinary nested-call alignment. %rbx then holds 9 while mix is free to overwrite caller-saved registers. mix returns 32, the wrapper adds 9, and popping restores the original %rbx before returning 41.</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compute mix(x, 5) + x , where mix(x, y) returns 3*x + y using unsigned arithmetic.</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Worked example — Preserving a value across a nested call — Deep Dive</a:t>
            </a:r>
          </a:p>
          <a:p/>
          <a:p>
            <a:r>
              <a:t>LECTURE NARRATION</a:t>
            </a:r>
          </a:p>
          <a:p>
            <a:r>
              <a:t>The requirement is to compute mix(x, 5) + x , where mix(x, y) returns 3*x + y using unsigned arithmetic. The assembly caller must retain x across the call to mix . It uses the callee-saved %rbx , saving and restoring the caller’s original value. Companion listing: ch17/nested.S Companion listing: ch17/main.c At entry, %rsp is eight modulo sixteen. Pushing %rbx makes it zero modulo sixteen, satisfying the ordinary nested-call alignment. %rbx then holds 9 while mix is free to overwrite caller-saved registers. mix returns 32, the wrapper adds 9, and popping restores the original %rbx before returning 41.</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compute mix(x, 5) + x , where mix(x, y) returns 3*x + y using unsigned arithmetic.</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Worked example — Tracking a call frame</a:t>
            </a:r>
          </a:p>
          <a:p/>
          <a:p>
            <a:r>
              <a:t>LECTURE NARRATION</a:t>
            </a:r>
          </a:p>
          <a:p>
            <a:r>
              <a:t>Suppose a function needs 24 bytes of local storage but the ABI requires stack alignment at call boundaries. The compiler may round the stack adjustment upward, for example to 32 bytes, rather than allocate exactly 24. It also preserves any callee-saved registers it modifies. The frame therefore reflects ABI obligations as well as source locals.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function needs 24 bytes of local storage but the ABI requires stack alignment at call boundaries.</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Worked example — Tracking a call frame — Deep Dive</a:t>
            </a:r>
          </a:p>
          <a:p/>
          <a:p>
            <a:r>
              <a:t>LECTURE NARRATION</a:t>
            </a:r>
          </a:p>
          <a:p>
            <a:r>
              <a:t>Suppose a function needs 24 bytes of local storage but the ABI requires stack alignment at call boundaries. The compiler may round the stack adjustment upward, for example to 32 bytes, rather than allocate exactly 24. It also preserves any callee-saved registers it modifies. The frame therefore reflects ABI obligations as well as source locals.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function needs 24 bytes of local storage but the ABI requires stack alignment at call boundaries.</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Worked example — Caller-saved versus callee-saved</a:t>
            </a:r>
          </a:p>
          <a:p/>
          <a:p>
            <a:r>
              <a:t>LECTURE NARRATION</a:t>
            </a:r>
          </a:p>
          <a:p>
            <a:r>
              <a:t>If a caller needs a value currently in a caller-saved register after invoking another function, it must arrange to preserve that value, perhaps by spilling it. A callee that modifies a callee-saved register must restore it before returning. This division lets callers and callees coordinate without knowing each other’s source code.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a caller needs a value currently in a caller-saved register after invoking another function, it must arrange to preserve that value, perhaps by spilling it.</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Worked example — Caller-saved versus callee-saved — Deep Dive</a:t>
            </a:r>
          </a:p>
          <a:p/>
          <a:p>
            <a:r>
              <a:t>LECTURE NARRATION</a:t>
            </a:r>
          </a:p>
          <a:p>
            <a:r>
              <a:t>If a caller needs a value currently in a caller-saved register after invoking another function, it must arrange to preserve that value, perhaps by spilling it. A callee that modifies a callee-saved register must restore it before returning. This division lets callers and callees coordinate without knowing each other’s source code.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a caller needs a value currently in a caller-saved register after invoking another function, it must arrange to preserve that value, perhaps by spilling it.</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Guided lab and review</a:t>
            </a:r>
          </a:p>
          <a:p/>
          <a:p>
            <a:r>
              <a:t>LECTURE NARRATION</a:t>
            </a:r>
          </a:p>
          <a:p>
            <a:r>
              <a:t>Lab 17. Write a compiler-generated C version of the same wrapper and compare its preservation strategy at low and high optimization levels. Explain whether inlining removes the call and why that changes the register problem. Review 1. Why does saving a register also affect stack alignment? Review 2. Why does a correct result not prove that an assembly callee respected the ABI?</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17.</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Guided lab and review — Deep Dive</a:t>
            </a:r>
          </a:p>
          <a:p/>
          <a:p>
            <a:r>
              <a:t>LECTURE NARRATION</a:t>
            </a:r>
          </a:p>
          <a:p>
            <a:r>
              <a:t>Lab 17. Write a compiler-generated C version of the same wrapper and compare its preservation strategy at low and high optimization levels. Explain whether inlining removes the call and why that changes the register problem. Review 1. Why does saving a register also affect stack alignment? Review 2. Why does a correct result not prove that an assembly callee respected the ABI?</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17.</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Chapter Synthesis</a:t>
            </a:r>
          </a:p>
          <a:p/>
          <a:p>
            <a:r>
              <a:t>LECTURE NARRATION</a:t>
            </a:r>
          </a:p>
          <a:p>
            <a:r>
              <a:t>The chapter's central subject is procedures and calling conventions.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procedures and calling conventions.</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Compiler Optimizations.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Chapter 17 — Procedures and Calling Conventions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calling convention lets independently compiled functions exchange arguments, results, and control without knowing one another’s internal implementation.</a:t>
            </a:r>
          </a:p>
          <a:p>
            <a:pPr>
              <a:spcAft>
                <a:spcPts val="1100"/>
              </a:spcAft>
              <a:defRPr sz="1900">
                <a:solidFill>
                  <a:srgbClr val="F2F5F8"/>
                </a:solidFill>
              </a:defRPr>
            </a:pPr>
            <a:r>
              <a:t>• It specifies the state that must exist at a call boundary and what may change before return.</a:t>
            </a:r>
          </a:p>
          <a:p>
            <a:pPr>
              <a:spcAft>
                <a:spcPts val="1100"/>
              </a:spcAft>
              <a:defRPr sz="1900">
                <a:solidFill>
                  <a:srgbClr val="F2F5F8"/>
                </a:solidFill>
              </a:defRPr>
            </a:pPr>
            <a:r>
              <a:t>• Handwritten assembly must satisfy that contract just as compiler-generated code does.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Procedures and Calling Conventions.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17.1 call</a:t>
            </a:r>
          </a:p>
          <a:p>
            <a:pPr>
              <a:spcAft>
                <a:spcPts val="1100"/>
              </a:spcAft>
              <a:defRPr sz="1900">
                <a:solidFill>
                  <a:srgbClr val="F2F5F8"/>
                </a:solidFill>
              </a:defRPr>
            </a:pPr>
            <a:r>
              <a:t>• 17.2 ret</a:t>
            </a:r>
          </a:p>
          <a:p>
            <a:pPr>
              <a:spcAft>
                <a:spcPts val="1100"/>
              </a:spcAft>
              <a:defRPr sz="1900">
                <a:solidFill>
                  <a:srgbClr val="F2F5F8"/>
                </a:solidFill>
              </a:defRPr>
            </a:pPr>
            <a:r>
              <a:t>• 17.3 Argument registers</a:t>
            </a:r>
          </a:p>
          <a:p>
            <a:pPr>
              <a:spcAft>
                <a:spcPts val="1100"/>
              </a:spcAft>
              <a:defRPr sz="1900">
                <a:solidFill>
                  <a:srgbClr val="F2F5F8"/>
                </a:solidFill>
              </a:defRPr>
            </a:pPr>
            <a:r>
              <a:t>• 17.4 Return registers</a:t>
            </a:r>
          </a:p>
          <a:p>
            <a:pPr>
              <a:spcAft>
                <a:spcPts val="1100"/>
              </a:spcAft>
              <a:defRPr sz="1900">
                <a:solidFill>
                  <a:srgbClr val="F2F5F8"/>
                </a:solidFill>
              </a:defRPr>
            </a:pPr>
            <a:r>
              <a:t>• ...plus 13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17.1 call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near call transfers control to a target and places a return address on the stack.</a:t>
            </a:r>
          </a:p>
          <a:p>
            <a:pPr>
              <a:spcAft>
                <a:spcPts val="1100"/>
              </a:spcAft>
              <a:defRPr sz="1900">
                <a:solidFill>
                  <a:srgbClr val="F2F5F8"/>
                </a:solidFill>
              </a:defRPr>
            </a:pPr>
            <a:r>
              <a:t>• The return address identifies where execution should continue after the callee finishes.</a:t>
            </a:r>
          </a:p>
          <a:p>
            <a:pPr>
              <a:spcAft>
                <a:spcPts val="1100"/>
              </a:spcAft>
              <a:defRPr sz="1900">
                <a:solidFill>
                  <a:srgbClr val="F2F5F8"/>
                </a:solidFill>
              </a:defRPr>
            </a:pPr>
            <a:r>
              <a:t>• On the reference 64-bit convention, the pushed return address occupies eight bytes.</a:t>
            </a:r>
          </a:p>
          <a:p>
            <a:pPr>
              <a:spcAft>
                <a:spcPts val="1100"/>
              </a:spcAft>
              <a:defRPr sz="1900">
                <a:solidFill>
                  <a:srgbClr val="F2F5F8"/>
                </a:solidFill>
              </a:defRPr>
            </a:pPr>
            <a:r>
              <a:t>• The instruction itself does not allocate a complete source-level stack frame or save every register.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17.1 call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instruction itself does not allocate a complete source-level stack frame or save every register.</a:t>
            </a:r>
          </a:p>
          <a:p>
            <a:pPr>
              <a:spcAft>
                <a:spcPts val="1100"/>
              </a:spcAft>
              <a:defRPr sz="1900">
                <a:solidFill>
                  <a:srgbClr val="F2F5F8"/>
                </a:solidFill>
              </a:defRPr>
            </a:pPr>
            <a:r>
              <a:t>• Those are responsibilities handled by the caller and callee according to the ABI.</a:t>
            </a:r>
          </a:p>
          <a:p>
            <a:pPr>
              <a:spcAft>
                <a:spcPts val="1100"/>
              </a:spcAft>
              <a:defRPr sz="1900">
                <a:solidFill>
                  <a:srgbClr val="F2F5F8"/>
                </a:solidFill>
              </a:defRPr>
            </a:pPr>
            <a:r>
              <a:t>• A function can therefore be extremely small if it needs no local stack storage and changes no callee-saved register.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17.2 ret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normal ret obtains the return address from the stack and transfers control there, advancing the stack pointer accordingly.</a:t>
            </a:r>
          </a:p>
          <a:p>
            <a:pPr>
              <a:spcAft>
                <a:spcPts val="1100"/>
              </a:spcAft>
              <a:defRPr sz="1900">
                <a:solidFill>
                  <a:srgbClr val="F2F5F8"/>
                </a:solidFill>
              </a:defRPr>
            </a:pPr>
            <a:r>
              <a:t>• It assumes the stack state has been restored to the expected return-address position.</a:t>
            </a:r>
          </a:p>
          <a:p>
            <a:pPr>
              <a:spcAft>
                <a:spcPts val="1100"/>
              </a:spcAft>
              <a:defRPr sz="1900">
                <a:solidFill>
                  <a:srgbClr val="F2F5F8"/>
                </a:solidFill>
              </a:defRPr>
            </a:pPr>
            <a:r>
              <a:t>• A mismatched push/pop sequence or corrupted return address can send execution to the wrong location.</a:t>
            </a:r>
          </a:p>
          <a:p>
            <a:pPr>
              <a:spcAft>
                <a:spcPts val="1100"/>
              </a:spcAft>
              <a:defRPr sz="1700">
                <a:solidFill>
                  <a:srgbClr val="F2F5F8"/>
                </a:solidFill>
              </a:defRPr>
            </a:pPr>
            <a:r>
              <a:t>• Stack canaries and other mitigations can detect or constrain some corruption, but they do not make an incorrect frame layout safe.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17.2 ret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mismatched push/pop sequence or corrupted return address can send execution to the wrong location.</a:t>
            </a:r>
          </a:p>
          <a:p>
            <a:pPr>
              <a:spcAft>
                <a:spcPts val="1100"/>
              </a:spcAft>
              <a:defRPr sz="1700">
                <a:solidFill>
                  <a:srgbClr val="F2F5F8"/>
                </a:solidFill>
              </a:defRPr>
            </a:pPr>
            <a:r>
              <a:t>• Stack canaries and other mitigations can detect or constrain some corruption, but they do not make an incorrect frame layout safe.</a:t>
            </a:r>
          </a:p>
          <a:p>
            <a:pPr>
              <a:spcAft>
                <a:spcPts val="1100"/>
              </a:spcAft>
              <a:defRPr sz="1900">
                <a:solidFill>
                  <a:srgbClr val="F2F5F8"/>
                </a:solidFill>
              </a:defRPr>
            </a:pPr>
            <a:r>
              <a:t>• Verify the stack pointer at each return path, especially when a function has early exits.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17.3 Argument registers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ordinary integer and pointer arguments in the System V AMD64 ABI, the first six use %rdi , %rsi , %rdx , %rcx , %r8 , and %r9 .</a:t>
            </a:r>
          </a:p>
          <a:p>
            <a:pPr>
              <a:spcAft>
                <a:spcPts val="1100"/>
              </a:spcAft>
              <a:defRPr sz="1900">
                <a:solidFill>
                  <a:srgbClr val="F2F5F8"/>
                </a:solidFill>
              </a:defRPr>
            </a:pPr>
            <a:r>
              <a:t>• Additional arguments may use the stack.</a:t>
            </a:r>
          </a:p>
          <a:p>
            <a:pPr>
              <a:spcAft>
                <a:spcPts val="1100"/>
              </a:spcAft>
              <a:defRPr sz="1900">
                <a:solidFill>
                  <a:srgbClr val="F2F5F8"/>
                </a:solidFill>
              </a:defRPr>
            </a:pPr>
            <a:r>
              <a:t>• Floating-point and vector arguments use other rules and register classes, and aggregates require ABI classification.</a:t>
            </a:r>
          </a:p>
          <a:p>
            <a:pPr>
              <a:spcAft>
                <a:spcPts val="1100"/>
              </a:spcAft>
              <a:defRPr sz="1900">
                <a:solidFill>
                  <a:srgbClr val="F2F5F8"/>
                </a:solidFill>
              </a:defRPr>
            </a:pPr>
            <a:r>
              <a:t>• This simplified rule is enough for the scalar examples in this book.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17.3 Argument registers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simplified rule is enough for the scalar examples in this book.</a:t>
            </a:r>
          </a:p>
          <a:p>
            <a:pPr>
              <a:spcAft>
                <a:spcPts val="1100"/>
              </a:spcAft>
              <a:defRPr sz="1900">
                <a:solidFill>
                  <a:srgbClr val="F2F5F8"/>
                </a:solidFill>
              </a:defRPr>
            </a:pPr>
            <a:r>
              <a:t>• It is not sufficient for every structure return, variadic call, or C++ object interface.</a:t>
            </a:r>
          </a:p>
          <a:p>
            <a:pPr>
              <a:spcAft>
                <a:spcPts val="1100"/>
              </a:spcAft>
              <a:defRPr sz="1700">
                <a:solidFill>
                  <a:srgbClr val="F2F5F8"/>
                </a:solidFill>
              </a:defRPr>
            </a:pPr>
            <a:r>
              <a:t>• When interoperating with an unfamiliar signature, consult the full ABI and inspect a compiler-generated reference rather than guessing from the number of parameters. [ R4 ]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17.4 Return registers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Ordinary scalar integer and pointer results commonly return in %rax .</a:t>
            </a:r>
          </a:p>
          <a:p>
            <a:pPr>
              <a:spcAft>
                <a:spcPts val="1100"/>
              </a:spcAft>
              <a:defRPr sz="1900">
                <a:solidFill>
                  <a:srgbClr val="F2F5F8"/>
                </a:solidFill>
              </a:defRPr>
            </a:pPr>
            <a:r>
              <a:t>• Some wider or aggregate results use multiple registers or caller-provided storage.</a:t>
            </a:r>
          </a:p>
          <a:p>
            <a:pPr>
              <a:spcAft>
                <a:spcPts val="1100"/>
              </a:spcAft>
              <a:defRPr sz="1900">
                <a:solidFill>
                  <a:srgbClr val="F2F5F8"/>
                </a:solidFill>
              </a:defRPr>
            </a:pPr>
            <a:r>
              <a:t>• Floating-point results commonly use vector registers such as %xmm0 under the applicable rules.</a:t>
            </a:r>
          </a:p>
          <a:p>
            <a:pPr>
              <a:spcAft>
                <a:spcPts val="1100"/>
              </a:spcAft>
              <a:defRPr sz="1900">
                <a:solidFill>
                  <a:srgbClr val="F2F5F8"/>
                </a:solidFill>
              </a:defRPr>
            </a:pPr>
            <a:r>
              <a:t>• The result type determines how the caller interprets the returned bits.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17.4 Return registers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result type determines how the caller interprets the returned bits.</a:t>
            </a:r>
          </a:p>
          <a:p>
            <a:pPr>
              <a:spcAft>
                <a:spcPts val="1100"/>
              </a:spcAft>
              <a:defRPr sz="1700">
                <a:solidFill>
                  <a:srgbClr val="F2F5F8"/>
                </a:solidFill>
              </a:defRPr>
            </a:pPr>
            <a:r>
              <a:t>• Declaring an assembly function with the wrong C type can produce a mismatch even when the routine returns a sensible machine value.</a:t>
            </a:r>
          </a:p>
          <a:p>
            <a:pPr>
              <a:spcAft>
                <a:spcPts val="1100"/>
              </a:spcAft>
              <a:defRPr sz="1900">
                <a:solidFill>
                  <a:srgbClr val="F2F5F8"/>
                </a:solidFill>
              </a:defRPr>
            </a:pPr>
            <a:r>
              <a:t>• Keep the declaration and assembly contract together, including width, signedness, and any hidden storage assumptions.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17.5 Stack pointer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stack pointer tracks the active stack region used by calls and local storage.</a:t>
            </a:r>
          </a:p>
          <a:p>
            <a:pPr>
              <a:spcAft>
                <a:spcPts val="1100"/>
              </a:spcAft>
              <a:defRPr sz="1900">
                <a:solidFill>
                  <a:srgbClr val="F2F5F8"/>
                </a:solidFill>
              </a:defRPr>
            </a:pPr>
            <a:r>
              <a:t>• The callee must return with the caller’s expected stack position restored.</a:t>
            </a:r>
          </a:p>
          <a:p>
            <a:pPr>
              <a:spcAft>
                <a:spcPts val="1100"/>
              </a:spcAft>
              <a:defRPr sz="1900">
                <a:solidFill>
                  <a:srgbClr val="F2F5F8"/>
                </a:solidFill>
              </a:defRPr>
            </a:pPr>
            <a:r>
              <a:t>• Adjustments reserve or release space but do not initialize the bytes automatically.</a:t>
            </a:r>
          </a:p>
          <a:p>
            <a:pPr>
              <a:spcAft>
                <a:spcPts val="1100"/>
              </a:spcAft>
              <a:defRPr sz="1900">
                <a:solidFill>
                  <a:srgbClr val="F2F5F8"/>
                </a:solidFill>
              </a:defRPr>
            </a:pPr>
            <a:r>
              <a:t>• A stack allocation can be large enough numerically yet violate alignment or exceed the mapped stack.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17.5 Stack pointer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stack allocation can be large enough numerically yet violate alignment or exceed the mapped stack.</a:t>
            </a:r>
          </a:p>
          <a:p>
            <a:pPr>
              <a:spcAft>
                <a:spcPts val="1100"/>
              </a:spcAft>
              <a:defRPr sz="1900">
                <a:solidFill>
                  <a:srgbClr val="F2F5F8"/>
                </a:solidFill>
              </a:defRPr>
            </a:pPr>
            <a:r>
              <a:t>• Dynamic-sized stack objects need careful bounds.</a:t>
            </a:r>
          </a:p>
          <a:p>
            <a:pPr>
              <a:spcAft>
                <a:spcPts val="1100"/>
              </a:spcAft>
              <a:defRPr sz="1900">
                <a:solidFill>
                  <a:srgbClr val="F2F5F8"/>
                </a:solidFill>
              </a:defRPr>
            </a:pPr>
            <a:r>
              <a:t>• Prefer heap or arena storage when input-controlled size could make stack use unbounded.</a:t>
            </a:r>
          </a:p>
          <a:p>
            <a:pPr>
              <a:spcAft>
                <a:spcPts val="1100"/>
              </a:spcAft>
              <a:defRPr sz="1900">
                <a:solidFill>
                  <a:srgbClr val="F2F5F8"/>
                </a:solidFill>
              </a:defRPr>
            </a:pPr>
            <a:r>
              <a:t>• A call chain’s total stack requirement includes every simultaneously active frame.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17.6 Stack frames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stack frame is the region and saved state associated with one active call.</a:t>
            </a:r>
          </a:p>
          <a:p>
            <a:pPr>
              <a:spcAft>
                <a:spcPts val="1100"/>
              </a:spcAft>
              <a:defRPr sz="1900">
                <a:solidFill>
                  <a:srgbClr val="F2F5F8"/>
                </a:solidFill>
              </a:defRPr>
            </a:pPr>
            <a:r>
              <a:t>• It may hold saved registers, spilled values, local objects, and outgoing arguments.</a:t>
            </a:r>
          </a:p>
          <a:p>
            <a:pPr>
              <a:spcAft>
                <a:spcPts val="1100"/>
              </a:spcAft>
              <a:defRPr sz="1900">
                <a:solidFill>
                  <a:srgbClr val="F2F5F8"/>
                </a:solidFill>
              </a:defRPr>
            </a:pPr>
            <a:r>
              <a:t>• Some leaf functions need no explicit frame allocation.</a:t>
            </a:r>
          </a:p>
          <a:p>
            <a:pPr>
              <a:spcAft>
                <a:spcPts val="1100"/>
              </a:spcAft>
              <a:defRPr sz="1900">
                <a:solidFill>
                  <a:srgbClr val="F2F5F8"/>
                </a:solidFill>
              </a:defRPr>
            </a:pPr>
            <a:r>
              <a:t>• Frame layout is a compiler and ABI matter, not a fixed translation of source declaration order.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17.6 Stack frames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Frame layout is a compiler and ABI matter, not a fixed translation of source declaration order.</a:t>
            </a:r>
          </a:p>
          <a:p>
            <a:pPr>
              <a:spcAft>
                <a:spcPts val="1100"/>
              </a:spcAft>
              <a:defRPr sz="1900">
                <a:solidFill>
                  <a:srgbClr val="F2F5F8"/>
                </a:solidFill>
              </a:defRPr>
            </a:pPr>
            <a:r>
              <a:t>• Optimization can reuse slots for nonoverlapping lifetimes or eliminate objects.</a:t>
            </a:r>
          </a:p>
          <a:p>
            <a:pPr>
              <a:spcAft>
                <a:spcPts val="1100"/>
              </a:spcAft>
              <a:defRPr sz="1700">
                <a:solidFill>
                  <a:srgbClr val="F2F5F8"/>
                </a:solidFill>
              </a:defRPr>
            </a:pPr>
            <a:r>
              <a:t>• Debugger displays reconstruct source concepts from machine state and metadata; an optimized-out variable is not necessarily missing from the computation.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17.7 Stack alignment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the ordinary scalar calls used here, %rsp is 16-byte aligned immediately before call .</a:t>
            </a:r>
          </a:p>
          <a:p>
            <a:pPr>
              <a:spcAft>
                <a:spcPts val="1100"/>
              </a:spcAft>
              <a:defRPr sz="1700">
                <a:solidFill>
                  <a:srgbClr val="F2F5F8"/>
                </a:solidFill>
              </a:defRPr>
            </a:pPr>
            <a:r>
              <a:t>• The eight-byte return-address push means %rsp is eight modulo sixteen at callee entry, or equivalently %rsp + 8 is aligned.</a:t>
            </a:r>
          </a:p>
          <a:p>
            <a:pPr>
              <a:spcAft>
                <a:spcPts val="1100"/>
              </a:spcAft>
              <a:defRPr sz="1900">
                <a:solidFill>
                  <a:srgbClr val="F2F5F8"/>
                </a:solidFill>
              </a:defRPr>
            </a:pPr>
            <a:r>
              <a:t>• Additional alignment requirements can apply to particular stack-passed vector arguments.</a:t>
            </a:r>
          </a:p>
          <a:p>
            <a:pPr>
              <a:spcAft>
                <a:spcPts val="1100"/>
              </a:spcAft>
              <a:defRPr sz="1900">
                <a:solidFill>
                  <a:srgbClr val="F2F5F8"/>
                </a:solidFill>
              </a:defRPr>
            </a:pPr>
            <a:r>
              <a:t>• A callee that makes another call must account for its pushes and local allocation before doing so.</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17.7 Stack alignment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callee that makes another call must account for its pushes and local allocation before doing so.</a:t>
            </a:r>
          </a:p>
          <a:p>
            <a:pPr>
              <a:spcAft>
                <a:spcPts val="1100"/>
              </a:spcAft>
              <a:defRPr sz="1700">
                <a:solidFill>
                  <a:srgbClr val="F2F5F8"/>
                </a:solidFill>
              </a:defRPr>
            </a:pPr>
            <a:r>
              <a:t>• One eight-byte push at entry changes the stack pointer from eight modulo sixteen to zero modulo sixteen, making it ready for a nested ordinary call.</a:t>
            </a:r>
          </a:p>
          <a:p>
            <a:pPr>
              <a:spcAft>
                <a:spcPts val="1100"/>
              </a:spcAft>
              <a:defRPr sz="1900">
                <a:solidFill>
                  <a:srgbClr val="F2F5F8"/>
                </a:solidFill>
              </a:defRPr>
            </a:pPr>
            <a:r>
              <a:t>• A second push would require another adjustment.</a:t>
            </a:r>
          </a:p>
          <a:p>
            <a:pPr>
              <a:spcAft>
                <a:spcPts val="1100"/>
              </a:spcAft>
              <a:defRPr sz="1900">
                <a:solidFill>
                  <a:srgbClr val="F2F5F8"/>
                </a:solidFill>
              </a:defRPr>
            </a:pPr>
            <a:r>
              <a:t>• Count bytes, not just source variables.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17.8 Caller-saved registers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Caller-saved registers may be overwritten by a callee.</a:t>
            </a:r>
          </a:p>
          <a:p>
            <a:pPr>
              <a:spcAft>
                <a:spcPts val="1100"/>
              </a:spcAft>
              <a:defRPr sz="1700">
                <a:solidFill>
                  <a:srgbClr val="F2F5F8"/>
                </a:solidFill>
              </a:defRPr>
            </a:pPr>
            <a:r>
              <a:t>• If the caller needs one of their values after a call, it must save the value in a preserved register or memory, or recompute it.</a:t>
            </a:r>
          </a:p>
          <a:p>
            <a:pPr>
              <a:spcAft>
                <a:spcPts val="1100"/>
              </a:spcAft>
              <a:defRPr sz="1900">
                <a:solidFill>
                  <a:srgbClr val="F2F5F8"/>
                </a:solidFill>
              </a:defRPr>
            </a:pPr>
            <a:r>
              <a:t>• The choice depends on lifetime and cost.</a:t>
            </a:r>
          </a:p>
          <a:p>
            <a:pPr>
              <a:spcAft>
                <a:spcPts val="1100"/>
              </a:spcAft>
              <a:defRPr sz="1700">
                <a:solidFill>
                  <a:srgbClr val="F2F5F8"/>
                </a:solidFill>
              </a:defRPr>
            </a:pPr>
            <a:r>
              <a:t>• An assembly routine cannot promise preservation accidentally and expect every future implementation to keep doing so unless that stronger promise is part of its interface.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17.8 Caller-saved registers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An assembly routine cannot promise preservation accidentally and expect every future implementation to keep doing so unless that stronger promise is part of its interface.</a:t>
            </a:r>
          </a:p>
          <a:p>
            <a:pPr>
              <a:spcAft>
                <a:spcPts val="1100"/>
              </a:spcAft>
              <a:defRPr sz="1900">
                <a:solidFill>
                  <a:srgbClr val="F2F5F8"/>
                </a:solidFill>
              </a:defRPr>
            </a:pPr>
            <a:r>
              <a:t>• Callers should rely on the ABI contract, not on what a current disassembly happens not to modify.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17.9 Callee-saved registers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callee using %rbx , %rbp , or %r12 through %r15 must restore their incoming values before return.</a:t>
            </a:r>
          </a:p>
          <a:p>
            <a:pPr>
              <a:spcAft>
                <a:spcPts val="1100"/>
              </a:spcAft>
              <a:defRPr sz="1700">
                <a:solidFill>
                  <a:srgbClr val="F2F5F8"/>
                </a:solidFill>
              </a:defRPr>
            </a:pPr>
            <a:r>
              <a:t>• Saving them on entry and restoring them on exit is common, but optimized code can save only on paths that need them if unwind information and control flow remain correct.</a:t>
            </a:r>
          </a:p>
          <a:p>
            <a:pPr>
              <a:spcAft>
                <a:spcPts val="1100"/>
              </a:spcAft>
              <a:defRPr sz="1900">
                <a:solidFill>
                  <a:srgbClr val="F2F5F8"/>
                </a:solidFill>
              </a:defRPr>
            </a:pPr>
            <a:r>
              <a:t>• The saved value belongs to the caller.</a:t>
            </a:r>
          </a:p>
          <a:p>
            <a:pPr>
              <a:spcAft>
                <a:spcPts val="1100"/>
              </a:spcAft>
              <a:defRPr sz="1900">
                <a:solidFill>
                  <a:srgbClr val="F2F5F8"/>
                </a:solidFill>
              </a:defRPr>
            </a:pPr>
            <a:r>
              <a:t>• It is not the callee’s previous invocation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17.9 Callee-saved registers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saved value belongs to the caller.</a:t>
            </a:r>
          </a:p>
          <a:p>
            <a:pPr>
              <a:spcAft>
                <a:spcPts val="1100"/>
              </a:spcAft>
              <a:defRPr sz="1900">
                <a:solidFill>
                  <a:srgbClr val="F2F5F8"/>
                </a:solidFill>
              </a:defRPr>
            </a:pPr>
            <a:r>
              <a:t>• It is not the callee’s previous invocation state.</a:t>
            </a:r>
          </a:p>
          <a:p>
            <a:pPr>
              <a:spcAft>
                <a:spcPts val="1100"/>
              </a:spcAft>
              <a:defRPr sz="1900">
                <a:solidFill>
                  <a:srgbClr val="F2F5F8"/>
                </a:solidFill>
              </a:defRPr>
            </a:pPr>
            <a:r>
              <a:t>• Recursive calls therefore need independent preservation at each active level.</a:t>
            </a:r>
          </a:p>
          <a:p>
            <a:pPr>
              <a:spcAft>
                <a:spcPts val="1100"/>
              </a:spcAft>
              <a:defRPr sz="1900">
                <a:solidFill>
                  <a:srgbClr val="F2F5F8"/>
                </a:solidFill>
              </a:defRPr>
            </a:pPr>
            <a:r>
              <a:t>• A missing restore can corrupt a caller long after the callee’s own result appears correct.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17.10 Local variables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Local source objects may live in registers, stack slots, or no materialized storage at all.</a:t>
            </a:r>
          </a:p>
          <a:p>
            <a:pPr>
              <a:spcAft>
                <a:spcPts val="1100"/>
              </a:spcAft>
              <a:defRPr sz="1700">
                <a:solidFill>
                  <a:srgbClr val="F2F5F8"/>
                </a:solidFill>
              </a:defRPr>
            </a:pPr>
            <a:r>
              <a:t>• Address-taking can require an object to have addressable storage, but even then the compiler may optimize within the language’s observable behavior rules.</a:t>
            </a:r>
          </a:p>
          <a:p>
            <a:pPr>
              <a:spcAft>
                <a:spcPts val="1100"/>
              </a:spcAft>
              <a:defRPr sz="1900">
                <a:solidFill>
                  <a:srgbClr val="F2F5F8"/>
                </a:solidFill>
              </a:defRPr>
            </a:pPr>
            <a:r>
              <a:t>• A local array’s address must remain valid throughout every borrowed use.</a:t>
            </a:r>
          </a:p>
          <a:p>
            <a:pPr>
              <a:spcAft>
                <a:spcPts val="1100"/>
              </a:spcAft>
              <a:defRPr sz="1900">
                <a:solidFill>
                  <a:srgbClr val="F2F5F8"/>
                </a:solidFill>
              </a:defRPr>
            </a:pPr>
            <a:r>
              <a:t>• Passing it to a function that retains the pointer beyond return is unsafe.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17.10 Local variables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local array’s address must remain valid throughout every borrowed use.</a:t>
            </a:r>
          </a:p>
          <a:p>
            <a:pPr>
              <a:spcAft>
                <a:spcPts val="1100"/>
              </a:spcAft>
              <a:defRPr sz="1900">
                <a:solidFill>
                  <a:srgbClr val="F2F5F8"/>
                </a:solidFill>
              </a:defRPr>
            </a:pPr>
            <a:r>
              <a:t>• Passing it to a function that retains the pointer beyond return is unsafe.</a:t>
            </a:r>
          </a:p>
          <a:p>
            <a:pPr>
              <a:spcAft>
                <a:spcPts val="1100"/>
              </a:spcAft>
              <a:defRPr sz="1900">
                <a:solidFill>
                  <a:srgbClr val="F2F5F8"/>
                </a:solidFill>
              </a:defRPr>
            </a:pPr>
            <a:r>
              <a:t>• The calling convention transports the pointer correctly; it cannot extend the pointed-to object’s lifetime.</a:t>
            </a:r>
          </a:p>
          <a:p>
            <a:pPr>
              <a:spcAft>
                <a:spcPts val="1100"/>
              </a:spcAft>
              <a:defRPr sz="1900">
                <a:solidFill>
                  <a:srgbClr val="F2F5F8"/>
                </a:solidFill>
              </a:defRPr>
            </a:pPr>
            <a:r>
              <a:t>• ABI correctness and object-lifetime correctness are separate obligations.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17.11 Recursive calls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Each recursive invocation has its own logical parameters and local state.</a:t>
            </a:r>
          </a:p>
          <a:p>
            <a:pPr>
              <a:spcAft>
                <a:spcPts val="1100"/>
              </a:spcAft>
              <a:defRPr sz="1900">
                <a:solidFill>
                  <a:srgbClr val="F2F5F8"/>
                </a:solidFill>
              </a:defRPr>
            </a:pPr>
            <a:r>
              <a:t>• The machine commonly represents that state with repeated frames.</a:t>
            </a:r>
          </a:p>
          <a:p>
            <a:pPr>
              <a:spcAft>
                <a:spcPts val="1100"/>
              </a:spcAft>
              <a:defRPr sz="1700">
                <a:solidFill>
                  <a:srgbClr val="F2F5F8"/>
                </a:solidFill>
              </a:defRPr>
            </a:pPr>
            <a:r>
              <a:t>• If the recursion depth is d and each active frame requires roughly f bytes, stack use grows approximately with d*f , plus calling and alignment overhead.</a:t>
            </a:r>
          </a:p>
          <a:p>
            <a:pPr>
              <a:spcAft>
                <a:spcPts val="1100"/>
              </a:spcAft>
              <a:defRPr sz="1900">
                <a:solidFill>
                  <a:srgbClr val="F2F5F8"/>
                </a:solidFill>
              </a:defRPr>
            </a:pPr>
            <a:r>
              <a:t>• A base case is necessary but not sufficient for robustness.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17.11 Recursive calls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base case is necessary but not sufficient for robustness.</a:t>
            </a:r>
          </a:p>
          <a:p>
            <a:pPr>
              <a:spcAft>
                <a:spcPts val="1100"/>
              </a:spcAft>
              <a:defRPr sz="1900">
                <a:solidFill>
                  <a:srgbClr val="F2F5F8"/>
                </a:solidFill>
              </a:defRPr>
            </a:pPr>
            <a:r>
              <a:t>• A valid but deeply nested input can still exceed the stack.</a:t>
            </a:r>
          </a:p>
          <a:p>
            <a:pPr>
              <a:spcAft>
                <a:spcPts val="1100"/>
              </a:spcAft>
              <a:defRPr sz="1900">
                <a:solidFill>
                  <a:srgbClr val="F2F5F8"/>
                </a:solidFill>
              </a:defRPr>
            </a:pPr>
            <a:r>
              <a:t>• Bound input depth, choose an iterative representation, or provide a resource-aware algorithm.</a:t>
            </a:r>
          </a:p>
          <a:p>
            <a:pPr>
              <a:spcAft>
                <a:spcPts val="1100"/>
              </a:spcAft>
              <a:defRPr sz="1900">
                <a:solidFill>
                  <a:srgbClr val="F2F5F8"/>
                </a:solidFill>
              </a:defRPr>
            </a:pPr>
            <a:r>
              <a:t>• Do not depend on tail-call optimization unless the implementation contract explicitly guarantees the needed behavior.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17.12 Function prologue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prologue establishes any required frame, saves preserved registers, and reserves local storage.</a:t>
            </a:r>
          </a:p>
          <a:p>
            <a:pPr>
              <a:spcAft>
                <a:spcPts val="1100"/>
              </a:spcAft>
              <a:defRPr sz="1900">
                <a:solidFill>
                  <a:srgbClr val="F2F5F8"/>
                </a:solidFill>
              </a:defRPr>
            </a:pPr>
            <a:r>
              <a:t>• A conventional sequence might push %rbp , copy %rsp into it, and subtract space.</a:t>
            </a:r>
          </a:p>
          <a:p>
            <a:pPr>
              <a:spcAft>
                <a:spcPts val="1100"/>
              </a:spcAft>
              <a:defRPr sz="1900">
                <a:solidFill>
                  <a:srgbClr val="F2F5F8"/>
                </a:solidFill>
              </a:defRPr>
            </a:pPr>
            <a:r>
              <a:t>• Many functions use a different or shorter sequence.</a:t>
            </a:r>
          </a:p>
          <a:p>
            <a:pPr>
              <a:spcAft>
                <a:spcPts val="1100"/>
              </a:spcAft>
              <a:defRPr sz="1700">
                <a:solidFill>
                  <a:srgbClr val="F2F5F8"/>
                </a:solidFill>
              </a:defRPr>
            </a:pPr>
            <a:r>
              <a:t>• Handwritten assembly intended to participate in debugging or unwinding should provide appropriate call-frame information directives.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17.12 Function prologue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Handwritten assembly intended to participate in debugging or unwinding should provide appropriate call-frame information directives.</a:t>
            </a:r>
          </a:p>
          <a:p>
            <a:pPr>
              <a:spcAft>
                <a:spcPts val="1100"/>
              </a:spcAft>
              <a:defRPr sz="1900">
                <a:solidFill>
                  <a:srgbClr val="F2F5F8"/>
                </a:solidFill>
              </a:defRPr>
            </a:pPr>
            <a:r>
              <a:t>• Those directives describe how to recover caller state; they are not executed instructions.</a:t>
            </a:r>
          </a:p>
          <a:p>
            <a:pPr>
              <a:spcAft>
                <a:spcPts val="1100"/>
              </a:spcAft>
              <a:defRPr sz="1900">
                <a:solidFill>
                  <a:srgbClr val="F2F5F8"/>
                </a:solidFill>
              </a:defRPr>
            </a:pPr>
            <a:r>
              <a:t>• A correct normal return path does not automatically imply correct exception or debugger unwinding through the routine.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17.13 Function epilogue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epilogue reverses the frame setup: release local space, restore preserved registers, and return.</a:t>
            </a:r>
          </a:p>
          <a:p>
            <a:pPr>
              <a:spcAft>
                <a:spcPts val="1100"/>
              </a:spcAft>
              <a:defRPr sz="1900">
                <a:solidFill>
                  <a:srgbClr val="F2F5F8"/>
                </a:solidFill>
              </a:defRPr>
            </a:pPr>
            <a:r>
              <a:t>• Every exit path must satisfy the same caller-visible contract.</a:t>
            </a:r>
          </a:p>
          <a:p>
            <a:pPr>
              <a:spcAft>
                <a:spcPts val="1100"/>
              </a:spcAft>
              <a:defRPr sz="1900">
                <a:solidFill>
                  <a:srgbClr val="F2F5F8"/>
                </a:solidFill>
              </a:defRPr>
            </a:pPr>
            <a:r>
              <a:t>• A function with an error return still owes the caller its saved registers and stack alignment state.</a:t>
            </a:r>
          </a:p>
          <a:p>
            <a:pPr>
              <a:spcAft>
                <a:spcPts val="1100"/>
              </a:spcAft>
              <a:defRPr sz="1900">
                <a:solidFill>
                  <a:srgbClr val="F2F5F8"/>
                </a:solidFill>
              </a:defRPr>
            </a:pPr>
            <a:r>
              <a:t>• The epilogue is a useful review boundary.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17.13 Function epilogue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epilogue is a useful review boundary.</a:t>
            </a:r>
          </a:p>
          <a:p>
            <a:pPr>
              <a:spcAft>
                <a:spcPts val="1100"/>
              </a:spcAft>
              <a:defRPr sz="1700">
                <a:solidFill>
                  <a:srgbClr val="F2F5F8"/>
                </a:solidFill>
              </a:defRPr>
            </a:pPr>
            <a:r>
              <a:t>• List what the function acquired or changed, then verify that each relevant item has been restored or intentionally returned.</a:t>
            </a:r>
          </a:p>
          <a:p>
            <a:pPr>
              <a:spcAft>
                <a:spcPts val="1100"/>
              </a:spcAft>
              <a:defRPr sz="1900">
                <a:solidFill>
                  <a:srgbClr val="F2F5F8"/>
                </a:solidFill>
              </a:defRPr>
            </a:pPr>
            <a:r>
              <a:t>• This resembles resource cleanup in C and C++ because both problems are about preserving invariants across a boundary.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Preserving a value across a nested call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requirement is to compute mix(x, 5) + x , where mix(x, y) returns 3*x + y using unsigned arithmetic.</a:t>
            </a:r>
          </a:p>
          <a:p>
            <a:pPr>
              <a:spcAft>
                <a:spcPts val="1100"/>
              </a:spcAft>
              <a:defRPr sz="1900">
                <a:solidFill>
                  <a:srgbClr val="F2F5F8"/>
                </a:solidFill>
              </a:defRPr>
            </a:pPr>
            <a:r>
              <a:t>• The assembly caller must retain x across the call to mix .</a:t>
            </a:r>
          </a:p>
          <a:p>
            <a:pPr>
              <a:spcAft>
                <a:spcPts val="1100"/>
              </a:spcAft>
              <a:defRPr sz="1900">
                <a:solidFill>
                  <a:srgbClr val="F2F5F8"/>
                </a:solidFill>
              </a:defRPr>
            </a:pPr>
            <a:r>
              <a:t>• It uses the callee-saved %rbx , saving and restoring the caller’s original value.</a:t>
            </a:r>
          </a:p>
          <a:p>
            <a:pPr>
              <a:spcAft>
                <a:spcPts val="1100"/>
              </a:spcAft>
              <a:defRPr sz="1900">
                <a:solidFill>
                  <a:srgbClr val="F2F5F8"/>
                </a:solidFill>
              </a:defRPr>
            </a:pPr>
            <a:r>
              <a:t>• Companion listing: ch17/nested.S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Preserving a value across a nested call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ch17/nested.S</a:t>
            </a:r>
          </a:p>
          <a:p>
            <a:pPr>
              <a:spcAft>
                <a:spcPts val="1100"/>
              </a:spcAft>
              <a:defRPr sz="1900">
                <a:solidFill>
                  <a:srgbClr val="F2F5F8"/>
                </a:solidFill>
              </a:defRPr>
            </a:pPr>
            <a:r>
              <a:t>• Companion listing: ch17/main.c</a:t>
            </a:r>
          </a:p>
          <a:p>
            <a:pPr>
              <a:spcAft>
                <a:spcPts val="1100"/>
              </a:spcAft>
              <a:defRPr sz="1900">
                <a:solidFill>
                  <a:srgbClr val="F2F5F8"/>
                </a:solidFill>
              </a:defRPr>
            </a:pPr>
            <a:r>
              <a:t>• At entry, %rsp is eight modulo sixteen.</a:t>
            </a:r>
          </a:p>
          <a:p>
            <a:pPr>
              <a:spcAft>
                <a:spcPts val="1100"/>
              </a:spcAft>
              <a:defRPr sz="1700">
                <a:solidFill>
                  <a:srgbClr val="F2F5F8"/>
                </a:solidFill>
              </a:defRPr>
            </a:pPr>
            <a:r>
              <a:t>• Pushing %rbx makes it zero modulo sixteen, satisfying the ordinary nested-call alignment. %rbx then holds 9 while mix is free to overwrite caller-saved registers. mix...</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Tracking a call frame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a function needs 24 bytes of local storage but the ABI requires stack alignment at call boundaries.</a:t>
            </a:r>
          </a:p>
          <a:p>
            <a:pPr>
              <a:spcAft>
                <a:spcPts val="1100"/>
              </a:spcAft>
              <a:defRPr sz="1900">
                <a:solidFill>
                  <a:srgbClr val="F2F5F8"/>
                </a:solidFill>
              </a:defRPr>
            </a:pPr>
            <a:r>
              <a:t>• The compiler may round the stack adjustment upward, for example to 32 bytes, rather than allocate exactly 24.</a:t>
            </a:r>
          </a:p>
          <a:p>
            <a:pPr>
              <a:spcAft>
                <a:spcPts val="1100"/>
              </a:spcAft>
              <a:defRPr sz="1900">
                <a:solidFill>
                  <a:srgbClr val="F2F5F8"/>
                </a:solidFill>
              </a:defRPr>
            </a:pPr>
            <a:r>
              <a:t>• It also preserves any callee-saved registers it modifies.</a:t>
            </a:r>
          </a:p>
          <a:p>
            <a:pPr>
              <a:spcAft>
                <a:spcPts val="1100"/>
              </a:spcAft>
              <a:defRPr sz="1900">
                <a:solidFill>
                  <a:srgbClr val="F2F5F8"/>
                </a:solidFill>
              </a:defRPr>
            </a:pPr>
            <a:r>
              <a:t>• The frame therefore reflects ABI obligations as well as source locals.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Tracking a call frame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a function needs 24 bytes of local storage but the ABI requires stack alignment at call boundaries.</a:t>
            </a:r>
          </a:p>
          <a:p>
            <a:pPr>
              <a:spcAft>
                <a:spcPts val="1100"/>
              </a:spcAft>
              <a:defRPr sz="1900">
                <a:solidFill>
                  <a:srgbClr val="F2F5F8"/>
                </a:solidFill>
              </a:defRPr>
            </a:pPr>
            <a:r>
              <a:t>• The compiler may round the stack adjustment upward, for example to 32 bytes, rather than allocate exactly 24.</a:t>
            </a:r>
          </a:p>
          <a:p>
            <a:pPr>
              <a:spcAft>
                <a:spcPts val="1100"/>
              </a:spcAft>
              <a:defRPr sz="1900">
                <a:solidFill>
                  <a:srgbClr val="F2F5F8"/>
                </a:solidFill>
              </a:defRPr>
            </a:pPr>
            <a:r>
              <a:t>• It also preserves any callee-saved registers it modifies.</a:t>
            </a:r>
          </a:p>
          <a:p>
            <a:pPr>
              <a:spcAft>
                <a:spcPts val="1100"/>
              </a:spcAft>
              <a:defRPr sz="1900">
                <a:solidFill>
                  <a:srgbClr val="F2F5F8"/>
                </a:solidFill>
              </a:defRPr>
            </a:pPr>
            <a:r>
              <a:t>• The frame therefore reflects ABI obligations as well as source locals.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Caller-saved versus callee-saved</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a caller needs a value currently in a caller-saved register after invoking another function, it must arrange to preserve that value, perhaps by spilling it.</a:t>
            </a:r>
          </a:p>
          <a:p>
            <a:pPr>
              <a:spcAft>
                <a:spcPts val="1100"/>
              </a:spcAft>
              <a:defRPr sz="1900">
                <a:solidFill>
                  <a:srgbClr val="F2F5F8"/>
                </a:solidFill>
              </a:defRPr>
            </a:pPr>
            <a:r>
              <a:t>• A callee that modifies a callee-saved register must restore it before returning.</a:t>
            </a:r>
          </a:p>
          <a:p>
            <a:pPr>
              <a:spcAft>
                <a:spcPts val="1100"/>
              </a:spcAft>
              <a:defRPr sz="1900">
                <a:solidFill>
                  <a:srgbClr val="F2F5F8"/>
                </a:solidFill>
              </a:defRPr>
            </a:pPr>
            <a:r>
              <a:t>• This division lets callers and callees coordinate without knowing each other’s source code.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Caller-saved versus callee-saved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a caller needs a value currently in a caller-saved register after invoking another function, it must arrange to preserve that value, perhaps by spilling it.</a:t>
            </a:r>
          </a:p>
          <a:p>
            <a:pPr>
              <a:spcAft>
                <a:spcPts val="1100"/>
              </a:spcAft>
              <a:defRPr sz="1900">
                <a:solidFill>
                  <a:srgbClr val="F2F5F8"/>
                </a:solidFill>
              </a:defRPr>
            </a:pPr>
            <a:r>
              <a:t>• A callee that modifies a callee-saved register must restore it before returning.</a:t>
            </a:r>
          </a:p>
          <a:p>
            <a:pPr>
              <a:spcAft>
                <a:spcPts val="1100"/>
              </a:spcAft>
              <a:defRPr sz="1900">
                <a:solidFill>
                  <a:srgbClr val="F2F5F8"/>
                </a:solidFill>
              </a:defRPr>
            </a:pPr>
            <a:r>
              <a:t>• This division lets callers and callees coordinate without knowing each other’s source code.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17.</a:t>
            </a:r>
          </a:p>
          <a:p>
            <a:pPr>
              <a:spcAft>
                <a:spcPts val="1100"/>
              </a:spcAft>
              <a:defRPr sz="1700">
                <a:solidFill>
                  <a:srgbClr val="F2F5F8"/>
                </a:solidFill>
              </a:defRPr>
            </a:pPr>
            <a:r>
              <a:t>• Write a compiler-generated C version of the same wrapper and compare its preservation strategy at low and high optimization levels.</a:t>
            </a:r>
          </a:p>
          <a:p>
            <a:pPr>
              <a:spcAft>
                <a:spcPts val="1100"/>
              </a:spcAft>
              <a:defRPr sz="1900">
                <a:solidFill>
                  <a:srgbClr val="F2F5F8"/>
                </a:solidFill>
              </a:defRPr>
            </a:pPr>
            <a:r>
              <a:t>• Explain whether inlining removes the call and why that changes the register problem.</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does saving a register also affect stack alignment?</a:t>
            </a:r>
          </a:p>
          <a:p>
            <a:pPr>
              <a:spcAft>
                <a:spcPts val="1100"/>
              </a:spcAft>
              <a:defRPr sz="1900">
                <a:solidFill>
                  <a:srgbClr val="F2F5F8"/>
                </a:solidFill>
              </a:defRPr>
            </a:pPr>
            <a:r>
              <a:t>• Review 2.</a:t>
            </a:r>
          </a:p>
          <a:p>
            <a:pPr>
              <a:spcAft>
                <a:spcPts val="1100"/>
              </a:spcAft>
              <a:defRPr sz="1900">
                <a:solidFill>
                  <a:srgbClr val="F2F5F8"/>
                </a:solidFill>
              </a:defRPr>
            </a:pPr>
            <a:r>
              <a:t>• Why does a correct result not prove that an assembly callee respected the ABI?</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procedures and calling conventions.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Compiler Optimizations.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17     |     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