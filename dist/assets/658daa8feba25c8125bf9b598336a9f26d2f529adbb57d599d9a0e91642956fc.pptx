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 — Bits, Bytes, and Binary Data</a:t>
            </a:r>
          </a:p>
          <a:p/>
          <a:p>
            <a:r>
              <a:t>LECTURE NARRATION</a:t>
            </a:r>
          </a:p>
          <a:p>
            <a:r>
              <a:t>A stored pattern has no built-in meaning. The same eight bits can represent a small integer, a character-code unit, a set of flags, or part of a machine instruction. Interpretation comes from a type or an external format. The first task in binary programming is therefore to separate the pattern from the rule used to interpret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stored pattern has no built-in meaning.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stored pattern has no built-in meaning. The same eight bits can represent a small integer, a character-code unit, a set of flags, or part of a machine instruction. Interpretation comes from a type or an external format. The first task in binary programming is therefore to separate the pattern from the rule used to interpret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stored pattern has no built-in meaning.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3.1 Bits 3.2 Bytes 3.3 Number Bases 3.4 Bitwise Operations ...plus 4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3.1 Bits 3.2 Bytes 3.3 Number Bases 3.4 Bitwise Operations ...plus 4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3.1 Bits</a:t>
            </a:r>
          </a:p>
          <a:p/>
          <a:p>
            <a:r>
              <a:t>LECTURE NARRATION</a:t>
            </a:r>
          </a:p>
          <a:p>
            <a:r>
              <a:t>A bit is a binary digit with two possible values, conventionally zero and one. A group of w bits has 2^w possible patterns. Four bits have 16 patterns; eight bits have 256. The number of patterns follows from independent choices: each new position doubles the number of combinations. Physical devices need not store literal written zeros and ones. They distinguish states that are interpreted as those values. Software normally reasons above that physical level. What matters to the program is the behavior promised by the storage and instruction interfaces, including whether a read or write is atomic for the particular object and access. A bit pattern is an ordered collection of bits. If bits are numbered from the least significant position, bit i contributes a weight of 2^i to an unsigned interpretation. The pattern 10110110 therefore represents 128 + 32 + 16 + 4 + 2 = 182 when treated as an unsigned eight-bit value. The pattern itself has not changed if another interpretation calls it a negative signed number. This distinction explains why a debugger can show the same storage in several formats. A display format is a lens on the stored representation. It does not alter the bytes or prove that the chosen interpretation matches the program’s intended type. Boolean operations combine truth values. AND is true when both inputs are true. OR is true when at least one is true. XOR is true when the inputs differ. NOT reverses a truth value. Applied independently to corresponding bit positions, these operations become bitwise operations on a word. Logical operators such as &amp;&amp; and || are not substitutes for bitwise &amp; and | . Logical operators convert operands to truth values and short-circuit evaluation. Bitwise operators operate on integral representations after the applicable promotions. x &amp;&amp; y asks whether both are nonzero; x &amp; y preserves positions where both patterns have a one.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bit is a binary digit with two possible values, conventionally zero and one.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3.1 Bits — Deep Dive</a:t>
            </a:r>
          </a:p>
          <a:p/>
          <a:p>
            <a:r>
              <a:t>LECTURE NARRATION</a:t>
            </a:r>
          </a:p>
          <a:p>
            <a:r>
              <a:t>A bit is a binary digit with two possible values, conventionally zero and one. A group of w bits has 2^w possible patterns. Four bits have 16 patterns; eight bits have 256. The number of patterns follows from independent choices: each new position doubles the number of combinations. Physical devices need not store literal written zeros and ones. They distinguish states that are interpreted as those values. Software normally reasons above that physical level. What matters to the program is the behavior promised by the storage and instruction interfaces, including whether a read or write is atomic for the particular object and access. A bit pattern is an ordered collection of bits. If bits are numbered from the least significant position, bit i contributes a weight of 2^i to an unsigned interpretation. The pattern 10110110 therefore represents 128 + 32 + 16 + 4 + 2 = 182 when treated as an unsigned eight-bit value. The pattern itself has not changed if another interpretation calls it a negative signed number. This distinction explains why a debugger can show the same storage in several formats. A display format is a lens on the stored representation. It does not alter the bytes or prove that the chosen interpretation matches the program’s intended type. Boolean operations combine truth values. AND is true when both inputs are true. OR is true when at least one is true. XOR is true when the inputs differ. NOT reverses a truth value. Applied independently to corresponding bit positions, these operations become bitwise operations on a word. Logical operators such as &amp;&amp; and || are not substitutes for bitwise &amp; and | . Logical operators convert operands to truth values and short-circuit evaluation. Bitwise operators operate on integral representations after the applicable promotions. x &amp;&amp; y asks whether both are nonzero; x &amp; y preserves positions where both patterns have a one.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bit is a binary digit with two possible values, conventionally zero and one.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3.2 Bytes</a:t>
            </a:r>
          </a:p>
          <a:p/>
          <a:p>
            <a:r>
              <a:t>LECTURE NARRATION</a:t>
            </a:r>
          </a:p>
          <a:p>
            <a:r>
              <a:t>In a byte-addressable machine, consecutive addresses identify consecutive bytes. A four-byte integer occupies four such positions. A machine may transfer a wider quantity in one operation, but the address still names its starting byte. The reference x86-64 platform uses eight-bit bytes. Byte addressability does not guarantee that every byte address is valid or equally efficient for every access width. A page may be unmapped, an address may not meet a type’s alignment, or an access may cross a cache-line boundary. Keep addressing granularity separate from access permission, required alignment, and transfer granularity. An address is usually written as a hexadecimal number because hexadecimal groups bits neatly. Increasing an address by one moves one byte in the reference machine. Increasing a typed pointer by one moves one element, which may occupy several bytes. Confusing those two increments is a common source of incorrect offset calculations. Addresses are meaningful within a context. A process address space, a device’s bus address space, and a file offset are not interchangeable even when their numeric values fit in the same integer type. Label the address domain in interfaces and diagnostic output. A correct number in the wrong domain still points to the wrong place. An object’s representation is the sequence of bytes used to store it. Some bits carry value information; others may be padding. Character-type access and suitable byte-copy operations allow representation inspection without pretending that an unrelated typed object exists in that storage. Representation inspection is not serialization. A raw structure dump can include padding, host byte order, pointers, and implementation-specific layouts. It may also disclose bytes the application never intended to publish. Define external formats field by field, with explicit sizes and byte order, and decode into ordinary language objects after validating the input.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a byte-addressable machine, consecutive addresses identify consecutive bytes.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3.2 Bytes — Deep Dive</a:t>
            </a:r>
          </a:p>
          <a:p/>
          <a:p>
            <a:r>
              <a:t>LECTURE NARRATION</a:t>
            </a:r>
          </a:p>
          <a:p>
            <a:r>
              <a:t>In a byte-addressable machine, consecutive addresses identify consecutive bytes. A four-byte integer occupies four such positions. A machine may transfer a wider quantity in one operation, but the address still names its starting byte. The reference x86-64 platform uses eight-bit bytes. Byte addressability does not guarantee that every byte address is valid or equally efficient for every access width. A page may be unmapped, an address may not meet a type’s alignment, or an access may cross a cache-line boundary. Keep addressing granularity separate from access permission, required alignment, and transfer granularity. An address is usually written as a hexadecimal number because hexadecimal groups bits neatly. Increasing an address by one moves one byte in the reference machine. Increasing a typed pointer by one moves one element, which may occupy several bytes. Confusing those two increments is a common source of incorrect offset calculations. Addresses are meaningful within a context. A process address space, a device’s bus address space, and a file offset are not interchangeable even when their numeric values fit in the same integer type. Label the address domain in interfaces and diagnostic output. A correct number in the wrong domain still points to the wrong place. An object’s representation is the sequence of bytes used to store it. Some bits carry value information; others may be padding. Character-type access and suitable byte-copy operations allow representation inspection without pretending that an unrelated typed object exists in that storage. Representation inspection is not serialization. A raw structure dump can include padding, host byte order, pointers, and implementation-specific layouts. It may also disclose bytes the application never intended to publish. Define external formats field by field, with explicit sizes and byte order, and decode into ordinary language objects after validating the input.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a byte-addressable machine, consecutive addresses identify consecutive bytes.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3.3 Number Bases</a:t>
            </a:r>
          </a:p>
          <a:p/>
          <a:p>
            <a:r>
              <a:t>LECTURE NARRATION</a:t>
            </a:r>
          </a:p>
          <a:p>
            <a:r>
              <a:t>Binary uses base two. Each position has twice the weight of the position to its right. 110101 means 1 × 32 + 1 × 16 + 0 × 8 + 1 × 4 + 0 × 2 + 1 × 1 , giving 53. Leading zeroes change the displayed width but not the unsigned value. Binary notation makes masks and bit fields visible, but it becomes long for addresses and large integers. Use it when the positions themselves are the subject of the explanation. When only the value matters, decimal or hexadecimal may be easier to read. Decimal uses base ten. The number 347 means 3 × 100 + 4 × 10 + 7 . Decimal is convenient for human counts and measurements, but it does not reveal power-of-two boundaries as clearly as binary or hexadecimal. A numeral is a notation for a value, not a storage format. Writing 255 in source does not mean the executable stores the three character bytes '2' , '5' , and '5' . A numeric literal is translated as a value; a string literal is a sequence of character-code units. Distinguish these when designing parsers or examining file contents. Hexadecimal uses base sixteen, with digits 0 through 9 and A through F . One hexadecimal digit represents exactly four bits. Thus 0xB6 corresponds to 1011 0110 . Two hex digits describe an eight-bit byte without the visual length of eight binary digits. Hexadecimal is especially useful for alignment and field boundaries. An address ending in a hexadecimal zero is divisible by sixteen. Clearing the lowest hexadecimal digit rounds down to a sixteen-byte boundary. This visual rule works because sixteen is a power of two, not because hexadecimal has a special relationship with memory beyond its notation. To convert an unsigned binary or hexadecimal numeral to decimal, sum each digit multiplied by its positional weight. To convert a nonnegative decimal integer to another base, repeatedly divide by that base and collect remainders from last to first. For 182 in base sixteen, 182 = 11 × 16 + 6 , so the digits are B6 . For fractional values, positions to the right of the point use negative powers of the base. Binary 0.101 equals 1/2 + 0/4 + 1/8 = 0.625 . A finite decimal fraction need not have a finite binary expansion. That fact will explain many floating-point surprises in Chapter 5.</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binary uses base two.</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3.3 Number Bases — Deep Dive</a:t>
            </a:r>
          </a:p>
          <a:p/>
          <a:p>
            <a:r>
              <a:t>LECTURE NARRATION</a:t>
            </a:r>
          </a:p>
          <a:p>
            <a:r>
              <a:t>Binary uses base two. Each position has twice the weight of the position to its right. 110101 means 1 × 32 + 1 × 16 + 0 × 8 + 1 × 4 + 0 × 2 + 1 × 1 , giving 53. Leading zeroes change the displayed width but not the unsigned value. Binary notation makes masks and bit fields visible, but it becomes long for addresses and large integers. Use it when the positions themselves are the subject of the explanation. When only the value matters, decimal or hexadecimal may be easier to read. Decimal uses base ten. The number 347 means 3 × 100 + 4 × 10 + 7 . Decimal is convenient for human counts and measurements, but it does not reveal power-of-two boundaries as clearly as binary or hexadecimal. A numeral is a notation for a value, not a storage format. Writing 255 in source does not mean the executable stores the three character bytes '2' , '5' , and '5' . A numeric literal is translated as a value; a string literal is a sequence of character-code units. Distinguish these when designing parsers or examining file contents. Hexadecimal uses base sixteen, with digits 0 through 9 and A through F . One hexadecimal digit represents exactly four bits. Thus 0xB6 corresponds to 1011 0110 . Two hex digits describe an eight-bit byte without the visual length of eight binary digits. Hexadecimal is especially useful for alignment and field boundaries. An address ending in a hexadecimal zero is divisible by sixteen. Clearing the lowest hexadecimal digit rounds down to a sixteen-byte boundary. This visual rule works because sixteen is a power of two, not because hexadecimal has a special relationship with memory beyond its notation. To convert an unsigned binary or hexadecimal numeral to decimal, sum each digit multiplied by its positional weight. To convert a nonnegative decimal integer to another base, repeatedly divide by that base and collect remainders from last to first. For 182 in base sixteen, 182 = 11 × 16 + 6 , so the digits are B6 . For fractional values, positions to the right of the point use negative powers of the base. Binary 0.101 equals 1/2 + 0/4 + 1/8 = 0.625 . A finite decimal fraction need not have a finite binary expansion. That fact will explain many floating-point surprises in Chapter 5.</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binary uses base two.</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3.4 Bitwise Operations</a:t>
            </a:r>
          </a:p>
          <a:p/>
          <a:p>
            <a:r>
              <a:t>LECTURE NARRATION</a:t>
            </a:r>
          </a:p>
          <a:p>
            <a:r>
              <a:t>Bitwise AND, written &amp; , retains a one only where both operands have one. It is commonly used to test or extract fields. If flags &amp; mask is zero, none of the masked bits are set. If the requirement is that all masked bits are set, test (flags &amp; mask) == mask instead. These two predicates are different. With mask 0b1100 and flags 0b0100 , “any” is true but “all” is false. A permission check that confuses them can authorize an operation based on only part of the required state. Name helper functions according to the exact predicate they implement. Bitwise OR, written | , sets a bit when either input has it set. flags |= mask turns on the selected bits while leaving other positions unchanged. It does not toggle them: applying the same OR operation twice has the same result as applying it once. This idempotence is useful for accumulating capabilities or marking completed phases. It is not automatically thread-safe. Two ordinary read-modify-write expressions on a shared word can race even when they set different bits. Use an atomic operation or a lock when multiple threads update the same shared object. Bitwise XOR, written ^ , sets a bit when the input bits differ. flags ^= mask toggles selected positions. XORing with the same mask twice restores the original pattern because each selected bit is flipped twice. XOR can also compare patterns: a ^ b marks their differing positions. It does not provide cryptographic security by itself. A repeated fixed XOR mask is a reversible encoding, not a secure encryption design. In systems code, use XOR for clearly defined bit manipulation rather than as an unexplained clever trick. Bitwise NOT, written ~ , flips every bit in the promoted operand type. That last phrase matters: applying ~ to a small integer type often first promotes it to int . The result may therefore have a wider type than the original byte. To clear selected bits in a word, use word &amp;= ~mask with a mask of a suitable unsigned word type. When displaying or storing a smaller result, perform the intended conversion explicitly. Do not assume that a unary operator preserves the width of an eight-bit input merely because the variable was declared as a byte. A left shift moves bits toward more significant positions and fills low positions with zero. For unsigned values, it corresponds to multiplication by a power of two with reduction to the result type’s width. The shift count must be nonnegative and smaller than the width of the promoted left operand. Use unsigned types for field manipulation. The signed rules differ across language versions, and mathematical multiplication may overflow even when a target instruction happens to discard high bits. A shift by the full width is not a portable way to create zero. Handle full-width masks as an explicit special case. [ R36 ] For unsigned values, right shift fills high positions with zero and corresponds to division by a power of two with the fractional part discarded. It is the natural operation for moving a field down to bit zero before masking it. C17 leaves the right shift of a negative signed integer implementation-defined. C++20 specifies the signed result consistently with rounding division by a power of two toward negative infinity. This differs from signed integer / , which truncates toward zero. To avoid accidental dependence on these distinctions in binary formats, decode fields into unsigned values first. [ R8 , R36 ] A mask is a pattern that selects positions. A single-bit mask at position k can be formed as a correctly typed unsigned one shifted by k , after checking the count. A low- n -bit mask is often written (1u &lt;&lt; n) - 1 , but that expression fails when n reaches the type width. Define the allowed field width and position before constructing a mask. For a 32-bit word, require width &lt;= 32 , position &lt;= 32 , and width &lt;= 32 - position . The subtraction form avoids overflow in position + width . Handle width zero and width 32 deliberately. To extract a field of width w beginning at bit p , shift the word right by p , then AND with a low- w -bit mask. In notation, field = (word &gt;&gt; p) &amp; mask . The result is right-justified and independent of unrelated high bits. For word = 0xB6 , p = 2 , and w = 3 , the shifted value is 0x2D ; masking with 0x07 yields 5. The selected bits are positions 4, 3, and 2, read as 101 . Write down the numbering convention before tracing; formats sometimes number bits in a different direction. Insertion has two separate operations: clear the destination field, then OR in the new field value. Merely ORing the new value leaves old one-bits in place. The usual expression is (word &amp; ~shifted_mask) | ((value &amp; mask) &lt;&lt; position) for a validated nonempty field. Masking the incoming value truncates it. That may be the intended policy, but protocol encoders often should reject a value that does not fit instead. Silent truncation can hide invalid input. Decide whether the operation is a bit-level replacement or a validated semantic assignment, then make that decision visible in its interface.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bitwise AND, written &amp; , retains a one only where both operands have one.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3.4 Bitwise Operations — Deep Dive</a:t>
            </a:r>
          </a:p>
          <a:p/>
          <a:p>
            <a:r>
              <a:t>LECTURE NARRATION</a:t>
            </a:r>
          </a:p>
          <a:p>
            <a:r>
              <a:t>Bitwise AND, written &amp; , retains a one only where both operands have one. It is commonly used to test or extract fields. If flags &amp; mask is zero, none of the masked bits are set. If the requirement is that all masked bits are set, test (flags &amp; mask) == mask instead. These two predicates are different. With mask 0b1100 and flags 0b0100 , “any” is true but “all” is false. A permission check that confuses them can authorize an operation based on only part of the required state. Name helper functions according to the exact predicate they implement. Bitwise OR, written | , sets a bit when either input has it set. flags |= mask turns on the selected bits while leaving other positions unchanged. It does not toggle them: applying the same OR operation twice has the same result as applying it once. This idempotence is useful for accumulating capabilities or marking completed phases. It is not automatically thread-safe. Two ordinary read-modify-write expressions on a shared word can race even when they set different bits. Use an atomic operation or a lock when multiple threads update the same shared object. Bitwise XOR, written ^ , sets a bit when the input bits differ. flags ^= mask toggles selected positions. XORing with the same mask twice restores the original pattern because each selected bit is flipped twice. XOR can also compare patterns: a ^ b marks their differing positions. It does not provide cryptographic security by itself. A repeated fixed XOR mask is a reversible encoding, not a secure encryption design. In systems code, use XOR for clearly defined bit manipulation rather than as an unexplained clever trick. Bitwise NOT, written ~ , flips every bit in the promoted operand type. That last phrase matters: applying ~ to a small integer type often first promotes it to int . The result may therefore have a wider type than the original byte. To clear selected bits in a word, use word &amp;= ~mask with a mask of a suitable unsigned word type. When displaying or storing a smaller result, perform the intended conversion explicitly. Do not assume that a unary operator preserves the width of an eight-bit input merely because the variable was declared as a byte. A left shift moves bits toward more significant positions and fills low positions with zero. For unsigned values, it corresponds to multiplication by a power of two with reduction to the result type’s width. The shift count must be nonnegative and smaller than the width of the promoted left operand. Use unsigned types for field manipulation. The signed rules differ across language versions, and mathematical multiplication may overflow even when a target instruction happens to discard high bits. A shift by the full width is not a portable way to create zero. Handle full-width masks as an explicit special case. [ R36 ] For unsigned values, right shift fills high positions with zero and corresponds to division by a power of two with the fractional part discarded. It is the natural operation for moving a field down to bit zero before masking it. C17 leaves the right shift of a negative signed integer implementation-defined. C++20 specifies the signed result consistently with rounding division by a power of two toward negative infinity. This differs from signed integer / , which truncates toward zero. To avoid accidental dependence on these distinctions in binary formats, decode fields into unsigned values first. [ R8 , R36 ] A mask is a pattern that selects positions. A single-bit mask at position k can be formed as a correctly typed unsigned one shifted by k , after checking the count. A low- n -bit mask is often written (1u &lt;&lt; n) - 1 , but that expression fails when n reaches the type width. Define the allowed field width and position before constructing a mask. For a 32-bit word, require width &lt;= 32 , position &lt;= 32 , and width &lt;= 32 - position . The subtraction form avoids overflow in position + width . Handle width zero and width 32 deliberately. To extract a field of width w beginning at bit p , shift the word right by p , then AND with a low- w -bit mask. In notation, field = (word &gt;&gt; p) &amp; mask . The result is right-justified and independent of unrelated high bits. For word = 0xB6 , p = 2 , and w = 3 , the shifted value is 0x2D ; masking with 0x07 yields 5. The selected bits are positions 4, 3, and 2, read as 101 . Write down the numbering convention before tracing; formats sometimes number bits in a different direction. Insertion has two separate operations: clear the destination field, then OR in the new field value. Merely ORing the new value leaves old one-bits in place. The usual expression is (word &amp; ~shifted_mask) | ((value &amp; mask) &lt;&lt; position) for a validated nonempty field. Masking the incoming value truncates it. That may be the intended policy, but protocol encoders often should reject a value that does not fit instead. Silent truncation can hide invalid input. Decide whether the operation is a bit-level replacement or a validated semantic assignment, then make that decision visible in its interface.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bitwise AND, written &amp; , retains a one only where both operands have one.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Worked example — Updating one packed field</a:t>
            </a:r>
          </a:p>
          <a:p/>
          <a:p>
            <a:r>
              <a:t>LECTURE NARRATION</a:t>
            </a:r>
          </a:p>
          <a:p>
            <a:r>
              <a:t>The requirement is to replace the three-bit field at positions 2 through 4 in 0xB6 with the value 3, while preserving every other bit. Companion listing: ch03/fields.c First, low is 0x07 , and shifting it left twice produces mask = 0x1C . Clearing that mask from 0xB6 produces 0xA2 . Shifting the new field, 3, left twice produces 0x0C . ORing 0xA2 and 0x0C yields 0xAE . The program reports old=5 new=0xAE . Verification should also check preservation: (next &amp; ~mask) == (word &amp; ~mask) . This proves that the example did not change any unselected bit. If the clear step is removed, old ones remain and the result becomes 0xBE , not the requested replacement. That controlled failure shows why “set bits” and “replace a field” are different operations.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replace the three-bit field at positions 2 through 4 in 0xB6 with the value 3, while preserving every other bit.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Worked example — Updating one packed field — Deep Dive</a:t>
            </a:r>
          </a:p>
          <a:p/>
          <a:p>
            <a:r>
              <a:t>LECTURE NARRATION</a:t>
            </a:r>
          </a:p>
          <a:p>
            <a:r>
              <a:t>The requirement is to replace the three-bit field at positions 2 through 4 in 0xB6 with the value 3, while preserving every other bit. Companion listing: ch03/fields.c First, low is 0x07 , and shifting it left twice produces mask = 0x1C . Clearing that mask from 0xB6 produces 0xA2 . Shifting the new field, 3, left twice produces 0x0C . ORing 0xA2 and 0x0C yields 0xAE . The program reports old=5 new=0xAE . Verification should also check preservation: (next &amp; ~mask) == (word &amp; ~mask) . This proves that the example did not change any unselected bit. If the clear step is removed, old ones remain and the result becomes 0xBE , not the requested replacement. That controlled failure shows why “set bits” and “replace a field” are different operations.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replace the three-bit field at positions 2 through 4 in 0xB6 with the value 3, while preserving every other bit.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Building and extracting a bit field</a:t>
            </a:r>
          </a:p>
          <a:p/>
          <a:p>
            <a:r>
              <a:t>LECTURE NARRATION</a:t>
            </a:r>
          </a:p>
          <a:p>
            <a:r>
              <a:t>Store a 3-bit mode in bits 4 through 6. To insert value 5 ( 101b ), clear the field with word &amp;= ~(0x7u &lt;&lt; 4) , then set it with word |= (5u &amp; 0x7u) &lt;&lt; 4 . To extract it later, compute (word &gt;&gt; 4) &amp; 0x7u , yielding 5 . Mask before shifting so unrelated high bits cannot leak into the field.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store a 3-bit mode in bits 4 through 6.</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Building and extracting a bit field — Deep Dive</a:t>
            </a:r>
          </a:p>
          <a:p/>
          <a:p>
            <a:r>
              <a:t>LECTURE NARRATION</a:t>
            </a:r>
          </a:p>
          <a:p>
            <a:r>
              <a:t>Store a 3-bit mode in bits 4 through 6. To insert value 5 ( 101b ), clear the field with word &amp;= ~(0x7u &lt;&lt; 4) , then set it with word |= (5u &amp; 0x7u) &lt;&lt; 4 . To extract it later, compute (word &gt;&gt; 4) &amp; 0x7u , yielding 5 . Mask before shifting so unrelated high bits cannot leak into the field.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store a 3-bit mode in bits 4 through 6.</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Converting hexadecimal to binary</a:t>
            </a:r>
          </a:p>
          <a:p/>
          <a:p>
            <a:r>
              <a:t>LECTURE NARRATION</a:t>
            </a:r>
          </a:p>
          <a:p>
            <a:r>
              <a:t>Take byte 0xB6 . Each hexadecimal digit represents four bits: B is 1011 and 6 is 0110 , so the byte is 10110110 . The high nibble is 0xB ; the low nibble is 0x6 . This direct nibble mapping is why hexadecimal is convenient for addresses, masks, instruction bytes, and binary protocols.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take byte 0xB6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Converting hexadecimal to binary — Deep Dive</a:t>
            </a:r>
          </a:p>
          <a:p/>
          <a:p>
            <a:r>
              <a:t>LECTURE NARRATION</a:t>
            </a:r>
          </a:p>
          <a:p>
            <a:r>
              <a:t>Take byte 0xB6 . Each hexadecimal digit represents four bits: B is 1011 and 6 is 0110 , so the byte is 10110110 . The high nibble is 0xB ; the low nibble is 0x6 . This direct nibble mapping is why hexadecimal is convenient for addresses, masks, instruction bytes, and binary protocols.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take byte 0xB6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Guided lab and review</a:t>
            </a:r>
          </a:p>
          <a:p/>
          <a:p>
            <a:r>
              <a:t>LECTURE NARRATION</a:t>
            </a:r>
          </a:p>
          <a:p>
            <a:r>
              <a:t>Lab 3. Write a checked 32-bit field-insertion function that accepts width, position, and value. Reject fields outside the word and values that do not fit. Include width-zero and width-32 tests without executing an invalid shift. Review 1. Convert 0x2D to decimal and binary. Review 2. What is the difference between (x &amp; m) != 0 and (x &amp; m) == m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Guided lab and review — Deep Dive</a:t>
            </a:r>
          </a:p>
          <a:p/>
          <a:p>
            <a:r>
              <a:t>LECTURE NARRATION</a:t>
            </a:r>
          </a:p>
          <a:p>
            <a:r>
              <a:t>Lab 3. Write a checked 32-bit field-insertion function that accepts width, position, and value. Reject fields outside the word and values that do not fit. Include width-zero and width-32 tests without executing an invalid shift. Review 1. Convert 0x2D to decimal and binary. Review 2. What is the difference between (x &amp; m) != 0 and (x &amp; m) == m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Chapter Synthesis</a:t>
            </a:r>
          </a:p>
          <a:p/>
          <a:p>
            <a:r>
              <a:t>LECTURE NARRATION</a:t>
            </a:r>
          </a:p>
          <a:p>
            <a:r>
              <a:t>The chapter's central subject is bits, bytes, and binary data.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bits, bytes, and binary data.</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Integer Representation.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 — Bits, Bytes, and Binary Data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stored pattern has no built-in meaning.</a:t>
            </a:r>
          </a:p>
          <a:p>
            <a:pPr>
              <a:spcAft>
                <a:spcPts val="1100"/>
              </a:spcAft>
              <a:defRPr sz="1700">
                <a:solidFill>
                  <a:srgbClr val="F2F5F8"/>
                </a:solidFill>
              </a:defRPr>
            </a:pPr>
            <a:r>
              <a:t>• The same eight bits can represent a small integer, a character-code unit, a set of flags, or part of a machine instruction.</a:t>
            </a:r>
          </a:p>
          <a:p>
            <a:pPr>
              <a:spcAft>
                <a:spcPts val="1100"/>
              </a:spcAft>
              <a:defRPr sz="1900">
                <a:solidFill>
                  <a:srgbClr val="F2F5F8"/>
                </a:solidFill>
              </a:defRPr>
            </a:pPr>
            <a:r>
              <a:t>• Interpretation comes from a type or an external format.</a:t>
            </a:r>
          </a:p>
          <a:p>
            <a:pPr>
              <a:spcAft>
                <a:spcPts val="1100"/>
              </a:spcAft>
              <a:defRPr sz="1900">
                <a:solidFill>
                  <a:srgbClr val="F2F5F8"/>
                </a:solidFill>
              </a:defRPr>
            </a:pPr>
            <a:r>
              <a:t>• The first task in binary programming is therefore to separate the pattern from the rule used to interpret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Bits, Bytes, and Binary Data.</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3.1 Bits</a:t>
            </a:r>
          </a:p>
          <a:p>
            <a:pPr>
              <a:spcAft>
                <a:spcPts val="1100"/>
              </a:spcAft>
              <a:defRPr sz="1900">
                <a:solidFill>
                  <a:srgbClr val="F2F5F8"/>
                </a:solidFill>
              </a:defRPr>
            </a:pPr>
            <a:r>
              <a:t>• 3.2 Bytes</a:t>
            </a:r>
          </a:p>
          <a:p>
            <a:pPr>
              <a:spcAft>
                <a:spcPts val="1100"/>
              </a:spcAft>
              <a:defRPr sz="1900">
                <a:solidFill>
                  <a:srgbClr val="F2F5F8"/>
                </a:solidFill>
              </a:defRPr>
            </a:pPr>
            <a:r>
              <a:t>• 3.3 Number Bases</a:t>
            </a:r>
          </a:p>
          <a:p>
            <a:pPr>
              <a:spcAft>
                <a:spcPts val="1100"/>
              </a:spcAft>
              <a:defRPr sz="1900">
                <a:solidFill>
                  <a:srgbClr val="F2F5F8"/>
                </a:solidFill>
              </a:defRPr>
            </a:pPr>
            <a:r>
              <a:t>• 3.4 Bitwise Operations</a:t>
            </a:r>
          </a:p>
          <a:p>
            <a:pPr>
              <a:spcAft>
                <a:spcPts val="1100"/>
              </a:spcAft>
              <a:defRPr sz="1900">
                <a:solidFill>
                  <a:srgbClr val="F2F5F8"/>
                </a:solidFill>
              </a:defRPr>
            </a:pPr>
            <a:r>
              <a:t>• ...plus 4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 Bits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bit is a binary digit with two possible values, conventionally zero and one.</a:t>
            </a:r>
          </a:p>
          <a:p>
            <a:pPr>
              <a:spcAft>
                <a:spcPts val="1100"/>
              </a:spcAft>
              <a:defRPr sz="1900">
                <a:solidFill>
                  <a:srgbClr val="F2F5F8"/>
                </a:solidFill>
              </a:defRPr>
            </a:pPr>
            <a:r>
              <a:t>• A group of w bits has 2^w possible patterns.</a:t>
            </a:r>
          </a:p>
          <a:p>
            <a:pPr>
              <a:spcAft>
                <a:spcPts val="1100"/>
              </a:spcAft>
              <a:defRPr sz="1900">
                <a:solidFill>
                  <a:srgbClr val="F2F5F8"/>
                </a:solidFill>
              </a:defRPr>
            </a:pPr>
            <a:r>
              <a:t>• Four bits have 16 patterns; eight bits have 256.</a:t>
            </a:r>
          </a:p>
          <a:p>
            <a:pPr>
              <a:spcAft>
                <a:spcPts val="1100"/>
              </a:spcAft>
              <a:defRPr sz="1900">
                <a:solidFill>
                  <a:srgbClr val="F2F5F8"/>
                </a:solidFill>
              </a:defRPr>
            </a:pPr>
            <a:r>
              <a:t>• The number of patterns follows from independent choices: each new position doubles the number of combinations.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 Bits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Physical devices need not store literal written zeros and ones.</a:t>
            </a:r>
          </a:p>
          <a:p>
            <a:pPr>
              <a:spcAft>
                <a:spcPts val="1100"/>
              </a:spcAft>
              <a:defRPr sz="1900">
                <a:solidFill>
                  <a:srgbClr val="F2F5F8"/>
                </a:solidFill>
              </a:defRPr>
            </a:pPr>
            <a:r>
              <a:t>• They distinguish states that are interpreted as those values.</a:t>
            </a:r>
          </a:p>
          <a:p>
            <a:pPr>
              <a:spcAft>
                <a:spcPts val="1100"/>
              </a:spcAft>
              <a:defRPr sz="1900">
                <a:solidFill>
                  <a:srgbClr val="F2F5F8"/>
                </a:solidFill>
              </a:defRPr>
            </a:pPr>
            <a:r>
              <a:t>• Software normally reasons above that physical level.</a:t>
            </a:r>
          </a:p>
          <a:p>
            <a:pPr>
              <a:spcAft>
                <a:spcPts val="1100"/>
              </a:spcAft>
              <a:defRPr sz="1700">
                <a:solidFill>
                  <a:srgbClr val="F2F5F8"/>
                </a:solidFill>
              </a:defRPr>
            </a:pPr>
            <a:r>
              <a:t>• What matters to the program is the behavior promised by the storage and instruction interfaces, including whether a read or write is atomic for the particular object and...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 Bytes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a byte-addressable machine, consecutive addresses identify consecutive bytes.</a:t>
            </a:r>
          </a:p>
          <a:p>
            <a:pPr>
              <a:spcAft>
                <a:spcPts val="1100"/>
              </a:spcAft>
              <a:defRPr sz="1900">
                <a:solidFill>
                  <a:srgbClr val="F2F5F8"/>
                </a:solidFill>
              </a:defRPr>
            </a:pPr>
            <a:r>
              <a:t>• A four-byte integer occupies four such positions.</a:t>
            </a:r>
          </a:p>
          <a:p>
            <a:pPr>
              <a:spcAft>
                <a:spcPts val="1100"/>
              </a:spcAft>
              <a:defRPr sz="1900">
                <a:solidFill>
                  <a:srgbClr val="F2F5F8"/>
                </a:solidFill>
              </a:defRPr>
            </a:pPr>
            <a:r>
              <a:t>• A machine may transfer a wider quantity in one operation, but the address still names its starting byte.</a:t>
            </a:r>
          </a:p>
          <a:p>
            <a:pPr>
              <a:spcAft>
                <a:spcPts val="1100"/>
              </a:spcAft>
              <a:defRPr sz="1900">
                <a:solidFill>
                  <a:srgbClr val="F2F5F8"/>
                </a:solidFill>
              </a:defRPr>
            </a:pPr>
            <a:r>
              <a:t>• The reference x86-64 platform uses eight-bit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3.2 Bytes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Byte addressability does not guarantee that every byte address is valid or equally efficient for every access width.</a:t>
            </a:r>
          </a:p>
          <a:p>
            <a:pPr>
              <a:spcAft>
                <a:spcPts val="1100"/>
              </a:spcAft>
              <a:defRPr sz="1900">
                <a:solidFill>
                  <a:srgbClr val="F2F5F8"/>
                </a:solidFill>
              </a:defRPr>
            </a:pPr>
            <a:r>
              <a:t>• A page may be unmapped, an address may not meet a type’s alignment, or an access may cross a cache-line boundary.</a:t>
            </a:r>
          </a:p>
          <a:p>
            <a:pPr>
              <a:spcAft>
                <a:spcPts val="1100"/>
              </a:spcAft>
              <a:defRPr sz="1900">
                <a:solidFill>
                  <a:srgbClr val="F2F5F8"/>
                </a:solidFill>
              </a:defRPr>
            </a:pPr>
            <a:r>
              <a:t>• Keep addressing granularity separate from access permission, required alignment, and transfer granularity.</a:t>
            </a:r>
          </a:p>
          <a:p>
            <a:pPr>
              <a:spcAft>
                <a:spcPts val="1100"/>
              </a:spcAft>
              <a:defRPr sz="1900">
                <a:solidFill>
                  <a:srgbClr val="F2F5F8"/>
                </a:solidFill>
              </a:defRPr>
            </a:pPr>
            <a:r>
              <a:t>• An address is usually written as a hexadecimal number because hexadecimal groups bits neatly.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 Number Bases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Binary uses base two.</a:t>
            </a:r>
          </a:p>
          <a:p>
            <a:pPr>
              <a:spcAft>
                <a:spcPts val="1100"/>
              </a:spcAft>
              <a:defRPr sz="1900">
                <a:solidFill>
                  <a:srgbClr val="F2F5F8"/>
                </a:solidFill>
              </a:defRPr>
            </a:pPr>
            <a:r>
              <a:t>• Each position has twice the weight of the position to its right.</a:t>
            </a:r>
          </a:p>
          <a:p>
            <a:pPr>
              <a:spcAft>
                <a:spcPts val="1100"/>
              </a:spcAft>
              <a:defRPr sz="1900">
                <a:solidFill>
                  <a:srgbClr val="F2F5F8"/>
                </a:solidFill>
              </a:defRPr>
            </a:pPr>
            <a:r>
              <a:t>• 110101 means 1 × 32 + 1 × 16 + 0 × 8 + 1 × 4 + 0 × 2 + 1 × 1 , giving 53.</a:t>
            </a:r>
          </a:p>
          <a:p>
            <a:pPr>
              <a:spcAft>
                <a:spcPts val="1100"/>
              </a:spcAft>
              <a:defRPr sz="1900">
                <a:solidFill>
                  <a:srgbClr val="F2F5F8"/>
                </a:solidFill>
              </a:defRPr>
            </a:pPr>
            <a:r>
              <a:t>• Leading zeroes change the displayed width but not the unsigned value.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 Number Bases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Binary notation makes masks and bit fields visible, but it becomes long for addresses and large integers.</a:t>
            </a:r>
          </a:p>
          <a:p>
            <a:pPr>
              <a:spcAft>
                <a:spcPts val="1100"/>
              </a:spcAft>
              <a:defRPr sz="1900">
                <a:solidFill>
                  <a:srgbClr val="F2F5F8"/>
                </a:solidFill>
              </a:defRPr>
            </a:pPr>
            <a:r>
              <a:t>• Use it when the positions themselves are the subject of the explanation.</a:t>
            </a:r>
          </a:p>
          <a:p>
            <a:pPr>
              <a:spcAft>
                <a:spcPts val="1100"/>
              </a:spcAft>
              <a:defRPr sz="1900">
                <a:solidFill>
                  <a:srgbClr val="F2F5F8"/>
                </a:solidFill>
              </a:defRPr>
            </a:pPr>
            <a:r>
              <a:t>• When only the value matters, decimal or hexadecimal may be easier to read.</a:t>
            </a:r>
          </a:p>
          <a:p>
            <a:pPr>
              <a:spcAft>
                <a:spcPts val="1100"/>
              </a:spcAft>
              <a:defRPr sz="1900">
                <a:solidFill>
                  <a:srgbClr val="F2F5F8"/>
                </a:solidFill>
              </a:defRPr>
            </a:pPr>
            <a:r>
              <a:t>• Decimal uses base ten.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 Bitwise Operations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Bitwise AND, written &amp; , retains a one only where both operands have one.</a:t>
            </a:r>
          </a:p>
          <a:p>
            <a:pPr>
              <a:spcAft>
                <a:spcPts val="1100"/>
              </a:spcAft>
              <a:defRPr sz="1900">
                <a:solidFill>
                  <a:srgbClr val="F2F5F8"/>
                </a:solidFill>
              </a:defRPr>
            </a:pPr>
            <a:r>
              <a:t>• It is commonly used to test or extract fields.</a:t>
            </a:r>
          </a:p>
          <a:p>
            <a:pPr>
              <a:spcAft>
                <a:spcPts val="1100"/>
              </a:spcAft>
              <a:defRPr sz="1900">
                <a:solidFill>
                  <a:srgbClr val="F2F5F8"/>
                </a:solidFill>
              </a:defRPr>
            </a:pPr>
            <a:r>
              <a:t>• If flags &amp; mask is zero, none of the masked bits are set.</a:t>
            </a:r>
          </a:p>
          <a:p>
            <a:pPr>
              <a:spcAft>
                <a:spcPts val="1100"/>
              </a:spcAft>
              <a:defRPr sz="1900">
                <a:solidFill>
                  <a:srgbClr val="F2F5F8"/>
                </a:solidFill>
              </a:defRPr>
            </a:pPr>
            <a:r>
              <a:t>• If the requirement is that all masked bits are set, test (flags &amp; mask) == mask instead.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3.4 Bitwise Operations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These two predicates are different.</a:t>
            </a:r>
          </a:p>
          <a:p>
            <a:pPr>
              <a:spcAft>
                <a:spcPts val="1100"/>
              </a:spcAft>
              <a:defRPr sz="1900">
                <a:solidFill>
                  <a:srgbClr val="F2F5F8"/>
                </a:solidFill>
              </a:defRPr>
            </a:pPr>
            <a:r>
              <a:t>• With mask 0b1100 and flags 0b0100 , “any” is true but “all” is false.</a:t>
            </a:r>
          </a:p>
          <a:p>
            <a:pPr>
              <a:spcAft>
                <a:spcPts val="1100"/>
              </a:spcAft>
              <a:defRPr sz="1900">
                <a:solidFill>
                  <a:srgbClr val="F2F5F8"/>
                </a:solidFill>
              </a:defRPr>
            </a:pPr>
            <a:r>
              <a:t>• A permission check that confuses them can authorize an operation based on only part of the required state.</a:t>
            </a:r>
          </a:p>
          <a:p>
            <a:pPr>
              <a:spcAft>
                <a:spcPts val="1100"/>
              </a:spcAft>
              <a:defRPr sz="1900">
                <a:solidFill>
                  <a:srgbClr val="F2F5F8"/>
                </a:solidFill>
              </a:defRPr>
            </a:pPr>
            <a:r>
              <a:t>• Name helper functions according to the exact predicate they implement.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Updating one packed field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requirement is to replace the three-bit field at positions 2 through 4 in 0xB6 with the value 3, while preserving every other bit.</a:t>
            </a:r>
          </a:p>
          <a:p>
            <a:pPr>
              <a:spcAft>
                <a:spcPts val="1100"/>
              </a:spcAft>
              <a:defRPr sz="1900">
                <a:solidFill>
                  <a:srgbClr val="F2F5F8"/>
                </a:solidFill>
              </a:defRPr>
            </a:pPr>
            <a:r>
              <a:t>• Companion listing: ch03/fields.c</a:t>
            </a:r>
          </a:p>
          <a:p>
            <a:pPr>
              <a:spcAft>
                <a:spcPts val="1100"/>
              </a:spcAft>
              <a:defRPr sz="1900">
                <a:solidFill>
                  <a:srgbClr val="F2F5F8"/>
                </a:solidFill>
              </a:defRPr>
            </a:pPr>
            <a:r>
              <a:t>• First, low is 0x07 , and shifting it left twice produces mask = 0x1C .</a:t>
            </a:r>
          </a:p>
          <a:p>
            <a:pPr>
              <a:spcAft>
                <a:spcPts val="1100"/>
              </a:spcAft>
              <a:defRPr sz="1900">
                <a:solidFill>
                  <a:srgbClr val="F2F5F8"/>
                </a:solidFill>
              </a:defRPr>
            </a:pPr>
            <a:r>
              <a:t>• Clearing that mask from 0xB6 produces 0xA2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Updating one packed field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ch03/fields.c</a:t>
            </a:r>
          </a:p>
          <a:p>
            <a:pPr>
              <a:spcAft>
                <a:spcPts val="1100"/>
              </a:spcAft>
              <a:defRPr sz="1900">
                <a:solidFill>
                  <a:srgbClr val="F2F5F8"/>
                </a:solidFill>
              </a:defRPr>
            </a:pPr>
            <a:r>
              <a:t>• First, low is 0x07 , and shifting it left twice produces mask = 0x1C .</a:t>
            </a:r>
          </a:p>
          <a:p>
            <a:pPr>
              <a:spcAft>
                <a:spcPts val="1100"/>
              </a:spcAft>
              <a:defRPr sz="1900">
                <a:solidFill>
                  <a:srgbClr val="F2F5F8"/>
                </a:solidFill>
              </a:defRPr>
            </a:pPr>
            <a:r>
              <a:t>• Clearing that mask from 0xB6 produces 0xA2 .</a:t>
            </a:r>
          </a:p>
          <a:p>
            <a:pPr>
              <a:spcAft>
                <a:spcPts val="1100"/>
              </a:spcAft>
              <a:defRPr sz="1900">
                <a:solidFill>
                  <a:srgbClr val="F2F5F8"/>
                </a:solidFill>
              </a:defRPr>
            </a:pPr>
            <a:r>
              <a:t>• Shifting the new field, 3, left twice produces 0x0C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Building and extracting a bit field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Store a 3-bit mode in bits 4 through 6.</a:t>
            </a:r>
          </a:p>
          <a:p>
            <a:pPr>
              <a:spcAft>
                <a:spcPts val="1100"/>
              </a:spcAft>
              <a:defRPr sz="1900">
                <a:solidFill>
                  <a:srgbClr val="F2F5F8"/>
                </a:solidFill>
              </a:defRPr>
            </a:pPr>
            <a:r>
              <a:t>• To insert value 5 ( 101b ), clear the field with word &amp;= ~(0x7u &lt;&lt; 4) , then set it with word |= (5u &amp; 0x7u) &lt;&lt; 4 .</a:t>
            </a:r>
          </a:p>
          <a:p>
            <a:pPr>
              <a:spcAft>
                <a:spcPts val="1100"/>
              </a:spcAft>
              <a:defRPr sz="1900">
                <a:solidFill>
                  <a:srgbClr val="F2F5F8"/>
                </a:solidFill>
              </a:defRPr>
            </a:pPr>
            <a:r>
              <a:t>• To extract it later, compute (word &gt;&gt; 4) &amp; 0x7u , yielding 5 .</a:t>
            </a:r>
          </a:p>
          <a:p>
            <a:pPr>
              <a:spcAft>
                <a:spcPts val="1100"/>
              </a:spcAft>
              <a:defRPr sz="1900">
                <a:solidFill>
                  <a:srgbClr val="F2F5F8"/>
                </a:solidFill>
              </a:defRPr>
            </a:pPr>
            <a:r>
              <a:t>• Mask before shifting so unrelated high bits cannot leak into the field.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Building and extracting a bit field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Store a 3-bit mode in bits 4 through 6.</a:t>
            </a:r>
          </a:p>
          <a:p>
            <a:pPr>
              <a:spcAft>
                <a:spcPts val="1100"/>
              </a:spcAft>
              <a:defRPr sz="1900">
                <a:solidFill>
                  <a:srgbClr val="F2F5F8"/>
                </a:solidFill>
              </a:defRPr>
            </a:pPr>
            <a:r>
              <a:t>• To insert value 5 ( 101b ), clear the field with word &amp;= ~(0x7u &lt;&lt; 4) , then set it with word |= (5u &amp; 0x7u) &lt;&lt; 4 .</a:t>
            </a:r>
          </a:p>
          <a:p>
            <a:pPr>
              <a:spcAft>
                <a:spcPts val="1100"/>
              </a:spcAft>
              <a:defRPr sz="1900">
                <a:solidFill>
                  <a:srgbClr val="F2F5F8"/>
                </a:solidFill>
              </a:defRPr>
            </a:pPr>
            <a:r>
              <a:t>• To extract it later, compute (word &gt;&gt; 4) &amp; 0x7u , yielding 5 .</a:t>
            </a:r>
          </a:p>
          <a:p>
            <a:pPr>
              <a:spcAft>
                <a:spcPts val="1100"/>
              </a:spcAft>
              <a:defRPr sz="1900">
                <a:solidFill>
                  <a:srgbClr val="F2F5F8"/>
                </a:solidFill>
              </a:defRPr>
            </a:pPr>
            <a:r>
              <a:t>• Mask before shifting so unrelated high bits cannot leak into the field.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Converting hexadecimal to binary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Take byte 0xB6 .</a:t>
            </a:r>
          </a:p>
          <a:p>
            <a:pPr>
              <a:spcAft>
                <a:spcPts val="1100"/>
              </a:spcAft>
              <a:defRPr sz="1900">
                <a:solidFill>
                  <a:srgbClr val="F2F5F8"/>
                </a:solidFill>
              </a:defRPr>
            </a:pPr>
            <a:r>
              <a:t>• Each hexadecimal digit represents four bits: B is 1011 and 6 is 0110 , so the byte is 10110110 .</a:t>
            </a:r>
          </a:p>
          <a:p>
            <a:pPr>
              <a:spcAft>
                <a:spcPts val="1100"/>
              </a:spcAft>
              <a:defRPr sz="1900">
                <a:solidFill>
                  <a:srgbClr val="F2F5F8"/>
                </a:solidFill>
              </a:defRPr>
            </a:pPr>
            <a:r>
              <a:t>• The high nibble is 0xB ; the low nibble is 0x6 .</a:t>
            </a:r>
          </a:p>
          <a:p>
            <a:pPr>
              <a:spcAft>
                <a:spcPts val="1100"/>
              </a:spcAft>
              <a:defRPr sz="1700">
                <a:solidFill>
                  <a:srgbClr val="F2F5F8"/>
                </a:solidFill>
              </a:defRPr>
            </a:pPr>
            <a:r>
              <a:t>• This direct nibble mapping is why hexadecimal is convenient for addresses, masks, instruction bytes, and binary protocols.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Converting hexadecimal to binary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Take byte 0xB6 .</a:t>
            </a:r>
          </a:p>
          <a:p>
            <a:pPr>
              <a:spcAft>
                <a:spcPts val="1100"/>
              </a:spcAft>
              <a:defRPr sz="1900">
                <a:solidFill>
                  <a:srgbClr val="F2F5F8"/>
                </a:solidFill>
              </a:defRPr>
            </a:pPr>
            <a:r>
              <a:t>• Each hexadecimal digit represents four bits: B is 1011 and 6 is 0110 , so the byte is 10110110 .</a:t>
            </a:r>
          </a:p>
          <a:p>
            <a:pPr>
              <a:spcAft>
                <a:spcPts val="1100"/>
              </a:spcAft>
              <a:defRPr sz="1900">
                <a:solidFill>
                  <a:srgbClr val="F2F5F8"/>
                </a:solidFill>
              </a:defRPr>
            </a:pPr>
            <a:r>
              <a:t>• The high nibble is 0xB ; the low nibble is 0x6 .</a:t>
            </a:r>
          </a:p>
          <a:p>
            <a:pPr>
              <a:spcAft>
                <a:spcPts val="1100"/>
              </a:spcAft>
              <a:defRPr sz="1700">
                <a:solidFill>
                  <a:srgbClr val="F2F5F8"/>
                </a:solidFill>
              </a:defRPr>
            </a:pPr>
            <a:r>
              <a:t>• This direct nibble mapping is why hexadecimal is convenient for addresses, masks, instruction bytes, and binary protocols.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a:t>
            </a:r>
          </a:p>
          <a:p>
            <a:pPr>
              <a:spcAft>
                <a:spcPts val="1100"/>
              </a:spcAft>
              <a:defRPr sz="1900">
                <a:solidFill>
                  <a:srgbClr val="F2F5F8"/>
                </a:solidFill>
              </a:defRPr>
            </a:pPr>
            <a:r>
              <a:t>• Write a checked 32-bit field-insertion function that accepts width, position, and value.</a:t>
            </a:r>
          </a:p>
          <a:p>
            <a:pPr>
              <a:spcAft>
                <a:spcPts val="1100"/>
              </a:spcAft>
              <a:defRPr sz="1900">
                <a:solidFill>
                  <a:srgbClr val="F2F5F8"/>
                </a:solidFill>
              </a:defRPr>
            </a:pPr>
            <a:r>
              <a:t>• Reject fields outside the word and values that do not fit.</a:t>
            </a:r>
          </a:p>
          <a:p>
            <a:pPr>
              <a:spcAft>
                <a:spcPts val="1100"/>
              </a:spcAft>
              <a:defRPr sz="1900">
                <a:solidFill>
                  <a:srgbClr val="F2F5F8"/>
                </a:solidFill>
              </a:defRPr>
            </a:pPr>
            <a:r>
              <a:t>• Include width-zero and width-32 tests without executing an invalid shift.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Convert 0x2D to decimal and binary.</a:t>
            </a:r>
          </a:p>
          <a:p>
            <a:pPr>
              <a:spcAft>
                <a:spcPts val="1100"/>
              </a:spcAft>
              <a:defRPr sz="1900">
                <a:solidFill>
                  <a:srgbClr val="F2F5F8"/>
                </a:solidFill>
              </a:defRPr>
            </a:pPr>
            <a:r>
              <a:t>• Review 2.</a:t>
            </a:r>
          </a:p>
          <a:p>
            <a:pPr>
              <a:spcAft>
                <a:spcPts val="1100"/>
              </a:spcAft>
              <a:defRPr sz="1900">
                <a:solidFill>
                  <a:srgbClr val="F2F5F8"/>
                </a:solidFill>
              </a:defRPr>
            </a:pPr>
            <a:r>
              <a:t>• What is the difference between (x &amp; m) != 0 and (x &amp; m) == m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bits, bytes, and binary data.</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Integer Representation.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