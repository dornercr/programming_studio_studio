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44 — Threads</a:t>
            </a:r>
          </a:p>
          <a:p/>
          <a:p>
            <a:r>
              <a:t>LECTURE NARRATION</a:t>
            </a:r>
          </a:p>
          <a:p>
            <a:r>
              <a:t>A thread’s lifecycle includes creation, execution, completion, and collection or joining. Shared objects must outlive every thread that accesses them, and exceptions during setup must not leave unowned running work. C++20’s std::jthread provides joining ownership, but it does not automatically solve a worker that waits forever.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thread’s lifecycle includes creation, execution, completion, and collection or joining.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thread’s lifecycle includes creation, execution, completion, and collection or joining. Shared objects must outlive every thread that accesses them, and exceptions during setup must not leave unowned running work. C++20’s std::jthread provides joining ownership, but it does not automatically solve a worker that waits forever.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thread’s lifecycle includes creation, execution, completion, and collection or joining.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44.1 Thread creation 44.2 Thread termination 44.3 Joining 44.4 Shared address spaces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44.1 Thread creation 44.2 Thread termination 44.3 Joining 44.4 Shared address spaces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44.1 Thread creation</a:t>
            </a:r>
          </a:p>
          <a:p/>
          <a:p>
            <a:r>
              <a:t>LECTURE NARRATION</a:t>
            </a:r>
          </a:p>
          <a:p>
            <a:r>
              <a:t>Creating a thread starts a new execution stream with a callable and arguments. Creation can fail because resources are unavailable. The new thread may begin executing before the constructor’s caller reaches its next statement. Prepare shared state before launching the worker. Capture references only to objects whose lifetimes extend through completion. Capturing a loop variable by reference can accidentally make several workers observe the same changing variable instead of distinct task indexes; capture each intended index by value.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44.1 Thread creation — Deep Dive</a:t>
            </a:r>
          </a:p>
          <a:p/>
          <a:p>
            <a:r>
              <a:t>LECTURE NARRATION</a:t>
            </a:r>
          </a:p>
          <a:p>
            <a:r>
              <a:t>Creating a thread starts a new execution stream with a callable and arguments. Creation can fail because resources are unavailable. The new thread may begin executing before the constructor’s caller reaches its next statement. Prepare shared state before launching the worker. Capture references only to objects whose lifetimes extend through completion. Capturing a loop variable by reference can accidentally make several workers observe the same changing variable instead of distinct task indexes; capture each intended index by value.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44.2 Thread termination</a:t>
            </a:r>
          </a:p>
          <a:p/>
          <a:p>
            <a:r>
              <a:t>LECTURE NARRATION</a:t>
            </a:r>
          </a:p>
          <a:p>
            <a:r>
              <a:t>A thread normally terminates by returning from its callable. An uncaught exception escaping a C++ thread function causes termination of the program under the standard thread interface; it is not automatically delivered to the creating thread. Catch worker failures inside the callable when recovery or reporting is required, and communicate them through an explicit channel such as an exception pointer protected by synchronization. Cooperative cancellation also requires the worker to check or wait on a supported stop condition; a stop request does not forcibly interrupt arbitrary blocking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44.2 Thread termination — Deep Dive</a:t>
            </a:r>
          </a:p>
          <a:p/>
          <a:p>
            <a:r>
              <a:t>LECTURE NARRATION</a:t>
            </a:r>
          </a:p>
          <a:p>
            <a:r>
              <a:t>A thread normally terminates by returning from its callable. An uncaught exception escaping a C++ thread function causes termination of the program under the standard thread interface; it is not automatically delivered to the creating thread. Catch worker failures inside the callable when recovery or reporting is required, and communicate them through an explicit channel such as an exception pointer protected by synchronization. Cooperative cancellation also requires the worker to check or wait on a supported stop condition; a stop request does not forcibly interrupt arbitrary blocking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44.3 Joining</a:t>
            </a:r>
          </a:p>
          <a:p/>
          <a:p>
            <a:r>
              <a:t>LECTURE NARRATION</a:t>
            </a:r>
          </a:p>
          <a:p>
            <a:r>
              <a:t>Joining waits for a thread to finish and establishes the synchronization needed to observe its completed work. A std::thread must be joined or detached before its joinable destructor runs; otherwise the program terminates. std::jthread requests stop and joins during destruction when appropriate. Automatic joining is ownership help, not a deadlock cure. Destroying a joining thread object while holding a mutex the worker needs can block forever. Scope objects so that locks are released and shutdown conditions are established before joining.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joining waits for a thread to finish and establishes the synchronization needed to observe its completed work.</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44.3 Joining — Deep Dive</a:t>
            </a:r>
          </a:p>
          <a:p/>
          <a:p>
            <a:r>
              <a:t>LECTURE NARRATION</a:t>
            </a:r>
          </a:p>
          <a:p>
            <a:r>
              <a:t>Joining waits for a thread to finish and establishes the synchronization needed to observe its completed work. A std::thread must be joined or detached before its joinable destructor runs; otherwise the program terminates. std::jthread requests stop and joins during destruction when appropriate. Automatic joining is ownership help, not a deadlock cure. Destroying a joining thread object while holding a mutex the worker needs can block forever. Scope objects so that locks are released and shutdown conditions are established before joining.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joining waits for a thread to finish and establishes the synchronization needed to observe its completed work.</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44.4 Shared address spaces</a:t>
            </a:r>
          </a:p>
          <a:p/>
          <a:p>
            <a:r>
              <a:t>LECTURE NARRATION</a:t>
            </a:r>
          </a:p>
          <a:p>
            <a:r>
              <a:t>Threads can access the same globals, heap objects, and explicitly shared stack objects. Shared addressability does not imply permission to perform unsynchronized conflicting operations. Ordinary mutable state needs ownership or synchronization. Read-only data is simpler, but its initialization must be safely published and its lifetime maintained. A pointer to immutable bytes is still unsafe after the owner destroys or reallocates the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44.4 Shared address spaces — Deep Dive</a:t>
            </a:r>
          </a:p>
          <a:p/>
          <a:p>
            <a:r>
              <a:t>LECTURE NARRATION</a:t>
            </a:r>
          </a:p>
          <a:p>
            <a:r>
              <a:t>Threads can access the same globals, heap objects, and explicitly shared stack objects. Shared addressability does not imply permission to perform unsynchronized conflicting operations. Ordinary mutable state needs ownership or synchronization. Read-only data is simpler, but its initialization must be safely published and its lifetime maintained. A pointer to immutable bytes is still unsafe after the owner destroys or reallocates the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44.5 Thread-local state</a:t>
            </a:r>
          </a:p>
          <a:p/>
          <a:p>
            <a:r>
              <a:t>LECTURE NARRATION</a:t>
            </a:r>
          </a:p>
          <a:p>
            <a:r>
              <a:t>Thread-local state gives each thread a distinct instance, reducing accidental sharing. C++ thread_local variables have thread storage duration and initialization/destruction rules that differ from automatic locals. Thread-local counters can reduce contention, but an aggregate result still requires a collection phase. Thread-local storage also consumes resources per thread, so a design with enormous thread counts can multiply memory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44.5 Thread-local state — Deep Dive</a:t>
            </a:r>
          </a:p>
          <a:p/>
          <a:p>
            <a:r>
              <a:t>LECTURE NARRATION</a:t>
            </a:r>
          </a:p>
          <a:p>
            <a:r>
              <a:t>Thread-local state gives each thread a distinct instance, reducing accidental sharing. C++ thread_local variables have thread storage duration and initialization/destruction rules that differ from automatic locals. Thread-local counters can reduce contention, but an aggregate result still requires a collection phase. Thread-local storage also consumes resources per thread, so a design with enormous thread counts can multiply memory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44.6 Thread stacks</a:t>
            </a:r>
          </a:p>
          <a:p/>
          <a:p>
            <a:r>
              <a:t>LECTURE NARRATION</a:t>
            </a:r>
          </a:p>
          <a:p>
            <a:r>
              <a:t>Each thread has a stack for its calls and automatic storage under the usual implementation model. A pointer into another thread’s stack can be shared, but the designated object must remain alive and accesses must be synchronized. Large automatic arrays and deep recursion multiply stack pressure across threads. A thread-per-connection server can consume substantial virtual and committed resources even when each worker appears simple. Resource budgeting should include stack and scheduler overhead, not only application payload buffers.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44.6 Thread stacks — Deep Dive</a:t>
            </a:r>
          </a:p>
          <a:p/>
          <a:p>
            <a:r>
              <a:t>LECTURE NARRATION</a:t>
            </a:r>
          </a:p>
          <a:p>
            <a:r>
              <a:t>Each thread has a stack for its calls and automatic storage under the usual implementation model. A pointer into another thread’s stack can be shared, but the designated object must remain alive and accesses must be synchronized. Large automatic arrays and deep recursion multiply stack pressure across threads. A thread-per-connection server can consume substantial virtual and committed resources even when each worker appears simple. Resource budgeting should include stack and scheduler overhead, not only application payload buffers.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44.7 Thread scheduling</a:t>
            </a:r>
          </a:p>
          <a:p/>
          <a:p>
            <a:r>
              <a:t>LECTURE NARRATION</a:t>
            </a:r>
          </a:p>
          <a:p>
            <a:r>
              <a:t>The scheduler decides when runnable threads execute. Thread creation order does not determine completion order. A blocked thread may not resume immediately when its condition becomes true because it must also obtain CPU time and any required lock. Avoid using sleeps to establish correctness. A delay that appears sufficient on one machine can fail under load, debugging, or different scheduling. Use joins, mutexes, condition variables, or explicit atomic protocols to express the required relationship.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44.7 Thread scheduling — Deep Dive</a:t>
            </a:r>
          </a:p>
          <a:p/>
          <a:p>
            <a:r>
              <a:t>LECTURE NARRATION</a:t>
            </a:r>
          </a:p>
          <a:p>
            <a:r>
              <a:t>The scheduler decides when runnable threads execute. Thread creation order does not determine completion order. A blocked thread may not resume immediately when its condition becomes true because it must also obtain CPU time and any required lock. Avoid using sleeps to establish correctness. A delay that appears sufficient on one machine can fail under load, debugging, or different scheduling. Use joins, mutexes, condition variables, or explicit atomic protocols to express the required relationship.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Independent partial sums</a:t>
            </a:r>
          </a:p>
          <a:p/>
          <a:p>
            <a:r>
              <a:t>LECTURE NARRATION</a:t>
            </a:r>
          </a:p>
          <a:p>
            <a:r>
              <a:t>Four workers sum disjoint ranges of the integers 1 through 100. Each writes a distinct array element. The parent combines results only after the worker owners leave scope and join. Companion listing: ch44/partial_sums.cpp The expected result is 5050. There is no conflicting access to the same array element during worker execution, and joining completes before the parent’s reads. Adjacent elements may still share a cache line, so the design can exhibit false sharing in a more write-intensive workload without containing a language-level data race. This example demonstrates correctness, not useful speedup for 100 additions. Thread creation overhead is likely to dominate such a small workload. A performance experiment should reuse workers or use sufficiently large tasks while preserving the same partitioning argument.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four workers sum disjoint ranges of the integers 1 through 100.</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Independent partial sums — Deep Dive</a:t>
            </a:r>
          </a:p>
          <a:p/>
          <a:p>
            <a:r>
              <a:t>LECTURE NARRATION</a:t>
            </a:r>
          </a:p>
          <a:p>
            <a:r>
              <a:t>Four workers sum disjoint ranges of the integers 1 through 100. Each writes a distinct array element. The parent combines results only after the worker owners leave scope and join. Companion listing: ch44/partial_sums.cpp The expected result is 5050. There is no conflicting access to the same array element during worker execution, and joining completes before the parent’s reads. Adjacent elements may still share a cache line, so the design can exhibit false sharing in a more write-intensive workload without containing a language-level data race. This example demonstrates correctness, not useful speedup for 100 additions. Thread creation overhead is likely to dominate such a small workload. A performance experiment should reuse workers or use sufficiently large tasks while preserving the same partitioning argument.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four workers sum disjoint ranges of the integers 1 through 100.</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Joining a worker</a:t>
            </a:r>
          </a:p>
          <a:p/>
          <a:p>
            <a:r>
              <a:t>LECTURE NARRATION</a:t>
            </a:r>
          </a:p>
          <a:p>
            <a:r>
              <a:t>A main thread launches a worker to compute a partial result. If main reads the result before synchronizing, it may observe incomplete state. Calling join waits for the worker to terminate and establishes the required completion relationship for the thread abstraction. After joining, resources associated with a joinable thread can be reclaimed according to the API.</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main thread launches a worker to compute a partial result.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Joining a worker — Deep Dive</a:t>
            </a:r>
          </a:p>
          <a:p/>
          <a:p>
            <a:r>
              <a:t>LECTURE NARRATION</a:t>
            </a:r>
          </a:p>
          <a:p>
            <a:r>
              <a:t>A main thread launches a worker to compute a partial result. If main reads the result before synchronizing, it may observe incomplete state. Calling join waits for the worker to terminate and establishes the required completion relationship for the thread abstraction. After joining, resources associated with a joinable thread can be reclaimed according to the API.</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main thread launches a worker to compute a partial result.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Thread-local versus shared state</a:t>
            </a:r>
          </a:p>
          <a:p/>
          <a:p>
            <a:r>
              <a:t>LECTURE NARRATION</a:t>
            </a:r>
          </a:p>
          <a:p>
            <a:r>
              <a:t>An automatic local variable inside a thread function typically resides in that thread’s stack, while a global variable is in the process address space shared by all threads. Two threads can each have distinct local counters but race on the shared global counter. Storage placement affects sharing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Thread-local versus shared state — Deep Dive</a:t>
            </a:r>
          </a:p>
          <a:p/>
          <a:p>
            <a:r>
              <a:t>LECTURE NARRATION</a:t>
            </a:r>
          </a:p>
          <a:p>
            <a:r>
              <a:t>An automatic local variable inside a thread function typically resides in that thread’s stack, while a global variable is in the process address space shared by all threads. Two threads can each have distinct local counters but race on the shared global counter. Storage placement affects sharing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44. Generalize to a runtime element count that is not divisible by the worker count. Define nonoverlapping half-open ranges and verify that every element belongs to exactly one worker. Compare against a sequential reference result. Review 1. Why capture id by value? Review 2. Why is automatic joining insufficient when a worker’s wait predicate never becomes true?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44.</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44. Generalize to a runtime element count that is not divisible by the worker count. Define nonoverlapping half-open ranges and verify that every element belongs to exactly one worker. Compare against a sequential reference result. Review 1. Why capture id by value? Review 2. Why is automatic joining insufficient when a worker’s wait predicate never becomes true?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44.</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threads.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threads.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Race Conditions.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44 — Threads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thread’s lifecycle includes creation, execution, completion, and collection or joining.</a:t>
            </a:r>
          </a:p>
          <a:p>
            <a:pPr>
              <a:spcAft>
                <a:spcPts val="1100"/>
              </a:spcAft>
              <a:defRPr sz="1700">
                <a:solidFill>
                  <a:srgbClr val="F2F5F8"/>
                </a:solidFill>
              </a:defRPr>
            </a:pPr>
            <a:r>
              <a:t>• Shared objects must outlive every thread that accesses them, and exceptions during setup must not leave unowned running work.</a:t>
            </a:r>
          </a:p>
          <a:p>
            <a:pPr>
              <a:spcAft>
                <a:spcPts val="1100"/>
              </a:spcAft>
              <a:defRPr sz="1700">
                <a:solidFill>
                  <a:srgbClr val="F2F5F8"/>
                </a:solidFill>
              </a:defRPr>
            </a:pPr>
            <a:r>
              <a:t>• C++20’s std::jthread provides joining ownership, but it does not automatically solve a worker that waits forever. [ R34 ]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Threads.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44.1 Thread creation</a:t>
            </a:r>
          </a:p>
          <a:p>
            <a:pPr>
              <a:spcAft>
                <a:spcPts val="1100"/>
              </a:spcAft>
              <a:defRPr sz="1900">
                <a:solidFill>
                  <a:srgbClr val="F2F5F8"/>
                </a:solidFill>
              </a:defRPr>
            </a:pPr>
            <a:r>
              <a:t>• 44.2 Thread termination</a:t>
            </a:r>
          </a:p>
          <a:p>
            <a:pPr>
              <a:spcAft>
                <a:spcPts val="1100"/>
              </a:spcAft>
              <a:defRPr sz="1900">
                <a:solidFill>
                  <a:srgbClr val="F2F5F8"/>
                </a:solidFill>
              </a:defRPr>
            </a:pPr>
            <a:r>
              <a:t>• 44.3 Joining</a:t>
            </a:r>
          </a:p>
          <a:p>
            <a:pPr>
              <a:spcAft>
                <a:spcPts val="1100"/>
              </a:spcAft>
              <a:defRPr sz="1900">
                <a:solidFill>
                  <a:srgbClr val="F2F5F8"/>
                </a:solidFill>
              </a:defRPr>
            </a:pPr>
            <a:r>
              <a:t>• 44.4 Shared address spaces</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44.1 Thread creation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Creating a thread starts a new execution stream with a callable and arguments.</a:t>
            </a:r>
          </a:p>
          <a:p>
            <a:pPr>
              <a:spcAft>
                <a:spcPts val="1100"/>
              </a:spcAft>
              <a:defRPr sz="1900">
                <a:solidFill>
                  <a:srgbClr val="F2F5F8"/>
                </a:solidFill>
              </a:defRPr>
            </a:pPr>
            <a:r>
              <a:t>• Creation can fail because resources are unavailable.</a:t>
            </a:r>
          </a:p>
          <a:p>
            <a:pPr>
              <a:spcAft>
                <a:spcPts val="1100"/>
              </a:spcAft>
              <a:defRPr sz="1900">
                <a:solidFill>
                  <a:srgbClr val="F2F5F8"/>
                </a:solidFill>
              </a:defRPr>
            </a:pPr>
            <a:r>
              <a:t>• The new thread may begin executing before the constructor’s caller reaches its next statement.</a:t>
            </a:r>
          </a:p>
          <a:p>
            <a:pPr>
              <a:spcAft>
                <a:spcPts val="1100"/>
              </a:spcAft>
              <a:defRPr sz="1900">
                <a:solidFill>
                  <a:srgbClr val="F2F5F8"/>
                </a:solidFill>
              </a:defRPr>
            </a:pPr>
            <a:r>
              <a:t>• Prepare shared state before launching the worker.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44.1 Thread creation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Prepare shared state before launching the worker.</a:t>
            </a:r>
          </a:p>
          <a:p>
            <a:pPr>
              <a:spcAft>
                <a:spcPts val="1100"/>
              </a:spcAft>
              <a:defRPr sz="1900">
                <a:solidFill>
                  <a:srgbClr val="F2F5F8"/>
                </a:solidFill>
              </a:defRPr>
            </a:pPr>
            <a:r>
              <a:t>• Capture references only to objects whose lifetimes extend through completion.</a:t>
            </a:r>
          </a:p>
          <a:p>
            <a:pPr>
              <a:spcAft>
                <a:spcPts val="1100"/>
              </a:spcAft>
              <a:defRPr sz="1700">
                <a:solidFill>
                  <a:srgbClr val="F2F5F8"/>
                </a:solidFill>
              </a:defRPr>
            </a:pPr>
            <a:r>
              <a:t>• Capturing a loop variable by reference can accidentally make several workers observe the same changing variable instead of distinct task indexes; capture each intended...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44.2 Thread termination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thread normally terminates by returning from its callable.</a:t>
            </a:r>
          </a:p>
          <a:p>
            <a:pPr>
              <a:spcAft>
                <a:spcPts val="1100"/>
              </a:spcAft>
              <a:defRPr sz="1700">
                <a:solidFill>
                  <a:srgbClr val="F2F5F8"/>
                </a:solidFill>
              </a:defRPr>
            </a:pPr>
            <a:r>
              <a:t>• An uncaught exception escaping a C++ thread function causes termination of the program under the standard thread interface; it is not automatically delivered to the creating...</a:t>
            </a:r>
          </a:p>
          <a:p>
            <a:pPr>
              <a:spcAft>
                <a:spcPts val="1100"/>
              </a:spcAft>
              <a:defRPr sz="1700">
                <a:solidFill>
                  <a:srgbClr val="F2F5F8"/>
                </a:solidFill>
              </a:defRPr>
            </a:pPr>
            <a:r>
              <a:t>• Catch worker failures inside the callable when recovery or reporting is required, and communicate them through an explicit channel such as an exception pointer protected by...</a:t>
            </a:r>
          </a:p>
          <a:p>
            <a:pPr>
              <a:spcAft>
                <a:spcPts val="1100"/>
              </a:spcAft>
              <a:defRPr sz="1700">
                <a:solidFill>
                  <a:srgbClr val="F2F5F8"/>
                </a:solidFill>
              </a:defRPr>
            </a:pPr>
            <a:r>
              <a:t>• Cooperative cancellation also requires the worker to check or wait on a supported stop condition; a stop request does not forcibly interrupt arbitrary blocking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44.2 Thread termination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Catch worker failures inside the callable when recovery or reporting is required, and communicate them through an explicit channel such as an exception pointer protected...</a:t>
            </a:r>
          </a:p>
          <a:p>
            <a:pPr>
              <a:spcAft>
                <a:spcPts val="1100"/>
              </a:spcAft>
              <a:defRPr sz="1700">
                <a:solidFill>
                  <a:srgbClr val="F2F5F8"/>
                </a:solidFill>
              </a:defRPr>
            </a:pPr>
            <a:r>
              <a:t>• Cooperative cancellation also requires the worker to check or wait on a supported stop condition; a stop request does not forcibly interrupt arbitrary blocking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44.3 Joining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Joining waits for a thread to finish and establishes the synchronization needed to observe its completed work.</a:t>
            </a:r>
          </a:p>
          <a:p>
            <a:pPr>
              <a:spcAft>
                <a:spcPts val="1100"/>
              </a:spcAft>
              <a:defRPr sz="1700">
                <a:solidFill>
                  <a:srgbClr val="F2F5F8"/>
                </a:solidFill>
              </a:defRPr>
            </a:pPr>
            <a:r>
              <a:t>• A std::thread must be joined or detached before its joinable destructor runs; otherwise the program terminates. std::jthread requests stop and joins during destruction when...</a:t>
            </a:r>
          </a:p>
          <a:p>
            <a:pPr>
              <a:spcAft>
                <a:spcPts val="1100"/>
              </a:spcAft>
              <a:defRPr sz="1900">
                <a:solidFill>
                  <a:srgbClr val="F2F5F8"/>
                </a:solidFill>
              </a:defRPr>
            </a:pPr>
            <a:r>
              <a:t>• Automatic joining is ownership help, not a deadlock cure.</a:t>
            </a:r>
          </a:p>
          <a:p>
            <a:pPr>
              <a:spcAft>
                <a:spcPts val="1100"/>
              </a:spcAft>
              <a:defRPr sz="1900">
                <a:solidFill>
                  <a:srgbClr val="F2F5F8"/>
                </a:solidFill>
              </a:defRPr>
            </a:pPr>
            <a:r>
              <a:t>• Destroying a joining thread object while holding a mutex the worker needs can block forever.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44.3 Joining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Automatic joining is ownership help, not a deadlock cure.</a:t>
            </a:r>
          </a:p>
          <a:p>
            <a:pPr>
              <a:spcAft>
                <a:spcPts val="1100"/>
              </a:spcAft>
              <a:defRPr sz="1900">
                <a:solidFill>
                  <a:srgbClr val="F2F5F8"/>
                </a:solidFill>
              </a:defRPr>
            </a:pPr>
            <a:r>
              <a:t>• Destroying a joining thread object while holding a mutex the worker needs can block forever.</a:t>
            </a:r>
          </a:p>
          <a:p>
            <a:pPr>
              <a:spcAft>
                <a:spcPts val="1100"/>
              </a:spcAft>
              <a:defRPr sz="1900">
                <a:solidFill>
                  <a:srgbClr val="F2F5F8"/>
                </a:solidFill>
              </a:defRPr>
            </a:pPr>
            <a:r>
              <a:t>• Scope objects so that locks are released and shutdown conditions are established before joining.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44.4 Shared address spaces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Threads can access the same globals, heap objects, and explicitly shared stack objects.</a:t>
            </a:r>
          </a:p>
          <a:p>
            <a:pPr>
              <a:spcAft>
                <a:spcPts val="1100"/>
              </a:spcAft>
              <a:defRPr sz="1900">
                <a:solidFill>
                  <a:srgbClr val="F2F5F8"/>
                </a:solidFill>
              </a:defRPr>
            </a:pPr>
            <a:r>
              <a:t>• Shared addressability does not imply permission to perform unsynchronized conflicting operations.</a:t>
            </a:r>
          </a:p>
          <a:p>
            <a:pPr>
              <a:spcAft>
                <a:spcPts val="1100"/>
              </a:spcAft>
              <a:defRPr sz="1900">
                <a:solidFill>
                  <a:srgbClr val="F2F5F8"/>
                </a:solidFill>
              </a:defRPr>
            </a:pPr>
            <a:r>
              <a:t>• Ordinary mutable state needs ownership or synchronization.</a:t>
            </a:r>
          </a:p>
          <a:p>
            <a:pPr>
              <a:spcAft>
                <a:spcPts val="1100"/>
              </a:spcAft>
              <a:defRPr sz="1900">
                <a:solidFill>
                  <a:srgbClr val="F2F5F8"/>
                </a:solidFill>
              </a:defRPr>
            </a:pPr>
            <a:r>
              <a:t>• Read-only data is simpler, but its initialization must be safely published and its lifetime maintained.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44.4 Shared address spaces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Read-only data is simpler, but its initialization must be safely published and its lifetime maintained.</a:t>
            </a:r>
          </a:p>
          <a:p>
            <a:pPr>
              <a:spcAft>
                <a:spcPts val="1100"/>
              </a:spcAft>
              <a:defRPr sz="1900">
                <a:solidFill>
                  <a:srgbClr val="F2F5F8"/>
                </a:solidFill>
              </a:defRPr>
            </a:pPr>
            <a:r>
              <a:t>• A pointer to immutable bytes is still unsafe after the owner destroys or reallocates the storage.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44.5 Thread-local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Thread-local state gives each thread a distinct instance, reducing accidental sharing.</a:t>
            </a:r>
          </a:p>
          <a:p>
            <a:pPr>
              <a:spcAft>
                <a:spcPts val="1100"/>
              </a:spcAft>
              <a:defRPr sz="1700">
                <a:solidFill>
                  <a:srgbClr val="F2F5F8"/>
                </a:solidFill>
              </a:defRPr>
            </a:pPr>
            <a:r>
              <a:t>• C++ thread_local variables have thread storage duration and initialization/destruction rules that differ from automatic locals.</a:t>
            </a:r>
          </a:p>
          <a:p>
            <a:pPr>
              <a:spcAft>
                <a:spcPts val="1100"/>
              </a:spcAft>
              <a:defRPr sz="1900">
                <a:solidFill>
                  <a:srgbClr val="F2F5F8"/>
                </a:solidFill>
              </a:defRPr>
            </a:pPr>
            <a:r>
              <a:t>• Thread-local counters can reduce contention, but an aggregate result still requires a collection phase.</a:t>
            </a:r>
          </a:p>
          <a:p>
            <a:pPr>
              <a:spcAft>
                <a:spcPts val="1100"/>
              </a:spcAft>
              <a:defRPr sz="1700">
                <a:solidFill>
                  <a:srgbClr val="F2F5F8"/>
                </a:solidFill>
              </a:defRPr>
            </a:pPr>
            <a:r>
              <a:t>• Thread-local storage also consumes resources per thread, so a design with enormous thread counts can multiply memory costs.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44.5 Thread-local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Thread-local counters can reduce contention, but an aggregate result still requires a collection phase.</a:t>
            </a:r>
          </a:p>
          <a:p>
            <a:pPr>
              <a:spcAft>
                <a:spcPts val="1100"/>
              </a:spcAft>
              <a:defRPr sz="1700">
                <a:solidFill>
                  <a:srgbClr val="F2F5F8"/>
                </a:solidFill>
              </a:defRPr>
            </a:pPr>
            <a:r>
              <a:t>• Thread-local storage also consumes resources per thread, so a design with enormous thread counts can multiply memory costs.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44.6 Thread stacks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Each thread has a stack for its calls and automatic storage under the usual implementation model.</a:t>
            </a:r>
          </a:p>
          <a:p>
            <a:pPr>
              <a:spcAft>
                <a:spcPts val="1100"/>
              </a:spcAft>
              <a:defRPr sz="1700">
                <a:solidFill>
                  <a:srgbClr val="F2F5F8"/>
                </a:solidFill>
              </a:defRPr>
            </a:pPr>
            <a:r>
              <a:t>• A pointer into another thread’s stack can be shared, but the designated object must remain alive and accesses must be synchronized.</a:t>
            </a:r>
          </a:p>
          <a:p>
            <a:pPr>
              <a:spcAft>
                <a:spcPts val="1100"/>
              </a:spcAft>
              <a:defRPr sz="1900">
                <a:solidFill>
                  <a:srgbClr val="F2F5F8"/>
                </a:solidFill>
              </a:defRPr>
            </a:pPr>
            <a:r>
              <a:t>• Large automatic arrays and deep recursion multiply stack pressure across threads.</a:t>
            </a:r>
          </a:p>
          <a:p>
            <a:pPr>
              <a:spcAft>
                <a:spcPts val="1100"/>
              </a:spcAft>
              <a:defRPr sz="1700">
                <a:solidFill>
                  <a:srgbClr val="F2F5F8"/>
                </a:solidFill>
              </a:defRPr>
            </a:pPr>
            <a:r>
              <a:t>• A thread-per-connection server can consume substantial virtual and committed resources even when each worker appears simple.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44.6 Thread stacks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Large automatic arrays and deep recursion multiply stack pressure across threads.</a:t>
            </a:r>
          </a:p>
          <a:p>
            <a:pPr>
              <a:spcAft>
                <a:spcPts val="1100"/>
              </a:spcAft>
              <a:defRPr sz="1700">
                <a:solidFill>
                  <a:srgbClr val="F2F5F8"/>
                </a:solidFill>
              </a:defRPr>
            </a:pPr>
            <a:r>
              <a:t>• A thread-per-connection server can consume substantial virtual and committed resources even when each worker appears simple.</a:t>
            </a:r>
          </a:p>
          <a:p>
            <a:pPr>
              <a:spcAft>
                <a:spcPts val="1100"/>
              </a:spcAft>
              <a:defRPr sz="1900">
                <a:solidFill>
                  <a:srgbClr val="F2F5F8"/>
                </a:solidFill>
              </a:defRPr>
            </a:pPr>
            <a:r>
              <a:t>• Resource budgeting should include stack and scheduler overhead, not only application payload buffers.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44.7 Thread scheduling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scheduler decides when runnable threads execute.</a:t>
            </a:r>
          </a:p>
          <a:p>
            <a:pPr>
              <a:spcAft>
                <a:spcPts val="1100"/>
              </a:spcAft>
              <a:defRPr sz="1900">
                <a:solidFill>
                  <a:srgbClr val="F2F5F8"/>
                </a:solidFill>
              </a:defRPr>
            </a:pPr>
            <a:r>
              <a:t>• Thread creation order does not determine completion order.</a:t>
            </a:r>
          </a:p>
          <a:p>
            <a:pPr>
              <a:spcAft>
                <a:spcPts val="1100"/>
              </a:spcAft>
              <a:defRPr sz="1700">
                <a:solidFill>
                  <a:srgbClr val="F2F5F8"/>
                </a:solidFill>
              </a:defRPr>
            </a:pPr>
            <a:r>
              <a:t>• A blocked thread may not resume immediately when its condition becomes true because it must also obtain CPU time and any required lock.</a:t>
            </a:r>
          </a:p>
          <a:p>
            <a:pPr>
              <a:spcAft>
                <a:spcPts val="1100"/>
              </a:spcAft>
              <a:defRPr sz="1900">
                <a:solidFill>
                  <a:srgbClr val="F2F5F8"/>
                </a:solidFill>
              </a:defRPr>
            </a:pPr>
            <a:r>
              <a:t>• Avoid using sleeps to establish correctness.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44.7 Thread scheduling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Avoid using sleeps to establish correctness.</a:t>
            </a:r>
          </a:p>
          <a:p>
            <a:pPr>
              <a:spcAft>
                <a:spcPts val="1100"/>
              </a:spcAft>
              <a:defRPr sz="1900">
                <a:solidFill>
                  <a:srgbClr val="F2F5F8"/>
                </a:solidFill>
              </a:defRPr>
            </a:pPr>
            <a:r>
              <a:t>• A delay that appears sufficient on one machine can fail under load, debugging, or different scheduling.</a:t>
            </a:r>
          </a:p>
          <a:p>
            <a:pPr>
              <a:spcAft>
                <a:spcPts val="1100"/>
              </a:spcAft>
              <a:defRPr sz="1900">
                <a:solidFill>
                  <a:srgbClr val="F2F5F8"/>
                </a:solidFill>
              </a:defRPr>
            </a:pPr>
            <a:r>
              <a:t>• Use joins, mutexes, condition variables, or explicit atomic protocols to express the required relationship.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Independent partial sums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Four workers sum disjoint ranges of the integers 1 through 100.</a:t>
            </a:r>
          </a:p>
          <a:p>
            <a:pPr>
              <a:spcAft>
                <a:spcPts val="1100"/>
              </a:spcAft>
              <a:defRPr sz="1900">
                <a:solidFill>
                  <a:srgbClr val="F2F5F8"/>
                </a:solidFill>
              </a:defRPr>
            </a:pPr>
            <a:r>
              <a:t>• Each writes a distinct array element.</a:t>
            </a:r>
          </a:p>
          <a:p>
            <a:pPr>
              <a:spcAft>
                <a:spcPts val="1100"/>
              </a:spcAft>
              <a:defRPr sz="1900">
                <a:solidFill>
                  <a:srgbClr val="F2F5F8"/>
                </a:solidFill>
              </a:defRPr>
            </a:pPr>
            <a:r>
              <a:t>• The parent combines results only after the worker owners leave scope and join.</a:t>
            </a:r>
          </a:p>
          <a:p>
            <a:pPr>
              <a:spcAft>
                <a:spcPts val="1100"/>
              </a:spcAft>
              <a:defRPr sz="1900">
                <a:solidFill>
                  <a:srgbClr val="F2F5F8"/>
                </a:solidFill>
              </a:defRPr>
            </a:pPr>
            <a:r>
              <a:t>• Companion listing: ch44/partial_sums.cpp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Independent partial sums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ch44/partial_sums.cpp</a:t>
            </a:r>
          </a:p>
          <a:p>
            <a:pPr>
              <a:spcAft>
                <a:spcPts val="1100"/>
              </a:spcAft>
              <a:defRPr sz="1900">
                <a:solidFill>
                  <a:srgbClr val="F2F5F8"/>
                </a:solidFill>
              </a:defRPr>
            </a:pPr>
            <a:r>
              <a:t>• The expected result is 5050.</a:t>
            </a:r>
          </a:p>
          <a:p>
            <a:pPr>
              <a:spcAft>
                <a:spcPts val="1100"/>
              </a:spcAft>
              <a:defRPr sz="1700">
                <a:solidFill>
                  <a:srgbClr val="F2F5F8"/>
                </a:solidFill>
              </a:defRPr>
            </a:pPr>
            <a:r>
              <a:t>• There is no conflicting access to the same array element during worker execution, and joining completes before the parent’s reads.</a:t>
            </a:r>
          </a:p>
          <a:p>
            <a:pPr>
              <a:spcAft>
                <a:spcPts val="1100"/>
              </a:spcAft>
              <a:defRPr sz="1700">
                <a:solidFill>
                  <a:srgbClr val="F2F5F8"/>
                </a:solidFill>
              </a:defRPr>
            </a:pPr>
            <a:r>
              <a:t>• Adjacent elements may still share a cache line, so the design can exhibit false sharing in a more write-intensive workload without containing a language-level data race.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Joining a worker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main thread launches a worker to compute a partial result.</a:t>
            </a:r>
          </a:p>
          <a:p>
            <a:pPr>
              <a:spcAft>
                <a:spcPts val="1100"/>
              </a:spcAft>
              <a:defRPr sz="1900">
                <a:solidFill>
                  <a:srgbClr val="F2F5F8"/>
                </a:solidFill>
              </a:defRPr>
            </a:pPr>
            <a:r>
              <a:t>• If main reads the result before synchronizing, it may observe incomplete state.</a:t>
            </a:r>
          </a:p>
          <a:p>
            <a:pPr>
              <a:spcAft>
                <a:spcPts val="1100"/>
              </a:spcAft>
              <a:defRPr sz="1700">
                <a:solidFill>
                  <a:srgbClr val="F2F5F8"/>
                </a:solidFill>
              </a:defRPr>
            </a:pPr>
            <a:r>
              <a:t>• Calling join waits for the worker to terminate and establishes the required completion relationship for the thread abstraction.</a:t>
            </a:r>
          </a:p>
          <a:p>
            <a:pPr>
              <a:spcAft>
                <a:spcPts val="1100"/>
              </a:spcAft>
              <a:defRPr sz="1900">
                <a:solidFill>
                  <a:srgbClr val="F2F5F8"/>
                </a:solidFill>
              </a:defRPr>
            </a:pPr>
            <a:r>
              <a:t>• After joining, resources associated with a joinable thread can be reclaimed according to the API.</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Joining a worker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main thread launches a worker to compute a partial result.</a:t>
            </a:r>
          </a:p>
          <a:p>
            <a:pPr>
              <a:spcAft>
                <a:spcPts val="1100"/>
              </a:spcAft>
              <a:defRPr sz="1900">
                <a:solidFill>
                  <a:srgbClr val="F2F5F8"/>
                </a:solidFill>
              </a:defRPr>
            </a:pPr>
            <a:r>
              <a:t>• If main reads the result before synchronizing, it may observe incomplete state.</a:t>
            </a:r>
          </a:p>
          <a:p>
            <a:pPr>
              <a:spcAft>
                <a:spcPts val="1100"/>
              </a:spcAft>
              <a:defRPr sz="1700">
                <a:solidFill>
                  <a:srgbClr val="F2F5F8"/>
                </a:solidFill>
              </a:defRPr>
            </a:pPr>
            <a:r>
              <a:t>• Calling join waits for the worker to terminate and establishes the required completion relationship for the thread abstraction.</a:t>
            </a:r>
          </a:p>
          <a:p>
            <a:pPr>
              <a:spcAft>
                <a:spcPts val="1100"/>
              </a:spcAft>
              <a:defRPr sz="1900">
                <a:solidFill>
                  <a:srgbClr val="F2F5F8"/>
                </a:solidFill>
              </a:defRPr>
            </a:pPr>
            <a:r>
              <a:t>• After joining, resources associated with a joinable thread can be reclaimed according to the API.</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Thread-local versus shared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automatic local variable inside a thread function typically resides in that thread’s stack, while a global variable is in the process address space shared by all threads.</a:t>
            </a:r>
          </a:p>
          <a:p>
            <a:pPr>
              <a:spcAft>
                <a:spcPts val="1100"/>
              </a:spcAft>
              <a:defRPr sz="1900">
                <a:solidFill>
                  <a:srgbClr val="F2F5F8"/>
                </a:solidFill>
              </a:defRPr>
            </a:pPr>
            <a:r>
              <a:t>• Two threads can each have distinct local counters but race on the shared global counter.</a:t>
            </a:r>
          </a:p>
          <a:p>
            <a:pPr>
              <a:spcAft>
                <a:spcPts val="1100"/>
              </a:spcAft>
              <a:defRPr sz="1900">
                <a:solidFill>
                  <a:srgbClr val="F2F5F8"/>
                </a:solidFill>
              </a:defRPr>
            </a:pPr>
            <a:r>
              <a:t>• Storage placement affects sharing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Thread-local versus shared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automatic local variable inside a thread function typically resides in that thread’s stack, while a global variable is in the process address space shared by all threads.</a:t>
            </a:r>
          </a:p>
          <a:p>
            <a:pPr>
              <a:spcAft>
                <a:spcPts val="1100"/>
              </a:spcAft>
              <a:defRPr sz="1900">
                <a:solidFill>
                  <a:srgbClr val="F2F5F8"/>
                </a:solidFill>
              </a:defRPr>
            </a:pPr>
            <a:r>
              <a:t>• Two threads can each have distinct local counters but race on the shared global counter.</a:t>
            </a:r>
          </a:p>
          <a:p>
            <a:pPr>
              <a:spcAft>
                <a:spcPts val="1100"/>
              </a:spcAft>
              <a:defRPr sz="1900">
                <a:solidFill>
                  <a:srgbClr val="F2F5F8"/>
                </a:solidFill>
              </a:defRPr>
            </a:pPr>
            <a:r>
              <a:t>• Storage placement affects sharing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44.</a:t>
            </a:r>
          </a:p>
          <a:p>
            <a:pPr>
              <a:spcAft>
                <a:spcPts val="1100"/>
              </a:spcAft>
              <a:defRPr sz="1900">
                <a:solidFill>
                  <a:srgbClr val="F2F5F8"/>
                </a:solidFill>
              </a:defRPr>
            </a:pPr>
            <a:r>
              <a:t>• Generalize to a runtime element count that is not divisible by the worker count.</a:t>
            </a:r>
          </a:p>
          <a:p>
            <a:pPr>
              <a:spcAft>
                <a:spcPts val="1100"/>
              </a:spcAft>
              <a:defRPr sz="1900">
                <a:solidFill>
                  <a:srgbClr val="F2F5F8"/>
                </a:solidFill>
              </a:defRPr>
            </a:pPr>
            <a:r>
              <a:t>• Define nonoverlapping half-open ranges and verify that every element belongs to exactly one worker.</a:t>
            </a:r>
          </a:p>
          <a:p>
            <a:pPr>
              <a:spcAft>
                <a:spcPts val="1100"/>
              </a:spcAft>
              <a:defRPr sz="1900">
                <a:solidFill>
                  <a:srgbClr val="F2F5F8"/>
                </a:solidFill>
              </a:defRPr>
            </a:pPr>
            <a:r>
              <a:t>• Compare against a sequential reference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capture id by value?</a:t>
            </a:r>
          </a:p>
          <a:p>
            <a:pPr>
              <a:spcAft>
                <a:spcPts val="1100"/>
              </a:spcAft>
              <a:defRPr sz="1900">
                <a:solidFill>
                  <a:srgbClr val="F2F5F8"/>
                </a:solidFill>
              </a:defRPr>
            </a:pPr>
            <a:r>
              <a:t>• Review 2.</a:t>
            </a:r>
          </a:p>
          <a:p>
            <a:pPr>
              <a:spcAft>
                <a:spcPts val="1100"/>
              </a:spcAft>
              <a:defRPr sz="1900">
                <a:solidFill>
                  <a:srgbClr val="F2F5F8"/>
                </a:solidFill>
              </a:defRPr>
            </a:pPr>
            <a:r>
              <a:t>• Why is automatic joining insufficient when a worker’s wait predicate never becomes true?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threads.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Race Conditions.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44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