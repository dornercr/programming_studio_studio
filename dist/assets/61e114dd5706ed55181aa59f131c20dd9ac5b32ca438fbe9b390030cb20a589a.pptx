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 Chapter 47 — Mutual Exclusion</a:t>
            </a:r>
          </a:p>
          <a:p/>
          <a:p>
            <a:r>
              <a:t>LECTURE NARRATION</a:t>
            </a:r>
          </a:p>
          <a:p>
            <a:r>
              <a:t>Mutual exclusion gives one participant at a time access to a protected region. A mutex is useful not because it makes code “thread-safe” by proximity, but because every relevant access follows the same ownership rule and preserves a defined invariant. The invariant should be stated in ordinary language before the lock operations are written. [ R25 , R34 ]</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mutual exclusion gives one participant at a time access to a protected region.</a:t>
            </a:r>
          </a:p>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 What This Chapter Builds</a:t>
            </a:r>
          </a:p>
          <a:p/>
          <a:p>
            <a:r>
              <a:t>LECTURE NARRATION</a:t>
            </a:r>
          </a:p>
          <a:p>
            <a:r>
              <a:t>Mutual exclusion gives one participant at a time access to a protected region. A mutex is useful not because it makes code “thread-safe” by proximity, but because every relevant access follows the same ownership rule and preserves a defined invariant. The invariant should be stated in ordinary language before the lock operations are written. [ R25 , R34 ]</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mutual exclusion gives one participant at a time access to a protected region.</a:t>
            </a:r>
          </a:p>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 Chapter Roadmap</a:t>
            </a:r>
          </a:p>
          <a:p/>
          <a:p>
            <a:r>
              <a:t>LECTURE NARRATION</a:t>
            </a:r>
          </a:p>
          <a:p>
            <a:r>
              <a:t>47.1 Mutexes 47.2 Lock 47.3 Unlock 47.4 Critical sections ...plus 8 additional source topics</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47.1 Mutexes 47.2 Lock 47.3 Unlock 47.4 Critical sections ...plus 8 additional source topics</a:t>
            </a:r>
          </a:p>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4: 47.1 Mutexes</a:t>
            </a:r>
          </a:p>
          <a:p/>
          <a:p>
            <a:r>
              <a:t>LECTURE NARRATION</a:t>
            </a:r>
          </a:p>
          <a:p>
            <a:r>
              <a:t>A mutex coordinates exclusive ownership. A thread acquires it before accessing protected mutable state and releases it afterward. Correct use establishes both exclusion and the ordering needed to observe prior protected updates. A mutex protects a rule about state , not a particular memory address by magic. If another function accesses the same state without the mutex, the rule is broken. Keep the state private behind an interface where practical so that callers cannot bypass the protection accidentally.</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This is a coordination rule that helps multiple workers share information without stepping on each other's work.</a:t>
            </a:r>
          </a:p>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5: 47.1 Mutexes — Deep Dive</a:t>
            </a:r>
          </a:p>
          <a:p/>
          <a:p>
            <a:r>
              <a:t>LECTURE NARRATION</a:t>
            </a:r>
          </a:p>
          <a:p>
            <a:r>
              <a:t>A mutex coordinates exclusive ownership. A thread acquires it before accessing protected mutable state and releases it afterward. Correct use establishes both exclusion and the ordering needed to observe prior protected updates. A mutex protects a rule about state , not a particular memory address by magic. If another function accesses the same state without the mutex, the rule is broken. Keep the state private behind an interface where practical so that callers cannot bypass the protection accidentally.</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This is a coordination rule that helps multiple workers share information without stepping on each other's work.</a:t>
            </a:r>
          </a:p>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6: 47.2 Lock</a:t>
            </a:r>
          </a:p>
          <a:p/>
          <a:p>
            <a:r>
              <a:t>LECTURE NARRATION</a:t>
            </a:r>
          </a:p>
          <a:p>
            <a:r>
              <a:t>Locking obtains exclusive ownership, potentially waiting while another thread owns the mutex. A lock acquisition is therefore a possible blocking point. Avoid assuming that a short critical section always makes acquisition immediate. Use RAII ownership such as std::lock_guard or std::unique_lock in C++ to tie release to scope. Manual lock/unlock pairs are vulnerable to early returns and exceptions. unique_lock is appropriate when the code needs controlled unlocking or condition-variable waiting.</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locking obtains exclusive ownership, potentially waiting while another thread owns the mutex.</a:t>
            </a:r>
          </a:p>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7: 47.2 Lock — Deep Dive</a:t>
            </a:r>
          </a:p>
          <a:p/>
          <a:p>
            <a:r>
              <a:t>LECTURE NARRATION</a:t>
            </a:r>
          </a:p>
          <a:p>
            <a:r>
              <a:t>Locking obtains exclusive ownership, potentially waiting while another thread owns the mutex. A lock acquisition is therefore a possible blocking point. Avoid assuming that a short critical section always makes acquisition immediate. Use RAII ownership such as std::lock_guard or std::unique_lock in C++ to tie release to scope. Manual lock/unlock pairs are vulnerable to early returns and exceptions. unique_lock is appropriate when the code needs controlled unlocking or condition-variable waiting.</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locking obtains exclusive ownership, potentially waiting while another thread owns the mutex.</a:t>
            </a:r>
          </a:p>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8: 47.3 Unlock</a:t>
            </a:r>
          </a:p>
          <a:p/>
          <a:p>
            <a:r>
              <a:t>LECTURE NARRATION</a:t>
            </a:r>
          </a:p>
          <a:p>
            <a:r>
              <a:t>Unlocking releases ownership and permits another participant to acquire the mutex. All protected invariants should hold at this boundary. An exception that leaves partially updated state must either restore the invariant or make failure state explicit before release. Do not unlock a mutex from a thread that does not own it under the ordinary mutex contract. Do not retain references to mutable internal data and then access them after unlocking unless a separate lifetime and synchronization rule permits it.</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unlocking releases ownership and permits another participant to acquire the mutex.</a:t>
            </a:r>
          </a:p>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9: 47.3 Unlock — Deep Dive</a:t>
            </a:r>
          </a:p>
          <a:p/>
          <a:p>
            <a:r>
              <a:t>LECTURE NARRATION</a:t>
            </a:r>
          </a:p>
          <a:p>
            <a:r>
              <a:t>Unlocking releases ownership and permits another participant to acquire the mutex. All protected invariants should hold at this boundary. An exception that leaves partially updated state must either restore the invariant or make failure state explicit before release. Do not unlock a mutex from a thread that does not own it under the ordinary mutex contract. Do not retain references to mutable internal data and then access them after unlocking unless a separate lifetime and synchronization rule permits it.</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unlocking releases ownership and permits another participant to acquire the mutex.</a:t>
            </a:r>
          </a:p>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10: 47.4 Critical sections</a:t>
            </a:r>
          </a:p>
          <a:p/>
          <a:p>
            <a:r>
              <a:t>LECTURE NARRATION</a:t>
            </a:r>
          </a:p>
          <a:p>
            <a:r>
              <a:t>The critical section contains the operations that must be observed together. For an account transfer, checking funds and updating both balances belong to one logical transaction. Protecting only the final store leaves a check-then-act race. Keep sections focused. Expensive computation can often be performed on a snapshot outside the lock, but the result may need validation when applied. Releasing the lock does not freeze the state that was inspected earlier.</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the critical section contains the operations that must be observed together.</a:t>
            </a:r>
          </a:p>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11: 47.4 Critical sections — Deep Dive</a:t>
            </a:r>
          </a:p>
          <a:p/>
          <a:p>
            <a:r>
              <a:t>LECTURE NARRATION</a:t>
            </a:r>
          </a:p>
          <a:p>
            <a:r>
              <a:t>The critical section contains the operations that must be observed together. For an account transfer, checking funds and updating both balances belong to one logical transaction. Protecting only the final store leaves a check-then-act race. Keep sections focused. Expensive computation can often be performed on a snapshot outside the lock, but the result may need validation when applied. Releasing the lock does not freeze the state that was inspected earlier.</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the critical section contains the operations that must be observed together.</a:t>
            </a:r>
          </a:p>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12: 47.5 Protected state</a:t>
            </a:r>
          </a:p>
          <a:p/>
          <a:p>
            <a:r>
              <a:t>LECTURE NARRATION</a:t>
            </a:r>
          </a:p>
          <a:p>
            <a:r>
              <a:t>Related fields should be grouped under a clear protection policy. A queue’s storage, head, tail, count, and closure flag may form one invariant. Protecting each field with an unrelated lock can expose combinations that never represented a valid queue state. Document the policy near the data definition. For example: “All reads and writes of these balances require mutex_ ; their sum remains constant.” Such a statement is more useful than a vague comment saying “thread-safe class.”</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related fields should be grouped under a clear protection policy.</a:t>
            </a:r>
          </a:p>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13: 47.5 Protected state — Deep Dive</a:t>
            </a:r>
          </a:p>
          <a:p/>
          <a:p>
            <a:r>
              <a:t>LECTURE NARRATION</a:t>
            </a:r>
          </a:p>
          <a:p>
            <a:r>
              <a:t>Related fields should be grouped under a clear protection policy. A queue’s storage, head, tail, count, and closure flag may form one invariant. Protecting each field with an unrelated lock can expose combinations that never represented a valid queue state. Document the policy near the data definition. For example: “All reads and writes of these balances require mutex_ ; their sum remains constant.” Such a statement is more useful than a vague comment saying “thread-safe class.”</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related fields should be grouped under a clear protection policy.</a:t>
            </a:r>
          </a:p>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14: 47.6 Lock invariants</a:t>
            </a:r>
          </a:p>
          <a:p/>
          <a:p>
            <a:r>
              <a:t>LECTURE NARRATION</a:t>
            </a:r>
          </a:p>
          <a:p>
            <a:r>
              <a:t>A lock invariant describes what is true whenever protected state is available to another owner. Temporary internal states can exist while the lock is held, but they must not escape through callbacks, unlocked references, or exceptions. An invariant also guides tests. Verify conservation laws, bounds, and relationships, not only whether threads finish. A program that never crashes can still lose items, duplicate work, or violate accounting constraints.</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a lock invariant describes what is true whenever protected state is available to another owner.</a:t>
            </a:r>
          </a:p>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15: 47.6 Lock invariants — Deep Dive</a:t>
            </a:r>
          </a:p>
          <a:p/>
          <a:p>
            <a:r>
              <a:t>LECTURE NARRATION</a:t>
            </a:r>
          </a:p>
          <a:p>
            <a:r>
              <a:t>A lock invariant describes what is true whenever protected state is available to another owner. Temporary internal states can exist while the lock is held, but they must not escape through callbacks, unlocked references, or exceptions. An invariant also guides tests. Verify conservation laws, bounds, and relationships, not only whether threads finish. A program that never crashes can still lose items, duplicate work, or violate accounting constraints.</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a lock invariant describes what is true whenever protected state is available to another owner.</a:t>
            </a:r>
          </a:p>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16: 47.7 Coarse-grained locking</a:t>
            </a:r>
          </a:p>
          <a:p/>
          <a:p>
            <a:r>
              <a:t>LECTURE NARRATION</a:t>
            </a:r>
          </a:p>
          <a:p>
            <a:r>
              <a:t>Coarse-grained locking uses one lock for a broad region or related state group. It is often easier to prove correct and avoids many lock-order problems. For modest contention, its simplicity can outweigh theoretical parallelism lost inside the critical section. The cost appears when unrelated operations serialize behind the same mutex. Measure contention before splitting the design. A clear coarse-grained implementation provides a valuable correctness baseline for later optimization.</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coarse-grained locking uses one lock for a broad region or related state group.</a:t>
            </a:r>
          </a:p>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17: 47.7 Coarse-grained locking — Deep Dive</a:t>
            </a:r>
          </a:p>
          <a:p/>
          <a:p>
            <a:r>
              <a:t>LECTURE NARRATION</a:t>
            </a:r>
          </a:p>
          <a:p>
            <a:r>
              <a:t>Coarse-grained locking uses one lock for a broad region or related state group. It is often easier to prove correct and avoids many lock-order problems. For modest contention, its simplicity can outweigh theoretical parallelism lost inside the critical section. The cost appears when unrelated operations serialize behind the same mutex. Measure contention before splitting the design. A clear coarse-grained implementation provides a valuable correctness baseline for later optimization.</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coarse-grained locking uses one lock for a broad region or related state group.</a:t>
            </a:r>
          </a:p>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18: 47.8 Fine-grained locking</a:t>
            </a:r>
          </a:p>
          <a:p/>
          <a:p>
            <a:r>
              <a:t>LECTURE NARRATION</a:t>
            </a:r>
          </a:p>
          <a:p>
            <a:r>
              <a:t>Fine-grained locking divides protection among smaller state regions. It can allow independent operations to proceed concurrently but adds ownership, ordering, and lifecycle complexity. Operations spanning regions may need several locks. A finer design must define a consistent acquisition order or use a deadlock-avoiding multi-lock facility. More locks can also increase memory use, cache traffic, and maintenance cost. Fine-grained is a tradeoff, not a synonym for faster.</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fine-grained locking divides protection among smaller state regions.</a:t>
            </a:r>
          </a:p>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19: 47.8 Fine-grained locking — Deep Dive</a:t>
            </a:r>
          </a:p>
          <a:p/>
          <a:p>
            <a:r>
              <a:t>LECTURE NARRATION</a:t>
            </a:r>
          </a:p>
          <a:p>
            <a:r>
              <a:t>Fine-grained locking divides protection among smaller state regions. It can allow independent operations to proceed concurrently but adds ownership, ordering, and lifecycle complexity. Operations spanning regions may need several locks. A finer design must define a consistent acquisition order or use a deadlock-avoiding multi-lock facility. More locks can also increase memory use, cache traffic, and maintenance cost. Fine-grained is a tradeoff, not a synonym for faster.</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fine-grained locking divides protection among smaller state regions.</a:t>
            </a:r>
          </a:p>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20: Worked example — Preserve a conservation invariant</a:t>
            </a:r>
          </a:p>
          <a:p/>
          <a:p>
            <a:r>
              <a:t>LECTURE NARRATION</a:t>
            </a:r>
          </a:p>
          <a:p>
            <a:r>
              <a:t>The ledger below starts with 1000 units on the left and zero on the right. Four workers each move 100 units, one at a time. One mutex protects both balances, and every transfer preserves their sum. Companion listing: ch47/ledger.cpp The expected output is left=600 right=400 . No transfer can observe the half-updated pair because all protected access uses the same mutex. Returning a copied snapshot keeps callers from retaining a reference that would bypass the lock after the function returns. The arithmetic is bounded by the initial total, so the example’s unsigned additions cannot exceed 1000. A general financial or inventory system would need explicit numeric range and domain rules rather than assuming those bounds remain true for arbitrary inputs.</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the ledger below starts with 1000 units on the left and zero on the right.</a:t>
            </a:r>
          </a:p>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21: Worked example — Preserve a conservation invariant — Deep Dive</a:t>
            </a:r>
          </a:p>
          <a:p/>
          <a:p>
            <a:r>
              <a:t>LECTURE NARRATION</a:t>
            </a:r>
          </a:p>
          <a:p>
            <a:r>
              <a:t>The ledger below starts with 1000 units on the left and zero on the right. Four workers each move 100 units, one at a time. One mutex protects both balances, and every transfer preserves their sum. Companion listing: ch47/ledger.cpp The expected output is left=600 right=400 . No transfer can observe the half-updated pair because all protected access uses the same mutex. Returning a copied snapshot keeps callers from retaining a reference that would bypass the lock after the function returns. The arithmetic is bounded by the initial total, so the example’s unsigned additions cannot exceed 1000. A general financial or inventory system would need explicit numeric range and domain rules rather than assuming those bounds remain true for arbitrary inputs.</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the ledger below starts with 1000 units on the left and zero on the right.</a:t>
            </a:r>
          </a:p>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22: Worked example — Protecting a bank balance</a:t>
            </a:r>
          </a:p>
          <a:p/>
          <a:p>
            <a:r>
              <a:t>LECTURE NARRATION</a:t>
            </a:r>
          </a:p>
          <a:p>
            <a:r>
              <a:t>Suppose balance must never be observed halfway through an update. Every operation that reads or modifies the invariant acquires the same mutex. A transfer locks before checking funds and updating the balance, then unlocks after the invariant is restored. The mutex is useful because the protected-state rule is consistent across all access paths.</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suppose balance must never be observed halfway through an update.</a:t>
            </a:r>
          </a:p>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23: Worked example — Protecting a bank balance — Deep Dive</a:t>
            </a:r>
          </a:p>
          <a:p/>
          <a:p>
            <a:r>
              <a:t>LECTURE NARRATION</a:t>
            </a:r>
          </a:p>
          <a:p>
            <a:r>
              <a:t>Suppose balance must never be observed halfway through an update. Every operation that reads or modifies the invariant acquires the same mutex. A transfer locks before checking funds and updating the balance, then unlocks after the invariant is restored. The mutex is useful because the protected-state rule is consistent across all access paths.</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suppose balance must never be observed halfway through an update.</a:t>
            </a:r>
          </a:p>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24: Worked example — Coarse versus fine locking</a:t>
            </a:r>
          </a:p>
          <a:p/>
          <a:p>
            <a:r>
              <a:t>LECTURE NARRATION</a:t>
            </a:r>
          </a:p>
          <a:p>
            <a:r>
              <a:t>One global mutex around an entire table is easy to reason about but serializes unrelated operations. One mutex per bucket can allow independent buckets to proceed concurrently but complicates operations touching multiple buckets. Fine-grained locking trades simpler contention behavior for more complicated ordering and invariant management.</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one global mutex around an entire table is easy to reason about but serializes unrelated operations.</a:t>
            </a:r>
          </a:p>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25: Worked example — Coarse versus fine locking — Deep Dive</a:t>
            </a:r>
          </a:p>
          <a:p/>
          <a:p>
            <a:r>
              <a:t>LECTURE NARRATION</a:t>
            </a:r>
          </a:p>
          <a:p>
            <a:r>
              <a:t>One global mutex around an entire table is easy to reason about but serializes unrelated operations. One mutex per bucket can allow independent buckets to proceed concurrently but complicates operations touching multiple buckets. Fine-grained locking trades simpler contention behavior for more complicated ordering and invariant management.</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one global mutex around an entire table is easy to reason about but serializes unrelated operations.</a:t>
            </a:r>
          </a:p>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26: Guided lab and review</a:t>
            </a:r>
          </a:p>
          <a:p/>
          <a:p>
            <a:r>
              <a:t>LECTURE NARRATION</a:t>
            </a:r>
          </a:p>
          <a:p>
            <a:r>
              <a:t>Lab 47. Increase attempted transfers beyond the available total and count successful operations. Verify that the final left balance is zero, the right balance remains 1000, and the success count is exactly 1000. Keep the success-counting policy synchronized or use per-thread counts. Review 1. Why must the funds check and updates share a critical section? Review 2. Why return a snapshot rather than a reference to a balance?</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lab 47.</a:t>
            </a:r>
          </a:p>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27: Guided lab and review — Deep Dive</a:t>
            </a:r>
          </a:p>
          <a:p/>
          <a:p>
            <a:r>
              <a:t>LECTURE NARRATION</a:t>
            </a:r>
          </a:p>
          <a:p>
            <a:r>
              <a:t>Lab 47. Increase attempted transfers beyond the available total and count successful operations. Verify that the final left balance is zero, the right balance remains 1000, and the success count is exactly 1000. Keep the success-counting policy synchronized or use per-thread counts. Review 1. Why must the funds check and updates share a critical section? Review 2. Why return a snapshot rather than a reference to a balance?</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lab 47.</a:t>
            </a:r>
          </a:p>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28: Chapter Synthesis</a:t>
            </a:r>
          </a:p>
          <a:p/>
          <a:p>
            <a:r>
              <a:t>LECTURE NARRATION</a:t>
            </a:r>
          </a:p>
          <a:p>
            <a:r>
              <a:t>The chapter's central subject is mutual exclusion. Correct reasoning requires explicit assumptions, bounds, ownership, and interface contracts. Observed behavior is evidence about a run; it is not automatically a language or system guarantee. Use the worked examples and lab to test whether the model transfers to new cases.</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the chapter's central subject is mutual exclusion.</a:t>
            </a:r>
          </a:p>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29: Review and Transition</a:t>
            </a:r>
          </a:p>
          <a:p/>
          <a:p>
            <a:r>
              <a:t>LECTURE NARRATION</a:t>
            </a:r>
          </a:p>
          <a:p>
            <a:r>
              <a:t>Explain one mechanism from the chapter without relying on vocabulary alone. Identify one failure mode and the violated contract or invariant. State what evidence would support your diagnosis and what it would not prove. Next: Condition Variables.</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explain one mechanism from the chapter without relying on vocabulary alone.</a:t>
            </a:r>
          </a:p>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Chapter 47 — Mutual Exclusion</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GRADUATE LECTURE</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Mutual exclusion gives one participant at a time access to a protected region.</a:t>
            </a:r>
          </a:p>
          <a:p>
            <a:pPr>
              <a:spcAft>
                <a:spcPts val="1100"/>
              </a:spcAft>
              <a:defRPr sz="1700">
                <a:solidFill>
                  <a:srgbClr val="F2F5F8"/>
                </a:solidFill>
              </a:defRPr>
            </a:pPr>
            <a:r>
              <a:t>• A mutex is useful not because it makes code “thread-safe” by proximity, but because every relevant access follows the same ownership rule and preserves a defined invariant.</a:t>
            </a:r>
          </a:p>
          <a:p>
            <a:pPr>
              <a:spcAft>
                <a:spcPts val="1100"/>
              </a:spcAft>
              <a:defRPr sz="1900">
                <a:solidFill>
                  <a:srgbClr val="F2F5F8"/>
                </a:solidFill>
              </a:defRPr>
            </a:pPr>
            <a:r>
              <a:t>• The invariant should be stated in ordinary language before the lock operations are written. [ R25 , R34 ]</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47     |     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What This Chapter Builds</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LEARNING OBJECTIVES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Explain the mechanisms and contracts in Mutual Exclusion.</a:t>
            </a:r>
          </a:p>
          <a:p>
            <a:pPr>
              <a:spcAft>
                <a:spcPts val="1100"/>
              </a:spcAft>
              <a:defRPr sz="1900">
                <a:solidFill>
                  <a:srgbClr val="F2F5F8"/>
                </a:solidFill>
              </a:defRPr>
            </a:pPr>
            <a:r>
              <a:t>• Trace the chapter's important state, representation, and resource transitions.</a:t>
            </a:r>
          </a:p>
          <a:p>
            <a:pPr>
              <a:spcAft>
                <a:spcPts val="1100"/>
              </a:spcAft>
              <a:defRPr sz="1900">
                <a:solidFill>
                  <a:srgbClr val="F2F5F8"/>
                </a:solidFill>
              </a:defRPr>
            </a:pPr>
            <a:r>
              <a:t>• Identify failure modes, assumptions, and evidence required for correctness.</a:t>
            </a:r>
          </a:p>
          <a:p>
            <a:pPr>
              <a:spcAft>
                <a:spcPts val="1100"/>
              </a:spcAft>
              <a:defRPr sz="1900">
                <a:solidFill>
                  <a:srgbClr val="F2F5F8"/>
                </a:solidFill>
              </a:defRPr>
            </a:pPr>
            <a:r>
              <a:t>• Apply the chapter model to the worked examples and guided lab.</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47     |     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Chapter Roadmap</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SOURCE-ALIGNED COVERAGE</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47.1 Mutexes</a:t>
            </a:r>
          </a:p>
          <a:p>
            <a:pPr>
              <a:spcAft>
                <a:spcPts val="1100"/>
              </a:spcAft>
              <a:defRPr sz="1900">
                <a:solidFill>
                  <a:srgbClr val="F2F5F8"/>
                </a:solidFill>
              </a:defRPr>
            </a:pPr>
            <a:r>
              <a:t>• 47.2 Lock</a:t>
            </a:r>
          </a:p>
          <a:p>
            <a:pPr>
              <a:spcAft>
                <a:spcPts val="1100"/>
              </a:spcAft>
              <a:defRPr sz="1900">
                <a:solidFill>
                  <a:srgbClr val="F2F5F8"/>
                </a:solidFill>
              </a:defRPr>
            </a:pPr>
            <a:r>
              <a:t>• 47.3 Unlock</a:t>
            </a:r>
          </a:p>
          <a:p>
            <a:pPr>
              <a:spcAft>
                <a:spcPts val="1100"/>
              </a:spcAft>
              <a:defRPr sz="1900">
                <a:solidFill>
                  <a:srgbClr val="F2F5F8"/>
                </a:solidFill>
              </a:defRPr>
            </a:pPr>
            <a:r>
              <a:t>• 47.4 Critical sections</a:t>
            </a:r>
          </a:p>
          <a:p>
            <a:pPr>
              <a:spcAft>
                <a:spcPts val="1100"/>
              </a:spcAft>
              <a:defRPr sz="1900">
                <a:solidFill>
                  <a:srgbClr val="F2F5F8"/>
                </a:solidFill>
              </a:defRPr>
            </a:pPr>
            <a:r>
              <a:t>• ...plus 8 additional source topics</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47     |     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47.1 Mutexes</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A mutex coordinates exclusive ownership.</a:t>
            </a:r>
          </a:p>
          <a:p>
            <a:pPr>
              <a:spcAft>
                <a:spcPts val="1100"/>
              </a:spcAft>
              <a:defRPr sz="1900">
                <a:solidFill>
                  <a:srgbClr val="F2F5F8"/>
                </a:solidFill>
              </a:defRPr>
            </a:pPr>
            <a:r>
              <a:t>• A thread acquires it before accessing protected mutable state and releases it afterward.</a:t>
            </a:r>
          </a:p>
          <a:p>
            <a:pPr>
              <a:spcAft>
                <a:spcPts val="1100"/>
              </a:spcAft>
              <a:defRPr sz="1900">
                <a:solidFill>
                  <a:srgbClr val="F2F5F8"/>
                </a:solidFill>
              </a:defRPr>
            </a:pPr>
            <a:r>
              <a:t>• Correct use establishes both exclusion and the ordering needed to observe prior protected updates.</a:t>
            </a:r>
          </a:p>
          <a:p>
            <a:pPr>
              <a:spcAft>
                <a:spcPts val="1100"/>
              </a:spcAft>
              <a:defRPr sz="1900">
                <a:solidFill>
                  <a:srgbClr val="F2F5F8"/>
                </a:solidFill>
              </a:defRPr>
            </a:pPr>
            <a:r>
              <a:t>• A mutex protects a rule about state , not a particular memory address by magic.</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47     |     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47.1 Mutexes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A mutex protects a rule about state , not a particular memory address by magic.</a:t>
            </a:r>
          </a:p>
          <a:p>
            <a:pPr>
              <a:spcAft>
                <a:spcPts val="1100"/>
              </a:spcAft>
              <a:defRPr sz="1900">
                <a:solidFill>
                  <a:srgbClr val="F2F5F8"/>
                </a:solidFill>
              </a:defRPr>
            </a:pPr>
            <a:r>
              <a:t>• If another function accesses the same state without the mutex, the rule is broken.</a:t>
            </a:r>
          </a:p>
          <a:p>
            <a:pPr>
              <a:spcAft>
                <a:spcPts val="1100"/>
              </a:spcAft>
              <a:defRPr sz="1900">
                <a:solidFill>
                  <a:srgbClr val="F2F5F8"/>
                </a:solidFill>
              </a:defRPr>
            </a:pPr>
            <a:r>
              <a:t>• Keep the state private behind an interface where practical so that callers cannot bypass the protection accidentally.</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47     |     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47.2 Lock</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Locking obtains exclusive ownership, potentially waiting while another thread owns the mutex.</a:t>
            </a:r>
          </a:p>
          <a:p>
            <a:pPr>
              <a:spcAft>
                <a:spcPts val="1100"/>
              </a:spcAft>
              <a:defRPr sz="1900">
                <a:solidFill>
                  <a:srgbClr val="F2F5F8"/>
                </a:solidFill>
              </a:defRPr>
            </a:pPr>
            <a:r>
              <a:t>• A lock acquisition is therefore a possible blocking point.</a:t>
            </a:r>
          </a:p>
          <a:p>
            <a:pPr>
              <a:spcAft>
                <a:spcPts val="1100"/>
              </a:spcAft>
              <a:defRPr sz="1900">
                <a:solidFill>
                  <a:srgbClr val="F2F5F8"/>
                </a:solidFill>
              </a:defRPr>
            </a:pPr>
            <a:r>
              <a:t>• Avoid assuming that a short critical section always makes acquisition immediate.</a:t>
            </a:r>
          </a:p>
          <a:p>
            <a:pPr>
              <a:spcAft>
                <a:spcPts val="1100"/>
              </a:spcAft>
              <a:defRPr sz="1900">
                <a:solidFill>
                  <a:srgbClr val="F2F5F8"/>
                </a:solidFill>
              </a:defRPr>
            </a:pPr>
            <a:r>
              <a:t>• Use RAII ownership such as std::lock_guard or std::unique_lock in C++ to tie release to scope.</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47     |     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47.2 Lock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Use RAII ownership such as std::lock_guard or std::unique_lock in C++ to tie release to scope.</a:t>
            </a:r>
          </a:p>
          <a:p>
            <a:pPr>
              <a:spcAft>
                <a:spcPts val="1100"/>
              </a:spcAft>
              <a:defRPr sz="1700">
                <a:solidFill>
                  <a:srgbClr val="F2F5F8"/>
                </a:solidFill>
              </a:defRPr>
            </a:pPr>
            <a:r>
              <a:t>• Manual lock/unlock pairs are vulnerable to early returns and exceptions. unique_lock is appropriate when the code needs controlled unlocking or condition-variable waiting.</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47     |     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47.3 Unlock</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Unlocking releases ownership and permits another participant to acquire the mutex.</a:t>
            </a:r>
          </a:p>
          <a:p>
            <a:pPr>
              <a:spcAft>
                <a:spcPts val="1100"/>
              </a:spcAft>
              <a:defRPr sz="1900">
                <a:solidFill>
                  <a:srgbClr val="F2F5F8"/>
                </a:solidFill>
              </a:defRPr>
            </a:pPr>
            <a:r>
              <a:t>• All protected invariants should hold at this boundary.</a:t>
            </a:r>
          </a:p>
          <a:p>
            <a:pPr>
              <a:spcAft>
                <a:spcPts val="1100"/>
              </a:spcAft>
              <a:defRPr sz="1700">
                <a:solidFill>
                  <a:srgbClr val="F2F5F8"/>
                </a:solidFill>
              </a:defRPr>
            </a:pPr>
            <a:r>
              <a:t>• An exception that leaves partially updated state must either restore the invariant or make failure state explicit before release.</a:t>
            </a:r>
          </a:p>
          <a:p>
            <a:pPr>
              <a:spcAft>
                <a:spcPts val="1100"/>
              </a:spcAft>
              <a:defRPr sz="1900">
                <a:solidFill>
                  <a:srgbClr val="F2F5F8"/>
                </a:solidFill>
              </a:defRPr>
            </a:pPr>
            <a:r>
              <a:t>• Do not unlock a mutex from a thread that does not own it under the ordinary mutex contract.</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47     |     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47.3 Unlock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Do not unlock a mutex from a thread that does not own it under the ordinary mutex contract.</a:t>
            </a:r>
          </a:p>
          <a:p>
            <a:pPr>
              <a:spcAft>
                <a:spcPts val="1100"/>
              </a:spcAft>
              <a:defRPr sz="1700">
                <a:solidFill>
                  <a:srgbClr val="F2F5F8"/>
                </a:solidFill>
              </a:defRPr>
            </a:pPr>
            <a:r>
              <a:t>• Do not retain references to mutable internal data and then access them after unlocking unless a separate lifetime and synchronization rule permits it.</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47     |     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47.4 Critical sections</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The critical section contains the operations that must be observed together.</a:t>
            </a:r>
          </a:p>
          <a:p>
            <a:pPr>
              <a:spcAft>
                <a:spcPts val="1100"/>
              </a:spcAft>
              <a:defRPr sz="1900">
                <a:solidFill>
                  <a:srgbClr val="F2F5F8"/>
                </a:solidFill>
              </a:defRPr>
            </a:pPr>
            <a:r>
              <a:t>• For an account transfer, checking funds and updating both balances belong to one logical transaction.</a:t>
            </a:r>
          </a:p>
          <a:p>
            <a:pPr>
              <a:spcAft>
                <a:spcPts val="1100"/>
              </a:spcAft>
              <a:defRPr sz="1900">
                <a:solidFill>
                  <a:srgbClr val="F2F5F8"/>
                </a:solidFill>
              </a:defRPr>
            </a:pPr>
            <a:r>
              <a:t>• Protecting only the final store leaves a check-then-act race.</a:t>
            </a:r>
          </a:p>
          <a:p>
            <a:pPr>
              <a:spcAft>
                <a:spcPts val="1100"/>
              </a:spcAft>
              <a:defRPr sz="1900">
                <a:solidFill>
                  <a:srgbClr val="F2F5F8"/>
                </a:solidFill>
              </a:defRPr>
            </a:pPr>
            <a:r>
              <a:t>• Keep sections focused.</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47     |     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47.4 Critical sections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Keep sections focused.</a:t>
            </a:r>
          </a:p>
          <a:p>
            <a:pPr>
              <a:spcAft>
                <a:spcPts val="1100"/>
              </a:spcAft>
              <a:defRPr sz="1700">
                <a:solidFill>
                  <a:srgbClr val="F2F5F8"/>
                </a:solidFill>
              </a:defRPr>
            </a:pPr>
            <a:r>
              <a:t>• Expensive computation can often be performed on a snapshot outside the lock, but the result may need validation when applied.</a:t>
            </a:r>
          </a:p>
          <a:p>
            <a:pPr>
              <a:spcAft>
                <a:spcPts val="1100"/>
              </a:spcAft>
              <a:defRPr sz="1900">
                <a:solidFill>
                  <a:srgbClr val="F2F5F8"/>
                </a:solidFill>
              </a:defRPr>
            </a:pPr>
            <a:r>
              <a:t>• Releasing the lock does not freeze the state that was inspected earlier.</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47     |     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47.5 Protected state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Related fields should be grouped under a clear protection policy.</a:t>
            </a:r>
          </a:p>
          <a:p>
            <a:pPr>
              <a:spcAft>
                <a:spcPts val="1100"/>
              </a:spcAft>
              <a:defRPr sz="1900">
                <a:solidFill>
                  <a:srgbClr val="F2F5F8"/>
                </a:solidFill>
              </a:defRPr>
            </a:pPr>
            <a:r>
              <a:t>• A queue’s storage, head, tail, count, and closure flag may form one invariant.</a:t>
            </a:r>
          </a:p>
          <a:p>
            <a:pPr>
              <a:spcAft>
                <a:spcPts val="1100"/>
              </a:spcAft>
              <a:defRPr sz="1900">
                <a:solidFill>
                  <a:srgbClr val="F2F5F8"/>
                </a:solidFill>
              </a:defRPr>
            </a:pPr>
            <a:r>
              <a:t>• Protecting each field with an unrelated lock can expose combinations that never represented a valid queue state.</a:t>
            </a:r>
          </a:p>
          <a:p>
            <a:pPr>
              <a:spcAft>
                <a:spcPts val="1100"/>
              </a:spcAft>
              <a:defRPr sz="1900">
                <a:solidFill>
                  <a:srgbClr val="F2F5F8"/>
                </a:solidFill>
              </a:defRPr>
            </a:pPr>
            <a:r>
              <a:t>• Document the policy near the data definition.</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47     |     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47.5 Protected state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Document the policy near the data definition.</a:t>
            </a:r>
          </a:p>
          <a:p>
            <a:pPr>
              <a:spcAft>
                <a:spcPts val="1100"/>
              </a:spcAft>
              <a:defRPr sz="1700">
                <a:solidFill>
                  <a:srgbClr val="F2F5F8"/>
                </a:solidFill>
              </a:defRPr>
            </a:pPr>
            <a:r>
              <a:t>• For example: “All reads and writes of these balances require mutex_ ; their sum remains constant.” Such a statement is more useful than a vague comment saying “thread-safe...</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47     |     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47.6 Lock invariants</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A lock invariant describes what is true whenever protected state is available to another owner.</a:t>
            </a:r>
          </a:p>
          <a:p>
            <a:pPr>
              <a:spcAft>
                <a:spcPts val="1100"/>
              </a:spcAft>
              <a:defRPr sz="1700">
                <a:solidFill>
                  <a:srgbClr val="F2F5F8"/>
                </a:solidFill>
              </a:defRPr>
            </a:pPr>
            <a:r>
              <a:t>• Temporary internal states can exist while the lock is held, but they must not escape through callbacks, unlocked references, or exceptions.</a:t>
            </a:r>
          </a:p>
          <a:p>
            <a:pPr>
              <a:spcAft>
                <a:spcPts val="1100"/>
              </a:spcAft>
              <a:defRPr sz="1900">
                <a:solidFill>
                  <a:srgbClr val="F2F5F8"/>
                </a:solidFill>
              </a:defRPr>
            </a:pPr>
            <a:r>
              <a:t>• An invariant also guides tests.</a:t>
            </a:r>
          </a:p>
          <a:p>
            <a:pPr>
              <a:spcAft>
                <a:spcPts val="1100"/>
              </a:spcAft>
              <a:defRPr sz="1900">
                <a:solidFill>
                  <a:srgbClr val="F2F5F8"/>
                </a:solidFill>
              </a:defRPr>
            </a:pPr>
            <a:r>
              <a:t>• Verify conservation laws, bounds, and relationships, not only whether threads finish.</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47     |     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47.6 Lock invariants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An invariant also guides tests.</a:t>
            </a:r>
          </a:p>
          <a:p>
            <a:pPr>
              <a:spcAft>
                <a:spcPts val="1100"/>
              </a:spcAft>
              <a:defRPr sz="1900">
                <a:solidFill>
                  <a:srgbClr val="F2F5F8"/>
                </a:solidFill>
              </a:defRPr>
            </a:pPr>
            <a:r>
              <a:t>• Verify conservation laws, bounds, and relationships, not only whether threads finish.</a:t>
            </a:r>
          </a:p>
          <a:p>
            <a:pPr>
              <a:spcAft>
                <a:spcPts val="1100"/>
              </a:spcAft>
              <a:defRPr sz="1900">
                <a:solidFill>
                  <a:srgbClr val="F2F5F8"/>
                </a:solidFill>
              </a:defRPr>
            </a:pPr>
            <a:r>
              <a:t>• A program that never crashes can still lose items, duplicate work, or violate accounting constraints.</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47     |     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47.7 Coarse-grained locking</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Coarse-grained locking uses one lock for a broad region or related state group.</a:t>
            </a:r>
          </a:p>
          <a:p>
            <a:pPr>
              <a:spcAft>
                <a:spcPts val="1100"/>
              </a:spcAft>
              <a:defRPr sz="1900">
                <a:solidFill>
                  <a:srgbClr val="F2F5F8"/>
                </a:solidFill>
              </a:defRPr>
            </a:pPr>
            <a:r>
              <a:t>• It is often easier to prove correct and avoids many lock-order problems.</a:t>
            </a:r>
          </a:p>
          <a:p>
            <a:pPr>
              <a:spcAft>
                <a:spcPts val="1100"/>
              </a:spcAft>
              <a:defRPr sz="1900">
                <a:solidFill>
                  <a:srgbClr val="F2F5F8"/>
                </a:solidFill>
              </a:defRPr>
            </a:pPr>
            <a:r>
              <a:t>• For modest contention, its simplicity can outweigh theoretical parallelism lost inside the critical section.</a:t>
            </a:r>
          </a:p>
          <a:p>
            <a:pPr>
              <a:spcAft>
                <a:spcPts val="1100"/>
              </a:spcAft>
              <a:defRPr sz="1900">
                <a:solidFill>
                  <a:srgbClr val="F2F5F8"/>
                </a:solidFill>
              </a:defRPr>
            </a:pPr>
            <a:r>
              <a:t>• The cost appears when unrelated operations serialize behind the same mutex.</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47     |     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47.7 Coarse-grained locking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The cost appears when unrelated operations serialize behind the same mutex.</a:t>
            </a:r>
          </a:p>
          <a:p>
            <a:pPr>
              <a:spcAft>
                <a:spcPts val="1100"/>
              </a:spcAft>
              <a:defRPr sz="1900">
                <a:solidFill>
                  <a:srgbClr val="F2F5F8"/>
                </a:solidFill>
              </a:defRPr>
            </a:pPr>
            <a:r>
              <a:t>• Measure contention before splitting the design.</a:t>
            </a:r>
          </a:p>
          <a:p>
            <a:pPr>
              <a:spcAft>
                <a:spcPts val="1100"/>
              </a:spcAft>
              <a:defRPr sz="1900">
                <a:solidFill>
                  <a:srgbClr val="F2F5F8"/>
                </a:solidFill>
              </a:defRPr>
            </a:pPr>
            <a:r>
              <a:t>• A clear coarse-grained implementation provides a valuable correctness baseline for later optimization.</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47     |     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47.8 Fine-grained locking</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Fine-grained locking divides protection among smaller state regions.</a:t>
            </a:r>
          </a:p>
          <a:p>
            <a:pPr>
              <a:spcAft>
                <a:spcPts val="1100"/>
              </a:spcAft>
              <a:defRPr sz="1900">
                <a:solidFill>
                  <a:srgbClr val="F2F5F8"/>
                </a:solidFill>
              </a:defRPr>
            </a:pPr>
            <a:r>
              <a:t>• It can allow independent operations to proceed concurrently but adds ownership, ordering, and lifecycle complexity.</a:t>
            </a:r>
          </a:p>
          <a:p>
            <a:pPr>
              <a:spcAft>
                <a:spcPts val="1100"/>
              </a:spcAft>
              <a:defRPr sz="1900">
                <a:solidFill>
                  <a:srgbClr val="F2F5F8"/>
                </a:solidFill>
              </a:defRPr>
            </a:pPr>
            <a:r>
              <a:t>• Operations spanning regions may need several locks.</a:t>
            </a:r>
          </a:p>
          <a:p>
            <a:pPr>
              <a:spcAft>
                <a:spcPts val="1100"/>
              </a:spcAft>
              <a:defRPr sz="1900">
                <a:solidFill>
                  <a:srgbClr val="F2F5F8"/>
                </a:solidFill>
              </a:defRPr>
            </a:pPr>
            <a:r>
              <a:t>• A finer design must define a consistent acquisition order or use a deadlock-avoiding multi-lock facility.</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47     |     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47.8 Fine-grained locking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A finer design must define a consistent acquisition order or use a deadlock-avoiding multi-lock facility.</a:t>
            </a:r>
          </a:p>
          <a:p>
            <a:pPr>
              <a:spcAft>
                <a:spcPts val="1100"/>
              </a:spcAft>
              <a:defRPr sz="1900">
                <a:solidFill>
                  <a:srgbClr val="F2F5F8"/>
                </a:solidFill>
              </a:defRPr>
            </a:pPr>
            <a:r>
              <a:t>• More locks can also increase memory use, cache traffic, and maintenance cost.</a:t>
            </a:r>
          </a:p>
          <a:p>
            <a:pPr>
              <a:spcAft>
                <a:spcPts val="1100"/>
              </a:spcAft>
              <a:defRPr sz="1900">
                <a:solidFill>
                  <a:srgbClr val="F2F5F8"/>
                </a:solidFill>
              </a:defRPr>
            </a:pPr>
            <a:r>
              <a:t>• Fine-grained is a tradeoff, not a synonym for faster.</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47     |     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2500" b="1">
                <a:solidFill>
                  <a:srgbClr val="F2F5F8"/>
                </a:solidFill>
              </a:defRPr>
            </a:pPr>
            <a:r>
              <a:t>Worked example — Preserve a conservation invariant</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The ledger below starts with 1000 units on the left and zero on the right.</a:t>
            </a:r>
          </a:p>
          <a:p>
            <a:pPr>
              <a:spcAft>
                <a:spcPts val="1100"/>
              </a:spcAft>
              <a:defRPr sz="1900">
                <a:solidFill>
                  <a:srgbClr val="F2F5F8"/>
                </a:solidFill>
              </a:defRPr>
            </a:pPr>
            <a:r>
              <a:t>• Four workers each move 100 units, one at a time.</a:t>
            </a:r>
          </a:p>
          <a:p>
            <a:pPr>
              <a:spcAft>
                <a:spcPts val="1100"/>
              </a:spcAft>
              <a:defRPr sz="1900">
                <a:solidFill>
                  <a:srgbClr val="F2F5F8"/>
                </a:solidFill>
              </a:defRPr>
            </a:pPr>
            <a:r>
              <a:t>• One mutex protects both balances, and every transfer preserves their sum.</a:t>
            </a:r>
          </a:p>
          <a:p>
            <a:pPr>
              <a:spcAft>
                <a:spcPts val="1100"/>
              </a:spcAft>
              <a:defRPr sz="1900">
                <a:solidFill>
                  <a:srgbClr val="F2F5F8"/>
                </a:solidFill>
              </a:defRPr>
            </a:pPr>
            <a:r>
              <a:t>• Companion listing: ch47/ledger.cpp</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47     |     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2500" b="1">
                <a:solidFill>
                  <a:srgbClr val="F2F5F8"/>
                </a:solidFill>
              </a:defRPr>
            </a:pPr>
            <a:r>
              <a:t>Worked example — Preserve a conservation invariant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WORKED EXAMPLE &amp; INTERPRETATION</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Companion listing: ch47/ledger.cpp</a:t>
            </a:r>
          </a:p>
          <a:p>
            <a:pPr>
              <a:spcAft>
                <a:spcPts val="1100"/>
              </a:spcAft>
              <a:defRPr sz="1900">
                <a:solidFill>
                  <a:srgbClr val="F2F5F8"/>
                </a:solidFill>
              </a:defRPr>
            </a:pPr>
            <a:r>
              <a:t>• The expected output is left=600 right=400 .</a:t>
            </a:r>
          </a:p>
          <a:p>
            <a:pPr>
              <a:spcAft>
                <a:spcPts val="1100"/>
              </a:spcAft>
              <a:defRPr sz="1900">
                <a:solidFill>
                  <a:srgbClr val="F2F5F8"/>
                </a:solidFill>
              </a:defRPr>
            </a:pPr>
            <a:r>
              <a:t>• No transfer can observe the half-updated pair because all protected access uses the same mutex.</a:t>
            </a:r>
          </a:p>
          <a:p>
            <a:pPr>
              <a:spcAft>
                <a:spcPts val="1100"/>
              </a:spcAft>
              <a:defRPr sz="1700">
                <a:solidFill>
                  <a:srgbClr val="F2F5F8"/>
                </a:solidFill>
              </a:defRPr>
            </a:pPr>
            <a:r>
              <a:t>• Returning a copied snapshot keeps callers from retaining a reference that would bypass the lock after the function returns.</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47     |     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Worked example — Protecting a bank balance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Suppose balance must never be observed halfway through an update.</a:t>
            </a:r>
          </a:p>
          <a:p>
            <a:pPr>
              <a:spcAft>
                <a:spcPts val="1100"/>
              </a:spcAft>
              <a:defRPr sz="1900">
                <a:solidFill>
                  <a:srgbClr val="F2F5F8"/>
                </a:solidFill>
              </a:defRPr>
            </a:pPr>
            <a:r>
              <a:t>• Every operation that reads or modifies the invariant acquires the same mutex.</a:t>
            </a:r>
          </a:p>
          <a:p>
            <a:pPr>
              <a:spcAft>
                <a:spcPts val="1100"/>
              </a:spcAft>
              <a:defRPr sz="1900">
                <a:solidFill>
                  <a:srgbClr val="F2F5F8"/>
                </a:solidFill>
              </a:defRPr>
            </a:pPr>
            <a:r>
              <a:t>• A transfer locks before checking funds and updating the balance, then unlocks after the invariant is restored.</a:t>
            </a:r>
          </a:p>
          <a:p>
            <a:pPr>
              <a:spcAft>
                <a:spcPts val="1100"/>
              </a:spcAft>
              <a:defRPr sz="1900">
                <a:solidFill>
                  <a:srgbClr val="F2F5F8"/>
                </a:solidFill>
              </a:defRPr>
            </a:pPr>
            <a:r>
              <a:t>• The mutex is useful because the protected-state rule is consistent across all access paths.</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47     |     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2500" b="1">
                <a:solidFill>
                  <a:srgbClr val="F2F5F8"/>
                </a:solidFill>
              </a:defRPr>
            </a:pPr>
            <a:r>
              <a:t>Worked example — Protecting a bank balance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WORKED EXAMPLE &amp; INTERPRETATION</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Suppose balance must never be observed halfway through an update.</a:t>
            </a:r>
          </a:p>
          <a:p>
            <a:pPr>
              <a:spcAft>
                <a:spcPts val="1100"/>
              </a:spcAft>
              <a:defRPr sz="1900">
                <a:solidFill>
                  <a:srgbClr val="F2F5F8"/>
                </a:solidFill>
              </a:defRPr>
            </a:pPr>
            <a:r>
              <a:t>• Every operation that reads or modifies the invariant acquires the same mutex.</a:t>
            </a:r>
          </a:p>
          <a:p>
            <a:pPr>
              <a:spcAft>
                <a:spcPts val="1100"/>
              </a:spcAft>
              <a:defRPr sz="1900">
                <a:solidFill>
                  <a:srgbClr val="F2F5F8"/>
                </a:solidFill>
              </a:defRPr>
            </a:pPr>
            <a:r>
              <a:t>• A transfer locks before checking funds and updating the balance, then unlocks after the invariant is restored.</a:t>
            </a:r>
          </a:p>
          <a:p>
            <a:pPr>
              <a:spcAft>
                <a:spcPts val="1100"/>
              </a:spcAft>
              <a:defRPr sz="1900">
                <a:solidFill>
                  <a:srgbClr val="F2F5F8"/>
                </a:solidFill>
              </a:defRPr>
            </a:pPr>
            <a:r>
              <a:t>• The mutex is useful because the protected-state rule is consistent across all access paths.</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47     |     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Worked example — Coarse versus fine locking</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One global mutex around an entire table is easy to reason about but serializes unrelated operations.</a:t>
            </a:r>
          </a:p>
          <a:p>
            <a:pPr>
              <a:spcAft>
                <a:spcPts val="1100"/>
              </a:spcAft>
              <a:defRPr sz="1700">
                <a:solidFill>
                  <a:srgbClr val="F2F5F8"/>
                </a:solidFill>
              </a:defRPr>
            </a:pPr>
            <a:r>
              <a:t>• One mutex per bucket can allow independent buckets to proceed concurrently but complicates operations touching multiple buckets.</a:t>
            </a:r>
          </a:p>
          <a:p>
            <a:pPr>
              <a:spcAft>
                <a:spcPts val="1100"/>
              </a:spcAft>
              <a:defRPr sz="1900">
                <a:solidFill>
                  <a:srgbClr val="F2F5F8"/>
                </a:solidFill>
              </a:defRPr>
            </a:pPr>
            <a:r>
              <a:t>• Fine-grained locking trades simpler contention behavior for more complicated ordering and invariant management.</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47     |     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2500" b="1">
                <a:solidFill>
                  <a:srgbClr val="F2F5F8"/>
                </a:solidFill>
              </a:defRPr>
            </a:pPr>
            <a:r>
              <a:t>Worked example — Coarse versus fine locking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WORKED EXAMPLE &amp; INTERPRETATION</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One global mutex around an entire table is easy to reason about but serializes unrelated operations.</a:t>
            </a:r>
          </a:p>
          <a:p>
            <a:pPr>
              <a:spcAft>
                <a:spcPts val="1100"/>
              </a:spcAft>
              <a:defRPr sz="1700">
                <a:solidFill>
                  <a:srgbClr val="F2F5F8"/>
                </a:solidFill>
              </a:defRPr>
            </a:pPr>
            <a:r>
              <a:t>• One mutex per bucket can allow independent buckets to proceed concurrently but complicates operations touching multiple buckets.</a:t>
            </a:r>
          </a:p>
          <a:p>
            <a:pPr>
              <a:spcAft>
                <a:spcPts val="1100"/>
              </a:spcAft>
              <a:defRPr sz="1900">
                <a:solidFill>
                  <a:srgbClr val="F2F5F8"/>
                </a:solidFill>
              </a:defRPr>
            </a:pPr>
            <a:r>
              <a:t>• Fine-grained locking trades simpler contention behavior for more complicated ordering and invariant management.</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47     |     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Guided lab and review</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Lab 47.</a:t>
            </a:r>
          </a:p>
          <a:p>
            <a:pPr>
              <a:spcAft>
                <a:spcPts val="1100"/>
              </a:spcAft>
              <a:defRPr sz="1900">
                <a:solidFill>
                  <a:srgbClr val="F2F5F8"/>
                </a:solidFill>
              </a:defRPr>
            </a:pPr>
            <a:r>
              <a:t>• Increase attempted transfers beyond the available total and count successful operations.</a:t>
            </a:r>
          </a:p>
          <a:p>
            <a:pPr>
              <a:spcAft>
                <a:spcPts val="1100"/>
              </a:spcAft>
              <a:defRPr sz="1900">
                <a:solidFill>
                  <a:srgbClr val="F2F5F8"/>
                </a:solidFill>
              </a:defRPr>
            </a:pPr>
            <a:r>
              <a:t>• Verify that the final left balance is zero, the right balance remains 1000, and the success count is exactly 1000.</a:t>
            </a:r>
          </a:p>
          <a:p>
            <a:pPr>
              <a:spcAft>
                <a:spcPts val="1100"/>
              </a:spcAft>
              <a:defRPr sz="1900">
                <a:solidFill>
                  <a:srgbClr val="F2F5F8"/>
                </a:solidFill>
              </a:defRPr>
            </a:pPr>
            <a:r>
              <a:t>• Keep the success-counting policy synchronized or use per-thread counts.</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47     |     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Guided lab and review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LAB, REVIEW &amp; ACCEPTANCE</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Review 1.</a:t>
            </a:r>
          </a:p>
          <a:p>
            <a:pPr>
              <a:spcAft>
                <a:spcPts val="1100"/>
              </a:spcAft>
              <a:defRPr sz="1900">
                <a:solidFill>
                  <a:srgbClr val="F2F5F8"/>
                </a:solidFill>
              </a:defRPr>
            </a:pPr>
            <a:r>
              <a:t>• Why must the funds check and updates share a critical section?</a:t>
            </a:r>
          </a:p>
          <a:p>
            <a:pPr>
              <a:spcAft>
                <a:spcPts val="1100"/>
              </a:spcAft>
              <a:defRPr sz="1900">
                <a:solidFill>
                  <a:srgbClr val="F2F5F8"/>
                </a:solidFill>
              </a:defRPr>
            </a:pPr>
            <a:r>
              <a:t>• Review 2.</a:t>
            </a:r>
          </a:p>
          <a:p>
            <a:pPr>
              <a:spcAft>
                <a:spcPts val="1100"/>
              </a:spcAft>
              <a:defRPr sz="1900">
                <a:solidFill>
                  <a:srgbClr val="F2F5F8"/>
                </a:solidFill>
              </a:defRPr>
            </a:pPr>
            <a:r>
              <a:t>• Why return a snapshot rather than a reference to a balance?</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47     |     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Chapter Synthesis</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KEY TAKEAWAYS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The chapter's central subject is mutual exclusion.</a:t>
            </a:r>
          </a:p>
          <a:p>
            <a:pPr>
              <a:spcAft>
                <a:spcPts val="1100"/>
              </a:spcAft>
              <a:defRPr sz="1900">
                <a:solidFill>
                  <a:srgbClr val="F2F5F8"/>
                </a:solidFill>
              </a:defRPr>
            </a:pPr>
            <a:r>
              <a:t>• Correct reasoning requires explicit assumptions, bounds, ownership, and interface contracts.</a:t>
            </a:r>
          </a:p>
          <a:p>
            <a:pPr>
              <a:spcAft>
                <a:spcPts val="1100"/>
              </a:spcAft>
              <a:defRPr sz="1900">
                <a:solidFill>
                  <a:srgbClr val="F2F5F8"/>
                </a:solidFill>
              </a:defRPr>
            </a:pPr>
            <a:r>
              <a:t>• Observed behavior is evidence about a run; it is not automatically a language or system guarantee.</a:t>
            </a:r>
          </a:p>
          <a:p>
            <a:pPr>
              <a:spcAft>
                <a:spcPts val="1100"/>
              </a:spcAft>
              <a:defRPr sz="1900">
                <a:solidFill>
                  <a:srgbClr val="F2F5F8"/>
                </a:solidFill>
              </a:defRPr>
            </a:pPr>
            <a:r>
              <a:t>• Use the worked examples and lab to test whether the model transfers to new cases.</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47     |     28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Review and Transition</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CHECK YOUR MODEL</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Explain one mechanism from the chapter without relying on vocabulary alone.</a:t>
            </a:r>
          </a:p>
          <a:p>
            <a:pPr>
              <a:spcAft>
                <a:spcPts val="1100"/>
              </a:spcAft>
              <a:defRPr sz="1900">
                <a:solidFill>
                  <a:srgbClr val="F2F5F8"/>
                </a:solidFill>
              </a:defRPr>
            </a:pPr>
            <a:r>
              <a:t>• Identify one failure mode and the violated contract or invariant.</a:t>
            </a:r>
          </a:p>
          <a:p>
            <a:pPr>
              <a:spcAft>
                <a:spcPts val="1100"/>
              </a:spcAft>
              <a:defRPr sz="1900">
                <a:solidFill>
                  <a:srgbClr val="F2F5F8"/>
                </a:solidFill>
              </a:defRPr>
            </a:pPr>
            <a:r>
              <a:t>• State what evidence would support your diagnosis and what it would not prove.</a:t>
            </a:r>
          </a:p>
          <a:p>
            <a:pPr>
              <a:spcAft>
                <a:spcPts val="1100"/>
              </a:spcAft>
              <a:defRPr sz="1900">
                <a:solidFill>
                  <a:srgbClr val="F2F5F8"/>
                </a:solidFill>
              </a:defRPr>
            </a:pPr>
            <a:r>
              <a:t>• Next: Condition Variables.</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47     |     29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