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32 — Cache Performance</a:t>
            </a:r>
          </a:p>
          <a:p/>
          <a:p>
            <a:r>
              <a:t>LECTURE NARRATION</a:t>
            </a:r>
          </a:p>
          <a:p>
            <a:r>
              <a:t>Cache-aware optimization begins with a cost model and ends with measurement. A model exposes which events matter; measurement determines whether those events dominate on the target machine. A change that reduces misses can still lose overall if it adds excessive computation, synchronization, or data movement elsewhere.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cache-aware optimization begins with a cost model and ends with measurement.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Cache-aware optimization begins with a cost model and ends with measurement. A model exposes which events matter; measurement determines whether those events dominate on the target machine. A change that reduces misses can still lose overall if it adds excessive computation, synchronization, or data movement elsewhere.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cache-aware optimization begins with a cost model and ends with measurement.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32.1 Average memory-access time 32.2 Prefetching 32.3 Batching 32.4 Write coalescing ...plus 7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32.1 Average memory-access time 32.2 Prefetching 32.3 Batching 32.4 Write coalescing ...plus 7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32.1 Average memory-access time</a:t>
            </a:r>
          </a:p>
          <a:p/>
          <a:p>
            <a:r>
              <a:t>LECTURE NARRATION</a:t>
            </a:r>
          </a:p>
          <a:p>
            <a:r>
              <a:t>A simple one-level model is: The word additional is important. If the penalty already includes the hit lookup, adding hit time again double-counts it. For two levels, a common serial model is L1 hit time + L1 miss rate * (L2 access time + L2 local miss rate * memory penalty) . This model excludes overlap, out-of-order execution, bandwidth saturation, prefetching, and dependencies among requests. It is useful for accounting and comparisons, not a complete predictor of whole-program runtime.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simple one-level model is: The word additional is important.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32.1 Average memory-access time — Deep Dive</a:t>
            </a:r>
          </a:p>
          <a:p/>
          <a:p>
            <a:r>
              <a:t>LECTURE NARRATION</a:t>
            </a:r>
          </a:p>
          <a:p>
            <a:r>
              <a:t>A simple one-level model is: The word additional is important. If the penalty already includes the hit lookup, adding hit time again double-counts it. For two levels, a common serial model is L1 hit time + L1 miss rate * (L2 access time + L2 local miss rate * memory penalty) . This model excludes overlap, out-of-order execution, bandwidth saturation, prefetching, and dependencies among requests. It is useful for accounting and comparisons, not a complete predictor of whole-program runtime.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simple one-level model is: The word additional is important.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32.2 Prefetching</a:t>
            </a:r>
          </a:p>
          <a:p/>
          <a:p>
            <a:r>
              <a:t>LECTURE NARRATION</a:t>
            </a:r>
          </a:p>
          <a:p>
            <a:r>
              <a:t>Prefetching requests data before demand needs it. Hardware may recognize access patterns; software can sometimes provide explicit hints. Effective prefetching hides latency when requests arrive early enough and the data remains useful until consumption. Prefetching too early can evict useful data. Prefetching too much wastes bandwidth and cache capacity. It also cannot remove a true dependency that prevents the future address from being known. Start with an access pattern that naturally exposes locality before adding architecture-specific hints.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prefetching requests data before demand needs it.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32.2 Prefetching — Deep Dive</a:t>
            </a:r>
          </a:p>
          <a:p/>
          <a:p>
            <a:r>
              <a:t>LECTURE NARRATION</a:t>
            </a:r>
          </a:p>
          <a:p>
            <a:r>
              <a:t>Prefetching requests data before demand needs it. Hardware may recognize access patterns; software can sometimes provide explicit hints. Effective prefetching hides latency when requests arrive early enough and the data remains useful until consumption. Prefetching too early can evict useful data. Prefetching too much wastes bandwidth and cache capacity. It also cannot remove a true dependency that prevents the future address from being known. Start with an access pattern that naturally exposes locality before adding architecture-specific hints.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prefetching requests data before demand needs it.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32.3 Batching</a:t>
            </a:r>
          </a:p>
          <a:p/>
          <a:p>
            <a:r>
              <a:t>LECTURE NARRATION</a:t>
            </a:r>
          </a:p>
          <a:p>
            <a:r>
              <a:t>Batching groups work so that setup and transfer costs are shared. Processing several records together can reuse metadata, amortize system calls, and expose independent memory operations. It can also increase latency for an individual record waiting for the batch to fill. Bound batch size by both resource capacity and service requirements. An unbounded batch can grow the working set beyond cache, delay cancellation, and exhaust memory. A useful batch is large enough to amortize overhead but small enough to preserve locality and responsiveness.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batching groups work so that setup and transfer costs are shared.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32.3 Batching — Deep Dive</a:t>
            </a:r>
          </a:p>
          <a:p/>
          <a:p>
            <a:r>
              <a:t>LECTURE NARRATION</a:t>
            </a:r>
          </a:p>
          <a:p>
            <a:r>
              <a:t>Batching groups work so that setup and transfer costs are shared. Processing several records together can reuse metadata, amortize system calls, and expose independent memory operations. It can also increase latency for an individual record waiting for the batch to fill. Bound batch size by both resource capacity and service requirements. An unbounded batch can grow the working set beyond cache, delay cancellation, and exhaust memory. A useful batch is large enough to amortize overhead but small enough to preserve locality and responsiveness.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batching groups work so that setup and transfer costs are shared.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32.4 Write coalescing</a:t>
            </a:r>
          </a:p>
          <a:p/>
          <a:p>
            <a:r>
              <a:t>LECTURE NARRATION</a:t>
            </a:r>
          </a:p>
          <a:p>
            <a:r>
              <a:t>Write coalescing combines nearby or repeated updates into fewer larger transfers. Updating several fields while a line is already present can avoid repeatedly acquiring and evicting it. Buffered file output similarly groups small writes before crossing the kernel boundary. Coalescing changes visibility and durability timing when buffering is involved. A program must still honor synchronization and persistence requirements. Do not delay a required publication or commit merely because a larger batch would be faster.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write coalescing combines nearby or repeated updates into fewer larger transfers.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32.4 Write coalescing — Deep Dive</a:t>
            </a:r>
          </a:p>
          <a:p/>
          <a:p>
            <a:r>
              <a:t>LECTURE NARRATION</a:t>
            </a:r>
          </a:p>
          <a:p>
            <a:r>
              <a:t>Write coalescing combines nearby or repeated updates into fewer larger transfers. Updating several fields while a line is already present can avoid repeatedly acquiring and evicting it. Buffered file output similarly groups small writes before crossing the kernel boundary. Coalescing changes visibility and durability timing when buffering is involved. A program must still honor synchronization and persistence requirements. Do not delay a required publication or commit merely because a larger batch would be faster.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write coalescing combines nearby or repeated updates into fewer larger transfers.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32.5 Cache-friendly data structures</a:t>
            </a:r>
          </a:p>
          <a:p/>
          <a:p>
            <a:r>
              <a:t>LECTURE NARRATION</a:t>
            </a:r>
          </a:p>
          <a:p>
            <a:r>
              <a:t>A cache-friendly structure places information used together close together and avoids loading large amounts of irrelevant state. Arrays often provide compact traversal. Pointer-rich structures provide flexible updates but can add indirection, allocation overhead, and unpredictable access. An array of structures is convenient when most fields of each record are used together. A structure of arrays can be better when a loop uses only one field across many records. Neither layout is universally superior. Let the hot operations determine which bytes should travel together.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32.5 Cache-friendly data structures — Deep Dive</a:t>
            </a:r>
          </a:p>
          <a:p/>
          <a:p>
            <a:r>
              <a:t>LECTURE NARRATION</a:t>
            </a:r>
          </a:p>
          <a:p>
            <a:r>
              <a:t>A cache-friendly structure places information used together close together and avoids loading large amounts of irrelevant state. Arrays often provide compact traversal. Pointer-rich structures provide flexible updates but can add indirection, allocation overhead, and unpredictable access. An array of structures is convenient when most fields of each record are used together. A structure of arrays can be better when a loop uses only one field across many records. Neither layout is universally superior. Let the hot operations determine which bytes should travel together.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32.6 Cache-friendly loops</a:t>
            </a:r>
          </a:p>
          <a:p/>
          <a:p>
            <a:r>
              <a:t>LECTURE NARRATION</a:t>
            </a:r>
          </a:p>
          <a:p>
            <a:r>
              <a:t>Cache-friendly loops traverse data in an order that preserves spatial and temporal reuse. Loop interchange can align traversal with physical layout. Blocking limits the active region. Hoisting invariant work reduces repeated computation and sometimes repeated loads. Transformations must preserve dependencies and language semantics. Reordering floating-point reductions can change results; reordering updates can break an algorithm with cross-iteration dependencies. Establish correctness constraints before treating the iteration space as freely rearrangeable.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32.6 Cache-friendly loops — Deep Dive</a:t>
            </a:r>
          </a:p>
          <a:p/>
          <a:p>
            <a:r>
              <a:t>LECTURE NARRATION</a:t>
            </a:r>
          </a:p>
          <a:p>
            <a:r>
              <a:t>Cache-friendly loops traverse data in an order that preserves spatial and temporal reuse. Loop interchange can align traversal with physical layout. Blocking limits the active region. Hoisting invariant work reduces repeated computation and sometimes repeated loads. Transformations must preserve dependencies and language semantics. Reordering floating-point reductions can change results; reordering updates can break an algorithm with cross-iteration dependencies. Establish correctness constraints before treating the iteration space as freely rearrangeable.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32.7 Locality optimization</a:t>
            </a:r>
          </a:p>
          <a:p/>
          <a:p>
            <a:r>
              <a:t>LECTURE NARRATION</a:t>
            </a:r>
          </a:p>
          <a:p>
            <a:r>
              <a:t>Locality optimization is a sequence: identify the hot phase, estimate its active data, inspect access order, propose a change, verify results, and measure under controlled conditions. Keep a baseline so that an appealing theory can be rejected when the data does not support it. Avoid changing several unrelated factors at once. Replacing a linked structure, changing allocation strategy, and altering the algorithm simultaneously makes it difficult to determine which change helped. A sequence of tested transformations produces more reliable conclusions and easier rollback.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32.7 Locality optimization — Deep Dive</a:t>
            </a:r>
          </a:p>
          <a:p/>
          <a:p>
            <a:r>
              <a:t>LECTURE NARRATION</a:t>
            </a:r>
          </a:p>
          <a:p>
            <a:r>
              <a:t>Locality optimization is a sequence: identify the hot phase, estimate its active data, inspect access order, propose a change, verify results, and measure under controlled conditions. Keep a baseline so that an appealing theory can be rejected when the data does not support it. Avoid changing several unrelated factors at once. Replacing a linked structure, changing allocation strategy, and altering the algorithm simultaneously makes it difficult to determine which change helped. A sequence of tested transformations produces more reliable conclusions and easier rollback.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A two-level AMAT calculation</a:t>
            </a:r>
          </a:p>
          <a:p/>
          <a:p>
            <a:r>
              <a:t>LECTURE NARRATION</a:t>
            </a:r>
          </a:p>
          <a:p>
            <a:r>
              <a:t>Assume an L1 hit time of 1 ns, an L1 miss rate of 5%, an L2 access time of 8 ns on L1 misses, an L2 local miss rate of 20%, and an additional memory penalty of 80 ns after an L2 miss. These are illustrative values , not measurements of a named processor. Now suppose a layout change reduces the L1 miss rate to 3% without changing other parameters. The modeled AMAT becomes 1 + 0.03 × 24 = 1.72 ns , a reduction of about 21.8% in this modeled access cost. It would be incorrect to promise a 21.8% whole-program speedup. If these accesses account for only half the original execution time and all other time remains unchanged, the new normalized time is 0.5 + 0.5*(1.72/2.2) , approximately 0.891. The implied speedup is about 1.122, or 12.2%, under those additional assumptions. Chapter 56 generalizes this reasoning with Amdahl’s law.</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an L1 hit time of 1 ns, an L1 miss rate of 5%, an L2 access time of 8 ns on L1 misses, an L2 local miss rate of 20%, and an additional memory penalty of 80 ns after an L2 miss.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A two-level AMAT calculation — Deep Dive</a:t>
            </a:r>
          </a:p>
          <a:p/>
          <a:p>
            <a:r>
              <a:t>LECTURE NARRATION</a:t>
            </a:r>
          </a:p>
          <a:p>
            <a:r>
              <a:t>Assume an L1 hit time of 1 ns, an L1 miss rate of 5%, an L2 access time of 8 ns on L1 misses, an L2 local miss rate of 20%, and an additional memory penalty of 80 ns after an L2 miss. These are illustrative values , not measurements of a named processor. Now suppose a layout change reduces the L1 miss rate to 3% without changing other parameters. The modeled AMAT becomes 1 + 0.03 × 24 = 1.72 ns , a reduction of about 21.8% in this modeled access cost. It would be incorrect to promise a 21.8% whole-program speedup. If these accesses account for only half the original execution time and all other time remains unchanged, the new normalized time is 0.5 + 0.5*(1.72/2.2) , approximately 0.891. The implied speedup is about 1.122, or 12.2%, under those additional assumptions. Chapter 56 generalizes this reasoning with Amdahl’s law.</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an L1 hit time of 1 ns, an L1 miss rate of 5%, an L2 access time of 8 ns on L1 misses, an L2 local miss rate of 20%, and an additional memory penalty of 80 ns after an L2 miss.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Average memory-access time</a:t>
            </a:r>
          </a:p>
          <a:p/>
          <a:p>
            <a:r>
              <a:t>LECTURE NARRATION</a:t>
            </a:r>
          </a:p>
          <a:p>
            <a:r>
              <a:t>If L1 hit time is 1 ns, miss rate is 5%, and miss penalty is 40 ns, a simple AMAT model is 1 + 0.05 × 40 = 3 ns . Reducing miss rate to 2% yields 1 + 0.02 × 40 = 1.8 ns . A small miss-rate change matters because the penalty is large relative to hit 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L1 hit time is 1 ns, miss rate is 5%, and miss penalty is 40 ns, a simple AMAT model is 1 + 0.05 × 40 = 3 ns .</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Average memory-access time — Deep Dive</a:t>
            </a:r>
          </a:p>
          <a:p/>
          <a:p>
            <a:r>
              <a:t>LECTURE NARRATION</a:t>
            </a:r>
          </a:p>
          <a:p>
            <a:r>
              <a:t>If L1 hit time is 1 ns, miss rate is 5%, and miss penalty is 40 ns, a simple AMAT model is 1 + 0.05 × 40 = 3 ns . Reducing miss rate to 2% yields 1 + 0.02 × 40 = 1.8 ns . A small miss-rate change matters because the penalty is large relative to hit 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L1 hit time is 1 ns, miss rate is 5%, and miss penalty is 40 ns, a simple AMAT model is 1 + 0.05 × 40 = 3 ns .</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Loop interchange for locality</a:t>
            </a:r>
          </a:p>
          <a:p/>
          <a:p>
            <a:r>
              <a:t>LECTURE NARRATION</a:t>
            </a:r>
          </a:p>
          <a:p>
            <a:r>
              <a:t>For a row-major 2D array, iterating columns inside rows accesses adjacent elements; iterating rows inside columns jumps by an entire row between accesses. Exchanging the loops can turn strided access into sequential access while preserving the mathematical operation when dependencies allow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a row-major 2D array, iterating columns inside rows accesses adjacent elements; iterating rows inside columns jumps by an entire row between accesses.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Loop interchange for locality — Deep Dive</a:t>
            </a:r>
          </a:p>
          <a:p/>
          <a:p>
            <a:r>
              <a:t>LECTURE NARRATION</a:t>
            </a:r>
          </a:p>
          <a:p>
            <a:r>
              <a:t>For a row-major 2D array, iterating columns inside rows accesses adjacent elements; iterating rows inside columns jumps by an entire row between accesses. Exchanging the loops can turn strided access into sequential access while preserving the mathematical operation when dependencies allow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a row-major 2D array, iterating columns inside rows accesses adjacent elements; iterating rows inside columns jumps by an entire row between accesses.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Guided lab and review</a:t>
            </a:r>
          </a:p>
          <a:p/>
          <a:p>
            <a:r>
              <a:t>LECTURE NARRATION</a:t>
            </a:r>
          </a:p>
          <a:p>
            <a:r>
              <a:t>Lab 32. Keep the original 5% L1 miss rate but reduce the L2 local miss rate to 10%. Calculate the new AMAT. Compare it with the layout-change scenario and explain why implementation cost still matters. Review 1. Why can a larger batch make latency worse? Review 2. Why is a miss-rate reduction not automatically the same percentage reduction in runtime?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32.</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Guided lab and review — Deep Dive</a:t>
            </a:r>
          </a:p>
          <a:p/>
          <a:p>
            <a:r>
              <a:t>LECTURE NARRATION</a:t>
            </a:r>
          </a:p>
          <a:p>
            <a:r>
              <a:t>Lab 32. Keep the original 5% L1 miss rate but reduce the L2 local miss rate to 10%. Calculate the new AMAT. Compare it with the layout-change scenario and explain why implementation cost still matters. Review 1. Why can a larger batch make latency worse? Review 2. Why is a miss-rate reduction not automatically the same percentage reduction in runtime?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32.</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Chapter Synthesis</a:t>
            </a:r>
          </a:p>
          <a:p/>
          <a:p>
            <a:r>
              <a:t>LECTURE NARRATION</a:t>
            </a:r>
          </a:p>
          <a:p>
            <a:r>
              <a:t>The chapter's central subject is cache performance.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cache performance.</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Files.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32 — Cache Performance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Cache-aware optimization begins with a cost model and ends with measurement.</a:t>
            </a:r>
          </a:p>
          <a:p>
            <a:pPr>
              <a:spcAft>
                <a:spcPts val="1100"/>
              </a:spcAft>
              <a:defRPr sz="1900">
                <a:solidFill>
                  <a:srgbClr val="F2F5F8"/>
                </a:solidFill>
              </a:defRPr>
            </a:pPr>
            <a:r>
              <a:t>• A model exposes which events matter; measurement determines whether those events dominate on the target machine.</a:t>
            </a:r>
          </a:p>
          <a:p>
            <a:pPr>
              <a:spcAft>
                <a:spcPts val="1100"/>
              </a:spcAft>
              <a:defRPr sz="1700">
                <a:solidFill>
                  <a:srgbClr val="F2F5F8"/>
                </a:solidFill>
              </a:defRPr>
            </a:pPr>
            <a:r>
              <a:t>• A change that reduces misses can still lose overall if it adds excessive computation, synchronization, or data movement elsewhere.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Cache Performance.</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32.1 Average memory-access time</a:t>
            </a:r>
          </a:p>
          <a:p>
            <a:pPr>
              <a:spcAft>
                <a:spcPts val="1100"/>
              </a:spcAft>
              <a:defRPr sz="1900">
                <a:solidFill>
                  <a:srgbClr val="F2F5F8"/>
                </a:solidFill>
              </a:defRPr>
            </a:pPr>
            <a:r>
              <a:t>• 32.2 Prefetching</a:t>
            </a:r>
          </a:p>
          <a:p>
            <a:pPr>
              <a:spcAft>
                <a:spcPts val="1100"/>
              </a:spcAft>
              <a:defRPr sz="1900">
                <a:solidFill>
                  <a:srgbClr val="F2F5F8"/>
                </a:solidFill>
              </a:defRPr>
            </a:pPr>
            <a:r>
              <a:t>• 32.3 Batching</a:t>
            </a:r>
          </a:p>
          <a:p>
            <a:pPr>
              <a:spcAft>
                <a:spcPts val="1100"/>
              </a:spcAft>
              <a:defRPr sz="1900">
                <a:solidFill>
                  <a:srgbClr val="F2F5F8"/>
                </a:solidFill>
              </a:defRPr>
            </a:pPr>
            <a:r>
              <a:t>• 32.4 Write coalescing</a:t>
            </a:r>
          </a:p>
          <a:p>
            <a:pPr>
              <a:spcAft>
                <a:spcPts val="1100"/>
              </a:spcAft>
              <a:defRPr sz="1900">
                <a:solidFill>
                  <a:srgbClr val="F2F5F8"/>
                </a:solidFill>
              </a:defRPr>
            </a:pPr>
            <a:r>
              <a:t>• ...plus 7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32.1 Average memory-access time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simple one-level model is:</a:t>
            </a:r>
          </a:p>
          <a:p>
            <a:pPr>
              <a:spcAft>
                <a:spcPts val="1100"/>
              </a:spcAft>
              <a:defRPr sz="1900">
                <a:solidFill>
                  <a:srgbClr val="F2F5F8"/>
                </a:solidFill>
              </a:defRPr>
            </a:pPr>
            <a:r>
              <a:t>• The word additional is important.</a:t>
            </a:r>
          </a:p>
          <a:p>
            <a:pPr>
              <a:spcAft>
                <a:spcPts val="1100"/>
              </a:spcAft>
              <a:defRPr sz="1900">
                <a:solidFill>
                  <a:srgbClr val="F2F5F8"/>
                </a:solidFill>
              </a:defRPr>
            </a:pPr>
            <a:r>
              <a:t>• If the penalty already includes the hit lookup, adding hit time again double-counts it.</a:t>
            </a:r>
          </a:p>
          <a:p>
            <a:pPr>
              <a:spcAft>
                <a:spcPts val="1100"/>
              </a:spcAft>
              <a:defRPr sz="1700">
                <a:solidFill>
                  <a:srgbClr val="F2F5F8"/>
                </a:solidFill>
              </a:defRPr>
            </a:pPr>
            <a:r>
              <a:t>• For two levels, a common serial model is L1 hit time + L1 miss rate * (L2 access time + L2 local miss rate * memory penalty)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32.1 Average memory-access time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word additional is important.</a:t>
            </a:r>
          </a:p>
          <a:p>
            <a:pPr>
              <a:spcAft>
                <a:spcPts val="1100"/>
              </a:spcAft>
              <a:defRPr sz="1900">
                <a:solidFill>
                  <a:srgbClr val="F2F5F8"/>
                </a:solidFill>
              </a:defRPr>
            </a:pPr>
            <a:r>
              <a:t>• If the penalty already includes the hit lookup, adding hit time again double-counts it.</a:t>
            </a:r>
          </a:p>
          <a:p>
            <a:pPr>
              <a:spcAft>
                <a:spcPts val="1100"/>
              </a:spcAft>
              <a:defRPr sz="1700">
                <a:solidFill>
                  <a:srgbClr val="F2F5F8"/>
                </a:solidFill>
              </a:defRPr>
            </a:pPr>
            <a:r>
              <a:t>• For two levels, a common serial model is L1 hit time + L1 miss rate * (L2 access time + L2 local miss rate * memory penalty) .</a:t>
            </a:r>
          </a:p>
          <a:p>
            <a:pPr>
              <a:spcAft>
                <a:spcPts val="1100"/>
              </a:spcAft>
              <a:defRPr sz="1700">
                <a:solidFill>
                  <a:srgbClr val="F2F5F8"/>
                </a:solidFill>
              </a:defRPr>
            </a:pPr>
            <a:r>
              <a:t>• This model excludes overlap, out-of-order execution, bandwidth saturation, prefetching, and dependencies among requests.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32.2 Prefetching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Prefetching requests data before demand needs it.</a:t>
            </a:r>
          </a:p>
          <a:p>
            <a:pPr>
              <a:spcAft>
                <a:spcPts val="1100"/>
              </a:spcAft>
              <a:defRPr sz="1900">
                <a:solidFill>
                  <a:srgbClr val="F2F5F8"/>
                </a:solidFill>
              </a:defRPr>
            </a:pPr>
            <a:r>
              <a:t>• Hardware may recognize access patterns; software can sometimes provide explicit hints.</a:t>
            </a:r>
          </a:p>
          <a:p>
            <a:pPr>
              <a:spcAft>
                <a:spcPts val="1100"/>
              </a:spcAft>
              <a:defRPr sz="1900">
                <a:solidFill>
                  <a:srgbClr val="F2F5F8"/>
                </a:solidFill>
              </a:defRPr>
            </a:pPr>
            <a:r>
              <a:t>• Effective prefetching hides latency when requests arrive early enough and the data remains useful until consumption.</a:t>
            </a:r>
          </a:p>
          <a:p>
            <a:pPr>
              <a:spcAft>
                <a:spcPts val="1100"/>
              </a:spcAft>
              <a:defRPr sz="1900">
                <a:solidFill>
                  <a:srgbClr val="F2F5F8"/>
                </a:solidFill>
              </a:defRPr>
            </a:pPr>
            <a:r>
              <a:t>• Prefetching too early can evict useful data.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32.2 Prefetching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Prefetching too early can evict useful data.</a:t>
            </a:r>
          </a:p>
          <a:p>
            <a:pPr>
              <a:spcAft>
                <a:spcPts val="1100"/>
              </a:spcAft>
              <a:defRPr sz="1900">
                <a:solidFill>
                  <a:srgbClr val="F2F5F8"/>
                </a:solidFill>
              </a:defRPr>
            </a:pPr>
            <a:r>
              <a:t>• Prefetching too much wastes bandwidth and cache capacity.</a:t>
            </a:r>
          </a:p>
          <a:p>
            <a:pPr>
              <a:spcAft>
                <a:spcPts val="1100"/>
              </a:spcAft>
              <a:defRPr sz="1900">
                <a:solidFill>
                  <a:srgbClr val="F2F5F8"/>
                </a:solidFill>
              </a:defRPr>
            </a:pPr>
            <a:r>
              <a:t>• It also cannot remove a true dependency that prevents the future address from being known.</a:t>
            </a:r>
          </a:p>
          <a:p>
            <a:pPr>
              <a:spcAft>
                <a:spcPts val="1100"/>
              </a:spcAft>
              <a:defRPr sz="1900">
                <a:solidFill>
                  <a:srgbClr val="F2F5F8"/>
                </a:solidFill>
              </a:defRPr>
            </a:pPr>
            <a:r>
              <a:t>• Start with an access pattern that naturally exposes locality before adding architecture-specific hints.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32.3 Batching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Batching groups work so that setup and transfer costs are shared.</a:t>
            </a:r>
          </a:p>
          <a:p>
            <a:pPr>
              <a:spcAft>
                <a:spcPts val="1100"/>
              </a:spcAft>
              <a:defRPr sz="1700">
                <a:solidFill>
                  <a:srgbClr val="F2F5F8"/>
                </a:solidFill>
              </a:defRPr>
            </a:pPr>
            <a:r>
              <a:t>• Processing several records together can reuse metadata, amortize system calls, and expose independent memory operations.</a:t>
            </a:r>
          </a:p>
          <a:p>
            <a:pPr>
              <a:spcAft>
                <a:spcPts val="1100"/>
              </a:spcAft>
              <a:defRPr sz="1900">
                <a:solidFill>
                  <a:srgbClr val="F2F5F8"/>
                </a:solidFill>
              </a:defRPr>
            </a:pPr>
            <a:r>
              <a:t>• It can also increase latency for an individual record waiting for the batch to fill.</a:t>
            </a:r>
          </a:p>
          <a:p>
            <a:pPr>
              <a:spcAft>
                <a:spcPts val="1100"/>
              </a:spcAft>
              <a:defRPr sz="1900">
                <a:solidFill>
                  <a:srgbClr val="F2F5F8"/>
                </a:solidFill>
              </a:defRPr>
            </a:pPr>
            <a:r>
              <a:t>• Bound batch size by both resource capacity and service requirements.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32.3 Batching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Bound batch size by both resource capacity and service requirements.</a:t>
            </a:r>
          </a:p>
          <a:p>
            <a:pPr>
              <a:spcAft>
                <a:spcPts val="1100"/>
              </a:spcAft>
              <a:defRPr sz="1900">
                <a:solidFill>
                  <a:srgbClr val="F2F5F8"/>
                </a:solidFill>
              </a:defRPr>
            </a:pPr>
            <a:r>
              <a:t>• An unbounded batch can grow the working set beyond cache, delay cancellation, and exhaust memory.</a:t>
            </a:r>
          </a:p>
          <a:p>
            <a:pPr>
              <a:spcAft>
                <a:spcPts val="1100"/>
              </a:spcAft>
              <a:defRPr sz="1900">
                <a:solidFill>
                  <a:srgbClr val="F2F5F8"/>
                </a:solidFill>
              </a:defRPr>
            </a:pPr>
            <a:r>
              <a:t>• A useful batch is large enough to amortize overhead but small enough to preserve locality and responsiveness.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32.4 Write coalescing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Write coalescing combines nearby or repeated updates into fewer larger transfers.</a:t>
            </a:r>
          </a:p>
          <a:p>
            <a:pPr>
              <a:spcAft>
                <a:spcPts val="1100"/>
              </a:spcAft>
              <a:defRPr sz="1900">
                <a:solidFill>
                  <a:srgbClr val="F2F5F8"/>
                </a:solidFill>
              </a:defRPr>
            </a:pPr>
            <a:r>
              <a:t>• Updating several fields while a line is already present can avoid repeatedly acquiring and evicting it.</a:t>
            </a:r>
          </a:p>
          <a:p>
            <a:pPr>
              <a:spcAft>
                <a:spcPts val="1100"/>
              </a:spcAft>
              <a:defRPr sz="1900">
                <a:solidFill>
                  <a:srgbClr val="F2F5F8"/>
                </a:solidFill>
              </a:defRPr>
            </a:pPr>
            <a:r>
              <a:t>• Buffered file output similarly groups small writes before crossing the kernel boundary.</a:t>
            </a:r>
          </a:p>
          <a:p>
            <a:pPr>
              <a:spcAft>
                <a:spcPts val="1100"/>
              </a:spcAft>
              <a:defRPr sz="1900">
                <a:solidFill>
                  <a:srgbClr val="F2F5F8"/>
                </a:solidFill>
              </a:defRPr>
            </a:pPr>
            <a:r>
              <a:t>• Coalescing changes visibility and durability timing when buffering is involved.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32.4 Write coalescing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Coalescing changes visibility and durability timing when buffering is involved.</a:t>
            </a:r>
          </a:p>
          <a:p>
            <a:pPr>
              <a:spcAft>
                <a:spcPts val="1100"/>
              </a:spcAft>
              <a:defRPr sz="1900">
                <a:solidFill>
                  <a:srgbClr val="F2F5F8"/>
                </a:solidFill>
              </a:defRPr>
            </a:pPr>
            <a:r>
              <a:t>• A program must still honor synchronization and persistence requirements.</a:t>
            </a:r>
          </a:p>
          <a:p>
            <a:pPr>
              <a:spcAft>
                <a:spcPts val="1100"/>
              </a:spcAft>
              <a:defRPr sz="1900">
                <a:solidFill>
                  <a:srgbClr val="F2F5F8"/>
                </a:solidFill>
              </a:defRPr>
            </a:pPr>
            <a:r>
              <a:t>• Do not delay a required publication or commit merely because a larger batch would be faster.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32.5 Cache-friendly data structures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cache-friendly structure places information used together close together and avoids loading large amounts of irrelevant state.</a:t>
            </a:r>
          </a:p>
          <a:p>
            <a:pPr>
              <a:spcAft>
                <a:spcPts val="1100"/>
              </a:spcAft>
              <a:defRPr sz="1900">
                <a:solidFill>
                  <a:srgbClr val="F2F5F8"/>
                </a:solidFill>
              </a:defRPr>
            </a:pPr>
            <a:r>
              <a:t>• Arrays often provide compact traversal.</a:t>
            </a:r>
          </a:p>
          <a:p>
            <a:pPr>
              <a:spcAft>
                <a:spcPts val="1100"/>
              </a:spcAft>
              <a:defRPr sz="1700">
                <a:solidFill>
                  <a:srgbClr val="F2F5F8"/>
                </a:solidFill>
              </a:defRPr>
            </a:pPr>
            <a:r>
              <a:t>• Pointer-rich structures provide flexible updates but can add indirection, allocation overhead, and unpredictable access.</a:t>
            </a:r>
          </a:p>
          <a:p>
            <a:pPr>
              <a:spcAft>
                <a:spcPts val="1100"/>
              </a:spcAft>
              <a:defRPr sz="1900">
                <a:solidFill>
                  <a:srgbClr val="F2F5F8"/>
                </a:solidFill>
              </a:defRPr>
            </a:pPr>
            <a:r>
              <a:t>• An array of structures is convenient when most fields of each record are used together.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32.5 Cache-friendly data structures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array of structures is convenient when most fields of each record are used together.</a:t>
            </a:r>
          </a:p>
          <a:p>
            <a:pPr>
              <a:spcAft>
                <a:spcPts val="1100"/>
              </a:spcAft>
              <a:defRPr sz="1900">
                <a:solidFill>
                  <a:srgbClr val="F2F5F8"/>
                </a:solidFill>
              </a:defRPr>
            </a:pPr>
            <a:r>
              <a:t>• A structure of arrays can be better when a loop uses only one field across many records.</a:t>
            </a:r>
          </a:p>
          <a:p>
            <a:pPr>
              <a:spcAft>
                <a:spcPts val="1100"/>
              </a:spcAft>
              <a:defRPr sz="1900">
                <a:solidFill>
                  <a:srgbClr val="F2F5F8"/>
                </a:solidFill>
              </a:defRPr>
            </a:pPr>
            <a:r>
              <a:t>• Neither layout is universally superior.</a:t>
            </a:r>
          </a:p>
          <a:p>
            <a:pPr>
              <a:spcAft>
                <a:spcPts val="1100"/>
              </a:spcAft>
              <a:defRPr sz="1900">
                <a:solidFill>
                  <a:srgbClr val="F2F5F8"/>
                </a:solidFill>
              </a:defRPr>
            </a:pPr>
            <a:r>
              <a:t>• Let the hot operations determine which bytes should travel together.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32.6 Cache-friendly loops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Cache-friendly loops traverse data in an order that preserves spatial and temporal reuse.</a:t>
            </a:r>
          </a:p>
          <a:p>
            <a:pPr>
              <a:spcAft>
                <a:spcPts val="1100"/>
              </a:spcAft>
              <a:defRPr sz="1900">
                <a:solidFill>
                  <a:srgbClr val="F2F5F8"/>
                </a:solidFill>
              </a:defRPr>
            </a:pPr>
            <a:r>
              <a:t>• Loop interchange can align traversal with physical layout.</a:t>
            </a:r>
          </a:p>
          <a:p>
            <a:pPr>
              <a:spcAft>
                <a:spcPts val="1100"/>
              </a:spcAft>
              <a:defRPr sz="1900">
                <a:solidFill>
                  <a:srgbClr val="F2F5F8"/>
                </a:solidFill>
              </a:defRPr>
            </a:pPr>
            <a:r>
              <a:t>• Blocking limits the active region.</a:t>
            </a:r>
          </a:p>
          <a:p>
            <a:pPr>
              <a:spcAft>
                <a:spcPts val="1100"/>
              </a:spcAft>
              <a:defRPr sz="1900">
                <a:solidFill>
                  <a:srgbClr val="F2F5F8"/>
                </a:solidFill>
              </a:defRPr>
            </a:pPr>
            <a:r>
              <a:t>• Hoisting invariant work reduces repeated computation and sometimes repeated loads.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32.6 Cache-friendly loops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Transformations must preserve dependencies and language semantics.</a:t>
            </a:r>
          </a:p>
          <a:p>
            <a:pPr>
              <a:spcAft>
                <a:spcPts val="1100"/>
              </a:spcAft>
              <a:defRPr sz="1700">
                <a:solidFill>
                  <a:srgbClr val="F2F5F8"/>
                </a:solidFill>
              </a:defRPr>
            </a:pPr>
            <a:r>
              <a:t>• Reordering floating-point reductions can change results; reordering updates can break an algorithm with cross-iteration dependencies.</a:t>
            </a:r>
          </a:p>
          <a:p>
            <a:pPr>
              <a:spcAft>
                <a:spcPts val="1100"/>
              </a:spcAft>
              <a:defRPr sz="1900">
                <a:solidFill>
                  <a:srgbClr val="F2F5F8"/>
                </a:solidFill>
              </a:defRPr>
            </a:pPr>
            <a:r>
              <a:t>• Establish correctness constraints before treating the iteration space as freely rearrangeable.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32.7 Locality optimization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Locality optimization is a sequence: identify the hot phase, estimate its active data, inspect access order, propose a change, verify results, and measure under controlled...</a:t>
            </a:r>
          </a:p>
          <a:p>
            <a:pPr>
              <a:spcAft>
                <a:spcPts val="1100"/>
              </a:spcAft>
              <a:defRPr sz="1900">
                <a:solidFill>
                  <a:srgbClr val="F2F5F8"/>
                </a:solidFill>
              </a:defRPr>
            </a:pPr>
            <a:r>
              <a:t>• Keep a baseline so that an appealing theory can be rejected when the data does not support it.</a:t>
            </a:r>
          </a:p>
          <a:p>
            <a:pPr>
              <a:spcAft>
                <a:spcPts val="1100"/>
              </a:spcAft>
              <a:defRPr sz="1900">
                <a:solidFill>
                  <a:srgbClr val="F2F5F8"/>
                </a:solidFill>
              </a:defRPr>
            </a:pPr>
            <a:r>
              <a:t>• Avoid changing several unrelated factors at once.</a:t>
            </a:r>
          </a:p>
          <a:p>
            <a:pPr>
              <a:spcAft>
                <a:spcPts val="1100"/>
              </a:spcAft>
              <a:defRPr sz="1700">
                <a:solidFill>
                  <a:srgbClr val="F2F5F8"/>
                </a:solidFill>
              </a:defRPr>
            </a:pPr>
            <a:r>
              <a:t>• Replacing a linked structure, changing allocation strategy, and altering the algorithm simultaneously makes it difficult to determine which change helped.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32.7 Locality optimization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Avoid changing several unrelated factors at once.</a:t>
            </a:r>
          </a:p>
          <a:p>
            <a:pPr>
              <a:spcAft>
                <a:spcPts val="1100"/>
              </a:spcAft>
              <a:defRPr sz="1700">
                <a:solidFill>
                  <a:srgbClr val="F2F5F8"/>
                </a:solidFill>
              </a:defRPr>
            </a:pPr>
            <a:r>
              <a:t>• Replacing a linked structure, changing allocation strategy, and altering the algorithm simultaneously makes it difficult to determine which change helped.</a:t>
            </a:r>
          </a:p>
          <a:p>
            <a:pPr>
              <a:spcAft>
                <a:spcPts val="1100"/>
              </a:spcAft>
              <a:defRPr sz="1900">
                <a:solidFill>
                  <a:srgbClr val="F2F5F8"/>
                </a:solidFill>
              </a:defRPr>
            </a:pPr>
            <a:r>
              <a:t>• A sequence of tested transformations produces more reliable conclusions and easier rollback.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 two-level AMAT calculation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Assume an L1 hit time of 1 ns, an L1 miss rate of 5%, an L2 access time of 8 ns on L1 misses, an L2 local miss rate of 20%, and an additional memory penalty of 80 ns after an...</a:t>
            </a:r>
          </a:p>
          <a:p>
            <a:pPr>
              <a:spcAft>
                <a:spcPts val="1100"/>
              </a:spcAft>
              <a:defRPr sz="1900">
                <a:solidFill>
                  <a:srgbClr val="F2F5F8"/>
                </a:solidFill>
              </a:defRPr>
            </a:pPr>
            <a:r>
              <a:t>• These are illustrative values , not measurements of a named processor.</a:t>
            </a:r>
          </a:p>
          <a:p>
            <a:pPr>
              <a:spcAft>
                <a:spcPts val="1100"/>
              </a:spcAft>
              <a:defRPr sz="1900">
                <a:solidFill>
                  <a:srgbClr val="F2F5F8"/>
                </a:solidFill>
              </a:defRPr>
            </a:pPr>
            <a:r>
              <a:t>• Now suppose a layout change reduces the L1 miss rate to 3% without changing other parameters.</a:t>
            </a:r>
          </a:p>
          <a:p>
            <a:pPr>
              <a:spcAft>
                <a:spcPts val="1100"/>
              </a:spcAft>
              <a:defRPr sz="1900">
                <a:solidFill>
                  <a:srgbClr val="F2F5F8"/>
                </a:solidFill>
              </a:defRPr>
            </a:pPr>
            <a:r>
              <a:t>• The modeled AMAT becomes 1 + 0.03 × 24 = 1.72 ns , a reduction of about 21.8% in this modeled access cost.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two-level AMAT calculation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Now suppose a layout change reduces the L1 miss rate to 3% without changing other parameters.</a:t>
            </a:r>
          </a:p>
          <a:p>
            <a:pPr>
              <a:spcAft>
                <a:spcPts val="1100"/>
              </a:spcAft>
              <a:defRPr sz="1900">
                <a:solidFill>
                  <a:srgbClr val="F2F5F8"/>
                </a:solidFill>
              </a:defRPr>
            </a:pPr>
            <a:r>
              <a:t>• The modeled AMAT becomes 1 + 0.03 × 24 = 1.72 ns , a reduction of about 21.8% in this modeled access cost.</a:t>
            </a:r>
          </a:p>
          <a:p>
            <a:pPr>
              <a:spcAft>
                <a:spcPts val="1100"/>
              </a:spcAft>
              <a:defRPr sz="1900">
                <a:solidFill>
                  <a:srgbClr val="F2F5F8"/>
                </a:solidFill>
              </a:defRPr>
            </a:pPr>
            <a:r>
              <a:t>• It would be incorrect to promise a 21.8% whole-program speedup.</a:t>
            </a:r>
          </a:p>
          <a:p>
            <a:pPr>
              <a:spcAft>
                <a:spcPts val="1100"/>
              </a:spcAft>
              <a:defRPr sz="1700">
                <a:solidFill>
                  <a:srgbClr val="F2F5F8"/>
                </a:solidFill>
              </a:defRPr>
            </a:pPr>
            <a:r>
              <a:t>• If these accesses account for only half the original execution time and all other time remains unchanged, the new normalized time is 0.5 + 0.5*(1.72/2.2) , approximately...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Average memory-access time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If L1 hit time is 1 ns, miss rate is 5%, and miss penalty is 40 ns, a simple AMAT model is 1 + 0.05 × 40 = 3 ns .</a:t>
            </a:r>
          </a:p>
          <a:p>
            <a:pPr>
              <a:spcAft>
                <a:spcPts val="1100"/>
              </a:spcAft>
              <a:defRPr sz="1900">
                <a:solidFill>
                  <a:srgbClr val="F2F5F8"/>
                </a:solidFill>
              </a:defRPr>
            </a:pPr>
            <a:r>
              <a:t>• Reducing miss rate to 2% yields 1 + 0.02 × 40 = 1.8 ns .</a:t>
            </a:r>
          </a:p>
          <a:p>
            <a:pPr>
              <a:spcAft>
                <a:spcPts val="1100"/>
              </a:spcAft>
              <a:defRPr sz="1900">
                <a:solidFill>
                  <a:srgbClr val="F2F5F8"/>
                </a:solidFill>
              </a:defRPr>
            </a:pPr>
            <a:r>
              <a:t>• A small miss-rate change matters because the penalty is large relative to hit 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Average memory-access time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If L1 hit time is 1 ns, miss rate is 5%, and miss penalty is 40 ns, a simple AMAT model is 1 + 0.05 × 40 = 3 ns .</a:t>
            </a:r>
          </a:p>
          <a:p>
            <a:pPr>
              <a:spcAft>
                <a:spcPts val="1100"/>
              </a:spcAft>
              <a:defRPr sz="1900">
                <a:solidFill>
                  <a:srgbClr val="F2F5F8"/>
                </a:solidFill>
              </a:defRPr>
            </a:pPr>
            <a:r>
              <a:t>• Reducing miss rate to 2% yields 1 + 0.02 × 40 = 1.8 ns .</a:t>
            </a:r>
          </a:p>
          <a:p>
            <a:pPr>
              <a:spcAft>
                <a:spcPts val="1100"/>
              </a:spcAft>
              <a:defRPr sz="1900">
                <a:solidFill>
                  <a:srgbClr val="F2F5F8"/>
                </a:solidFill>
              </a:defRPr>
            </a:pPr>
            <a:r>
              <a:t>• A small miss-rate change matters because the penalty is large relative to hit 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Loop interchange for locality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a row-major 2D array, iterating columns inside rows accesses adjacent elements; iterating rows inside columns jumps by an entire row between accesses.</a:t>
            </a:r>
          </a:p>
          <a:p>
            <a:pPr>
              <a:spcAft>
                <a:spcPts val="1100"/>
              </a:spcAft>
              <a:defRPr sz="1700">
                <a:solidFill>
                  <a:srgbClr val="F2F5F8"/>
                </a:solidFill>
              </a:defRPr>
            </a:pPr>
            <a:r>
              <a:t>• Exchanging the loops can turn strided access into sequential access while preserving the mathematical operation when dependencies allow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Loop interchange for locality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a row-major 2D array, iterating columns inside rows accesses adjacent elements; iterating rows inside columns jumps by an entire row between accesses.</a:t>
            </a:r>
          </a:p>
          <a:p>
            <a:pPr>
              <a:spcAft>
                <a:spcPts val="1100"/>
              </a:spcAft>
              <a:defRPr sz="1700">
                <a:solidFill>
                  <a:srgbClr val="F2F5F8"/>
                </a:solidFill>
              </a:defRPr>
            </a:pPr>
            <a:r>
              <a:t>• Exchanging the loops can turn strided access into sequential access while preserving the mathematical operation when dependencies allow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32.</a:t>
            </a:r>
          </a:p>
          <a:p>
            <a:pPr>
              <a:spcAft>
                <a:spcPts val="1100"/>
              </a:spcAft>
              <a:defRPr sz="1900">
                <a:solidFill>
                  <a:srgbClr val="F2F5F8"/>
                </a:solidFill>
              </a:defRPr>
            </a:pPr>
            <a:r>
              <a:t>• Keep the original 5% L1 miss rate but reduce the L2 local miss rate to 10%.</a:t>
            </a:r>
          </a:p>
          <a:p>
            <a:pPr>
              <a:spcAft>
                <a:spcPts val="1100"/>
              </a:spcAft>
              <a:defRPr sz="1900">
                <a:solidFill>
                  <a:srgbClr val="F2F5F8"/>
                </a:solidFill>
              </a:defRPr>
            </a:pPr>
            <a:r>
              <a:t>• Calculate the new AMAT.</a:t>
            </a:r>
          </a:p>
          <a:p>
            <a:pPr>
              <a:spcAft>
                <a:spcPts val="1100"/>
              </a:spcAft>
              <a:defRPr sz="1900">
                <a:solidFill>
                  <a:srgbClr val="F2F5F8"/>
                </a:solidFill>
              </a:defRPr>
            </a:pPr>
            <a:r>
              <a:t>• Compare it with the layout-change scenario and explain why implementation cost still matters.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can a larger batch make latency worse?</a:t>
            </a:r>
          </a:p>
          <a:p>
            <a:pPr>
              <a:spcAft>
                <a:spcPts val="1100"/>
              </a:spcAft>
              <a:defRPr sz="1900">
                <a:solidFill>
                  <a:srgbClr val="F2F5F8"/>
                </a:solidFill>
              </a:defRPr>
            </a:pPr>
            <a:r>
              <a:t>• Review 2.</a:t>
            </a:r>
          </a:p>
          <a:p>
            <a:pPr>
              <a:spcAft>
                <a:spcPts val="1100"/>
              </a:spcAft>
              <a:defRPr sz="1900">
                <a:solidFill>
                  <a:srgbClr val="F2F5F8"/>
                </a:solidFill>
              </a:defRPr>
            </a:pPr>
            <a:r>
              <a:t>• Why is a miss-rate reduction not automatically the same percentage reduction in runtime?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cache performance.</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Files.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32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