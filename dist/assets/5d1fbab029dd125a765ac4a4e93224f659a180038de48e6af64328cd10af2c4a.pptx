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11 — Memory Errors</a:t>
            </a:r>
          </a:p>
          <a:p/>
          <a:p>
            <a:r>
              <a:t>LECTURE NARRATION</a:t>
            </a:r>
          </a:p>
          <a:p>
            <a:r>
              <a:t>Memory errors are violations of object boundaries, lifetime, initialization, or ownership. Their visible symptoms can occur far from their cause. A write beyond one buffer may corrupt a pointer that fails minutes later. The most effective debugging approach identifies the first invalid operation rather than explaining only the final crash.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errors are violations of object boundaries, lifetime, initialization, or ownership.</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Memory errors are violations of object boundaries, lifetime, initialization, or ownership. Their visible symptoms can occur far from their cause. A write beyond one buffer may corrupt a pointer that fails minutes later. The most effective debugging approach identifies the first invalid operation rather than explaining only the final crash.</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memory errors are violations of object boundaries, lifetime, initialization, or ownership.</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11.1 Buffer overflow 11.2 Out-of-bounds access 11.3 Memory leaks 11.4 Double free ...plus 10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11.1 Buffer overflow 11.2 Out-of-bounds access 11.3 Memory leaks 11.4 Double free ...plus 10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11.1 Buffer overflow</a:t>
            </a:r>
          </a:p>
          <a:p/>
          <a:p>
            <a:r>
              <a:t>LECTURE NARRATION</a:t>
            </a:r>
          </a:p>
          <a:p>
            <a:r>
              <a:t>A buffer overflow writes more data than a buffer can hold. The relevant bound is the actual destination capacity, not a claimed input length. A safe copy needs agreement among source availability, destination capacity, and requested count. String operations add another requirement: space for the terminator when the result must be a C string. A ten-character payload needs eleven bytes in that representation. Prefer length-aware interfaces and verify arithmetic before allocation. A bounded function can still be misused if the supplied bound describes the source instead of the destination.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overflow writes more data than a buffer can hold.</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11.1 Buffer overflow — Deep Dive</a:t>
            </a:r>
          </a:p>
          <a:p/>
          <a:p>
            <a:r>
              <a:t>LECTURE NARRATION</a:t>
            </a:r>
          </a:p>
          <a:p>
            <a:r>
              <a:t>A buffer overflow writes more data than a buffer can hold. The relevant bound is the actual destination capacity, not a claimed input length. A safe copy needs agreement among source availability, destination capacity, and requested count. String operations add another requirement: space for the terminator when the result must be a C string. A ten-character payload needs eleven bytes in that representation. Prefer length-aware interfaces and verify arithmetic before allocation. A bounded function can still be misused if the supplied bound describes the source instead of the destination.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overflow writes more data than a buffer can hold.</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11.2 Out-of-bounds access</a:t>
            </a:r>
          </a:p>
          <a:p/>
          <a:p>
            <a:r>
              <a:t>LECTURE NARRATION</a:t>
            </a:r>
          </a:p>
          <a:p>
            <a:r>
              <a:t>An out-of-bounds read or write accesses outside an object’s permitted range. Reads matter as much as writes: they can disclose data, fault, or influence control flow using unrelated bytes. A read that remains within a mapped page can still violate the language’s rules. Check indices before forming an invalid pointer. For a region described by offset and length, use the guarded subtraction pattern from Chapter 4. In multidimensional code, validate every dimension and stride relationship. A valid row index does not rescue an invalid column index that happens to land inside neighboring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out-of-bounds read or write accesses outside an object’s permitted range.</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11.2 Out-of-bounds access — Deep Dive</a:t>
            </a:r>
          </a:p>
          <a:p/>
          <a:p>
            <a:r>
              <a:t>LECTURE NARRATION</a:t>
            </a:r>
          </a:p>
          <a:p>
            <a:r>
              <a:t>An out-of-bounds read or write accesses outside an object’s permitted range. Reads matter as much as writes: they can disclose data, fault, or influence control flow using unrelated bytes. A read that remains within a mapped page can still violate the language’s rules. Check indices before forming an invalid pointer. For a region described by offset and length, use the guarded subtraction pattern from Chapter 4. In multidimensional code, validate every dimension and stride relationship. A valid row index does not rescue an invalid column index that happens to land inside neighboring storage.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out-of-bounds read or write accesses outside an object’s permitted range.</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11.3 Memory leaks</a:t>
            </a:r>
          </a:p>
          <a:p/>
          <a:p>
            <a:r>
              <a:t>LECTURE NARRATION</a:t>
            </a:r>
          </a:p>
          <a:p>
            <a:r>
              <a:t>A leak occurs when storage remains allocated without a reachable ownership path that will release it when required. Losing a pointer is a common cause, but a reachable container that grows forever can also create a practical retention problem even when a leak detector sees it as reachable memory. Distinguish accidental leaks from intentional caches and from unbounded retention. Measure live object counts and ownership paths, not only process resident size. A cache needs a limit and eviction policy. An ownership cycle needs a way to break the cycle. “The operating system frees it at exit” does not justify unbounded growth in a long-running service.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leak occurs when storage remains allocated without a reachable ownership path that will release it when required.</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11.3 Memory leaks — Deep Dive</a:t>
            </a:r>
          </a:p>
          <a:p/>
          <a:p>
            <a:r>
              <a:t>LECTURE NARRATION</a:t>
            </a:r>
          </a:p>
          <a:p>
            <a:r>
              <a:t>A leak occurs when storage remains allocated without a reachable ownership path that will release it when required. Losing a pointer is a common cause, but a reachable container that grows forever can also create a practical retention problem even when a leak detector sees it as reachable memory. Distinguish accidental leaks from intentional caches and from unbounded retention. Measure live object counts and ownership paths, not only process resident size. A cache needs a limit and eviction policy. An ownership cycle needs a way to break the cycle. “The operating system frees it at exit” does not justify unbounded growth in a long-running service.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leak occurs when storage remains allocated without a reachable ownership path that will release it when required.</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11.4 Double free</a:t>
            </a:r>
          </a:p>
          <a:p/>
          <a:p>
            <a:r>
              <a:t>LECTURE NARRATION</a:t>
            </a:r>
          </a:p>
          <a:p>
            <a:r>
              <a:t>A double free releases the same allocation more than once. It often arises when two components both believe they own a raw pointer, or when a cleanup path runs after an earlier release without updating ownership state. The repair is a single ownership protocol, not merely adding scattered null checks. After ownership transfer, the previous owner must no longer release. In C++, move-only resource wrappers make this rule visible in the type system. In C, document transfer and reset the owning state in a disciplined way while remembering that unrelated aliases remain unchanged.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double free releases the same allocation more than once.</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11.4 Double free — Deep Dive</a:t>
            </a:r>
          </a:p>
          <a:p/>
          <a:p>
            <a:r>
              <a:t>LECTURE NARRATION</a:t>
            </a:r>
          </a:p>
          <a:p>
            <a:r>
              <a:t>A double free releases the same allocation more than once. It often arises when two components both believe they own a raw pointer, or when a cleanup path runs after an earlier release without updating ownership state. The repair is a single ownership protocol, not merely adding scattered null checks. After ownership transfer, the previous owner must no longer release. In C++, move-only resource wrappers make this rule visible in the type system. In C, document transfer and reset the owning state in a disciplined way while remembering that unrelated aliases remain unchanged.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double free releases the same allocation more than once.</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11.5 Invalid free</a:t>
            </a:r>
          </a:p>
          <a:p/>
          <a:p>
            <a:r>
              <a:t>LECTURE NARRATION</a:t>
            </a:r>
          </a:p>
          <a:p>
            <a:r>
              <a:t>An invalid free passes a pointer that is not a currently releasable allocation from the matching family. Interior pointers, stack addresses, and pointers from a different allocator are common examples. The allocator’s metadata lookup can be corrupted or confused by such inputs. A function returning a borrowed interior pointer should not expose an interface that suggests ownership. Name and document it as a view. Where several allocators exist, keep the release operation with the owner or use a deleter that records the matching mechanism. Allocation provenance is part of the resource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invalid free passes a pointer that is not a currently releasable allocation from the matching family.</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11.5 Invalid free — Deep Dive</a:t>
            </a:r>
          </a:p>
          <a:p/>
          <a:p>
            <a:r>
              <a:t>LECTURE NARRATION</a:t>
            </a:r>
          </a:p>
          <a:p>
            <a:r>
              <a:t>An invalid free passes a pointer that is not a currently releasable allocation from the matching family. Interior pointers, stack addresses, and pointers from a different allocator are common examples. The allocator’s metadata lookup can be corrupted or confused by such inputs. A function returning a borrowed interior pointer should not expose an interface that suggests ownership. Name and document it as a view. Where several allocators exist, keep the release operation with the owner or use a deleter that records the matching mechanism. Allocation provenance is part of the resource contract.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invalid free passes a pointer that is not a currently releasable allocation from the matching family.</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11.6 Use-after-free</a:t>
            </a:r>
          </a:p>
          <a:p/>
          <a:p>
            <a:r>
              <a:t>LECTURE NARRATION</a:t>
            </a:r>
          </a:p>
          <a:p>
            <a:r>
              <a:t>Use-after-free accesses storage after its allocation has been released. The storage may retain old bytes, be reused for a different object, or become inaccessible. None of those physical outcomes restores the old access’s validity. Concurrent use-after-free is especially subtle. One thread can validate a pointer while another releases the target before the first dereferences it. Protect the lifetime across the entire access interval with ownership, locking, or a carefully designed reclamation scheme. Atomic pointer loads alone do not keep the pointed-to object alive.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use-after-free accesses storage after its allocation has been released.</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11.6 Use-after-free — Deep Dive</a:t>
            </a:r>
          </a:p>
          <a:p/>
          <a:p>
            <a:r>
              <a:t>LECTURE NARRATION</a:t>
            </a:r>
          </a:p>
          <a:p>
            <a:r>
              <a:t>Use-after-free accesses storage after its allocation has been released. The storage may retain old bytes, be reused for a different object, or become inaccessible. None of those physical outcomes restores the old access’s validity. Concurrent use-after-free is especially subtle. One thread can validate a pointer while another releases the target before the first dereferences it. Protect the lifetime across the entire access interval with ownership, locking, or a carefully designed reclamation scheme. Atomic pointer loads alone do not keep the pointed-to object alive.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use-after-free accesses storage after its allocation has been released.</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11.7 Dangling pointers</a:t>
            </a:r>
          </a:p>
          <a:p/>
          <a:p>
            <a:r>
              <a:t>LECTURE NARRATION</a:t>
            </a:r>
          </a:p>
          <a:p>
            <a:r>
              <a:t>A dangling pointer or reference outlives the object it designates. It can result from returning a local address, destroying an owner, reallocating a vector, or resetting an arena. The pointer variable itself may remain perfectly intact. Track invalidation events in interface documentation and code review. A function that returns a view into a container should specify which mutations invalidate it. Avoid storing borrowed views in long-lived objects unless the owner’s lifetime relationship is explicit and enforceable. Lifetime bugs become easier to prevent when the design limits how far a borrow can travel.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11.7 Dangling pointers — Deep Dive</a:t>
            </a:r>
          </a:p>
          <a:p/>
          <a:p>
            <a:r>
              <a:t>LECTURE NARRATION</a:t>
            </a:r>
          </a:p>
          <a:p>
            <a:r>
              <a:t>A dangling pointer or reference outlives the object it designates. It can result from returning a local address, destroying an owner, reallocating a vector, or resetting an arena. The pointer variable itself may remain perfectly intact. Track invalidation events in interface documentation and code review. A function that returns a view into a container should specify which mutations invalidate it. Avoid storing borrowed views in long-lived objects unless the owner’s lifetime relationship is explicit and enforceable. Lifetime bugs become easier to prevent when the design limits how far a borrow can travel.</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Think of an address written on a note: the note can tell you where to look, but it does not prove the thing is still there or that you are allowed to use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11.8 Uninitialized memory</a:t>
            </a:r>
          </a:p>
          <a:p/>
          <a:p>
            <a:r>
              <a:t>LECTURE NARRATION</a:t>
            </a:r>
          </a:p>
          <a:p>
            <a:r>
              <a:t>Raw allocation does not initialize its payload, and many automatic scalar declarations do not establish a usable value. Reading an indeterminate scalar value is generally invalid in the language modes used here, with narrow special rules that are not a basis for ordinary application logic. Initialize before use, but do not confuse initialization with semantic validation. A zeroed length can be a valid default while a zeroed state tag may still be invalid for the protocol. Tools for uninitialized-value tracking complement address sanitizers because staying within allocated storage does not guarantee that the bytes have been meaningfully initialized.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raw allocation does not initialize its payload, and many automatic scalar declarations do not establish a usable value.</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11.8 Uninitialized memory — Deep Dive</a:t>
            </a:r>
          </a:p>
          <a:p/>
          <a:p>
            <a:r>
              <a:t>LECTURE NARRATION</a:t>
            </a:r>
          </a:p>
          <a:p>
            <a:r>
              <a:t>Raw allocation does not initialize its payload, and many automatic scalar declarations do not establish a usable value. Reading an indeterminate scalar value is generally invalid in the language modes used here, with narrow special rules that are not a basis for ordinary application logic. Initialize before use, but do not confuse initialization with semantic validation. A zeroed length can be a valid default while a zeroed state tag may still be invalid for the protocol. Tools for uninitialized-value tracking complement address sanitizers because staying within allocated storage does not guarantee that the bytes have been meaningfully initialized.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raw allocation does not initialize its payload, and many automatic scalar declarations do not establish a usable value.</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11.9 Undefined behavior</a:t>
            </a:r>
          </a:p>
          <a:p/>
          <a:p>
            <a:r>
              <a:t>LECTURE NARRATION</a:t>
            </a:r>
          </a:p>
          <a:p>
            <a:r>
              <a:t>Undefined behavior means the language imposes no requirements on the program’s behavior for the offending execution. It is not a promise to wrap, crash, throw, or continue with a random value. Optimizations can rely on the assumption that valid programs do not perform the invalid operation. This is why an apparently harmless out-of-bounds access can change unrelated-looking code after optimization. The right response is to remove the invalid operation, not to demand that the compiler preserve one observed accident. Debug and release builds are different experiments; both must implement a program whose source-level behavior is defined.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undefined behavior means the language imposes no requirements on the program’s behavior for the offending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11.9 Undefined behavior — Deep Dive</a:t>
            </a:r>
          </a:p>
          <a:p/>
          <a:p>
            <a:r>
              <a:t>LECTURE NARRATION</a:t>
            </a:r>
          </a:p>
          <a:p>
            <a:r>
              <a:t>Undefined behavior means the language imposes no requirements on the program’s behavior for the offending execution. It is not a promise to wrap, crash, throw, or continue with a random value. Optimizations can rely on the assumption that valid programs do not perform the invalid operation. This is why an apparently harmless out-of-bounds access can change unrelated-looking code after optimization. The right response is to remove the invalid operation, not to demand that the compiler preserve one observed accident. Debug and release builds are different experiments; both must implement a program whose source-level behavior is defined.</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undefined behavior means the language imposes no requirements on the program’s behavior for the offending execution.</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11.10 Sanitizers</a:t>
            </a:r>
          </a:p>
          <a:p/>
          <a:p>
            <a:r>
              <a:t>LECTURE NARRATION</a:t>
            </a:r>
          </a:p>
          <a:p>
            <a:r>
              <a:t>AddressSanitizer instruments memory accesses and allocation boundaries to detect classes such as heap and stack out-of-bounds access and use-after-free. UndefinedBehaviorSanitizer targets selected language violations. ThreadSanitizer tracks data races. Their coverage and limitations differ, and some configurations cannot be combined. [ R5 , R6 ] A clean sanitizer run covers only executed paths and the checks enabled in that build. Some lifetime, intra-object, protocol, and logical errors remain outside a tool’s detection. Use sanitizers alongside warnings, tests, fuzzing of parsers, ownership design, and review. Instrumented performance is not production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addressSanitizer instruments memory accesses and allocation boundaries to detect classes such as heap and stack out-of-bounds access and use-after-free.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11.10 Sanitizers — Deep Dive</a:t>
            </a:r>
          </a:p>
          <a:p/>
          <a:p>
            <a:r>
              <a:t>LECTURE NARRATION</a:t>
            </a:r>
          </a:p>
          <a:p>
            <a:r>
              <a:t>AddressSanitizer instruments memory accesses and allocation boundaries to detect classes such as heap and stack out-of-bounds access and use-after-free. UndefinedBehaviorSanitizer targets selected language violations. ThreadSanitizer tracks data races. Their coverage and limitations differ, and some configurations cannot be combined. [ R5 , R6 ] A clean sanitizer run covers only executed paths and the checks enabled in that build. Some lifetime, intra-object, protocol, and logical errors remain outside a tool’s detection. Use sanitizers alongside warnings, tests, fuzzing of parsers, ownership design, and review. Instrumented performance is not production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addressSanitizer instruments memory accesses and allocation boundaries to detect classes such as heap and stack out-of-bounds access and use-after-free.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Replacing an unchecked copy contract</a:t>
            </a:r>
          </a:p>
          <a:p/>
          <a:p>
            <a:r>
              <a:t>LECTURE NARRATION</a:t>
            </a:r>
          </a:p>
          <a:p>
            <a:r>
              <a:t>The requirement is to copy exactly the available source bytes into a destination only when the destination is large enough. Failure must leave the destination unchanged. A bounded range interface makes both extents explicit. Companion listing: ch11/bounded_copy.cpp The three-byte source cannot fit in the two-byte destination. The function rejects the request before writing anything. The exact-size destination succeeds, and every byte is compared against the source. The interface explicitly requires nonoverlapping ranges; supporting overlap would call for a different copy contract, such as an appropriately bounded memmove operation. This example addresses one class of failure without claiming to validate arbitrary pointers. The spans must already describe live accessible objects. A size check cannot repair a dangling span. Safety comes from combining ownership, valid range construction, and local bounds checks.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copy exactly the available source bytes into a destination only when the destination is large enough.</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Replacing an unchecked copy contract — Deep Dive</a:t>
            </a:r>
          </a:p>
          <a:p/>
          <a:p>
            <a:r>
              <a:t>LECTURE NARRATION</a:t>
            </a:r>
          </a:p>
          <a:p>
            <a:r>
              <a:t>The requirement is to copy exactly the available source bytes into a destination only when the destination is large enough. Failure must leave the destination unchanged. A bounded range interface makes both extents explicit. Companion listing: ch11/bounded_copy.cpp The three-byte source cannot fit in the two-byte destination. The function rejects the request before writing anything. The exact-size destination succeeds, and every byte is compared against the source. The interface explicitly requires nonoverlapping ranges; supporting overlap would call for a different copy contract, such as an appropriately bounded memmove operation. This example addresses one class of failure without claiming to validate arbitrary pointers. The spans must already describe live accessible objects. A size check cannot repair a dangling span. Safety comes from combining ownership, valid range construction, and local bounds checks.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requirement is to copy exactly the available source bytes into a destination only when the destination is large enough.</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Worked example — Finding an off-by-one overflow</a:t>
            </a:r>
          </a:p>
          <a:p/>
          <a:p>
            <a:r>
              <a:t>LECTURE NARRATION</a:t>
            </a:r>
          </a:p>
          <a:p>
            <a:r>
              <a:t>A buffer char b[8] has valid indices 0 through 7. Writing b[8]='\0' is already out of bounds even if the program does not crash. The correct maximum payload for a C string requiring a terminator is seven characters. Capacity calculations must reserve the terminator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char b[8] has valid indices 0 through 7.</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Worked example — Finding an off-by-one overflow — Deep Dive</a:t>
            </a:r>
          </a:p>
          <a:p/>
          <a:p>
            <a:r>
              <a:t>LECTURE NARRATION</a:t>
            </a:r>
          </a:p>
          <a:p>
            <a:r>
              <a:t>A buffer char b[8] has valid indices 0 through 7. Writing b[8]='\0' is already out of bounds even if the program does not crash. The correct maximum payload for a C string requiring a terminator is seven characters. Capacity calculations must reserve the terminator explicitly.</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buffer char b[8] has valid indices 0 through 7.</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Worked example — Diagnosing use-after-free</a:t>
            </a:r>
          </a:p>
          <a:p/>
          <a:p>
            <a:r>
              <a:t>LECTURE NARRATION</a:t>
            </a:r>
          </a:p>
          <a:p>
            <a:r>
              <a:t>After free(p) , the numeric bits stored in p may remain unchanged, but the allocation lifetime has ended. Dereferencing p is invalid even if the allocator has not reused the region yet. Setting p=NULL can prevent some accidental reuse through that variable, but aliases may still exist. Ownership design, not pointer clearing alone, prevents the class of bug.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free(p) , the numeric bits stored in p may remain unchanged, but the allocation lifetime has ended.</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Worked example — Diagnosing use-after-free — Deep Dive</a:t>
            </a:r>
          </a:p>
          <a:p/>
          <a:p>
            <a:r>
              <a:t>LECTURE NARRATION</a:t>
            </a:r>
          </a:p>
          <a:p>
            <a:r>
              <a:t>After free(p) , the numeric bits stored in p may remain unchanged, but the allocation lifetime has ended. Dereferencing p is invalid even if the allocator has not reused the region yet. Setting p=NULL can prevent some accidental reuse through that variable, but aliases may still exist. Ownership design, not pointer clearing alone, prevents the class of bug.</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after free(p) , the numeric bits stored in p may remain unchanged, but the allocation lifetime has ended.</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Guided lab and review</a:t>
            </a:r>
          </a:p>
          <a:p/>
          <a:p>
            <a:r>
              <a:t>LECTURE NARRATION</a:t>
            </a:r>
          </a:p>
          <a:p>
            <a:r>
              <a:t>Lab 11. Run the companion examples under a supported address-and-undefined sanitizer build. Add tests for empty input, exact capacity, insufficient capacity, and a larger destination. Keep intentionally invalid experiments separate from the normal test suite and never infer correctness from the absence of a crash. Review 1. Why can a use-after-free remain inside mapped memory? Review 2. Why is a successful sanitizer run not a proof that an unexecuted error path is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11.</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Guided lab and review — Deep Dive</a:t>
            </a:r>
          </a:p>
          <a:p/>
          <a:p>
            <a:r>
              <a:t>LECTURE NARRATION</a:t>
            </a:r>
          </a:p>
          <a:p>
            <a:r>
              <a:t>Lab 11. Run the companion examples under a supported address-and-undefined sanitizer build. Add tests for empty input, exact capacity, insufficient capacity, and a larger destination. Keep intentionally invalid experiments separate from the normal test suite and never infer correctness from the absence of a crash. Review 1. Why can a use-after-free remain inside mapped memory? Review 2. Why is a successful sanitizer run not a proof that an unexecuted error path is safe?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11.</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Chapter Synthesis</a:t>
            </a:r>
          </a:p>
          <a:p/>
          <a:p>
            <a:r>
              <a:t>LECTURE NARRATION</a:t>
            </a:r>
          </a:p>
          <a:p>
            <a:r>
              <a:t>The chapter's central subject is memory errors.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memory errors.</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Instruction Set Architecture.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11 — Memory Errors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Memory errors are violations of object boundaries, lifetime, initialization, or ownership.</a:t>
            </a:r>
          </a:p>
          <a:p>
            <a:pPr>
              <a:spcAft>
                <a:spcPts val="1100"/>
              </a:spcAft>
              <a:defRPr sz="1900">
                <a:solidFill>
                  <a:srgbClr val="F2F5F8"/>
                </a:solidFill>
              </a:defRPr>
            </a:pPr>
            <a:r>
              <a:t>• Their visible symptoms can occur far from their cause.</a:t>
            </a:r>
          </a:p>
          <a:p>
            <a:pPr>
              <a:spcAft>
                <a:spcPts val="1100"/>
              </a:spcAft>
              <a:defRPr sz="1900">
                <a:solidFill>
                  <a:srgbClr val="F2F5F8"/>
                </a:solidFill>
              </a:defRPr>
            </a:pPr>
            <a:r>
              <a:t>• A write beyond one buffer may corrupt a pointer that fails minutes later.</a:t>
            </a:r>
          </a:p>
          <a:p>
            <a:pPr>
              <a:spcAft>
                <a:spcPts val="1100"/>
              </a:spcAft>
              <a:defRPr sz="1700">
                <a:solidFill>
                  <a:srgbClr val="F2F5F8"/>
                </a:solidFill>
              </a:defRPr>
            </a:pPr>
            <a:r>
              <a:t>• The most effective debugging approach identifies the first invalid operation rather than explaining only the final crash.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Memory Errors.</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11.1 Buffer overflow</a:t>
            </a:r>
          </a:p>
          <a:p>
            <a:pPr>
              <a:spcAft>
                <a:spcPts val="1100"/>
              </a:spcAft>
              <a:defRPr sz="1900">
                <a:solidFill>
                  <a:srgbClr val="F2F5F8"/>
                </a:solidFill>
              </a:defRPr>
            </a:pPr>
            <a:r>
              <a:t>• 11.2 Out-of-bounds access</a:t>
            </a:r>
          </a:p>
          <a:p>
            <a:pPr>
              <a:spcAft>
                <a:spcPts val="1100"/>
              </a:spcAft>
              <a:defRPr sz="1900">
                <a:solidFill>
                  <a:srgbClr val="F2F5F8"/>
                </a:solidFill>
              </a:defRPr>
            </a:pPr>
            <a:r>
              <a:t>• 11.3 Memory leaks</a:t>
            </a:r>
          </a:p>
          <a:p>
            <a:pPr>
              <a:spcAft>
                <a:spcPts val="1100"/>
              </a:spcAft>
              <a:defRPr sz="1900">
                <a:solidFill>
                  <a:srgbClr val="F2F5F8"/>
                </a:solidFill>
              </a:defRPr>
            </a:pPr>
            <a:r>
              <a:t>• 11.4 Double free</a:t>
            </a:r>
          </a:p>
          <a:p>
            <a:pPr>
              <a:spcAft>
                <a:spcPts val="1100"/>
              </a:spcAft>
              <a:defRPr sz="1900">
                <a:solidFill>
                  <a:srgbClr val="F2F5F8"/>
                </a:solidFill>
              </a:defRPr>
            </a:pPr>
            <a:r>
              <a:t>• ...plus 10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11.1 Buffer overflow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buffer overflow writes more data than a buffer can hold.</a:t>
            </a:r>
          </a:p>
          <a:p>
            <a:pPr>
              <a:spcAft>
                <a:spcPts val="1100"/>
              </a:spcAft>
              <a:defRPr sz="1900">
                <a:solidFill>
                  <a:srgbClr val="F2F5F8"/>
                </a:solidFill>
              </a:defRPr>
            </a:pPr>
            <a:r>
              <a:t>• The relevant bound is the actual destination capacity, not a claimed input length.</a:t>
            </a:r>
          </a:p>
          <a:p>
            <a:pPr>
              <a:spcAft>
                <a:spcPts val="1100"/>
              </a:spcAft>
              <a:defRPr sz="1900">
                <a:solidFill>
                  <a:srgbClr val="F2F5F8"/>
                </a:solidFill>
              </a:defRPr>
            </a:pPr>
            <a:r>
              <a:t>• A safe copy needs agreement among source availability, destination capacity, and requested count.</a:t>
            </a:r>
          </a:p>
          <a:p>
            <a:pPr>
              <a:spcAft>
                <a:spcPts val="1100"/>
              </a:spcAft>
              <a:defRPr sz="1900">
                <a:solidFill>
                  <a:srgbClr val="F2F5F8"/>
                </a:solidFill>
              </a:defRPr>
            </a:pPr>
            <a:r>
              <a:t>• String operations add another requirement: space for the terminator when the result must be a C string.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11.1 Buffer overflow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String operations add another requirement: space for the terminator when the result must be a C string.</a:t>
            </a:r>
          </a:p>
          <a:p>
            <a:pPr>
              <a:spcAft>
                <a:spcPts val="1100"/>
              </a:spcAft>
              <a:defRPr sz="1900">
                <a:solidFill>
                  <a:srgbClr val="F2F5F8"/>
                </a:solidFill>
              </a:defRPr>
            </a:pPr>
            <a:r>
              <a:t>• A ten-character payload needs eleven bytes in that representation.</a:t>
            </a:r>
          </a:p>
          <a:p>
            <a:pPr>
              <a:spcAft>
                <a:spcPts val="1100"/>
              </a:spcAft>
              <a:defRPr sz="1900">
                <a:solidFill>
                  <a:srgbClr val="F2F5F8"/>
                </a:solidFill>
              </a:defRPr>
            </a:pPr>
            <a:r>
              <a:t>• Prefer length-aware interfaces and verify arithmetic before allocation.</a:t>
            </a:r>
          </a:p>
          <a:p>
            <a:pPr>
              <a:spcAft>
                <a:spcPts val="1100"/>
              </a:spcAft>
              <a:defRPr sz="1900">
                <a:solidFill>
                  <a:srgbClr val="F2F5F8"/>
                </a:solidFill>
              </a:defRPr>
            </a:pPr>
            <a:r>
              <a:t>• A bounded function can still be misused if the supplied bound describes the source instead of the destination.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11.2 Out-of-bounds access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out-of-bounds read or write accesses outside an object’s permitted range.</a:t>
            </a:r>
          </a:p>
          <a:p>
            <a:pPr>
              <a:spcAft>
                <a:spcPts val="1100"/>
              </a:spcAft>
              <a:defRPr sz="1900">
                <a:solidFill>
                  <a:srgbClr val="F2F5F8"/>
                </a:solidFill>
              </a:defRPr>
            </a:pPr>
            <a:r>
              <a:t>• Reads matter as much as writes: they can disclose data, fault, or influence control flow using unrelated bytes.</a:t>
            </a:r>
          </a:p>
          <a:p>
            <a:pPr>
              <a:spcAft>
                <a:spcPts val="1100"/>
              </a:spcAft>
              <a:defRPr sz="1900">
                <a:solidFill>
                  <a:srgbClr val="F2F5F8"/>
                </a:solidFill>
              </a:defRPr>
            </a:pPr>
            <a:r>
              <a:t>• A read that remains within a mapped page can still violate the language’s rules.</a:t>
            </a:r>
          </a:p>
          <a:p>
            <a:pPr>
              <a:spcAft>
                <a:spcPts val="1100"/>
              </a:spcAft>
              <a:defRPr sz="1900">
                <a:solidFill>
                  <a:srgbClr val="F2F5F8"/>
                </a:solidFill>
              </a:defRPr>
            </a:pPr>
            <a:r>
              <a:t>• Check indices before forming an invalid pointer.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11.2 Out-of-bounds access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Check indices before forming an invalid pointer.</a:t>
            </a:r>
          </a:p>
          <a:p>
            <a:pPr>
              <a:spcAft>
                <a:spcPts val="1100"/>
              </a:spcAft>
              <a:defRPr sz="1900">
                <a:solidFill>
                  <a:srgbClr val="F2F5F8"/>
                </a:solidFill>
              </a:defRPr>
            </a:pPr>
            <a:r>
              <a:t>• For a region described by offset and length, use the guarded subtraction pattern from Chapter 4.</a:t>
            </a:r>
          </a:p>
          <a:p>
            <a:pPr>
              <a:spcAft>
                <a:spcPts val="1100"/>
              </a:spcAft>
              <a:defRPr sz="1900">
                <a:solidFill>
                  <a:srgbClr val="F2F5F8"/>
                </a:solidFill>
              </a:defRPr>
            </a:pPr>
            <a:r>
              <a:t>• In multidimensional code, validate every dimension and stride relationship.</a:t>
            </a:r>
          </a:p>
          <a:p>
            <a:pPr>
              <a:spcAft>
                <a:spcPts val="1100"/>
              </a:spcAft>
              <a:defRPr sz="1900">
                <a:solidFill>
                  <a:srgbClr val="F2F5F8"/>
                </a:solidFill>
              </a:defRPr>
            </a:pPr>
            <a:r>
              <a:t>• A valid row index does not rescue an invalid column index that happens to land inside neighboring storage.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11.3 Memory leaks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leak occurs when storage remains allocated without a reachable ownership path that will release it when required.</a:t>
            </a:r>
          </a:p>
          <a:p>
            <a:pPr>
              <a:spcAft>
                <a:spcPts val="1100"/>
              </a:spcAft>
              <a:defRPr sz="1700">
                <a:solidFill>
                  <a:srgbClr val="F2F5F8"/>
                </a:solidFill>
              </a:defRPr>
            </a:pPr>
            <a:r>
              <a:t>• Losing a pointer is a common cause, but a reachable container that grows forever can also create a practical retention problem even when a leak detector sees it as reachable...</a:t>
            </a:r>
          </a:p>
          <a:p>
            <a:pPr>
              <a:spcAft>
                <a:spcPts val="1100"/>
              </a:spcAft>
              <a:defRPr sz="1900">
                <a:solidFill>
                  <a:srgbClr val="F2F5F8"/>
                </a:solidFill>
              </a:defRPr>
            </a:pPr>
            <a:r>
              <a:t>• Distinguish accidental leaks from intentional caches and from unbounded retention.</a:t>
            </a:r>
          </a:p>
          <a:p>
            <a:pPr>
              <a:spcAft>
                <a:spcPts val="1100"/>
              </a:spcAft>
              <a:defRPr sz="1900">
                <a:solidFill>
                  <a:srgbClr val="F2F5F8"/>
                </a:solidFill>
              </a:defRPr>
            </a:pPr>
            <a:r>
              <a:t>• Measure live object counts and ownership paths, not only process resident size.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11.3 Memory leaks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Distinguish accidental leaks from intentional caches and from unbounded retention.</a:t>
            </a:r>
          </a:p>
          <a:p>
            <a:pPr>
              <a:spcAft>
                <a:spcPts val="1100"/>
              </a:spcAft>
              <a:defRPr sz="1900">
                <a:solidFill>
                  <a:srgbClr val="F2F5F8"/>
                </a:solidFill>
              </a:defRPr>
            </a:pPr>
            <a:r>
              <a:t>• Measure live object counts and ownership paths, not only process resident size.</a:t>
            </a:r>
          </a:p>
          <a:p>
            <a:pPr>
              <a:spcAft>
                <a:spcPts val="1100"/>
              </a:spcAft>
              <a:defRPr sz="1900">
                <a:solidFill>
                  <a:srgbClr val="F2F5F8"/>
                </a:solidFill>
              </a:defRPr>
            </a:pPr>
            <a:r>
              <a:t>• A cache needs a limit and eviction policy.</a:t>
            </a:r>
          </a:p>
          <a:p>
            <a:pPr>
              <a:spcAft>
                <a:spcPts val="1100"/>
              </a:spcAft>
              <a:defRPr sz="1700">
                <a:solidFill>
                  <a:srgbClr val="F2F5F8"/>
                </a:solidFill>
              </a:defRPr>
            </a:pPr>
            <a:r>
              <a:t>• An ownership cycle needs a way to break the cycle. “The operating system frees it at exit” does not justify unbounded growth in a long-running service.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11.4 Double 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double free releases the same allocation more than once.</a:t>
            </a:r>
          </a:p>
          <a:p>
            <a:pPr>
              <a:spcAft>
                <a:spcPts val="1100"/>
              </a:spcAft>
              <a:defRPr sz="1700">
                <a:solidFill>
                  <a:srgbClr val="F2F5F8"/>
                </a:solidFill>
              </a:defRPr>
            </a:pPr>
            <a:r>
              <a:t>• It often arises when two components both believe they own a raw pointer, or when a cleanup path runs after an earlier release without updating ownership state.</a:t>
            </a:r>
          </a:p>
          <a:p>
            <a:pPr>
              <a:spcAft>
                <a:spcPts val="1100"/>
              </a:spcAft>
              <a:defRPr sz="1900">
                <a:solidFill>
                  <a:srgbClr val="F2F5F8"/>
                </a:solidFill>
              </a:defRPr>
            </a:pPr>
            <a:r>
              <a:t>• The repair is a single ownership protocol, not merely adding scattered null checks.</a:t>
            </a:r>
          </a:p>
          <a:p>
            <a:pPr>
              <a:spcAft>
                <a:spcPts val="1100"/>
              </a:spcAft>
              <a:defRPr sz="1900">
                <a:solidFill>
                  <a:srgbClr val="F2F5F8"/>
                </a:solidFill>
              </a:defRPr>
            </a:pPr>
            <a:r>
              <a:t>• After ownership transfer, the previous owner must no longer release.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11.4 Double 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repair is a single ownership protocol, not merely adding scattered null checks.</a:t>
            </a:r>
          </a:p>
          <a:p>
            <a:pPr>
              <a:spcAft>
                <a:spcPts val="1100"/>
              </a:spcAft>
              <a:defRPr sz="1900">
                <a:solidFill>
                  <a:srgbClr val="F2F5F8"/>
                </a:solidFill>
              </a:defRPr>
            </a:pPr>
            <a:r>
              <a:t>• After ownership transfer, the previous owner must no longer release.</a:t>
            </a:r>
          </a:p>
          <a:p>
            <a:pPr>
              <a:spcAft>
                <a:spcPts val="1100"/>
              </a:spcAft>
              <a:defRPr sz="1900">
                <a:solidFill>
                  <a:srgbClr val="F2F5F8"/>
                </a:solidFill>
              </a:defRPr>
            </a:pPr>
            <a:r>
              <a:t>• In C++, move-only resource wrappers make this rule visible in the type system.</a:t>
            </a:r>
          </a:p>
          <a:p>
            <a:pPr>
              <a:spcAft>
                <a:spcPts val="1100"/>
              </a:spcAft>
              <a:defRPr sz="1700">
                <a:solidFill>
                  <a:srgbClr val="F2F5F8"/>
                </a:solidFill>
              </a:defRPr>
            </a:pPr>
            <a:r>
              <a:t>• In C, document transfer and reset the owning state in a disciplined way while remembering that unrelated aliases remain unchanged.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11.5 Invalid 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invalid free passes a pointer that is not a currently releasable allocation from the matching family.</a:t>
            </a:r>
          </a:p>
          <a:p>
            <a:pPr>
              <a:spcAft>
                <a:spcPts val="1100"/>
              </a:spcAft>
              <a:defRPr sz="1900">
                <a:solidFill>
                  <a:srgbClr val="F2F5F8"/>
                </a:solidFill>
              </a:defRPr>
            </a:pPr>
            <a:r>
              <a:t>• Interior pointers, stack addresses, and pointers from a different allocator are common examples.</a:t>
            </a:r>
          </a:p>
          <a:p>
            <a:pPr>
              <a:spcAft>
                <a:spcPts val="1100"/>
              </a:spcAft>
              <a:defRPr sz="1900">
                <a:solidFill>
                  <a:srgbClr val="F2F5F8"/>
                </a:solidFill>
              </a:defRPr>
            </a:pPr>
            <a:r>
              <a:t>• The allocator’s metadata lookup can be corrupted or confused by such inputs.</a:t>
            </a:r>
          </a:p>
          <a:p>
            <a:pPr>
              <a:spcAft>
                <a:spcPts val="1100"/>
              </a:spcAft>
              <a:defRPr sz="1900">
                <a:solidFill>
                  <a:srgbClr val="F2F5F8"/>
                </a:solidFill>
              </a:defRPr>
            </a:pPr>
            <a:r>
              <a:t>• A function returning a borrowed interior pointer should not expose an interface that suggests ownership.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11.5 Invalid 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function returning a borrowed interior pointer should not expose an interface that suggests ownership.</a:t>
            </a:r>
          </a:p>
          <a:p>
            <a:pPr>
              <a:spcAft>
                <a:spcPts val="1100"/>
              </a:spcAft>
              <a:defRPr sz="1900">
                <a:solidFill>
                  <a:srgbClr val="F2F5F8"/>
                </a:solidFill>
              </a:defRPr>
            </a:pPr>
            <a:r>
              <a:t>• Name and document it as a view.</a:t>
            </a:r>
          </a:p>
          <a:p>
            <a:pPr>
              <a:spcAft>
                <a:spcPts val="1100"/>
              </a:spcAft>
              <a:defRPr sz="1700">
                <a:solidFill>
                  <a:srgbClr val="F2F5F8"/>
                </a:solidFill>
              </a:defRPr>
            </a:pPr>
            <a:r>
              <a:t>• Where several allocators exist, keep the release operation with the owner or use a deleter that records the matching mechanism.</a:t>
            </a:r>
          </a:p>
          <a:p>
            <a:pPr>
              <a:spcAft>
                <a:spcPts val="1100"/>
              </a:spcAft>
              <a:defRPr sz="1900">
                <a:solidFill>
                  <a:srgbClr val="F2F5F8"/>
                </a:solidFill>
              </a:defRPr>
            </a:pPr>
            <a:r>
              <a:t>• Allocation provenance is part of the resource contract.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11.6 Use-after-free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Use-after-free accesses storage after its allocation has been released.</a:t>
            </a:r>
          </a:p>
          <a:p>
            <a:pPr>
              <a:spcAft>
                <a:spcPts val="1100"/>
              </a:spcAft>
              <a:defRPr sz="1900">
                <a:solidFill>
                  <a:srgbClr val="F2F5F8"/>
                </a:solidFill>
              </a:defRPr>
            </a:pPr>
            <a:r>
              <a:t>• The storage may retain old bytes, be reused for a different object, or become inaccessible.</a:t>
            </a:r>
          </a:p>
          <a:p>
            <a:pPr>
              <a:spcAft>
                <a:spcPts val="1100"/>
              </a:spcAft>
              <a:defRPr sz="1900">
                <a:solidFill>
                  <a:srgbClr val="F2F5F8"/>
                </a:solidFill>
              </a:defRPr>
            </a:pPr>
            <a:r>
              <a:t>• None of those physical outcomes restores the old access’s validity.</a:t>
            </a:r>
          </a:p>
          <a:p>
            <a:pPr>
              <a:spcAft>
                <a:spcPts val="1100"/>
              </a:spcAft>
              <a:defRPr sz="1900">
                <a:solidFill>
                  <a:srgbClr val="F2F5F8"/>
                </a:solidFill>
              </a:defRPr>
            </a:pPr>
            <a:r>
              <a:t>• Concurrent use-after-free is especially subtle.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11.6 Use-after-free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Concurrent use-after-free is especially subtle.</a:t>
            </a:r>
          </a:p>
          <a:p>
            <a:pPr>
              <a:spcAft>
                <a:spcPts val="1100"/>
              </a:spcAft>
              <a:defRPr sz="1900">
                <a:solidFill>
                  <a:srgbClr val="F2F5F8"/>
                </a:solidFill>
              </a:defRPr>
            </a:pPr>
            <a:r>
              <a:t>• One thread can validate a pointer while another releases the target before the first dereferences it.</a:t>
            </a:r>
          </a:p>
          <a:p>
            <a:pPr>
              <a:spcAft>
                <a:spcPts val="1100"/>
              </a:spcAft>
              <a:defRPr sz="1700">
                <a:solidFill>
                  <a:srgbClr val="F2F5F8"/>
                </a:solidFill>
              </a:defRPr>
            </a:pPr>
            <a:r>
              <a:t>• Protect the lifetime across the entire access interval with ownership, locking, or a carefully designed reclamation scheme.</a:t>
            </a:r>
          </a:p>
          <a:p>
            <a:pPr>
              <a:spcAft>
                <a:spcPts val="1100"/>
              </a:spcAft>
              <a:defRPr sz="1900">
                <a:solidFill>
                  <a:srgbClr val="F2F5F8"/>
                </a:solidFill>
              </a:defRPr>
            </a:pPr>
            <a:r>
              <a:t>• Atomic pointer loads alone do not keep the pointed-to object alive.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11.7 Dangling pointers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dangling pointer or reference outlives the object it designates.</a:t>
            </a:r>
          </a:p>
          <a:p>
            <a:pPr>
              <a:spcAft>
                <a:spcPts val="1100"/>
              </a:spcAft>
              <a:defRPr sz="1900">
                <a:solidFill>
                  <a:srgbClr val="F2F5F8"/>
                </a:solidFill>
              </a:defRPr>
            </a:pPr>
            <a:r>
              <a:t>• It can result from returning a local address, destroying an owner, reallocating a vector, or resetting an arena.</a:t>
            </a:r>
          </a:p>
          <a:p>
            <a:pPr>
              <a:spcAft>
                <a:spcPts val="1100"/>
              </a:spcAft>
              <a:defRPr sz="1900">
                <a:solidFill>
                  <a:srgbClr val="F2F5F8"/>
                </a:solidFill>
              </a:defRPr>
            </a:pPr>
            <a:r>
              <a:t>• The pointer variable itself may remain perfectly intact.</a:t>
            </a:r>
          </a:p>
          <a:p>
            <a:pPr>
              <a:spcAft>
                <a:spcPts val="1100"/>
              </a:spcAft>
              <a:defRPr sz="1900">
                <a:solidFill>
                  <a:srgbClr val="F2F5F8"/>
                </a:solidFill>
              </a:defRPr>
            </a:pPr>
            <a:r>
              <a:t>• Track invalidation events in interface documentation and code review.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11.7 Dangling pointers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Track invalidation events in interface documentation and code review.</a:t>
            </a:r>
          </a:p>
          <a:p>
            <a:pPr>
              <a:spcAft>
                <a:spcPts val="1100"/>
              </a:spcAft>
              <a:defRPr sz="1900">
                <a:solidFill>
                  <a:srgbClr val="F2F5F8"/>
                </a:solidFill>
              </a:defRPr>
            </a:pPr>
            <a:r>
              <a:t>• A function that returns a view into a container should specify which mutations invalidate it.</a:t>
            </a:r>
          </a:p>
          <a:p>
            <a:pPr>
              <a:spcAft>
                <a:spcPts val="1100"/>
              </a:spcAft>
              <a:defRPr sz="1700">
                <a:solidFill>
                  <a:srgbClr val="F2F5F8"/>
                </a:solidFill>
              </a:defRPr>
            </a:pPr>
            <a:r>
              <a:t>• Avoid storing borrowed views in long-lived objects unless the owner’s lifetime relationship is explicit and enforceable.</a:t>
            </a:r>
          </a:p>
          <a:p>
            <a:pPr>
              <a:spcAft>
                <a:spcPts val="1100"/>
              </a:spcAft>
              <a:defRPr sz="1900">
                <a:solidFill>
                  <a:srgbClr val="F2F5F8"/>
                </a:solidFill>
              </a:defRPr>
            </a:pPr>
            <a:r>
              <a:t>• Lifetime bugs become easier to prevent when the design limits how far a borrow can travel.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11.8 Uninitialized memory</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Raw allocation does not initialize its payload, and many automatic scalar declarations do not establish a usable value.</a:t>
            </a:r>
          </a:p>
          <a:p>
            <a:pPr>
              <a:spcAft>
                <a:spcPts val="1100"/>
              </a:spcAft>
              <a:defRPr sz="1700">
                <a:solidFill>
                  <a:srgbClr val="F2F5F8"/>
                </a:solidFill>
              </a:defRPr>
            </a:pPr>
            <a:r>
              <a:t>• Reading an indeterminate scalar value is generally invalid in the language modes used here, with narrow special rules that are not a basis for ordinary application logic.</a:t>
            </a:r>
          </a:p>
          <a:p>
            <a:pPr>
              <a:spcAft>
                <a:spcPts val="1100"/>
              </a:spcAft>
              <a:defRPr sz="1900">
                <a:solidFill>
                  <a:srgbClr val="F2F5F8"/>
                </a:solidFill>
              </a:defRPr>
            </a:pPr>
            <a:r>
              <a:t>• Initialize before use, but do not confuse initialization with semantic validation.</a:t>
            </a:r>
          </a:p>
          <a:p>
            <a:pPr>
              <a:spcAft>
                <a:spcPts val="1100"/>
              </a:spcAft>
              <a:defRPr sz="1900">
                <a:solidFill>
                  <a:srgbClr val="F2F5F8"/>
                </a:solidFill>
              </a:defRPr>
            </a:pPr>
            <a:r>
              <a:t>• A zeroed length can be a valid default while a zeroed state tag may still be invalid for the protocol.</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11.8 Uninitialized memory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Initialize before use, but do not confuse initialization with semantic validation.</a:t>
            </a:r>
          </a:p>
          <a:p>
            <a:pPr>
              <a:spcAft>
                <a:spcPts val="1100"/>
              </a:spcAft>
              <a:defRPr sz="1900">
                <a:solidFill>
                  <a:srgbClr val="F2F5F8"/>
                </a:solidFill>
              </a:defRPr>
            </a:pPr>
            <a:r>
              <a:t>• A zeroed length can be a valid default while a zeroed state tag may still be invalid for the protocol.</a:t>
            </a:r>
          </a:p>
          <a:p>
            <a:pPr>
              <a:spcAft>
                <a:spcPts val="1100"/>
              </a:spcAft>
              <a:defRPr sz="1700">
                <a:solidFill>
                  <a:srgbClr val="F2F5F8"/>
                </a:solidFill>
              </a:defRPr>
            </a:pPr>
            <a:r>
              <a:t>• Tools for uninitialized-value tracking complement address sanitizers because staying within allocated storage does not guarantee that the bytes have been meaningfully...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11.9 Undefined behavior</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Undefined behavior means the language imposes no requirements on the program’s behavior for the offending execution.</a:t>
            </a:r>
          </a:p>
          <a:p>
            <a:pPr>
              <a:spcAft>
                <a:spcPts val="1100"/>
              </a:spcAft>
              <a:defRPr sz="1900">
                <a:solidFill>
                  <a:srgbClr val="F2F5F8"/>
                </a:solidFill>
              </a:defRPr>
            </a:pPr>
            <a:r>
              <a:t>• It is not a promise to wrap, crash, throw, or continue with a random value.</a:t>
            </a:r>
          </a:p>
          <a:p>
            <a:pPr>
              <a:spcAft>
                <a:spcPts val="1100"/>
              </a:spcAft>
              <a:defRPr sz="1900">
                <a:solidFill>
                  <a:srgbClr val="F2F5F8"/>
                </a:solidFill>
              </a:defRPr>
            </a:pPr>
            <a:r>
              <a:t>• Optimizations can rely on the assumption that valid programs do not perform the invalid operation.</a:t>
            </a:r>
          </a:p>
          <a:p>
            <a:pPr>
              <a:spcAft>
                <a:spcPts val="1100"/>
              </a:spcAft>
              <a:defRPr sz="1900">
                <a:solidFill>
                  <a:srgbClr val="F2F5F8"/>
                </a:solidFill>
              </a:defRPr>
            </a:pPr>
            <a:r>
              <a:t>• This is why an apparently harmless out-of-bounds access can change unrelated-looking code after optimization.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11.9 Undefined behavior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is why an apparently harmless out-of-bounds access can change unrelated-looking code after optimization.</a:t>
            </a:r>
          </a:p>
          <a:p>
            <a:pPr>
              <a:spcAft>
                <a:spcPts val="1100"/>
              </a:spcAft>
              <a:defRPr sz="1900">
                <a:solidFill>
                  <a:srgbClr val="F2F5F8"/>
                </a:solidFill>
              </a:defRPr>
            </a:pPr>
            <a:r>
              <a:t>• The right response is to remove the invalid operation, not to demand that the compiler preserve one observed accident.</a:t>
            </a:r>
          </a:p>
          <a:p>
            <a:pPr>
              <a:spcAft>
                <a:spcPts val="1100"/>
              </a:spcAft>
              <a:defRPr sz="1700">
                <a:solidFill>
                  <a:srgbClr val="F2F5F8"/>
                </a:solidFill>
              </a:defRPr>
            </a:pPr>
            <a:r>
              <a:t>• Debug and release builds are different experiments; both must implement a program whose source-level behavior is defined.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11.10 Sanitizers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AddressSanitizer instruments memory accesses and allocation boundaries to detect classes such as heap and stack out-of-bounds access and use-after-free.</a:t>
            </a:r>
          </a:p>
          <a:p>
            <a:pPr>
              <a:spcAft>
                <a:spcPts val="1100"/>
              </a:spcAft>
              <a:defRPr sz="1900">
                <a:solidFill>
                  <a:srgbClr val="F2F5F8"/>
                </a:solidFill>
              </a:defRPr>
            </a:pPr>
            <a:r>
              <a:t>• UndefinedBehaviorSanitizer targets selected language violations.</a:t>
            </a:r>
          </a:p>
          <a:p>
            <a:pPr>
              <a:spcAft>
                <a:spcPts val="1100"/>
              </a:spcAft>
              <a:defRPr sz="1900">
                <a:solidFill>
                  <a:srgbClr val="F2F5F8"/>
                </a:solidFill>
              </a:defRPr>
            </a:pPr>
            <a:r>
              <a:t>• ThreadSanitizer tracks data races.</a:t>
            </a:r>
          </a:p>
          <a:p>
            <a:pPr>
              <a:spcAft>
                <a:spcPts val="1100"/>
              </a:spcAft>
              <a:defRPr sz="1900">
                <a:solidFill>
                  <a:srgbClr val="F2F5F8"/>
                </a:solidFill>
              </a:defRPr>
            </a:pPr>
            <a:r>
              <a:t>• Their coverage and limitations differ, and some configurations cannot be combined. [ R5 , R6 ]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11.10 Sanitizers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clean sanitizer run covers only executed paths and the checks enabled in that build.</a:t>
            </a:r>
          </a:p>
          <a:p>
            <a:pPr>
              <a:spcAft>
                <a:spcPts val="1100"/>
              </a:spcAft>
              <a:defRPr sz="1900">
                <a:solidFill>
                  <a:srgbClr val="F2F5F8"/>
                </a:solidFill>
              </a:defRPr>
            </a:pPr>
            <a:r>
              <a:t>• Some lifetime, intra-object, protocol, and logical errors remain outside a tool’s detection.</a:t>
            </a:r>
          </a:p>
          <a:p>
            <a:pPr>
              <a:spcAft>
                <a:spcPts val="1100"/>
              </a:spcAft>
              <a:defRPr sz="1900">
                <a:solidFill>
                  <a:srgbClr val="F2F5F8"/>
                </a:solidFill>
              </a:defRPr>
            </a:pPr>
            <a:r>
              <a:t>• Use sanitizers alongside warnings, tests, fuzzing of parsers, ownership design, and review.</a:t>
            </a:r>
          </a:p>
          <a:p>
            <a:pPr>
              <a:spcAft>
                <a:spcPts val="1100"/>
              </a:spcAft>
              <a:defRPr sz="1900">
                <a:solidFill>
                  <a:srgbClr val="F2F5F8"/>
                </a:solidFill>
              </a:defRPr>
            </a:pPr>
            <a:r>
              <a:t>• Instrumented performance is not production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Replacing an unchecked copy contract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The requirement is to copy exactly the available source bytes into a destination only when the destination is large enough.</a:t>
            </a:r>
          </a:p>
          <a:p>
            <a:pPr>
              <a:spcAft>
                <a:spcPts val="1100"/>
              </a:spcAft>
              <a:defRPr sz="1900">
                <a:solidFill>
                  <a:srgbClr val="F2F5F8"/>
                </a:solidFill>
              </a:defRPr>
            </a:pPr>
            <a:r>
              <a:t>• Failure must leave the destination unchanged.</a:t>
            </a:r>
          </a:p>
          <a:p>
            <a:pPr>
              <a:spcAft>
                <a:spcPts val="1100"/>
              </a:spcAft>
              <a:defRPr sz="1900">
                <a:solidFill>
                  <a:srgbClr val="F2F5F8"/>
                </a:solidFill>
              </a:defRPr>
            </a:pPr>
            <a:r>
              <a:t>• A bounded range interface makes both extents explicit.</a:t>
            </a:r>
          </a:p>
          <a:p>
            <a:pPr>
              <a:spcAft>
                <a:spcPts val="1100"/>
              </a:spcAft>
              <a:defRPr sz="1900">
                <a:solidFill>
                  <a:srgbClr val="F2F5F8"/>
                </a:solidFill>
              </a:defRPr>
            </a:pPr>
            <a:r>
              <a:t>• Companion listing: ch11/bounded_copy.cpp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Replacing an unchecked copy contract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ch11/bounded_copy.cpp</a:t>
            </a:r>
          </a:p>
          <a:p>
            <a:pPr>
              <a:spcAft>
                <a:spcPts val="1100"/>
              </a:spcAft>
              <a:defRPr sz="1900">
                <a:solidFill>
                  <a:srgbClr val="F2F5F8"/>
                </a:solidFill>
              </a:defRPr>
            </a:pPr>
            <a:r>
              <a:t>• The three-byte source cannot fit in the two-byte destination.</a:t>
            </a:r>
          </a:p>
          <a:p>
            <a:pPr>
              <a:spcAft>
                <a:spcPts val="1100"/>
              </a:spcAft>
              <a:defRPr sz="1900">
                <a:solidFill>
                  <a:srgbClr val="F2F5F8"/>
                </a:solidFill>
              </a:defRPr>
            </a:pPr>
            <a:r>
              <a:t>• The function rejects the request before writing anything.</a:t>
            </a:r>
          </a:p>
          <a:p>
            <a:pPr>
              <a:spcAft>
                <a:spcPts val="1100"/>
              </a:spcAft>
              <a:defRPr sz="1900">
                <a:solidFill>
                  <a:srgbClr val="F2F5F8"/>
                </a:solidFill>
              </a:defRPr>
            </a:pPr>
            <a:r>
              <a:t>• The exact-size destination succeeds, and every byte is compared against the source.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Finding an off-by-one overflow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buffer char b[8] has valid indices 0 through 7.</a:t>
            </a:r>
          </a:p>
          <a:p>
            <a:pPr>
              <a:spcAft>
                <a:spcPts val="1100"/>
              </a:spcAft>
              <a:defRPr sz="1900">
                <a:solidFill>
                  <a:srgbClr val="F2F5F8"/>
                </a:solidFill>
              </a:defRPr>
            </a:pPr>
            <a:r>
              <a:t>• Writing b[8]='\0' is already out of bounds even if the program does not crash.</a:t>
            </a:r>
          </a:p>
          <a:p>
            <a:pPr>
              <a:spcAft>
                <a:spcPts val="1100"/>
              </a:spcAft>
              <a:defRPr sz="1900">
                <a:solidFill>
                  <a:srgbClr val="F2F5F8"/>
                </a:solidFill>
              </a:defRPr>
            </a:pPr>
            <a:r>
              <a:t>• The correct maximum payload for a C string requiring a terminator is seven characters.</a:t>
            </a:r>
          </a:p>
          <a:p>
            <a:pPr>
              <a:spcAft>
                <a:spcPts val="1100"/>
              </a:spcAft>
              <a:defRPr sz="1900">
                <a:solidFill>
                  <a:srgbClr val="F2F5F8"/>
                </a:solidFill>
              </a:defRPr>
            </a:pPr>
            <a:r>
              <a:t>• Capacity calculations must reserve the terminator explicitly.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Finding an off-by-one overflow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buffer char b[8] has valid indices 0 through 7.</a:t>
            </a:r>
          </a:p>
          <a:p>
            <a:pPr>
              <a:spcAft>
                <a:spcPts val="1100"/>
              </a:spcAft>
              <a:defRPr sz="1900">
                <a:solidFill>
                  <a:srgbClr val="F2F5F8"/>
                </a:solidFill>
              </a:defRPr>
            </a:pPr>
            <a:r>
              <a:t>• Writing b[8]='\0' is already out of bounds even if the program does not crash.</a:t>
            </a:r>
          </a:p>
          <a:p>
            <a:pPr>
              <a:spcAft>
                <a:spcPts val="1100"/>
              </a:spcAft>
              <a:defRPr sz="1900">
                <a:solidFill>
                  <a:srgbClr val="F2F5F8"/>
                </a:solidFill>
              </a:defRPr>
            </a:pPr>
            <a:r>
              <a:t>• The correct maximum payload for a C string requiring a terminator is seven characters.</a:t>
            </a:r>
          </a:p>
          <a:p>
            <a:pPr>
              <a:spcAft>
                <a:spcPts val="1100"/>
              </a:spcAft>
              <a:defRPr sz="1900">
                <a:solidFill>
                  <a:srgbClr val="F2F5F8"/>
                </a:solidFill>
              </a:defRPr>
            </a:pPr>
            <a:r>
              <a:t>• Capacity calculations must reserve the terminator explicitly.</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Diagnosing use-after-free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free(p) , the numeric bits stored in p may remain unchanged, but the allocation lifetime has ended.</a:t>
            </a:r>
          </a:p>
          <a:p>
            <a:pPr>
              <a:spcAft>
                <a:spcPts val="1100"/>
              </a:spcAft>
              <a:defRPr sz="1900">
                <a:solidFill>
                  <a:srgbClr val="F2F5F8"/>
                </a:solidFill>
              </a:defRPr>
            </a:pPr>
            <a:r>
              <a:t>• Dereferencing p is invalid even if the allocator has not reused the region yet.</a:t>
            </a:r>
          </a:p>
          <a:p>
            <a:pPr>
              <a:spcAft>
                <a:spcPts val="1100"/>
              </a:spcAft>
              <a:defRPr sz="1900">
                <a:solidFill>
                  <a:srgbClr val="F2F5F8"/>
                </a:solidFill>
              </a:defRPr>
            </a:pPr>
            <a:r>
              <a:t>• Setting p=NULL can prevent some accidental reuse through that variable, but aliases may still exist.</a:t>
            </a:r>
          </a:p>
          <a:p>
            <a:pPr>
              <a:spcAft>
                <a:spcPts val="1100"/>
              </a:spcAft>
              <a:defRPr sz="1900">
                <a:solidFill>
                  <a:srgbClr val="F2F5F8"/>
                </a:solidFill>
              </a:defRPr>
            </a:pPr>
            <a:r>
              <a:t>• Ownership design, not pointer clearing alone, prevents the class of bug.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Diagnosing use-after-free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After free(p) , the numeric bits stored in p may remain unchanged, but the allocation lifetime has ended.</a:t>
            </a:r>
          </a:p>
          <a:p>
            <a:pPr>
              <a:spcAft>
                <a:spcPts val="1100"/>
              </a:spcAft>
              <a:defRPr sz="1900">
                <a:solidFill>
                  <a:srgbClr val="F2F5F8"/>
                </a:solidFill>
              </a:defRPr>
            </a:pPr>
            <a:r>
              <a:t>• Dereferencing p is invalid even if the allocator has not reused the region yet.</a:t>
            </a:r>
          </a:p>
          <a:p>
            <a:pPr>
              <a:spcAft>
                <a:spcPts val="1100"/>
              </a:spcAft>
              <a:defRPr sz="1900">
                <a:solidFill>
                  <a:srgbClr val="F2F5F8"/>
                </a:solidFill>
              </a:defRPr>
            </a:pPr>
            <a:r>
              <a:t>• Setting p=NULL can prevent some accidental reuse through that variable, but aliases may still exist.</a:t>
            </a:r>
          </a:p>
          <a:p>
            <a:pPr>
              <a:spcAft>
                <a:spcPts val="1100"/>
              </a:spcAft>
              <a:defRPr sz="1900">
                <a:solidFill>
                  <a:srgbClr val="F2F5F8"/>
                </a:solidFill>
              </a:defRPr>
            </a:pPr>
            <a:r>
              <a:t>• Ownership design, not pointer clearing alone, prevents the class of bug.</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11.</a:t>
            </a:r>
          </a:p>
          <a:p>
            <a:pPr>
              <a:spcAft>
                <a:spcPts val="1100"/>
              </a:spcAft>
              <a:defRPr sz="1900">
                <a:solidFill>
                  <a:srgbClr val="F2F5F8"/>
                </a:solidFill>
              </a:defRPr>
            </a:pPr>
            <a:r>
              <a:t>• Run the companion examples under a supported address-and-undefined sanitizer build.</a:t>
            </a:r>
          </a:p>
          <a:p>
            <a:pPr>
              <a:spcAft>
                <a:spcPts val="1100"/>
              </a:spcAft>
              <a:defRPr sz="1900">
                <a:solidFill>
                  <a:srgbClr val="F2F5F8"/>
                </a:solidFill>
              </a:defRPr>
            </a:pPr>
            <a:r>
              <a:t>• Add tests for empty input, exact capacity, insufficient capacity, and a larger destination.</a:t>
            </a:r>
          </a:p>
          <a:p>
            <a:pPr>
              <a:spcAft>
                <a:spcPts val="1100"/>
              </a:spcAft>
              <a:defRPr sz="1700">
                <a:solidFill>
                  <a:srgbClr val="F2F5F8"/>
                </a:solidFill>
              </a:defRPr>
            </a:pPr>
            <a:r>
              <a:t>• Keep intentionally invalid experiments separate from the normal test suite and never infer correctness from the absence of a crash.</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can a use-after-free remain inside mapped memory?</a:t>
            </a:r>
          </a:p>
          <a:p>
            <a:pPr>
              <a:spcAft>
                <a:spcPts val="1100"/>
              </a:spcAft>
              <a:defRPr sz="1900">
                <a:solidFill>
                  <a:srgbClr val="F2F5F8"/>
                </a:solidFill>
              </a:defRPr>
            </a:pPr>
            <a:r>
              <a:t>• Review 2.</a:t>
            </a:r>
          </a:p>
          <a:p>
            <a:pPr>
              <a:spcAft>
                <a:spcPts val="1100"/>
              </a:spcAft>
              <a:defRPr sz="1900">
                <a:solidFill>
                  <a:srgbClr val="F2F5F8"/>
                </a:solidFill>
              </a:defRPr>
            </a:pPr>
            <a:r>
              <a:t>• Why is a successful sanitizer run not a proof that an unexecuted error path is safe?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memory errors.</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Instruction Set Architecture.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11     |     33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