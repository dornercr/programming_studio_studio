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28 — Locality</a:t>
            </a:r>
          </a:p>
          <a:p/>
          <a:p>
            <a:r>
              <a:t>LECTURE NARRATION</a:t>
            </a:r>
          </a:p>
          <a:p>
            <a:r>
              <a:t>Locality is a pattern of reuse. Temporal locality concerns returning to the same information, while spatial locality concerns accessing nearby information. Hardware caches and software buffers exploit these patterns by retaining recently useful data and moving adjacent bytes together. Locality is not a property of a data structure in isolation. It depends on the traversal and workload. The same matrix can be accessed in a cache-friendly or cache-hostile order, and the same linked structure can behave differently when nodes are allocated compactly rather than scattered.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locality is a pattern of reuse.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Locality is a pattern of reuse. Temporal locality concerns returning to the same information, while spatial locality concerns accessing nearby information. Hardware caches and software buffers exploit these patterns by retaining recently useful data and moving adjacent bytes together. Locality is not a property of a data structure in isolation. It depends on the traversal and workload. The same matrix can be accessed in a cache-friendly or cache-hostile order, and the same linked structure can behave differently when nodes are allocated compactly rather than scattered.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locality is a pattern of reuse.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28.1 Temporal locality 28.2 Spatial locality 28.3 Working sets 28.4 Sequential access ...plus 6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28.1 Temporal locality 28.2 Spatial locality 28.3 Working sets 28.4 Sequential access ...plus 6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28.1 Temporal locality</a:t>
            </a:r>
          </a:p>
          <a:p/>
          <a:p>
            <a:r>
              <a:t>LECTURE NARRATION</a:t>
            </a:r>
          </a:p>
          <a:p>
            <a:r>
              <a:t>Temporal locality occurs when an item used now is likely to be used again soon. A loop repeatedly updating a small set of accumulators exhibits it. Retaining those values in registers or cache avoids repeated access to slower levels. “Soon” must be interpreted relative to competing accesses and capacity. Reusing an item after touching millions of unrelated bytes may be too late for a small cache. Reuse distance—the intervening distinct data relevant to a cache model—is often more informative than elapsed time alone.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temporal locality occurs when an item used now is likely to be used again soon.</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28.1 Temporal locality — Deep Dive</a:t>
            </a:r>
          </a:p>
          <a:p/>
          <a:p>
            <a:r>
              <a:t>LECTURE NARRATION</a:t>
            </a:r>
          </a:p>
          <a:p>
            <a:r>
              <a:t>Temporal locality occurs when an item used now is likely to be used again soon. A loop repeatedly updating a small set of accumulators exhibits it. Retaining those values in registers or cache avoids repeated access to slower levels. “Soon” must be interpreted relative to competing accesses and capacity. Reusing an item after touching millions of unrelated bytes may be too late for a small cache. Reuse distance—the intervening distinct data relevant to a cache model—is often more informative than elapsed time alone.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temporal locality occurs when an item used now is likely to be used again soon.</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28.2 Spatial locality</a:t>
            </a:r>
          </a:p>
          <a:p/>
          <a:p>
            <a:r>
              <a:t>LECTURE NARRATION</a:t>
            </a:r>
          </a:p>
          <a:p>
            <a:r>
              <a:t>Spatial locality occurs when an access predicts accesses to nearby bytes. A sequential array traversal typically uses several elements from each fetched cache line. Fetching an entire line is valuable when the remaining bytes are consumed before eviction. Spatial proximity is not automatically useful. A structure containing many rarely used fields can force frequently used fields to share lines with irrelevant data. A layout that groups the fields used together may reduce transferred bytes without changing the logical records.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spatial locality occurs when an access predicts accesses to nearby bytes.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28.2 Spatial locality — Deep Dive</a:t>
            </a:r>
          </a:p>
          <a:p/>
          <a:p>
            <a:r>
              <a:t>LECTURE NARRATION</a:t>
            </a:r>
          </a:p>
          <a:p>
            <a:r>
              <a:t>Spatial locality occurs when an access predicts accesses to nearby bytes. A sequential array traversal typically uses several elements from each fetched cache line. Fetching an entire line is valuable when the remaining bytes are consumed before eviction. Spatial proximity is not automatically useful. A structure containing many rarely used fields can force frequently used fields to share lines with irrelevant data. A layout that groups the fields used together may reduce transferred bytes without changing the logical records.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spatial locality occurs when an access predicts accesses to nearby bytes.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28.3 Working sets</a:t>
            </a:r>
          </a:p>
          <a:p/>
          <a:p>
            <a:r>
              <a:t>LECTURE NARRATION</a:t>
            </a:r>
          </a:p>
          <a:p>
            <a:r>
              <a:t>A working set is the collection of data and instructions actively used during a relevant phase or interval. Its size and access order determine pressure on caches, TLBs, and physical memory. Different phases of one program can have different working sets. A useful analysis chooses a time scale: one inner loop, one request, one batch, or a steady-state interval. Counting every allocation in the process may overestimate the hot working set, while counting only explicit input arrays may omit indexes, metadata, code, and thread stacks.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working set is the collection of data and instructions actively used during a relevant phase or interval.</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28.3 Working sets — Deep Dive</a:t>
            </a:r>
          </a:p>
          <a:p/>
          <a:p>
            <a:r>
              <a:t>LECTURE NARRATION</a:t>
            </a:r>
          </a:p>
          <a:p>
            <a:r>
              <a:t>A working set is the collection of data and instructions actively used during a relevant phase or interval. Its size and access order determine pressure on caches, TLBs, and physical memory. Different phases of one program can have different working sets. A useful analysis chooses a time scale: one inner loop, one request, one batch, or a steady-state interval. Counting every allocation in the process may overestimate the hot working set, while counting only explicit input arrays may omit indexes, metadata, code, and thread stacks.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working set is the collection of data and instructions actively used during a relevant phase or interval.</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28.4 Sequential access</a:t>
            </a:r>
          </a:p>
          <a:p/>
          <a:p>
            <a:r>
              <a:t>LECTURE NARRATION</a:t>
            </a:r>
          </a:p>
          <a:p>
            <a:r>
              <a:t>Sequential access follows adjacent locations in a predictable order. It can use most bytes of each cache line and allow hardware prefetching to anticipate future accesses. It also often reduces translation pressure by consuming many bytes within each page. The benefit depends on actual use. Reading a large array once still incurs compulsory traffic. Sequential order makes that traffic efficient; it does not make the bytes free. Streaming too much unrelated data can also evict useful cached state.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sequential access follows adjacent locations in a predictable order.</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28.4 Sequential access — Deep Dive</a:t>
            </a:r>
          </a:p>
          <a:p/>
          <a:p>
            <a:r>
              <a:t>LECTURE NARRATION</a:t>
            </a:r>
          </a:p>
          <a:p>
            <a:r>
              <a:t>Sequential access follows adjacent locations in a predictable order. It can use most bytes of each cache line and allow hardware prefetching to anticipate future accesses. It also often reduces translation pressure by consuming many bytes within each page. The benefit depends on actual use. Reading a large array once still incurs compulsory traffic. Sequential order makes that traffic efficient; it does not make the bytes free. Streaming too much unrelated data can also evict useful cached state.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sequential access follows adjacent locations in a predictable order.</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28.5 Strided access</a:t>
            </a:r>
          </a:p>
          <a:p/>
          <a:p>
            <a:r>
              <a:t>LECTURE NARRATION</a:t>
            </a:r>
          </a:p>
          <a:p>
            <a:r>
              <a:t>Strided access advances by a fixed distance between elements. Small strides may retain useful spatial locality; large strides may touch a new line or page for every item. Particular stride patterns can also interact poorly with cache-set indexing. When analyzing a stride, express it in bytes. A stride of 16 elements means 64 bytes for four-byte elements but 128 bytes for eight-byte elements. Element count without element size does not determine cache-line use.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strided access advances by a fixed distance between elements.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28.5 Strided access — Deep Dive</a:t>
            </a:r>
          </a:p>
          <a:p/>
          <a:p>
            <a:r>
              <a:t>LECTURE NARRATION</a:t>
            </a:r>
          </a:p>
          <a:p>
            <a:r>
              <a:t>Strided access advances by a fixed distance between elements. Small strides may retain useful spatial locality; large strides may touch a new line or page for every item. Particular stride patterns can also interact poorly with cache-set indexing. When analyzing a stride, express it in bytes. A stride of 16 elements means 64 bytes for four-byte elements but 128 bytes for eight-byte elements. Element count without element size does not determine cache-line use.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strided access advances by a fixed distance between elements.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28.6 Random access</a:t>
            </a:r>
          </a:p>
          <a:p/>
          <a:p>
            <a:r>
              <a:t>LECTURE NARRATION</a:t>
            </a:r>
          </a:p>
          <a:p>
            <a:r>
              <a:t>Random access uses an order that is difficult to predict from recent addresses. It can reduce prefetch usefulness and increase the number of distinct lines or pages needed for a small amount of useful data. Randomness should be defined carefully: a random permutation of a compact array differs from pointers distributed across a much larger heap. A benchmark should generate its access order outside the timed region when the goal is to measure memory traversal rather than random-number generation. It should also preserve dependencies intentionally: independent random loads and dependent pointer chasing test different limits.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random access uses an order that is difficult to predict from recent addresses.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28.6 Random access — Deep Dive</a:t>
            </a:r>
          </a:p>
          <a:p/>
          <a:p>
            <a:r>
              <a:t>LECTURE NARRATION</a:t>
            </a:r>
          </a:p>
          <a:p>
            <a:r>
              <a:t>Random access uses an order that is difficult to predict from recent addresses. It can reduce prefetch usefulness and increase the number of distinct lines or pages needed for a small amount of useful data. Randomness should be defined carefully: a random permutation of a compact array differs from pointers distributed across a much larger heap. A benchmark should generate its access order outside the timed region when the goal is to measure memory traversal rather than random-number generation. It should also preserve dependencies intentionally: independent random loads and dependent pointer chasing test different limits.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random access uses an order that is difficult to predict from recent addresses.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Worked example — Row-major versus column-major traversal</a:t>
            </a:r>
          </a:p>
          <a:p/>
          <a:p>
            <a:r>
              <a:t>LECTURE NARRATION</a:t>
            </a:r>
          </a:p>
          <a:p>
            <a:r>
              <a:t>Assume a row-major 64 × 64 matrix of eight-byte elements and 64-byte cache lines. A row contains 512 bytes, or eight lines. Traversing a row consecutively uses eight elements from each line before moving on. A column traversal advances by 512 bytes between successive elements. It touches one element in each of 64 different rows before returning to the next element of the first row. If the relevant cache cannot retain those lines, much of each fetched line is wasted before reuse. If it can retain them, the difference may be smaller. Capacity and associativity determine the result; “column traversal always misses” is too strong. A blocked traversal processes a smaller rectangle before moving elsewhere. For example, an 8 × 8 tile contains 512 bytes of element data. In a transpose or matrix operation, choosing tiles whose active input and output regions fit the useful cache budget can preserve reuse. Include all simultaneously active arrays and temporary storage when estimating the budget.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assume a row-major 64 × 64 matrix of eight-byte elements and 64-byte cache lines.</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Worked example — Row-major versus column-major traversal — Deep Dive</a:t>
            </a:r>
          </a:p>
          <a:p/>
          <a:p>
            <a:r>
              <a:t>LECTURE NARRATION</a:t>
            </a:r>
          </a:p>
          <a:p>
            <a:r>
              <a:t>Assume a row-major 64 × 64 matrix of eight-byte elements and 64-byte cache lines. A row contains 512 bytes, or eight lines. Traversing a row consecutively uses eight elements from each line before moving on. A column traversal advances by 512 bytes between successive elements. It touches one element in each of 64 different rows before returning to the next element of the first row. If the relevant cache cannot retain those lines, much of each fetched line is wasted before reuse. If it can retain them, the difference may be smaller. Capacity and associativity determine the result; “column traversal always misses” is too strong. A blocked traversal processes a smaller rectangle before moving elsewhere. For example, an 8 × 8 tile contains 512 bytes of element data. In a transpose or matrix operation, choosing tiles whose active input and output regions fit the useful cache budget can preserve reuse. Include all simultaneously active arrays and temporary storage when estimating the budget.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assume a row-major 64 × 64 matrix of eight-byte elements and 64-byte cache lines.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Temporal locality in a counter</a:t>
            </a:r>
          </a:p>
          <a:p/>
          <a:p>
            <a:r>
              <a:t>LECTURE NARRATION</a:t>
            </a:r>
          </a:p>
          <a:p>
            <a:r>
              <a:t>A loop that increments count every iteration repeatedly accesses the same small piece of state, demonstrating temporal locality. Once its cache line is loaded, many subsequent updates can hit in cache. If the loop instead touches a fresh random page each iteration, reuse falls dramatically and translation/cache misses become more frequent.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loop that increments count every iteration repeatedly accesses the same small piece of state, demonstrating temporal locality.</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Temporal locality in a counter — Deep Dive</a:t>
            </a:r>
          </a:p>
          <a:p/>
          <a:p>
            <a:r>
              <a:t>LECTURE NARRATION</a:t>
            </a:r>
          </a:p>
          <a:p>
            <a:r>
              <a:t>A loop that increments count every iteration repeatedly accesses the same small piece of state, demonstrating temporal locality. Once its cache line is loaded, many subsequent updates can hit in cache. If the loop instead touches a fresh random page each iteration, reuse falls dramatically and translation/cache misses become more frequent.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loop that increments count every iteration repeatedly accesses the same small piece of state, demonstrating temporal locality.</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Stride and cache lines</a:t>
            </a:r>
          </a:p>
          <a:p/>
          <a:p>
            <a:r>
              <a:t>LECTURE NARRATION</a:t>
            </a:r>
          </a:p>
          <a:p>
            <a:r>
              <a:t>For 64-byte cache lines and 8-byte elements, sequentially reading doubles uses eight neighboring elements per fetched line. Reading every eighth double touches one element per line. Reading every sixteenth skips a full line between accesses. Larger strides therefore waste more fetched bytes and reduce spatial locality.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Stride and cache lines — Deep Dive</a:t>
            </a:r>
          </a:p>
          <a:p/>
          <a:p>
            <a:r>
              <a:t>LECTURE NARRATION</a:t>
            </a:r>
          </a:p>
          <a:p>
            <a:r>
              <a:t>For 64-byte cache lines and 8-byte elements, sequentially reading doubles uses eight neighboring elements per fetched line. Reading every eighth double touches one element per line. Reading every sixteenth skips a full line between accesses. Larger strides therefore waste more fetched bytes and reduce spatial locality.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Guided lab and review</a:t>
            </a:r>
          </a:p>
          <a:p/>
          <a:p>
            <a:r>
              <a:t>LECTURE NARRATION</a:t>
            </a:r>
          </a:p>
          <a:p>
            <a:r>
              <a:t>Lab 28. Calculate the stride in bytes for column traversal of a row-major 100 × 200 matrix of four-byte elements. Then estimate the data size of a 16 × 16 tile. Explain why those numbers do not by themselves predict execution time. Review 1. Can a one-pass scan have spatial locality without temporal reuse? Review 2. Why should a benchmark distinguish dependent from independent random accesses?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28.</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Guided lab and review — Deep Dive</a:t>
            </a:r>
          </a:p>
          <a:p/>
          <a:p>
            <a:r>
              <a:t>LECTURE NARRATION</a:t>
            </a:r>
          </a:p>
          <a:p>
            <a:r>
              <a:t>Lab 28. Calculate the stride in bytes for column traversal of a row-major 100 × 200 matrix of four-byte elements. Then estimate the data size of a 16 × 16 tile. Explain why those numbers do not by themselves predict execution time. Review 1. Can a one-pass scan have spatial locality without temporal reuse? Review 2. Why should a benchmark distinguish dependent from independent random accesses?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28.</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Chapter Synthesis</a:t>
            </a:r>
          </a:p>
          <a:p/>
          <a:p>
            <a:r>
              <a:t>LECTURE NARRATION</a:t>
            </a:r>
          </a:p>
          <a:p>
            <a:r>
              <a:t>The chapter's central subject is locality.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locality.</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Cache Organization.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28 — Locality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Locality is a pattern of reuse.</a:t>
            </a:r>
          </a:p>
          <a:p>
            <a:pPr>
              <a:spcAft>
                <a:spcPts val="1100"/>
              </a:spcAft>
              <a:defRPr sz="1700">
                <a:solidFill>
                  <a:srgbClr val="F2F5F8"/>
                </a:solidFill>
              </a:defRPr>
            </a:pPr>
            <a:r>
              <a:t>• Temporal locality concerns returning to the same information, while spatial locality concerns accessing nearby information.</a:t>
            </a:r>
          </a:p>
          <a:p>
            <a:pPr>
              <a:spcAft>
                <a:spcPts val="1100"/>
              </a:spcAft>
              <a:defRPr sz="1700">
                <a:solidFill>
                  <a:srgbClr val="F2F5F8"/>
                </a:solidFill>
              </a:defRPr>
            </a:pPr>
            <a:r>
              <a:t>• Hardware caches and software buffers exploit these patterns by retaining recently useful data and moving adjacent bytes together.</a:t>
            </a:r>
          </a:p>
          <a:p>
            <a:pPr>
              <a:spcAft>
                <a:spcPts val="1100"/>
              </a:spcAft>
              <a:defRPr sz="1900">
                <a:solidFill>
                  <a:srgbClr val="F2F5F8"/>
                </a:solidFill>
              </a:defRPr>
            </a:pPr>
            <a:r>
              <a:t>• Locality is not a property of a data structure in isolation.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Locality.</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28.1 Temporal locality</a:t>
            </a:r>
          </a:p>
          <a:p>
            <a:pPr>
              <a:spcAft>
                <a:spcPts val="1100"/>
              </a:spcAft>
              <a:defRPr sz="1900">
                <a:solidFill>
                  <a:srgbClr val="F2F5F8"/>
                </a:solidFill>
              </a:defRPr>
            </a:pPr>
            <a:r>
              <a:t>• 28.2 Spatial locality</a:t>
            </a:r>
          </a:p>
          <a:p>
            <a:pPr>
              <a:spcAft>
                <a:spcPts val="1100"/>
              </a:spcAft>
              <a:defRPr sz="1900">
                <a:solidFill>
                  <a:srgbClr val="F2F5F8"/>
                </a:solidFill>
              </a:defRPr>
            </a:pPr>
            <a:r>
              <a:t>• 28.3 Working sets</a:t>
            </a:r>
          </a:p>
          <a:p>
            <a:pPr>
              <a:spcAft>
                <a:spcPts val="1100"/>
              </a:spcAft>
              <a:defRPr sz="1900">
                <a:solidFill>
                  <a:srgbClr val="F2F5F8"/>
                </a:solidFill>
              </a:defRPr>
            </a:pPr>
            <a:r>
              <a:t>• 28.4 Sequential access</a:t>
            </a:r>
          </a:p>
          <a:p>
            <a:pPr>
              <a:spcAft>
                <a:spcPts val="1100"/>
              </a:spcAft>
              <a:defRPr sz="1900">
                <a:solidFill>
                  <a:srgbClr val="F2F5F8"/>
                </a:solidFill>
              </a:defRPr>
            </a:pPr>
            <a:r>
              <a:t>• ...plus 6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28.1 Temporal locality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Temporal locality occurs when an item used now is likely to be used again soon.</a:t>
            </a:r>
          </a:p>
          <a:p>
            <a:pPr>
              <a:spcAft>
                <a:spcPts val="1100"/>
              </a:spcAft>
              <a:defRPr sz="1900">
                <a:solidFill>
                  <a:srgbClr val="F2F5F8"/>
                </a:solidFill>
              </a:defRPr>
            </a:pPr>
            <a:r>
              <a:t>• A loop repeatedly updating a small set of accumulators exhibits it.</a:t>
            </a:r>
          </a:p>
          <a:p>
            <a:pPr>
              <a:spcAft>
                <a:spcPts val="1100"/>
              </a:spcAft>
              <a:defRPr sz="1900">
                <a:solidFill>
                  <a:srgbClr val="F2F5F8"/>
                </a:solidFill>
              </a:defRPr>
            </a:pPr>
            <a:r>
              <a:t>• Retaining those values in registers or cache avoids repeated access to slower levels.</a:t>
            </a:r>
          </a:p>
          <a:p>
            <a:pPr>
              <a:spcAft>
                <a:spcPts val="1100"/>
              </a:spcAft>
              <a:defRPr sz="1900">
                <a:solidFill>
                  <a:srgbClr val="F2F5F8"/>
                </a:solidFill>
              </a:defRPr>
            </a:pPr>
            <a:r>
              <a:t>• “Soon” must be interpreted relative to competing accesses and capacity.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28.1 Temporal locality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“Soon” must be interpreted relative to competing accesses and capacity.</a:t>
            </a:r>
          </a:p>
          <a:p>
            <a:pPr>
              <a:spcAft>
                <a:spcPts val="1100"/>
              </a:spcAft>
              <a:defRPr sz="1900">
                <a:solidFill>
                  <a:srgbClr val="F2F5F8"/>
                </a:solidFill>
              </a:defRPr>
            </a:pPr>
            <a:r>
              <a:t>• Reusing an item after touching millions of unrelated bytes may be too late for a small cache.</a:t>
            </a:r>
          </a:p>
          <a:p>
            <a:pPr>
              <a:spcAft>
                <a:spcPts val="1100"/>
              </a:spcAft>
              <a:defRPr sz="1700">
                <a:solidFill>
                  <a:srgbClr val="F2F5F8"/>
                </a:solidFill>
              </a:defRPr>
            </a:pPr>
            <a:r>
              <a:t>• Reuse distance—the intervening distinct data relevant to a cache model—is often more informative than elapsed time alone.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28.2 Spatial locality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Spatial locality occurs when an access predicts accesses to nearby bytes.</a:t>
            </a:r>
          </a:p>
          <a:p>
            <a:pPr>
              <a:spcAft>
                <a:spcPts val="1100"/>
              </a:spcAft>
              <a:defRPr sz="1900">
                <a:solidFill>
                  <a:srgbClr val="F2F5F8"/>
                </a:solidFill>
              </a:defRPr>
            </a:pPr>
            <a:r>
              <a:t>• A sequential array traversal typically uses several elements from each fetched cache line.</a:t>
            </a:r>
          </a:p>
          <a:p>
            <a:pPr>
              <a:spcAft>
                <a:spcPts val="1100"/>
              </a:spcAft>
              <a:defRPr sz="1900">
                <a:solidFill>
                  <a:srgbClr val="F2F5F8"/>
                </a:solidFill>
              </a:defRPr>
            </a:pPr>
            <a:r>
              <a:t>• Fetching an entire line is valuable when the remaining bytes are consumed before eviction.</a:t>
            </a:r>
          </a:p>
          <a:p>
            <a:pPr>
              <a:spcAft>
                <a:spcPts val="1100"/>
              </a:spcAft>
              <a:defRPr sz="1900">
                <a:solidFill>
                  <a:srgbClr val="F2F5F8"/>
                </a:solidFill>
              </a:defRPr>
            </a:pPr>
            <a:r>
              <a:t>• Spatial proximity is not automatically useful.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28.2 Spatial locality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Spatial proximity is not automatically useful.</a:t>
            </a:r>
          </a:p>
          <a:p>
            <a:pPr>
              <a:spcAft>
                <a:spcPts val="1100"/>
              </a:spcAft>
              <a:defRPr sz="1900">
                <a:solidFill>
                  <a:srgbClr val="F2F5F8"/>
                </a:solidFill>
              </a:defRPr>
            </a:pPr>
            <a:r>
              <a:t>• A structure containing many rarely used fields can force frequently used fields to share lines with irrelevant data.</a:t>
            </a:r>
          </a:p>
          <a:p>
            <a:pPr>
              <a:spcAft>
                <a:spcPts val="1100"/>
              </a:spcAft>
              <a:defRPr sz="1900">
                <a:solidFill>
                  <a:srgbClr val="F2F5F8"/>
                </a:solidFill>
              </a:defRPr>
            </a:pPr>
            <a:r>
              <a:t>• A layout that groups the fields used together may reduce transferred bytes without changing the logical records.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28.3 Working sets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working set is the collection of data and instructions actively used during a relevant phase or interval.</a:t>
            </a:r>
          </a:p>
          <a:p>
            <a:pPr>
              <a:spcAft>
                <a:spcPts val="1100"/>
              </a:spcAft>
              <a:defRPr sz="1900">
                <a:solidFill>
                  <a:srgbClr val="F2F5F8"/>
                </a:solidFill>
              </a:defRPr>
            </a:pPr>
            <a:r>
              <a:t>• Its size and access order determine pressure on caches, TLBs, and physical memory.</a:t>
            </a:r>
          </a:p>
          <a:p>
            <a:pPr>
              <a:spcAft>
                <a:spcPts val="1100"/>
              </a:spcAft>
              <a:defRPr sz="1900">
                <a:solidFill>
                  <a:srgbClr val="F2F5F8"/>
                </a:solidFill>
              </a:defRPr>
            </a:pPr>
            <a:r>
              <a:t>• Different phases of one program can have different working sets.</a:t>
            </a:r>
          </a:p>
          <a:p>
            <a:pPr>
              <a:spcAft>
                <a:spcPts val="1100"/>
              </a:spcAft>
              <a:defRPr sz="1900">
                <a:solidFill>
                  <a:srgbClr val="F2F5F8"/>
                </a:solidFill>
              </a:defRPr>
            </a:pPr>
            <a:r>
              <a:t>• A useful analysis chooses a time scale: one inner loop, one request, one batch, or a steady-state interval.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28.3 Working sets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useful analysis chooses a time scale: one inner loop, one request, one batch, or a steady-state interval.</a:t>
            </a:r>
          </a:p>
          <a:p>
            <a:pPr>
              <a:spcAft>
                <a:spcPts val="1100"/>
              </a:spcAft>
              <a:defRPr sz="1700">
                <a:solidFill>
                  <a:srgbClr val="F2F5F8"/>
                </a:solidFill>
              </a:defRPr>
            </a:pPr>
            <a:r>
              <a:t>• Counting every allocation in the process may overestimate the hot working set, while counting only explicit input arrays may omit indexes, metadata, code, and thread stacks.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28.4 Sequential access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Sequential access follows adjacent locations in a predictable order.</a:t>
            </a:r>
          </a:p>
          <a:p>
            <a:pPr>
              <a:spcAft>
                <a:spcPts val="1100"/>
              </a:spcAft>
              <a:defRPr sz="1900">
                <a:solidFill>
                  <a:srgbClr val="F2F5F8"/>
                </a:solidFill>
              </a:defRPr>
            </a:pPr>
            <a:r>
              <a:t>• It can use most bytes of each cache line and allow hardware prefetching to anticipate future accesses.</a:t>
            </a:r>
          </a:p>
          <a:p>
            <a:pPr>
              <a:spcAft>
                <a:spcPts val="1100"/>
              </a:spcAft>
              <a:defRPr sz="1900">
                <a:solidFill>
                  <a:srgbClr val="F2F5F8"/>
                </a:solidFill>
              </a:defRPr>
            </a:pPr>
            <a:r>
              <a:t>• It also often reduces translation pressure by consuming many bytes within each page.</a:t>
            </a:r>
          </a:p>
          <a:p>
            <a:pPr>
              <a:spcAft>
                <a:spcPts val="1100"/>
              </a:spcAft>
              <a:defRPr sz="1900">
                <a:solidFill>
                  <a:srgbClr val="F2F5F8"/>
                </a:solidFill>
              </a:defRPr>
            </a:pPr>
            <a:r>
              <a:t>• The benefit depends on actual use.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28.4 Sequential access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benefit depends on actual use.</a:t>
            </a:r>
          </a:p>
          <a:p>
            <a:pPr>
              <a:spcAft>
                <a:spcPts val="1100"/>
              </a:spcAft>
              <a:defRPr sz="1900">
                <a:solidFill>
                  <a:srgbClr val="F2F5F8"/>
                </a:solidFill>
              </a:defRPr>
            </a:pPr>
            <a:r>
              <a:t>• Reading a large array once still incurs compulsory traffic.</a:t>
            </a:r>
          </a:p>
          <a:p>
            <a:pPr>
              <a:spcAft>
                <a:spcPts val="1100"/>
              </a:spcAft>
              <a:defRPr sz="1900">
                <a:solidFill>
                  <a:srgbClr val="F2F5F8"/>
                </a:solidFill>
              </a:defRPr>
            </a:pPr>
            <a:r>
              <a:t>• Sequential order makes that traffic efficient; it does not make the bytes free.</a:t>
            </a:r>
          </a:p>
          <a:p>
            <a:pPr>
              <a:spcAft>
                <a:spcPts val="1100"/>
              </a:spcAft>
              <a:defRPr sz="1900">
                <a:solidFill>
                  <a:srgbClr val="F2F5F8"/>
                </a:solidFill>
              </a:defRPr>
            </a:pPr>
            <a:r>
              <a:t>• Streaming too much unrelated data can also evict useful cached state.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28.5 Strided access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Strided access advances by a fixed distance between elements.</a:t>
            </a:r>
          </a:p>
          <a:p>
            <a:pPr>
              <a:spcAft>
                <a:spcPts val="1100"/>
              </a:spcAft>
              <a:defRPr sz="1900">
                <a:solidFill>
                  <a:srgbClr val="F2F5F8"/>
                </a:solidFill>
              </a:defRPr>
            </a:pPr>
            <a:r>
              <a:t>• Small strides may retain useful spatial locality; large strides may touch a new line or page for every item.</a:t>
            </a:r>
          </a:p>
          <a:p>
            <a:pPr>
              <a:spcAft>
                <a:spcPts val="1100"/>
              </a:spcAft>
              <a:defRPr sz="1900">
                <a:solidFill>
                  <a:srgbClr val="F2F5F8"/>
                </a:solidFill>
              </a:defRPr>
            </a:pPr>
            <a:r>
              <a:t>• Particular stride patterns can also interact poorly with cache-set indexing.</a:t>
            </a:r>
          </a:p>
          <a:p>
            <a:pPr>
              <a:spcAft>
                <a:spcPts val="1100"/>
              </a:spcAft>
              <a:defRPr sz="1900">
                <a:solidFill>
                  <a:srgbClr val="F2F5F8"/>
                </a:solidFill>
              </a:defRPr>
            </a:pPr>
            <a:r>
              <a:t>• When analyzing a stride, express it in bytes.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28.5 Strided access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When analyzing a stride, express it in bytes.</a:t>
            </a:r>
          </a:p>
          <a:p>
            <a:pPr>
              <a:spcAft>
                <a:spcPts val="1100"/>
              </a:spcAft>
              <a:defRPr sz="1900">
                <a:solidFill>
                  <a:srgbClr val="F2F5F8"/>
                </a:solidFill>
              </a:defRPr>
            </a:pPr>
            <a:r>
              <a:t>• A stride of 16 elements means 64 bytes for four-byte elements but 128 bytes for eight-byte elements.</a:t>
            </a:r>
          </a:p>
          <a:p>
            <a:pPr>
              <a:spcAft>
                <a:spcPts val="1100"/>
              </a:spcAft>
              <a:defRPr sz="1900">
                <a:solidFill>
                  <a:srgbClr val="F2F5F8"/>
                </a:solidFill>
              </a:defRPr>
            </a:pPr>
            <a:r>
              <a:t>• Element count without element size does not determine cache-line use.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28.6 Random access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Random access uses an order that is difficult to predict from recent addresses.</a:t>
            </a:r>
          </a:p>
          <a:p>
            <a:pPr>
              <a:spcAft>
                <a:spcPts val="1100"/>
              </a:spcAft>
              <a:defRPr sz="1700">
                <a:solidFill>
                  <a:srgbClr val="F2F5F8"/>
                </a:solidFill>
              </a:defRPr>
            </a:pPr>
            <a:r>
              <a:t>• It can reduce prefetch usefulness and increase the number of distinct lines or pages needed for a small amount of useful data.</a:t>
            </a:r>
          </a:p>
          <a:p>
            <a:pPr>
              <a:spcAft>
                <a:spcPts val="1100"/>
              </a:spcAft>
              <a:defRPr sz="1700">
                <a:solidFill>
                  <a:srgbClr val="F2F5F8"/>
                </a:solidFill>
              </a:defRPr>
            </a:pPr>
            <a:r>
              <a:t>• Randomness should be defined carefully: a random permutation of a compact array differs from pointers distributed across a much larger heap.</a:t>
            </a:r>
          </a:p>
          <a:p>
            <a:pPr>
              <a:spcAft>
                <a:spcPts val="1100"/>
              </a:spcAft>
              <a:defRPr sz="1700">
                <a:solidFill>
                  <a:srgbClr val="F2F5F8"/>
                </a:solidFill>
              </a:defRPr>
            </a:pPr>
            <a:r>
              <a:t>• A benchmark should generate its access order outside the timed region when the goal is to measure memory traversal rather than random-number generation.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28.6 Random access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benchmark should generate its access order outside the timed region when the goal is to measure memory traversal rather than random-number generation.</a:t>
            </a:r>
          </a:p>
          <a:p>
            <a:pPr>
              <a:spcAft>
                <a:spcPts val="1100"/>
              </a:spcAft>
              <a:defRPr sz="1700">
                <a:solidFill>
                  <a:srgbClr val="F2F5F8"/>
                </a:solidFill>
              </a:defRPr>
            </a:pPr>
            <a:r>
              <a:t>• It should also preserve dependencies intentionally: independent random loads and dependent pointer chasing test different limits.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Row-major versus column-major traversal</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Assume a row-major 64 × 64 matrix of eight-byte elements and 64-byte cache lines.</a:t>
            </a:r>
          </a:p>
          <a:p>
            <a:pPr>
              <a:spcAft>
                <a:spcPts val="1100"/>
              </a:spcAft>
              <a:defRPr sz="1900">
                <a:solidFill>
                  <a:srgbClr val="F2F5F8"/>
                </a:solidFill>
              </a:defRPr>
            </a:pPr>
            <a:r>
              <a:t>• A row contains 512 bytes, or eight lines.</a:t>
            </a:r>
          </a:p>
          <a:p>
            <a:pPr>
              <a:spcAft>
                <a:spcPts val="1100"/>
              </a:spcAft>
              <a:defRPr sz="1900">
                <a:solidFill>
                  <a:srgbClr val="F2F5F8"/>
                </a:solidFill>
              </a:defRPr>
            </a:pPr>
            <a:r>
              <a:t>• Traversing a row consecutively uses eight elements from each line before moving on.</a:t>
            </a:r>
          </a:p>
          <a:p>
            <a:pPr>
              <a:spcAft>
                <a:spcPts val="1100"/>
              </a:spcAft>
              <a:defRPr sz="1900">
                <a:solidFill>
                  <a:srgbClr val="F2F5F8"/>
                </a:solidFill>
              </a:defRPr>
            </a:pPr>
            <a:r>
              <a:t>• A column traversal advances by 512 bytes between successive elements.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Row-major versus column-major traversal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column traversal advances by 512 bytes between successive elements.</a:t>
            </a:r>
          </a:p>
          <a:p>
            <a:pPr>
              <a:spcAft>
                <a:spcPts val="1100"/>
              </a:spcAft>
              <a:defRPr sz="1900">
                <a:solidFill>
                  <a:srgbClr val="F2F5F8"/>
                </a:solidFill>
              </a:defRPr>
            </a:pPr>
            <a:r>
              <a:t>• It touches one element in each of 64 different rows before returning to the next element of the first row.</a:t>
            </a:r>
          </a:p>
          <a:p>
            <a:pPr>
              <a:spcAft>
                <a:spcPts val="1100"/>
              </a:spcAft>
              <a:defRPr sz="1900">
                <a:solidFill>
                  <a:srgbClr val="F2F5F8"/>
                </a:solidFill>
              </a:defRPr>
            </a:pPr>
            <a:r>
              <a:t>• If the relevant cache cannot retain those lines, much of each fetched line is wasted before reuse.</a:t>
            </a:r>
          </a:p>
          <a:p>
            <a:pPr>
              <a:spcAft>
                <a:spcPts val="1100"/>
              </a:spcAft>
              <a:defRPr sz="1900">
                <a:solidFill>
                  <a:srgbClr val="F2F5F8"/>
                </a:solidFill>
              </a:defRPr>
            </a:pPr>
            <a:r>
              <a:t>• If it can retain them, the difference may be smaller.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Temporal locality in a counter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loop that increments count every iteration repeatedly accesses the same small piece of state, demonstrating temporal locality.</a:t>
            </a:r>
          </a:p>
          <a:p>
            <a:pPr>
              <a:spcAft>
                <a:spcPts val="1100"/>
              </a:spcAft>
              <a:defRPr sz="1900">
                <a:solidFill>
                  <a:srgbClr val="F2F5F8"/>
                </a:solidFill>
              </a:defRPr>
            </a:pPr>
            <a:r>
              <a:t>• Once its cache line is loaded, many subsequent updates can hit in cache.</a:t>
            </a:r>
          </a:p>
          <a:p>
            <a:pPr>
              <a:spcAft>
                <a:spcPts val="1100"/>
              </a:spcAft>
              <a:defRPr sz="1700">
                <a:solidFill>
                  <a:srgbClr val="F2F5F8"/>
                </a:solidFill>
              </a:defRPr>
            </a:pPr>
            <a:r>
              <a:t>• If the loop instead touches a fresh random page each iteration, reuse falls dramatically and translation/cache misses become more frequent.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Temporal locality in a counter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loop that increments count every iteration repeatedly accesses the same small piece of state, demonstrating temporal locality.</a:t>
            </a:r>
          </a:p>
          <a:p>
            <a:pPr>
              <a:spcAft>
                <a:spcPts val="1100"/>
              </a:spcAft>
              <a:defRPr sz="1900">
                <a:solidFill>
                  <a:srgbClr val="F2F5F8"/>
                </a:solidFill>
              </a:defRPr>
            </a:pPr>
            <a:r>
              <a:t>• Once its cache line is loaded, many subsequent updates can hit in cache.</a:t>
            </a:r>
          </a:p>
          <a:p>
            <a:pPr>
              <a:spcAft>
                <a:spcPts val="1100"/>
              </a:spcAft>
              <a:defRPr sz="1700">
                <a:solidFill>
                  <a:srgbClr val="F2F5F8"/>
                </a:solidFill>
              </a:defRPr>
            </a:pPr>
            <a:r>
              <a:t>• If the loop instead touches a fresh random page each iteration, reuse falls dramatically and translation/cache misses become more frequent.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Stride and cache lines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 64-byte cache lines and 8-byte elements, sequentially reading doubles uses eight neighboring elements per fetched line.</a:t>
            </a:r>
          </a:p>
          <a:p>
            <a:pPr>
              <a:spcAft>
                <a:spcPts val="1100"/>
              </a:spcAft>
              <a:defRPr sz="1900">
                <a:solidFill>
                  <a:srgbClr val="F2F5F8"/>
                </a:solidFill>
              </a:defRPr>
            </a:pPr>
            <a:r>
              <a:t>• Reading every eighth double touches one element per line.</a:t>
            </a:r>
          </a:p>
          <a:p>
            <a:pPr>
              <a:spcAft>
                <a:spcPts val="1100"/>
              </a:spcAft>
              <a:defRPr sz="1900">
                <a:solidFill>
                  <a:srgbClr val="F2F5F8"/>
                </a:solidFill>
              </a:defRPr>
            </a:pPr>
            <a:r>
              <a:t>• Reading every sixteenth skips a full line between accesses.</a:t>
            </a:r>
          </a:p>
          <a:p>
            <a:pPr>
              <a:spcAft>
                <a:spcPts val="1100"/>
              </a:spcAft>
              <a:defRPr sz="1900">
                <a:solidFill>
                  <a:srgbClr val="F2F5F8"/>
                </a:solidFill>
              </a:defRPr>
            </a:pPr>
            <a:r>
              <a:t>• Larger strides therefore waste more fetched bytes and reduce spatial locality.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Stride and cache lines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 64-byte cache lines and 8-byte elements, sequentially reading doubles uses eight neighboring elements per fetched line.</a:t>
            </a:r>
          </a:p>
          <a:p>
            <a:pPr>
              <a:spcAft>
                <a:spcPts val="1100"/>
              </a:spcAft>
              <a:defRPr sz="1900">
                <a:solidFill>
                  <a:srgbClr val="F2F5F8"/>
                </a:solidFill>
              </a:defRPr>
            </a:pPr>
            <a:r>
              <a:t>• Reading every eighth double touches one element per line.</a:t>
            </a:r>
          </a:p>
          <a:p>
            <a:pPr>
              <a:spcAft>
                <a:spcPts val="1100"/>
              </a:spcAft>
              <a:defRPr sz="1900">
                <a:solidFill>
                  <a:srgbClr val="F2F5F8"/>
                </a:solidFill>
              </a:defRPr>
            </a:pPr>
            <a:r>
              <a:t>• Reading every sixteenth skips a full line between accesses.</a:t>
            </a:r>
          </a:p>
          <a:p>
            <a:pPr>
              <a:spcAft>
                <a:spcPts val="1100"/>
              </a:spcAft>
              <a:defRPr sz="1900">
                <a:solidFill>
                  <a:srgbClr val="F2F5F8"/>
                </a:solidFill>
              </a:defRPr>
            </a:pPr>
            <a:r>
              <a:t>• Larger strides therefore waste more fetched bytes and reduce spatial locality.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28.</a:t>
            </a:r>
          </a:p>
          <a:p>
            <a:pPr>
              <a:spcAft>
                <a:spcPts val="1100"/>
              </a:spcAft>
              <a:defRPr sz="1900">
                <a:solidFill>
                  <a:srgbClr val="F2F5F8"/>
                </a:solidFill>
              </a:defRPr>
            </a:pPr>
            <a:r>
              <a:t>• Calculate the stride in bytes for column traversal of a row-major 100 × 200 matrix of four-byte elements.</a:t>
            </a:r>
          </a:p>
          <a:p>
            <a:pPr>
              <a:spcAft>
                <a:spcPts val="1100"/>
              </a:spcAft>
              <a:defRPr sz="1900">
                <a:solidFill>
                  <a:srgbClr val="F2F5F8"/>
                </a:solidFill>
              </a:defRPr>
            </a:pPr>
            <a:r>
              <a:t>• Then estimate the data size of a 16 × 16 tile.</a:t>
            </a:r>
          </a:p>
          <a:p>
            <a:pPr>
              <a:spcAft>
                <a:spcPts val="1100"/>
              </a:spcAft>
              <a:defRPr sz="1900">
                <a:solidFill>
                  <a:srgbClr val="F2F5F8"/>
                </a:solidFill>
              </a:defRPr>
            </a:pPr>
            <a:r>
              <a:t>• Explain why those numbers do not by themselves predict execution time.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Can a one-pass scan have spatial locality without temporal reuse?</a:t>
            </a:r>
          </a:p>
          <a:p>
            <a:pPr>
              <a:spcAft>
                <a:spcPts val="1100"/>
              </a:spcAft>
              <a:defRPr sz="1900">
                <a:solidFill>
                  <a:srgbClr val="F2F5F8"/>
                </a:solidFill>
              </a:defRPr>
            </a:pPr>
            <a:r>
              <a:t>• Review 2.</a:t>
            </a:r>
          </a:p>
          <a:p>
            <a:pPr>
              <a:spcAft>
                <a:spcPts val="1100"/>
              </a:spcAft>
              <a:defRPr sz="1900">
                <a:solidFill>
                  <a:srgbClr val="F2F5F8"/>
                </a:solidFill>
              </a:defRPr>
            </a:pPr>
            <a:r>
              <a:t>• Why should a benchmark distinguish dependent from independent random accesses?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locality.</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Cache Organization.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28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