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16 — Machine Control Flow</a:t>
            </a:r>
          </a:p>
          <a:p/>
          <a:p>
            <a:r>
              <a:t>LECTURE NARRATION</a:t>
            </a:r>
          </a:p>
          <a:p>
            <a:r>
              <a:t>Control flow chooses the next instruction. At the machine level, source constructs such as if , while , and switch become comparisons, branches, conditional selections, or table-based dispatch. The translation depends on optimization and the shape of the input domain.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control flow chooses the next instruction.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Control flow chooses the next instruction. At the machine level, source constructs such as if , while , and switch become comparisons, branches, conditional selections, or table-based dispatch. The translation depends on optimization and the shape of the input domain.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control flow chooses the next instruction.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16.1 cmp 16.2 test 16.3 Condition flags 16.4 Conditional branches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16.1 cmp 16.2 test 16.3 Condition flags 16.4 Conditional branches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16.1 cmp</a:t>
            </a:r>
          </a:p>
          <a:p/>
          <a:p>
            <a:r>
              <a:t>LECTURE NARRATION</a:t>
            </a:r>
          </a:p>
          <a:p>
            <a:r>
              <a:t>cmp source, destination sets flags as though it computed destination minus source, but discards the arithmetic result. In AT&amp;T syntax, cmpq %rsi, %rdi therefore compares %rdi against %rsi . The following branch determines whether the comparison is interpreted as signed or unsigned. The cmp instruction itself does not carry a high-level signedness tag. A wrong branch condition can make identical input patterns produce an incorrect ordering even though the subtraction flags were generated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cmp source, destination sets flags as though it computed destination minus source, but discards the arithmetic result.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16.1 cmp — Deep Dive</a:t>
            </a:r>
          </a:p>
          <a:p/>
          <a:p>
            <a:r>
              <a:t>LECTURE NARRATION</a:t>
            </a:r>
          </a:p>
          <a:p>
            <a:r>
              <a:t>cmp source, destination sets flags as though it computed destination minus source, but discards the arithmetic result. In AT&amp;T syntax, cmpq %rsi, %rdi therefore compares %rdi against %rsi . The following branch determines whether the comparison is interpreted as signed or unsigned. The cmp instruction itself does not carry a high-level signedness tag. A wrong branch condition can make identical input patterns produce an incorrect ordering even though the subtraction flags were generated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cmp source, destination sets flags as though it computed destination minus source, but discards the arithmetic result.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16.2 test</a:t>
            </a:r>
          </a:p>
          <a:p/>
          <a:p>
            <a:r>
              <a:t>LECTURE NARRATION</a:t>
            </a:r>
          </a:p>
          <a:p>
            <a:r>
              <a:t>test sets flags from a bitwise AND without storing the AND result. testq %rax, %rax is a common way to test whether a register is zero. test with a mask checks selected bits. Testing a value against itself also exposes its sign bit through the sign flag, but the intended predicate must still be clear. A masked test followed by a zero branch means no selected bit was set. It does not mean all unselected bits were zero or that the entire value equals the mask.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test sets flags from a bitwise AND without storing the AND result. testq %rax, %rax is a common way to test whether a register is zero. test with a mask checks selected bits.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16.2 test — Deep Dive</a:t>
            </a:r>
          </a:p>
          <a:p/>
          <a:p>
            <a:r>
              <a:t>LECTURE NARRATION</a:t>
            </a:r>
          </a:p>
          <a:p>
            <a:r>
              <a:t>test sets flags from a bitwise AND without storing the AND result. testq %rax, %rax is a common way to test whether a register is zero. test with a mask checks selected bits. Testing a value against itself also exposes its sign bit through the sign flag, but the intended predicate must still be clear. A masked test followed by a zero branch means no selected bit was set. It does not mean all unselected bits were zero or that the entire value equals the mask.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test sets flags from a bitwise AND without storing the AND result. testq %rax, %rax is a common way to test whether a register is zero. test with a mask checks selected bits.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16.3 Condition flags</a:t>
            </a:r>
          </a:p>
          <a:p/>
          <a:p>
            <a:r>
              <a:t>LECTURE NARRATION</a:t>
            </a:r>
          </a:p>
          <a:p>
            <a:r>
              <a:t>For common comparisons, zero ( ZF ) indicates equality, sign ( SF ) reflects the result’s sign bit, carry ( CF ) supports unsigned order, and overflow ( OF ) corrects signed-order interpretation when subtraction’s sign alone would mislead. A useful subset is: Keep the comparison and branch adjacent in your reasoning even when scheduling places other instructions between them. An instruction that changes relevant flags changes the branch’s input.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16.3 Condition flags — Deep Dive</a:t>
            </a:r>
          </a:p>
          <a:p/>
          <a:p>
            <a:r>
              <a:t>LECTURE NARRATION</a:t>
            </a:r>
          </a:p>
          <a:p>
            <a:r>
              <a:t>For common comparisons, zero ( ZF ) indicates equality, sign ( SF ) reflects the result’s sign bit, carry ( CF ) supports unsigned order, and overflow ( OF ) corrects signed-order interpretation when subtraction’s sign alone would mislead. A useful subset is: Keep the comparison and branch adjacent in your reasoning even when scheduling places other instructions between them. An instruction that changes relevant flags changes the branch’s input.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16.4 Conditional branches</a:t>
            </a:r>
          </a:p>
          <a:p/>
          <a:p>
            <a:r>
              <a:t>LECTURE NARRATION</a:t>
            </a:r>
          </a:p>
          <a:p>
            <a:r>
              <a:t>A conditional branch transfers control when a flag predicate is true. Otherwise execution continues with the following instruction. The processor may predict the outcome and execute speculatively, but architectural behavior must match the permitted branch result. A misprediction can waste speculative work, yet removing a branch is not automatically faster. A branch may avoid an expensive or invalid operation. A branchless replacement that computes both alternatives can increase work or access memory that the original branch protected. Preserve semantics before comparing speed.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16.4 Conditional branches — Deep Dive</a:t>
            </a:r>
          </a:p>
          <a:p/>
          <a:p>
            <a:r>
              <a:t>LECTURE NARRATION</a:t>
            </a:r>
          </a:p>
          <a:p>
            <a:r>
              <a:t>A conditional branch transfers control when a flag predicate is true. Otherwise execution continues with the following instruction. The processor may predict the outcome and execute speculatively, but architectural behavior must match the permitted branch result. A misprediction can waste speculative work, yet removing a branch is not automatically faster. A branch may avoid an expensive or invalid operation. A branchless replacement that computes both alternatives can increase work or access memory that the original branch protected. Preserve semantics before comparing speed.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16.5 Unconditional branches</a:t>
            </a:r>
          </a:p>
          <a:p/>
          <a:p>
            <a:r>
              <a:t>LECTURE NARRATION</a:t>
            </a:r>
          </a:p>
          <a:p>
            <a:r>
              <a:t>An unconditional jump changes the next instruction without testing flags. It can target a fixed label or an address obtained indirectly. Compilers use jumps to connect basic blocks, implement loop back edges, and skip alternate paths. An indirect jump’s target must be valid for the intended control-flow graph. Table indices and function pointers need bounds and type validation. A control-flow error can redirect execution even when no arithmetic result is wrong. Security mechanisms can constrain some targets, but the program must still maintain valid dispatch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16.5 Unconditional branches — Deep Dive</a:t>
            </a:r>
          </a:p>
          <a:p/>
          <a:p>
            <a:r>
              <a:t>LECTURE NARRATION</a:t>
            </a:r>
          </a:p>
          <a:p>
            <a:r>
              <a:t>An unconditional jump changes the next instruction without testing flags. It can target a fixed label or an address obtained indirectly. Compilers use jumps to connect basic blocks, implement loop back edges, and skip alternate paths. An indirect jump’s target must be valid for the intended control-flow graph. Table indices and function pointers need bounds and type validation. A control-flow error can redirect execution even when no arithmetic result is wrong. Security mechanisms can constrain some targets, but the program must still maintain valid dispatch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16.6 Loops</a:t>
            </a:r>
          </a:p>
          <a:p/>
          <a:p>
            <a:r>
              <a:t>LECTURE NARRATION</a:t>
            </a:r>
          </a:p>
          <a:p>
            <a:r>
              <a:t>A loop usually contains initialization, a condition, a body, an update, and a back edge. Compilers may place the condition at the top or bottom, duplicate a test, or transform the induction variable. The resulting assembly can look different from the source while preserving the iteration domain. To understand a loop, identify its invariant and progress measure. A pointer may advance while a count decreases. An index may be compared against an end value. Determine whether the loop handles zero iterations before examining the body; many off-by-one errors arise from assuming at least one element exists.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loop usually contains initialization, a condition, a body, an update, and a back edge.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16.6 Loops — Deep Dive</a:t>
            </a:r>
          </a:p>
          <a:p/>
          <a:p>
            <a:r>
              <a:t>LECTURE NARRATION</a:t>
            </a:r>
          </a:p>
          <a:p>
            <a:r>
              <a:t>A loop usually contains initialization, a condition, a body, an update, and a back edge. Compilers may place the condition at the top or bottom, duplicate a test, or transform the induction variable. The resulting assembly can look different from the source while preserving the iteration domain. To understand a loop, identify its invariant and progress measure. A pointer may advance while a count decreases. An index may be compared against an end value. Determine whether the loop handles zero iterations before examining the body; many off-by-one errors arise from assuming at least one element exists.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loop usually contains initialization, a condition, a body, an update, and a back edge.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16.7 Conditional moves</a:t>
            </a:r>
          </a:p>
          <a:p/>
          <a:p>
            <a:r>
              <a:t>LECTURE NARRATION</a:t>
            </a:r>
          </a:p>
          <a:p>
            <a:r>
              <a:t>A conditional move selects a value according to flags without a control-flow branch. It can be effective when both candidate values are cheap and valid to compute. It is not a general replacement for a branch guarding unsafe work. In particular, a conditional move with a memory source can require the memory operand to be read even when the condition would leave the destination unchanged. Do not use it to hide an invalid address behind a false condition. High-level conditional expressions also have language evaluation rules that the compiler must preserve for valid programs.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16.7 Conditional moves — Deep Dive</a:t>
            </a:r>
          </a:p>
          <a:p/>
          <a:p>
            <a:r>
              <a:t>LECTURE NARRATION</a:t>
            </a:r>
          </a:p>
          <a:p>
            <a:r>
              <a:t>A conditional move selects a value according to flags without a control-flow branch. It can be effective when both candidate values are cheap and valid to compute. It is not a general replacement for a branch guarding unsafe work. In particular, a conditional move with a memory source can require the memory operand to be read even when the condition would leave the destination unchanged. Do not use it to hide an invalid address behind a false condition. High-level conditional expressions also have language evaluation rules that the compiler must preserve for valid programs.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16.8 Jump tables</a:t>
            </a:r>
          </a:p>
          <a:p/>
          <a:p>
            <a:r>
              <a:t>LECTURE NARRATION</a:t>
            </a:r>
          </a:p>
          <a:p>
            <a:r>
              <a:t>A jump table stores branch targets or offsets indexed by a selector. It can efficiently dispatch among many dense cases. The compiler normally includes a range check before indexing the table, possibly after subtracting the lowest case value. Sparse selectors may be better served by comparisons or a search structure. A table’s size and locality also matter. The fact that a source switch has many cases does not guarantee a jump table, and the presence of a table does not mean every possible input is a valid index.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jump table stores branch targets or offsets indexed by a selector.</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16.8 Jump tables — Deep Dive</a:t>
            </a:r>
          </a:p>
          <a:p/>
          <a:p>
            <a:r>
              <a:t>LECTURE NARRATION</a:t>
            </a:r>
          </a:p>
          <a:p>
            <a:r>
              <a:t>A jump table stores branch targets or offsets indexed by a selector. It can efficiently dispatch among many dense cases. The compiler normally includes a range check before indexing the table, possibly after subtracting the lowest case value. Sparse selectors may be better served by comparisons or a search structure. A table’s size and locality also matter. The fact that a source switch has many cases does not guarantee a jump table, and the presence of a table does not mean every possible input is a valid index.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jump table stores branch targets or offsets indexed by a selector.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16.9 switch translation</a:t>
            </a:r>
          </a:p>
          <a:p/>
          <a:p>
            <a:r>
              <a:t>LECTURE NARRATION</a:t>
            </a:r>
          </a:p>
          <a:p>
            <a:r>
              <a:t>A switch can become a jump table, comparison tree, sequence of branches, arithmetic transformation, or data lookup. Cases returning constants may become a value table rather than a table of instruction addresses. Optimization depends on case density and behavior. When inspecting translation, start with the source’s semantic mapping from input values to outcomes. Then identify how the assembly implements that mapping and handles the default case. This avoids mistaking a compact arithmetic transformation for missing cases or assuming a table entry is executable code when it is merely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switch can become a jump table, comparison tree, sequence of branches, arithmetic transformation, or data lookup.</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16.9 switch translation — Deep Dive</a:t>
            </a:r>
          </a:p>
          <a:p/>
          <a:p>
            <a:r>
              <a:t>LECTURE NARRATION</a:t>
            </a:r>
          </a:p>
          <a:p>
            <a:r>
              <a:t>A switch can become a jump table, comparison tree, sequence of branches, arithmetic transformation, or data lookup. Cases returning constants may become a value table rather than a table of instruction addresses. Optimization depends on case density and behavior. When inspecting translation, start with the source’s semantic mapping from input values to outcomes. Then identify how the assembly implements that mapping and handles the default case. This avoids mistaking a compact arithmetic transformation for missing cases or assuming a table entry is executable code when it is merely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switch can become a jump table, comparison tree, sequence of branches, arithmetic transformation, or data lookup.</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A count-controlled sum loop</a:t>
            </a:r>
          </a:p>
          <a:p/>
          <a:p>
            <a:r>
              <a:t>LECTURE NARRATION</a:t>
            </a:r>
          </a:p>
          <a:p>
            <a:r>
              <a:t>The requirement is to sum a valid array of 64-bit unsigned values, with modular 64-bit addition. A zero-length input must return zero without reading memory. Companion listing: ch16/sum.S Companion listing: ch16/main.c The loop invariant is that %rax contains the sum of consumed elements, %rdi points to the next element, and %rsi is the number remaining. Initially the count is four and the sum zero. After successive iterations, the sums are 10, 30, 60, and 100 while the counts are 3, 2, 1, and 0. The final subq supplies the flags consumed by jne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sum a valid array of 64-bit unsigned values, with modular 64-bit addition.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A count-controlled sum loop — Deep Dive</a:t>
            </a:r>
          </a:p>
          <a:p/>
          <a:p>
            <a:r>
              <a:t>LECTURE NARRATION</a:t>
            </a:r>
          </a:p>
          <a:p>
            <a:r>
              <a:t>The requirement is to sum a valid array of 64-bit unsigned values, with modular 64-bit addition. A zero-length input must return zero without reading memory. Companion listing: ch16/sum.S Companion listing: ch16/main.c The loop invariant is that %rax contains the sum of consumed elements, %rdi points to the next element, and %rsi is the number remaining. Initially the count is four and the sum zero. After successive iterations, the sums are 10, 30, 60, and 100 while the counts are 3, 2, 1, and 0. The final subq supplies the flags consumed by jne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sum a valid array of 64-bit unsigned values, with modular 64-bit addition.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Translating an if statement</a:t>
            </a:r>
          </a:p>
          <a:p/>
          <a:p>
            <a:r>
              <a:t>LECTURE NARRATION</a:t>
            </a:r>
          </a:p>
          <a:p>
            <a:r>
              <a:t>For if (x &lt; 10) y=1; else y=2; , the compiler can compare x with 10, set flags, and branch to one assignment or the other. Alternatively, it may compute both candidates and use a conditional move to reduce branch cost. The chosen form depends on optimization and target heuristics, but both must preserve the same language-level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if (x &lt; 10) y=1; else y=2; , the compiler can compare x with 10, set flags, and branch to one assignment or the other.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Translating an if statement — Deep Dive</a:t>
            </a:r>
          </a:p>
          <a:p/>
          <a:p>
            <a:r>
              <a:t>LECTURE NARRATION</a:t>
            </a:r>
          </a:p>
          <a:p>
            <a:r>
              <a:t>For if (x &lt; 10) y=1; else y=2; , the compiler can compare x with 10, set flags, and branch to one assignment or the other. Alternatively, it may compute both candidates and use a conditional move to reduce branch cost. The chosen form depends on optimization and target heuristics, but both must preserve the same language-level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if (x &lt; 10) y=1; else y=2; , the compiler can compare x with 10, set flags, and branch to one assignment or the other.</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Indexing a jump table</a:t>
            </a:r>
          </a:p>
          <a:p/>
          <a:p>
            <a:r>
              <a:t>LECTURE NARRATION</a:t>
            </a:r>
          </a:p>
          <a:p>
            <a:r>
              <a:t>A dense switch over cases 0 through 5 may be implemented by first checking that the input is within range, then using the value as an index into an array of target addresses. The indirect jump avoids a long chain of comparisons. Sparse case values are less suitable because a table would waste space.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dense switch over cases 0 through 5 may be implemented by first checking that the input is within range, then using the value as an index into an array of target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Indexing a jump table — Deep Dive</a:t>
            </a:r>
          </a:p>
          <a:p/>
          <a:p>
            <a:r>
              <a:t>LECTURE NARRATION</a:t>
            </a:r>
          </a:p>
          <a:p>
            <a:r>
              <a:t>A dense switch over cases 0 through 5 may be implemented by first checking that the input is within range, then using the value as an index into an array of target addresses. The indirect jump avoids a long chain of comparisons. Sparse case values are less suitable because a table would waste space.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dense switch over cases 0 through 5 may be implemented by first checking that the input is within range, then using the value as an index into an array of target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16. Compile an equivalent C function at two optimization levels and identify the empty-range check, induction variable, and accumulation. Do not require the compiler to use the handwritten sequence. Review 1. Why must a signed less-than branch differ from an unsigned below branch? Review 2. What goes wrong if a flag-changing instruction is inserted between the loop’s decrement and jne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16.</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16. Compile an equivalent C function at two optimization levels and identify the empty-range check, induction variable, and accumulation. Do not require the compiler to use the handwritten sequence. Review 1. Why must a signed less-than branch differ from an unsigned below branch? Review 2. What goes wrong if a flag-changing instruction is inserted between the loop’s decrement and jne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16.</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machine control flow.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machine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Procedures and Calling Conventions.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16 — Machine Control Flow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Control flow chooses the next instruction.</a:t>
            </a:r>
          </a:p>
          <a:p>
            <a:pPr>
              <a:spcAft>
                <a:spcPts val="1100"/>
              </a:spcAft>
              <a:defRPr sz="1700">
                <a:solidFill>
                  <a:srgbClr val="F2F5F8"/>
                </a:solidFill>
              </a:defRPr>
            </a:pPr>
            <a:r>
              <a:t>• At the machine level, source constructs such as if , while , and switch become comparisons, branches, conditional selections, or table-based dispatch.</a:t>
            </a:r>
          </a:p>
          <a:p>
            <a:pPr>
              <a:spcAft>
                <a:spcPts val="1100"/>
              </a:spcAft>
              <a:defRPr sz="1900">
                <a:solidFill>
                  <a:srgbClr val="F2F5F8"/>
                </a:solidFill>
              </a:defRPr>
            </a:pPr>
            <a:r>
              <a:t>• The translation depends on optimization and the shape of the input domain.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Machine Control Flow.</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16.1 cmp</a:t>
            </a:r>
          </a:p>
          <a:p>
            <a:pPr>
              <a:spcAft>
                <a:spcPts val="1100"/>
              </a:spcAft>
              <a:defRPr sz="1900">
                <a:solidFill>
                  <a:srgbClr val="F2F5F8"/>
                </a:solidFill>
              </a:defRPr>
            </a:pPr>
            <a:r>
              <a:t>• 16.2 test</a:t>
            </a:r>
          </a:p>
          <a:p>
            <a:pPr>
              <a:spcAft>
                <a:spcPts val="1100"/>
              </a:spcAft>
              <a:defRPr sz="1900">
                <a:solidFill>
                  <a:srgbClr val="F2F5F8"/>
                </a:solidFill>
              </a:defRPr>
            </a:pPr>
            <a:r>
              <a:t>• 16.3 Condition flags</a:t>
            </a:r>
          </a:p>
          <a:p>
            <a:pPr>
              <a:spcAft>
                <a:spcPts val="1100"/>
              </a:spcAft>
              <a:defRPr sz="1900">
                <a:solidFill>
                  <a:srgbClr val="F2F5F8"/>
                </a:solidFill>
              </a:defRPr>
            </a:pPr>
            <a:r>
              <a:t>• 16.4 Conditional branches</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16.1 cmp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cmp source, destination sets flags as though it computed destination minus source, but discards the arithmetic result.</a:t>
            </a:r>
          </a:p>
          <a:p>
            <a:pPr>
              <a:spcAft>
                <a:spcPts val="1100"/>
              </a:spcAft>
              <a:defRPr sz="1900">
                <a:solidFill>
                  <a:srgbClr val="F2F5F8"/>
                </a:solidFill>
              </a:defRPr>
            </a:pPr>
            <a:r>
              <a:t>• In AT&amp;T syntax, cmpq %rsi, %rdi therefore compares %rdi against %rsi .</a:t>
            </a:r>
          </a:p>
          <a:p>
            <a:pPr>
              <a:spcAft>
                <a:spcPts val="1100"/>
              </a:spcAft>
              <a:defRPr sz="1900">
                <a:solidFill>
                  <a:srgbClr val="F2F5F8"/>
                </a:solidFill>
              </a:defRPr>
            </a:pPr>
            <a:r>
              <a:t>• The following branch determines whether the comparison is interpreted as signed or unsigned.</a:t>
            </a:r>
          </a:p>
          <a:p>
            <a:pPr>
              <a:spcAft>
                <a:spcPts val="1100"/>
              </a:spcAft>
              <a:defRPr sz="1900">
                <a:solidFill>
                  <a:srgbClr val="F2F5F8"/>
                </a:solidFill>
              </a:defRPr>
            </a:pPr>
            <a:r>
              <a:t>• The cmp instruction itself does not carry a high-level signedness tag.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16.1 cmp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following branch determines whether the comparison is interpreted as signed or unsigned.</a:t>
            </a:r>
          </a:p>
          <a:p>
            <a:pPr>
              <a:spcAft>
                <a:spcPts val="1100"/>
              </a:spcAft>
              <a:defRPr sz="1900">
                <a:solidFill>
                  <a:srgbClr val="F2F5F8"/>
                </a:solidFill>
              </a:defRPr>
            </a:pPr>
            <a:r>
              <a:t>• The cmp instruction itself does not carry a high-level signedness tag.</a:t>
            </a:r>
          </a:p>
          <a:p>
            <a:pPr>
              <a:spcAft>
                <a:spcPts val="1100"/>
              </a:spcAft>
              <a:defRPr sz="1700">
                <a:solidFill>
                  <a:srgbClr val="F2F5F8"/>
                </a:solidFill>
              </a:defRPr>
            </a:pPr>
            <a:r>
              <a:t>• A wrong branch condition can make identical input patterns produce an incorrect ordering even though the subtraction flags were generated correctly.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16.2 test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test sets flags from a bitwise AND without storing the AND result. testq %rax, %rax is a common way to test whether a register is zero. test with a mask checks selected bits.</a:t>
            </a:r>
          </a:p>
          <a:p>
            <a:pPr>
              <a:spcAft>
                <a:spcPts val="1100"/>
              </a:spcAft>
              <a:defRPr sz="1700">
                <a:solidFill>
                  <a:srgbClr val="F2F5F8"/>
                </a:solidFill>
              </a:defRPr>
            </a:pPr>
            <a:r>
              <a:t>• Testing a value against itself also exposes its sign bit through the sign flag, but the intended predicate must still be clear.</a:t>
            </a:r>
          </a:p>
          <a:p>
            <a:pPr>
              <a:spcAft>
                <a:spcPts val="1100"/>
              </a:spcAft>
              <a:defRPr sz="1900">
                <a:solidFill>
                  <a:srgbClr val="F2F5F8"/>
                </a:solidFill>
              </a:defRPr>
            </a:pPr>
            <a:r>
              <a:t>• A masked test followed by a zero branch means no selected bit was set.</a:t>
            </a:r>
          </a:p>
          <a:p>
            <a:pPr>
              <a:spcAft>
                <a:spcPts val="1100"/>
              </a:spcAft>
              <a:defRPr sz="1900">
                <a:solidFill>
                  <a:srgbClr val="F2F5F8"/>
                </a:solidFill>
              </a:defRPr>
            </a:pPr>
            <a:r>
              <a:t>• It does not mean all unselected bits were zero or that the entire value equals the mask.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16.2 test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Testing a value against itself also exposes its sign bit through the sign flag, but the intended predicate must still be clear.</a:t>
            </a:r>
          </a:p>
          <a:p>
            <a:pPr>
              <a:spcAft>
                <a:spcPts val="1100"/>
              </a:spcAft>
              <a:defRPr sz="1900">
                <a:solidFill>
                  <a:srgbClr val="F2F5F8"/>
                </a:solidFill>
              </a:defRPr>
            </a:pPr>
            <a:r>
              <a:t>• A masked test followed by a zero branch means no selected bit was set.</a:t>
            </a:r>
          </a:p>
          <a:p>
            <a:pPr>
              <a:spcAft>
                <a:spcPts val="1100"/>
              </a:spcAft>
              <a:defRPr sz="1900">
                <a:solidFill>
                  <a:srgbClr val="F2F5F8"/>
                </a:solidFill>
              </a:defRPr>
            </a:pPr>
            <a:r>
              <a:t>• It does not mean all unselected bits were zero or that the entire value equals the mask.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16.3 Condition flags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common comparisons, zero ( ZF ) indicates equality, sign ( SF ) reflects the result’s sign bit, carry ( CF ) supports unsigned order, and overflow ( OF ) corrects...</a:t>
            </a:r>
          </a:p>
          <a:p>
            <a:pPr>
              <a:spcAft>
                <a:spcPts val="1100"/>
              </a:spcAft>
              <a:defRPr sz="1900">
                <a:solidFill>
                  <a:srgbClr val="F2F5F8"/>
                </a:solidFill>
              </a:defRPr>
            </a:pPr>
            <a:r>
              <a:t>• A useful subset is:</a:t>
            </a:r>
          </a:p>
          <a:p>
            <a:pPr>
              <a:spcAft>
                <a:spcPts val="1100"/>
              </a:spcAft>
              <a:defRPr sz="1900">
                <a:solidFill>
                  <a:srgbClr val="F2F5F8"/>
                </a:solidFill>
              </a:defRPr>
            </a:pPr>
            <a:r>
              <a:t>• Keep the comparison and branch adjacent in your reasoning even when scheduling places other instructions between them.</a:t>
            </a:r>
          </a:p>
          <a:p>
            <a:pPr>
              <a:spcAft>
                <a:spcPts val="1100"/>
              </a:spcAft>
              <a:defRPr sz="1900">
                <a:solidFill>
                  <a:srgbClr val="F2F5F8"/>
                </a:solidFill>
              </a:defRPr>
            </a:pPr>
            <a:r>
              <a:t>• An instruction that changes relevant flags changes the branch’s input.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16.3 Condition flags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useful subset is:</a:t>
            </a:r>
          </a:p>
          <a:p>
            <a:pPr>
              <a:spcAft>
                <a:spcPts val="1100"/>
              </a:spcAft>
              <a:defRPr sz="1900">
                <a:solidFill>
                  <a:srgbClr val="F2F5F8"/>
                </a:solidFill>
              </a:defRPr>
            </a:pPr>
            <a:r>
              <a:t>• Keep the comparison and branch adjacent in your reasoning even when scheduling places other instructions between them.</a:t>
            </a:r>
          </a:p>
          <a:p>
            <a:pPr>
              <a:spcAft>
                <a:spcPts val="1100"/>
              </a:spcAft>
              <a:defRPr sz="1900">
                <a:solidFill>
                  <a:srgbClr val="F2F5F8"/>
                </a:solidFill>
              </a:defRPr>
            </a:pPr>
            <a:r>
              <a:t>• An instruction that changes relevant flags changes the branch’s input.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16.4 Conditional branches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conditional branch transfers control when a flag predicate is true.</a:t>
            </a:r>
          </a:p>
          <a:p>
            <a:pPr>
              <a:spcAft>
                <a:spcPts val="1100"/>
              </a:spcAft>
              <a:defRPr sz="1900">
                <a:solidFill>
                  <a:srgbClr val="F2F5F8"/>
                </a:solidFill>
              </a:defRPr>
            </a:pPr>
            <a:r>
              <a:t>• Otherwise execution continues with the following instruction.</a:t>
            </a:r>
          </a:p>
          <a:p>
            <a:pPr>
              <a:spcAft>
                <a:spcPts val="1100"/>
              </a:spcAft>
              <a:defRPr sz="1700">
                <a:solidFill>
                  <a:srgbClr val="F2F5F8"/>
                </a:solidFill>
              </a:defRPr>
            </a:pPr>
            <a:r>
              <a:t>• The processor may predict the outcome and execute speculatively, but architectural behavior must match the permitted branch result.</a:t>
            </a:r>
          </a:p>
          <a:p>
            <a:pPr>
              <a:spcAft>
                <a:spcPts val="1100"/>
              </a:spcAft>
              <a:defRPr sz="1900">
                <a:solidFill>
                  <a:srgbClr val="F2F5F8"/>
                </a:solidFill>
              </a:defRPr>
            </a:pPr>
            <a:r>
              <a:t>• A misprediction can waste speculative work, yet removing a branch is not automatically faster.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16.4 Conditional branches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misprediction can waste speculative work, yet removing a branch is not automatically faster.</a:t>
            </a:r>
          </a:p>
          <a:p>
            <a:pPr>
              <a:spcAft>
                <a:spcPts val="1100"/>
              </a:spcAft>
              <a:defRPr sz="1900">
                <a:solidFill>
                  <a:srgbClr val="F2F5F8"/>
                </a:solidFill>
              </a:defRPr>
            </a:pPr>
            <a:r>
              <a:t>• A branch may avoid an expensive or invalid operation.</a:t>
            </a:r>
          </a:p>
          <a:p>
            <a:pPr>
              <a:spcAft>
                <a:spcPts val="1100"/>
              </a:spcAft>
              <a:defRPr sz="1700">
                <a:solidFill>
                  <a:srgbClr val="F2F5F8"/>
                </a:solidFill>
              </a:defRPr>
            </a:pPr>
            <a:r>
              <a:t>• A branchless replacement that computes both alternatives can increase work or access memory that the original branch protected.</a:t>
            </a:r>
          </a:p>
          <a:p>
            <a:pPr>
              <a:spcAft>
                <a:spcPts val="1100"/>
              </a:spcAft>
              <a:defRPr sz="1900">
                <a:solidFill>
                  <a:srgbClr val="F2F5F8"/>
                </a:solidFill>
              </a:defRPr>
            </a:pPr>
            <a:r>
              <a:t>• Preserve semantics before comparing speed.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16.5 Unconditional branches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unconditional jump changes the next instruction without testing flags.</a:t>
            </a:r>
          </a:p>
          <a:p>
            <a:pPr>
              <a:spcAft>
                <a:spcPts val="1100"/>
              </a:spcAft>
              <a:defRPr sz="1900">
                <a:solidFill>
                  <a:srgbClr val="F2F5F8"/>
                </a:solidFill>
              </a:defRPr>
            </a:pPr>
            <a:r>
              <a:t>• It can target a fixed label or an address obtained indirectly.</a:t>
            </a:r>
          </a:p>
          <a:p>
            <a:pPr>
              <a:spcAft>
                <a:spcPts val="1100"/>
              </a:spcAft>
              <a:defRPr sz="1900">
                <a:solidFill>
                  <a:srgbClr val="F2F5F8"/>
                </a:solidFill>
              </a:defRPr>
            </a:pPr>
            <a:r>
              <a:t>• Compilers use jumps to connect basic blocks, implement loop back edges, and skip alternate paths.</a:t>
            </a:r>
          </a:p>
          <a:p>
            <a:pPr>
              <a:spcAft>
                <a:spcPts val="1100"/>
              </a:spcAft>
              <a:defRPr sz="1900">
                <a:solidFill>
                  <a:srgbClr val="F2F5F8"/>
                </a:solidFill>
              </a:defRPr>
            </a:pPr>
            <a:r>
              <a:t>• An indirect jump’s target must be valid for the intended control-flow graph.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16.5 Unconditional branches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indirect jump’s target must be valid for the intended control-flow graph.</a:t>
            </a:r>
          </a:p>
          <a:p>
            <a:pPr>
              <a:spcAft>
                <a:spcPts val="1100"/>
              </a:spcAft>
              <a:defRPr sz="1900">
                <a:solidFill>
                  <a:srgbClr val="F2F5F8"/>
                </a:solidFill>
              </a:defRPr>
            </a:pPr>
            <a:r>
              <a:t>• Table indices and function pointers need bounds and type validation.</a:t>
            </a:r>
          </a:p>
          <a:p>
            <a:pPr>
              <a:spcAft>
                <a:spcPts val="1100"/>
              </a:spcAft>
              <a:defRPr sz="1900">
                <a:solidFill>
                  <a:srgbClr val="F2F5F8"/>
                </a:solidFill>
              </a:defRPr>
            </a:pPr>
            <a:r>
              <a:t>• A control-flow error can redirect execution even when no arithmetic result is wrong.</a:t>
            </a:r>
          </a:p>
          <a:p>
            <a:pPr>
              <a:spcAft>
                <a:spcPts val="1100"/>
              </a:spcAft>
              <a:defRPr sz="1900">
                <a:solidFill>
                  <a:srgbClr val="F2F5F8"/>
                </a:solidFill>
              </a:defRPr>
            </a:pPr>
            <a:r>
              <a:t>• Security mechanisms can constrain some targets, but the program must still maintain valid dispatch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16.6 Loops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loop usually contains initialization, a condition, a body, an update, and a back edge.</a:t>
            </a:r>
          </a:p>
          <a:p>
            <a:pPr>
              <a:spcAft>
                <a:spcPts val="1100"/>
              </a:spcAft>
              <a:defRPr sz="1900">
                <a:solidFill>
                  <a:srgbClr val="F2F5F8"/>
                </a:solidFill>
              </a:defRPr>
            </a:pPr>
            <a:r>
              <a:t>• Compilers may place the condition at the top or bottom, duplicate a test, or transform the induction variable.</a:t>
            </a:r>
          </a:p>
          <a:p>
            <a:pPr>
              <a:spcAft>
                <a:spcPts val="1100"/>
              </a:spcAft>
              <a:defRPr sz="1900">
                <a:solidFill>
                  <a:srgbClr val="F2F5F8"/>
                </a:solidFill>
              </a:defRPr>
            </a:pPr>
            <a:r>
              <a:t>• The resulting assembly can look different from the source while preserving the iteration domain.</a:t>
            </a:r>
          </a:p>
          <a:p>
            <a:pPr>
              <a:spcAft>
                <a:spcPts val="1100"/>
              </a:spcAft>
              <a:defRPr sz="1900">
                <a:solidFill>
                  <a:srgbClr val="F2F5F8"/>
                </a:solidFill>
              </a:defRPr>
            </a:pPr>
            <a:r>
              <a:t>• To understand a loop, identify its invariant and progress measure.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16.6 Loops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To understand a loop, identify its invariant and progress measure.</a:t>
            </a:r>
          </a:p>
          <a:p>
            <a:pPr>
              <a:spcAft>
                <a:spcPts val="1100"/>
              </a:spcAft>
              <a:defRPr sz="1900">
                <a:solidFill>
                  <a:srgbClr val="F2F5F8"/>
                </a:solidFill>
              </a:defRPr>
            </a:pPr>
            <a:r>
              <a:t>• A pointer may advance while a count decreases.</a:t>
            </a:r>
          </a:p>
          <a:p>
            <a:pPr>
              <a:spcAft>
                <a:spcPts val="1100"/>
              </a:spcAft>
              <a:defRPr sz="1900">
                <a:solidFill>
                  <a:srgbClr val="F2F5F8"/>
                </a:solidFill>
              </a:defRPr>
            </a:pPr>
            <a:r>
              <a:t>• An index may be compared against an end value.</a:t>
            </a:r>
          </a:p>
          <a:p>
            <a:pPr>
              <a:spcAft>
                <a:spcPts val="1100"/>
              </a:spcAft>
              <a:defRPr sz="1700">
                <a:solidFill>
                  <a:srgbClr val="F2F5F8"/>
                </a:solidFill>
              </a:defRPr>
            </a:pPr>
            <a:r>
              <a:t>• Determine whether the loop handles zero iterations before examining the body; many off-by-one errors arise from assuming at least one element exists.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16.7 Conditional moves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conditional move selects a value according to flags without a control-flow branch.</a:t>
            </a:r>
          </a:p>
          <a:p>
            <a:pPr>
              <a:spcAft>
                <a:spcPts val="1100"/>
              </a:spcAft>
              <a:defRPr sz="1900">
                <a:solidFill>
                  <a:srgbClr val="F2F5F8"/>
                </a:solidFill>
              </a:defRPr>
            </a:pPr>
            <a:r>
              <a:t>• It can be effective when both candidate values are cheap and valid to compute.</a:t>
            </a:r>
          </a:p>
          <a:p>
            <a:pPr>
              <a:spcAft>
                <a:spcPts val="1100"/>
              </a:spcAft>
              <a:defRPr sz="1900">
                <a:solidFill>
                  <a:srgbClr val="F2F5F8"/>
                </a:solidFill>
              </a:defRPr>
            </a:pPr>
            <a:r>
              <a:t>• It is not a general replacement for a branch guarding unsafe work.</a:t>
            </a:r>
          </a:p>
          <a:p>
            <a:pPr>
              <a:spcAft>
                <a:spcPts val="1100"/>
              </a:spcAft>
              <a:defRPr sz="1700">
                <a:solidFill>
                  <a:srgbClr val="F2F5F8"/>
                </a:solidFill>
              </a:defRPr>
            </a:pPr>
            <a:r>
              <a:t>• In particular, a conditional move with a memory source can require the memory operand to be read even when the condition would leave the destination unchanged.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16.7 Conditional moves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In particular, a conditional move with a memory source can require the memory operand to be read even when the condition would leave the destination unchanged.</a:t>
            </a:r>
          </a:p>
          <a:p>
            <a:pPr>
              <a:spcAft>
                <a:spcPts val="1100"/>
              </a:spcAft>
              <a:defRPr sz="1900">
                <a:solidFill>
                  <a:srgbClr val="F2F5F8"/>
                </a:solidFill>
              </a:defRPr>
            </a:pPr>
            <a:r>
              <a:t>• Do not use it to hide an invalid address behind a false condition.</a:t>
            </a:r>
          </a:p>
          <a:p>
            <a:pPr>
              <a:spcAft>
                <a:spcPts val="1100"/>
              </a:spcAft>
              <a:defRPr sz="1700">
                <a:solidFill>
                  <a:srgbClr val="F2F5F8"/>
                </a:solidFill>
              </a:defRPr>
            </a:pPr>
            <a:r>
              <a:t>• High-level conditional expressions also have language evaluation rules that the compiler must preserve for valid programs.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16.8 Jump tables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jump table stores branch targets or offsets indexed by a selector.</a:t>
            </a:r>
          </a:p>
          <a:p>
            <a:pPr>
              <a:spcAft>
                <a:spcPts val="1100"/>
              </a:spcAft>
              <a:defRPr sz="1900">
                <a:solidFill>
                  <a:srgbClr val="F2F5F8"/>
                </a:solidFill>
              </a:defRPr>
            </a:pPr>
            <a:r>
              <a:t>• It can efficiently dispatch among many dense cases.</a:t>
            </a:r>
          </a:p>
          <a:p>
            <a:pPr>
              <a:spcAft>
                <a:spcPts val="1100"/>
              </a:spcAft>
              <a:defRPr sz="1700">
                <a:solidFill>
                  <a:srgbClr val="F2F5F8"/>
                </a:solidFill>
              </a:defRPr>
            </a:pPr>
            <a:r>
              <a:t>• The compiler normally includes a range check before indexing the table, possibly after subtracting the lowest case value.</a:t>
            </a:r>
          </a:p>
          <a:p>
            <a:pPr>
              <a:spcAft>
                <a:spcPts val="1100"/>
              </a:spcAft>
              <a:defRPr sz="1900">
                <a:solidFill>
                  <a:srgbClr val="F2F5F8"/>
                </a:solidFill>
              </a:defRPr>
            </a:pPr>
            <a:r>
              <a:t>• Sparse selectors may be better served by comparisons or a search structure.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16.8 Jump tables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Sparse selectors may be better served by comparisons or a search structure.</a:t>
            </a:r>
          </a:p>
          <a:p>
            <a:pPr>
              <a:spcAft>
                <a:spcPts val="1100"/>
              </a:spcAft>
              <a:defRPr sz="1900">
                <a:solidFill>
                  <a:srgbClr val="F2F5F8"/>
                </a:solidFill>
              </a:defRPr>
            </a:pPr>
            <a:r>
              <a:t>• A table’s size and locality also matter.</a:t>
            </a:r>
          </a:p>
          <a:p>
            <a:pPr>
              <a:spcAft>
                <a:spcPts val="1100"/>
              </a:spcAft>
              <a:defRPr sz="1700">
                <a:solidFill>
                  <a:srgbClr val="F2F5F8"/>
                </a:solidFill>
              </a:defRPr>
            </a:pPr>
            <a:r>
              <a:t>• The fact that a source switch has many cases does not guarantee a jump table, and the presence of a table does not mean every possible input is a valid index.</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16.9 switch translation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switch can become a jump table, comparison tree, sequence of branches, arithmetic transformation, or data lookup.</a:t>
            </a:r>
          </a:p>
          <a:p>
            <a:pPr>
              <a:spcAft>
                <a:spcPts val="1100"/>
              </a:spcAft>
              <a:defRPr sz="1900">
                <a:solidFill>
                  <a:srgbClr val="F2F5F8"/>
                </a:solidFill>
              </a:defRPr>
            </a:pPr>
            <a:r>
              <a:t>• Cases returning constants may become a value table rather than a table of instruction addresses.</a:t>
            </a:r>
          </a:p>
          <a:p>
            <a:pPr>
              <a:spcAft>
                <a:spcPts val="1100"/>
              </a:spcAft>
              <a:defRPr sz="1900">
                <a:solidFill>
                  <a:srgbClr val="F2F5F8"/>
                </a:solidFill>
              </a:defRPr>
            </a:pPr>
            <a:r>
              <a:t>• Optimization depends on case density and behavior.</a:t>
            </a:r>
          </a:p>
          <a:p>
            <a:pPr>
              <a:spcAft>
                <a:spcPts val="1100"/>
              </a:spcAft>
              <a:defRPr sz="1900">
                <a:solidFill>
                  <a:srgbClr val="F2F5F8"/>
                </a:solidFill>
              </a:defRPr>
            </a:pPr>
            <a:r>
              <a:t>• When inspecting translation, start with the source’s semantic mapping from input values to outcomes.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16.9 switch translation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inspecting translation, start with the source’s semantic mapping from input values to outcomes.</a:t>
            </a:r>
          </a:p>
          <a:p>
            <a:pPr>
              <a:spcAft>
                <a:spcPts val="1100"/>
              </a:spcAft>
              <a:defRPr sz="1900">
                <a:solidFill>
                  <a:srgbClr val="F2F5F8"/>
                </a:solidFill>
              </a:defRPr>
            </a:pPr>
            <a:r>
              <a:t>• Then identify how the assembly implements that mapping and handles the default case.</a:t>
            </a:r>
          </a:p>
          <a:p>
            <a:pPr>
              <a:spcAft>
                <a:spcPts val="1100"/>
              </a:spcAft>
              <a:defRPr sz="1700">
                <a:solidFill>
                  <a:srgbClr val="F2F5F8"/>
                </a:solidFill>
              </a:defRPr>
            </a:pPr>
            <a:r>
              <a:t>• This avoids mistaking a compact arithmetic transformation for missing cases or assuming a table entry is executable code when it is merely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count-controlled sum loop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sum a valid array of 64-bit unsigned values, with modular 64-bit addition.</a:t>
            </a:r>
          </a:p>
          <a:p>
            <a:pPr>
              <a:spcAft>
                <a:spcPts val="1100"/>
              </a:spcAft>
              <a:defRPr sz="1900">
                <a:solidFill>
                  <a:srgbClr val="F2F5F8"/>
                </a:solidFill>
              </a:defRPr>
            </a:pPr>
            <a:r>
              <a:t>• A zero-length input must return zero without reading memory.</a:t>
            </a:r>
          </a:p>
          <a:p>
            <a:pPr>
              <a:spcAft>
                <a:spcPts val="1100"/>
              </a:spcAft>
              <a:defRPr sz="1900">
                <a:solidFill>
                  <a:srgbClr val="F2F5F8"/>
                </a:solidFill>
              </a:defRPr>
            </a:pPr>
            <a:r>
              <a:t>• Companion listing: ch16/sum.S</a:t>
            </a:r>
          </a:p>
          <a:p>
            <a:pPr>
              <a:spcAft>
                <a:spcPts val="1100"/>
              </a:spcAft>
              <a:defRPr sz="1900">
                <a:solidFill>
                  <a:srgbClr val="F2F5F8"/>
                </a:solidFill>
              </a:defRPr>
            </a:pPr>
            <a:r>
              <a:t>• Companion listing: ch16/main.c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count-controlled sum loop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ch16/sum.S</a:t>
            </a:r>
          </a:p>
          <a:p>
            <a:pPr>
              <a:spcAft>
                <a:spcPts val="1100"/>
              </a:spcAft>
              <a:defRPr sz="1900">
                <a:solidFill>
                  <a:srgbClr val="F2F5F8"/>
                </a:solidFill>
              </a:defRPr>
            </a:pPr>
            <a:r>
              <a:t>• Companion listing: ch16/main.c</a:t>
            </a:r>
          </a:p>
          <a:p>
            <a:pPr>
              <a:spcAft>
                <a:spcPts val="1100"/>
              </a:spcAft>
              <a:defRPr sz="1700">
                <a:solidFill>
                  <a:srgbClr val="F2F5F8"/>
                </a:solidFill>
              </a:defRPr>
            </a:pPr>
            <a:r>
              <a:t>• The loop invariant is that %rax contains the sum of consumed elements, %rdi points to the next element, and %rsi is the number remaining.</a:t>
            </a:r>
          </a:p>
          <a:p>
            <a:pPr>
              <a:spcAft>
                <a:spcPts val="1100"/>
              </a:spcAft>
              <a:defRPr sz="1900">
                <a:solidFill>
                  <a:srgbClr val="F2F5F8"/>
                </a:solidFill>
              </a:defRPr>
            </a:pPr>
            <a:r>
              <a:t>• Initially the count is four and the sum zero.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Translating an if statement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if (x &lt; 10) y=1; else y=2; , the compiler can compare x with 10, set flags, and branch to one assignment or the other.</a:t>
            </a:r>
          </a:p>
          <a:p>
            <a:pPr>
              <a:spcAft>
                <a:spcPts val="1100"/>
              </a:spcAft>
              <a:defRPr sz="1900">
                <a:solidFill>
                  <a:srgbClr val="F2F5F8"/>
                </a:solidFill>
              </a:defRPr>
            </a:pPr>
            <a:r>
              <a:t>• Alternatively, it may compute both candidates and use a conditional move to reduce branch cost.</a:t>
            </a:r>
          </a:p>
          <a:p>
            <a:pPr>
              <a:spcAft>
                <a:spcPts val="1100"/>
              </a:spcAft>
              <a:defRPr sz="1900">
                <a:solidFill>
                  <a:srgbClr val="F2F5F8"/>
                </a:solidFill>
              </a:defRPr>
            </a:pPr>
            <a:r>
              <a:t>• The chosen form depends on optimization and target heuristics, but both must preserve the same language-level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Translating an if statement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if (x &lt; 10) y=1; else y=2; , the compiler can compare x with 10, set flags, and branch to one assignment or the other.</a:t>
            </a:r>
          </a:p>
          <a:p>
            <a:pPr>
              <a:spcAft>
                <a:spcPts val="1100"/>
              </a:spcAft>
              <a:defRPr sz="1900">
                <a:solidFill>
                  <a:srgbClr val="F2F5F8"/>
                </a:solidFill>
              </a:defRPr>
            </a:pPr>
            <a:r>
              <a:t>• Alternatively, it may compute both candidates and use a conditional move to reduce branch cost.</a:t>
            </a:r>
          </a:p>
          <a:p>
            <a:pPr>
              <a:spcAft>
                <a:spcPts val="1100"/>
              </a:spcAft>
              <a:defRPr sz="1900">
                <a:solidFill>
                  <a:srgbClr val="F2F5F8"/>
                </a:solidFill>
              </a:defRPr>
            </a:pPr>
            <a:r>
              <a:t>• The chosen form depends on optimization and target heuristics, but both must preserve the same language-level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Indexing a jump table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dense switch over cases 0 through 5 may be implemented by first checking that the input is within range, then using the value as an index into an array of target addresses.</a:t>
            </a:r>
          </a:p>
          <a:p>
            <a:pPr>
              <a:spcAft>
                <a:spcPts val="1100"/>
              </a:spcAft>
              <a:defRPr sz="1900">
                <a:solidFill>
                  <a:srgbClr val="F2F5F8"/>
                </a:solidFill>
              </a:defRPr>
            </a:pPr>
            <a:r>
              <a:t>• The indirect jump avoids a long chain of comparisons.</a:t>
            </a:r>
          </a:p>
          <a:p>
            <a:pPr>
              <a:spcAft>
                <a:spcPts val="1100"/>
              </a:spcAft>
              <a:defRPr sz="1900">
                <a:solidFill>
                  <a:srgbClr val="F2F5F8"/>
                </a:solidFill>
              </a:defRPr>
            </a:pPr>
            <a:r>
              <a:t>• Sparse case values are less suitable because a table would waste space.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Indexing a jump table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dense switch over cases 0 through 5 may be implemented by first checking that the input is within range, then using the value as an index into an array of target addresses.</a:t>
            </a:r>
          </a:p>
          <a:p>
            <a:pPr>
              <a:spcAft>
                <a:spcPts val="1100"/>
              </a:spcAft>
              <a:defRPr sz="1900">
                <a:solidFill>
                  <a:srgbClr val="F2F5F8"/>
                </a:solidFill>
              </a:defRPr>
            </a:pPr>
            <a:r>
              <a:t>• The indirect jump avoids a long chain of comparisons.</a:t>
            </a:r>
          </a:p>
          <a:p>
            <a:pPr>
              <a:spcAft>
                <a:spcPts val="1100"/>
              </a:spcAft>
              <a:defRPr sz="1900">
                <a:solidFill>
                  <a:srgbClr val="F2F5F8"/>
                </a:solidFill>
              </a:defRPr>
            </a:pPr>
            <a:r>
              <a:t>• Sparse case values are less suitable because a table would waste space.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16.</a:t>
            </a:r>
          </a:p>
          <a:p>
            <a:pPr>
              <a:spcAft>
                <a:spcPts val="1100"/>
              </a:spcAft>
              <a:defRPr sz="1700">
                <a:solidFill>
                  <a:srgbClr val="F2F5F8"/>
                </a:solidFill>
              </a:defRPr>
            </a:pPr>
            <a:r>
              <a:t>• Compile an equivalent C function at two optimization levels and identify the empty-range check, induction variable, and accumulation.</a:t>
            </a:r>
          </a:p>
          <a:p>
            <a:pPr>
              <a:spcAft>
                <a:spcPts val="1100"/>
              </a:spcAft>
              <a:defRPr sz="1900">
                <a:solidFill>
                  <a:srgbClr val="F2F5F8"/>
                </a:solidFill>
              </a:defRPr>
            </a:pPr>
            <a:r>
              <a:t>• Do not require the compiler to use the handwritten sequence.</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must a signed less-than branch differ from an unsigned below branch?</a:t>
            </a:r>
          </a:p>
          <a:p>
            <a:pPr>
              <a:spcAft>
                <a:spcPts val="1100"/>
              </a:spcAft>
              <a:defRPr sz="1900">
                <a:solidFill>
                  <a:srgbClr val="F2F5F8"/>
                </a:solidFill>
              </a:defRPr>
            </a:pPr>
            <a:r>
              <a:t>• Review 2.</a:t>
            </a:r>
          </a:p>
          <a:p>
            <a:pPr>
              <a:spcAft>
                <a:spcPts val="1100"/>
              </a:spcAft>
              <a:defRPr sz="1900">
                <a:solidFill>
                  <a:srgbClr val="F2F5F8"/>
                </a:solidFill>
              </a:defRPr>
            </a:pPr>
            <a:r>
              <a:t>• What goes wrong if a flag-changing instruction is inserted between the loop’s decrement and jne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machine control flow.</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Procedures and Calling Conventions.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16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