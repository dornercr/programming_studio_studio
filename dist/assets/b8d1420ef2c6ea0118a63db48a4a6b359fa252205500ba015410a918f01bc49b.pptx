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 id="279" r:id="rId31"/>
    <p:sldId id="280" r:id="rId32"/>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 Id="rId29" Type="http://schemas.openxmlformats.org/officeDocument/2006/relationships/slide" Target="slides/slide22.xml"/><Relationship Id="rId30" Type="http://schemas.openxmlformats.org/officeDocument/2006/relationships/slide" Target="slides/slide23.xml"/><Relationship Id="rId31" Type="http://schemas.openxmlformats.org/officeDocument/2006/relationships/slide" Target="slides/slide24.xml"/><Relationship Id="rId32" Type="http://schemas.openxmlformats.org/officeDocument/2006/relationships/slide" Target="slides/slide25.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1: Chapter 39 — Process Termination</a:t>
            </a:r>
          </a:p>
          <a:p/>
          <a:p>
            <a:r>
              <a:t>LECTURE NARRATION</a:t>
            </a:r>
          </a:p>
          <a:p>
            <a:r>
              <a:t>Termination ends execution, but it does not erase every trace of a process immediately. The operating system retains enough information for a parent to learn how a child finished. A robust parent separates ordinary exit, signal termination, and temporary state changes rather than interpreting a raw status integer directly. [ R17 ]</a:t>
            </a:r>
          </a:p>
          <a:p/>
          <a:p>
            <a:r>
              <a:t>At graduate level, do not treat this as a term to memorize. Identify the contract being described, the state or representation it constrains, and the assumptions that must remain true. When this topic appears in real systems code, separate what the language guarantees from what a compiler, operating system, ABI, ISA, or particular machine happens to do. Then identify the evidence you would inspect to test the claim without overgeneralizing from a single successful run.</a:t>
            </a:r>
          </a:p>
          <a:p/>
          <a:p>
            <a:r>
              <a:t>SIXTH-GRADE EXPLANATION</a:t>
            </a:r>
          </a:p>
          <a:p>
            <a:r>
              <a:t>In simpler terms, termination ends execution, but it does not erase every trace of a process immediately.</a:t>
            </a:r>
          </a:p>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2: What This Chapter Builds</a:t>
            </a:r>
          </a:p>
          <a:p/>
          <a:p>
            <a:r>
              <a:t>LECTURE NARRATION</a:t>
            </a:r>
          </a:p>
          <a:p>
            <a:r>
              <a:t>Termination ends execution, but it does not erase every trace of a process immediately. The operating system retains enough information for a parent to learn how a child finished. A robust parent separates ordinary exit, signal termination, and temporary state changes rather than interpreting a raw status integer directly. [ R17 ]</a:t>
            </a:r>
          </a:p>
          <a:p/>
          <a:p>
            <a:r>
              <a:t>At graduate level, do not treat this as a term to memorize. Identify the contract being described, the state or representation it constrains, and the assumptions that must remain true. When this topic appears in real systems code, separate what the language guarantees from what a compiler, operating system, ABI, ISA, or particular machine happens to do. Then identify the evidence you would inspect to test the claim without overgeneralizing from a single successful run.</a:t>
            </a:r>
          </a:p>
          <a:p/>
          <a:p>
            <a:r>
              <a:t>SIXTH-GRADE EXPLANATION</a:t>
            </a:r>
          </a:p>
          <a:p>
            <a:r>
              <a:t>In simpler terms, termination ends execution, but it does not erase every trace of a process immediately.</a:t>
            </a:r>
          </a:p>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3: Chapter Roadmap</a:t>
            </a:r>
          </a:p>
          <a:p/>
          <a:p>
            <a:r>
              <a:t>LECTURE NARRATION</a:t>
            </a:r>
          </a:p>
          <a:p>
            <a:r>
              <a:t>39.1 exit 39.2 Exit status 39.3 wait 39.4 waitpid ...plus 6 additional source topics</a:t>
            </a:r>
          </a:p>
          <a:p/>
          <a:p>
            <a:r>
              <a:t>At graduate level, do not treat this as a term to memorize. Identify the contract being described, the state or representation it constrains, and the assumptions that must remain true. When this topic appears in real systems code, separate what the language guarantees from what a compiler, operating system, ABI, ISA, or particular machine happens to do. Then identify the evidence you would inspect to test the claim without overgeneralizing from a single successful run.</a:t>
            </a:r>
          </a:p>
          <a:p/>
          <a:p>
            <a:r>
              <a:t>SIXTH-GRADE EXPLANATION</a:t>
            </a:r>
          </a:p>
          <a:p>
            <a:r>
              <a:t>In simpler terms, 39.1 exit 39.2 Exit status 39.3 wait 39.4 waitpid ...plus 6 additional source topics</a:t>
            </a:r>
          </a:p>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4: 39.1 exit</a:t>
            </a:r>
          </a:p>
          <a:p/>
          <a:p>
            <a:r>
              <a:t>LECTURE NARRATION</a:t>
            </a:r>
          </a:p>
          <a:p>
            <a:r>
              <a:t>The C library’s exit performs normal termination processing, including registered exit handlers and standard-I/O cleanup. Returning from main has the corresponding normal-termination effect. _exit bypasses that user-space cleanup and is appropriate for many child failure paths after fork. Neither interface returns to the caller. Choose based on the process’s lifecycle, not merely on spelling. Using normal cleanup in an exec-bound child can flush copied buffers or invoke handlers intended for the original parent program.</a:t>
            </a:r>
          </a:p>
          <a:p/>
          <a:p>
            <a:r>
              <a:t>At graduate level, do not treat this as a term to memorize. Identify the contract being described, the state or representation it constrains, and the assumptions that must remain true. When this topic appears in real systems code, separate what the language guarantees from what a compiler, operating system, ABI, ISA, or particular machine happens to do. Then identify the evidence you would inspect to test the claim without overgeneralizing from a single successful run.</a:t>
            </a:r>
          </a:p>
          <a:p/>
          <a:p>
            <a:r>
              <a:t>SIXTH-GRADE EXPLANATION</a:t>
            </a:r>
          </a:p>
          <a:p>
            <a:r>
              <a:t>In simpler terms, the C library’s exit performs normal termination processing, including registered exit handlers and standard-I/O cleanup.</a:t>
            </a:r>
          </a:p>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5: 39.1 exit — Deep Dive</a:t>
            </a:r>
          </a:p>
          <a:p/>
          <a:p>
            <a:r>
              <a:t>LECTURE NARRATION</a:t>
            </a:r>
          </a:p>
          <a:p>
            <a:r>
              <a:t>The C library’s exit performs normal termination processing, including registered exit handlers and standard-I/O cleanup. Returning from main has the corresponding normal-termination effect. _exit bypasses that user-space cleanup and is appropriate for many child failure paths after fork. Neither interface returns to the caller. Choose based on the process’s lifecycle, not merely on spelling. Using normal cleanup in an exec-bound child can flush copied buffers or invoke handlers intended for the original parent program.</a:t>
            </a:r>
          </a:p>
          <a:p/>
          <a:p>
            <a:r>
              <a:t>At graduate level, do not treat this as a term to memorize. Identify the contract being described, the state or representation it constrains, and the assumptions that must remain true. When this topic appears in real systems code, separate what the language guarantees from what a compiler, operating system, ABI, ISA, or particular machine happens to do. Then identify the evidence you would inspect to test the claim without overgeneralizing from a single successful run.</a:t>
            </a:r>
          </a:p>
          <a:p/>
          <a:p>
            <a:r>
              <a:t>SIXTH-GRADE EXPLANATION</a:t>
            </a:r>
          </a:p>
          <a:p>
            <a:r>
              <a:t>In simpler terms, the C library’s exit performs normal termination processing, including registered exit handlers and standard-I/O cleanup.</a:t>
            </a:r>
          </a:p>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6: 39.2 Exit status</a:t>
            </a:r>
          </a:p>
          <a:p/>
          <a:p>
            <a:r>
              <a:t>LECTURE NARRATION</a:t>
            </a:r>
          </a:p>
          <a:p>
            <a:r>
              <a:t>An exit status communicates a small result to the parent. Conventionally zero indicates success and nonzero indicates failure, but applications define the meaning of particular nonzero values. On the POSIX wait interfaces used here, ordinary exit status is retrieved from the appropriate encoded status through macros. Do not attempt to return a large integer or arbitrary data structure through exit status. Use a pipe, file, socket, or another explicit channel for richer results. Exit status should summarize completion, not replace a data protocol.</a:t>
            </a:r>
          </a:p>
          <a:p/>
          <a:p>
            <a:r>
              <a:t>At graduate level, do not treat this as a term to memorize. Identify the contract being described, the state or representation it constrains, and the assumptions that must remain true. When this topic appears in real systems code, separate what the language guarantees from what a compiler, operating system, ABI, ISA, or particular machine happens to do. Then identify the evidence you would inspect to test the claim without overgeneralizing from a single successful run.</a:t>
            </a:r>
          </a:p>
          <a:p/>
          <a:p>
            <a:r>
              <a:t>SIXTH-GRADE EXPLANATION</a:t>
            </a:r>
          </a:p>
          <a:p>
            <a:r>
              <a:t>In simpler terms, an exit status communicates a small result to the parent.</a:t>
            </a:r>
          </a:p>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7: 39.2 Exit status — Deep Dive</a:t>
            </a:r>
          </a:p>
          <a:p/>
          <a:p>
            <a:r>
              <a:t>LECTURE NARRATION</a:t>
            </a:r>
          </a:p>
          <a:p>
            <a:r>
              <a:t>An exit status communicates a small result to the parent. Conventionally zero indicates success and nonzero indicates failure, but applications define the meaning of particular nonzero values. On the POSIX wait interfaces used here, ordinary exit status is retrieved from the appropriate encoded status through macros. Do not attempt to return a large integer or arbitrary data structure through exit status. Use a pipe, file, socket, or another explicit channel for richer results. Exit status should summarize completion, not replace a data protocol.</a:t>
            </a:r>
          </a:p>
          <a:p/>
          <a:p>
            <a:r>
              <a:t>At graduate level, do not treat this as a term to memorize. Identify the contract being described, the state or representation it constrains, and the assumptions that must remain true. When this topic appears in real systems code, separate what the language guarantees from what a compiler, operating system, ABI, ISA, or particular machine happens to do. Then identify the evidence you would inspect to test the claim without overgeneralizing from a single successful run.</a:t>
            </a:r>
          </a:p>
          <a:p/>
          <a:p>
            <a:r>
              <a:t>SIXTH-GRADE EXPLANATION</a:t>
            </a:r>
          </a:p>
          <a:p>
            <a:r>
              <a:t>In simpler terms, an exit status communicates a small result to the parent.</a:t>
            </a:r>
          </a:p>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8: 39.3 wait</a:t>
            </a:r>
          </a:p>
          <a:p/>
          <a:p>
            <a:r>
              <a:t>LECTURE NARRATION</a:t>
            </a:r>
          </a:p>
          <a:p>
            <a:r>
              <a:t>wait waits for an eligible child and returns its process ID together with status information. It is useful when any child’s completion can be handled next. The parent must still inspect the status classification before extracting a particular result. A parent with several children should not assume that completion order matches creation order. Scheduling and workload determine which finishes first. Waiting for one specific slow child can delay handling other already-finished children, although it remains correct when the program deliberately chooses that policy.</a:t>
            </a:r>
          </a:p>
          <a:p/>
          <a:p>
            <a:r>
              <a:t>At graduate level, do not treat this as a term to memorize. Identify the contract being described, the state or representation it constrains, and the assumptions that must remain true. When this topic appears in real systems code, separate what the language guarantees from what a compiler, operating system, ABI, ISA, or particular machine happens to do. Then identify the evidence you would inspect to test the claim without overgeneralizing from a single successful run.</a:t>
            </a:r>
          </a:p>
          <a:p/>
          <a:p>
            <a:r>
              <a:t>SIXTH-GRADE EXPLANATION</a:t>
            </a:r>
          </a:p>
          <a:p>
            <a:r>
              <a:t>In simpler terms, wait waits for an eligible child and returns its process ID together with status information.</a:t>
            </a:r>
          </a:p>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9: 39.3 wait — Deep Dive</a:t>
            </a:r>
          </a:p>
          <a:p/>
          <a:p>
            <a:r>
              <a:t>LECTURE NARRATION</a:t>
            </a:r>
          </a:p>
          <a:p>
            <a:r>
              <a:t>wait waits for an eligible child and returns its process ID together with status information. It is useful when any child’s completion can be handled next. The parent must still inspect the status classification before extracting a particular result. A parent with several children should not assume that completion order matches creation order. Scheduling and workload determine which finishes first. Waiting for one specific slow child can delay handling other already-finished children, although it remains correct when the program deliberately chooses that policy.</a:t>
            </a:r>
          </a:p>
          <a:p/>
          <a:p>
            <a:r>
              <a:t>At graduate level, do not treat this as a term to memorize. Identify the contract being described, the state or representation it constrains, and the assumptions that must remain true. When this topic appears in real systems code, separate what the language guarantees from what a compiler, operating system, ABI, ISA, or particular machine happens to do. Then identify the evidence you would inspect to test the claim without overgeneralizing from a single successful run.</a:t>
            </a:r>
          </a:p>
          <a:p/>
          <a:p>
            <a:r>
              <a:t>SIXTH-GRADE EXPLANATION</a:t>
            </a:r>
          </a:p>
          <a:p>
            <a:r>
              <a:t>In simpler terms, wait waits for an eligible child and returns its process ID together with status information.</a:t>
            </a:r>
          </a:p>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10: 39.4 waitpid</a:t>
            </a:r>
          </a:p>
          <a:p/>
          <a:p>
            <a:r>
              <a:t>LECTURE NARRATION</a:t>
            </a:r>
          </a:p>
          <a:p>
            <a:r>
              <a:t>waitpid provides more control over which child or group is considered and whether the call blocks. With WNOHANG , a return of zero means that no matching status is currently available; it is not a child’s process ID and not an error. Retry an interrupted wait when appropriate. Check WIFEXITED before using WEXITSTATUS , and check WIFSIGNALED before using WTERMSIG . Options for stopped and continued children matter for job control, which requires a broader state machine than a simple run-and-wait launcher.</a:t>
            </a:r>
          </a:p>
          <a:p/>
          <a:p>
            <a:r>
              <a:t>At graduate level, do not treat this as a term to memorize. Identify the contract being described, the state or representation it constrains, and the assumptions that must remain true. When this topic appears in real systems code, separate what the language guarantees from what a compiler, operating system, ABI, ISA, or particular machine happens to do. Then identify the evidence you would inspect to test the claim without overgeneralizing from a single successful run.</a:t>
            </a:r>
          </a:p>
          <a:p/>
          <a:p>
            <a:r>
              <a:t>SIXTH-GRADE EXPLANATION</a:t>
            </a:r>
          </a:p>
          <a:p>
            <a:r>
              <a:t>In simpler terms, waitpid provides more control over which child or group is considered and whether the call blocks.</a:t>
            </a:r>
          </a:p>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11: 39.4 waitpid — Deep Dive</a:t>
            </a:r>
          </a:p>
          <a:p/>
          <a:p>
            <a:r>
              <a:t>LECTURE NARRATION</a:t>
            </a:r>
          </a:p>
          <a:p>
            <a:r>
              <a:t>waitpid provides more control over which child or group is considered and whether the call blocks. With WNOHANG , a return of zero means that no matching status is currently available; it is not a child’s process ID and not an error. Retry an interrupted wait when appropriate. Check WIFEXITED before using WEXITSTATUS , and check WIFSIGNALED before using WTERMSIG . Options for stopped and continued children matter for job control, which requires a broader state machine than a simple run-and-wait launcher.</a:t>
            </a:r>
          </a:p>
          <a:p/>
          <a:p>
            <a:r>
              <a:t>At graduate level, do not treat this as a term to memorize. Identify the contract being described, the state or representation it constrains, and the assumptions that must remain true. When this topic appears in real systems code, separate what the language guarantees from what a compiler, operating system, ABI, ISA, or particular machine happens to do. Then identify the evidence you would inspect to test the claim without overgeneralizing from a single successful run.</a:t>
            </a:r>
          </a:p>
          <a:p/>
          <a:p>
            <a:r>
              <a:t>SIXTH-GRADE EXPLANATION</a:t>
            </a:r>
          </a:p>
          <a:p>
            <a:r>
              <a:t>In simpler terms, waitpid provides more control over which child or group is considered and whether the call blocks.</a:t>
            </a:r>
          </a:p>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12: 39.5 Zombie processes</a:t>
            </a:r>
          </a:p>
          <a:p/>
          <a:p>
            <a:r>
              <a:t>LECTURE NARRATION</a:t>
            </a:r>
          </a:p>
          <a:p>
            <a:r>
              <a:t>A zombie is a terminated process whose parent has not yet collected the retained termination information. It is not executing instructions or holding its former address space as a normal live process. It does occupy bookkeeping that should eventually be released. A long-running supervisor that never reaps children can accumulate zombies. The solution is lifecycle management, not treating zombies as ordinary running tasks to be killed again. The parent must arrange to collect child status according to the applicable process and signal rules.</a:t>
            </a:r>
          </a:p>
          <a:p/>
          <a:p>
            <a:r>
              <a:t>At graduate level, do not treat this as a term to memorize. Identify the contract being described, the state or representation it constrains, and the assumptions that must remain true. When this topic appears in real systems code, separate what the language guarantees from what a compiler, operating system, ABI, ISA, or particular machine happens to do. Then identify the evidence you would inspect to test the claim without overgeneralizing from a single successful run.</a:t>
            </a:r>
          </a:p>
          <a:p/>
          <a:p>
            <a:r>
              <a:t>SIXTH-GRADE EXPLANATION</a:t>
            </a:r>
          </a:p>
          <a:p>
            <a:r>
              <a:t>In simpler terms, a zombie is a terminated process whose parent has not yet collected the retained termination information.</a:t>
            </a:r>
          </a:p>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13: 39.5 Zombie processes — Deep Dive</a:t>
            </a:r>
          </a:p>
          <a:p/>
          <a:p>
            <a:r>
              <a:t>LECTURE NARRATION</a:t>
            </a:r>
          </a:p>
          <a:p>
            <a:r>
              <a:t>A zombie is a terminated process whose parent has not yet collected the retained termination information. It is not executing instructions or holding its former address space as a normal live process. It does occupy bookkeeping that should eventually be released. A long-running supervisor that never reaps children can accumulate zombies. The solution is lifecycle management, not treating zombies as ordinary running tasks to be killed again. The parent must arrange to collect child status according to the applicable process and signal rules.</a:t>
            </a:r>
          </a:p>
          <a:p/>
          <a:p>
            <a:r>
              <a:t>At graduate level, do not treat this as a term to memorize. Identify the contract being described, the state or representation it constrains, and the assumptions that must remain true. When this topic appears in real systems code, separate what the language guarantees from what a compiler, operating system, ABI, ISA, or particular machine happens to do. Then identify the evidence you would inspect to test the claim without overgeneralizing from a single successful run.</a:t>
            </a:r>
          </a:p>
          <a:p/>
          <a:p>
            <a:r>
              <a:t>SIXTH-GRADE EXPLANATION</a:t>
            </a:r>
          </a:p>
          <a:p>
            <a:r>
              <a:t>In simpler terms, a zombie is a terminated process whose parent has not yet collected the retained termination information.</a:t>
            </a:r>
          </a:p>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14: 39.6 Reaping children</a:t>
            </a:r>
          </a:p>
          <a:p/>
          <a:p>
            <a:r>
              <a:t>LECTURE NARRATION</a:t>
            </a:r>
          </a:p>
          <a:p>
            <a:r>
              <a:t>Reaping collects a child’s status and releases the retained termination bookkeeping. A parent should have one clear ownership policy for child status, especially when multiple threads or signal-driven code could attempt to wait for the same child. A common event-driven pattern treats SIGCHLD as a notification to check for available statuses and then repeatedly uses nonblocking waits until none remain. Standard signals can coalesce, so one notification must not be assumed to represent exactly one child event.</a:t>
            </a:r>
          </a:p>
          <a:p/>
          <a:p>
            <a:r>
              <a:t>At graduate level, do not treat this as a term to memorize. Identify the contract being described, the state or representation it constrains, and the assumptions that must remain true. When this topic appears in real systems code, separate what the language guarantees from what a compiler, operating system, ABI, ISA, or particular machine happens to do. Then identify the evidence you would inspect to test the claim without overgeneralizing from a single successful run.</a:t>
            </a:r>
          </a:p>
          <a:p/>
          <a:p>
            <a:r>
              <a:t>SIXTH-GRADE EXPLANATION</a:t>
            </a:r>
          </a:p>
          <a:p>
            <a:r>
              <a:t>In simpler terms, reaping collects a child’s status and releases the retained termination bookkeeping.</a:t>
            </a:r>
          </a:p>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15: 39.6 Reaping children — Deep Dive</a:t>
            </a:r>
          </a:p>
          <a:p/>
          <a:p>
            <a:r>
              <a:t>LECTURE NARRATION</a:t>
            </a:r>
          </a:p>
          <a:p>
            <a:r>
              <a:t>Reaping collects a child’s status and releases the retained termination bookkeeping. A parent should have one clear ownership policy for child status, especially when multiple threads or signal-driven code could attempt to wait for the same child. A common event-driven pattern treats SIGCHLD as a notification to check for available statuses and then repeatedly uses nonblocking waits until none remain. Standard signals can coalesce, so one notification must not be assumed to represent exactly one child event.</a:t>
            </a:r>
          </a:p>
          <a:p/>
          <a:p>
            <a:r>
              <a:t>At graduate level, do not treat this as a term to memorize. Identify the contract being described, the state or representation it constrains, and the assumptions that must remain true. When this topic appears in real systems code, separate what the language guarantees from what a compiler, operating system, ABI, ISA, or particular machine happens to do. Then identify the evidence you would inspect to test the claim without overgeneralizing from a single successful run.</a:t>
            </a:r>
          </a:p>
          <a:p/>
          <a:p>
            <a:r>
              <a:t>SIXTH-GRADE EXPLANATION</a:t>
            </a:r>
          </a:p>
          <a:p>
            <a:r>
              <a:t>In simpler terms, reaping collects a child’s status and releases the retained termination bookkeeping.</a:t>
            </a:r>
          </a:p>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16: Worked example — Decode status, not bit guesses</a:t>
            </a:r>
          </a:p>
          <a:p/>
          <a:p>
            <a:r>
              <a:t>LECTURE NARRATION</a:t>
            </a:r>
          </a:p>
          <a:p>
            <a:r>
              <a:t>This program creates one child that exits with status 23, waits for that specific child, and verifies the status using the documented macros. Companion listing: ch39/status.c The expected output is exit=23 . The parent’s own success status is zero because the child produced the expected test result. This distinction is useful in test harnesses: the tested program can intentionally return a nonzero value while the test passes by verifying that exact behavior.</a:t>
            </a:r>
          </a:p>
          <a:p/>
          <a:p>
            <a:r>
              <a:t>At graduate level, do not treat this as a term to memorize. Identify the contract being described, the state or representation it constrains, and the assumptions that must remain true. When this topic appears in real systems code, separate what the language guarantees from what a compiler, operating system, ABI, ISA, or particular machine happens to do. Then identify the evidence you would inspect to test the claim without overgeneralizing from a single successful run.</a:t>
            </a:r>
          </a:p>
          <a:p/>
          <a:p>
            <a:r>
              <a:t>SIXTH-GRADE EXPLANATION</a:t>
            </a:r>
          </a:p>
          <a:p>
            <a:r>
              <a:t>In simpler terms, this program creates one child that exits with status 23, waits for that specific child, and verifies the status using the documented macros.</a:t>
            </a:r>
          </a:p>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17: Worked example — Decode status, not bit guesses — Deep Dive</a:t>
            </a:r>
          </a:p>
          <a:p/>
          <a:p>
            <a:r>
              <a:t>LECTURE NARRATION</a:t>
            </a:r>
          </a:p>
          <a:p>
            <a:r>
              <a:t>This program creates one child that exits with status 23, waits for that specific child, and verifies the status using the documented macros. Companion listing: ch39/status.c The expected output is exit=23 . The parent’s own success status is zero because the child produced the expected test result. This distinction is useful in test harnesses: the tested program can intentionally return a nonzero value while the test passes by verifying that exact behavior.</a:t>
            </a:r>
          </a:p>
          <a:p/>
          <a:p>
            <a:r>
              <a:t>At graduate level, do not treat this as a term to memorize. Identify the contract being described, the state or representation it constrains, and the assumptions that must remain true. When this topic appears in real systems code, separate what the language guarantees from what a compiler, operating system, ABI, ISA, or particular machine happens to do. Then identify the evidence you would inspect to test the claim without overgeneralizing from a single successful run.</a:t>
            </a:r>
          </a:p>
          <a:p/>
          <a:p>
            <a:r>
              <a:t>SIXTH-GRADE EXPLANATION</a:t>
            </a:r>
          </a:p>
          <a:p>
            <a:r>
              <a:t>In simpler terms, this program creates one child that exits with status 23, waits for that specific child, and verifies the status using the documented macros.</a:t>
            </a:r>
          </a:p>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18: Worked example — Reaping a child</a:t>
            </a:r>
          </a:p>
          <a:p/>
          <a:p>
            <a:r>
              <a:t>LECTURE NARRATION</a:t>
            </a:r>
          </a:p>
          <a:p>
            <a:r>
              <a:t>When a child exits, the kernel retains a small amount of termination information so its parent can collect status with wait or waitpid . Until reaped, the child is a zombie: it is no longer executing but still occupies a process-table entry. Waiting releases that retained state.</a:t>
            </a:r>
          </a:p>
          <a:p/>
          <a:p>
            <a:r>
              <a:t>At graduate level, do not treat this as a term to memorize. Identify the contract being described, the state or representation it constrains, and the assumptions that must remain true. When this topic appears in real systems code, separate what the language guarantees from what a compiler, operating system, ABI, ISA, or particular machine happens to do. Then identify the evidence you would inspect to test the claim without overgeneralizing from a single successful run.</a:t>
            </a:r>
          </a:p>
          <a:p/>
          <a:p>
            <a:r>
              <a:t>SIXTH-GRADE EXPLANATION</a:t>
            </a:r>
          </a:p>
          <a:p>
            <a:r>
              <a:t>In simpler terms, when a child exits, the kernel retains a small amount of termination information so its parent can collect status with wait or waitpid .</a:t>
            </a:r>
          </a:p>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19: Worked example — Reaping a child — Deep Dive</a:t>
            </a:r>
          </a:p>
          <a:p/>
          <a:p>
            <a:r>
              <a:t>LECTURE NARRATION</a:t>
            </a:r>
          </a:p>
          <a:p>
            <a:r>
              <a:t>When a child exits, the kernel retains a small amount of termination information so its parent can collect status with wait or waitpid . Until reaped, the child is a zombie: it is no longer executing but still occupies a process-table entry. Waiting releases that retained state.</a:t>
            </a:r>
          </a:p>
          <a:p/>
          <a:p>
            <a:r>
              <a:t>At graduate level, do not treat this as a term to memorize. Identify the contract being described, the state or representation it constrains, and the assumptions that must remain true. When this topic appears in real systems code, separate what the language guarantees from what a compiler, operating system, ABI, ISA, or particular machine happens to do. Then identify the evidence you would inspect to test the claim without overgeneralizing from a single successful run.</a:t>
            </a:r>
          </a:p>
          <a:p/>
          <a:p>
            <a:r>
              <a:t>SIXTH-GRADE EXPLANATION</a:t>
            </a:r>
          </a:p>
          <a:p>
            <a:r>
              <a:t>In simpler terms, when a child exits, the kernel retains a small amount of termination information so its parent can collect status with wait or waitpid .</a:t>
            </a:r>
          </a:p>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20: Worked example — Decoding success and failure</a:t>
            </a:r>
          </a:p>
          <a:p/>
          <a:p>
            <a:r>
              <a:t>LECTURE NARRATION</a:t>
            </a:r>
          </a:p>
          <a:p>
            <a:r>
              <a:t>A child that executes exit(3) communicates an exit status distinct from termination by a signal. Portable parent code uses the wait-status macros rather than assuming the raw integer returned by waitpid equals the child’s exit code. The raw status encodes multiple termination cases.</a:t>
            </a:r>
          </a:p>
          <a:p/>
          <a:p>
            <a:r>
              <a:t>At graduate level, do not treat this as a term to memorize. Identify the contract being described, the state or representation it constrains, and the assumptions that must remain true. When this topic appears in real systems code, separate what the language guarantees from what a compiler, operating system, ABI, ISA, or particular machine happens to do. Then identify the evidence you would inspect to test the claim without overgeneralizing from a single successful run.</a:t>
            </a:r>
          </a:p>
          <a:p/>
          <a:p>
            <a:r>
              <a:t>SIXTH-GRADE EXPLANATION</a:t>
            </a:r>
          </a:p>
          <a:p>
            <a:r>
              <a:t>In simpler terms, a child that executes exit(3) communicates an exit status distinct from termination by a signal.</a:t>
            </a:r>
          </a:p>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21: Worked example — Decoding success and failure — Deep Dive</a:t>
            </a:r>
          </a:p>
          <a:p/>
          <a:p>
            <a:r>
              <a:t>LECTURE NARRATION</a:t>
            </a:r>
          </a:p>
          <a:p>
            <a:r>
              <a:t>A child that executes exit(3) communicates an exit status distinct from termination by a signal. Portable parent code uses the wait-status macros rather than assuming the raw integer returned by waitpid equals the child’s exit code. The raw status encodes multiple termination cases.</a:t>
            </a:r>
          </a:p>
          <a:p/>
          <a:p>
            <a:r>
              <a:t>At graduate level, do not treat this as a term to memorize. Identify the contract being described, the state or representation it constrains, and the assumptions that must remain true. When this topic appears in real systems code, separate what the language guarantees from what a compiler, operating system, ABI, ISA, or particular machine happens to do. Then identify the evidence you would inspect to test the claim without overgeneralizing from a single successful run.</a:t>
            </a:r>
          </a:p>
          <a:p/>
          <a:p>
            <a:r>
              <a:t>SIXTH-GRADE EXPLANATION</a:t>
            </a:r>
          </a:p>
          <a:p>
            <a:r>
              <a:t>In simpler terms, a child that executes exit(3) communicates an exit status distinct from termination by a signal.</a:t>
            </a:r>
          </a:p>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22: Guided lab and review</a:t>
            </a:r>
          </a:p>
          <a:p/>
          <a:p>
            <a:r>
              <a:t>LECTURE NARRATION</a:t>
            </a:r>
          </a:p>
          <a:p>
            <a:r>
              <a:t>Lab 39. Extend the parent to create three children with known small exit codes and collect all of them. Store each PID and match returned PIDs to expected results. Ensure the failure path reaps children that were already created before a later fork fails. Review 1. What does a zero return from waitpid(..., WNOHANG) mean? Review 2. Why must a parent classify status before extracting an exit code?</a:t>
            </a:r>
          </a:p>
          <a:p/>
          <a:p>
            <a:r>
              <a:t>At graduate level, do not treat this as a term to memorize. Identify the contract being described, the state or representation it constrains, and the assumptions that must remain true. When this topic appears in real systems code, separate what the language guarantees from what a compiler, operating system, ABI, ISA, or particular machine happens to do. Then identify the evidence you would inspect to test the claim without overgeneralizing from a single successful run.</a:t>
            </a:r>
          </a:p>
          <a:p/>
          <a:p>
            <a:r>
              <a:t>SIXTH-GRADE EXPLANATION</a:t>
            </a:r>
          </a:p>
          <a:p>
            <a:r>
              <a:t>In simpler terms, lab 39.</a:t>
            </a:r>
          </a:p>
          <a:p/>
        </p:txBody>
      </p:sp>
      <p:sp>
        <p:nvSpPr>
          <p:cNvPr id="4" name="Slide Number Placeholder 3"/>
          <p:cNvSpPr>
            <a:spLocks noGrp="1"/>
          </p:cNvSpPr>
          <p:nvPr>
            <p:ph type="sldNum" idx="5" sz="quarter"/>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23: Guided lab and review — Deep Dive</a:t>
            </a:r>
          </a:p>
          <a:p/>
          <a:p>
            <a:r>
              <a:t>LECTURE NARRATION</a:t>
            </a:r>
          </a:p>
          <a:p>
            <a:r>
              <a:t>Lab 39. Extend the parent to create three children with known small exit codes and collect all of them. Store each PID and match returned PIDs to expected results. Ensure the failure path reaps children that were already created before a later fork fails. Review 1. What does a zero return from waitpid(..., WNOHANG) mean? Review 2. Why must a parent classify status before extracting an exit code?</a:t>
            </a:r>
          </a:p>
          <a:p/>
          <a:p>
            <a:r>
              <a:t>At graduate level, do not treat this as a term to memorize. Identify the contract being described, the state or representation it constrains, and the assumptions that must remain true. When this topic appears in real systems code, separate what the language guarantees from what a compiler, operating system, ABI, ISA, or particular machine happens to do. Then identify the evidence you would inspect to test the claim without overgeneralizing from a single successful run.</a:t>
            </a:r>
          </a:p>
          <a:p/>
          <a:p>
            <a:r>
              <a:t>SIXTH-GRADE EXPLANATION</a:t>
            </a:r>
          </a:p>
          <a:p>
            <a:r>
              <a:t>In simpler terms, lab 39.</a:t>
            </a:r>
          </a:p>
          <a:p/>
        </p:txBody>
      </p:sp>
      <p:sp>
        <p:nvSpPr>
          <p:cNvPr id="4" name="Slide Number Placeholder 3"/>
          <p:cNvSpPr>
            <a:spLocks noGrp="1"/>
          </p:cNvSpPr>
          <p:nvPr>
            <p:ph type="sldNum" idx="5" sz="quarter"/>
          </p:nvPr>
        </p:nvSpPr>
        <p:spPr/>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24: Chapter Synthesis</a:t>
            </a:r>
          </a:p>
          <a:p/>
          <a:p>
            <a:r>
              <a:t>LECTURE NARRATION</a:t>
            </a:r>
          </a:p>
          <a:p>
            <a:r>
              <a:t>The chapter's central subject is process termination. Correct reasoning requires explicit assumptions, bounds, ownership, and interface contracts. Observed behavior is evidence about a run; it is not automatically a language or system guarantee. Use the worked examples and lab to test whether the model transfers to new cases.</a:t>
            </a:r>
          </a:p>
          <a:p/>
          <a:p>
            <a:r>
              <a:t>At graduate level, do not treat this as a term to memorize. Identify the contract being described, the state or representation it constrains, and the assumptions that must remain true. When this topic appears in real systems code, separate what the language guarantees from what a compiler, operating system, ABI, ISA, or particular machine happens to do. Then identify the evidence you would inspect to test the claim without overgeneralizing from a single successful run.</a:t>
            </a:r>
          </a:p>
          <a:p/>
          <a:p>
            <a:r>
              <a:t>SIXTH-GRADE EXPLANATION</a:t>
            </a:r>
          </a:p>
          <a:p>
            <a:r>
              <a:t>In simpler terms, the chapter's central subject is process termination.</a:t>
            </a:r>
          </a:p>
          <a:p/>
        </p:txBody>
      </p:sp>
      <p:sp>
        <p:nvSpPr>
          <p:cNvPr id="4" name="Slide Number Placeholder 3"/>
          <p:cNvSpPr>
            <a:spLocks noGrp="1"/>
          </p:cNvSpPr>
          <p:nvPr>
            <p:ph type="sldNum" idx="5" sz="quarter"/>
          </p:nvPr>
        </p:nvSpPr>
        <p:spPr/>
      </p:sp>
    </p:spTree>
  </p:cSld>
  <p:clrMapOvr>
    <a:masterClrMapping/>
  </p:clrMapOvr>
</p:notes>
</file>

<file path=ppt/notesSlides/notesSlide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25: Review and Transition</a:t>
            </a:r>
          </a:p>
          <a:p/>
          <a:p>
            <a:r>
              <a:t>LECTURE NARRATION</a:t>
            </a:r>
          </a:p>
          <a:p>
            <a:r>
              <a:t>Explain one mechanism from the chapter without relying on vocabulary alone. Identify one failure mode and the violated contract or invariant. State what evidence would support your diagnosis and what it would not prove. Next: Pipes and Redirection.</a:t>
            </a:r>
          </a:p>
          <a:p/>
          <a:p>
            <a:r>
              <a:t>At graduate level, do not treat this as a term to memorize. Identify the contract being described, the state or representation it constrains, and the assumptions that must remain true. When this topic appears in real systems code, separate what the language guarantees from what a compiler, operating system, ABI, ISA, or particular machine happens to do. Then identify the evidence you would inspect to test the claim without overgeneralizing from a single successful run.</a:t>
            </a:r>
          </a:p>
          <a:p/>
          <a:p>
            <a:r>
              <a:t>SIXTH-GRADE EXPLANATION</a:t>
            </a:r>
          </a:p>
          <a:p>
            <a:r>
              <a:t>In simpler terms, explain one mechanism from the chapter without relying on vocabulary alone.</a:t>
            </a:r>
          </a:p>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5.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B121C"/>
        </a:solidFill>
        <a:effectLst/>
      </p:bgPr>
    </p:bg>
    <p:spTree>
      <p:nvGrpSpPr>
        <p:cNvPr id="1" name=""/>
        <p:cNvGrpSpPr/>
        <p:nvPr/>
      </p:nvGrpSpPr>
      <p:grpSpPr/>
      <p:sp>
        <p:nvSpPr>
          <p:cNvPr id="2" name="Rectangle 1"/>
          <p:cNvSpPr/>
          <p:nvPr/>
        </p:nvSpPr>
        <p:spPr>
          <a:xfrm>
            <a:off x="0" y="0"/>
            <a:ext cx="12191695" cy="73152"/>
          </a:xfrm>
          <a:prstGeom prst="rect">
            <a:avLst/>
          </a:prstGeom>
          <a:solidFill>
            <a:srgbClr val="42B8D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20040"/>
            <a:ext cx="10972800" cy="274320"/>
          </a:xfrm>
          <a:prstGeom prst="rect">
            <a:avLst/>
          </a:prstGeom>
          <a:noFill/>
        </p:spPr>
        <p:txBody>
          <a:bodyPr wrap="none">
            <a:spAutoFit/>
          </a:bodyPr>
          <a:lstStyle/>
          <a:p>
            <a:pPr>
              <a:defRPr sz="1100" b="1">
                <a:solidFill>
                  <a:srgbClr val="A5B2C1"/>
                </a:solidFill>
              </a:defRPr>
            </a:pPr>
            <a:r>
              <a:t>SYSTEMS PROGRAMMING AND MACHINE ORGANIZATION     ·     CHARLES DORNER</a:t>
            </a:r>
          </a:p>
        </p:txBody>
      </p:sp>
      <p:sp>
        <p:nvSpPr>
          <p:cNvPr id="4" name="TextBox 3"/>
          <p:cNvSpPr txBox="1"/>
          <p:nvPr/>
        </p:nvSpPr>
        <p:spPr>
          <a:xfrm>
            <a:off x="594360" y="822960"/>
            <a:ext cx="10972800" cy="914400"/>
          </a:xfrm>
          <a:prstGeom prst="rect">
            <a:avLst/>
          </a:prstGeom>
          <a:noFill/>
        </p:spPr>
        <p:txBody>
          <a:bodyPr wrap="none">
            <a:spAutoFit/>
          </a:bodyPr>
          <a:lstStyle/>
          <a:p>
            <a:pPr>
              <a:defRPr sz="3000" b="1">
                <a:solidFill>
                  <a:srgbClr val="F2F5F8"/>
                </a:solidFill>
              </a:defRPr>
            </a:pPr>
            <a:r>
              <a:t>Chapter 39 — Process Termination</a:t>
            </a:r>
          </a:p>
        </p:txBody>
      </p:sp>
      <p:sp>
        <p:nvSpPr>
          <p:cNvPr id="5" name="TextBox 4"/>
          <p:cNvSpPr txBox="1"/>
          <p:nvPr/>
        </p:nvSpPr>
        <p:spPr>
          <a:xfrm>
            <a:off x="612648" y="1600200"/>
            <a:ext cx="10698480" cy="365760"/>
          </a:xfrm>
          <a:prstGeom prst="rect">
            <a:avLst/>
          </a:prstGeom>
          <a:noFill/>
        </p:spPr>
        <p:txBody>
          <a:bodyPr wrap="none">
            <a:spAutoFit/>
          </a:bodyPr>
          <a:lstStyle/>
          <a:p>
            <a:pPr>
              <a:defRPr sz="1300" b="1">
                <a:solidFill>
                  <a:srgbClr val="42B8D5"/>
                </a:solidFill>
              </a:defRPr>
            </a:pPr>
            <a:r>
              <a:t>GRADUATE LECTURE</a:t>
            </a:r>
          </a:p>
        </p:txBody>
      </p:sp>
      <p:sp>
        <p:nvSpPr>
          <p:cNvPr id="6" name="Rounded Rectangle 5"/>
          <p:cNvSpPr/>
          <p:nvPr/>
        </p:nvSpPr>
        <p:spPr>
          <a:xfrm>
            <a:off x="594360" y="2148840"/>
            <a:ext cx="10972800" cy="3840480"/>
          </a:xfrm>
          <a:prstGeom prst="roundRect">
            <a:avLst/>
          </a:prstGeom>
          <a:solidFill>
            <a:srgbClr val="141E2B"/>
          </a:solidFill>
          <a:ln>
            <a:solidFill>
              <a:srgbClr val="2F3E4E"/>
            </a:solidFill>
          </a:ln>
        </p:spPr>
        <p:style>
          <a:lnRef idx="1">
            <a:schemeClr val="accent1"/>
          </a:lnRef>
          <a:fillRef idx="3">
            <a:schemeClr val="accent1"/>
          </a:fillRef>
          <a:effectRef idx="2">
            <a:schemeClr val="accent1"/>
          </a:effectRef>
          <a:fontRef idx="minor">
            <a:schemeClr val="lt1"/>
          </a:fontRef>
        </p:style>
        <p:txBody>
          <a:bodyPr rtlCol="0" anchor="ctr" lIns="320040" rIns="274320" tIns="228600"/>
          <a:lstStyle/>
          <a:p>
            <a:pPr algn="ctr">
              <a:spcAft>
                <a:spcPts val="1100"/>
              </a:spcAft>
              <a:defRPr sz="1900">
                <a:solidFill>
                  <a:srgbClr val="F2F5F8"/>
                </a:solidFill>
              </a:defRPr>
            </a:pPr>
            <a:r>
              <a:t>• Termination ends execution, but it does not erase every trace of a process immediately.</a:t>
            </a:r>
          </a:p>
          <a:p>
            <a:pPr>
              <a:spcAft>
                <a:spcPts val="1100"/>
              </a:spcAft>
              <a:defRPr sz="1900">
                <a:solidFill>
                  <a:srgbClr val="F2F5F8"/>
                </a:solidFill>
              </a:defRPr>
            </a:pPr>
            <a:r>
              <a:t>• The operating system retains enough information for a parent to learn how a child finished.</a:t>
            </a:r>
          </a:p>
          <a:p>
            <a:pPr>
              <a:spcAft>
                <a:spcPts val="1100"/>
              </a:spcAft>
              <a:defRPr sz="1700">
                <a:solidFill>
                  <a:srgbClr val="F2F5F8"/>
                </a:solidFill>
              </a:defRPr>
            </a:pPr>
            <a:r>
              <a:t>• A robust parent separates ordinary exit, signal termination, and temporary state changes rather than interpreting a raw status integer directly. [ R17 ]</a:t>
            </a:r>
          </a:p>
        </p:txBody>
      </p:sp>
      <p:sp>
        <p:nvSpPr>
          <p:cNvPr id="7" name="TextBox 6"/>
          <p:cNvSpPr txBox="1"/>
          <p:nvPr/>
        </p:nvSpPr>
        <p:spPr>
          <a:xfrm>
            <a:off x="612648" y="6309360"/>
            <a:ext cx="10698480" cy="228600"/>
          </a:xfrm>
          <a:prstGeom prst="rect">
            <a:avLst/>
          </a:prstGeom>
          <a:noFill/>
        </p:spPr>
        <p:txBody>
          <a:bodyPr wrap="none">
            <a:spAutoFit/>
          </a:bodyPr>
          <a:lstStyle/>
          <a:p>
            <a:pPr>
              <a:defRPr sz="1000">
                <a:solidFill>
                  <a:srgbClr val="A5B2C1"/>
                </a:solidFill>
              </a:defRPr>
            </a:pPr>
            <a:r>
              <a:t>CHAPTER 39     |     1</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B121C"/>
        </a:solidFill>
        <a:effectLst/>
      </p:bgPr>
    </p:bg>
    <p:spTree>
      <p:nvGrpSpPr>
        <p:cNvPr id="1" name=""/>
        <p:cNvGrpSpPr/>
        <p:nvPr/>
      </p:nvGrpSpPr>
      <p:grpSpPr/>
      <p:sp>
        <p:nvSpPr>
          <p:cNvPr id="2" name="Rectangle 1"/>
          <p:cNvSpPr/>
          <p:nvPr/>
        </p:nvSpPr>
        <p:spPr>
          <a:xfrm>
            <a:off x="0" y="0"/>
            <a:ext cx="12191695" cy="73152"/>
          </a:xfrm>
          <a:prstGeom prst="rect">
            <a:avLst/>
          </a:prstGeom>
          <a:solidFill>
            <a:srgbClr val="42B8D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20040"/>
            <a:ext cx="10972800" cy="274320"/>
          </a:xfrm>
          <a:prstGeom prst="rect">
            <a:avLst/>
          </a:prstGeom>
          <a:noFill/>
        </p:spPr>
        <p:txBody>
          <a:bodyPr wrap="none">
            <a:spAutoFit/>
          </a:bodyPr>
          <a:lstStyle/>
          <a:p>
            <a:pPr>
              <a:defRPr sz="1100" b="1">
                <a:solidFill>
                  <a:srgbClr val="A5B2C1"/>
                </a:solidFill>
              </a:defRPr>
            </a:pPr>
            <a:r>
              <a:t>SYSTEMS PROGRAMMING AND MACHINE ORGANIZATION     ·     CHARLES DORNER</a:t>
            </a:r>
          </a:p>
        </p:txBody>
      </p:sp>
      <p:sp>
        <p:nvSpPr>
          <p:cNvPr id="4" name="TextBox 3"/>
          <p:cNvSpPr txBox="1"/>
          <p:nvPr/>
        </p:nvSpPr>
        <p:spPr>
          <a:xfrm>
            <a:off x="594360" y="822960"/>
            <a:ext cx="10972800" cy="914400"/>
          </a:xfrm>
          <a:prstGeom prst="rect">
            <a:avLst/>
          </a:prstGeom>
          <a:noFill/>
        </p:spPr>
        <p:txBody>
          <a:bodyPr wrap="none">
            <a:spAutoFit/>
          </a:bodyPr>
          <a:lstStyle/>
          <a:p>
            <a:pPr>
              <a:defRPr sz="3000" b="1">
                <a:solidFill>
                  <a:srgbClr val="F2F5F8"/>
                </a:solidFill>
              </a:defRPr>
            </a:pPr>
            <a:r>
              <a:t>What This Chapter Builds</a:t>
            </a:r>
          </a:p>
        </p:txBody>
      </p:sp>
      <p:sp>
        <p:nvSpPr>
          <p:cNvPr id="5" name="TextBox 4"/>
          <p:cNvSpPr txBox="1"/>
          <p:nvPr/>
        </p:nvSpPr>
        <p:spPr>
          <a:xfrm>
            <a:off x="612648" y="1600200"/>
            <a:ext cx="10698480" cy="365760"/>
          </a:xfrm>
          <a:prstGeom prst="rect">
            <a:avLst/>
          </a:prstGeom>
          <a:noFill/>
        </p:spPr>
        <p:txBody>
          <a:bodyPr wrap="none">
            <a:spAutoFit/>
          </a:bodyPr>
          <a:lstStyle/>
          <a:p>
            <a:pPr>
              <a:defRPr sz="1300" b="1">
                <a:solidFill>
                  <a:srgbClr val="42B8D5"/>
                </a:solidFill>
              </a:defRPr>
            </a:pPr>
            <a:r>
              <a:t>LEARNING OBJECTIVES</a:t>
            </a:r>
          </a:p>
        </p:txBody>
      </p:sp>
      <p:sp>
        <p:nvSpPr>
          <p:cNvPr id="6" name="Rounded Rectangle 5"/>
          <p:cNvSpPr/>
          <p:nvPr/>
        </p:nvSpPr>
        <p:spPr>
          <a:xfrm>
            <a:off x="594360" y="2148840"/>
            <a:ext cx="10972800" cy="3840480"/>
          </a:xfrm>
          <a:prstGeom prst="roundRect">
            <a:avLst/>
          </a:prstGeom>
          <a:solidFill>
            <a:srgbClr val="141E2B"/>
          </a:solidFill>
          <a:ln>
            <a:solidFill>
              <a:srgbClr val="2F3E4E"/>
            </a:solidFill>
          </a:ln>
        </p:spPr>
        <p:style>
          <a:lnRef idx="1">
            <a:schemeClr val="accent1"/>
          </a:lnRef>
          <a:fillRef idx="3">
            <a:schemeClr val="accent1"/>
          </a:fillRef>
          <a:effectRef idx="2">
            <a:schemeClr val="accent1"/>
          </a:effectRef>
          <a:fontRef idx="minor">
            <a:schemeClr val="lt1"/>
          </a:fontRef>
        </p:style>
        <p:txBody>
          <a:bodyPr rtlCol="0" anchor="ctr" lIns="320040" rIns="274320" tIns="228600"/>
          <a:lstStyle/>
          <a:p>
            <a:pPr algn="ctr">
              <a:spcAft>
                <a:spcPts val="1100"/>
              </a:spcAft>
              <a:defRPr sz="1900">
                <a:solidFill>
                  <a:srgbClr val="F2F5F8"/>
                </a:solidFill>
              </a:defRPr>
            </a:pPr>
            <a:r>
              <a:t>• Explain the mechanisms and contracts in Process Termination.</a:t>
            </a:r>
          </a:p>
          <a:p>
            <a:pPr>
              <a:spcAft>
                <a:spcPts val="1100"/>
              </a:spcAft>
              <a:defRPr sz="1900">
                <a:solidFill>
                  <a:srgbClr val="F2F5F8"/>
                </a:solidFill>
              </a:defRPr>
            </a:pPr>
            <a:r>
              <a:t>• Trace the chapter's important state, representation, and resource transitions.</a:t>
            </a:r>
          </a:p>
          <a:p>
            <a:pPr>
              <a:spcAft>
                <a:spcPts val="1100"/>
              </a:spcAft>
              <a:defRPr sz="1900">
                <a:solidFill>
                  <a:srgbClr val="F2F5F8"/>
                </a:solidFill>
              </a:defRPr>
            </a:pPr>
            <a:r>
              <a:t>• Identify failure modes, assumptions, and evidence required for correctness.</a:t>
            </a:r>
          </a:p>
          <a:p>
            <a:pPr>
              <a:spcAft>
                <a:spcPts val="1100"/>
              </a:spcAft>
              <a:defRPr sz="1900">
                <a:solidFill>
                  <a:srgbClr val="F2F5F8"/>
                </a:solidFill>
              </a:defRPr>
            </a:pPr>
            <a:r>
              <a:t>• Apply the chapter model to the worked examples and guided lab.</a:t>
            </a:r>
          </a:p>
        </p:txBody>
      </p:sp>
      <p:sp>
        <p:nvSpPr>
          <p:cNvPr id="7" name="TextBox 6"/>
          <p:cNvSpPr txBox="1"/>
          <p:nvPr/>
        </p:nvSpPr>
        <p:spPr>
          <a:xfrm>
            <a:off x="612648" y="6309360"/>
            <a:ext cx="10698480" cy="228600"/>
          </a:xfrm>
          <a:prstGeom prst="rect">
            <a:avLst/>
          </a:prstGeom>
          <a:noFill/>
        </p:spPr>
        <p:txBody>
          <a:bodyPr wrap="none">
            <a:spAutoFit/>
          </a:bodyPr>
          <a:lstStyle/>
          <a:p>
            <a:pPr>
              <a:defRPr sz="1000">
                <a:solidFill>
                  <a:srgbClr val="A5B2C1"/>
                </a:solidFill>
              </a:defRPr>
            </a:pPr>
            <a:r>
              <a:t>CHAPTER 39     |     2</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B121C"/>
        </a:solidFill>
        <a:effectLst/>
      </p:bgPr>
    </p:bg>
    <p:spTree>
      <p:nvGrpSpPr>
        <p:cNvPr id="1" name=""/>
        <p:cNvGrpSpPr/>
        <p:nvPr/>
      </p:nvGrpSpPr>
      <p:grpSpPr/>
      <p:sp>
        <p:nvSpPr>
          <p:cNvPr id="2" name="Rectangle 1"/>
          <p:cNvSpPr/>
          <p:nvPr/>
        </p:nvSpPr>
        <p:spPr>
          <a:xfrm>
            <a:off x="0" y="0"/>
            <a:ext cx="12191695" cy="73152"/>
          </a:xfrm>
          <a:prstGeom prst="rect">
            <a:avLst/>
          </a:prstGeom>
          <a:solidFill>
            <a:srgbClr val="42B8D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20040"/>
            <a:ext cx="10972800" cy="274320"/>
          </a:xfrm>
          <a:prstGeom prst="rect">
            <a:avLst/>
          </a:prstGeom>
          <a:noFill/>
        </p:spPr>
        <p:txBody>
          <a:bodyPr wrap="none">
            <a:spAutoFit/>
          </a:bodyPr>
          <a:lstStyle/>
          <a:p>
            <a:pPr>
              <a:defRPr sz="1100" b="1">
                <a:solidFill>
                  <a:srgbClr val="A5B2C1"/>
                </a:solidFill>
              </a:defRPr>
            </a:pPr>
            <a:r>
              <a:t>SYSTEMS PROGRAMMING AND MACHINE ORGANIZATION     ·     CHARLES DORNER</a:t>
            </a:r>
          </a:p>
        </p:txBody>
      </p:sp>
      <p:sp>
        <p:nvSpPr>
          <p:cNvPr id="4" name="TextBox 3"/>
          <p:cNvSpPr txBox="1"/>
          <p:nvPr/>
        </p:nvSpPr>
        <p:spPr>
          <a:xfrm>
            <a:off x="594360" y="822960"/>
            <a:ext cx="10972800" cy="914400"/>
          </a:xfrm>
          <a:prstGeom prst="rect">
            <a:avLst/>
          </a:prstGeom>
          <a:noFill/>
        </p:spPr>
        <p:txBody>
          <a:bodyPr wrap="none">
            <a:spAutoFit/>
          </a:bodyPr>
          <a:lstStyle/>
          <a:p>
            <a:pPr>
              <a:defRPr sz="3000" b="1">
                <a:solidFill>
                  <a:srgbClr val="F2F5F8"/>
                </a:solidFill>
              </a:defRPr>
            </a:pPr>
            <a:r>
              <a:t>Chapter Roadmap</a:t>
            </a:r>
          </a:p>
        </p:txBody>
      </p:sp>
      <p:sp>
        <p:nvSpPr>
          <p:cNvPr id="5" name="TextBox 4"/>
          <p:cNvSpPr txBox="1"/>
          <p:nvPr/>
        </p:nvSpPr>
        <p:spPr>
          <a:xfrm>
            <a:off x="612648" y="1600200"/>
            <a:ext cx="10698480" cy="365760"/>
          </a:xfrm>
          <a:prstGeom prst="rect">
            <a:avLst/>
          </a:prstGeom>
          <a:noFill/>
        </p:spPr>
        <p:txBody>
          <a:bodyPr wrap="none">
            <a:spAutoFit/>
          </a:bodyPr>
          <a:lstStyle/>
          <a:p>
            <a:pPr>
              <a:defRPr sz="1300" b="1">
                <a:solidFill>
                  <a:srgbClr val="42B8D5"/>
                </a:solidFill>
              </a:defRPr>
            </a:pPr>
            <a:r>
              <a:t>SOURCE-ALIGNED COVERAGE</a:t>
            </a:r>
          </a:p>
        </p:txBody>
      </p:sp>
      <p:sp>
        <p:nvSpPr>
          <p:cNvPr id="6" name="Rounded Rectangle 5"/>
          <p:cNvSpPr/>
          <p:nvPr/>
        </p:nvSpPr>
        <p:spPr>
          <a:xfrm>
            <a:off x="594360" y="2148840"/>
            <a:ext cx="10972800" cy="3840480"/>
          </a:xfrm>
          <a:prstGeom prst="roundRect">
            <a:avLst/>
          </a:prstGeom>
          <a:solidFill>
            <a:srgbClr val="141E2B"/>
          </a:solidFill>
          <a:ln>
            <a:solidFill>
              <a:srgbClr val="2F3E4E"/>
            </a:solidFill>
          </a:ln>
        </p:spPr>
        <p:style>
          <a:lnRef idx="1">
            <a:schemeClr val="accent1"/>
          </a:lnRef>
          <a:fillRef idx="3">
            <a:schemeClr val="accent1"/>
          </a:fillRef>
          <a:effectRef idx="2">
            <a:schemeClr val="accent1"/>
          </a:effectRef>
          <a:fontRef idx="minor">
            <a:schemeClr val="lt1"/>
          </a:fontRef>
        </p:style>
        <p:txBody>
          <a:bodyPr rtlCol="0" anchor="ctr" lIns="320040" rIns="274320" tIns="228600"/>
          <a:lstStyle/>
          <a:p>
            <a:pPr algn="ctr">
              <a:spcAft>
                <a:spcPts val="1100"/>
              </a:spcAft>
              <a:defRPr sz="1900">
                <a:solidFill>
                  <a:srgbClr val="F2F5F8"/>
                </a:solidFill>
              </a:defRPr>
            </a:pPr>
            <a:r>
              <a:t>• 39.1 exit</a:t>
            </a:r>
          </a:p>
          <a:p>
            <a:pPr>
              <a:spcAft>
                <a:spcPts val="1100"/>
              </a:spcAft>
              <a:defRPr sz="1900">
                <a:solidFill>
                  <a:srgbClr val="F2F5F8"/>
                </a:solidFill>
              </a:defRPr>
            </a:pPr>
            <a:r>
              <a:t>• 39.2 Exit status</a:t>
            </a:r>
          </a:p>
          <a:p>
            <a:pPr>
              <a:spcAft>
                <a:spcPts val="1100"/>
              </a:spcAft>
              <a:defRPr sz="1900">
                <a:solidFill>
                  <a:srgbClr val="F2F5F8"/>
                </a:solidFill>
              </a:defRPr>
            </a:pPr>
            <a:r>
              <a:t>• 39.3 wait</a:t>
            </a:r>
          </a:p>
          <a:p>
            <a:pPr>
              <a:spcAft>
                <a:spcPts val="1100"/>
              </a:spcAft>
              <a:defRPr sz="1900">
                <a:solidFill>
                  <a:srgbClr val="F2F5F8"/>
                </a:solidFill>
              </a:defRPr>
            </a:pPr>
            <a:r>
              <a:t>• 39.4 waitpid</a:t>
            </a:r>
          </a:p>
          <a:p>
            <a:pPr>
              <a:spcAft>
                <a:spcPts val="1100"/>
              </a:spcAft>
              <a:defRPr sz="1900">
                <a:solidFill>
                  <a:srgbClr val="F2F5F8"/>
                </a:solidFill>
              </a:defRPr>
            </a:pPr>
            <a:r>
              <a:t>• ...plus 6 additional source topics</a:t>
            </a:r>
          </a:p>
        </p:txBody>
      </p:sp>
      <p:sp>
        <p:nvSpPr>
          <p:cNvPr id="7" name="TextBox 6"/>
          <p:cNvSpPr txBox="1"/>
          <p:nvPr/>
        </p:nvSpPr>
        <p:spPr>
          <a:xfrm>
            <a:off x="612648" y="6309360"/>
            <a:ext cx="10698480" cy="228600"/>
          </a:xfrm>
          <a:prstGeom prst="rect">
            <a:avLst/>
          </a:prstGeom>
          <a:noFill/>
        </p:spPr>
        <p:txBody>
          <a:bodyPr wrap="none">
            <a:spAutoFit/>
          </a:bodyPr>
          <a:lstStyle/>
          <a:p>
            <a:pPr>
              <a:defRPr sz="1000">
                <a:solidFill>
                  <a:srgbClr val="A5B2C1"/>
                </a:solidFill>
              </a:defRPr>
            </a:pPr>
            <a:r>
              <a:t>CHAPTER 39     |     3</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B121C"/>
        </a:solidFill>
        <a:effectLst/>
      </p:bgPr>
    </p:bg>
    <p:spTree>
      <p:nvGrpSpPr>
        <p:cNvPr id="1" name=""/>
        <p:cNvGrpSpPr/>
        <p:nvPr/>
      </p:nvGrpSpPr>
      <p:grpSpPr/>
      <p:sp>
        <p:nvSpPr>
          <p:cNvPr id="2" name="Rectangle 1"/>
          <p:cNvSpPr/>
          <p:nvPr/>
        </p:nvSpPr>
        <p:spPr>
          <a:xfrm>
            <a:off x="0" y="0"/>
            <a:ext cx="12191695" cy="73152"/>
          </a:xfrm>
          <a:prstGeom prst="rect">
            <a:avLst/>
          </a:prstGeom>
          <a:solidFill>
            <a:srgbClr val="42B8D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20040"/>
            <a:ext cx="10972800" cy="274320"/>
          </a:xfrm>
          <a:prstGeom prst="rect">
            <a:avLst/>
          </a:prstGeom>
          <a:noFill/>
        </p:spPr>
        <p:txBody>
          <a:bodyPr wrap="none">
            <a:spAutoFit/>
          </a:bodyPr>
          <a:lstStyle/>
          <a:p>
            <a:pPr>
              <a:defRPr sz="1100" b="1">
                <a:solidFill>
                  <a:srgbClr val="A5B2C1"/>
                </a:solidFill>
              </a:defRPr>
            </a:pPr>
            <a:r>
              <a:t>SYSTEMS PROGRAMMING AND MACHINE ORGANIZATION     ·     CHARLES DORNER</a:t>
            </a:r>
          </a:p>
        </p:txBody>
      </p:sp>
      <p:sp>
        <p:nvSpPr>
          <p:cNvPr id="4" name="TextBox 3"/>
          <p:cNvSpPr txBox="1"/>
          <p:nvPr/>
        </p:nvSpPr>
        <p:spPr>
          <a:xfrm>
            <a:off x="594360" y="822960"/>
            <a:ext cx="10972800" cy="914400"/>
          </a:xfrm>
          <a:prstGeom prst="rect">
            <a:avLst/>
          </a:prstGeom>
          <a:noFill/>
        </p:spPr>
        <p:txBody>
          <a:bodyPr wrap="none">
            <a:spAutoFit/>
          </a:bodyPr>
          <a:lstStyle/>
          <a:p>
            <a:pPr>
              <a:defRPr sz="3000" b="1">
                <a:solidFill>
                  <a:srgbClr val="F2F5F8"/>
                </a:solidFill>
              </a:defRPr>
            </a:pPr>
            <a:r>
              <a:t>39.1 exit</a:t>
            </a:r>
          </a:p>
        </p:txBody>
      </p:sp>
      <p:sp>
        <p:nvSpPr>
          <p:cNvPr id="5" name="TextBox 4"/>
          <p:cNvSpPr txBox="1"/>
          <p:nvPr/>
        </p:nvSpPr>
        <p:spPr>
          <a:xfrm>
            <a:off x="612648" y="1600200"/>
            <a:ext cx="10698480" cy="365760"/>
          </a:xfrm>
          <a:prstGeom prst="rect">
            <a:avLst/>
          </a:prstGeom>
          <a:noFill/>
        </p:spPr>
        <p:txBody>
          <a:bodyPr wrap="none">
            <a:spAutoFit/>
          </a:bodyPr>
          <a:lstStyle/>
          <a:p>
            <a:pPr>
              <a:defRPr sz="1300" b="1">
                <a:solidFill>
                  <a:srgbClr val="42B8D5"/>
                </a:solidFill>
              </a:defRPr>
            </a:pPr>
            <a:r>
              <a:t>SOURCE TOPIC</a:t>
            </a:r>
          </a:p>
        </p:txBody>
      </p:sp>
      <p:sp>
        <p:nvSpPr>
          <p:cNvPr id="6" name="Rounded Rectangle 5"/>
          <p:cNvSpPr/>
          <p:nvPr/>
        </p:nvSpPr>
        <p:spPr>
          <a:xfrm>
            <a:off x="594360" y="2148840"/>
            <a:ext cx="10972800" cy="3840480"/>
          </a:xfrm>
          <a:prstGeom prst="roundRect">
            <a:avLst/>
          </a:prstGeom>
          <a:solidFill>
            <a:srgbClr val="141E2B"/>
          </a:solidFill>
          <a:ln>
            <a:solidFill>
              <a:srgbClr val="2F3E4E"/>
            </a:solidFill>
          </a:ln>
        </p:spPr>
        <p:style>
          <a:lnRef idx="1">
            <a:schemeClr val="accent1"/>
          </a:lnRef>
          <a:fillRef idx="3">
            <a:schemeClr val="accent1"/>
          </a:fillRef>
          <a:effectRef idx="2">
            <a:schemeClr val="accent1"/>
          </a:effectRef>
          <a:fontRef idx="minor">
            <a:schemeClr val="lt1"/>
          </a:fontRef>
        </p:style>
        <p:txBody>
          <a:bodyPr rtlCol="0" anchor="ctr" lIns="320040" rIns="274320" tIns="228600"/>
          <a:lstStyle/>
          <a:p>
            <a:pPr algn="ctr">
              <a:spcAft>
                <a:spcPts val="1100"/>
              </a:spcAft>
              <a:defRPr sz="1700">
                <a:solidFill>
                  <a:srgbClr val="F2F5F8"/>
                </a:solidFill>
              </a:defRPr>
            </a:pPr>
            <a:r>
              <a:t>• The C library’s exit performs normal termination processing, including registered exit handlers and standard-I/O cleanup.</a:t>
            </a:r>
          </a:p>
          <a:p>
            <a:pPr>
              <a:spcAft>
                <a:spcPts val="1100"/>
              </a:spcAft>
              <a:defRPr sz="1900">
                <a:solidFill>
                  <a:srgbClr val="F2F5F8"/>
                </a:solidFill>
              </a:defRPr>
            </a:pPr>
            <a:r>
              <a:t>• Returning from main has the corresponding normal-termination effect.</a:t>
            </a:r>
          </a:p>
          <a:p>
            <a:pPr>
              <a:spcAft>
                <a:spcPts val="1100"/>
              </a:spcAft>
              <a:defRPr sz="1900">
                <a:solidFill>
                  <a:srgbClr val="F2F5F8"/>
                </a:solidFill>
              </a:defRPr>
            </a:pPr>
            <a:r>
              <a:t>• _exit bypasses that user-space cleanup and is appropriate for many child failure paths after fork.</a:t>
            </a:r>
          </a:p>
          <a:p>
            <a:pPr>
              <a:spcAft>
                <a:spcPts val="1100"/>
              </a:spcAft>
              <a:defRPr sz="1900">
                <a:solidFill>
                  <a:srgbClr val="F2F5F8"/>
                </a:solidFill>
              </a:defRPr>
            </a:pPr>
            <a:r>
              <a:t>• Neither interface returns to the caller.</a:t>
            </a:r>
          </a:p>
        </p:txBody>
      </p:sp>
      <p:sp>
        <p:nvSpPr>
          <p:cNvPr id="7" name="TextBox 6"/>
          <p:cNvSpPr txBox="1"/>
          <p:nvPr/>
        </p:nvSpPr>
        <p:spPr>
          <a:xfrm>
            <a:off x="612648" y="6309360"/>
            <a:ext cx="10698480" cy="228600"/>
          </a:xfrm>
          <a:prstGeom prst="rect">
            <a:avLst/>
          </a:prstGeom>
          <a:noFill/>
        </p:spPr>
        <p:txBody>
          <a:bodyPr wrap="none">
            <a:spAutoFit/>
          </a:bodyPr>
          <a:lstStyle/>
          <a:p>
            <a:pPr>
              <a:defRPr sz="1000">
                <a:solidFill>
                  <a:srgbClr val="A5B2C1"/>
                </a:solidFill>
              </a:defRPr>
            </a:pPr>
            <a:r>
              <a:t>CHAPTER 39     |     4</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B121C"/>
        </a:solidFill>
        <a:effectLst/>
      </p:bgPr>
    </p:bg>
    <p:spTree>
      <p:nvGrpSpPr>
        <p:cNvPr id="1" name=""/>
        <p:cNvGrpSpPr/>
        <p:nvPr/>
      </p:nvGrpSpPr>
      <p:grpSpPr/>
      <p:sp>
        <p:nvSpPr>
          <p:cNvPr id="2" name="Rectangle 1"/>
          <p:cNvSpPr/>
          <p:nvPr/>
        </p:nvSpPr>
        <p:spPr>
          <a:xfrm>
            <a:off x="0" y="0"/>
            <a:ext cx="12191695" cy="73152"/>
          </a:xfrm>
          <a:prstGeom prst="rect">
            <a:avLst/>
          </a:prstGeom>
          <a:solidFill>
            <a:srgbClr val="42B8D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20040"/>
            <a:ext cx="10972800" cy="274320"/>
          </a:xfrm>
          <a:prstGeom prst="rect">
            <a:avLst/>
          </a:prstGeom>
          <a:noFill/>
        </p:spPr>
        <p:txBody>
          <a:bodyPr wrap="none">
            <a:spAutoFit/>
          </a:bodyPr>
          <a:lstStyle/>
          <a:p>
            <a:pPr>
              <a:defRPr sz="1100" b="1">
                <a:solidFill>
                  <a:srgbClr val="A5B2C1"/>
                </a:solidFill>
              </a:defRPr>
            </a:pPr>
            <a:r>
              <a:t>SYSTEMS PROGRAMMING AND MACHINE ORGANIZATION     ·     CHARLES DORNER</a:t>
            </a:r>
          </a:p>
        </p:txBody>
      </p:sp>
      <p:sp>
        <p:nvSpPr>
          <p:cNvPr id="4" name="TextBox 3"/>
          <p:cNvSpPr txBox="1"/>
          <p:nvPr/>
        </p:nvSpPr>
        <p:spPr>
          <a:xfrm>
            <a:off x="594360" y="822960"/>
            <a:ext cx="10972800" cy="914400"/>
          </a:xfrm>
          <a:prstGeom prst="rect">
            <a:avLst/>
          </a:prstGeom>
          <a:noFill/>
        </p:spPr>
        <p:txBody>
          <a:bodyPr wrap="none">
            <a:spAutoFit/>
          </a:bodyPr>
          <a:lstStyle/>
          <a:p>
            <a:pPr>
              <a:defRPr sz="3000" b="1">
                <a:solidFill>
                  <a:srgbClr val="F2F5F8"/>
                </a:solidFill>
              </a:defRPr>
            </a:pPr>
            <a:r>
              <a:t>39.1 exit — Deep Dive</a:t>
            </a:r>
          </a:p>
        </p:txBody>
      </p:sp>
      <p:sp>
        <p:nvSpPr>
          <p:cNvPr id="5" name="TextBox 4"/>
          <p:cNvSpPr txBox="1"/>
          <p:nvPr/>
        </p:nvSpPr>
        <p:spPr>
          <a:xfrm>
            <a:off x="612648" y="1600200"/>
            <a:ext cx="10698480" cy="365760"/>
          </a:xfrm>
          <a:prstGeom prst="rect">
            <a:avLst/>
          </a:prstGeom>
          <a:noFill/>
        </p:spPr>
        <p:txBody>
          <a:bodyPr wrap="none">
            <a:spAutoFit/>
          </a:bodyPr>
          <a:lstStyle/>
          <a:p>
            <a:pPr>
              <a:defRPr sz="1300" b="1">
                <a:solidFill>
                  <a:srgbClr val="42B8D5"/>
                </a:solidFill>
              </a:defRPr>
            </a:pPr>
            <a:r>
              <a:t>ENGINEERING IMPLICATIONS</a:t>
            </a:r>
          </a:p>
        </p:txBody>
      </p:sp>
      <p:sp>
        <p:nvSpPr>
          <p:cNvPr id="6" name="Rounded Rectangle 5"/>
          <p:cNvSpPr/>
          <p:nvPr/>
        </p:nvSpPr>
        <p:spPr>
          <a:xfrm>
            <a:off x="594360" y="2148840"/>
            <a:ext cx="10972800" cy="3840480"/>
          </a:xfrm>
          <a:prstGeom prst="roundRect">
            <a:avLst/>
          </a:prstGeom>
          <a:solidFill>
            <a:srgbClr val="141E2B"/>
          </a:solidFill>
          <a:ln>
            <a:solidFill>
              <a:srgbClr val="2F3E4E"/>
            </a:solidFill>
          </a:ln>
        </p:spPr>
        <p:style>
          <a:lnRef idx="1">
            <a:schemeClr val="accent1"/>
          </a:lnRef>
          <a:fillRef idx="3">
            <a:schemeClr val="accent1"/>
          </a:fillRef>
          <a:effectRef idx="2">
            <a:schemeClr val="accent1"/>
          </a:effectRef>
          <a:fontRef idx="minor">
            <a:schemeClr val="lt1"/>
          </a:fontRef>
        </p:style>
        <p:txBody>
          <a:bodyPr rtlCol="0" anchor="ctr" lIns="320040" rIns="274320" tIns="228600"/>
          <a:lstStyle/>
          <a:p>
            <a:pPr algn="ctr">
              <a:spcAft>
                <a:spcPts val="1100"/>
              </a:spcAft>
              <a:defRPr sz="1900">
                <a:solidFill>
                  <a:srgbClr val="F2F5F8"/>
                </a:solidFill>
              </a:defRPr>
            </a:pPr>
            <a:r>
              <a:t>• Neither interface returns to the caller.</a:t>
            </a:r>
          </a:p>
          <a:p>
            <a:pPr>
              <a:spcAft>
                <a:spcPts val="1100"/>
              </a:spcAft>
              <a:defRPr sz="1900">
                <a:solidFill>
                  <a:srgbClr val="F2F5F8"/>
                </a:solidFill>
              </a:defRPr>
            </a:pPr>
            <a:r>
              <a:t>• Choose based on the process’s lifecycle, not merely on spelling.</a:t>
            </a:r>
          </a:p>
          <a:p>
            <a:pPr>
              <a:spcAft>
                <a:spcPts val="1100"/>
              </a:spcAft>
              <a:defRPr sz="1700">
                <a:solidFill>
                  <a:srgbClr val="F2F5F8"/>
                </a:solidFill>
              </a:defRPr>
            </a:pPr>
            <a:r>
              <a:t>• Using normal cleanup in an exec-bound child can flush copied buffers or invoke handlers intended for the original parent program.</a:t>
            </a:r>
          </a:p>
        </p:txBody>
      </p:sp>
      <p:sp>
        <p:nvSpPr>
          <p:cNvPr id="7" name="TextBox 6"/>
          <p:cNvSpPr txBox="1"/>
          <p:nvPr/>
        </p:nvSpPr>
        <p:spPr>
          <a:xfrm>
            <a:off x="612648" y="6309360"/>
            <a:ext cx="10698480" cy="228600"/>
          </a:xfrm>
          <a:prstGeom prst="rect">
            <a:avLst/>
          </a:prstGeom>
          <a:noFill/>
        </p:spPr>
        <p:txBody>
          <a:bodyPr wrap="none">
            <a:spAutoFit/>
          </a:bodyPr>
          <a:lstStyle/>
          <a:p>
            <a:pPr>
              <a:defRPr sz="1000">
                <a:solidFill>
                  <a:srgbClr val="A5B2C1"/>
                </a:solidFill>
              </a:defRPr>
            </a:pPr>
            <a:r>
              <a:t>CHAPTER 39     |     5</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B121C"/>
        </a:solidFill>
        <a:effectLst/>
      </p:bgPr>
    </p:bg>
    <p:spTree>
      <p:nvGrpSpPr>
        <p:cNvPr id="1" name=""/>
        <p:cNvGrpSpPr/>
        <p:nvPr/>
      </p:nvGrpSpPr>
      <p:grpSpPr/>
      <p:sp>
        <p:nvSpPr>
          <p:cNvPr id="2" name="Rectangle 1"/>
          <p:cNvSpPr/>
          <p:nvPr/>
        </p:nvSpPr>
        <p:spPr>
          <a:xfrm>
            <a:off x="0" y="0"/>
            <a:ext cx="12191695" cy="73152"/>
          </a:xfrm>
          <a:prstGeom prst="rect">
            <a:avLst/>
          </a:prstGeom>
          <a:solidFill>
            <a:srgbClr val="42B8D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20040"/>
            <a:ext cx="10972800" cy="274320"/>
          </a:xfrm>
          <a:prstGeom prst="rect">
            <a:avLst/>
          </a:prstGeom>
          <a:noFill/>
        </p:spPr>
        <p:txBody>
          <a:bodyPr wrap="none">
            <a:spAutoFit/>
          </a:bodyPr>
          <a:lstStyle/>
          <a:p>
            <a:pPr>
              <a:defRPr sz="1100" b="1">
                <a:solidFill>
                  <a:srgbClr val="A5B2C1"/>
                </a:solidFill>
              </a:defRPr>
            </a:pPr>
            <a:r>
              <a:t>SYSTEMS PROGRAMMING AND MACHINE ORGANIZATION     ·     CHARLES DORNER</a:t>
            </a:r>
          </a:p>
        </p:txBody>
      </p:sp>
      <p:sp>
        <p:nvSpPr>
          <p:cNvPr id="4" name="TextBox 3"/>
          <p:cNvSpPr txBox="1"/>
          <p:nvPr/>
        </p:nvSpPr>
        <p:spPr>
          <a:xfrm>
            <a:off x="594360" y="822960"/>
            <a:ext cx="10972800" cy="914400"/>
          </a:xfrm>
          <a:prstGeom prst="rect">
            <a:avLst/>
          </a:prstGeom>
          <a:noFill/>
        </p:spPr>
        <p:txBody>
          <a:bodyPr wrap="none">
            <a:spAutoFit/>
          </a:bodyPr>
          <a:lstStyle/>
          <a:p>
            <a:pPr>
              <a:defRPr sz="3000" b="1">
                <a:solidFill>
                  <a:srgbClr val="F2F5F8"/>
                </a:solidFill>
              </a:defRPr>
            </a:pPr>
            <a:r>
              <a:t>39.2 Exit status</a:t>
            </a:r>
          </a:p>
        </p:txBody>
      </p:sp>
      <p:sp>
        <p:nvSpPr>
          <p:cNvPr id="5" name="TextBox 4"/>
          <p:cNvSpPr txBox="1"/>
          <p:nvPr/>
        </p:nvSpPr>
        <p:spPr>
          <a:xfrm>
            <a:off x="612648" y="1600200"/>
            <a:ext cx="10698480" cy="365760"/>
          </a:xfrm>
          <a:prstGeom prst="rect">
            <a:avLst/>
          </a:prstGeom>
          <a:noFill/>
        </p:spPr>
        <p:txBody>
          <a:bodyPr wrap="none">
            <a:spAutoFit/>
          </a:bodyPr>
          <a:lstStyle/>
          <a:p>
            <a:pPr>
              <a:defRPr sz="1300" b="1">
                <a:solidFill>
                  <a:srgbClr val="42B8D5"/>
                </a:solidFill>
              </a:defRPr>
            </a:pPr>
            <a:r>
              <a:t>SOURCE TOPIC</a:t>
            </a:r>
          </a:p>
        </p:txBody>
      </p:sp>
      <p:sp>
        <p:nvSpPr>
          <p:cNvPr id="6" name="Rounded Rectangle 5"/>
          <p:cNvSpPr/>
          <p:nvPr/>
        </p:nvSpPr>
        <p:spPr>
          <a:xfrm>
            <a:off x="594360" y="2148840"/>
            <a:ext cx="10972800" cy="3840480"/>
          </a:xfrm>
          <a:prstGeom prst="roundRect">
            <a:avLst/>
          </a:prstGeom>
          <a:solidFill>
            <a:srgbClr val="141E2B"/>
          </a:solidFill>
          <a:ln>
            <a:solidFill>
              <a:srgbClr val="2F3E4E"/>
            </a:solidFill>
          </a:ln>
        </p:spPr>
        <p:style>
          <a:lnRef idx="1">
            <a:schemeClr val="accent1"/>
          </a:lnRef>
          <a:fillRef idx="3">
            <a:schemeClr val="accent1"/>
          </a:fillRef>
          <a:effectRef idx="2">
            <a:schemeClr val="accent1"/>
          </a:effectRef>
          <a:fontRef idx="minor">
            <a:schemeClr val="lt1"/>
          </a:fontRef>
        </p:style>
        <p:txBody>
          <a:bodyPr rtlCol="0" anchor="ctr" lIns="320040" rIns="274320" tIns="228600"/>
          <a:lstStyle/>
          <a:p>
            <a:pPr algn="ctr">
              <a:spcAft>
                <a:spcPts val="1100"/>
              </a:spcAft>
              <a:defRPr sz="1900">
                <a:solidFill>
                  <a:srgbClr val="F2F5F8"/>
                </a:solidFill>
              </a:defRPr>
            </a:pPr>
            <a:r>
              <a:t>• An exit status communicates a small result to the parent.</a:t>
            </a:r>
          </a:p>
          <a:p>
            <a:pPr>
              <a:spcAft>
                <a:spcPts val="1100"/>
              </a:spcAft>
              <a:defRPr sz="1700">
                <a:solidFill>
                  <a:srgbClr val="F2F5F8"/>
                </a:solidFill>
              </a:defRPr>
            </a:pPr>
            <a:r>
              <a:t>• Conventionally zero indicates success and nonzero indicates failure, but applications define the meaning of particular nonzero values.</a:t>
            </a:r>
          </a:p>
          <a:p>
            <a:pPr>
              <a:spcAft>
                <a:spcPts val="1100"/>
              </a:spcAft>
              <a:defRPr sz="1700">
                <a:solidFill>
                  <a:srgbClr val="F2F5F8"/>
                </a:solidFill>
              </a:defRPr>
            </a:pPr>
            <a:r>
              <a:t>• On the POSIX wait interfaces used here, ordinary exit status is retrieved from the appropriate encoded status through macros.</a:t>
            </a:r>
          </a:p>
          <a:p>
            <a:pPr>
              <a:spcAft>
                <a:spcPts val="1100"/>
              </a:spcAft>
              <a:defRPr sz="1900">
                <a:solidFill>
                  <a:srgbClr val="F2F5F8"/>
                </a:solidFill>
              </a:defRPr>
            </a:pPr>
            <a:r>
              <a:t>• Do not attempt to return a large integer or arbitrary data structure through exit status.</a:t>
            </a:r>
          </a:p>
        </p:txBody>
      </p:sp>
      <p:sp>
        <p:nvSpPr>
          <p:cNvPr id="7" name="TextBox 6"/>
          <p:cNvSpPr txBox="1"/>
          <p:nvPr/>
        </p:nvSpPr>
        <p:spPr>
          <a:xfrm>
            <a:off x="612648" y="6309360"/>
            <a:ext cx="10698480" cy="228600"/>
          </a:xfrm>
          <a:prstGeom prst="rect">
            <a:avLst/>
          </a:prstGeom>
          <a:noFill/>
        </p:spPr>
        <p:txBody>
          <a:bodyPr wrap="none">
            <a:spAutoFit/>
          </a:bodyPr>
          <a:lstStyle/>
          <a:p>
            <a:pPr>
              <a:defRPr sz="1000">
                <a:solidFill>
                  <a:srgbClr val="A5B2C1"/>
                </a:solidFill>
              </a:defRPr>
            </a:pPr>
            <a:r>
              <a:t>CHAPTER 39     |     6</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B121C"/>
        </a:solidFill>
        <a:effectLst/>
      </p:bgPr>
    </p:bg>
    <p:spTree>
      <p:nvGrpSpPr>
        <p:cNvPr id="1" name=""/>
        <p:cNvGrpSpPr/>
        <p:nvPr/>
      </p:nvGrpSpPr>
      <p:grpSpPr/>
      <p:sp>
        <p:nvSpPr>
          <p:cNvPr id="2" name="Rectangle 1"/>
          <p:cNvSpPr/>
          <p:nvPr/>
        </p:nvSpPr>
        <p:spPr>
          <a:xfrm>
            <a:off x="0" y="0"/>
            <a:ext cx="12191695" cy="73152"/>
          </a:xfrm>
          <a:prstGeom prst="rect">
            <a:avLst/>
          </a:prstGeom>
          <a:solidFill>
            <a:srgbClr val="42B8D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20040"/>
            <a:ext cx="10972800" cy="274320"/>
          </a:xfrm>
          <a:prstGeom prst="rect">
            <a:avLst/>
          </a:prstGeom>
          <a:noFill/>
        </p:spPr>
        <p:txBody>
          <a:bodyPr wrap="none">
            <a:spAutoFit/>
          </a:bodyPr>
          <a:lstStyle/>
          <a:p>
            <a:pPr>
              <a:defRPr sz="1100" b="1">
                <a:solidFill>
                  <a:srgbClr val="A5B2C1"/>
                </a:solidFill>
              </a:defRPr>
            </a:pPr>
            <a:r>
              <a:t>SYSTEMS PROGRAMMING AND MACHINE ORGANIZATION     ·     CHARLES DORNER</a:t>
            </a:r>
          </a:p>
        </p:txBody>
      </p:sp>
      <p:sp>
        <p:nvSpPr>
          <p:cNvPr id="4" name="TextBox 3"/>
          <p:cNvSpPr txBox="1"/>
          <p:nvPr/>
        </p:nvSpPr>
        <p:spPr>
          <a:xfrm>
            <a:off x="594360" y="822960"/>
            <a:ext cx="10972800" cy="914400"/>
          </a:xfrm>
          <a:prstGeom prst="rect">
            <a:avLst/>
          </a:prstGeom>
          <a:noFill/>
        </p:spPr>
        <p:txBody>
          <a:bodyPr wrap="none">
            <a:spAutoFit/>
          </a:bodyPr>
          <a:lstStyle/>
          <a:p>
            <a:pPr>
              <a:defRPr sz="3000" b="1">
                <a:solidFill>
                  <a:srgbClr val="F2F5F8"/>
                </a:solidFill>
              </a:defRPr>
            </a:pPr>
            <a:r>
              <a:t>39.2 Exit status — Deep Dive</a:t>
            </a:r>
          </a:p>
        </p:txBody>
      </p:sp>
      <p:sp>
        <p:nvSpPr>
          <p:cNvPr id="5" name="TextBox 4"/>
          <p:cNvSpPr txBox="1"/>
          <p:nvPr/>
        </p:nvSpPr>
        <p:spPr>
          <a:xfrm>
            <a:off x="612648" y="1600200"/>
            <a:ext cx="10698480" cy="365760"/>
          </a:xfrm>
          <a:prstGeom prst="rect">
            <a:avLst/>
          </a:prstGeom>
          <a:noFill/>
        </p:spPr>
        <p:txBody>
          <a:bodyPr wrap="none">
            <a:spAutoFit/>
          </a:bodyPr>
          <a:lstStyle/>
          <a:p>
            <a:pPr>
              <a:defRPr sz="1300" b="1">
                <a:solidFill>
                  <a:srgbClr val="42B8D5"/>
                </a:solidFill>
              </a:defRPr>
            </a:pPr>
            <a:r>
              <a:t>ENGINEERING IMPLICATIONS</a:t>
            </a:r>
          </a:p>
        </p:txBody>
      </p:sp>
      <p:sp>
        <p:nvSpPr>
          <p:cNvPr id="6" name="Rounded Rectangle 5"/>
          <p:cNvSpPr/>
          <p:nvPr/>
        </p:nvSpPr>
        <p:spPr>
          <a:xfrm>
            <a:off x="594360" y="2148840"/>
            <a:ext cx="10972800" cy="3840480"/>
          </a:xfrm>
          <a:prstGeom prst="roundRect">
            <a:avLst/>
          </a:prstGeom>
          <a:solidFill>
            <a:srgbClr val="141E2B"/>
          </a:solidFill>
          <a:ln>
            <a:solidFill>
              <a:srgbClr val="2F3E4E"/>
            </a:solidFill>
          </a:ln>
        </p:spPr>
        <p:style>
          <a:lnRef idx="1">
            <a:schemeClr val="accent1"/>
          </a:lnRef>
          <a:fillRef idx="3">
            <a:schemeClr val="accent1"/>
          </a:fillRef>
          <a:effectRef idx="2">
            <a:schemeClr val="accent1"/>
          </a:effectRef>
          <a:fontRef idx="minor">
            <a:schemeClr val="lt1"/>
          </a:fontRef>
        </p:style>
        <p:txBody>
          <a:bodyPr rtlCol="0" anchor="ctr" lIns="320040" rIns="274320" tIns="228600"/>
          <a:lstStyle/>
          <a:p>
            <a:pPr algn="ctr">
              <a:spcAft>
                <a:spcPts val="1100"/>
              </a:spcAft>
              <a:defRPr sz="1900">
                <a:solidFill>
                  <a:srgbClr val="F2F5F8"/>
                </a:solidFill>
              </a:defRPr>
            </a:pPr>
            <a:r>
              <a:t>• Do not attempt to return a large integer or arbitrary data structure through exit status.</a:t>
            </a:r>
          </a:p>
          <a:p>
            <a:pPr>
              <a:spcAft>
                <a:spcPts val="1100"/>
              </a:spcAft>
              <a:defRPr sz="1900">
                <a:solidFill>
                  <a:srgbClr val="F2F5F8"/>
                </a:solidFill>
              </a:defRPr>
            </a:pPr>
            <a:r>
              <a:t>• Use a pipe, file, socket, or another explicit channel for richer results.</a:t>
            </a:r>
          </a:p>
          <a:p>
            <a:pPr>
              <a:spcAft>
                <a:spcPts val="1100"/>
              </a:spcAft>
              <a:defRPr sz="1900">
                <a:solidFill>
                  <a:srgbClr val="F2F5F8"/>
                </a:solidFill>
              </a:defRPr>
            </a:pPr>
            <a:r>
              <a:t>• Exit status should summarize completion, not replace a data protocol.</a:t>
            </a:r>
          </a:p>
        </p:txBody>
      </p:sp>
      <p:sp>
        <p:nvSpPr>
          <p:cNvPr id="7" name="TextBox 6"/>
          <p:cNvSpPr txBox="1"/>
          <p:nvPr/>
        </p:nvSpPr>
        <p:spPr>
          <a:xfrm>
            <a:off x="612648" y="6309360"/>
            <a:ext cx="10698480" cy="228600"/>
          </a:xfrm>
          <a:prstGeom prst="rect">
            <a:avLst/>
          </a:prstGeom>
          <a:noFill/>
        </p:spPr>
        <p:txBody>
          <a:bodyPr wrap="none">
            <a:spAutoFit/>
          </a:bodyPr>
          <a:lstStyle/>
          <a:p>
            <a:pPr>
              <a:defRPr sz="1000">
                <a:solidFill>
                  <a:srgbClr val="A5B2C1"/>
                </a:solidFill>
              </a:defRPr>
            </a:pPr>
            <a:r>
              <a:t>CHAPTER 39     |     7</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B121C"/>
        </a:solidFill>
        <a:effectLst/>
      </p:bgPr>
    </p:bg>
    <p:spTree>
      <p:nvGrpSpPr>
        <p:cNvPr id="1" name=""/>
        <p:cNvGrpSpPr/>
        <p:nvPr/>
      </p:nvGrpSpPr>
      <p:grpSpPr/>
      <p:sp>
        <p:nvSpPr>
          <p:cNvPr id="2" name="Rectangle 1"/>
          <p:cNvSpPr/>
          <p:nvPr/>
        </p:nvSpPr>
        <p:spPr>
          <a:xfrm>
            <a:off x="0" y="0"/>
            <a:ext cx="12191695" cy="73152"/>
          </a:xfrm>
          <a:prstGeom prst="rect">
            <a:avLst/>
          </a:prstGeom>
          <a:solidFill>
            <a:srgbClr val="42B8D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20040"/>
            <a:ext cx="10972800" cy="274320"/>
          </a:xfrm>
          <a:prstGeom prst="rect">
            <a:avLst/>
          </a:prstGeom>
          <a:noFill/>
        </p:spPr>
        <p:txBody>
          <a:bodyPr wrap="none">
            <a:spAutoFit/>
          </a:bodyPr>
          <a:lstStyle/>
          <a:p>
            <a:pPr>
              <a:defRPr sz="1100" b="1">
                <a:solidFill>
                  <a:srgbClr val="A5B2C1"/>
                </a:solidFill>
              </a:defRPr>
            </a:pPr>
            <a:r>
              <a:t>SYSTEMS PROGRAMMING AND MACHINE ORGANIZATION     ·     CHARLES DORNER</a:t>
            </a:r>
          </a:p>
        </p:txBody>
      </p:sp>
      <p:sp>
        <p:nvSpPr>
          <p:cNvPr id="4" name="TextBox 3"/>
          <p:cNvSpPr txBox="1"/>
          <p:nvPr/>
        </p:nvSpPr>
        <p:spPr>
          <a:xfrm>
            <a:off x="594360" y="822960"/>
            <a:ext cx="10972800" cy="914400"/>
          </a:xfrm>
          <a:prstGeom prst="rect">
            <a:avLst/>
          </a:prstGeom>
          <a:noFill/>
        </p:spPr>
        <p:txBody>
          <a:bodyPr wrap="none">
            <a:spAutoFit/>
          </a:bodyPr>
          <a:lstStyle/>
          <a:p>
            <a:pPr>
              <a:defRPr sz="3000" b="1">
                <a:solidFill>
                  <a:srgbClr val="F2F5F8"/>
                </a:solidFill>
              </a:defRPr>
            </a:pPr>
            <a:r>
              <a:t>39.3 wait</a:t>
            </a:r>
          </a:p>
        </p:txBody>
      </p:sp>
      <p:sp>
        <p:nvSpPr>
          <p:cNvPr id="5" name="TextBox 4"/>
          <p:cNvSpPr txBox="1"/>
          <p:nvPr/>
        </p:nvSpPr>
        <p:spPr>
          <a:xfrm>
            <a:off x="612648" y="1600200"/>
            <a:ext cx="10698480" cy="365760"/>
          </a:xfrm>
          <a:prstGeom prst="rect">
            <a:avLst/>
          </a:prstGeom>
          <a:noFill/>
        </p:spPr>
        <p:txBody>
          <a:bodyPr wrap="none">
            <a:spAutoFit/>
          </a:bodyPr>
          <a:lstStyle/>
          <a:p>
            <a:pPr>
              <a:defRPr sz="1300" b="1">
                <a:solidFill>
                  <a:srgbClr val="42B8D5"/>
                </a:solidFill>
              </a:defRPr>
            </a:pPr>
            <a:r>
              <a:t>SOURCE TOPIC</a:t>
            </a:r>
          </a:p>
        </p:txBody>
      </p:sp>
      <p:sp>
        <p:nvSpPr>
          <p:cNvPr id="6" name="Rounded Rectangle 5"/>
          <p:cNvSpPr/>
          <p:nvPr/>
        </p:nvSpPr>
        <p:spPr>
          <a:xfrm>
            <a:off x="594360" y="2148840"/>
            <a:ext cx="10972800" cy="3840480"/>
          </a:xfrm>
          <a:prstGeom prst="roundRect">
            <a:avLst/>
          </a:prstGeom>
          <a:solidFill>
            <a:srgbClr val="141E2B"/>
          </a:solidFill>
          <a:ln>
            <a:solidFill>
              <a:srgbClr val="2F3E4E"/>
            </a:solidFill>
          </a:ln>
        </p:spPr>
        <p:style>
          <a:lnRef idx="1">
            <a:schemeClr val="accent1"/>
          </a:lnRef>
          <a:fillRef idx="3">
            <a:schemeClr val="accent1"/>
          </a:fillRef>
          <a:effectRef idx="2">
            <a:schemeClr val="accent1"/>
          </a:effectRef>
          <a:fontRef idx="minor">
            <a:schemeClr val="lt1"/>
          </a:fontRef>
        </p:style>
        <p:txBody>
          <a:bodyPr rtlCol="0" anchor="ctr" lIns="320040" rIns="274320" tIns="228600"/>
          <a:lstStyle/>
          <a:p>
            <a:pPr algn="ctr">
              <a:spcAft>
                <a:spcPts val="1100"/>
              </a:spcAft>
              <a:defRPr sz="1900">
                <a:solidFill>
                  <a:srgbClr val="F2F5F8"/>
                </a:solidFill>
              </a:defRPr>
            </a:pPr>
            <a:r>
              <a:t>• wait waits for an eligible child and returns its process ID together with status information.</a:t>
            </a:r>
          </a:p>
          <a:p>
            <a:pPr>
              <a:spcAft>
                <a:spcPts val="1100"/>
              </a:spcAft>
              <a:defRPr sz="1900">
                <a:solidFill>
                  <a:srgbClr val="F2F5F8"/>
                </a:solidFill>
              </a:defRPr>
            </a:pPr>
            <a:r>
              <a:t>• It is useful when any child’s completion can be handled next.</a:t>
            </a:r>
          </a:p>
          <a:p>
            <a:pPr>
              <a:spcAft>
                <a:spcPts val="1100"/>
              </a:spcAft>
              <a:defRPr sz="1900">
                <a:solidFill>
                  <a:srgbClr val="F2F5F8"/>
                </a:solidFill>
              </a:defRPr>
            </a:pPr>
            <a:r>
              <a:t>• The parent must still inspect the status classification before extracting a particular result.</a:t>
            </a:r>
          </a:p>
          <a:p>
            <a:pPr>
              <a:spcAft>
                <a:spcPts val="1100"/>
              </a:spcAft>
              <a:defRPr sz="1900">
                <a:solidFill>
                  <a:srgbClr val="F2F5F8"/>
                </a:solidFill>
              </a:defRPr>
            </a:pPr>
            <a:r>
              <a:t>• A parent with several children should not assume that completion order matches creation order.</a:t>
            </a:r>
          </a:p>
        </p:txBody>
      </p:sp>
      <p:sp>
        <p:nvSpPr>
          <p:cNvPr id="7" name="TextBox 6"/>
          <p:cNvSpPr txBox="1"/>
          <p:nvPr/>
        </p:nvSpPr>
        <p:spPr>
          <a:xfrm>
            <a:off x="612648" y="6309360"/>
            <a:ext cx="10698480" cy="228600"/>
          </a:xfrm>
          <a:prstGeom prst="rect">
            <a:avLst/>
          </a:prstGeom>
          <a:noFill/>
        </p:spPr>
        <p:txBody>
          <a:bodyPr wrap="none">
            <a:spAutoFit/>
          </a:bodyPr>
          <a:lstStyle/>
          <a:p>
            <a:pPr>
              <a:defRPr sz="1000">
                <a:solidFill>
                  <a:srgbClr val="A5B2C1"/>
                </a:solidFill>
              </a:defRPr>
            </a:pPr>
            <a:r>
              <a:t>CHAPTER 39     |     8</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B121C"/>
        </a:solidFill>
        <a:effectLst/>
      </p:bgPr>
    </p:bg>
    <p:spTree>
      <p:nvGrpSpPr>
        <p:cNvPr id="1" name=""/>
        <p:cNvGrpSpPr/>
        <p:nvPr/>
      </p:nvGrpSpPr>
      <p:grpSpPr/>
      <p:sp>
        <p:nvSpPr>
          <p:cNvPr id="2" name="Rectangle 1"/>
          <p:cNvSpPr/>
          <p:nvPr/>
        </p:nvSpPr>
        <p:spPr>
          <a:xfrm>
            <a:off x="0" y="0"/>
            <a:ext cx="12191695" cy="73152"/>
          </a:xfrm>
          <a:prstGeom prst="rect">
            <a:avLst/>
          </a:prstGeom>
          <a:solidFill>
            <a:srgbClr val="42B8D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20040"/>
            <a:ext cx="10972800" cy="274320"/>
          </a:xfrm>
          <a:prstGeom prst="rect">
            <a:avLst/>
          </a:prstGeom>
          <a:noFill/>
        </p:spPr>
        <p:txBody>
          <a:bodyPr wrap="none">
            <a:spAutoFit/>
          </a:bodyPr>
          <a:lstStyle/>
          <a:p>
            <a:pPr>
              <a:defRPr sz="1100" b="1">
                <a:solidFill>
                  <a:srgbClr val="A5B2C1"/>
                </a:solidFill>
              </a:defRPr>
            </a:pPr>
            <a:r>
              <a:t>SYSTEMS PROGRAMMING AND MACHINE ORGANIZATION     ·     CHARLES DORNER</a:t>
            </a:r>
          </a:p>
        </p:txBody>
      </p:sp>
      <p:sp>
        <p:nvSpPr>
          <p:cNvPr id="4" name="TextBox 3"/>
          <p:cNvSpPr txBox="1"/>
          <p:nvPr/>
        </p:nvSpPr>
        <p:spPr>
          <a:xfrm>
            <a:off x="594360" y="822960"/>
            <a:ext cx="10972800" cy="914400"/>
          </a:xfrm>
          <a:prstGeom prst="rect">
            <a:avLst/>
          </a:prstGeom>
          <a:noFill/>
        </p:spPr>
        <p:txBody>
          <a:bodyPr wrap="none">
            <a:spAutoFit/>
          </a:bodyPr>
          <a:lstStyle/>
          <a:p>
            <a:pPr>
              <a:defRPr sz="3000" b="1">
                <a:solidFill>
                  <a:srgbClr val="F2F5F8"/>
                </a:solidFill>
              </a:defRPr>
            </a:pPr>
            <a:r>
              <a:t>39.3 wait — Deep Dive</a:t>
            </a:r>
          </a:p>
        </p:txBody>
      </p:sp>
      <p:sp>
        <p:nvSpPr>
          <p:cNvPr id="5" name="TextBox 4"/>
          <p:cNvSpPr txBox="1"/>
          <p:nvPr/>
        </p:nvSpPr>
        <p:spPr>
          <a:xfrm>
            <a:off x="612648" y="1600200"/>
            <a:ext cx="10698480" cy="365760"/>
          </a:xfrm>
          <a:prstGeom prst="rect">
            <a:avLst/>
          </a:prstGeom>
          <a:noFill/>
        </p:spPr>
        <p:txBody>
          <a:bodyPr wrap="none">
            <a:spAutoFit/>
          </a:bodyPr>
          <a:lstStyle/>
          <a:p>
            <a:pPr>
              <a:defRPr sz="1300" b="1">
                <a:solidFill>
                  <a:srgbClr val="42B8D5"/>
                </a:solidFill>
              </a:defRPr>
            </a:pPr>
            <a:r>
              <a:t>ENGINEERING IMPLICATIONS</a:t>
            </a:r>
          </a:p>
        </p:txBody>
      </p:sp>
      <p:sp>
        <p:nvSpPr>
          <p:cNvPr id="6" name="Rounded Rectangle 5"/>
          <p:cNvSpPr/>
          <p:nvPr/>
        </p:nvSpPr>
        <p:spPr>
          <a:xfrm>
            <a:off x="594360" y="2148840"/>
            <a:ext cx="10972800" cy="3840480"/>
          </a:xfrm>
          <a:prstGeom prst="roundRect">
            <a:avLst/>
          </a:prstGeom>
          <a:solidFill>
            <a:srgbClr val="141E2B"/>
          </a:solidFill>
          <a:ln>
            <a:solidFill>
              <a:srgbClr val="2F3E4E"/>
            </a:solidFill>
          </a:ln>
        </p:spPr>
        <p:style>
          <a:lnRef idx="1">
            <a:schemeClr val="accent1"/>
          </a:lnRef>
          <a:fillRef idx="3">
            <a:schemeClr val="accent1"/>
          </a:fillRef>
          <a:effectRef idx="2">
            <a:schemeClr val="accent1"/>
          </a:effectRef>
          <a:fontRef idx="minor">
            <a:schemeClr val="lt1"/>
          </a:fontRef>
        </p:style>
        <p:txBody>
          <a:bodyPr rtlCol="0" anchor="ctr" lIns="320040" rIns="274320" tIns="228600"/>
          <a:lstStyle/>
          <a:p>
            <a:pPr algn="ctr">
              <a:spcAft>
                <a:spcPts val="1100"/>
              </a:spcAft>
              <a:defRPr sz="1900">
                <a:solidFill>
                  <a:srgbClr val="F2F5F8"/>
                </a:solidFill>
              </a:defRPr>
            </a:pPr>
            <a:r>
              <a:t>• A parent with several children should not assume that completion order matches creation order.</a:t>
            </a:r>
          </a:p>
          <a:p>
            <a:pPr>
              <a:spcAft>
                <a:spcPts val="1100"/>
              </a:spcAft>
              <a:defRPr sz="1900">
                <a:solidFill>
                  <a:srgbClr val="F2F5F8"/>
                </a:solidFill>
              </a:defRPr>
            </a:pPr>
            <a:r>
              <a:t>• Scheduling and workload determine which finishes first.</a:t>
            </a:r>
          </a:p>
          <a:p>
            <a:pPr>
              <a:spcAft>
                <a:spcPts val="1100"/>
              </a:spcAft>
              <a:defRPr sz="1700">
                <a:solidFill>
                  <a:srgbClr val="F2F5F8"/>
                </a:solidFill>
              </a:defRPr>
            </a:pPr>
            <a:r>
              <a:t>• Waiting for one specific slow child can delay handling other already-finished children, although it remains correct when the program deliberately chooses that policy.</a:t>
            </a:r>
          </a:p>
        </p:txBody>
      </p:sp>
      <p:sp>
        <p:nvSpPr>
          <p:cNvPr id="7" name="TextBox 6"/>
          <p:cNvSpPr txBox="1"/>
          <p:nvPr/>
        </p:nvSpPr>
        <p:spPr>
          <a:xfrm>
            <a:off x="612648" y="6309360"/>
            <a:ext cx="10698480" cy="228600"/>
          </a:xfrm>
          <a:prstGeom prst="rect">
            <a:avLst/>
          </a:prstGeom>
          <a:noFill/>
        </p:spPr>
        <p:txBody>
          <a:bodyPr wrap="none">
            <a:spAutoFit/>
          </a:bodyPr>
          <a:lstStyle/>
          <a:p>
            <a:pPr>
              <a:defRPr sz="1000">
                <a:solidFill>
                  <a:srgbClr val="A5B2C1"/>
                </a:solidFill>
              </a:defRPr>
            </a:pPr>
            <a:r>
              <a:t>CHAPTER 39     |     9</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B121C"/>
        </a:solidFill>
        <a:effectLst/>
      </p:bgPr>
    </p:bg>
    <p:spTree>
      <p:nvGrpSpPr>
        <p:cNvPr id="1" name=""/>
        <p:cNvGrpSpPr/>
        <p:nvPr/>
      </p:nvGrpSpPr>
      <p:grpSpPr/>
      <p:sp>
        <p:nvSpPr>
          <p:cNvPr id="2" name="Rectangle 1"/>
          <p:cNvSpPr/>
          <p:nvPr/>
        </p:nvSpPr>
        <p:spPr>
          <a:xfrm>
            <a:off x="0" y="0"/>
            <a:ext cx="12191695" cy="73152"/>
          </a:xfrm>
          <a:prstGeom prst="rect">
            <a:avLst/>
          </a:prstGeom>
          <a:solidFill>
            <a:srgbClr val="42B8D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20040"/>
            <a:ext cx="10972800" cy="274320"/>
          </a:xfrm>
          <a:prstGeom prst="rect">
            <a:avLst/>
          </a:prstGeom>
          <a:noFill/>
        </p:spPr>
        <p:txBody>
          <a:bodyPr wrap="none">
            <a:spAutoFit/>
          </a:bodyPr>
          <a:lstStyle/>
          <a:p>
            <a:pPr>
              <a:defRPr sz="1100" b="1">
                <a:solidFill>
                  <a:srgbClr val="A5B2C1"/>
                </a:solidFill>
              </a:defRPr>
            </a:pPr>
            <a:r>
              <a:t>SYSTEMS PROGRAMMING AND MACHINE ORGANIZATION     ·     CHARLES DORNER</a:t>
            </a:r>
          </a:p>
        </p:txBody>
      </p:sp>
      <p:sp>
        <p:nvSpPr>
          <p:cNvPr id="4" name="TextBox 3"/>
          <p:cNvSpPr txBox="1"/>
          <p:nvPr/>
        </p:nvSpPr>
        <p:spPr>
          <a:xfrm>
            <a:off x="594360" y="822960"/>
            <a:ext cx="10972800" cy="914400"/>
          </a:xfrm>
          <a:prstGeom prst="rect">
            <a:avLst/>
          </a:prstGeom>
          <a:noFill/>
        </p:spPr>
        <p:txBody>
          <a:bodyPr wrap="none">
            <a:spAutoFit/>
          </a:bodyPr>
          <a:lstStyle/>
          <a:p>
            <a:pPr>
              <a:defRPr sz="3000" b="1">
                <a:solidFill>
                  <a:srgbClr val="F2F5F8"/>
                </a:solidFill>
              </a:defRPr>
            </a:pPr>
            <a:r>
              <a:t>39.4 waitpid</a:t>
            </a:r>
          </a:p>
        </p:txBody>
      </p:sp>
      <p:sp>
        <p:nvSpPr>
          <p:cNvPr id="5" name="TextBox 4"/>
          <p:cNvSpPr txBox="1"/>
          <p:nvPr/>
        </p:nvSpPr>
        <p:spPr>
          <a:xfrm>
            <a:off x="612648" y="1600200"/>
            <a:ext cx="10698480" cy="365760"/>
          </a:xfrm>
          <a:prstGeom prst="rect">
            <a:avLst/>
          </a:prstGeom>
          <a:noFill/>
        </p:spPr>
        <p:txBody>
          <a:bodyPr wrap="none">
            <a:spAutoFit/>
          </a:bodyPr>
          <a:lstStyle/>
          <a:p>
            <a:pPr>
              <a:defRPr sz="1300" b="1">
                <a:solidFill>
                  <a:srgbClr val="42B8D5"/>
                </a:solidFill>
              </a:defRPr>
            </a:pPr>
            <a:r>
              <a:t>SOURCE TOPIC</a:t>
            </a:r>
          </a:p>
        </p:txBody>
      </p:sp>
      <p:sp>
        <p:nvSpPr>
          <p:cNvPr id="6" name="Rounded Rectangle 5"/>
          <p:cNvSpPr/>
          <p:nvPr/>
        </p:nvSpPr>
        <p:spPr>
          <a:xfrm>
            <a:off x="594360" y="2148840"/>
            <a:ext cx="10972800" cy="3840480"/>
          </a:xfrm>
          <a:prstGeom prst="roundRect">
            <a:avLst/>
          </a:prstGeom>
          <a:solidFill>
            <a:srgbClr val="141E2B"/>
          </a:solidFill>
          <a:ln>
            <a:solidFill>
              <a:srgbClr val="2F3E4E"/>
            </a:solidFill>
          </a:ln>
        </p:spPr>
        <p:style>
          <a:lnRef idx="1">
            <a:schemeClr val="accent1"/>
          </a:lnRef>
          <a:fillRef idx="3">
            <a:schemeClr val="accent1"/>
          </a:fillRef>
          <a:effectRef idx="2">
            <a:schemeClr val="accent1"/>
          </a:effectRef>
          <a:fontRef idx="minor">
            <a:schemeClr val="lt1"/>
          </a:fontRef>
        </p:style>
        <p:txBody>
          <a:bodyPr rtlCol="0" anchor="ctr" lIns="320040" rIns="274320" tIns="228600"/>
          <a:lstStyle/>
          <a:p>
            <a:pPr algn="ctr">
              <a:spcAft>
                <a:spcPts val="1100"/>
              </a:spcAft>
              <a:defRPr sz="1900">
                <a:solidFill>
                  <a:srgbClr val="F2F5F8"/>
                </a:solidFill>
              </a:defRPr>
            </a:pPr>
            <a:r>
              <a:t>• waitpid provides more control over which child or group is considered and whether the call blocks.</a:t>
            </a:r>
          </a:p>
          <a:p>
            <a:pPr>
              <a:spcAft>
                <a:spcPts val="1100"/>
              </a:spcAft>
              <a:defRPr sz="1700">
                <a:solidFill>
                  <a:srgbClr val="F2F5F8"/>
                </a:solidFill>
              </a:defRPr>
            </a:pPr>
            <a:r>
              <a:t>• With WNOHANG , a return of zero means that no matching status is currently available; it is not a child’s process ID and not an error.</a:t>
            </a:r>
          </a:p>
          <a:p>
            <a:pPr>
              <a:spcAft>
                <a:spcPts val="1100"/>
              </a:spcAft>
              <a:defRPr sz="1900">
                <a:solidFill>
                  <a:srgbClr val="F2F5F8"/>
                </a:solidFill>
              </a:defRPr>
            </a:pPr>
            <a:r>
              <a:t>• Retry an interrupted wait when appropriate.</a:t>
            </a:r>
          </a:p>
          <a:p>
            <a:pPr>
              <a:spcAft>
                <a:spcPts val="1100"/>
              </a:spcAft>
              <a:defRPr sz="1900">
                <a:solidFill>
                  <a:srgbClr val="F2F5F8"/>
                </a:solidFill>
              </a:defRPr>
            </a:pPr>
            <a:r>
              <a:t>• Check WIFEXITED before using WEXITSTATUS , and check WIFSIGNALED before using WTERMSIG .</a:t>
            </a:r>
          </a:p>
        </p:txBody>
      </p:sp>
      <p:sp>
        <p:nvSpPr>
          <p:cNvPr id="7" name="TextBox 6"/>
          <p:cNvSpPr txBox="1"/>
          <p:nvPr/>
        </p:nvSpPr>
        <p:spPr>
          <a:xfrm>
            <a:off x="612648" y="6309360"/>
            <a:ext cx="10698480" cy="228600"/>
          </a:xfrm>
          <a:prstGeom prst="rect">
            <a:avLst/>
          </a:prstGeom>
          <a:noFill/>
        </p:spPr>
        <p:txBody>
          <a:bodyPr wrap="none">
            <a:spAutoFit/>
          </a:bodyPr>
          <a:lstStyle/>
          <a:p>
            <a:pPr>
              <a:defRPr sz="1000">
                <a:solidFill>
                  <a:srgbClr val="A5B2C1"/>
                </a:solidFill>
              </a:defRPr>
            </a:pPr>
            <a:r>
              <a:t>CHAPTER 39     |     10</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B121C"/>
        </a:solidFill>
        <a:effectLst/>
      </p:bgPr>
    </p:bg>
    <p:spTree>
      <p:nvGrpSpPr>
        <p:cNvPr id="1" name=""/>
        <p:cNvGrpSpPr/>
        <p:nvPr/>
      </p:nvGrpSpPr>
      <p:grpSpPr/>
      <p:sp>
        <p:nvSpPr>
          <p:cNvPr id="2" name="Rectangle 1"/>
          <p:cNvSpPr/>
          <p:nvPr/>
        </p:nvSpPr>
        <p:spPr>
          <a:xfrm>
            <a:off x="0" y="0"/>
            <a:ext cx="12191695" cy="73152"/>
          </a:xfrm>
          <a:prstGeom prst="rect">
            <a:avLst/>
          </a:prstGeom>
          <a:solidFill>
            <a:srgbClr val="42B8D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20040"/>
            <a:ext cx="10972800" cy="274320"/>
          </a:xfrm>
          <a:prstGeom prst="rect">
            <a:avLst/>
          </a:prstGeom>
          <a:noFill/>
        </p:spPr>
        <p:txBody>
          <a:bodyPr wrap="none">
            <a:spAutoFit/>
          </a:bodyPr>
          <a:lstStyle/>
          <a:p>
            <a:pPr>
              <a:defRPr sz="1100" b="1">
                <a:solidFill>
                  <a:srgbClr val="A5B2C1"/>
                </a:solidFill>
              </a:defRPr>
            </a:pPr>
            <a:r>
              <a:t>SYSTEMS PROGRAMMING AND MACHINE ORGANIZATION     ·     CHARLES DORNER</a:t>
            </a:r>
          </a:p>
        </p:txBody>
      </p:sp>
      <p:sp>
        <p:nvSpPr>
          <p:cNvPr id="4" name="TextBox 3"/>
          <p:cNvSpPr txBox="1"/>
          <p:nvPr/>
        </p:nvSpPr>
        <p:spPr>
          <a:xfrm>
            <a:off x="594360" y="822960"/>
            <a:ext cx="10972800" cy="914400"/>
          </a:xfrm>
          <a:prstGeom prst="rect">
            <a:avLst/>
          </a:prstGeom>
          <a:noFill/>
        </p:spPr>
        <p:txBody>
          <a:bodyPr wrap="none">
            <a:spAutoFit/>
          </a:bodyPr>
          <a:lstStyle/>
          <a:p>
            <a:pPr>
              <a:defRPr sz="3000" b="1">
                <a:solidFill>
                  <a:srgbClr val="F2F5F8"/>
                </a:solidFill>
              </a:defRPr>
            </a:pPr>
            <a:r>
              <a:t>39.4 waitpid — Deep Dive</a:t>
            </a:r>
          </a:p>
        </p:txBody>
      </p:sp>
      <p:sp>
        <p:nvSpPr>
          <p:cNvPr id="5" name="TextBox 4"/>
          <p:cNvSpPr txBox="1"/>
          <p:nvPr/>
        </p:nvSpPr>
        <p:spPr>
          <a:xfrm>
            <a:off x="612648" y="1600200"/>
            <a:ext cx="10698480" cy="365760"/>
          </a:xfrm>
          <a:prstGeom prst="rect">
            <a:avLst/>
          </a:prstGeom>
          <a:noFill/>
        </p:spPr>
        <p:txBody>
          <a:bodyPr wrap="none">
            <a:spAutoFit/>
          </a:bodyPr>
          <a:lstStyle/>
          <a:p>
            <a:pPr>
              <a:defRPr sz="1300" b="1">
                <a:solidFill>
                  <a:srgbClr val="42B8D5"/>
                </a:solidFill>
              </a:defRPr>
            </a:pPr>
            <a:r>
              <a:t>ENGINEERING IMPLICATIONS</a:t>
            </a:r>
          </a:p>
        </p:txBody>
      </p:sp>
      <p:sp>
        <p:nvSpPr>
          <p:cNvPr id="6" name="Rounded Rectangle 5"/>
          <p:cNvSpPr/>
          <p:nvPr/>
        </p:nvSpPr>
        <p:spPr>
          <a:xfrm>
            <a:off x="594360" y="2148840"/>
            <a:ext cx="10972800" cy="3840480"/>
          </a:xfrm>
          <a:prstGeom prst="roundRect">
            <a:avLst/>
          </a:prstGeom>
          <a:solidFill>
            <a:srgbClr val="141E2B"/>
          </a:solidFill>
          <a:ln>
            <a:solidFill>
              <a:srgbClr val="2F3E4E"/>
            </a:solidFill>
          </a:ln>
        </p:spPr>
        <p:style>
          <a:lnRef idx="1">
            <a:schemeClr val="accent1"/>
          </a:lnRef>
          <a:fillRef idx="3">
            <a:schemeClr val="accent1"/>
          </a:fillRef>
          <a:effectRef idx="2">
            <a:schemeClr val="accent1"/>
          </a:effectRef>
          <a:fontRef idx="minor">
            <a:schemeClr val="lt1"/>
          </a:fontRef>
        </p:style>
        <p:txBody>
          <a:bodyPr rtlCol="0" anchor="ctr" lIns="320040" rIns="274320" tIns="228600"/>
          <a:lstStyle/>
          <a:p>
            <a:pPr algn="ctr">
              <a:spcAft>
                <a:spcPts val="1100"/>
              </a:spcAft>
              <a:defRPr sz="1900">
                <a:solidFill>
                  <a:srgbClr val="F2F5F8"/>
                </a:solidFill>
              </a:defRPr>
            </a:pPr>
            <a:r>
              <a:t>• Retry an interrupted wait when appropriate.</a:t>
            </a:r>
          </a:p>
          <a:p>
            <a:pPr>
              <a:spcAft>
                <a:spcPts val="1100"/>
              </a:spcAft>
              <a:defRPr sz="1900">
                <a:solidFill>
                  <a:srgbClr val="F2F5F8"/>
                </a:solidFill>
              </a:defRPr>
            </a:pPr>
            <a:r>
              <a:t>• Check WIFEXITED before using WEXITSTATUS , and check WIFSIGNALED before using WTERMSIG .</a:t>
            </a:r>
          </a:p>
          <a:p>
            <a:pPr>
              <a:spcAft>
                <a:spcPts val="1100"/>
              </a:spcAft>
              <a:defRPr sz="1700">
                <a:solidFill>
                  <a:srgbClr val="F2F5F8"/>
                </a:solidFill>
              </a:defRPr>
            </a:pPr>
            <a:r>
              <a:t>• Options for stopped and continued children matter for job control, which requires a broader state machine than a simple run-and-wait launcher.</a:t>
            </a:r>
          </a:p>
        </p:txBody>
      </p:sp>
      <p:sp>
        <p:nvSpPr>
          <p:cNvPr id="7" name="TextBox 6"/>
          <p:cNvSpPr txBox="1"/>
          <p:nvPr/>
        </p:nvSpPr>
        <p:spPr>
          <a:xfrm>
            <a:off x="612648" y="6309360"/>
            <a:ext cx="10698480" cy="228600"/>
          </a:xfrm>
          <a:prstGeom prst="rect">
            <a:avLst/>
          </a:prstGeom>
          <a:noFill/>
        </p:spPr>
        <p:txBody>
          <a:bodyPr wrap="none">
            <a:spAutoFit/>
          </a:bodyPr>
          <a:lstStyle/>
          <a:p>
            <a:pPr>
              <a:defRPr sz="1000">
                <a:solidFill>
                  <a:srgbClr val="A5B2C1"/>
                </a:solidFill>
              </a:defRPr>
            </a:pPr>
            <a:r>
              <a:t>CHAPTER 39     |     11</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B121C"/>
        </a:solidFill>
        <a:effectLst/>
      </p:bgPr>
    </p:bg>
    <p:spTree>
      <p:nvGrpSpPr>
        <p:cNvPr id="1" name=""/>
        <p:cNvGrpSpPr/>
        <p:nvPr/>
      </p:nvGrpSpPr>
      <p:grpSpPr/>
      <p:sp>
        <p:nvSpPr>
          <p:cNvPr id="2" name="Rectangle 1"/>
          <p:cNvSpPr/>
          <p:nvPr/>
        </p:nvSpPr>
        <p:spPr>
          <a:xfrm>
            <a:off x="0" y="0"/>
            <a:ext cx="12191695" cy="73152"/>
          </a:xfrm>
          <a:prstGeom prst="rect">
            <a:avLst/>
          </a:prstGeom>
          <a:solidFill>
            <a:srgbClr val="42B8D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20040"/>
            <a:ext cx="10972800" cy="274320"/>
          </a:xfrm>
          <a:prstGeom prst="rect">
            <a:avLst/>
          </a:prstGeom>
          <a:noFill/>
        </p:spPr>
        <p:txBody>
          <a:bodyPr wrap="none">
            <a:spAutoFit/>
          </a:bodyPr>
          <a:lstStyle/>
          <a:p>
            <a:pPr>
              <a:defRPr sz="1100" b="1">
                <a:solidFill>
                  <a:srgbClr val="A5B2C1"/>
                </a:solidFill>
              </a:defRPr>
            </a:pPr>
            <a:r>
              <a:t>SYSTEMS PROGRAMMING AND MACHINE ORGANIZATION     ·     CHARLES DORNER</a:t>
            </a:r>
          </a:p>
        </p:txBody>
      </p:sp>
      <p:sp>
        <p:nvSpPr>
          <p:cNvPr id="4" name="TextBox 3"/>
          <p:cNvSpPr txBox="1"/>
          <p:nvPr/>
        </p:nvSpPr>
        <p:spPr>
          <a:xfrm>
            <a:off x="594360" y="822960"/>
            <a:ext cx="10972800" cy="914400"/>
          </a:xfrm>
          <a:prstGeom prst="rect">
            <a:avLst/>
          </a:prstGeom>
          <a:noFill/>
        </p:spPr>
        <p:txBody>
          <a:bodyPr wrap="none">
            <a:spAutoFit/>
          </a:bodyPr>
          <a:lstStyle/>
          <a:p>
            <a:pPr>
              <a:defRPr sz="3000" b="1">
                <a:solidFill>
                  <a:srgbClr val="F2F5F8"/>
                </a:solidFill>
              </a:defRPr>
            </a:pPr>
            <a:r>
              <a:t>39.5 Zombie processes</a:t>
            </a:r>
          </a:p>
        </p:txBody>
      </p:sp>
      <p:sp>
        <p:nvSpPr>
          <p:cNvPr id="5" name="TextBox 4"/>
          <p:cNvSpPr txBox="1"/>
          <p:nvPr/>
        </p:nvSpPr>
        <p:spPr>
          <a:xfrm>
            <a:off x="612648" y="1600200"/>
            <a:ext cx="10698480" cy="365760"/>
          </a:xfrm>
          <a:prstGeom prst="rect">
            <a:avLst/>
          </a:prstGeom>
          <a:noFill/>
        </p:spPr>
        <p:txBody>
          <a:bodyPr wrap="none">
            <a:spAutoFit/>
          </a:bodyPr>
          <a:lstStyle/>
          <a:p>
            <a:pPr>
              <a:defRPr sz="1300" b="1">
                <a:solidFill>
                  <a:srgbClr val="42B8D5"/>
                </a:solidFill>
              </a:defRPr>
            </a:pPr>
            <a:r>
              <a:t>SOURCE TOPIC</a:t>
            </a:r>
          </a:p>
        </p:txBody>
      </p:sp>
      <p:sp>
        <p:nvSpPr>
          <p:cNvPr id="6" name="Rounded Rectangle 5"/>
          <p:cNvSpPr/>
          <p:nvPr/>
        </p:nvSpPr>
        <p:spPr>
          <a:xfrm>
            <a:off x="594360" y="2148840"/>
            <a:ext cx="10972800" cy="3840480"/>
          </a:xfrm>
          <a:prstGeom prst="roundRect">
            <a:avLst/>
          </a:prstGeom>
          <a:solidFill>
            <a:srgbClr val="141E2B"/>
          </a:solidFill>
          <a:ln>
            <a:solidFill>
              <a:srgbClr val="2F3E4E"/>
            </a:solidFill>
          </a:ln>
        </p:spPr>
        <p:style>
          <a:lnRef idx="1">
            <a:schemeClr val="accent1"/>
          </a:lnRef>
          <a:fillRef idx="3">
            <a:schemeClr val="accent1"/>
          </a:fillRef>
          <a:effectRef idx="2">
            <a:schemeClr val="accent1"/>
          </a:effectRef>
          <a:fontRef idx="minor">
            <a:schemeClr val="lt1"/>
          </a:fontRef>
        </p:style>
        <p:txBody>
          <a:bodyPr rtlCol="0" anchor="ctr" lIns="320040" rIns="274320" tIns="228600"/>
          <a:lstStyle/>
          <a:p>
            <a:pPr algn="ctr">
              <a:spcAft>
                <a:spcPts val="1100"/>
              </a:spcAft>
              <a:defRPr sz="1900">
                <a:solidFill>
                  <a:srgbClr val="F2F5F8"/>
                </a:solidFill>
              </a:defRPr>
            </a:pPr>
            <a:r>
              <a:t>• A zombie is a terminated process whose parent has not yet collected the retained termination information.</a:t>
            </a:r>
          </a:p>
          <a:p>
            <a:pPr>
              <a:spcAft>
                <a:spcPts val="1100"/>
              </a:spcAft>
              <a:defRPr sz="1900">
                <a:solidFill>
                  <a:srgbClr val="F2F5F8"/>
                </a:solidFill>
              </a:defRPr>
            </a:pPr>
            <a:r>
              <a:t>• It is not executing instructions or holding its former address space as a normal live process.</a:t>
            </a:r>
          </a:p>
          <a:p>
            <a:pPr>
              <a:spcAft>
                <a:spcPts val="1100"/>
              </a:spcAft>
              <a:defRPr sz="1900">
                <a:solidFill>
                  <a:srgbClr val="F2F5F8"/>
                </a:solidFill>
              </a:defRPr>
            </a:pPr>
            <a:r>
              <a:t>• It does occupy bookkeeping that should eventually be released.</a:t>
            </a:r>
          </a:p>
          <a:p>
            <a:pPr>
              <a:spcAft>
                <a:spcPts val="1100"/>
              </a:spcAft>
              <a:defRPr sz="1900">
                <a:solidFill>
                  <a:srgbClr val="F2F5F8"/>
                </a:solidFill>
              </a:defRPr>
            </a:pPr>
            <a:r>
              <a:t>• A long-running supervisor that never reaps children can accumulate zombies.</a:t>
            </a:r>
          </a:p>
        </p:txBody>
      </p:sp>
      <p:sp>
        <p:nvSpPr>
          <p:cNvPr id="7" name="TextBox 6"/>
          <p:cNvSpPr txBox="1"/>
          <p:nvPr/>
        </p:nvSpPr>
        <p:spPr>
          <a:xfrm>
            <a:off x="612648" y="6309360"/>
            <a:ext cx="10698480" cy="228600"/>
          </a:xfrm>
          <a:prstGeom prst="rect">
            <a:avLst/>
          </a:prstGeom>
          <a:noFill/>
        </p:spPr>
        <p:txBody>
          <a:bodyPr wrap="none">
            <a:spAutoFit/>
          </a:bodyPr>
          <a:lstStyle/>
          <a:p>
            <a:pPr>
              <a:defRPr sz="1000">
                <a:solidFill>
                  <a:srgbClr val="A5B2C1"/>
                </a:solidFill>
              </a:defRPr>
            </a:pPr>
            <a:r>
              <a:t>CHAPTER 39     |     12</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B121C"/>
        </a:solidFill>
        <a:effectLst/>
      </p:bgPr>
    </p:bg>
    <p:spTree>
      <p:nvGrpSpPr>
        <p:cNvPr id="1" name=""/>
        <p:cNvGrpSpPr/>
        <p:nvPr/>
      </p:nvGrpSpPr>
      <p:grpSpPr/>
      <p:sp>
        <p:nvSpPr>
          <p:cNvPr id="2" name="Rectangle 1"/>
          <p:cNvSpPr/>
          <p:nvPr/>
        </p:nvSpPr>
        <p:spPr>
          <a:xfrm>
            <a:off x="0" y="0"/>
            <a:ext cx="12191695" cy="73152"/>
          </a:xfrm>
          <a:prstGeom prst="rect">
            <a:avLst/>
          </a:prstGeom>
          <a:solidFill>
            <a:srgbClr val="42B8D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20040"/>
            <a:ext cx="10972800" cy="274320"/>
          </a:xfrm>
          <a:prstGeom prst="rect">
            <a:avLst/>
          </a:prstGeom>
          <a:noFill/>
        </p:spPr>
        <p:txBody>
          <a:bodyPr wrap="none">
            <a:spAutoFit/>
          </a:bodyPr>
          <a:lstStyle/>
          <a:p>
            <a:pPr>
              <a:defRPr sz="1100" b="1">
                <a:solidFill>
                  <a:srgbClr val="A5B2C1"/>
                </a:solidFill>
              </a:defRPr>
            </a:pPr>
            <a:r>
              <a:t>SYSTEMS PROGRAMMING AND MACHINE ORGANIZATION     ·     CHARLES DORNER</a:t>
            </a:r>
          </a:p>
        </p:txBody>
      </p:sp>
      <p:sp>
        <p:nvSpPr>
          <p:cNvPr id="4" name="TextBox 3"/>
          <p:cNvSpPr txBox="1"/>
          <p:nvPr/>
        </p:nvSpPr>
        <p:spPr>
          <a:xfrm>
            <a:off x="594360" y="822960"/>
            <a:ext cx="10972800" cy="914400"/>
          </a:xfrm>
          <a:prstGeom prst="rect">
            <a:avLst/>
          </a:prstGeom>
          <a:noFill/>
        </p:spPr>
        <p:txBody>
          <a:bodyPr wrap="none">
            <a:spAutoFit/>
          </a:bodyPr>
          <a:lstStyle/>
          <a:p>
            <a:pPr>
              <a:defRPr sz="3000" b="1">
                <a:solidFill>
                  <a:srgbClr val="F2F5F8"/>
                </a:solidFill>
              </a:defRPr>
            </a:pPr>
            <a:r>
              <a:t>39.5 Zombie processes — Deep Dive</a:t>
            </a:r>
          </a:p>
        </p:txBody>
      </p:sp>
      <p:sp>
        <p:nvSpPr>
          <p:cNvPr id="5" name="TextBox 4"/>
          <p:cNvSpPr txBox="1"/>
          <p:nvPr/>
        </p:nvSpPr>
        <p:spPr>
          <a:xfrm>
            <a:off x="612648" y="1600200"/>
            <a:ext cx="10698480" cy="365760"/>
          </a:xfrm>
          <a:prstGeom prst="rect">
            <a:avLst/>
          </a:prstGeom>
          <a:noFill/>
        </p:spPr>
        <p:txBody>
          <a:bodyPr wrap="none">
            <a:spAutoFit/>
          </a:bodyPr>
          <a:lstStyle/>
          <a:p>
            <a:pPr>
              <a:defRPr sz="1300" b="1">
                <a:solidFill>
                  <a:srgbClr val="42B8D5"/>
                </a:solidFill>
              </a:defRPr>
            </a:pPr>
            <a:r>
              <a:t>ENGINEERING IMPLICATIONS</a:t>
            </a:r>
          </a:p>
        </p:txBody>
      </p:sp>
      <p:sp>
        <p:nvSpPr>
          <p:cNvPr id="6" name="Rounded Rectangle 5"/>
          <p:cNvSpPr/>
          <p:nvPr/>
        </p:nvSpPr>
        <p:spPr>
          <a:xfrm>
            <a:off x="594360" y="2148840"/>
            <a:ext cx="10972800" cy="3840480"/>
          </a:xfrm>
          <a:prstGeom prst="roundRect">
            <a:avLst/>
          </a:prstGeom>
          <a:solidFill>
            <a:srgbClr val="141E2B"/>
          </a:solidFill>
          <a:ln>
            <a:solidFill>
              <a:srgbClr val="2F3E4E"/>
            </a:solidFill>
          </a:ln>
        </p:spPr>
        <p:style>
          <a:lnRef idx="1">
            <a:schemeClr val="accent1"/>
          </a:lnRef>
          <a:fillRef idx="3">
            <a:schemeClr val="accent1"/>
          </a:fillRef>
          <a:effectRef idx="2">
            <a:schemeClr val="accent1"/>
          </a:effectRef>
          <a:fontRef idx="minor">
            <a:schemeClr val="lt1"/>
          </a:fontRef>
        </p:style>
        <p:txBody>
          <a:bodyPr rtlCol="0" anchor="ctr" lIns="320040" rIns="274320" tIns="228600"/>
          <a:lstStyle/>
          <a:p>
            <a:pPr algn="ctr">
              <a:spcAft>
                <a:spcPts val="1100"/>
              </a:spcAft>
              <a:defRPr sz="1900">
                <a:solidFill>
                  <a:srgbClr val="F2F5F8"/>
                </a:solidFill>
              </a:defRPr>
            </a:pPr>
            <a:r>
              <a:t>• A long-running supervisor that never reaps children can accumulate zombies.</a:t>
            </a:r>
          </a:p>
          <a:p>
            <a:pPr>
              <a:spcAft>
                <a:spcPts val="1100"/>
              </a:spcAft>
              <a:defRPr sz="1900">
                <a:solidFill>
                  <a:srgbClr val="F2F5F8"/>
                </a:solidFill>
              </a:defRPr>
            </a:pPr>
            <a:r>
              <a:t>• The solution is lifecycle management, not treating zombies as ordinary running tasks to be killed again.</a:t>
            </a:r>
          </a:p>
          <a:p>
            <a:pPr>
              <a:spcAft>
                <a:spcPts val="1100"/>
              </a:spcAft>
              <a:defRPr sz="1900">
                <a:solidFill>
                  <a:srgbClr val="F2F5F8"/>
                </a:solidFill>
              </a:defRPr>
            </a:pPr>
            <a:r>
              <a:t>• The parent must arrange to collect child status according to the applicable process and signal rules.</a:t>
            </a:r>
          </a:p>
        </p:txBody>
      </p:sp>
      <p:sp>
        <p:nvSpPr>
          <p:cNvPr id="7" name="TextBox 6"/>
          <p:cNvSpPr txBox="1"/>
          <p:nvPr/>
        </p:nvSpPr>
        <p:spPr>
          <a:xfrm>
            <a:off x="612648" y="6309360"/>
            <a:ext cx="10698480" cy="228600"/>
          </a:xfrm>
          <a:prstGeom prst="rect">
            <a:avLst/>
          </a:prstGeom>
          <a:noFill/>
        </p:spPr>
        <p:txBody>
          <a:bodyPr wrap="none">
            <a:spAutoFit/>
          </a:bodyPr>
          <a:lstStyle/>
          <a:p>
            <a:pPr>
              <a:defRPr sz="1000">
                <a:solidFill>
                  <a:srgbClr val="A5B2C1"/>
                </a:solidFill>
              </a:defRPr>
            </a:pPr>
            <a:r>
              <a:t>CHAPTER 39     |     13</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B121C"/>
        </a:solidFill>
        <a:effectLst/>
      </p:bgPr>
    </p:bg>
    <p:spTree>
      <p:nvGrpSpPr>
        <p:cNvPr id="1" name=""/>
        <p:cNvGrpSpPr/>
        <p:nvPr/>
      </p:nvGrpSpPr>
      <p:grpSpPr/>
      <p:sp>
        <p:nvSpPr>
          <p:cNvPr id="2" name="Rectangle 1"/>
          <p:cNvSpPr/>
          <p:nvPr/>
        </p:nvSpPr>
        <p:spPr>
          <a:xfrm>
            <a:off x="0" y="0"/>
            <a:ext cx="12191695" cy="73152"/>
          </a:xfrm>
          <a:prstGeom prst="rect">
            <a:avLst/>
          </a:prstGeom>
          <a:solidFill>
            <a:srgbClr val="42B8D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20040"/>
            <a:ext cx="10972800" cy="274320"/>
          </a:xfrm>
          <a:prstGeom prst="rect">
            <a:avLst/>
          </a:prstGeom>
          <a:noFill/>
        </p:spPr>
        <p:txBody>
          <a:bodyPr wrap="none">
            <a:spAutoFit/>
          </a:bodyPr>
          <a:lstStyle/>
          <a:p>
            <a:pPr>
              <a:defRPr sz="1100" b="1">
                <a:solidFill>
                  <a:srgbClr val="A5B2C1"/>
                </a:solidFill>
              </a:defRPr>
            </a:pPr>
            <a:r>
              <a:t>SYSTEMS PROGRAMMING AND MACHINE ORGANIZATION     ·     CHARLES DORNER</a:t>
            </a:r>
          </a:p>
        </p:txBody>
      </p:sp>
      <p:sp>
        <p:nvSpPr>
          <p:cNvPr id="4" name="TextBox 3"/>
          <p:cNvSpPr txBox="1"/>
          <p:nvPr/>
        </p:nvSpPr>
        <p:spPr>
          <a:xfrm>
            <a:off x="594360" y="822960"/>
            <a:ext cx="10972800" cy="914400"/>
          </a:xfrm>
          <a:prstGeom prst="rect">
            <a:avLst/>
          </a:prstGeom>
          <a:noFill/>
        </p:spPr>
        <p:txBody>
          <a:bodyPr wrap="none">
            <a:spAutoFit/>
          </a:bodyPr>
          <a:lstStyle/>
          <a:p>
            <a:pPr>
              <a:defRPr sz="3000" b="1">
                <a:solidFill>
                  <a:srgbClr val="F2F5F8"/>
                </a:solidFill>
              </a:defRPr>
            </a:pPr>
            <a:r>
              <a:t>39.6 Reaping children</a:t>
            </a:r>
          </a:p>
        </p:txBody>
      </p:sp>
      <p:sp>
        <p:nvSpPr>
          <p:cNvPr id="5" name="TextBox 4"/>
          <p:cNvSpPr txBox="1"/>
          <p:nvPr/>
        </p:nvSpPr>
        <p:spPr>
          <a:xfrm>
            <a:off x="612648" y="1600200"/>
            <a:ext cx="10698480" cy="365760"/>
          </a:xfrm>
          <a:prstGeom prst="rect">
            <a:avLst/>
          </a:prstGeom>
          <a:noFill/>
        </p:spPr>
        <p:txBody>
          <a:bodyPr wrap="none">
            <a:spAutoFit/>
          </a:bodyPr>
          <a:lstStyle/>
          <a:p>
            <a:pPr>
              <a:defRPr sz="1300" b="1">
                <a:solidFill>
                  <a:srgbClr val="42B8D5"/>
                </a:solidFill>
              </a:defRPr>
            </a:pPr>
            <a:r>
              <a:t>SOURCE TOPIC</a:t>
            </a:r>
          </a:p>
        </p:txBody>
      </p:sp>
      <p:sp>
        <p:nvSpPr>
          <p:cNvPr id="6" name="Rounded Rectangle 5"/>
          <p:cNvSpPr/>
          <p:nvPr/>
        </p:nvSpPr>
        <p:spPr>
          <a:xfrm>
            <a:off x="594360" y="2148840"/>
            <a:ext cx="10972800" cy="3840480"/>
          </a:xfrm>
          <a:prstGeom prst="roundRect">
            <a:avLst/>
          </a:prstGeom>
          <a:solidFill>
            <a:srgbClr val="141E2B"/>
          </a:solidFill>
          <a:ln>
            <a:solidFill>
              <a:srgbClr val="2F3E4E"/>
            </a:solidFill>
          </a:ln>
        </p:spPr>
        <p:style>
          <a:lnRef idx="1">
            <a:schemeClr val="accent1"/>
          </a:lnRef>
          <a:fillRef idx="3">
            <a:schemeClr val="accent1"/>
          </a:fillRef>
          <a:effectRef idx="2">
            <a:schemeClr val="accent1"/>
          </a:effectRef>
          <a:fontRef idx="minor">
            <a:schemeClr val="lt1"/>
          </a:fontRef>
        </p:style>
        <p:txBody>
          <a:bodyPr rtlCol="0" anchor="ctr" lIns="320040" rIns="274320" tIns="228600"/>
          <a:lstStyle/>
          <a:p>
            <a:pPr algn="ctr">
              <a:spcAft>
                <a:spcPts val="1100"/>
              </a:spcAft>
              <a:defRPr sz="1900">
                <a:solidFill>
                  <a:srgbClr val="F2F5F8"/>
                </a:solidFill>
              </a:defRPr>
            </a:pPr>
            <a:r>
              <a:t>• Reaping collects a child’s status and releases the retained termination bookkeeping.</a:t>
            </a:r>
          </a:p>
          <a:p>
            <a:pPr>
              <a:spcAft>
                <a:spcPts val="1100"/>
              </a:spcAft>
              <a:defRPr sz="1700">
                <a:solidFill>
                  <a:srgbClr val="F2F5F8"/>
                </a:solidFill>
              </a:defRPr>
            </a:pPr>
            <a:r>
              <a:t>• A parent should have one clear ownership policy for child status, especially when multiple threads or signal-driven code could attempt to wait for the same child.</a:t>
            </a:r>
          </a:p>
          <a:p>
            <a:pPr>
              <a:spcAft>
                <a:spcPts val="1100"/>
              </a:spcAft>
              <a:defRPr sz="1700">
                <a:solidFill>
                  <a:srgbClr val="F2F5F8"/>
                </a:solidFill>
              </a:defRPr>
            </a:pPr>
            <a:r>
              <a:t>• A common event-driven pattern treats SIGCHLD as a notification to check for available statuses and then repeatedly uses nonblocking waits until none remain.</a:t>
            </a:r>
          </a:p>
          <a:p>
            <a:pPr>
              <a:spcAft>
                <a:spcPts val="1100"/>
              </a:spcAft>
              <a:defRPr sz="1900">
                <a:solidFill>
                  <a:srgbClr val="F2F5F8"/>
                </a:solidFill>
              </a:defRPr>
            </a:pPr>
            <a:r>
              <a:t>• Standard signals can coalesce, so one notification must not be assumed to represent exactly one child event.</a:t>
            </a:r>
          </a:p>
        </p:txBody>
      </p:sp>
      <p:sp>
        <p:nvSpPr>
          <p:cNvPr id="7" name="TextBox 6"/>
          <p:cNvSpPr txBox="1"/>
          <p:nvPr/>
        </p:nvSpPr>
        <p:spPr>
          <a:xfrm>
            <a:off x="612648" y="6309360"/>
            <a:ext cx="10698480" cy="228600"/>
          </a:xfrm>
          <a:prstGeom prst="rect">
            <a:avLst/>
          </a:prstGeom>
          <a:noFill/>
        </p:spPr>
        <p:txBody>
          <a:bodyPr wrap="none">
            <a:spAutoFit/>
          </a:bodyPr>
          <a:lstStyle/>
          <a:p>
            <a:pPr>
              <a:defRPr sz="1000">
                <a:solidFill>
                  <a:srgbClr val="A5B2C1"/>
                </a:solidFill>
              </a:defRPr>
            </a:pPr>
            <a:r>
              <a:t>CHAPTER 39     |     14</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0B121C"/>
        </a:solidFill>
        <a:effectLst/>
      </p:bgPr>
    </p:bg>
    <p:spTree>
      <p:nvGrpSpPr>
        <p:cNvPr id="1" name=""/>
        <p:cNvGrpSpPr/>
        <p:nvPr/>
      </p:nvGrpSpPr>
      <p:grpSpPr/>
      <p:sp>
        <p:nvSpPr>
          <p:cNvPr id="2" name="Rectangle 1"/>
          <p:cNvSpPr/>
          <p:nvPr/>
        </p:nvSpPr>
        <p:spPr>
          <a:xfrm>
            <a:off x="0" y="0"/>
            <a:ext cx="12191695" cy="73152"/>
          </a:xfrm>
          <a:prstGeom prst="rect">
            <a:avLst/>
          </a:prstGeom>
          <a:solidFill>
            <a:srgbClr val="42B8D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20040"/>
            <a:ext cx="10972800" cy="274320"/>
          </a:xfrm>
          <a:prstGeom prst="rect">
            <a:avLst/>
          </a:prstGeom>
          <a:noFill/>
        </p:spPr>
        <p:txBody>
          <a:bodyPr wrap="none">
            <a:spAutoFit/>
          </a:bodyPr>
          <a:lstStyle/>
          <a:p>
            <a:pPr>
              <a:defRPr sz="1100" b="1">
                <a:solidFill>
                  <a:srgbClr val="A5B2C1"/>
                </a:solidFill>
              </a:defRPr>
            </a:pPr>
            <a:r>
              <a:t>SYSTEMS PROGRAMMING AND MACHINE ORGANIZATION     ·     CHARLES DORNER</a:t>
            </a:r>
          </a:p>
        </p:txBody>
      </p:sp>
      <p:sp>
        <p:nvSpPr>
          <p:cNvPr id="4" name="TextBox 3"/>
          <p:cNvSpPr txBox="1"/>
          <p:nvPr/>
        </p:nvSpPr>
        <p:spPr>
          <a:xfrm>
            <a:off x="594360" y="822960"/>
            <a:ext cx="10972800" cy="914400"/>
          </a:xfrm>
          <a:prstGeom prst="rect">
            <a:avLst/>
          </a:prstGeom>
          <a:noFill/>
        </p:spPr>
        <p:txBody>
          <a:bodyPr wrap="none">
            <a:spAutoFit/>
          </a:bodyPr>
          <a:lstStyle/>
          <a:p>
            <a:pPr>
              <a:defRPr sz="3000" b="1">
                <a:solidFill>
                  <a:srgbClr val="F2F5F8"/>
                </a:solidFill>
              </a:defRPr>
            </a:pPr>
            <a:r>
              <a:t>39.6 Reaping children — Deep Dive</a:t>
            </a:r>
          </a:p>
        </p:txBody>
      </p:sp>
      <p:sp>
        <p:nvSpPr>
          <p:cNvPr id="5" name="TextBox 4"/>
          <p:cNvSpPr txBox="1"/>
          <p:nvPr/>
        </p:nvSpPr>
        <p:spPr>
          <a:xfrm>
            <a:off x="612648" y="1600200"/>
            <a:ext cx="10698480" cy="365760"/>
          </a:xfrm>
          <a:prstGeom prst="rect">
            <a:avLst/>
          </a:prstGeom>
          <a:noFill/>
        </p:spPr>
        <p:txBody>
          <a:bodyPr wrap="none">
            <a:spAutoFit/>
          </a:bodyPr>
          <a:lstStyle/>
          <a:p>
            <a:pPr>
              <a:defRPr sz="1300" b="1">
                <a:solidFill>
                  <a:srgbClr val="42B8D5"/>
                </a:solidFill>
              </a:defRPr>
            </a:pPr>
            <a:r>
              <a:t>ENGINEERING IMPLICATIONS</a:t>
            </a:r>
          </a:p>
        </p:txBody>
      </p:sp>
      <p:sp>
        <p:nvSpPr>
          <p:cNvPr id="6" name="Rounded Rectangle 5"/>
          <p:cNvSpPr/>
          <p:nvPr/>
        </p:nvSpPr>
        <p:spPr>
          <a:xfrm>
            <a:off x="594360" y="2148840"/>
            <a:ext cx="10972800" cy="3840480"/>
          </a:xfrm>
          <a:prstGeom prst="roundRect">
            <a:avLst/>
          </a:prstGeom>
          <a:solidFill>
            <a:srgbClr val="141E2B"/>
          </a:solidFill>
          <a:ln>
            <a:solidFill>
              <a:srgbClr val="2F3E4E"/>
            </a:solidFill>
          </a:ln>
        </p:spPr>
        <p:style>
          <a:lnRef idx="1">
            <a:schemeClr val="accent1"/>
          </a:lnRef>
          <a:fillRef idx="3">
            <a:schemeClr val="accent1"/>
          </a:fillRef>
          <a:effectRef idx="2">
            <a:schemeClr val="accent1"/>
          </a:effectRef>
          <a:fontRef idx="minor">
            <a:schemeClr val="lt1"/>
          </a:fontRef>
        </p:style>
        <p:txBody>
          <a:bodyPr rtlCol="0" anchor="ctr" lIns="320040" rIns="274320" tIns="228600"/>
          <a:lstStyle/>
          <a:p>
            <a:pPr algn="ctr">
              <a:spcAft>
                <a:spcPts val="1100"/>
              </a:spcAft>
              <a:defRPr sz="1700">
                <a:solidFill>
                  <a:srgbClr val="F2F5F8"/>
                </a:solidFill>
              </a:defRPr>
            </a:pPr>
            <a:r>
              <a:t>• A common event-driven pattern treats SIGCHLD as a notification to check for available statuses and then repeatedly uses nonblocking waits until none remain.</a:t>
            </a:r>
          </a:p>
          <a:p>
            <a:pPr>
              <a:spcAft>
                <a:spcPts val="1100"/>
              </a:spcAft>
              <a:defRPr sz="1900">
                <a:solidFill>
                  <a:srgbClr val="F2F5F8"/>
                </a:solidFill>
              </a:defRPr>
            </a:pPr>
            <a:r>
              <a:t>• Standard signals can coalesce, so one notification must not be assumed to represent exactly one child event.</a:t>
            </a:r>
          </a:p>
        </p:txBody>
      </p:sp>
      <p:sp>
        <p:nvSpPr>
          <p:cNvPr id="7" name="TextBox 6"/>
          <p:cNvSpPr txBox="1"/>
          <p:nvPr/>
        </p:nvSpPr>
        <p:spPr>
          <a:xfrm>
            <a:off x="612648" y="6309360"/>
            <a:ext cx="10698480" cy="228600"/>
          </a:xfrm>
          <a:prstGeom prst="rect">
            <a:avLst/>
          </a:prstGeom>
          <a:noFill/>
        </p:spPr>
        <p:txBody>
          <a:bodyPr wrap="none">
            <a:spAutoFit/>
          </a:bodyPr>
          <a:lstStyle/>
          <a:p>
            <a:pPr>
              <a:defRPr sz="1000">
                <a:solidFill>
                  <a:srgbClr val="A5B2C1"/>
                </a:solidFill>
              </a:defRPr>
            </a:pPr>
            <a:r>
              <a:t>CHAPTER 39     |     15</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0B121C"/>
        </a:solidFill>
        <a:effectLst/>
      </p:bgPr>
    </p:bg>
    <p:spTree>
      <p:nvGrpSpPr>
        <p:cNvPr id="1" name=""/>
        <p:cNvGrpSpPr/>
        <p:nvPr/>
      </p:nvGrpSpPr>
      <p:grpSpPr/>
      <p:sp>
        <p:nvSpPr>
          <p:cNvPr id="2" name="Rectangle 1"/>
          <p:cNvSpPr/>
          <p:nvPr/>
        </p:nvSpPr>
        <p:spPr>
          <a:xfrm>
            <a:off x="0" y="0"/>
            <a:ext cx="12191695" cy="73152"/>
          </a:xfrm>
          <a:prstGeom prst="rect">
            <a:avLst/>
          </a:prstGeom>
          <a:solidFill>
            <a:srgbClr val="42B8D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20040"/>
            <a:ext cx="10972800" cy="274320"/>
          </a:xfrm>
          <a:prstGeom prst="rect">
            <a:avLst/>
          </a:prstGeom>
          <a:noFill/>
        </p:spPr>
        <p:txBody>
          <a:bodyPr wrap="none">
            <a:spAutoFit/>
          </a:bodyPr>
          <a:lstStyle/>
          <a:p>
            <a:pPr>
              <a:defRPr sz="1100" b="1">
                <a:solidFill>
                  <a:srgbClr val="A5B2C1"/>
                </a:solidFill>
              </a:defRPr>
            </a:pPr>
            <a:r>
              <a:t>SYSTEMS PROGRAMMING AND MACHINE ORGANIZATION     ·     CHARLES DORNER</a:t>
            </a:r>
          </a:p>
        </p:txBody>
      </p:sp>
      <p:sp>
        <p:nvSpPr>
          <p:cNvPr id="4" name="TextBox 3"/>
          <p:cNvSpPr txBox="1"/>
          <p:nvPr/>
        </p:nvSpPr>
        <p:spPr>
          <a:xfrm>
            <a:off x="594360" y="822960"/>
            <a:ext cx="10972800" cy="914400"/>
          </a:xfrm>
          <a:prstGeom prst="rect">
            <a:avLst/>
          </a:prstGeom>
          <a:noFill/>
        </p:spPr>
        <p:txBody>
          <a:bodyPr wrap="none">
            <a:spAutoFit/>
          </a:bodyPr>
          <a:lstStyle/>
          <a:p>
            <a:pPr>
              <a:defRPr sz="2500" b="1">
                <a:solidFill>
                  <a:srgbClr val="F2F5F8"/>
                </a:solidFill>
              </a:defRPr>
            </a:pPr>
            <a:r>
              <a:t>Worked example — Decode status, not bit guesses</a:t>
            </a:r>
          </a:p>
        </p:txBody>
      </p:sp>
      <p:sp>
        <p:nvSpPr>
          <p:cNvPr id="5" name="TextBox 4"/>
          <p:cNvSpPr txBox="1"/>
          <p:nvPr/>
        </p:nvSpPr>
        <p:spPr>
          <a:xfrm>
            <a:off x="612648" y="1600200"/>
            <a:ext cx="10698480" cy="365760"/>
          </a:xfrm>
          <a:prstGeom prst="rect">
            <a:avLst/>
          </a:prstGeom>
          <a:noFill/>
        </p:spPr>
        <p:txBody>
          <a:bodyPr wrap="none">
            <a:spAutoFit/>
          </a:bodyPr>
          <a:lstStyle/>
          <a:p>
            <a:pPr>
              <a:defRPr sz="1300" b="1">
                <a:solidFill>
                  <a:srgbClr val="42B8D5"/>
                </a:solidFill>
              </a:defRPr>
            </a:pPr>
            <a:r>
              <a:t>SOURCE TOPIC</a:t>
            </a:r>
          </a:p>
        </p:txBody>
      </p:sp>
      <p:sp>
        <p:nvSpPr>
          <p:cNvPr id="6" name="Rounded Rectangle 5"/>
          <p:cNvSpPr/>
          <p:nvPr/>
        </p:nvSpPr>
        <p:spPr>
          <a:xfrm>
            <a:off x="594360" y="2148840"/>
            <a:ext cx="10972800" cy="3840480"/>
          </a:xfrm>
          <a:prstGeom prst="roundRect">
            <a:avLst/>
          </a:prstGeom>
          <a:solidFill>
            <a:srgbClr val="141E2B"/>
          </a:solidFill>
          <a:ln>
            <a:solidFill>
              <a:srgbClr val="2F3E4E"/>
            </a:solidFill>
          </a:ln>
        </p:spPr>
        <p:style>
          <a:lnRef idx="1">
            <a:schemeClr val="accent1"/>
          </a:lnRef>
          <a:fillRef idx="3">
            <a:schemeClr val="accent1"/>
          </a:fillRef>
          <a:effectRef idx="2">
            <a:schemeClr val="accent1"/>
          </a:effectRef>
          <a:fontRef idx="minor">
            <a:schemeClr val="lt1"/>
          </a:fontRef>
        </p:style>
        <p:txBody>
          <a:bodyPr rtlCol="0" anchor="ctr" lIns="320040" rIns="274320" tIns="228600"/>
          <a:lstStyle/>
          <a:p>
            <a:pPr algn="ctr">
              <a:spcAft>
                <a:spcPts val="1100"/>
              </a:spcAft>
              <a:defRPr sz="1700">
                <a:solidFill>
                  <a:srgbClr val="F2F5F8"/>
                </a:solidFill>
              </a:defRPr>
            </a:pPr>
            <a:r>
              <a:t>• This program creates one child that exits with status 23, waits for that specific child, and verifies the status using the documented macros.</a:t>
            </a:r>
          </a:p>
          <a:p>
            <a:pPr>
              <a:spcAft>
                <a:spcPts val="1100"/>
              </a:spcAft>
              <a:defRPr sz="1900">
                <a:solidFill>
                  <a:srgbClr val="F2F5F8"/>
                </a:solidFill>
              </a:defRPr>
            </a:pPr>
            <a:r>
              <a:t>• Companion listing: ch39/status.c</a:t>
            </a:r>
          </a:p>
          <a:p>
            <a:pPr>
              <a:spcAft>
                <a:spcPts val="1100"/>
              </a:spcAft>
              <a:defRPr sz="1900">
                <a:solidFill>
                  <a:srgbClr val="F2F5F8"/>
                </a:solidFill>
              </a:defRPr>
            </a:pPr>
            <a:r>
              <a:t>• The expected output is exit=23 .</a:t>
            </a:r>
          </a:p>
          <a:p>
            <a:pPr>
              <a:spcAft>
                <a:spcPts val="1100"/>
              </a:spcAft>
              <a:defRPr sz="1900">
                <a:solidFill>
                  <a:srgbClr val="F2F5F8"/>
                </a:solidFill>
              </a:defRPr>
            </a:pPr>
            <a:r>
              <a:t>• The parent’s own success status is zero because the child produced the expected test result.</a:t>
            </a:r>
          </a:p>
        </p:txBody>
      </p:sp>
      <p:sp>
        <p:nvSpPr>
          <p:cNvPr id="7" name="TextBox 6"/>
          <p:cNvSpPr txBox="1"/>
          <p:nvPr/>
        </p:nvSpPr>
        <p:spPr>
          <a:xfrm>
            <a:off x="612648" y="6309360"/>
            <a:ext cx="10698480" cy="228600"/>
          </a:xfrm>
          <a:prstGeom prst="rect">
            <a:avLst/>
          </a:prstGeom>
          <a:noFill/>
        </p:spPr>
        <p:txBody>
          <a:bodyPr wrap="none">
            <a:spAutoFit/>
          </a:bodyPr>
          <a:lstStyle/>
          <a:p>
            <a:pPr>
              <a:defRPr sz="1000">
                <a:solidFill>
                  <a:srgbClr val="A5B2C1"/>
                </a:solidFill>
              </a:defRPr>
            </a:pPr>
            <a:r>
              <a:t>CHAPTER 39     |     16</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bg>
      <p:bgPr>
        <a:solidFill>
          <a:srgbClr val="0B121C"/>
        </a:solidFill>
        <a:effectLst/>
      </p:bgPr>
    </p:bg>
    <p:spTree>
      <p:nvGrpSpPr>
        <p:cNvPr id="1" name=""/>
        <p:cNvGrpSpPr/>
        <p:nvPr/>
      </p:nvGrpSpPr>
      <p:grpSpPr/>
      <p:sp>
        <p:nvSpPr>
          <p:cNvPr id="2" name="Rectangle 1"/>
          <p:cNvSpPr/>
          <p:nvPr/>
        </p:nvSpPr>
        <p:spPr>
          <a:xfrm>
            <a:off x="0" y="0"/>
            <a:ext cx="12191695" cy="73152"/>
          </a:xfrm>
          <a:prstGeom prst="rect">
            <a:avLst/>
          </a:prstGeom>
          <a:solidFill>
            <a:srgbClr val="42B8D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20040"/>
            <a:ext cx="10972800" cy="274320"/>
          </a:xfrm>
          <a:prstGeom prst="rect">
            <a:avLst/>
          </a:prstGeom>
          <a:noFill/>
        </p:spPr>
        <p:txBody>
          <a:bodyPr wrap="none">
            <a:spAutoFit/>
          </a:bodyPr>
          <a:lstStyle/>
          <a:p>
            <a:pPr>
              <a:defRPr sz="1100" b="1">
                <a:solidFill>
                  <a:srgbClr val="A5B2C1"/>
                </a:solidFill>
              </a:defRPr>
            </a:pPr>
            <a:r>
              <a:t>SYSTEMS PROGRAMMING AND MACHINE ORGANIZATION     ·     CHARLES DORNER</a:t>
            </a:r>
          </a:p>
        </p:txBody>
      </p:sp>
      <p:sp>
        <p:nvSpPr>
          <p:cNvPr id="4" name="TextBox 3"/>
          <p:cNvSpPr txBox="1"/>
          <p:nvPr/>
        </p:nvSpPr>
        <p:spPr>
          <a:xfrm>
            <a:off x="594360" y="822960"/>
            <a:ext cx="10972800" cy="914400"/>
          </a:xfrm>
          <a:prstGeom prst="rect">
            <a:avLst/>
          </a:prstGeom>
          <a:noFill/>
        </p:spPr>
        <p:txBody>
          <a:bodyPr wrap="none">
            <a:spAutoFit/>
          </a:bodyPr>
          <a:lstStyle/>
          <a:p>
            <a:pPr>
              <a:defRPr sz="2500" b="1">
                <a:solidFill>
                  <a:srgbClr val="F2F5F8"/>
                </a:solidFill>
              </a:defRPr>
            </a:pPr>
            <a:r>
              <a:t>Worked example — Decode status, not bit guesses — Deep Dive</a:t>
            </a:r>
          </a:p>
        </p:txBody>
      </p:sp>
      <p:sp>
        <p:nvSpPr>
          <p:cNvPr id="5" name="TextBox 4"/>
          <p:cNvSpPr txBox="1"/>
          <p:nvPr/>
        </p:nvSpPr>
        <p:spPr>
          <a:xfrm>
            <a:off x="612648" y="1600200"/>
            <a:ext cx="10698480" cy="365760"/>
          </a:xfrm>
          <a:prstGeom prst="rect">
            <a:avLst/>
          </a:prstGeom>
          <a:noFill/>
        </p:spPr>
        <p:txBody>
          <a:bodyPr wrap="none">
            <a:spAutoFit/>
          </a:bodyPr>
          <a:lstStyle/>
          <a:p>
            <a:pPr>
              <a:defRPr sz="1300" b="1">
                <a:solidFill>
                  <a:srgbClr val="42B8D5"/>
                </a:solidFill>
              </a:defRPr>
            </a:pPr>
            <a:r>
              <a:t>WORKED EXAMPLE &amp; INTERPRETATION</a:t>
            </a:r>
          </a:p>
        </p:txBody>
      </p:sp>
      <p:sp>
        <p:nvSpPr>
          <p:cNvPr id="6" name="Rounded Rectangle 5"/>
          <p:cNvSpPr/>
          <p:nvPr/>
        </p:nvSpPr>
        <p:spPr>
          <a:xfrm>
            <a:off x="594360" y="2148840"/>
            <a:ext cx="10972800" cy="3840480"/>
          </a:xfrm>
          <a:prstGeom prst="roundRect">
            <a:avLst/>
          </a:prstGeom>
          <a:solidFill>
            <a:srgbClr val="141E2B"/>
          </a:solidFill>
          <a:ln>
            <a:solidFill>
              <a:srgbClr val="2F3E4E"/>
            </a:solidFill>
          </a:ln>
        </p:spPr>
        <p:style>
          <a:lnRef idx="1">
            <a:schemeClr val="accent1"/>
          </a:lnRef>
          <a:fillRef idx="3">
            <a:schemeClr val="accent1"/>
          </a:fillRef>
          <a:effectRef idx="2">
            <a:schemeClr val="accent1"/>
          </a:effectRef>
          <a:fontRef idx="minor">
            <a:schemeClr val="lt1"/>
          </a:fontRef>
        </p:style>
        <p:txBody>
          <a:bodyPr rtlCol="0" anchor="ctr" lIns="320040" rIns="274320" tIns="228600"/>
          <a:lstStyle/>
          <a:p>
            <a:pPr algn="ctr">
              <a:spcAft>
                <a:spcPts val="1100"/>
              </a:spcAft>
              <a:defRPr sz="1900">
                <a:solidFill>
                  <a:srgbClr val="F2F5F8"/>
                </a:solidFill>
              </a:defRPr>
            </a:pPr>
            <a:r>
              <a:t>• Companion listing: ch39/status.c</a:t>
            </a:r>
          </a:p>
          <a:p>
            <a:pPr>
              <a:spcAft>
                <a:spcPts val="1100"/>
              </a:spcAft>
              <a:defRPr sz="1900">
                <a:solidFill>
                  <a:srgbClr val="F2F5F8"/>
                </a:solidFill>
              </a:defRPr>
            </a:pPr>
            <a:r>
              <a:t>• The expected output is exit=23 .</a:t>
            </a:r>
          </a:p>
          <a:p>
            <a:pPr>
              <a:spcAft>
                <a:spcPts val="1100"/>
              </a:spcAft>
              <a:defRPr sz="1900">
                <a:solidFill>
                  <a:srgbClr val="F2F5F8"/>
                </a:solidFill>
              </a:defRPr>
            </a:pPr>
            <a:r>
              <a:t>• The parent’s own success status is zero because the child produced the expected test result.</a:t>
            </a:r>
          </a:p>
          <a:p>
            <a:pPr>
              <a:spcAft>
                <a:spcPts val="1100"/>
              </a:spcAft>
              <a:defRPr sz="1700">
                <a:solidFill>
                  <a:srgbClr val="F2F5F8"/>
                </a:solidFill>
              </a:defRPr>
            </a:pPr>
            <a:r>
              <a:t>• This distinction is useful in test harnesses: the tested program can intentionally return a nonzero value while the test passes by verifying that exact behavior.</a:t>
            </a:r>
          </a:p>
        </p:txBody>
      </p:sp>
      <p:sp>
        <p:nvSpPr>
          <p:cNvPr id="7" name="TextBox 6"/>
          <p:cNvSpPr txBox="1"/>
          <p:nvPr/>
        </p:nvSpPr>
        <p:spPr>
          <a:xfrm>
            <a:off x="612648" y="6309360"/>
            <a:ext cx="10698480" cy="228600"/>
          </a:xfrm>
          <a:prstGeom prst="rect">
            <a:avLst/>
          </a:prstGeom>
          <a:noFill/>
        </p:spPr>
        <p:txBody>
          <a:bodyPr wrap="none">
            <a:spAutoFit/>
          </a:bodyPr>
          <a:lstStyle/>
          <a:p>
            <a:pPr>
              <a:defRPr sz="1000">
                <a:solidFill>
                  <a:srgbClr val="A5B2C1"/>
                </a:solidFill>
              </a:defRPr>
            </a:pPr>
            <a:r>
              <a:t>CHAPTER 39     |     17</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bg>
      <p:bgPr>
        <a:solidFill>
          <a:srgbClr val="0B121C"/>
        </a:solidFill>
        <a:effectLst/>
      </p:bgPr>
    </p:bg>
    <p:spTree>
      <p:nvGrpSpPr>
        <p:cNvPr id="1" name=""/>
        <p:cNvGrpSpPr/>
        <p:nvPr/>
      </p:nvGrpSpPr>
      <p:grpSpPr/>
      <p:sp>
        <p:nvSpPr>
          <p:cNvPr id="2" name="Rectangle 1"/>
          <p:cNvSpPr/>
          <p:nvPr/>
        </p:nvSpPr>
        <p:spPr>
          <a:xfrm>
            <a:off x="0" y="0"/>
            <a:ext cx="12191695" cy="73152"/>
          </a:xfrm>
          <a:prstGeom prst="rect">
            <a:avLst/>
          </a:prstGeom>
          <a:solidFill>
            <a:srgbClr val="42B8D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20040"/>
            <a:ext cx="10972800" cy="274320"/>
          </a:xfrm>
          <a:prstGeom prst="rect">
            <a:avLst/>
          </a:prstGeom>
          <a:noFill/>
        </p:spPr>
        <p:txBody>
          <a:bodyPr wrap="none">
            <a:spAutoFit/>
          </a:bodyPr>
          <a:lstStyle/>
          <a:p>
            <a:pPr>
              <a:defRPr sz="1100" b="1">
                <a:solidFill>
                  <a:srgbClr val="A5B2C1"/>
                </a:solidFill>
              </a:defRPr>
            </a:pPr>
            <a:r>
              <a:t>SYSTEMS PROGRAMMING AND MACHINE ORGANIZATION     ·     CHARLES DORNER</a:t>
            </a:r>
          </a:p>
        </p:txBody>
      </p:sp>
      <p:sp>
        <p:nvSpPr>
          <p:cNvPr id="4" name="TextBox 3"/>
          <p:cNvSpPr txBox="1"/>
          <p:nvPr/>
        </p:nvSpPr>
        <p:spPr>
          <a:xfrm>
            <a:off x="594360" y="822960"/>
            <a:ext cx="10972800" cy="914400"/>
          </a:xfrm>
          <a:prstGeom prst="rect">
            <a:avLst/>
          </a:prstGeom>
          <a:noFill/>
        </p:spPr>
        <p:txBody>
          <a:bodyPr wrap="none">
            <a:spAutoFit/>
          </a:bodyPr>
          <a:lstStyle/>
          <a:p>
            <a:pPr>
              <a:defRPr sz="3000" b="1">
                <a:solidFill>
                  <a:srgbClr val="F2F5F8"/>
                </a:solidFill>
              </a:defRPr>
            </a:pPr>
            <a:r>
              <a:t>Worked example — Reaping a child</a:t>
            </a:r>
          </a:p>
        </p:txBody>
      </p:sp>
      <p:sp>
        <p:nvSpPr>
          <p:cNvPr id="5" name="TextBox 4"/>
          <p:cNvSpPr txBox="1"/>
          <p:nvPr/>
        </p:nvSpPr>
        <p:spPr>
          <a:xfrm>
            <a:off x="612648" y="1600200"/>
            <a:ext cx="10698480" cy="365760"/>
          </a:xfrm>
          <a:prstGeom prst="rect">
            <a:avLst/>
          </a:prstGeom>
          <a:noFill/>
        </p:spPr>
        <p:txBody>
          <a:bodyPr wrap="none">
            <a:spAutoFit/>
          </a:bodyPr>
          <a:lstStyle/>
          <a:p>
            <a:pPr>
              <a:defRPr sz="1300" b="1">
                <a:solidFill>
                  <a:srgbClr val="42B8D5"/>
                </a:solidFill>
              </a:defRPr>
            </a:pPr>
            <a:r>
              <a:t>SOURCE TOPIC</a:t>
            </a:r>
          </a:p>
        </p:txBody>
      </p:sp>
      <p:sp>
        <p:nvSpPr>
          <p:cNvPr id="6" name="Rounded Rectangle 5"/>
          <p:cNvSpPr/>
          <p:nvPr/>
        </p:nvSpPr>
        <p:spPr>
          <a:xfrm>
            <a:off x="594360" y="2148840"/>
            <a:ext cx="10972800" cy="3840480"/>
          </a:xfrm>
          <a:prstGeom prst="roundRect">
            <a:avLst/>
          </a:prstGeom>
          <a:solidFill>
            <a:srgbClr val="141E2B"/>
          </a:solidFill>
          <a:ln>
            <a:solidFill>
              <a:srgbClr val="2F3E4E"/>
            </a:solidFill>
          </a:ln>
        </p:spPr>
        <p:style>
          <a:lnRef idx="1">
            <a:schemeClr val="accent1"/>
          </a:lnRef>
          <a:fillRef idx="3">
            <a:schemeClr val="accent1"/>
          </a:fillRef>
          <a:effectRef idx="2">
            <a:schemeClr val="accent1"/>
          </a:effectRef>
          <a:fontRef idx="minor">
            <a:schemeClr val="lt1"/>
          </a:fontRef>
        </p:style>
        <p:txBody>
          <a:bodyPr rtlCol="0" anchor="ctr" lIns="320040" rIns="274320" tIns="228600"/>
          <a:lstStyle/>
          <a:p>
            <a:pPr algn="ctr">
              <a:spcAft>
                <a:spcPts val="1100"/>
              </a:spcAft>
              <a:defRPr sz="1700">
                <a:solidFill>
                  <a:srgbClr val="F2F5F8"/>
                </a:solidFill>
              </a:defRPr>
            </a:pPr>
            <a:r>
              <a:t>• When a child exits, the kernel retains a small amount of termination information so its parent can collect status with wait or waitpid .</a:t>
            </a:r>
          </a:p>
          <a:p>
            <a:pPr>
              <a:spcAft>
                <a:spcPts val="1100"/>
              </a:spcAft>
              <a:defRPr sz="1900">
                <a:solidFill>
                  <a:srgbClr val="F2F5F8"/>
                </a:solidFill>
              </a:defRPr>
            </a:pPr>
            <a:r>
              <a:t>• Until reaped, the child is a zombie: it is no longer executing but still occupies a process-table entry.</a:t>
            </a:r>
          </a:p>
          <a:p>
            <a:pPr>
              <a:spcAft>
                <a:spcPts val="1100"/>
              </a:spcAft>
              <a:defRPr sz="1900">
                <a:solidFill>
                  <a:srgbClr val="F2F5F8"/>
                </a:solidFill>
              </a:defRPr>
            </a:pPr>
            <a:r>
              <a:t>• Waiting releases that retained state.</a:t>
            </a:r>
          </a:p>
        </p:txBody>
      </p:sp>
      <p:sp>
        <p:nvSpPr>
          <p:cNvPr id="7" name="TextBox 6"/>
          <p:cNvSpPr txBox="1"/>
          <p:nvPr/>
        </p:nvSpPr>
        <p:spPr>
          <a:xfrm>
            <a:off x="612648" y="6309360"/>
            <a:ext cx="10698480" cy="228600"/>
          </a:xfrm>
          <a:prstGeom prst="rect">
            <a:avLst/>
          </a:prstGeom>
          <a:noFill/>
        </p:spPr>
        <p:txBody>
          <a:bodyPr wrap="none">
            <a:spAutoFit/>
          </a:bodyPr>
          <a:lstStyle/>
          <a:p>
            <a:pPr>
              <a:defRPr sz="1000">
                <a:solidFill>
                  <a:srgbClr val="A5B2C1"/>
                </a:solidFill>
              </a:defRPr>
            </a:pPr>
            <a:r>
              <a:t>CHAPTER 39     |     18</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bg>
      <p:bgPr>
        <a:solidFill>
          <a:srgbClr val="0B121C"/>
        </a:solidFill>
        <a:effectLst/>
      </p:bgPr>
    </p:bg>
    <p:spTree>
      <p:nvGrpSpPr>
        <p:cNvPr id="1" name=""/>
        <p:cNvGrpSpPr/>
        <p:nvPr/>
      </p:nvGrpSpPr>
      <p:grpSpPr/>
      <p:sp>
        <p:nvSpPr>
          <p:cNvPr id="2" name="Rectangle 1"/>
          <p:cNvSpPr/>
          <p:nvPr/>
        </p:nvSpPr>
        <p:spPr>
          <a:xfrm>
            <a:off x="0" y="0"/>
            <a:ext cx="12191695" cy="73152"/>
          </a:xfrm>
          <a:prstGeom prst="rect">
            <a:avLst/>
          </a:prstGeom>
          <a:solidFill>
            <a:srgbClr val="42B8D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20040"/>
            <a:ext cx="10972800" cy="274320"/>
          </a:xfrm>
          <a:prstGeom prst="rect">
            <a:avLst/>
          </a:prstGeom>
          <a:noFill/>
        </p:spPr>
        <p:txBody>
          <a:bodyPr wrap="none">
            <a:spAutoFit/>
          </a:bodyPr>
          <a:lstStyle/>
          <a:p>
            <a:pPr>
              <a:defRPr sz="1100" b="1">
                <a:solidFill>
                  <a:srgbClr val="A5B2C1"/>
                </a:solidFill>
              </a:defRPr>
            </a:pPr>
            <a:r>
              <a:t>SYSTEMS PROGRAMMING AND MACHINE ORGANIZATION     ·     CHARLES DORNER</a:t>
            </a:r>
          </a:p>
        </p:txBody>
      </p:sp>
      <p:sp>
        <p:nvSpPr>
          <p:cNvPr id="4" name="TextBox 3"/>
          <p:cNvSpPr txBox="1"/>
          <p:nvPr/>
        </p:nvSpPr>
        <p:spPr>
          <a:xfrm>
            <a:off x="594360" y="822960"/>
            <a:ext cx="10972800" cy="914400"/>
          </a:xfrm>
          <a:prstGeom prst="rect">
            <a:avLst/>
          </a:prstGeom>
          <a:noFill/>
        </p:spPr>
        <p:txBody>
          <a:bodyPr wrap="none">
            <a:spAutoFit/>
          </a:bodyPr>
          <a:lstStyle/>
          <a:p>
            <a:pPr>
              <a:defRPr sz="3000" b="1">
                <a:solidFill>
                  <a:srgbClr val="F2F5F8"/>
                </a:solidFill>
              </a:defRPr>
            </a:pPr>
            <a:r>
              <a:t>Worked example — Reaping a child — Deep Dive</a:t>
            </a:r>
          </a:p>
        </p:txBody>
      </p:sp>
      <p:sp>
        <p:nvSpPr>
          <p:cNvPr id="5" name="TextBox 4"/>
          <p:cNvSpPr txBox="1"/>
          <p:nvPr/>
        </p:nvSpPr>
        <p:spPr>
          <a:xfrm>
            <a:off x="612648" y="1600200"/>
            <a:ext cx="10698480" cy="365760"/>
          </a:xfrm>
          <a:prstGeom prst="rect">
            <a:avLst/>
          </a:prstGeom>
          <a:noFill/>
        </p:spPr>
        <p:txBody>
          <a:bodyPr wrap="none">
            <a:spAutoFit/>
          </a:bodyPr>
          <a:lstStyle/>
          <a:p>
            <a:pPr>
              <a:defRPr sz="1300" b="1">
                <a:solidFill>
                  <a:srgbClr val="42B8D5"/>
                </a:solidFill>
              </a:defRPr>
            </a:pPr>
            <a:r>
              <a:t>WORKED EXAMPLE &amp; INTERPRETATION</a:t>
            </a:r>
          </a:p>
        </p:txBody>
      </p:sp>
      <p:sp>
        <p:nvSpPr>
          <p:cNvPr id="6" name="Rounded Rectangle 5"/>
          <p:cNvSpPr/>
          <p:nvPr/>
        </p:nvSpPr>
        <p:spPr>
          <a:xfrm>
            <a:off x="594360" y="2148840"/>
            <a:ext cx="10972800" cy="3840480"/>
          </a:xfrm>
          <a:prstGeom prst="roundRect">
            <a:avLst/>
          </a:prstGeom>
          <a:solidFill>
            <a:srgbClr val="141E2B"/>
          </a:solidFill>
          <a:ln>
            <a:solidFill>
              <a:srgbClr val="2F3E4E"/>
            </a:solidFill>
          </a:ln>
        </p:spPr>
        <p:style>
          <a:lnRef idx="1">
            <a:schemeClr val="accent1"/>
          </a:lnRef>
          <a:fillRef idx="3">
            <a:schemeClr val="accent1"/>
          </a:fillRef>
          <a:effectRef idx="2">
            <a:schemeClr val="accent1"/>
          </a:effectRef>
          <a:fontRef idx="minor">
            <a:schemeClr val="lt1"/>
          </a:fontRef>
        </p:style>
        <p:txBody>
          <a:bodyPr rtlCol="0" anchor="ctr" lIns="320040" rIns="274320" tIns="228600"/>
          <a:lstStyle/>
          <a:p>
            <a:pPr algn="ctr">
              <a:spcAft>
                <a:spcPts val="1100"/>
              </a:spcAft>
              <a:defRPr sz="1700">
                <a:solidFill>
                  <a:srgbClr val="F2F5F8"/>
                </a:solidFill>
              </a:defRPr>
            </a:pPr>
            <a:r>
              <a:t>• When a child exits, the kernel retains a small amount of termination information so its parent can collect status with wait or waitpid .</a:t>
            </a:r>
          </a:p>
          <a:p>
            <a:pPr>
              <a:spcAft>
                <a:spcPts val="1100"/>
              </a:spcAft>
              <a:defRPr sz="1900">
                <a:solidFill>
                  <a:srgbClr val="F2F5F8"/>
                </a:solidFill>
              </a:defRPr>
            </a:pPr>
            <a:r>
              <a:t>• Until reaped, the child is a zombie: it is no longer executing but still occupies a process-table entry.</a:t>
            </a:r>
          </a:p>
          <a:p>
            <a:pPr>
              <a:spcAft>
                <a:spcPts val="1100"/>
              </a:spcAft>
              <a:defRPr sz="1900">
                <a:solidFill>
                  <a:srgbClr val="F2F5F8"/>
                </a:solidFill>
              </a:defRPr>
            </a:pPr>
            <a:r>
              <a:t>• Waiting releases that retained state.</a:t>
            </a:r>
          </a:p>
        </p:txBody>
      </p:sp>
      <p:sp>
        <p:nvSpPr>
          <p:cNvPr id="7" name="TextBox 6"/>
          <p:cNvSpPr txBox="1"/>
          <p:nvPr/>
        </p:nvSpPr>
        <p:spPr>
          <a:xfrm>
            <a:off x="612648" y="6309360"/>
            <a:ext cx="10698480" cy="228600"/>
          </a:xfrm>
          <a:prstGeom prst="rect">
            <a:avLst/>
          </a:prstGeom>
          <a:noFill/>
        </p:spPr>
        <p:txBody>
          <a:bodyPr wrap="none">
            <a:spAutoFit/>
          </a:bodyPr>
          <a:lstStyle/>
          <a:p>
            <a:pPr>
              <a:defRPr sz="1000">
                <a:solidFill>
                  <a:srgbClr val="A5B2C1"/>
                </a:solidFill>
              </a:defRPr>
            </a:pPr>
            <a:r>
              <a:t>CHAPTER 39     |     19</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bg>
      <p:bgPr>
        <a:solidFill>
          <a:srgbClr val="0B121C"/>
        </a:solidFill>
        <a:effectLst/>
      </p:bgPr>
    </p:bg>
    <p:spTree>
      <p:nvGrpSpPr>
        <p:cNvPr id="1" name=""/>
        <p:cNvGrpSpPr/>
        <p:nvPr/>
      </p:nvGrpSpPr>
      <p:grpSpPr/>
      <p:sp>
        <p:nvSpPr>
          <p:cNvPr id="2" name="Rectangle 1"/>
          <p:cNvSpPr/>
          <p:nvPr/>
        </p:nvSpPr>
        <p:spPr>
          <a:xfrm>
            <a:off x="0" y="0"/>
            <a:ext cx="12191695" cy="73152"/>
          </a:xfrm>
          <a:prstGeom prst="rect">
            <a:avLst/>
          </a:prstGeom>
          <a:solidFill>
            <a:srgbClr val="42B8D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20040"/>
            <a:ext cx="10972800" cy="274320"/>
          </a:xfrm>
          <a:prstGeom prst="rect">
            <a:avLst/>
          </a:prstGeom>
          <a:noFill/>
        </p:spPr>
        <p:txBody>
          <a:bodyPr wrap="none">
            <a:spAutoFit/>
          </a:bodyPr>
          <a:lstStyle/>
          <a:p>
            <a:pPr>
              <a:defRPr sz="1100" b="1">
                <a:solidFill>
                  <a:srgbClr val="A5B2C1"/>
                </a:solidFill>
              </a:defRPr>
            </a:pPr>
            <a:r>
              <a:t>SYSTEMS PROGRAMMING AND MACHINE ORGANIZATION     ·     CHARLES DORNER</a:t>
            </a:r>
          </a:p>
        </p:txBody>
      </p:sp>
      <p:sp>
        <p:nvSpPr>
          <p:cNvPr id="4" name="TextBox 3"/>
          <p:cNvSpPr txBox="1"/>
          <p:nvPr/>
        </p:nvSpPr>
        <p:spPr>
          <a:xfrm>
            <a:off x="594360" y="822960"/>
            <a:ext cx="10972800" cy="914400"/>
          </a:xfrm>
          <a:prstGeom prst="rect">
            <a:avLst/>
          </a:prstGeom>
          <a:noFill/>
        </p:spPr>
        <p:txBody>
          <a:bodyPr wrap="none">
            <a:spAutoFit/>
          </a:bodyPr>
          <a:lstStyle/>
          <a:p>
            <a:pPr>
              <a:defRPr sz="3000" b="1">
                <a:solidFill>
                  <a:srgbClr val="F2F5F8"/>
                </a:solidFill>
              </a:defRPr>
            </a:pPr>
            <a:r>
              <a:t>Worked example — Decoding success and failure</a:t>
            </a:r>
          </a:p>
        </p:txBody>
      </p:sp>
      <p:sp>
        <p:nvSpPr>
          <p:cNvPr id="5" name="TextBox 4"/>
          <p:cNvSpPr txBox="1"/>
          <p:nvPr/>
        </p:nvSpPr>
        <p:spPr>
          <a:xfrm>
            <a:off x="612648" y="1600200"/>
            <a:ext cx="10698480" cy="365760"/>
          </a:xfrm>
          <a:prstGeom prst="rect">
            <a:avLst/>
          </a:prstGeom>
          <a:noFill/>
        </p:spPr>
        <p:txBody>
          <a:bodyPr wrap="none">
            <a:spAutoFit/>
          </a:bodyPr>
          <a:lstStyle/>
          <a:p>
            <a:pPr>
              <a:defRPr sz="1300" b="1">
                <a:solidFill>
                  <a:srgbClr val="42B8D5"/>
                </a:solidFill>
              </a:defRPr>
            </a:pPr>
            <a:r>
              <a:t>SOURCE TOPIC</a:t>
            </a:r>
          </a:p>
        </p:txBody>
      </p:sp>
      <p:sp>
        <p:nvSpPr>
          <p:cNvPr id="6" name="Rounded Rectangle 5"/>
          <p:cNvSpPr/>
          <p:nvPr/>
        </p:nvSpPr>
        <p:spPr>
          <a:xfrm>
            <a:off x="594360" y="2148840"/>
            <a:ext cx="10972800" cy="3840480"/>
          </a:xfrm>
          <a:prstGeom prst="roundRect">
            <a:avLst/>
          </a:prstGeom>
          <a:solidFill>
            <a:srgbClr val="141E2B"/>
          </a:solidFill>
          <a:ln>
            <a:solidFill>
              <a:srgbClr val="2F3E4E"/>
            </a:solidFill>
          </a:ln>
        </p:spPr>
        <p:style>
          <a:lnRef idx="1">
            <a:schemeClr val="accent1"/>
          </a:lnRef>
          <a:fillRef idx="3">
            <a:schemeClr val="accent1"/>
          </a:fillRef>
          <a:effectRef idx="2">
            <a:schemeClr val="accent1"/>
          </a:effectRef>
          <a:fontRef idx="minor">
            <a:schemeClr val="lt1"/>
          </a:fontRef>
        </p:style>
        <p:txBody>
          <a:bodyPr rtlCol="0" anchor="ctr" lIns="320040" rIns="274320" tIns="228600"/>
          <a:lstStyle/>
          <a:p>
            <a:pPr algn="ctr">
              <a:spcAft>
                <a:spcPts val="1100"/>
              </a:spcAft>
              <a:defRPr sz="1900">
                <a:solidFill>
                  <a:srgbClr val="F2F5F8"/>
                </a:solidFill>
              </a:defRPr>
            </a:pPr>
            <a:r>
              <a:t>• A child that executes exit(3) communicates an exit status distinct from termination by a signal.</a:t>
            </a:r>
          </a:p>
          <a:p>
            <a:pPr>
              <a:spcAft>
                <a:spcPts val="1100"/>
              </a:spcAft>
              <a:defRPr sz="1700">
                <a:solidFill>
                  <a:srgbClr val="F2F5F8"/>
                </a:solidFill>
              </a:defRPr>
            </a:pPr>
            <a:r>
              <a:t>• Portable parent code uses the wait-status macros rather than assuming the raw integer returned by waitpid equals the child’s exit code.</a:t>
            </a:r>
          </a:p>
          <a:p>
            <a:pPr>
              <a:spcAft>
                <a:spcPts val="1100"/>
              </a:spcAft>
              <a:defRPr sz="1900">
                <a:solidFill>
                  <a:srgbClr val="F2F5F8"/>
                </a:solidFill>
              </a:defRPr>
            </a:pPr>
            <a:r>
              <a:t>• The raw status encodes multiple termination cases.</a:t>
            </a:r>
          </a:p>
        </p:txBody>
      </p:sp>
      <p:sp>
        <p:nvSpPr>
          <p:cNvPr id="7" name="TextBox 6"/>
          <p:cNvSpPr txBox="1"/>
          <p:nvPr/>
        </p:nvSpPr>
        <p:spPr>
          <a:xfrm>
            <a:off x="612648" y="6309360"/>
            <a:ext cx="10698480" cy="228600"/>
          </a:xfrm>
          <a:prstGeom prst="rect">
            <a:avLst/>
          </a:prstGeom>
          <a:noFill/>
        </p:spPr>
        <p:txBody>
          <a:bodyPr wrap="none">
            <a:spAutoFit/>
          </a:bodyPr>
          <a:lstStyle/>
          <a:p>
            <a:pPr>
              <a:defRPr sz="1000">
                <a:solidFill>
                  <a:srgbClr val="A5B2C1"/>
                </a:solidFill>
              </a:defRPr>
            </a:pPr>
            <a:r>
              <a:t>CHAPTER 39     |     20</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bg>
      <p:bgPr>
        <a:solidFill>
          <a:srgbClr val="0B121C"/>
        </a:solidFill>
        <a:effectLst/>
      </p:bgPr>
    </p:bg>
    <p:spTree>
      <p:nvGrpSpPr>
        <p:cNvPr id="1" name=""/>
        <p:cNvGrpSpPr/>
        <p:nvPr/>
      </p:nvGrpSpPr>
      <p:grpSpPr/>
      <p:sp>
        <p:nvSpPr>
          <p:cNvPr id="2" name="Rectangle 1"/>
          <p:cNvSpPr/>
          <p:nvPr/>
        </p:nvSpPr>
        <p:spPr>
          <a:xfrm>
            <a:off x="0" y="0"/>
            <a:ext cx="12191695" cy="73152"/>
          </a:xfrm>
          <a:prstGeom prst="rect">
            <a:avLst/>
          </a:prstGeom>
          <a:solidFill>
            <a:srgbClr val="42B8D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20040"/>
            <a:ext cx="10972800" cy="274320"/>
          </a:xfrm>
          <a:prstGeom prst="rect">
            <a:avLst/>
          </a:prstGeom>
          <a:noFill/>
        </p:spPr>
        <p:txBody>
          <a:bodyPr wrap="none">
            <a:spAutoFit/>
          </a:bodyPr>
          <a:lstStyle/>
          <a:p>
            <a:pPr>
              <a:defRPr sz="1100" b="1">
                <a:solidFill>
                  <a:srgbClr val="A5B2C1"/>
                </a:solidFill>
              </a:defRPr>
            </a:pPr>
            <a:r>
              <a:t>SYSTEMS PROGRAMMING AND MACHINE ORGANIZATION     ·     CHARLES DORNER</a:t>
            </a:r>
          </a:p>
        </p:txBody>
      </p:sp>
      <p:sp>
        <p:nvSpPr>
          <p:cNvPr id="4" name="TextBox 3"/>
          <p:cNvSpPr txBox="1"/>
          <p:nvPr/>
        </p:nvSpPr>
        <p:spPr>
          <a:xfrm>
            <a:off x="594360" y="822960"/>
            <a:ext cx="10972800" cy="914400"/>
          </a:xfrm>
          <a:prstGeom prst="rect">
            <a:avLst/>
          </a:prstGeom>
          <a:noFill/>
        </p:spPr>
        <p:txBody>
          <a:bodyPr wrap="none">
            <a:spAutoFit/>
          </a:bodyPr>
          <a:lstStyle/>
          <a:p>
            <a:pPr>
              <a:defRPr sz="2500" b="1">
                <a:solidFill>
                  <a:srgbClr val="F2F5F8"/>
                </a:solidFill>
              </a:defRPr>
            </a:pPr>
            <a:r>
              <a:t>Worked example — Decoding success and failure — Deep Dive</a:t>
            </a:r>
          </a:p>
        </p:txBody>
      </p:sp>
      <p:sp>
        <p:nvSpPr>
          <p:cNvPr id="5" name="TextBox 4"/>
          <p:cNvSpPr txBox="1"/>
          <p:nvPr/>
        </p:nvSpPr>
        <p:spPr>
          <a:xfrm>
            <a:off x="612648" y="1600200"/>
            <a:ext cx="10698480" cy="365760"/>
          </a:xfrm>
          <a:prstGeom prst="rect">
            <a:avLst/>
          </a:prstGeom>
          <a:noFill/>
        </p:spPr>
        <p:txBody>
          <a:bodyPr wrap="none">
            <a:spAutoFit/>
          </a:bodyPr>
          <a:lstStyle/>
          <a:p>
            <a:pPr>
              <a:defRPr sz="1300" b="1">
                <a:solidFill>
                  <a:srgbClr val="42B8D5"/>
                </a:solidFill>
              </a:defRPr>
            </a:pPr>
            <a:r>
              <a:t>WORKED EXAMPLE &amp; INTERPRETATION</a:t>
            </a:r>
          </a:p>
        </p:txBody>
      </p:sp>
      <p:sp>
        <p:nvSpPr>
          <p:cNvPr id="6" name="Rounded Rectangle 5"/>
          <p:cNvSpPr/>
          <p:nvPr/>
        </p:nvSpPr>
        <p:spPr>
          <a:xfrm>
            <a:off x="594360" y="2148840"/>
            <a:ext cx="10972800" cy="3840480"/>
          </a:xfrm>
          <a:prstGeom prst="roundRect">
            <a:avLst/>
          </a:prstGeom>
          <a:solidFill>
            <a:srgbClr val="141E2B"/>
          </a:solidFill>
          <a:ln>
            <a:solidFill>
              <a:srgbClr val="2F3E4E"/>
            </a:solidFill>
          </a:ln>
        </p:spPr>
        <p:style>
          <a:lnRef idx="1">
            <a:schemeClr val="accent1"/>
          </a:lnRef>
          <a:fillRef idx="3">
            <a:schemeClr val="accent1"/>
          </a:fillRef>
          <a:effectRef idx="2">
            <a:schemeClr val="accent1"/>
          </a:effectRef>
          <a:fontRef idx="minor">
            <a:schemeClr val="lt1"/>
          </a:fontRef>
        </p:style>
        <p:txBody>
          <a:bodyPr rtlCol="0" anchor="ctr" lIns="320040" rIns="274320" tIns="228600"/>
          <a:lstStyle/>
          <a:p>
            <a:pPr algn="ctr">
              <a:spcAft>
                <a:spcPts val="1100"/>
              </a:spcAft>
              <a:defRPr sz="1900">
                <a:solidFill>
                  <a:srgbClr val="F2F5F8"/>
                </a:solidFill>
              </a:defRPr>
            </a:pPr>
            <a:r>
              <a:t>• A child that executes exit(3) communicates an exit status distinct from termination by a signal.</a:t>
            </a:r>
          </a:p>
          <a:p>
            <a:pPr>
              <a:spcAft>
                <a:spcPts val="1100"/>
              </a:spcAft>
              <a:defRPr sz="1700">
                <a:solidFill>
                  <a:srgbClr val="F2F5F8"/>
                </a:solidFill>
              </a:defRPr>
            </a:pPr>
            <a:r>
              <a:t>• Portable parent code uses the wait-status macros rather than assuming the raw integer returned by waitpid equals the child’s exit code.</a:t>
            </a:r>
          </a:p>
          <a:p>
            <a:pPr>
              <a:spcAft>
                <a:spcPts val="1100"/>
              </a:spcAft>
              <a:defRPr sz="1900">
                <a:solidFill>
                  <a:srgbClr val="F2F5F8"/>
                </a:solidFill>
              </a:defRPr>
            </a:pPr>
            <a:r>
              <a:t>• The raw status encodes multiple termination cases.</a:t>
            </a:r>
          </a:p>
        </p:txBody>
      </p:sp>
      <p:sp>
        <p:nvSpPr>
          <p:cNvPr id="7" name="TextBox 6"/>
          <p:cNvSpPr txBox="1"/>
          <p:nvPr/>
        </p:nvSpPr>
        <p:spPr>
          <a:xfrm>
            <a:off x="612648" y="6309360"/>
            <a:ext cx="10698480" cy="228600"/>
          </a:xfrm>
          <a:prstGeom prst="rect">
            <a:avLst/>
          </a:prstGeom>
          <a:noFill/>
        </p:spPr>
        <p:txBody>
          <a:bodyPr wrap="none">
            <a:spAutoFit/>
          </a:bodyPr>
          <a:lstStyle/>
          <a:p>
            <a:pPr>
              <a:defRPr sz="1000">
                <a:solidFill>
                  <a:srgbClr val="A5B2C1"/>
                </a:solidFill>
              </a:defRPr>
            </a:pPr>
            <a:r>
              <a:t>CHAPTER 39     |     21</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bg>
      <p:bgPr>
        <a:solidFill>
          <a:srgbClr val="0B121C"/>
        </a:solidFill>
        <a:effectLst/>
      </p:bgPr>
    </p:bg>
    <p:spTree>
      <p:nvGrpSpPr>
        <p:cNvPr id="1" name=""/>
        <p:cNvGrpSpPr/>
        <p:nvPr/>
      </p:nvGrpSpPr>
      <p:grpSpPr/>
      <p:sp>
        <p:nvSpPr>
          <p:cNvPr id="2" name="Rectangle 1"/>
          <p:cNvSpPr/>
          <p:nvPr/>
        </p:nvSpPr>
        <p:spPr>
          <a:xfrm>
            <a:off x="0" y="0"/>
            <a:ext cx="12191695" cy="73152"/>
          </a:xfrm>
          <a:prstGeom prst="rect">
            <a:avLst/>
          </a:prstGeom>
          <a:solidFill>
            <a:srgbClr val="42B8D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20040"/>
            <a:ext cx="10972800" cy="274320"/>
          </a:xfrm>
          <a:prstGeom prst="rect">
            <a:avLst/>
          </a:prstGeom>
          <a:noFill/>
        </p:spPr>
        <p:txBody>
          <a:bodyPr wrap="none">
            <a:spAutoFit/>
          </a:bodyPr>
          <a:lstStyle/>
          <a:p>
            <a:pPr>
              <a:defRPr sz="1100" b="1">
                <a:solidFill>
                  <a:srgbClr val="A5B2C1"/>
                </a:solidFill>
              </a:defRPr>
            </a:pPr>
            <a:r>
              <a:t>SYSTEMS PROGRAMMING AND MACHINE ORGANIZATION     ·     CHARLES DORNER</a:t>
            </a:r>
          </a:p>
        </p:txBody>
      </p:sp>
      <p:sp>
        <p:nvSpPr>
          <p:cNvPr id="4" name="TextBox 3"/>
          <p:cNvSpPr txBox="1"/>
          <p:nvPr/>
        </p:nvSpPr>
        <p:spPr>
          <a:xfrm>
            <a:off x="594360" y="822960"/>
            <a:ext cx="10972800" cy="914400"/>
          </a:xfrm>
          <a:prstGeom prst="rect">
            <a:avLst/>
          </a:prstGeom>
          <a:noFill/>
        </p:spPr>
        <p:txBody>
          <a:bodyPr wrap="none">
            <a:spAutoFit/>
          </a:bodyPr>
          <a:lstStyle/>
          <a:p>
            <a:pPr>
              <a:defRPr sz="3000" b="1">
                <a:solidFill>
                  <a:srgbClr val="F2F5F8"/>
                </a:solidFill>
              </a:defRPr>
            </a:pPr>
            <a:r>
              <a:t>Guided lab and review</a:t>
            </a:r>
          </a:p>
        </p:txBody>
      </p:sp>
      <p:sp>
        <p:nvSpPr>
          <p:cNvPr id="5" name="TextBox 4"/>
          <p:cNvSpPr txBox="1"/>
          <p:nvPr/>
        </p:nvSpPr>
        <p:spPr>
          <a:xfrm>
            <a:off x="612648" y="1600200"/>
            <a:ext cx="10698480" cy="365760"/>
          </a:xfrm>
          <a:prstGeom prst="rect">
            <a:avLst/>
          </a:prstGeom>
          <a:noFill/>
        </p:spPr>
        <p:txBody>
          <a:bodyPr wrap="none">
            <a:spAutoFit/>
          </a:bodyPr>
          <a:lstStyle/>
          <a:p>
            <a:pPr>
              <a:defRPr sz="1300" b="1">
                <a:solidFill>
                  <a:srgbClr val="42B8D5"/>
                </a:solidFill>
              </a:defRPr>
            </a:pPr>
            <a:r>
              <a:t>SOURCE TOPIC</a:t>
            </a:r>
          </a:p>
        </p:txBody>
      </p:sp>
      <p:sp>
        <p:nvSpPr>
          <p:cNvPr id="6" name="Rounded Rectangle 5"/>
          <p:cNvSpPr/>
          <p:nvPr/>
        </p:nvSpPr>
        <p:spPr>
          <a:xfrm>
            <a:off x="594360" y="2148840"/>
            <a:ext cx="10972800" cy="3840480"/>
          </a:xfrm>
          <a:prstGeom prst="roundRect">
            <a:avLst/>
          </a:prstGeom>
          <a:solidFill>
            <a:srgbClr val="141E2B"/>
          </a:solidFill>
          <a:ln>
            <a:solidFill>
              <a:srgbClr val="2F3E4E"/>
            </a:solidFill>
          </a:ln>
        </p:spPr>
        <p:style>
          <a:lnRef idx="1">
            <a:schemeClr val="accent1"/>
          </a:lnRef>
          <a:fillRef idx="3">
            <a:schemeClr val="accent1"/>
          </a:fillRef>
          <a:effectRef idx="2">
            <a:schemeClr val="accent1"/>
          </a:effectRef>
          <a:fontRef idx="minor">
            <a:schemeClr val="lt1"/>
          </a:fontRef>
        </p:style>
        <p:txBody>
          <a:bodyPr rtlCol="0" anchor="ctr" lIns="320040" rIns="274320" tIns="228600"/>
          <a:lstStyle/>
          <a:p>
            <a:pPr algn="ctr">
              <a:spcAft>
                <a:spcPts val="1100"/>
              </a:spcAft>
              <a:defRPr sz="1900">
                <a:solidFill>
                  <a:srgbClr val="F2F5F8"/>
                </a:solidFill>
              </a:defRPr>
            </a:pPr>
            <a:r>
              <a:t>• Lab 39.</a:t>
            </a:r>
          </a:p>
          <a:p>
            <a:pPr>
              <a:spcAft>
                <a:spcPts val="1100"/>
              </a:spcAft>
              <a:defRPr sz="1900">
                <a:solidFill>
                  <a:srgbClr val="F2F5F8"/>
                </a:solidFill>
              </a:defRPr>
            </a:pPr>
            <a:r>
              <a:t>• Extend the parent to create three children with known small exit codes and collect all of them.</a:t>
            </a:r>
          </a:p>
          <a:p>
            <a:pPr>
              <a:spcAft>
                <a:spcPts val="1100"/>
              </a:spcAft>
              <a:defRPr sz="1900">
                <a:solidFill>
                  <a:srgbClr val="F2F5F8"/>
                </a:solidFill>
              </a:defRPr>
            </a:pPr>
            <a:r>
              <a:t>• Store each PID and match returned PIDs to expected results.</a:t>
            </a:r>
          </a:p>
          <a:p>
            <a:pPr>
              <a:spcAft>
                <a:spcPts val="1100"/>
              </a:spcAft>
              <a:defRPr sz="1900">
                <a:solidFill>
                  <a:srgbClr val="F2F5F8"/>
                </a:solidFill>
              </a:defRPr>
            </a:pPr>
            <a:r>
              <a:t>• Ensure the failure path reaps children that were already created before a later fork fails.</a:t>
            </a:r>
          </a:p>
        </p:txBody>
      </p:sp>
      <p:sp>
        <p:nvSpPr>
          <p:cNvPr id="7" name="TextBox 6"/>
          <p:cNvSpPr txBox="1"/>
          <p:nvPr/>
        </p:nvSpPr>
        <p:spPr>
          <a:xfrm>
            <a:off x="612648" y="6309360"/>
            <a:ext cx="10698480" cy="228600"/>
          </a:xfrm>
          <a:prstGeom prst="rect">
            <a:avLst/>
          </a:prstGeom>
          <a:noFill/>
        </p:spPr>
        <p:txBody>
          <a:bodyPr wrap="none">
            <a:spAutoFit/>
          </a:bodyPr>
          <a:lstStyle/>
          <a:p>
            <a:pPr>
              <a:defRPr sz="1000">
                <a:solidFill>
                  <a:srgbClr val="A5B2C1"/>
                </a:solidFill>
              </a:defRPr>
            </a:pPr>
            <a:r>
              <a:t>CHAPTER 39     |     22</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bg>
      <p:bgPr>
        <a:solidFill>
          <a:srgbClr val="0B121C"/>
        </a:solidFill>
        <a:effectLst/>
      </p:bgPr>
    </p:bg>
    <p:spTree>
      <p:nvGrpSpPr>
        <p:cNvPr id="1" name=""/>
        <p:cNvGrpSpPr/>
        <p:nvPr/>
      </p:nvGrpSpPr>
      <p:grpSpPr/>
      <p:sp>
        <p:nvSpPr>
          <p:cNvPr id="2" name="Rectangle 1"/>
          <p:cNvSpPr/>
          <p:nvPr/>
        </p:nvSpPr>
        <p:spPr>
          <a:xfrm>
            <a:off x="0" y="0"/>
            <a:ext cx="12191695" cy="73152"/>
          </a:xfrm>
          <a:prstGeom prst="rect">
            <a:avLst/>
          </a:prstGeom>
          <a:solidFill>
            <a:srgbClr val="42B8D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20040"/>
            <a:ext cx="10972800" cy="274320"/>
          </a:xfrm>
          <a:prstGeom prst="rect">
            <a:avLst/>
          </a:prstGeom>
          <a:noFill/>
        </p:spPr>
        <p:txBody>
          <a:bodyPr wrap="none">
            <a:spAutoFit/>
          </a:bodyPr>
          <a:lstStyle/>
          <a:p>
            <a:pPr>
              <a:defRPr sz="1100" b="1">
                <a:solidFill>
                  <a:srgbClr val="A5B2C1"/>
                </a:solidFill>
              </a:defRPr>
            </a:pPr>
            <a:r>
              <a:t>SYSTEMS PROGRAMMING AND MACHINE ORGANIZATION     ·     CHARLES DORNER</a:t>
            </a:r>
          </a:p>
        </p:txBody>
      </p:sp>
      <p:sp>
        <p:nvSpPr>
          <p:cNvPr id="4" name="TextBox 3"/>
          <p:cNvSpPr txBox="1"/>
          <p:nvPr/>
        </p:nvSpPr>
        <p:spPr>
          <a:xfrm>
            <a:off x="594360" y="822960"/>
            <a:ext cx="10972800" cy="914400"/>
          </a:xfrm>
          <a:prstGeom prst="rect">
            <a:avLst/>
          </a:prstGeom>
          <a:noFill/>
        </p:spPr>
        <p:txBody>
          <a:bodyPr wrap="none">
            <a:spAutoFit/>
          </a:bodyPr>
          <a:lstStyle/>
          <a:p>
            <a:pPr>
              <a:defRPr sz="3000" b="1">
                <a:solidFill>
                  <a:srgbClr val="F2F5F8"/>
                </a:solidFill>
              </a:defRPr>
            </a:pPr>
            <a:r>
              <a:t>Guided lab and review — Deep Dive</a:t>
            </a:r>
          </a:p>
        </p:txBody>
      </p:sp>
      <p:sp>
        <p:nvSpPr>
          <p:cNvPr id="5" name="TextBox 4"/>
          <p:cNvSpPr txBox="1"/>
          <p:nvPr/>
        </p:nvSpPr>
        <p:spPr>
          <a:xfrm>
            <a:off x="612648" y="1600200"/>
            <a:ext cx="10698480" cy="365760"/>
          </a:xfrm>
          <a:prstGeom prst="rect">
            <a:avLst/>
          </a:prstGeom>
          <a:noFill/>
        </p:spPr>
        <p:txBody>
          <a:bodyPr wrap="none">
            <a:spAutoFit/>
          </a:bodyPr>
          <a:lstStyle/>
          <a:p>
            <a:pPr>
              <a:defRPr sz="1300" b="1">
                <a:solidFill>
                  <a:srgbClr val="42B8D5"/>
                </a:solidFill>
              </a:defRPr>
            </a:pPr>
            <a:r>
              <a:t>LAB, REVIEW &amp; ACCEPTANCE</a:t>
            </a:r>
          </a:p>
        </p:txBody>
      </p:sp>
      <p:sp>
        <p:nvSpPr>
          <p:cNvPr id="6" name="Rounded Rectangle 5"/>
          <p:cNvSpPr/>
          <p:nvPr/>
        </p:nvSpPr>
        <p:spPr>
          <a:xfrm>
            <a:off x="594360" y="2148840"/>
            <a:ext cx="10972800" cy="3840480"/>
          </a:xfrm>
          <a:prstGeom prst="roundRect">
            <a:avLst/>
          </a:prstGeom>
          <a:solidFill>
            <a:srgbClr val="141E2B"/>
          </a:solidFill>
          <a:ln>
            <a:solidFill>
              <a:srgbClr val="2F3E4E"/>
            </a:solidFill>
          </a:ln>
        </p:spPr>
        <p:style>
          <a:lnRef idx="1">
            <a:schemeClr val="accent1"/>
          </a:lnRef>
          <a:fillRef idx="3">
            <a:schemeClr val="accent1"/>
          </a:fillRef>
          <a:effectRef idx="2">
            <a:schemeClr val="accent1"/>
          </a:effectRef>
          <a:fontRef idx="minor">
            <a:schemeClr val="lt1"/>
          </a:fontRef>
        </p:style>
        <p:txBody>
          <a:bodyPr rtlCol="0" anchor="ctr" lIns="320040" rIns="274320" tIns="228600"/>
          <a:lstStyle/>
          <a:p>
            <a:pPr algn="ctr">
              <a:spcAft>
                <a:spcPts val="1100"/>
              </a:spcAft>
              <a:defRPr sz="1900">
                <a:solidFill>
                  <a:srgbClr val="F2F5F8"/>
                </a:solidFill>
              </a:defRPr>
            </a:pPr>
            <a:r>
              <a:t>• Review 1.</a:t>
            </a:r>
          </a:p>
          <a:p>
            <a:pPr>
              <a:spcAft>
                <a:spcPts val="1100"/>
              </a:spcAft>
              <a:defRPr sz="1900">
                <a:solidFill>
                  <a:srgbClr val="F2F5F8"/>
                </a:solidFill>
              </a:defRPr>
            </a:pPr>
            <a:r>
              <a:t>• What does a zero return from waitpid(..., WNOHANG) mean?</a:t>
            </a:r>
          </a:p>
          <a:p>
            <a:pPr>
              <a:spcAft>
                <a:spcPts val="1100"/>
              </a:spcAft>
              <a:defRPr sz="1900">
                <a:solidFill>
                  <a:srgbClr val="F2F5F8"/>
                </a:solidFill>
              </a:defRPr>
            </a:pPr>
            <a:r>
              <a:t>• Review 2.</a:t>
            </a:r>
          </a:p>
          <a:p>
            <a:pPr>
              <a:spcAft>
                <a:spcPts val="1100"/>
              </a:spcAft>
              <a:defRPr sz="1900">
                <a:solidFill>
                  <a:srgbClr val="F2F5F8"/>
                </a:solidFill>
              </a:defRPr>
            </a:pPr>
            <a:r>
              <a:t>• Why must a parent classify status before extracting an exit code?</a:t>
            </a:r>
          </a:p>
        </p:txBody>
      </p:sp>
      <p:sp>
        <p:nvSpPr>
          <p:cNvPr id="7" name="TextBox 6"/>
          <p:cNvSpPr txBox="1"/>
          <p:nvPr/>
        </p:nvSpPr>
        <p:spPr>
          <a:xfrm>
            <a:off x="612648" y="6309360"/>
            <a:ext cx="10698480" cy="228600"/>
          </a:xfrm>
          <a:prstGeom prst="rect">
            <a:avLst/>
          </a:prstGeom>
          <a:noFill/>
        </p:spPr>
        <p:txBody>
          <a:bodyPr wrap="none">
            <a:spAutoFit/>
          </a:bodyPr>
          <a:lstStyle/>
          <a:p>
            <a:pPr>
              <a:defRPr sz="1000">
                <a:solidFill>
                  <a:srgbClr val="A5B2C1"/>
                </a:solidFill>
              </a:defRPr>
            </a:pPr>
            <a:r>
              <a:t>CHAPTER 39     |     23</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bg>
      <p:bgPr>
        <a:solidFill>
          <a:srgbClr val="0B121C"/>
        </a:solidFill>
        <a:effectLst/>
      </p:bgPr>
    </p:bg>
    <p:spTree>
      <p:nvGrpSpPr>
        <p:cNvPr id="1" name=""/>
        <p:cNvGrpSpPr/>
        <p:nvPr/>
      </p:nvGrpSpPr>
      <p:grpSpPr/>
      <p:sp>
        <p:nvSpPr>
          <p:cNvPr id="2" name="Rectangle 1"/>
          <p:cNvSpPr/>
          <p:nvPr/>
        </p:nvSpPr>
        <p:spPr>
          <a:xfrm>
            <a:off x="0" y="0"/>
            <a:ext cx="12191695" cy="73152"/>
          </a:xfrm>
          <a:prstGeom prst="rect">
            <a:avLst/>
          </a:prstGeom>
          <a:solidFill>
            <a:srgbClr val="42B8D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20040"/>
            <a:ext cx="10972800" cy="274320"/>
          </a:xfrm>
          <a:prstGeom prst="rect">
            <a:avLst/>
          </a:prstGeom>
          <a:noFill/>
        </p:spPr>
        <p:txBody>
          <a:bodyPr wrap="none">
            <a:spAutoFit/>
          </a:bodyPr>
          <a:lstStyle/>
          <a:p>
            <a:pPr>
              <a:defRPr sz="1100" b="1">
                <a:solidFill>
                  <a:srgbClr val="A5B2C1"/>
                </a:solidFill>
              </a:defRPr>
            </a:pPr>
            <a:r>
              <a:t>SYSTEMS PROGRAMMING AND MACHINE ORGANIZATION     ·     CHARLES DORNER</a:t>
            </a:r>
          </a:p>
        </p:txBody>
      </p:sp>
      <p:sp>
        <p:nvSpPr>
          <p:cNvPr id="4" name="TextBox 3"/>
          <p:cNvSpPr txBox="1"/>
          <p:nvPr/>
        </p:nvSpPr>
        <p:spPr>
          <a:xfrm>
            <a:off x="594360" y="822960"/>
            <a:ext cx="10972800" cy="914400"/>
          </a:xfrm>
          <a:prstGeom prst="rect">
            <a:avLst/>
          </a:prstGeom>
          <a:noFill/>
        </p:spPr>
        <p:txBody>
          <a:bodyPr wrap="none">
            <a:spAutoFit/>
          </a:bodyPr>
          <a:lstStyle/>
          <a:p>
            <a:pPr>
              <a:defRPr sz="3000" b="1">
                <a:solidFill>
                  <a:srgbClr val="F2F5F8"/>
                </a:solidFill>
              </a:defRPr>
            </a:pPr>
            <a:r>
              <a:t>Chapter Synthesis</a:t>
            </a:r>
          </a:p>
        </p:txBody>
      </p:sp>
      <p:sp>
        <p:nvSpPr>
          <p:cNvPr id="5" name="TextBox 4"/>
          <p:cNvSpPr txBox="1"/>
          <p:nvPr/>
        </p:nvSpPr>
        <p:spPr>
          <a:xfrm>
            <a:off x="612648" y="1600200"/>
            <a:ext cx="10698480" cy="365760"/>
          </a:xfrm>
          <a:prstGeom prst="rect">
            <a:avLst/>
          </a:prstGeom>
          <a:noFill/>
        </p:spPr>
        <p:txBody>
          <a:bodyPr wrap="none">
            <a:spAutoFit/>
          </a:bodyPr>
          <a:lstStyle/>
          <a:p>
            <a:pPr>
              <a:defRPr sz="1300" b="1">
                <a:solidFill>
                  <a:srgbClr val="42B8D5"/>
                </a:solidFill>
              </a:defRPr>
            </a:pPr>
            <a:r>
              <a:t>KEY TAKEAWAYS</a:t>
            </a:r>
          </a:p>
        </p:txBody>
      </p:sp>
      <p:sp>
        <p:nvSpPr>
          <p:cNvPr id="6" name="Rounded Rectangle 5"/>
          <p:cNvSpPr/>
          <p:nvPr/>
        </p:nvSpPr>
        <p:spPr>
          <a:xfrm>
            <a:off x="594360" y="2148840"/>
            <a:ext cx="10972800" cy="3840480"/>
          </a:xfrm>
          <a:prstGeom prst="roundRect">
            <a:avLst/>
          </a:prstGeom>
          <a:solidFill>
            <a:srgbClr val="141E2B"/>
          </a:solidFill>
          <a:ln>
            <a:solidFill>
              <a:srgbClr val="2F3E4E"/>
            </a:solidFill>
          </a:ln>
        </p:spPr>
        <p:style>
          <a:lnRef idx="1">
            <a:schemeClr val="accent1"/>
          </a:lnRef>
          <a:fillRef idx="3">
            <a:schemeClr val="accent1"/>
          </a:fillRef>
          <a:effectRef idx="2">
            <a:schemeClr val="accent1"/>
          </a:effectRef>
          <a:fontRef idx="minor">
            <a:schemeClr val="lt1"/>
          </a:fontRef>
        </p:style>
        <p:txBody>
          <a:bodyPr rtlCol="0" anchor="ctr" lIns="320040" rIns="274320" tIns="228600"/>
          <a:lstStyle/>
          <a:p>
            <a:pPr algn="ctr">
              <a:spcAft>
                <a:spcPts val="1100"/>
              </a:spcAft>
              <a:defRPr sz="1900">
                <a:solidFill>
                  <a:srgbClr val="F2F5F8"/>
                </a:solidFill>
              </a:defRPr>
            </a:pPr>
            <a:r>
              <a:t>• The chapter's central subject is process termination.</a:t>
            </a:r>
          </a:p>
          <a:p>
            <a:pPr>
              <a:spcAft>
                <a:spcPts val="1100"/>
              </a:spcAft>
              <a:defRPr sz="1900">
                <a:solidFill>
                  <a:srgbClr val="F2F5F8"/>
                </a:solidFill>
              </a:defRPr>
            </a:pPr>
            <a:r>
              <a:t>• Correct reasoning requires explicit assumptions, bounds, ownership, and interface contracts.</a:t>
            </a:r>
          </a:p>
          <a:p>
            <a:pPr>
              <a:spcAft>
                <a:spcPts val="1100"/>
              </a:spcAft>
              <a:defRPr sz="1900">
                <a:solidFill>
                  <a:srgbClr val="F2F5F8"/>
                </a:solidFill>
              </a:defRPr>
            </a:pPr>
            <a:r>
              <a:t>• Observed behavior is evidence about a run; it is not automatically a language or system guarantee.</a:t>
            </a:r>
          </a:p>
          <a:p>
            <a:pPr>
              <a:spcAft>
                <a:spcPts val="1100"/>
              </a:spcAft>
              <a:defRPr sz="1900">
                <a:solidFill>
                  <a:srgbClr val="F2F5F8"/>
                </a:solidFill>
              </a:defRPr>
            </a:pPr>
            <a:r>
              <a:t>• Use the worked examples and lab to test whether the model transfers to new cases.</a:t>
            </a:r>
          </a:p>
        </p:txBody>
      </p:sp>
      <p:sp>
        <p:nvSpPr>
          <p:cNvPr id="7" name="TextBox 6"/>
          <p:cNvSpPr txBox="1"/>
          <p:nvPr/>
        </p:nvSpPr>
        <p:spPr>
          <a:xfrm>
            <a:off x="612648" y="6309360"/>
            <a:ext cx="10698480" cy="228600"/>
          </a:xfrm>
          <a:prstGeom prst="rect">
            <a:avLst/>
          </a:prstGeom>
          <a:noFill/>
        </p:spPr>
        <p:txBody>
          <a:bodyPr wrap="none">
            <a:spAutoFit/>
          </a:bodyPr>
          <a:lstStyle/>
          <a:p>
            <a:pPr>
              <a:defRPr sz="1000">
                <a:solidFill>
                  <a:srgbClr val="A5B2C1"/>
                </a:solidFill>
              </a:defRPr>
            </a:pPr>
            <a:r>
              <a:t>CHAPTER 39     |     24</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bg>
      <p:bgPr>
        <a:solidFill>
          <a:srgbClr val="0B121C"/>
        </a:solidFill>
        <a:effectLst/>
      </p:bgPr>
    </p:bg>
    <p:spTree>
      <p:nvGrpSpPr>
        <p:cNvPr id="1" name=""/>
        <p:cNvGrpSpPr/>
        <p:nvPr/>
      </p:nvGrpSpPr>
      <p:grpSpPr/>
      <p:sp>
        <p:nvSpPr>
          <p:cNvPr id="2" name="Rectangle 1"/>
          <p:cNvSpPr/>
          <p:nvPr/>
        </p:nvSpPr>
        <p:spPr>
          <a:xfrm>
            <a:off x="0" y="0"/>
            <a:ext cx="12191695" cy="73152"/>
          </a:xfrm>
          <a:prstGeom prst="rect">
            <a:avLst/>
          </a:prstGeom>
          <a:solidFill>
            <a:srgbClr val="42B8D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20040"/>
            <a:ext cx="10972800" cy="274320"/>
          </a:xfrm>
          <a:prstGeom prst="rect">
            <a:avLst/>
          </a:prstGeom>
          <a:noFill/>
        </p:spPr>
        <p:txBody>
          <a:bodyPr wrap="none">
            <a:spAutoFit/>
          </a:bodyPr>
          <a:lstStyle/>
          <a:p>
            <a:pPr>
              <a:defRPr sz="1100" b="1">
                <a:solidFill>
                  <a:srgbClr val="A5B2C1"/>
                </a:solidFill>
              </a:defRPr>
            </a:pPr>
            <a:r>
              <a:t>SYSTEMS PROGRAMMING AND MACHINE ORGANIZATION     ·     CHARLES DORNER</a:t>
            </a:r>
          </a:p>
        </p:txBody>
      </p:sp>
      <p:sp>
        <p:nvSpPr>
          <p:cNvPr id="4" name="TextBox 3"/>
          <p:cNvSpPr txBox="1"/>
          <p:nvPr/>
        </p:nvSpPr>
        <p:spPr>
          <a:xfrm>
            <a:off x="594360" y="822960"/>
            <a:ext cx="10972800" cy="914400"/>
          </a:xfrm>
          <a:prstGeom prst="rect">
            <a:avLst/>
          </a:prstGeom>
          <a:noFill/>
        </p:spPr>
        <p:txBody>
          <a:bodyPr wrap="none">
            <a:spAutoFit/>
          </a:bodyPr>
          <a:lstStyle/>
          <a:p>
            <a:pPr>
              <a:defRPr sz="3000" b="1">
                <a:solidFill>
                  <a:srgbClr val="F2F5F8"/>
                </a:solidFill>
              </a:defRPr>
            </a:pPr>
            <a:r>
              <a:t>Review and Transition</a:t>
            </a:r>
          </a:p>
        </p:txBody>
      </p:sp>
      <p:sp>
        <p:nvSpPr>
          <p:cNvPr id="5" name="TextBox 4"/>
          <p:cNvSpPr txBox="1"/>
          <p:nvPr/>
        </p:nvSpPr>
        <p:spPr>
          <a:xfrm>
            <a:off x="612648" y="1600200"/>
            <a:ext cx="10698480" cy="365760"/>
          </a:xfrm>
          <a:prstGeom prst="rect">
            <a:avLst/>
          </a:prstGeom>
          <a:noFill/>
        </p:spPr>
        <p:txBody>
          <a:bodyPr wrap="none">
            <a:spAutoFit/>
          </a:bodyPr>
          <a:lstStyle/>
          <a:p>
            <a:pPr>
              <a:defRPr sz="1300" b="1">
                <a:solidFill>
                  <a:srgbClr val="42B8D5"/>
                </a:solidFill>
              </a:defRPr>
            </a:pPr>
            <a:r>
              <a:t>CHECK YOUR MODEL</a:t>
            </a:r>
          </a:p>
        </p:txBody>
      </p:sp>
      <p:sp>
        <p:nvSpPr>
          <p:cNvPr id="6" name="Rounded Rectangle 5"/>
          <p:cNvSpPr/>
          <p:nvPr/>
        </p:nvSpPr>
        <p:spPr>
          <a:xfrm>
            <a:off x="594360" y="2148840"/>
            <a:ext cx="10972800" cy="3840480"/>
          </a:xfrm>
          <a:prstGeom prst="roundRect">
            <a:avLst/>
          </a:prstGeom>
          <a:solidFill>
            <a:srgbClr val="141E2B"/>
          </a:solidFill>
          <a:ln>
            <a:solidFill>
              <a:srgbClr val="2F3E4E"/>
            </a:solidFill>
          </a:ln>
        </p:spPr>
        <p:style>
          <a:lnRef idx="1">
            <a:schemeClr val="accent1"/>
          </a:lnRef>
          <a:fillRef idx="3">
            <a:schemeClr val="accent1"/>
          </a:fillRef>
          <a:effectRef idx="2">
            <a:schemeClr val="accent1"/>
          </a:effectRef>
          <a:fontRef idx="minor">
            <a:schemeClr val="lt1"/>
          </a:fontRef>
        </p:style>
        <p:txBody>
          <a:bodyPr rtlCol="0" anchor="ctr" lIns="320040" rIns="274320" tIns="228600"/>
          <a:lstStyle/>
          <a:p>
            <a:pPr algn="ctr">
              <a:spcAft>
                <a:spcPts val="1100"/>
              </a:spcAft>
              <a:defRPr sz="1900">
                <a:solidFill>
                  <a:srgbClr val="F2F5F8"/>
                </a:solidFill>
              </a:defRPr>
            </a:pPr>
            <a:r>
              <a:t>• Explain one mechanism from the chapter without relying on vocabulary alone.</a:t>
            </a:r>
          </a:p>
          <a:p>
            <a:pPr>
              <a:spcAft>
                <a:spcPts val="1100"/>
              </a:spcAft>
              <a:defRPr sz="1900">
                <a:solidFill>
                  <a:srgbClr val="F2F5F8"/>
                </a:solidFill>
              </a:defRPr>
            </a:pPr>
            <a:r>
              <a:t>• Identify one failure mode and the violated contract or invariant.</a:t>
            </a:r>
          </a:p>
          <a:p>
            <a:pPr>
              <a:spcAft>
                <a:spcPts val="1100"/>
              </a:spcAft>
              <a:defRPr sz="1900">
                <a:solidFill>
                  <a:srgbClr val="F2F5F8"/>
                </a:solidFill>
              </a:defRPr>
            </a:pPr>
            <a:r>
              <a:t>• State what evidence would support your diagnosis and what it would not prove.</a:t>
            </a:r>
          </a:p>
          <a:p>
            <a:pPr>
              <a:spcAft>
                <a:spcPts val="1100"/>
              </a:spcAft>
              <a:defRPr sz="1900">
                <a:solidFill>
                  <a:srgbClr val="F2F5F8"/>
                </a:solidFill>
              </a:defRPr>
            </a:pPr>
            <a:r>
              <a:t>• Next: Pipes and Redirection.</a:t>
            </a:r>
          </a:p>
        </p:txBody>
      </p:sp>
      <p:sp>
        <p:nvSpPr>
          <p:cNvPr id="7" name="TextBox 6"/>
          <p:cNvSpPr txBox="1"/>
          <p:nvPr/>
        </p:nvSpPr>
        <p:spPr>
          <a:xfrm>
            <a:off x="612648" y="6309360"/>
            <a:ext cx="10698480" cy="228600"/>
          </a:xfrm>
          <a:prstGeom prst="rect">
            <a:avLst/>
          </a:prstGeom>
          <a:noFill/>
        </p:spPr>
        <p:txBody>
          <a:bodyPr wrap="none">
            <a:spAutoFit/>
          </a:bodyPr>
          <a:lstStyle/>
          <a:p>
            <a:pPr>
              <a:defRPr sz="1000">
                <a:solidFill>
                  <a:srgbClr val="A5B2C1"/>
                </a:solidFill>
              </a:defRPr>
            </a:pPr>
            <a:r>
              <a:t>CHAPTER 39     |     25</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