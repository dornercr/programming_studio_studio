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 Chapter 7 — Pointers and Address Arithmetic</a:t>
            </a:r>
          </a:p>
          <a:p/>
          <a:p>
            <a:r>
              <a:t>LECTURE NARRATION</a:t>
            </a:r>
          </a:p>
          <a:p>
            <a:r>
              <a:t>Pointer reasoning is object reasoning. A numeric address can help explain where bytes are located, but safe access depends on what object exists there, how long it remains alive, which range the pointer belongs to, and what type of access is permitted. Treat a pointer as a constrained reference into a storage model, not as an unrestricted integer.</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pointer reasoning is object reasoning.</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What This Chapter Builds</a:t>
            </a:r>
          </a:p>
          <a:p/>
          <a:p>
            <a:r>
              <a:t>LECTURE NARRATION</a:t>
            </a:r>
          </a:p>
          <a:p>
            <a:r>
              <a:t>Pointer reasoning is object reasoning. A numeric address can help explain where bytes are located, but safe access depends on what object exists there, how long it remains alive, which range the pointer belongs to, and what type of access is permitted. Treat a pointer as a constrained reference into a storage model, not as an unrestricted integer.</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pointer reasoning is object reasoning.</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Chapter Roadmap</a:t>
            </a:r>
          </a:p>
          <a:p/>
          <a:p>
            <a:r>
              <a:t>LECTURE NARRATION</a:t>
            </a:r>
          </a:p>
          <a:p>
            <a:r>
              <a:t>7.1 Addresses versus pointers 7.2 Dereferencing 7.3 Pointer arithmetic 7.4 Arrays and pointers ...plus 8 additional source topics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7.1 Addresses versus pointers 7.2 Dereferencing 7.3 Pointer arithmetic 7.4 Arrays and pointers ...plus 8 additional source topics</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7.1 Addresses versus pointers</a:t>
            </a:r>
          </a:p>
          <a:p/>
          <a:p>
            <a:r>
              <a:t>LECTURE NARRATION</a:t>
            </a:r>
          </a:p>
          <a:p>
            <a:r>
              <a:t>An address is a location identifier. A pointer is a language value used to designate an object, function, or permitted boundary position. Implementations commonly represent object pointers as virtual addresses, but the language attaches rules that are not captured by the displayed number alone. For example, two allocations may reuse the same numeric address at different times. A stale pointer to the first allocation does not become a valid owner of the second merely because the bits match. Similarly, converting a pointer to an integer for logging does not grant permission to perform arbitrary integer arithmetic and convert the result back. Use pointer-producing operations that preserve the intended object relationship.</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Think of an address written on a note: the note can tell you where to look, but it does not prove the thing is still there or that you are allowed to use it.</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7.1 Addresses versus pointers — Deep Dive</a:t>
            </a:r>
          </a:p>
          <a:p/>
          <a:p>
            <a:r>
              <a:t>LECTURE NARRATION</a:t>
            </a:r>
          </a:p>
          <a:p>
            <a:r>
              <a:t>An address is a location identifier. A pointer is a language value used to designate an object, function, or permitted boundary position. Implementations commonly represent object pointers as virtual addresses, but the language attaches rules that are not captured by the displayed number alone. For example, two allocations may reuse the same numeric address at different times. A stale pointer to the first allocation does not become a valid owner of the second merely because the bits match. Similarly, converting a pointer to an integer for logging does not grant permission to perform arbitrary integer arithmetic and convert the result back. Use pointer-producing operations that preserve the intended object relationship.</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Think of an address written on a note: the note can tell you where to look, but it does not prove the thing is still there or that you are allowed to use it.</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7.2 Dereferencing</a:t>
            </a:r>
          </a:p>
          <a:p/>
          <a:p>
            <a:r>
              <a:t>LECTURE NARRATION</a:t>
            </a:r>
          </a:p>
          <a:p>
            <a:r>
              <a:t>A dereference is valid only when the designated access is valid. Ask five questions: Is the target alive? Is it within the permitted range? Is it correctly aligned? Does the access type match the object’s allowed interpretation? Is the access properly synchronized with conflicting operations? A hardware page permission check answers only part of this list. A use-after-free can access a page that is still mapped and writable. An out-of-bounds write can remain within the same mapped page. The operating system protects address-space regions, while the language and program design must protect object boundaries and lifetimes inside those regions.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dereference is valid only when the designated access is valid.</a:t>
            </a:r>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7.2 Dereferencing — Deep Dive</a:t>
            </a:r>
          </a:p>
          <a:p/>
          <a:p>
            <a:r>
              <a:t>LECTURE NARRATION</a:t>
            </a:r>
          </a:p>
          <a:p>
            <a:r>
              <a:t>A dereference is valid only when the designated access is valid. Ask five questions: Is the target alive? Is it within the permitted range? Is it correctly aligned? Does the access type match the object’s allowed interpretation? Is the access properly synchronized with conflicting operations? A hardware page permission check answers only part of this list. A use-after-free can access a page that is still mapped and writable. An out-of-bounds write can remain within the same mapped page. The operating system protects address-space regions, while the language and program design must protect object boundaries and lifetimes inside those regions.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dereference is valid only when the designated access is valid.</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7.3 Pointer arithmetic</a:t>
            </a:r>
          </a:p>
          <a:p/>
          <a:p>
            <a:r>
              <a:t>LECTURE NARRATION</a:t>
            </a:r>
          </a:p>
          <a:p>
            <a:r>
              <a:t>For a pointer into an array, adding an integer moves in units of the pointed-to type. If p points to a[2] , then p + 3 points to a[5] when that position is within the permitted array range. Subtracting two pointers into the same array yields an element count, not a byte count, provided the difference is representable in ptrdiff_t . Do not form a wildly out-of-range pointer and then compare it with an end pointer. Validate an index against the remaining element count before computing the pointer. A one-past pointer is permitted as a boundary marker but not as an element. It is a useful sentinel precisely because the traversal stops before dereferencing it.</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Think of an address written on a note: the note can tell you where to look, but it does not prove the thing is still there or that you are allowed to use it.</a:t>
            </a:r>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7.3 Pointer arithmetic — Deep Dive</a:t>
            </a:r>
          </a:p>
          <a:p/>
          <a:p>
            <a:r>
              <a:t>LECTURE NARRATION</a:t>
            </a:r>
          </a:p>
          <a:p>
            <a:r>
              <a:t>For a pointer into an array, adding an integer moves in units of the pointed-to type. If p points to a[2] , then p + 3 points to a[5] when that position is within the permitted array range. Subtracting two pointers into the same array yields an element count, not a byte count, provided the difference is representable in ptrdiff_t . Do not form a wildly out-of-range pointer and then compare it with an end pointer. Validate an index against the remaining element count before computing the pointer. A one-past pointer is permitted as a boundary marker but not as an element. It is a useful sentinel precisely because the traversal stops before dereferencing it.</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Think of an address written on a note: the note can tell you where to look, but it does not prove the thing is still there or that you are allowed to use it.</a:t>
            </a:r>
          </a:p>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7.4 Arrays and pointers</a:t>
            </a:r>
          </a:p>
          <a:p/>
          <a:p>
            <a:r>
              <a:t>LECTURE NARRATION</a:t>
            </a:r>
          </a:p>
          <a:p>
            <a:r>
              <a:t>An array often converts to a pointer to its first element, but the conversion loses extent information. A function parameter written int values[] is adjusted to an int* parameter; it does not carry the caller’s array length. The callee needs a separate count or a range abstraction. An array of pointers is also different from a pointer to an array. int* rows[3] contains three pointer objects. int (*row)[4] points to a four-integer array. These declarations produce different scaling and memory access. Draw the objects and arrows when syntax becomes confusing: the picture should show actual pointer objects separately from the integer storage they designate.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Think of an address written on a note: the note can tell you where to look, but it does not prove the thing is still there or that you are allowed to use it.</a:t>
            </a:r>
          </a:p>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7.4 Arrays and pointers — Deep Dive</a:t>
            </a:r>
          </a:p>
          <a:p/>
          <a:p>
            <a:r>
              <a:t>LECTURE NARRATION</a:t>
            </a:r>
          </a:p>
          <a:p>
            <a:r>
              <a:t>An array often converts to a pointer to its first element, but the conversion loses extent information. A function parameter written int values[] is adjusted to an int* parameter; it does not carry the caller’s array length. The callee needs a separate count or a range abstraction. An array of pointers is also different from a pointer to an array. int* rows[3] contains three pointer objects. int (*row)[4] points to a four-integer array. These declarations produce different scaling and memory access. Draw the objects and arrows when syntax becomes confusing: the picture should show actual pointer objects separately from the integer storage they designate.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Think of an address written on a note: the note can tell you where to look, but it does not prove the thing is still there or that you are allowed to use it.</a:t>
            </a:r>
          </a:p>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7.5 Iterators</a:t>
            </a:r>
          </a:p>
          <a:p/>
          <a:p>
            <a:r>
              <a:t>LECTURE NARRATION</a:t>
            </a:r>
          </a:p>
          <a:p>
            <a:r>
              <a:t>An iterator generalizes traversal over a sequence. Some iterators are ordinary pointers; others hold more complex state. An iterator and an end sentinel describe a range whose validity depends on the owning container and on operations that may invalidate positions. A vector reallocation invalidates pointers, references, and iterators to its elements. Inserting into other containers has different rules. Do not generalize one container’s behavior to another. A range-based loop can still be invalidated by changes made inside the loop. The abstraction removes repetitive syntax, not the need to respect lifetime and invalidation rules.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an iterator generalizes traversal over a sequence.</a:t>
            </a:r>
          </a:p>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7.5 Iterators — Deep Dive</a:t>
            </a:r>
          </a:p>
          <a:p/>
          <a:p>
            <a:r>
              <a:t>LECTURE NARRATION</a:t>
            </a:r>
          </a:p>
          <a:p>
            <a:r>
              <a:t>An iterator generalizes traversal over a sequence. Some iterators are ordinary pointers; others hold more complex state. An iterator and an end sentinel describe a range whose validity depends on the owning container and on operations that may invalidate positions. A vector reallocation invalidates pointers, references, and iterators to its elements. Inserting into other containers has different rules. Do not generalize one container’s behavior to another. A range-based loop can still be invalidated by changes made inside the loop. The abstraction removes repetitive syntax, not the need to respect lifetime and invalidation rules.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an iterator generalizes traversal over a sequence.</a:t>
            </a:r>
          </a:p>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 7.6 Pointer comparisons</a:t>
            </a:r>
          </a:p>
          <a:p/>
          <a:p>
            <a:r>
              <a:t>LECTURE NARRATION</a:t>
            </a:r>
          </a:p>
          <a:p>
            <a:r>
              <a:t>Equality comparisons can test whether pointers designate the same relevant position or are null, subject to language details. Relational ordering and subtraction are much more constrained. Comparing positions within one array is meaningful; using built-in relational operators as a portable ordering for arbitrary unrelated allocations is not a sound general technique. In C++, std::less for pointer types provides a strict total ordering suitable for ordered containers when such ordering is needed. That ordering is not a statement that two objects are adjacent or belong to one allocation. An ordered pointer map does not authorize arithmetic across its keys.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Think of an address written on a note: the note can tell you where to look, but it does not prove the thing is still there or that you are allowed to use it.</a:t>
            </a:r>
          </a:p>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15: 7.6 Pointer comparisons — Deep Dive</a:t>
            </a:r>
          </a:p>
          <a:p/>
          <a:p>
            <a:r>
              <a:t>LECTURE NARRATION</a:t>
            </a:r>
          </a:p>
          <a:p>
            <a:r>
              <a:t>Equality comparisons can test whether pointers designate the same relevant position or are null, subject to language details. Relational ordering and subtraction are much more constrained. Comparing positions within one array is meaningful; using built-in relational operators as a portable ordering for arbitrary unrelated allocations is not a sound general technique. In C++, std::less for pointer types provides a strict total ordering suitable for ordered containers when such ordering is needed. That ordering is not a statement that two objects are adjacent or belong to one allocation. An ordered pointer map does not authorize arithmetic across its keys.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Think of an address written on a note: the note can tell you where to look, but it does not prove the thing is still there or that you are allowed to use it.</a:t>
            </a:r>
          </a:p>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16: 7.7 Pointer validity</a:t>
            </a:r>
          </a:p>
          <a:p/>
          <a:p>
            <a:r>
              <a:t>LECTURE NARRATION</a:t>
            </a:r>
          </a:p>
          <a:p>
            <a:r>
              <a:t>Pointer validity is a property maintained by program structure. An owner keeps storage alive; borrowers use it only within an agreed interval. A mutation that reallocates storage ends the validity of old element pointers even if the container itself remains alive. Represent these rules in interfaces. A function that retains a pointer should say so. A returned view should identify the owner whose lifetime supports it. A callback should not outlive its context. Nulling one pointer after release helps avoid accidental reuse through that variable, but it does not update other aliases. Ownership discipline prevents the error earlier than a last-minute null check.</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Think of an address written on a note: the note can tell you where to look, but it does not prove the thing is still there or that you are allowed to use it.</a:t>
            </a:r>
          </a:p>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17: 7.7 Pointer validity — Deep Dive</a:t>
            </a:r>
          </a:p>
          <a:p/>
          <a:p>
            <a:r>
              <a:t>LECTURE NARRATION</a:t>
            </a:r>
          </a:p>
          <a:p>
            <a:r>
              <a:t>Pointer validity is a property maintained by program structure. An owner keeps storage alive; borrowers use it only within an agreed interval. A mutation that reallocates storage ends the validity of old element pointers even if the container itself remains alive. Represent these rules in interfaces. A function that retains a pointer should say so. A returned view should identify the owner whose lifetime supports it. A callback should not outlive its context. Nulling one pointer after release helps avoid accidental reuse through that variable, but it does not update other aliases. Ownership discipline prevents the error earlier than a last-minute null check.</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Think of an address written on a note: the note can tell you where to look, but it does not prove the thing is still there or that you are allowed to use it.</a:t>
            </a:r>
          </a:p>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18: 7.8 Aliasing</a:t>
            </a:r>
          </a:p>
          <a:p/>
          <a:p>
            <a:r>
              <a:t>LECTURE NARRATION</a:t>
            </a:r>
          </a:p>
          <a:p>
            <a:r>
              <a:t>Aliasing occurs when multiple expressions can access the same storage. Aliasing can be intentional, as when two pointers refer to the same integer. The compiler must preserve required behavior for permitted aliases, but type-based access rules allow it to assume that certain unrelated typed accesses do not designate the same object. Casting an int* to float* and reading through it is not a portable representation conversion. Use byte access or a suitable copy operation. In C++, char , unsigned char , and std::byte have designated representation-inspection roles; do not assume every small integer type has the same privilege. Aliasing also affects optimization: a store through one pointer may force a reload through another unless non-aliasing can be established. [ R7 , R8 ]</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aliasing occurs when multiple expressions can access the same storage.</a:t>
            </a:r>
          </a:p>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19: 7.8 Aliasing — Deep Dive</a:t>
            </a:r>
          </a:p>
          <a:p/>
          <a:p>
            <a:r>
              <a:t>LECTURE NARRATION</a:t>
            </a:r>
          </a:p>
          <a:p>
            <a:r>
              <a:t>Aliasing occurs when multiple expressions can access the same storage. Aliasing can be intentional, as when two pointers refer to the same integer. The compiler must preserve required behavior for permitted aliases, but type-based access rules allow it to assume that certain unrelated typed accesses do not designate the same object. Casting an int* to float* and reading through it is not a portable representation conversion. Use byte access or a suitable copy operation. In C++, char , unsigned char , and std::byte have designated representation-inspection roles; do not assume every small integer type has the same privilege. Aliasing also affects optimization: a store through one pointer may force a reload through another unless non-aliasing can be established. [ R7 , R8 ]</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aliasing occurs when multiple expressions can access the same storage.</a:t>
            </a:r>
          </a:p>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20: Worked example — A bounded cursor</a:t>
            </a:r>
          </a:p>
          <a:p/>
          <a:p>
            <a:r>
              <a:t>LECTURE NARRATION</a:t>
            </a:r>
          </a:p>
          <a:p>
            <a:r>
              <a:t>The requirement is to read a two-byte big-endian field from a byte sequence without advancing past its end. Model the state as a span of remaining bytes. A successful operation consumes exactly two bytes; failure consumes none. Companion listing: ch07/cursor.cpp Initially the range length is three. The first check passes, and 0x12 × 256 + 0x34 = 4660 . The cursor then becomes a one-byte range. The second check fails before any indexing, leaving that range unchanged. The final output is 4660 1 . The design’s key property is transactional cursor movement: validation and decoding occur before the state change. An alternative that increments the pointer after reading the first byte can leave the parser half-consumed on failure. Keeping the cursor unchanged makes recovery or higher-level error reporting much easier.</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the requirement is to read a two-byte big-endian field from a byte sequence without advancing past its end.</a:t>
            </a:r>
          </a:p>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21: Worked example — A bounded cursor — Deep Dive</a:t>
            </a:r>
          </a:p>
          <a:p/>
          <a:p>
            <a:r>
              <a:t>LECTURE NARRATION</a:t>
            </a:r>
          </a:p>
          <a:p>
            <a:r>
              <a:t>The requirement is to read a two-byte big-endian field from a byte sequence without advancing past its end. Model the state as a span of remaining bytes. A successful operation consumes exactly two bytes; failure consumes none. Companion listing: ch07/cursor.cpp Initially the range length is three. The first check passes, and 0x12 × 256 + 0x34 = 4660 . The cursor then becomes a one-byte range. The second check fails before any indexing, leaving that range unchanged. The final output is 4660 1 . The design’s key property is transactional cursor movement: validation and decoding occur before the state change. An alternative that increments the pointer after reading the first byte can leave the parser half-consumed on failure. Keeping the cursor unchanged makes recovery or higher-level error reporting much easier.</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the requirement is to read a two-byte big-endian field from a byte sequence without advancing past its end.</a:t>
            </a:r>
          </a:p>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22: Worked example — Walking a bounded range</a:t>
            </a:r>
          </a:p>
          <a:p/>
          <a:p>
            <a:r>
              <a:t>LECTURE NARRATION</a:t>
            </a:r>
          </a:p>
          <a:p>
            <a:r>
              <a:t>Given int a[4]={10,20,30,40}; , begin with pointers p=a and end=a+4 . While p != end , dereference *p and then increment p . The one-past pointer a+4 may be formed and compared but not dereferenced. This pattern captures the core validity rule behind many iterators and spans.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given int a[4]={10,20,30,40}; , begin with pointers p=a and end=a+4 .</a:t>
            </a:r>
          </a:p>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23: Worked example — Walking a bounded range — Deep Dive</a:t>
            </a:r>
          </a:p>
          <a:p/>
          <a:p>
            <a:r>
              <a:t>LECTURE NARRATION</a:t>
            </a:r>
          </a:p>
          <a:p>
            <a:r>
              <a:t>Given int a[4]={10,20,30,40}; , begin with pointers p=a and end=a+4 . While p != end , dereference *p and then increment p . The one-past pointer a+4 may be formed and compared but not dereferenced. This pattern captures the core validity rule behind many iterators and spans.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given int a[4]={10,20,30,40}; , begin with pointers p=a and end=a+4 .</a:t>
            </a:r>
          </a:p>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24: Worked example — Recognizing an aliasing hazard</a:t>
            </a:r>
          </a:p>
          <a:p/>
          <a:p>
            <a:r>
              <a:t>LECTURE NARRATION</a:t>
            </a:r>
          </a:p>
          <a:p>
            <a:r>
              <a:t>If two pointers can refer to the same integer, storing through one may change what a later load through the other must observe. A compiler cannot freely reuse an old loaded value unless the language’s aliasing rules prove the pointers independent. When optimization depends on non-aliasing, express that contract using the mechanisms supported by the language and implementation rather than assuming the compiler will infer it.</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if two pointers can refer to the same integer, storing through one may change what a later load through the other must observe.</a:t>
            </a:r>
          </a:p>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25: Worked example — Recognizing an aliasing hazard — Deep Dive</a:t>
            </a:r>
          </a:p>
          <a:p/>
          <a:p>
            <a:r>
              <a:t>LECTURE NARRATION</a:t>
            </a:r>
          </a:p>
          <a:p>
            <a:r>
              <a:t>If two pointers can refer to the same integer, storing through one may change what a later load through the other must observe. A compiler cannot freely reuse an old loaded value unless the language’s aliasing rules prove the pointers independent. When optimization depends on non-aliasing, express that contract using the mechanisms supported by the language and implementation rather than assuming the compiler will infer it.</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if two pointers can refer to the same integer, storing through one may change what a later load through the other must observe.</a:t>
            </a:r>
          </a:p>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26: Guided lab and review</a:t>
            </a:r>
          </a:p>
          <a:p/>
          <a:p>
            <a:r>
              <a:t>LECTURE NARRATION</a:t>
            </a:r>
          </a:p>
          <a:p>
            <a:r>
              <a:t>Lab 7. Add a four-byte decoder using the same no-consumption-on-failure rule. Test input lengths zero through five and verify the remaining length after every call. Review 1. Why is a one-past pointer useful but not readable? Review 2. Why does setting an owning pointer to null after release not repair a borrowed pointer elsewhere?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lab 7.</a:t>
            </a:r>
          </a:p>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27: Guided lab and review — Deep Dive</a:t>
            </a:r>
          </a:p>
          <a:p/>
          <a:p>
            <a:r>
              <a:t>LECTURE NARRATION</a:t>
            </a:r>
          </a:p>
          <a:p>
            <a:r>
              <a:t>Lab 7. Add a four-byte decoder using the same no-consumption-on-failure rule. Test input lengths zero through five and verify the remaining length after every call. Review 1. Why is a one-past pointer useful but not readable? Review 2. Why does setting an owning pointer to null after release not repair a borrowed pointer elsewhere?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lab 7.</a:t>
            </a:r>
          </a:p>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28: Chapter Synthesis</a:t>
            </a:r>
          </a:p>
          <a:p/>
          <a:p>
            <a:r>
              <a:t>LECTURE NARRATION</a:t>
            </a:r>
          </a:p>
          <a:p>
            <a:r>
              <a:t>The chapter's central subject is pointers and address arithmetic. Correct reasoning requires explicit assumptions, bounds, ownership, and interface contracts. Observed behavior is evidence about a run; it is not automatically a language or system guarantee. Use the worked examples and lab to test whether the model transfers to new cases.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the chapter's central subject is pointers and address arithmetic.</a:t>
            </a:r>
          </a:p>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29: Review and Transition</a:t>
            </a:r>
          </a:p>
          <a:p/>
          <a:p>
            <a:r>
              <a:t>LECTURE NARRATION</a:t>
            </a:r>
          </a:p>
          <a:p>
            <a:r>
              <a:t>Explain one mechanism from the chapter without relying on vocabulary alone. Identify one failure mode and the violated contract or invariant. State what evidence would support your diagnosis and what it would not prove. Next: Process Memory Layout.</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explain one mechanism from the chapter without relying on vocabulary alone.</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Chapter 7 — Pointers and Address Arithmetic</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GRADUATE LECTURE</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Pointer reasoning is object reasoning.</a:t>
            </a:r>
          </a:p>
          <a:p>
            <a:pPr>
              <a:spcAft>
                <a:spcPts val="1100"/>
              </a:spcAft>
              <a:defRPr sz="1700">
                <a:solidFill>
                  <a:srgbClr val="F2F5F8"/>
                </a:solidFill>
              </a:defRPr>
            </a:pPr>
            <a:r>
              <a:t>• A numeric address can help explain where bytes are located, but safe access depends on what object exists there, how long it remains alive, which range the pointer belongs to,...</a:t>
            </a:r>
          </a:p>
          <a:p>
            <a:pPr>
              <a:spcAft>
                <a:spcPts val="1100"/>
              </a:spcAft>
              <a:defRPr sz="1900">
                <a:solidFill>
                  <a:srgbClr val="F2F5F8"/>
                </a:solidFill>
              </a:defRPr>
            </a:pPr>
            <a:r>
              <a:t>• Treat a pointer as a constrained reference into a storage model, not as an unrestricted integer.</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7     |     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What This Chapter Builds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LEARNING OBJECTIVES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Explain the mechanisms and contracts in Pointers and Address Arithmetic.</a:t>
            </a:r>
          </a:p>
          <a:p>
            <a:pPr>
              <a:spcAft>
                <a:spcPts val="1100"/>
              </a:spcAft>
              <a:defRPr sz="1900">
                <a:solidFill>
                  <a:srgbClr val="F2F5F8"/>
                </a:solidFill>
              </a:defRPr>
            </a:pPr>
            <a:r>
              <a:t>• Trace the chapter's important state, representation, and resource transitions.</a:t>
            </a:r>
          </a:p>
          <a:p>
            <a:pPr>
              <a:spcAft>
                <a:spcPts val="1100"/>
              </a:spcAft>
              <a:defRPr sz="1900">
                <a:solidFill>
                  <a:srgbClr val="F2F5F8"/>
                </a:solidFill>
              </a:defRPr>
            </a:pPr>
            <a:r>
              <a:t>• Identify failure modes, assumptions, and evidence required for correctness.</a:t>
            </a:r>
          </a:p>
          <a:p>
            <a:pPr>
              <a:spcAft>
                <a:spcPts val="1100"/>
              </a:spcAft>
              <a:defRPr sz="1900">
                <a:solidFill>
                  <a:srgbClr val="F2F5F8"/>
                </a:solidFill>
              </a:defRPr>
            </a:pPr>
            <a:r>
              <a:t>• Apply the chapter model to the worked examples and guided lab.</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7     |     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Chapter Roadmap</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SOURCE-ALIGNED COVERAGE</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7.1 Addresses versus pointers</a:t>
            </a:r>
          </a:p>
          <a:p>
            <a:pPr>
              <a:spcAft>
                <a:spcPts val="1100"/>
              </a:spcAft>
              <a:defRPr sz="1900">
                <a:solidFill>
                  <a:srgbClr val="F2F5F8"/>
                </a:solidFill>
              </a:defRPr>
            </a:pPr>
            <a:r>
              <a:t>• 7.2 Dereferencing</a:t>
            </a:r>
          </a:p>
          <a:p>
            <a:pPr>
              <a:spcAft>
                <a:spcPts val="1100"/>
              </a:spcAft>
              <a:defRPr sz="1900">
                <a:solidFill>
                  <a:srgbClr val="F2F5F8"/>
                </a:solidFill>
              </a:defRPr>
            </a:pPr>
            <a:r>
              <a:t>• 7.3 Pointer arithmetic</a:t>
            </a:r>
          </a:p>
          <a:p>
            <a:pPr>
              <a:spcAft>
                <a:spcPts val="1100"/>
              </a:spcAft>
              <a:defRPr sz="1900">
                <a:solidFill>
                  <a:srgbClr val="F2F5F8"/>
                </a:solidFill>
              </a:defRPr>
            </a:pPr>
            <a:r>
              <a:t>• 7.4 Arrays and pointers</a:t>
            </a:r>
          </a:p>
          <a:p>
            <a:pPr>
              <a:spcAft>
                <a:spcPts val="1100"/>
              </a:spcAft>
              <a:defRPr sz="1900">
                <a:solidFill>
                  <a:srgbClr val="F2F5F8"/>
                </a:solidFill>
              </a:defRPr>
            </a:pPr>
            <a:r>
              <a:t>• ...plus 8 additional source topics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7     |     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7.1 Addresses versus pointers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An address is a location identifier.</a:t>
            </a:r>
          </a:p>
          <a:p>
            <a:pPr>
              <a:spcAft>
                <a:spcPts val="1100"/>
              </a:spcAft>
              <a:defRPr sz="1900">
                <a:solidFill>
                  <a:srgbClr val="F2F5F8"/>
                </a:solidFill>
              </a:defRPr>
            </a:pPr>
            <a:r>
              <a:t>• A pointer is a language value used to designate an object, function, or permitted boundary position.</a:t>
            </a:r>
          </a:p>
          <a:p>
            <a:pPr>
              <a:spcAft>
                <a:spcPts val="1100"/>
              </a:spcAft>
              <a:defRPr sz="1700">
                <a:solidFill>
                  <a:srgbClr val="F2F5F8"/>
                </a:solidFill>
              </a:defRPr>
            </a:pPr>
            <a:r>
              <a:t>• Implementations commonly represent object pointers as virtual addresses, but the language attaches rules that are not captured by the displayed number alone.</a:t>
            </a:r>
          </a:p>
          <a:p>
            <a:pPr>
              <a:spcAft>
                <a:spcPts val="1100"/>
              </a:spcAft>
              <a:defRPr sz="1900">
                <a:solidFill>
                  <a:srgbClr val="F2F5F8"/>
                </a:solidFill>
              </a:defRPr>
            </a:pPr>
            <a:r>
              <a:t>• For example, two allocations may reuse the same numeric address at different times.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7     |     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7.1 Addresses versus pointers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For example, two allocations may reuse the same numeric address at different times.</a:t>
            </a:r>
          </a:p>
          <a:p>
            <a:pPr>
              <a:spcAft>
                <a:spcPts val="1100"/>
              </a:spcAft>
              <a:defRPr sz="1900">
                <a:solidFill>
                  <a:srgbClr val="F2F5F8"/>
                </a:solidFill>
              </a:defRPr>
            </a:pPr>
            <a:r>
              <a:t>• A stale pointer to the first allocation does not become a valid owner of the second merely because the bits match.</a:t>
            </a:r>
          </a:p>
          <a:p>
            <a:pPr>
              <a:spcAft>
                <a:spcPts val="1100"/>
              </a:spcAft>
              <a:defRPr sz="1700">
                <a:solidFill>
                  <a:srgbClr val="F2F5F8"/>
                </a:solidFill>
              </a:defRPr>
            </a:pPr>
            <a:r>
              <a:t>• Similarly, converting a pointer to an integer for logging does not grant permission to perform arbitrary integer arithmetic and convert the result back.</a:t>
            </a:r>
          </a:p>
          <a:p>
            <a:pPr>
              <a:spcAft>
                <a:spcPts val="1100"/>
              </a:spcAft>
              <a:defRPr sz="1900">
                <a:solidFill>
                  <a:srgbClr val="F2F5F8"/>
                </a:solidFill>
              </a:defRPr>
            </a:pPr>
            <a:r>
              <a:t>• Use pointer-producing operations that preserve the intended object relationship.</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7     |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7.2 Dereferencing</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dereference is valid only when the designated access is valid.</a:t>
            </a:r>
          </a:p>
          <a:p>
            <a:pPr>
              <a:spcAft>
                <a:spcPts val="1100"/>
              </a:spcAft>
              <a:defRPr sz="1900">
                <a:solidFill>
                  <a:srgbClr val="F2F5F8"/>
                </a:solidFill>
              </a:defRPr>
            </a:pPr>
            <a:r>
              <a:t>• Ask five questions: Is the target alive?</a:t>
            </a:r>
          </a:p>
          <a:p>
            <a:pPr>
              <a:spcAft>
                <a:spcPts val="1100"/>
              </a:spcAft>
              <a:defRPr sz="1900">
                <a:solidFill>
                  <a:srgbClr val="F2F5F8"/>
                </a:solidFill>
              </a:defRPr>
            </a:pPr>
            <a:r>
              <a:t>• Is it within the permitted range?</a:t>
            </a:r>
          </a:p>
          <a:p>
            <a:pPr>
              <a:spcAft>
                <a:spcPts val="1100"/>
              </a:spcAft>
              <a:defRPr sz="1900">
                <a:solidFill>
                  <a:srgbClr val="F2F5F8"/>
                </a:solidFill>
              </a:defRPr>
            </a:pPr>
            <a:r>
              <a:t>• Is it correctly aligned?</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7     |     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7.2 Dereferencing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hardware page permission check answers only part of this list.</a:t>
            </a:r>
          </a:p>
          <a:p>
            <a:pPr>
              <a:spcAft>
                <a:spcPts val="1100"/>
              </a:spcAft>
              <a:defRPr sz="1900">
                <a:solidFill>
                  <a:srgbClr val="F2F5F8"/>
                </a:solidFill>
              </a:defRPr>
            </a:pPr>
            <a:r>
              <a:t>• A use-after-free can access a page that is still mapped and writable.</a:t>
            </a:r>
          </a:p>
          <a:p>
            <a:pPr>
              <a:spcAft>
                <a:spcPts val="1100"/>
              </a:spcAft>
              <a:defRPr sz="1900">
                <a:solidFill>
                  <a:srgbClr val="F2F5F8"/>
                </a:solidFill>
              </a:defRPr>
            </a:pPr>
            <a:r>
              <a:t>• An out-of-bounds write can remain within the same mapped page.</a:t>
            </a:r>
          </a:p>
          <a:p>
            <a:pPr>
              <a:spcAft>
                <a:spcPts val="1100"/>
              </a:spcAft>
              <a:defRPr sz="1700">
                <a:solidFill>
                  <a:srgbClr val="F2F5F8"/>
                </a:solidFill>
              </a:defRPr>
            </a:pPr>
            <a:r>
              <a:t>• The operating system protects address-space regions, while the language and program design must protect object boundaries and lifetimes inside those regions.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7     |     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7.3 Pointer arithmetic</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For a pointer into an array, adding an integer moves in units of the pointed-to type.</a:t>
            </a:r>
          </a:p>
          <a:p>
            <a:pPr>
              <a:spcAft>
                <a:spcPts val="1100"/>
              </a:spcAft>
              <a:defRPr sz="1900">
                <a:solidFill>
                  <a:srgbClr val="F2F5F8"/>
                </a:solidFill>
              </a:defRPr>
            </a:pPr>
            <a:r>
              <a:t>• If p points to a[2] , then p + 3 points to a[5] when that position is within the permitted array range.</a:t>
            </a:r>
          </a:p>
          <a:p>
            <a:pPr>
              <a:spcAft>
                <a:spcPts val="1100"/>
              </a:spcAft>
              <a:defRPr sz="1700">
                <a:solidFill>
                  <a:srgbClr val="F2F5F8"/>
                </a:solidFill>
              </a:defRPr>
            </a:pPr>
            <a:r>
              <a:t>• Subtracting two pointers into the same array yields an element count, not a byte count, provided the difference is representable in ptrdiff_t .</a:t>
            </a:r>
          </a:p>
          <a:p>
            <a:pPr>
              <a:spcAft>
                <a:spcPts val="1100"/>
              </a:spcAft>
              <a:defRPr sz="1900">
                <a:solidFill>
                  <a:srgbClr val="F2F5F8"/>
                </a:solidFill>
              </a:defRPr>
            </a:pPr>
            <a:r>
              <a:t>• Do not form a wildly out-of-range pointer and then compare it with an end pointer.</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7     |     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7.3 Pointer arithmetic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Do not form a wildly out-of-range pointer and then compare it with an end pointer.</a:t>
            </a:r>
          </a:p>
          <a:p>
            <a:pPr>
              <a:spcAft>
                <a:spcPts val="1100"/>
              </a:spcAft>
              <a:defRPr sz="1900">
                <a:solidFill>
                  <a:srgbClr val="F2F5F8"/>
                </a:solidFill>
              </a:defRPr>
            </a:pPr>
            <a:r>
              <a:t>• Validate an index against the remaining element count before computing the pointer.</a:t>
            </a:r>
          </a:p>
          <a:p>
            <a:pPr>
              <a:spcAft>
                <a:spcPts val="1100"/>
              </a:spcAft>
              <a:defRPr sz="1900">
                <a:solidFill>
                  <a:srgbClr val="F2F5F8"/>
                </a:solidFill>
              </a:defRPr>
            </a:pPr>
            <a:r>
              <a:t>• A one-past pointer is permitted as a boundary marker but not as an element.</a:t>
            </a:r>
          </a:p>
          <a:p>
            <a:pPr>
              <a:spcAft>
                <a:spcPts val="1100"/>
              </a:spcAft>
              <a:defRPr sz="1900">
                <a:solidFill>
                  <a:srgbClr val="F2F5F8"/>
                </a:solidFill>
              </a:defRPr>
            </a:pPr>
            <a:r>
              <a:t>• It is a useful sentinel precisely because the traversal stops before dereferencing it.</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7     |     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7.4 Arrays and pointers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An array often converts to a pointer to its first element, but the conversion loses extent information.</a:t>
            </a:r>
          </a:p>
          <a:p>
            <a:pPr>
              <a:spcAft>
                <a:spcPts val="1100"/>
              </a:spcAft>
              <a:defRPr sz="1700">
                <a:solidFill>
                  <a:srgbClr val="F2F5F8"/>
                </a:solidFill>
              </a:defRPr>
            </a:pPr>
            <a:r>
              <a:t>• A function parameter written int values[] is adjusted to an int* parameter; it does not carry the caller’s array length.</a:t>
            </a:r>
          </a:p>
          <a:p>
            <a:pPr>
              <a:spcAft>
                <a:spcPts val="1100"/>
              </a:spcAft>
              <a:defRPr sz="1900">
                <a:solidFill>
                  <a:srgbClr val="F2F5F8"/>
                </a:solidFill>
              </a:defRPr>
            </a:pPr>
            <a:r>
              <a:t>• The callee needs a separate count or a range abstraction.</a:t>
            </a:r>
          </a:p>
          <a:p>
            <a:pPr>
              <a:spcAft>
                <a:spcPts val="1100"/>
              </a:spcAft>
              <a:defRPr sz="1700">
                <a:solidFill>
                  <a:srgbClr val="F2F5F8"/>
                </a:solidFill>
              </a:defRPr>
            </a:pPr>
            <a:r>
              <a:t>• An array of pointers is also different from a pointer to an array. int* rows[3] contains three pointer objects. int (*row)[4] points to a four-integer array.</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7     |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7.4 Arrays and pointers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An array of pointers is also different from a pointer to an array. int* rows[3] contains three pointer objects. int (*row)[4] points to a four-integer array.</a:t>
            </a:r>
          </a:p>
          <a:p>
            <a:pPr>
              <a:spcAft>
                <a:spcPts val="1100"/>
              </a:spcAft>
              <a:defRPr sz="1900">
                <a:solidFill>
                  <a:srgbClr val="F2F5F8"/>
                </a:solidFill>
              </a:defRPr>
            </a:pPr>
            <a:r>
              <a:t>• These declarations produce different scaling and memory access.</a:t>
            </a:r>
          </a:p>
          <a:p>
            <a:pPr>
              <a:spcAft>
                <a:spcPts val="1100"/>
              </a:spcAft>
              <a:defRPr sz="1700">
                <a:solidFill>
                  <a:srgbClr val="F2F5F8"/>
                </a:solidFill>
              </a:defRPr>
            </a:pPr>
            <a:r>
              <a:t>• Draw the objects and arrows when syntax becomes confusing: the picture should show actual pointer objects separately from the integer storage they designate.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7     |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7.5 Iterators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An iterator generalizes traversal over a sequence.</a:t>
            </a:r>
          </a:p>
          <a:p>
            <a:pPr>
              <a:spcAft>
                <a:spcPts val="1100"/>
              </a:spcAft>
              <a:defRPr sz="1900">
                <a:solidFill>
                  <a:srgbClr val="F2F5F8"/>
                </a:solidFill>
              </a:defRPr>
            </a:pPr>
            <a:r>
              <a:t>• Some iterators are ordinary pointers; others hold more complex state.</a:t>
            </a:r>
          </a:p>
          <a:p>
            <a:pPr>
              <a:spcAft>
                <a:spcPts val="1100"/>
              </a:spcAft>
              <a:defRPr sz="1700">
                <a:solidFill>
                  <a:srgbClr val="F2F5F8"/>
                </a:solidFill>
              </a:defRPr>
            </a:pPr>
            <a:r>
              <a:t>• An iterator and an end sentinel describe a range whose validity depends on the owning container and on operations that may invalidate positions.</a:t>
            </a:r>
          </a:p>
          <a:p>
            <a:pPr>
              <a:spcAft>
                <a:spcPts val="1100"/>
              </a:spcAft>
              <a:defRPr sz="1900">
                <a:solidFill>
                  <a:srgbClr val="F2F5F8"/>
                </a:solidFill>
              </a:defRPr>
            </a:pPr>
            <a:r>
              <a:t>• A vector reallocation invalidates pointers, references, and iterators to its elements.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7     |     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7.5 Iterators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vector reallocation invalidates pointers, references, and iterators to its elements.</a:t>
            </a:r>
          </a:p>
          <a:p>
            <a:pPr>
              <a:spcAft>
                <a:spcPts val="1100"/>
              </a:spcAft>
              <a:defRPr sz="1900">
                <a:solidFill>
                  <a:srgbClr val="F2F5F8"/>
                </a:solidFill>
              </a:defRPr>
            </a:pPr>
            <a:r>
              <a:t>• Inserting into other containers has different rules.</a:t>
            </a:r>
          </a:p>
          <a:p>
            <a:pPr>
              <a:spcAft>
                <a:spcPts val="1100"/>
              </a:spcAft>
              <a:defRPr sz="1900">
                <a:solidFill>
                  <a:srgbClr val="F2F5F8"/>
                </a:solidFill>
              </a:defRPr>
            </a:pPr>
            <a:r>
              <a:t>• Do not generalize one container’s behavior to another.</a:t>
            </a:r>
          </a:p>
          <a:p>
            <a:pPr>
              <a:spcAft>
                <a:spcPts val="1100"/>
              </a:spcAft>
              <a:defRPr sz="1900">
                <a:solidFill>
                  <a:srgbClr val="F2F5F8"/>
                </a:solidFill>
              </a:defRPr>
            </a:pPr>
            <a:r>
              <a:t>• A range-based loop can still be invalidated by changes made inside the loop.</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7     |     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7.6 Pointer comparisons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Equality comparisons can test whether pointers designate the same relevant position or are null, subject to language details.</a:t>
            </a:r>
          </a:p>
          <a:p>
            <a:pPr>
              <a:spcAft>
                <a:spcPts val="1100"/>
              </a:spcAft>
              <a:defRPr sz="1900">
                <a:solidFill>
                  <a:srgbClr val="F2F5F8"/>
                </a:solidFill>
              </a:defRPr>
            </a:pPr>
            <a:r>
              <a:t>• Relational ordering and subtraction are much more constrained.</a:t>
            </a:r>
          </a:p>
          <a:p>
            <a:pPr>
              <a:spcAft>
                <a:spcPts val="1100"/>
              </a:spcAft>
              <a:defRPr sz="1700">
                <a:solidFill>
                  <a:srgbClr val="F2F5F8"/>
                </a:solidFill>
              </a:defRPr>
            </a:pPr>
            <a:r>
              <a:t>• Comparing positions within one array is meaningful; using built-in relational operators as a portable ordering for arbitrary unrelated allocations is not a sound general technique.</a:t>
            </a:r>
          </a:p>
          <a:p>
            <a:pPr>
              <a:spcAft>
                <a:spcPts val="1100"/>
              </a:spcAft>
              <a:defRPr sz="1700">
                <a:solidFill>
                  <a:srgbClr val="F2F5F8"/>
                </a:solidFill>
              </a:defRPr>
            </a:pPr>
            <a:r>
              <a:t>• In C++, std::less for pointer types provides a strict total ordering suitable for ordered containers when such ordering is needed.</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7     |     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7.6 Pointer comparisons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In C++, std::less for pointer types provides a strict total ordering suitable for ordered containers when such ordering is needed.</a:t>
            </a:r>
          </a:p>
          <a:p>
            <a:pPr>
              <a:spcAft>
                <a:spcPts val="1100"/>
              </a:spcAft>
              <a:defRPr sz="1900">
                <a:solidFill>
                  <a:srgbClr val="F2F5F8"/>
                </a:solidFill>
              </a:defRPr>
            </a:pPr>
            <a:r>
              <a:t>• That ordering is not a statement that two objects are adjacent or belong to one allocation.</a:t>
            </a:r>
          </a:p>
          <a:p>
            <a:pPr>
              <a:spcAft>
                <a:spcPts val="1100"/>
              </a:spcAft>
              <a:defRPr sz="1900">
                <a:solidFill>
                  <a:srgbClr val="F2F5F8"/>
                </a:solidFill>
              </a:defRPr>
            </a:pPr>
            <a:r>
              <a:t>• An ordered pointer map does not authorize arithmetic across its keys.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7     |     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7.7 Pointer validity</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Pointer validity is a property maintained by program structure.</a:t>
            </a:r>
          </a:p>
          <a:p>
            <a:pPr>
              <a:spcAft>
                <a:spcPts val="1100"/>
              </a:spcAft>
              <a:defRPr sz="1900">
                <a:solidFill>
                  <a:srgbClr val="F2F5F8"/>
                </a:solidFill>
              </a:defRPr>
            </a:pPr>
            <a:r>
              <a:t>• An owner keeps storage alive; borrowers use it only within an agreed interval.</a:t>
            </a:r>
          </a:p>
          <a:p>
            <a:pPr>
              <a:spcAft>
                <a:spcPts val="1100"/>
              </a:spcAft>
              <a:defRPr sz="1700">
                <a:solidFill>
                  <a:srgbClr val="F2F5F8"/>
                </a:solidFill>
              </a:defRPr>
            </a:pPr>
            <a:r>
              <a:t>• A mutation that reallocates storage ends the validity of old element pointers even if the container itself remains alive.</a:t>
            </a:r>
          </a:p>
          <a:p>
            <a:pPr>
              <a:spcAft>
                <a:spcPts val="1100"/>
              </a:spcAft>
              <a:defRPr sz="1900">
                <a:solidFill>
                  <a:srgbClr val="F2F5F8"/>
                </a:solidFill>
              </a:defRPr>
            </a:pPr>
            <a:r>
              <a:t>• Represent these rules in interfaces.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7     |     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7.7 Pointer validity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Represent these rules in interfaces.</a:t>
            </a:r>
          </a:p>
          <a:p>
            <a:pPr>
              <a:spcAft>
                <a:spcPts val="1100"/>
              </a:spcAft>
              <a:defRPr sz="1900">
                <a:solidFill>
                  <a:srgbClr val="F2F5F8"/>
                </a:solidFill>
              </a:defRPr>
            </a:pPr>
            <a:r>
              <a:t>• A function that retains a pointer should say so.</a:t>
            </a:r>
          </a:p>
          <a:p>
            <a:pPr>
              <a:spcAft>
                <a:spcPts val="1100"/>
              </a:spcAft>
              <a:defRPr sz="1900">
                <a:solidFill>
                  <a:srgbClr val="F2F5F8"/>
                </a:solidFill>
              </a:defRPr>
            </a:pPr>
            <a:r>
              <a:t>• A returned view should identify the owner whose lifetime supports it.</a:t>
            </a:r>
          </a:p>
          <a:p>
            <a:pPr>
              <a:spcAft>
                <a:spcPts val="1100"/>
              </a:spcAft>
              <a:defRPr sz="1900">
                <a:solidFill>
                  <a:srgbClr val="F2F5F8"/>
                </a:solidFill>
              </a:defRPr>
            </a:pPr>
            <a:r>
              <a:t>• A callback should not outlive its context.</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7     |     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7.8 Aliasing</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Aliasing occurs when multiple expressions can access the same storage.</a:t>
            </a:r>
          </a:p>
          <a:p>
            <a:pPr>
              <a:spcAft>
                <a:spcPts val="1100"/>
              </a:spcAft>
              <a:defRPr sz="1900">
                <a:solidFill>
                  <a:srgbClr val="F2F5F8"/>
                </a:solidFill>
              </a:defRPr>
            </a:pPr>
            <a:r>
              <a:t>• Aliasing can be intentional, as when two pointers refer to the same integer.</a:t>
            </a:r>
          </a:p>
          <a:p>
            <a:pPr>
              <a:spcAft>
                <a:spcPts val="1100"/>
              </a:spcAft>
              <a:defRPr sz="1700">
                <a:solidFill>
                  <a:srgbClr val="F2F5F8"/>
                </a:solidFill>
              </a:defRPr>
            </a:pPr>
            <a:r>
              <a:t>• The compiler must preserve required behavior for permitted aliases, but type-based access rules allow it to assume that certain unrelated typed accesses do not designate the...</a:t>
            </a:r>
          </a:p>
          <a:p>
            <a:pPr>
              <a:spcAft>
                <a:spcPts val="1100"/>
              </a:spcAft>
              <a:defRPr sz="1900">
                <a:solidFill>
                  <a:srgbClr val="F2F5F8"/>
                </a:solidFill>
              </a:defRPr>
            </a:pPr>
            <a:r>
              <a:t>• Casting an int* to float* and reading through it is not a portable representation conversion.</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7     |     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7.8 Aliasing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Casting an int* to float* and reading through it is not a portable representation conversion.</a:t>
            </a:r>
          </a:p>
          <a:p>
            <a:pPr>
              <a:spcAft>
                <a:spcPts val="1100"/>
              </a:spcAft>
              <a:defRPr sz="1900">
                <a:solidFill>
                  <a:srgbClr val="F2F5F8"/>
                </a:solidFill>
              </a:defRPr>
            </a:pPr>
            <a:r>
              <a:t>• Use byte access or a suitable copy operation.</a:t>
            </a:r>
          </a:p>
          <a:p>
            <a:pPr>
              <a:spcAft>
                <a:spcPts val="1100"/>
              </a:spcAft>
              <a:defRPr sz="1700">
                <a:solidFill>
                  <a:srgbClr val="F2F5F8"/>
                </a:solidFill>
              </a:defRPr>
            </a:pPr>
            <a:r>
              <a:t>• In C++, char , unsigned char , and std::byte have designated representation-inspection roles; do not assume every small integer type has the same privilege.</a:t>
            </a:r>
          </a:p>
          <a:p>
            <a:pPr>
              <a:spcAft>
                <a:spcPts val="1100"/>
              </a:spcAft>
              <a:defRPr sz="1700">
                <a:solidFill>
                  <a:srgbClr val="F2F5F8"/>
                </a:solidFill>
              </a:defRPr>
            </a:pPr>
            <a:r>
              <a:t>• Aliasing also affects optimization: a store through one pointer may force a reload through another unless non-aliasing can be established. [ R7 , R8 ]</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7     |     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Worked example — A bounded cursor</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 requirement is to read a two-byte big-endian field from a byte sequence without advancing past its end.</a:t>
            </a:r>
          </a:p>
          <a:p>
            <a:pPr>
              <a:spcAft>
                <a:spcPts val="1100"/>
              </a:spcAft>
              <a:defRPr sz="1900">
                <a:solidFill>
                  <a:srgbClr val="F2F5F8"/>
                </a:solidFill>
              </a:defRPr>
            </a:pPr>
            <a:r>
              <a:t>• Model the state as a span of remaining bytes.</a:t>
            </a:r>
          </a:p>
          <a:p>
            <a:pPr>
              <a:spcAft>
                <a:spcPts val="1100"/>
              </a:spcAft>
              <a:defRPr sz="1900">
                <a:solidFill>
                  <a:srgbClr val="F2F5F8"/>
                </a:solidFill>
              </a:defRPr>
            </a:pPr>
            <a:r>
              <a:t>• A successful operation consumes exactly two bytes; failure consumes none.</a:t>
            </a:r>
          </a:p>
          <a:p>
            <a:pPr>
              <a:spcAft>
                <a:spcPts val="1100"/>
              </a:spcAft>
              <a:defRPr sz="1900">
                <a:solidFill>
                  <a:srgbClr val="F2F5F8"/>
                </a:solidFill>
              </a:defRPr>
            </a:pPr>
            <a:r>
              <a:t>• Companion listing: ch07/cursor.cpp</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7     |     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Worked example — A bounded cursor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WORKED EXAMPLE &amp; INTERPRETATION</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Companion listing: ch07/cursor.cpp</a:t>
            </a:r>
          </a:p>
          <a:p>
            <a:pPr>
              <a:spcAft>
                <a:spcPts val="1100"/>
              </a:spcAft>
              <a:defRPr sz="1900">
                <a:solidFill>
                  <a:srgbClr val="F2F5F8"/>
                </a:solidFill>
              </a:defRPr>
            </a:pPr>
            <a:r>
              <a:t>• Initially the range length is three.</a:t>
            </a:r>
          </a:p>
          <a:p>
            <a:pPr>
              <a:spcAft>
                <a:spcPts val="1100"/>
              </a:spcAft>
              <a:defRPr sz="1900">
                <a:solidFill>
                  <a:srgbClr val="F2F5F8"/>
                </a:solidFill>
              </a:defRPr>
            </a:pPr>
            <a:r>
              <a:t>• The first check passes, and 0x12 × 256 + 0x34 = 4660 .</a:t>
            </a:r>
          </a:p>
          <a:p>
            <a:pPr>
              <a:spcAft>
                <a:spcPts val="1100"/>
              </a:spcAft>
              <a:defRPr sz="1900">
                <a:solidFill>
                  <a:srgbClr val="F2F5F8"/>
                </a:solidFill>
              </a:defRPr>
            </a:pPr>
            <a:r>
              <a:t>• The cursor then becomes a one-byte range.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7     |     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Worked example — Walking a bounded range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Given int a[4]={10,20,30,40}; , begin with pointers p=a and end=a+4 .</a:t>
            </a:r>
          </a:p>
          <a:p>
            <a:pPr>
              <a:spcAft>
                <a:spcPts val="1100"/>
              </a:spcAft>
              <a:defRPr sz="1900">
                <a:solidFill>
                  <a:srgbClr val="F2F5F8"/>
                </a:solidFill>
              </a:defRPr>
            </a:pPr>
            <a:r>
              <a:t>• While p != end , dereference *p and then increment p .</a:t>
            </a:r>
          </a:p>
          <a:p>
            <a:pPr>
              <a:spcAft>
                <a:spcPts val="1100"/>
              </a:spcAft>
              <a:defRPr sz="1900">
                <a:solidFill>
                  <a:srgbClr val="F2F5F8"/>
                </a:solidFill>
              </a:defRPr>
            </a:pPr>
            <a:r>
              <a:t>• The one-past pointer a+4 may be formed and compared but not dereferenced.</a:t>
            </a:r>
          </a:p>
          <a:p>
            <a:pPr>
              <a:spcAft>
                <a:spcPts val="1100"/>
              </a:spcAft>
              <a:defRPr sz="1900">
                <a:solidFill>
                  <a:srgbClr val="F2F5F8"/>
                </a:solidFill>
              </a:defRPr>
            </a:pPr>
            <a:r>
              <a:t>• This pattern captures the core validity rule behind many iterators and spans.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7     |     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Walking a bounded range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WORKED EXAMPLE &amp; INTERPRETATION</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Given int a[4]={10,20,30,40}; , begin with pointers p=a and end=a+4 .</a:t>
            </a:r>
          </a:p>
          <a:p>
            <a:pPr>
              <a:spcAft>
                <a:spcPts val="1100"/>
              </a:spcAft>
              <a:defRPr sz="1900">
                <a:solidFill>
                  <a:srgbClr val="F2F5F8"/>
                </a:solidFill>
              </a:defRPr>
            </a:pPr>
            <a:r>
              <a:t>• While p != end , dereference *p and then increment p .</a:t>
            </a:r>
          </a:p>
          <a:p>
            <a:pPr>
              <a:spcAft>
                <a:spcPts val="1100"/>
              </a:spcAft>
              <a:defRPr sz="1900">
                <a:solidFill>
                  <a:srgbClr val="F2F5F8"/>
                </a:solidFill>
              </a:defRPr>
            </a:pPr>
            <a:r>
              <a:t>• The one-past pointer a+4 may be formed and compared but not dereferenced.</a:t>
            </a:r>
          </a:p>
          <a:p>
            <a:pPr>
              <a:spcAft>
                <a:spcPts val="1100"/>
              </a:spcAft>
              <a:defRPr sz="1900">
                <a:solidFill>
                  <a:srgbClr val="F2F5F8"/>
                </a:solidFill>
              </a:defRPr>
            </a:pPr>
            <a:r>
              <a:t>• This pattern captures the core validity rule behind many iterators and spans.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7     |     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Recognizing an aliasing hazard</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If two pointers can refer to the same integer, storing through one may change what a later load through the other must observe.</a:t>
            </a:r>
          </a:p>
          <a:p>
            <a:pPr>
              <a:spcAft>
                <a:spcPts val="1100"/>
              </a:spcAft>
              <a:defRPr sz="1900">
                <a:solidFill>
                  <a:srgbClr val="F2F5F8"/>
                </a:solidFill>
              </a:defRPr>
            </a:pPr>
            <a:r>
              <a:t>• A compiler cannot freely reuse an old loaded value unless the language’s aliasing rules prove the pointers independent.</a:t>
            </a:r>
          </a:p>
          <a:p>
            <a:pPr>
              <a:spcAft>
                <a:spcPts val="1100"/>
              </a:spcAft>
              <a:defRPr sz="1700">
                <a:solidFill>
                  <a:srgbClr val="F2F5F8"/>
                </a:solidFill>
              </a:defRPr>
            </a:pPr>
            <a:r>
              <a:t>• When optimization depends on non-aliasing, express that contract using the mechanisms supported by the language and implementation rather than assuming the compiler will infer it.</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7     |     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Recognizing an aliasing hazard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WORKED EXAMPLE &amp; INTERPRETATION</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If two pointers can refer to the same integer, storing through one may change what a later load through the other must observe.</a:t>
            </a:r>
          </a:p>
          <a:p>
            <a:pPr>
              <a:spcAft>
                <a:spcPts val="1100"/>
              </a:spcAft>
              <a:defRPr sz="1900">
                <a:solidFill>
                  <a:srgbClr val="F2F5F8"/>
                </a:solidFill>
              </a:defRPr>
            </a:pPr>
            <a:r>
              <a:t>• A compiler cannot freely reuse an old loaded value unless the language’s aliasing rules prove the pointers independent.</a:t>
            </a:r>
          </a:p>
          <a:p>
            <a:pPr>
              <a:spcAft>
                <a:spcPts val="1100"/>
              </a:spcAft>
              <a:defRPr sz="1700">
                <a:solidFill>
                  <a:srgbClr val="F2F5F8"/>
                </a:solidFill>
              </a:defRPr>
            </a:pPr>
            <a:r>
              <a:t>• When optimization depends on non-aliasing, express that contract using the mechanisms supported by the language and implementation rather than assuming the compiler will...</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7     |     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Guided lab and review</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Lab 7.</a:t>
            </a:r>
          </a:p>
          <a:p>
            <a:pPr>
              <a:spcAft>
                <a:spcPts val="1100"/>
              </a:spcAft>
              <a:defRPr sz="1900">
                <a:solidFill>
                  <a:srgbClr val="F2F5F8"/>
                </a:solidFill>
              </a:defRPr>
            </a:pPr>
            <a:r>
              <a:t>• Add a four-byte decoder using the same no-consumption-on-failure rule.</a:t>
            </a:r>
          </a:p>
          <a:p>
            <a:pPr>
              <a:spcAft>
                <a:spcPts val="1100"/>
              </a:spcAft>
              <a:defRPr sz="1900">
                <a:solidFill>
                  <a:srgbClr val="F2F5F8"/>
                </a:solidFill>
              </a:defRPr>
            </a:pPr>
            <a:r>
              <a:t>• Test input lengths zero through five and verify the remaining length after every call.</a:t>
            </a:r>
          </a:p>
          <a:p>
            <a:pPr>
              <a:spcAft>
                <a:spcPts val="1100"/>
              </a:spcAft>
              <a:defRPr sz="1900">
                <a:solidFill>
                  <a:srgbClr val="F2F5F8"/>
                </a:solidFill>
              </a:defRPr>
            </a:pPr>
            <a:r>
              <a:t>• Review 1.</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7     |     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Guided lab and review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LAB, REVIEW &amp; ACCEPTANCE</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Review 1.</a:t>
            </a:r>
          </a:p>
          <a:p>
            <a:pPr>
              <a:spcAft>
                <a:spcPts val="1100"/>
              </a:spcAft>
              <a:defRPr sz="1900">
                <a:solidFill>
                  <a:srgbClr val="F2F5F8"/>
                </a:solidFill>
              </a:defRPr>
            </a:pPr>
            <a:r>
              <a:t>• Why is a one-past pointer useful but not readable?</a:t>
            </a:r>
          </a:p>
          <a:p>
            <a:pPr>
              <a:spcAft>
                <a:spcPts val="1100"/>
              </a:spcAft>
              <a:defRPr sz="1900">
                <a:solidFill>
                  <a:srgbClr val="F2F5F8"/>
                </a:solidFill>
              </a:defRPr>
            </a:pPr>
            <a:r>
              <a:t>• Review 2.</a:t>
            </a:r>
          </a:p>
          <a:p>
            <a:pPr>
              <a:spcAft>
                <a:spcPts val="1100"/>
              </a:spcAft>
              <a:defRPr sz="1900">
                <a:solidFill>
                  <a:srgbClr val="F2F5F8"/>
                </a:solidFill>
              </a:defRPr>
            </a:pPr>
            <a:r>
              <a:t>• Why does setting an owning pointer to null after release not repair a borrowed pointer elsewhere?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7     |     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Chapter Synthesis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KEY TAKEAWAYS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 chapter's central subject is pointers and address arithmetic.</a:t>
            </a:r>
          </a:p>
          <a:p>
            <a:pPr>
              <a:spcAft>
                <a:spcPts val="1100"/>
              </a:spcAft>
              <a:defRPr sz="1900">
                <a:solidFill>
                  <a:srgbClr val="F2F5F8"/>
                </a:solidFill>
              </a:defRPr>
            </a:pPr>
            <a:r>
              <a:t>• Correct reasoning requires explicit assumptions, bounds, ownership, and interface contracts.</a:t>
            </a:r>
          </a:p>
          <a:p>
            <a:pPr>
              <a:spcAft>
                <a:spcPts val="1100"/>
              </a:spcAft>
              <a:defRPr sz="1900">
                <a:solidFill>
                  <a:srgbClr val="F2F5F8"/>
                </a:solidFill>
              </a:defRPr>
            </a:pPr>
            <a:r>
              <a:t>• Observed behavior is evidence about a run; it is not automatically a language or system guarantee.</a:t>
            </a:r>
          </a:p>
          <a:p>
            <a:pPr>
              <a:spcAft>
                <a:spcPts val="1100"/>
              </a:spcAft>
              <a:defRPr sz="1900">
                <a:solidFill>
                  <a:srgbClr val="F2F5F8"/>
                </a:solidFill>
              </a:defRPr>
            </a:pPr>
            <a:r>
              <a:t>• Use the worked examples and lab to test whether the model transfers to new cases.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7     |     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Review and Transition</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CHECK YOUR MODEL</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Explain one mechanism from the chapter without relying on vocabulary alone.</a:t>
            </a:r>
          </a:p>
          <a:p>
            <a:pPr>
              <a:spcAft>
                <a:spcPts val="1100"/>
              </a:spcAft>
              <a:defRPr sz="1900">
                <a:solidFill>
                  <a:srgbClr val="F2F5F8"/>
                </a:solidFill>
              </a:defRPr>
            </a:pPr>
            <a:r>
              <a:t>• Identify one failure mode and the violated contract or invariant.</a:t>
            </a:r>
          </a:p>
          <a:p>
            <a:pPr>
              <a:spcAft>
                <a:spcPts val="1100"/>
              </a:spcAft>
              <a:defRPr sz="1900">
                <a:solidFill>
                  <a:srgbClr val="F2F5F8"/>
                </a:solidFill>
              </a:defRPr>
            </a:pPr>
            <a:r>
              <a:t>• State what evidence would support your diagnosis and what it would not prove.</a:t>
            </a:r>
          </a:p>
          <a:p>
            <a:pPr>
              <a:spcAft>
                <a:spcPts val="1100"/>
              </a:spcAft>
              <a:defRPr sz="1900">
                <a:solidFill>
                  <a:srgbClr val="F2F5F8"/>
                </a:solidFill>
              </a:defRPr>
            </a:pPr>
            <a:r>
              <a:t>• Next: Process Memory Layout.</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7     |     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