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51 — Network Programming</a:t>
            </a:r>
          </a:p>
          <a:p/>
          <a:p>
            <a:r>
              <a:t>LECTURE NARRATION</a:t>
            </a:r>
          </a:p>
          <a:p>
            <a:r>
              <a:t>Network programming extends resource and protocol reasoning across independently scheduled peers. A successful connection does not make the peer’s input valid, and a successful send does not mean that an entire application transaction has completed. Programs must define framing, bounds, byte ordering, completion, and failure behavior explicitly. The examples use local loopback TCP only. They do not provide authentication, encryption, internet deployment, or a production security policy. The goal is to understand socket lifecycle and byte-stream handling without exposing a public service. [ R26 , R27 ]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network programming extends resource and protocol reasoning across independently scheduled peers.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Network programming extends resource and protocol reasoning across independently scheduled peers. A successful connection does not make the peer’s input valid, and a successful send does not mean that an entire application transaction has completed. Programs must define framing, bounds, byte ordering, completion, and failure behavior explicitly. The examples use local loopback TCP only. They do not provide authentication, encryption, internet deployment, or a production security policy. The goal is to understand socket lifecycle and byte-stream handling without exposing a public service. [ R26 , R27 ]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network programming extends resource and protocol reasoning across independently scheduled peers.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51.1 Sockets 51.2 socket 51.3 bind 51.4 listen ...plus 8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51.1 Sockets 51.2 socket 51.3 bind 51.4 listen ...plus 8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51.1 Sockets</a:t>
            </a:r>
          </a:p>
          <a:p/>
          <a:p>
            <a:r>
              <a:t>LECTURE NARRATION</a:t>
            </a:r>
          </a:p>
          <a:p>
            <a:r>
              <a:t>A socket is an endpoint managed through a descriptor. Its address family and type determine the communication model. Internet stream sockets typically use TCP, while local-domain sockets and datagram sockets provide different addressing or delivery semantics. A socket descriptor follows the same ownership rules as other descriptors: one owner closes it, borrowed uses must finish before closure, and the integer can be reused afterward. Closing a descriptor from another thread is not a universal cancellation mechanism for an in-progress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socket is an endpoint managed through a descriptor.</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51.1 Sockets — Deep Dive</a:t>
            </a:r>
          </a:p>
          <a:p/>
          <a:p>
            <a:r>
              <a:t>LECTURE NARRATION</a:t>
            </a:r>
          </a:p>
          <a:p>
            <a:r>
              <a:t>A socket is an endpoint managed through a descriptor. Its address family and type determine the communication model. Internet stream sockets typically use TCP, while local-domain sockets and datagram sockets provide different addressing or delivery semantics. A socket descriptor follows the same ownership rules as other descriptors: one owner closes it, borrowed uses must finish before closure, and the integer can be reused afterward. Closing a descriptor from another thread is not a universal cancellation mechanism for an in-progress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socket is an endpoint managed through a descriptor.</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51.2 socket</a:t>
            </a:r>
          </a:p>
          <a:p/>
          <a:p>
            <a:r>
              <a:t>LECTURE NARRATION</a:t>
            </a:r>
          </a:p>
          <a:p>
            <a:r>
              <a:t>socket creates an endpoint with a selected family, type, and protocol. It returns a descriptor or -1 . Creation does not by itself bind a listening address or establish a connection. Set required descriptor and status flags deliberately. On Linux, creation flags can establish close-on-exec or nonblocking behavior atomically. Do not assume that a later accepted socket automatically inherits every desired flag from its listener.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socket creates an endpoint with a selected family, type, and protocol.</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51.2 socket — Deep Dive</a:t>
            </a:r>
          </a:p>
          <a:p/>
          <a:p>
            <a:r>
              <a:t>LECTURE NARRATION</a:t>
            </a:r>
          </a:p>
          <a:p>
            <a:r>
              <a:t>socket creates an endpoint with a selected family, type, and protocol. It returns a descriptor or -1 . Creation does not by itself bind a listening address or establish a connection. Set required descriptor and status flags deliberately. On Linux, creation flags can establish close-on-exec or nonblocking behavior atomically. Do not assume that a later accepted socket automatically inherits every desired flag from its listener.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socket creates an endpoint with a selected family, type, and protocol.</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51.3 bind</a:t>
            </a:r>
          </a:p>
          <a:p/>
          <a:p>
            <a:r>
              <a:t>LECTURE NARRATION</a:t>
            </a:r>
          </a:p>
          <a:p>
            <a:r>
              <a:t>bind associates a socket with a local address. For an IPv4 loopback service, bind to 127.0.0.1 rather than all interfaces when external access is not required. Using port zero asks the operating system to choose an available ephemeral port. Address structures contain fields with specified byte order. Use conversion functions such as htons and htonl for network-order integer fields. Do not serialize a host-native structure by dumping its memory representation and hoping another machine interprets it identically.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bind associates a socket with a local address.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51.3 bind — Deep Dive</a:t>
            </a:r>
          </a:p>
          <a:p/>
          <a:p>
            <a:r>
              <a:t>LECTURE NARRATION</a:t>
            </a:r>
          </a:p>
          <a:p>
            <a:r>
              <a:t>bind associates a socket with a local address. For an IPv4 loopback service, bind to 127.0.0.1 rather than all interfaces when external access is not required. Using port zero asks the operating system to choose an available ephemeral port. Address structures contain fields with specified byte order. Use conversion functions such as htons and htonl for network-order integer fields. Do not serialize a host-native structure by dumping its memory representation and hoping another machine interprets it identically.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bind associates a socket with a local address.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51.4 listen</a:t>
            </a:r>
          </a:p>
          <a:p/>
          <a:p>
            <a:r>
              <a:t>LECTURE NARRATION</a:t>
            </a:r>
          </a:p>
          <a:p>
            <a:r>
              <a:t>listen places a suitable socket into a listening state. Its backlog parameter relates to pending connection handling under the platform’s rules; it is not a complete application limit on active clients, memory, or work queues. A server still needs admission control after accepting connections. Increasing backlog does not create more worker capacity or solve resource exhaustion. It changes one stage of a larger queueing system.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listen places a suitable socket into a listening state.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51.4 listen — Deep Dive</a:t>
            </a:r>
          </a:p>
          <a:p/>
          <a:p>
            <a:r>
              <a:t>LECTURE NARRATION</a:t>
            </a:r>
          </a:p>
          <a:p>
            <a:r>
              <a:t>listen places a suitable socket into a listening state. Its backlog parameter relates to pending connection handling under the platform’s rules; it is not a complete application limit on active clients, memory, or work queues. A server still needs admission control after accepting connections. Increasing backlog does not create more worker capacity or solve resource exhaustion. It changes one stage of a larger queueing system.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listen places a suitable socket into a listening state.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51.5 accept</a:t>
            </a:r>
          </a:p>
          <a:p/>
          <a:p>
            <a:r>
              <a:t>LECTURE NARRATION</a:t>
            </a:r>
          </a:p>
          <a:p>
            <a:r>
              <a:t>accept obtains a new connected socket from the listener’s pending connections. The listening socket remains available for further accepts. The returned socket, not the listener, carries the client’s byte stream. [ R43 ] A nonblocking listener can return EAGAIN when no connection is currently available, including after a readiness indication whose state changed. Configure accepted-socket flags explicitly. A service that forgets to close rejected or completed client sockets leaks descriptors over 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accept obtains a new connected socket from the listener’s pending connections.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51.5 accept — Deep Dive</a:t>
            </a:r>
          </a:p>
          <a:p/>
          <a:p>
            <a:r>
              <a:t>LECTURE NARRATION</a:t>
            </a:r>
          </a:p>
          <a:p>
            <a:r>
              <a:t>accept obtains a new connected socket from the listener’s pending connections. The listening socket remains available for further accepts. The returned socket, not the listener, carries the client’s byte stream. [ R43 ] A nonblocking listener can return EAGAIN when no connection is currently available, including after a readiness indication whose state changed. Configure accepted-socket flags explicitly. A service that forgets to close rejected or completed client sockets leaks descriptors over time.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accept obtains a new connected socket from the listener’s pending connections.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51.6 connect</a:t>
            </a:r>
          </a:p>
          <a:p/>
          <a:p>
            <a:r>
              <a:t>LECTURE NARRATION</a:t>
            </a:r>
          </a:p>
          <a:p>
            <a:r>
              <a:t>connect requests establishment of a connection to a peer address. Blocking and nonblocking forms have different completion handling. A nonblocking connect that reports in-progress is not yet a successful usable connection; readiness and the socket error state must be checked according to the interface. [ R44 ] Connection failure is normal: the service may not exist, policy may reject access, or the network may be unavailable. Retry policy needs limits and backoff. Repeatedly reconnecting without a budget can turn a remote failure into local resource exhaustion.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connect requests establishment of a connection to a peer address.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51.6 connect — Deep Dive</a:t>
            </a:r>
          </a:p>
          <a:p/>
          <a:p>
            <a:r>
              <a:t>LECTURE NARRATION</a:t>
            </a:r>
          </a:p>
          <a:p>
            <a:r>
              <a:t>connect requests establishment of a connection to a peer address. Blocking and nonblocking forms have different completion handling. A nonblocking connect that reports in-progress is not yet a successful usable connection; readiness and the socket error state must be checked according to the interface. [ R44 ] Connection failure is normal: the service may not exist, policy may reject access, or the network may be unavailable. Retry policy needs limits and backoff. Repeatedly reconnecting without a budget can turn a remote failure into local resource exhaustion.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connect requests establishment of a connection to a peer address.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51.7 Client/server architecture</a:t>
            </a:r>
          </a:p>
          <a:p/>
          <a:p>
            <a:r>
              <a:t>LECTURE NARRATION</a:t>
            </a:r>
          </a:p>
          <a:p>
            <a:r>
              <a:t>A server offers a service through a known or discovered endpoint; a client initiates a request. Once connected, both sides can send and receive according to the application protocol. Roles do not change the need to validate all incoming data. Define request and response formats before writing the main loop. Specify maximum lengths, supported versions, how errors are represented, and whether a connection carries one message or many. Ambiguous framing produces bugs that cannot be repaired merely by enlarging a receive buffer.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Two programs exchange messages using agreed rules, like mailing labeled envelopes to the right address and port.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51.7 Client/server architecture — Deep Dive</a:t>
            </a:r>
          </a:p>
          <a:p/>
          <a:p>
            <a:r>
              <a:t>LECTURE NARRATION</a:t>
            </a:r>
          </a:p>
          <a:p>
            <a:r>
              <a:t>A server offers a service through a known or discovered endpoint; a client initiates a request. Once connected, both sides can send and receive according to the application protocol. Roles do not change the need to validate all incoming data. Define request and response formats before writing the main loop. Specify maximum lengths, supported versions, how errors are represented, and whether a connection carries one message or many. Ambiguous framing produces bugs that cannot be repaired merely by enlarging a receive buffer.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Two programs exchange messages using agreed rules, like mailing labeled envelopes to the right address and port.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51.8 TCP connections</a:t>
            </a:r>
          </a:p>
          <a:p/>
          <a:p>
            <a:r>
              <a:t>LECTURE NARRATION</a:t>
            </a:r>
          </a:p>
          <a:p>
            <a:r>
              <a:t>TCP provides an ordered reliable byte stream under its protocol, not application-message boundaries. One send can be received through several reads, and several sends can be combined in one read. A positive receive result reports bytes currently obtained, not necessarily a complete request. [ R27 , R49 , R50 ] A common framing scheme uses a fixed-width length prefix followed by exactly that many payload bytes. Decode the prefix in a defined byte order, reject lengths above a configured maximum before allocating, and treat EOF in the middle of a frame as truncation. A normal EOF between frames has a different protocol meaning from a truncated frame.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tCP provides an ordered reliable byte stream under its protocol, not application-message boundaries.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51.8 TCP connections — Deep Dive</a:t>
            </a:r>
          </a:p>
          <a:p/>
          <a:p>
            <a:r>
              <a:t>LECTURE NARRATION</a:t>
            </a:r>
          </a:p>
          <a:p>
            <a:r>
              <a:t>TCP provides an ordered reliable byte stream under its protocol, not application-message boundaries. One send can be received through several reads, and several sends can be combined in one read. A positive receive result reports bytes currently obtained, not necessarily a complete request. [ R27 , R49 , R50 ] A common framing scheme uses a fixed-width length prefix followed by exactly that many payload bytes. Decode the prefix in a defined byte order, reject lengths above a configured maximum before allocating, and treat EOF in the middle of a frame as truncation. A normal EOF between frames has a different protocol meaning from a truncated frame.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tCP provides an ordered reliable byte stream under its protocol, not application-message boundaries.</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A bounded framed loopback exchange</a:t>
            </a:r>
          </a:p>
          <a:p/>
          <a:p>
            <a:r>
              <a:t>LECTURE NARRATION</a:t>
            </a:r>
          </a:p>
          <a:p>
            <a:r>
              <a:t>The reusable header below owns descriptors, bounds frames to 1024 bytes, handles partial transfers and EINTR , and treats premature EOF as failure. It uses Linux’s MSG_NOSIGNAL for sends so that a broken connection becomes an error instead of terminating the process through SIGPIPE . The small socket timeouts are per-operation limits, not a complete whole-request deadline policy. Companion listing: ch51/net.hpp The driver binds only loopback, obtains the chosen port, and establishes the client connection before starting the accepting worker. This avoids leaving an accept worker waiting forever if the test’s initial connect fails. The server worker catches its own exceptions; the parent checks its result after joining. Companion listing: ch51/main.cpp The expected output is loopback frame checks passed . The protocol consists of a four-byte big-endian length and payload. The test transfers one five-byte payload, but the helpers also permit an empty frame. A complete service would need repeated-frame handling, whole-request deadlines, admission control, graceful shutdown, and a security layer appropriate to its deployment.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reusable header below owns descriptors, bounds frames to 1024 bytes, handles partial transfers and EINTR , and treats premature EOF as failure.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A bounded framed loopback exchange — Deep Dive</a:t>
            </a:r>
          </a:p>
          <a:p/>
          <a:p>
            <a:r>
              <a:t>LECTURE NARRATION</a:t>
            </a:r>
          </a:p>
          <a:p>
            <a:r>
              <a:t>The reusable header below owns descriptors, bounds frames to 1024 bytes, handles partial transfers and EINTR , and treats premature EOF as failure. It uses Linux’s MSG_NOSIGNAL for sends so that a broken connection becomes an error instead of terminating the process through SIGPIPE . The small socket timeouts are per-operation limits, not a complete whole-request deadline policy. Companion listing: ch51/net.hpp The driver binds only loopback, obtains the chosen port, and establishes the client connection before starting the accepting worker. This avoids leaving an accept worker waiting forever if the test’s initial connect fails. The server worker catches its own exceptions; the parent checks its result after joining. Companion listing: ch51/main.cpp The expected output is loopback frame checks passed . The protocol consists of a four-byte big-endian length and payload. The test transfers one five-byte payload, but the helpers also permit an empty frame. A complete service would need repeated-frame handling, whole-request deadlines, admission control, graceful shutdown, and a security layer appropriate to its deployment.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reusable header below owns descriptors, bounds frames to 1024 bytes, handles partial transfers and EINTR , and treats premature EOF as failure.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TCP server lifecycle</a:t>
            </a:r>
          </a:p>
          <a:p/>
          <a:p>
            <a:r>
              <a:t>LECTURE NARRATION</a:t>
            </a:r>
          </a:p>
          <a:p>
            <a:r>
              <a:t>A server creates a socket, binds it to a local address, marks it listening, and calls accept to obtain a new connected socket for one client. The listening socket remains available for additional connections. The accepted descriptor carries the byte stream for that connection and should be closed independently.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Two programs exchange messages using agreed rules, like mailing labeled envelopes to the right address and port.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TCP server lifecycle — Deep Dive</a:t>
            </a:r>
          </a:p>
          <a:p/>
          <a:p>
            <a:r>
              <a:t>LECTURE NARRATION</a:t>
            </a:r>
          </a:p>
          <a:p>
            <a:r>
              <a:t>A server creates a socket, binds it to a local address, marks it listening, and calls accept to obtain a new connected socket for one client. The listening socket remains available for additional connections. The accepted descriptor carries the byte stream for that connection and should be closed independently.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Two programs exchange messages using agreed rules, like mailing labeled envelopes to the right address and port.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Framing over a byte stream</a:t>
            </a:r>
          </a:p>
          <a:p/>
          <a:p>
            <a:r>
              <a:t>LECTURE NARRATION</a:t>
            </a:r>
          </a:p>
          <a:p>
            <a:r>
              <a:t>TCP preserves byte order but not application message boundaries. If a sender writes a 4-byte length followed by 100 payload bytes, the receiver may obtain those bytes across several reads. It must first accumulate exactly the framing header, decode the length safely, then accumulate exactly that many payload bytes subject to a configured maximum.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tCP preserves byte order but not application message boundaries.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Framing over a byte stream — Deep Dive</a:t>
            </a:r>
          </a:p>
          <a:p/>
          <a:p>
            <a:r>
              <a:t>LECTURE NARRATION</a:t>
            </a:r>
          </a:p>
          <a:p>
            <a:r>
              <a:t>TCP preserves byte order but not application message boundaries. If a sender writes a 4-byte length followed by 100 payload bytes, the receiver may obtain those bytes across several reads. It must first accumulate exactly the framing header, decode the length safely, then accumulate exactly that many payload bytes subject to a configured maximum.</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tCP preserves byte order but not application message boundaries.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Guided lab and review</a:t>
            </a:r>
          </a:p>
          <a:p/>
          <a:p>
            <a:r>
              <a:t>LECTURE NARRATION</a:t>
            </a:r>
          </a:p>
          <a:p>
            <a:r>
              <a:t>Lab 51. Add tests for an empty frame, a 1024-byte frame, an oversized prefix, EOF halfway through the prefix, and EOF halfway through the body. Use local socket pairs or loopback fixtures and bounded test timeouts. Do not expose the listener on a public interface. Review 1. Does one send correspond to one receive? Review 2. Why must length validation precede payload allocation?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51.</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Guided lab and review — Deep Dive</a:t>
            </a:r>
          </a:p>
          <a:p/>
          <a:p>
            <a:r>
              <a:t>LECTURE NARRATION</a:t>
            </a:r>
          </a:p>
          <a:p>
            <a:r>
              <a:t>Lab 51. Add tests for an empty frame, a 1024-byte frame, an oversized prefix, EOF halfway through the prefix, and EOF halfway through the body. Use local socket pairs or loopback fixtures and bounded test timeouts. Do not expose the listener on a public interface. Review 1. Does one send correspond to one receive? Review 2. Why must length validation precede payload allocation?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51.</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Chapter Synthesis</a:t>
            </a:r>
          </a:p>
          <a:p/>
          <a:p>
            <a:r>
              <a:t>LECTURE NARRATION</a:t>
            </a:r>
          </a:p>
          <a:p>
            <a:r>
              <a:t>The chapter's central subject is network programming.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network programming.</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Concurrent Servers.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51 — Network Programming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Network programming extends resource and protocol reasoning across independently scheduled peers.</a:t>
            </a:r>
          </a:p>
          <a:p>
            <a:pPr>
              <a:spcAft>
                <a:spcPts val="1100"/>
              </a:spcAft>
              <a:defRPr sz="1700">
                <a:solidFill>
                  <a:srgbClr val="F2F5F8"/>
                </a:solidFill>
              </a:defRPr>
            </a:pPr>
            <a:r>
              <a:t>• A successful connection does not make the peer’s input valid, and a successful send does not mean that an entire application transaction has completed.</a:t>
            </a:r>
          </a:p>
          <a:p>
            <a:pPr>
              <a:spcAft>
                <a:spcPts val="1100"/>
              </a:spcAft>
              <a:defRPr sz="1900">
                <a:solidFill>
                  <a:srgbClr val="F2F5F8"/>
                </a:solidFill>
              </a:defRPr>
            </a:pPr>
            <a:r>
              <a:t>• Programs must define framing, bounds, byte ordering, completion, and failure behavior explicitly.</a:t>
            </a:r>
          </a:p>
          <a:p>
            <a:pPr>
              <a:spcAft>
                <a:spcPts val="1100"/>
              </a:spcAft>
              <a:defRPr sz="1900">
                <a:solidFill>
                  <a:srgbClr val="F2F5F8"/>
                </a:solidFill>
              </a:defRPr>
            </a:pPr>
            <a:r>
              <a:t>• The examples use local loopback TCP only.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Network Programming.</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51.1 Sockets</a:t>
            </a:r>
          </a:p>
          <a:p>
            <a:pPr>
              <a:spcAft>
                <a:spcPts val="1100"/>
              </a:spcAft>
              <a:defRPr sz="1900">
                <a:solidFill>
                  <a:srgbClr val="F2F5F8"/>
                </a:solidFill>
              </a:defRPr>
            </a:pPr>
            <a:r>
              <a:t>• 51.2 socket</a:t>
            </a:r>
          </a:p>
          <a:p>
            <a:pPr>
              <a:spcAft>
                <a:spcPts val="1100"/>
              </a:spcAft>
              <a:defRPr sz="1900">
                <a:solidFill>
                  <a:srgbClr val="F2F5F8"/>
                </a:solidFill>
              </a:defRPr>
            </a:pPr>
            <a:r>
              <a:t>• 51.3 bind</a:t>
            </a:r>
          </a:p>
          <a:p>
            <a:pPr>
              <a:spcAft>
                <a:spcPts val="1100"/>
              </a:spcAft>
              <a:defRPr sz="1900">
                <a:solidFill>
                  <a:srgbClr val="F2F5F8"/>
                </a:solidFill>
              </a:defRPr>
            </a:pPr>
            <a:r>
              <a:t>• 51.4 listen</a:t>
            </a:r>
          </a:p>
          <a:p>
            <a:pPr>
              <a:spcAft>
                <a:spcPts val="1100"/>
              </a:spcAft>
              <a:defRPr sz="1900">
                <a:solidFill>
                  <a:srgbClr val="F2F5F8"/>
                </a:solidFill>
              </a:defRPr>
            </a:pPr>
            <a:r>
              <a:t>• ...plus 8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51.1 Sockets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socket is an endpoint managed through a descriptor.</a:t>
            </a:r>
          </a:p>
          <a:p>
            <a:pPr>
              <a:spcAft>
                <a:spcPts val="1100"/>
              </a:spcAft>
              <a:defRPr sz="1900">
                <a:solidFill>
                  <a:srgbClr val="F2F5F8"/>
                </a:solidFill>
              </a:defRPr>
            </a:pPr>
            <a:r>
              <a:t>• Its address family and type determine the communication model.</a:t>
            </a:r>
          </a:p>
          <a:p>
            <a:pPr>
              <a:spcAft>
                <a:spcPts val="1100"/>
              </a:spcAft>
              <a:defRPr sz="1700">
                <a:solidFill>
                  <a:srgbClr val="F2F5F8"/>
                </a:solidFill>
              </a:defRPr>
            </a:pPr>
            <a:r>
              <a:t>• Internet stream sockets typically use TCP, while local-domain sockets and datagram sockets provide different addressing or delivery semantics.</a:t>
            </a:r>
          </a:p>
          <a:p>
            <a:pPr>
              <a:spcAft>
                <a:spcPts val="1100"/>
              </a:spcAft>
              <a:defRPr sz="1700">
                <a:solidFill>
                  <a:srgbClr val="F2F5F8"/>
                </a:solidFill>
              </a:defRPr>
            </a:pPr>
            <a:r>
              <a:t>• A socket descriptor follows the same ownership rules as other descriptors: one owner closes it, borrowed uses must finish before closure, and the integer can be reused afterward.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51.1 Sockets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socket descriptor follows the same ownership rules as other descriptors: one owner closes it, borrowed uses must finish before closure, and the integer can be reused...</a:t>
            </a:r>
          </a:p>
          <a:p>
            <a:pPr>
              <a:spcAft>
                <a:spcPts val="1100"/>
              </a:spcAft>
              <a:defRPr sz="1900">
                <a:solidFill>
                  <a:srgbClr val="F2F5F8"/>
                </a:solidFill>
              </a:defRPr>
            </a:pPr>
            <a:r>
              <a:t>• Closing a descriptor from another thread is not a universal cancellation mechanism for an in-progress operation.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51.2 socket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socket creates an endpoint with a selected family, type, and protocol.</a:t>
            </a:r>
          </a:p>
          <a:p>
            <a:pPr>
              <a:spcAft>
                <a:spcPts val="1100"/>
              </a:spcAft>
              <a:defRPr sz="1900">
                <a:solidFill>
                  <a:srgbClr val="F2F5F8"/>
                </a:solidFill>
              </a:defRPr>
            </a:pPr>
            <a:r>
              <a:t>• It returns a descriptor or -1 .</a:t>
            </a:r>
          </a:p>
          <a:p>
            <a:pPr>
              <a:spcAft>
                <a:spcPts val="1100"/>
              </a:spcAft>
              <a:defRPr sz="1900">
                <a:solidFill>
                  <a:srgbClr val="F2F5F8"/>
                </a:solidFill>
              </a:defRPr>
            </a:pPr>
            <a:r>
              <a:t>• Creation does not by itself bind a listening address or establish a connection.</a:t>
            </a:r>
          </a:p>
          <a:p>
            <a:pPr>
              <a:spcAft>
                <a:spcPts val="1100"/>
              </a:spcAft>
              <a:defRPr sz="1900">
                <a:solidFill>
                  <a:srgbClr val="F2F5F8"/>
                </a:solidFill>
              </a:defRPr>
            </a:pPr>
            <a:r>
              <a:t>• Set required descriptor and status flags deliberately.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51.2 socket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Set required descriptor and status flags deliberately.</a:t>
            </a:r>
          </a:p>
          <a:p>
            <a:pPr>
              <a:spcAft>
                <a:spcPts val="1100"/>
              </a:spcAft>
              <a:defRPr sz="1900">
                <a:solidFill>
                  <a:srgbClr val="F2F5F8"/>
                </a:solidFill>
              </a:defRPr>
            </a:pPr>
            <a:r>
              <a:t>• On Linux, creation flags can establish close-on-exec or nonblocking behavior atomically.</a:t>
            </a:r>
          </a:p>
          <a:p>
            <a:pPr>
              <a:spcAft>
                <a:spcPts val="1100"/>
              </a:spcAft>
              <a:defRPr sz="1900">
                <a:solidFill>
                  <a:srgbClr val="F2F5F8"/>
                </a:solidFill>
              </a:defRPr>
            </a:pPr>
            <a:r>
              <a:t>• Do not assume that a later accepted socket automatically inherits every desired flag from its listener.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51.3 bind</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bind associates a socket with a local address.</a:t>
            </a:r>
          </a:p>
          <a:p>
            <a:pPr>
              <a:spcAft>
                <a:spcPts val="1100"/>
              </a:spcAft>
              <a:defRPr sz="1900">
                <a:solidFill>
                  <a:srgbClr val="F2F5F8"/>
                </a:solidFill>
              </a:defRPr>
            </a:pPr>
            <a:r>
              <a:t>• For an IPv4 loopback service, bind to 127.0.0.1 rather than all interfaces when external access is not required.</a:t>
            </a:r>
          </a:p>
          <a:p>
            <a:pPr>
              <a:spcAft>
                <a:spcPts val="1100"/>
              </a:spcAft>
              <a:defRPr sz="1900">
                <a:solidFill>
                  <a:srgbClr val="F2F5F8"/>
                </a:solidFill>
              </a:defRPr>
            </a:pPr>
            <a:r>
              <a:t>• Using port zero asks the operating system to choose an available ephemeral port.</a:t>
            </a:r>
          </a:p>
          <a:p>
            <a:pPr>
              <a:spcAft>
                <a:spcPts val="1100"/>
              </a:spcAft>
              <a:defRPr sz="1900">
                <a:solidFill>
                  <a:srgbClr val="F2F5F8"/>
                </a:solidFill>
              </a:defRPr>
            </a:pPr>
            <a:r>
              <a:t>• Address structures contain fields with specified byte order.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51.3 bind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Address structures contain fields with specified byte order.</a:t>
            </a:r>
          </a:p>
          <a:p>
            <a:pPr>
              <a:spcAft>
                <a:spcPts val="1100"/>
              </a:spcAft>
              <a:defRPr sz="1900">
                <a:solidFill>
                  <a:srgbClr val="F2F5F8"/>
                </a:solidFill>
              </a:defRPr>
            </a:pPr>
            <a:r>
              <a:t>• Use conversion functions such as htons and htonl for network-order integer fields.</a:t>
            </a:r>
          </a:p>
          <a:p>
            <a:pPr>
              <a:spcAft>
                <a:spcPts val="1100"/>
              </a:spcAft>
              <a:defRPr sz="1700">
                <a:solidFill>
                  <a:srgbClr val="F2F5F8"/>
                </a:solidFill>
              </a:defRPr>
            </a:pPr>
            <a:r>
              <a:t>• Do not serialize a host-native structure by dumping its memory representation and hoping another machine interprets it identically.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51.4 listen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listen places a suitable socket into a listening state.</a:t>
            </a:r>
          </a:p>
          <a:p>
            <a:pPr>
              <a:spcAft>
                <a:spcPts val="1100"/>
              </a:spcAft>
              <a:defRPr sz="1700">
                <a:solidFill>
                  <a:srgbClr val="F2F5F8"/>
                </a:solidFill>
              </a:defRPr>
            </a:pPr>
            <a:r>
              <a:t>• Its backlog parameter relates to pending connection handling under the platform’s rules; it is not a complete application limit on active clients, memory, or work queues.</a:t>
            </a:r>
          </a:p>
          <a:p>
            <a:pPr>
              <a:spcAft>
                <a:spcPts val="1100"/>
              </a:spcAft>
              <a:defRPr sz="1900">
                <a:solidFill>
                  <a:srgbClr val="F2F5F8"/>
                </a:solidFill>
              </a:defRPr>
            </a:pPr>
            <a:r>
              <a:t>• A server still needs admission control after accepting connections.</a:t>
            </a:r>
          </a:p>
          <a:p>
            <a:pPr>
              <a:spcAft>
                <a:spcPts val="1100"/>
              </a:spcAft>
              <a:defRPr sz="1900">
                <a:solidFill>
                  <a:srgbClr val="F2F5F8"/>
                </a:solidFill>
              </a:defRPr>
            </a:pPr>
            <a:r>
              <a:t>• Increasing backlog does not create more worker capacity or solve resource exhaustion.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51.4 listen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server still needs admission control after accepting connections.</a:t>
            </a:r>
          </a:p>
          <a:p>
            <a:pPr>
              <a:spcAft>
                <a:spcPts val="1100"/>
              </a:spcAft>
              <a:defRPr sz="1900">
                <a:solidFill>
                  <a:srgbClr val="F2F5F8"/>
                </a:solidFill>
              </a:defRPr>
            </a:pPr>
            <a:r>
              <a:t>• Increasing backlog does not create more worker capacity or solve resource exhaustion.</a:t>
            </a:r>
          </a:p>
          <a:p>
            <a:pPr>
              <a:spcAft>
                <a:spcPts val="1100"/>
              </a:spcAft>
              <a:defRPr sz="1900">
                <a:solidFill>
                  <a:srgbClr val="F2F5F8"/>
                </a:solidFill>
              </a:defRPr>
            </a:pPr>
            <a:r>
              <a:t>• It changes one stage of a larger queueing system.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51.5 accept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accept obtains a new connected socket from the listener’s pending connections.</a:t>
            </a:r>
          </a:p>
          <a:p>
            <a:pPr>
              <a:spcAft>
                <a:spcPts val="1100"/>
              </a:spcAft>
              <a:defRPr sz="1900">
                <a:solidFill>
                  <a:srgbClr val="F2F5F8"/>
                </a:solidFill>
              </a:defRPr>
            </a:pPr>
            <a:r>
              <a:t>• The listening socket remains available for further accepts.</a:t>
            </a:r>
          </a:p>
          <a:p>
            <a:pPr>
              <a:spcAft>
                <a:spcPts val="1100"/>
              </a:spcAft>
              <a:defRPr sz="1900">
                <a:solidFill>
                  <a:srgbClr val="F2F5F8"/>
                </a:solidFill>
              </a:defRPr>
            </a:pPr>
            <a:r>
              <a:t>• The returned socket, not the listener, carries the client’s byte stream. [ R43 ]</a:t>
            </a:r>
          </a:p>
          <a:p>
            <a:pPr>
              <a:spcAft>
                <a:spcPts val="1100"/>
              </a:spcAft>
              <a:defRPr sz="1700">
                <a:solidFill>
                  <a:srgbClr val="F2F5F8"/>
                </a:solidFill>
              </a:defRPr>
            </a:pPr>
            <a:r>
              <a:t>• A nonblocking listener can return EAGAIN when no connection is currently available, including after a readiness indication whose state changed.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51.5 accept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nonblocking listener can return EAGAIN when no connection is currently available, including after a readiness indication whose state changed.</a:t>
            </a:r>
          </a:p>
          <a:p>
            <a:pPr>
              <a:spcAft>
                <a:spcPts val="1100"/>
              </a:spcAft>
              <a:defRPr sz="1900">
                <a:solidFill>
                  <a:srgbClr val="F2F5F8"/>
                </a:solidFill>
              </a:defRPr>
            </a:pPr>
            <a:r>
              <a:t>• Configure accepted-socket flags explicitly.</a:t>
            </a:r>
          </a:p>
          <a:p>
            <a:pPr>
              <a:spcAft>
                <a:spcPts val="1100"/>
              </a:spcAft>
              <a:defRPr sz="1900">
                <a:solidFill>
                  <a:srgbClr val="F2F5F8"/>
                </a:solidFill>
              </a:defRPr>
            </a:pPr>
            <a:r>
              <a:t>• A service that forgets to close rejected or completed client sockets leaks descriptors over 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51.6 connect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connect requests establishment of a connection to a peer address.</a:t>
            </a:r>
          </a:p>
          <a:p>
            <a:pPr>
              <a:spcAft>
                <a:spcPts val="1100"/>
              </a:spcAft>
              <a:defRPr sz="1900">
                <a:solidFill>
                  <a:srgbClr val="F2F5F8"/>
                </a:solidFill>
              </a:defRPr>
            </a:pPr>
            <a:r>
              <a:t>• Blocking and nonblocking forms have different completion handling.</a:t>
            </a:r>
          </a:p>
          <a:p>
            <a:pPr>
              <a:spcAft>
                <a:spcPts val="1100"/>
              </a:spcAft>
              <a:defRPr sz="1700">
                <a:solidFill>
                  <a:srgbClr val="F2F5F8"/>
                </a:solidFill>
              </a:defRPr>
            </a:pPr>
            <a:r>
              <a:t>• A nonblocking connect that reports in-progress is not yet a successful usable connection; readiness and the socket error state must be checked according to the interface. [ R44 ]</a:t>
            </a:r>
          </a:p>
          <a:p>
            <a:pPr>
              <a:spcAft>
                <a:spcPts val="1100"/>
              </a:spcAft>
              <a:defRPr sz="1900">
                <a:solidFill>
                  <a:srgbClr val="F2F5F8"/>
                </a:solidFill>
              </a:defRPr>
            </a:pPr>
            <a:r>
              <a:t>• Connection failure is normal: the service may not exist, policy may reject access, or the network may be unavailable.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51.6 connect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Connection failure is normal: the service may not exist, policy may reject access, or the network may be unavailable.</a:t>
            </a:r>
          </a:p>
          <a:p>
            <a:pPr>
              <a:spcAft>
                <a:spcPts val="1100"/>
              </a:spcAft>
              <a:defRPr sz="1900">
                <a:solidFill>
                  <a:srgbClr val="F2F5F8"/>
                </a:solidFill>
              </a:defRPr>
            </a:pPr>
            <a:r>
              <a:t>• Retry policy needs limits and backoff.</a:t>
            </a:r>
          </a:p>
          <a:p>
            <a:pPr>
              <a:spcAft>
                <a:spcPts val="1100"/>
              </a:spcAft>
              <a:defRPr sz="1900">
                <a:solidFill>
                  <a:srgbClr val="F2F5F8"/>
                </a:solidFill>
              </a:defRPr>
            </a:pPr>
            <a:r>
              <a:t>• Repeatedly reconnecting without a budget can turn a remote failure into local resource exhaustion.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51.7 Client/server architecture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server offers a service through a known or discovered endpoint; a client initiates a request.</a:t>
            </a:r>
          </a:p>
          <a:p>
            <a:pPr>
              <a:spcAft>
                <a:spcPts val="1100"/>
              </a:spcAft>
              <a:defRPr sz="1900">
                <a:solidFill>
                  <a:srgbClr val="F2F5F8"/>
                </a:solidFill>
              </a:defRPr>
            </a:pPr>
            <a:r>
              <a:t>• Once connected, both sides can send and receive according to the application protocol.</a:t>
            </a:r>
          </a:p>
          <a:p>
            <a:pPr>
              <a:spcAft>
                <a:spcPts val="1100"/>
              </a:spcAft>
              <a:defRPr sz="1900">
                <a:solidFill>
                  <a:srgbClr val="F2F5F8"/>
                </a:solidFill>
              </a:defRPr>
            </a:pPr>
            <a:r>
              <a:t>• Roles do not change the need to validate all incoming data.</a:t>
            </a:r>
          </a:p>
          <a:p>
            <a:pPr>
              <a:spcAft>
                <a:spcPts val="1100"/>
              </a:spcAft>
              <a:defRPr sz="1900">
                <a:solidFill>
                  <a:srgbClr val="F2F5F8"/>
                </a:solidFill>
              </a:defRPr>
            </a:pPr>
            <a:r>
              <a:t>• Define request and response formats before writing the main loop.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51.7 Client/server architecture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Define request and response formats before writing the main loop.</a:t>
            </a:r>
          </a:p>
          <a:p>
            <a:pPr>
              <a:spcAft>
                <a:spcPts val="1100"/>
              </a:spcAft>
              <a:defRPr sz="1700">
                <a:solidFill>
                  <a:srgbClr val="F2F5F8"/>
                </a:solidFill>
              </a:defRPr>
            </a:pPr>
            <a:r>
              <a:t>• Specify maximum lengths, supported versions, how errors are represented, and whether a connection carries one message or many.</a:t>
            </a:r>
          </a:p>
          <a:p>
            <a:pPr>
              <a:spcAft>
                <a:spcPts val="1100"/>
              </a:spcAft>
              <a:defRPr sz="1900">
                <a:solidFill>
                  <a:srgbClr val="F2F5F8"/>
                </a:solidFill>
              </a:defRPr>
            </a:pPr>
            <a:r>
              <a:t>• Ambiguous framing produces bugs that cannot be repaired merely by enlarging a receive buffer.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51.8 TCP connections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TCP provides an ordered reliable byte stream under its protocol, not application-message boundaries.</a:t>
            </a:r>
          </a:p>
          <a:p>
            <a:pPr>
              <a:spcAft>
                <a:spcPts val="1100"/>
              </a:spcAft>
              <a:defRPr sz="1900">
                <a:solidFill>
                  <a:srgbClr val="F2F5F8"/>
                </a:solidFill>
              </a:defRPr>
            </a:pPr>
            <a:r>
              <a:t>• One send can be received through several reads, and several sends can be combined in one read.</a:t>
            </a:r>
          </a:p>
          <a:p>
            <a:pPr>
              <a:spcAft>
                <a:spcPts val="1100"/>
              </a:spcAft>
              <a:defRPr sz="1900">
                <a:solidFill>
                  <a:srgbClr val="F2F5F8"/>
                </a:solidFill>
              </a:defRPr>
            </a:pPr>
            <a:r>
              <a:t>• A positive receive result reports bytes currently obtained, not necessarily a complete request. [ R27 , R49 , R50 ]</a:t>
            </a:r>
          </a:p>
          <a:p>
            <a:pPr>
              <a:spcAft>
                <a:spcPts val="1100"/>
              </a:spcAft>
              <a:defRPr sz="1900">
                <a:solidFill>
                  <a:srgbClr val="F2F5F8"/>
                </a:solidFill>
              </a:defRPr>
            </a:pPr>
            <a:r>
              <a:t>• A common framing scheme uses a fixed-width length prefix followed by exactly that many payload bytes.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51.8 TCP connections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common framing scheme uses a fixed-width length prefix followed by exactly that many payload bytes.</a:t>
            </a:r>
          </a:p>
          <a:p>
            <a:pPr>
              <a:spcAft>
                <a:spcPts val="1100"/>
              </a:spcAft>
              <a:defRPr sz="1700">
                <a:solidFill>
                  <a:srgbClr val="F2F5F8"/>
                </a:solidFill>
              </a:defRPr>
            </a:pPr>
            <a:r>
              <a:t>• Decode the prefix in a defined byte order, reject lengths above a configured maximum before allocating, and treat EOF in the middle of a frame as truncation.</a:t>
            </a:r>
          </a:p>
          <a:p>
            <a:pPr>
              <a:spcAft>
                <a:spcPts val="1100"/>
              </a:spcAft>
              <a:defRPr sz="1900">
                <a:solidFill>
                  <a:srgbClr val="F2F5F8"/>
                </a:solidFill>
              </a:defRPr>
            </a:pPr>
            <a:r>
              <a:t>• A normal EOF between frames has a different protocol meaning from a truncated frame.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bounded framed loopback exchange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reusable header below owns descriptors, bounds frames to 1024 bytes, handles partial transfers and EINTR , and treats premature EOF as failure.</a:t>
            </a:r>
          </a:p>
          <a:p>
            <a:pPr>
              <a:spcAft>
                <a:spcPts val="1100"/>
              </a:spcAft>
              <a:defRPr sz="1700">
                <a:solidFill>
                  <a:srgbClr val="F2F5F8"/>
                </a:solidFill>
              </a:defRPr>
            </a:pPr>
            <a:r>
              <a:t>• It uses Linux’s MSG_NOSIGNAL for sends so that a broken connection becomes an error instead of terminating the process through SIGPIPE .</a:t>
            </a:r>
          </a:p>
          <a:p>
            <a:pPr>
              <a:spcAft>
                <a:spcPts val="1100"/>
              </a:spcAft>
              <a:defRPr sz="1900">
                <a:solidFill>
                  <a:srgbClr val="F2F5F8"/>
                </a:solidFill>
              </a:defRPr>
            </a:pPr>
            <a:r>
              <a:t>• The small socket timeouts are per-operation limits, not a complete whole-request deadline policy.</a:t>
            </a:r>
          </a:p>
          <a:p>
            <a:pPr>
              <a:spcAft>
                <a:spcPts val="1100"/>
              </a:spcAft>
              <a:defRPr sz="1900">
                <a:solidFill>
                  <a:srgbClr val="F2F5F8"/>
                </a:solidFill>
              </a:defRPr>
            </a:pPr>
            <a:r>
              <a:t>• Companion listing: ch51/net.hpp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bounded framed loopback exchange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ch51/net.hpp</a:t>
            </a:r>
          </a:p>
          <a:p>
            <a:pPr>
              <a:spcAft>
                <a:spcPts val="1100"/>
              </a:spcAft>
              <a:defRPr sz="1700">
                <a:solidFill>
                  <a:srgbClr val="F2F5F8"/>
                </a:solidFill>
              </a:defRPr>
            </a:pPr>
            <a:r>
              <a:t>• The driver binds only loopback, obtains the chosen port, and establishes the client connection before starting the accepting worker.</a:t>
            </a:r>
          </a:p>
          <a:p>
            <a:pPr>
              <a:spcAft>
                <a:spcPts val="1100"/>
              </a:spcAft>
              <a:defRPr sz="1900">
                <a:solidFill>
                  <a:srgbClr val="F2F5F8"/>
                </a:solidFill>
              </a:defRPr>
            </a:pPr>
            <a:r>
              <a:t>• This avoids leaving an accept worker waiting forever if the test’s initial connect fails.</a:t>
            </a:r>
          </a:p>
          <a:p>
            <a:pPr>
              <a:spcAft>
                <a:spcPts val="1100"/>
              </a:spcAft>
              <a:defRPr sz="1900">
                <a:solidFill>
                  <a:srgbClr val="F2F5F8"/>
                </a:solidFill>
              </a:defRPr>
            </a:pPr>
            <a:r>
              <a:t>• The server worker catches its own exceptions; the parent checks its result after joining.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TCP server lifecycle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server creates a socket, binds it to a local address, marks it listening, and calls accept to obtain a new connected socket for one client.</a:t>
            </a:r>
          </a:p>
          <a:p>
            <a:pPr>
              <a:spcAft>
                <a:spcPts val="1100"/>
              </a:spcAft>
              <a:defRPr sz="1900">
                <a:solidFill>
                  <a:srgbClr val="F2F5F8"/>
                </a:solidFill>
              </a:defRPr>
            </a:pPr>
            <a:r>
              <a:t>• The listening socket remains available for additional connections.</a:t>
            </a:r>
          </a:p>
          <a:p>
            <a:pPr>
              <a:spcAft>
                <a:spcPts val="1100"/>
              </a:spcAft>
              <a:defRPr sz="1900">
                <a:solidFill>
                  <a:srgbClr val="F2F5F8"/>
                </a:solidFill>
              </a:defRPr>
            </a:pPr>
            <a:r>
              <a:t>• The accepted descriptor carries the byte stream for that connection and should be closed independently.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TCP server lifecycle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server creates a socket, binds it to a local address, marks it listening, and calls accept to obtain a new connected socket for one client.</a:t>
            </a:r>
          </a:p>
          <a:p>
            <a:pPr>
              <a:spcAft>
                <a:spcPts val="1100"/>
              </a:spcAft>
              <a:defRPr sz="1900">
                <a:solidFill>
                  <a:srgbClr val="F2F5F8"/>
                </a:solidFill>
              </a:defRPr>
            </a:pPr>
            <a:r>
              <a:t>• The listening socket remains available for additional connections.</a:t>
            </a:r>
          </a:p>
          <a:p>
            <a:pPr>
              <a:spcAft>
                <a:spcPts val="1100"/>
              </a:spcAft>
              <a:defRPr sz="1900">
                <a:solidFill>
                  <a:srgbClr val="F2F5F8"/>
                </a:solidFill>
              </a:defRPr>
            </a:pPr>
            <a:r>
              <a:t>• The accepted descriptor carries the byte stream for that connection and should be closed independently.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Framing over a byte stream</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TCP preserves byte order but not application message boundaries.</a:t>
            </a:r>
          </a:p>
          <a:p>
            <a:pPr>
              <a:spcAft>
                <a:spcPts val="1100"/>
              </a:spcAft>
              <a:defRPr sz="1700">
                <a:solidFill>
                  <a:srgbClr val="F2F5F8"/>
                </a:solidFill>
              </a:defRPr>
            </a:pPr>
            <a:r>
              <a:t>• If a sender writes a 4-byte length followed by 100 payload bytes, the receiver may obtain those bytes across several reads.</a:t>
            </a:r>
          </a:p>
          <a:p>
            <a:pPr>
              <a:spcAft>
                <a:spcPts val="1100"/>
              </a:spcAft>
              <a:defRPr sz="1700">
                <a:solidFill>
                  <a:srgbClr val="F2F5F8"/>
                </a:solidFill>
              </a:defRPr>
            </a:pPr>
            <a:r>
              <a:t>• It must first accumulate exactly the framing header, decode the length safely, then accumulate exactly that many payload bytes subject to a configured maximum.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Framing over a byte stream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TCP preserves byte order but not application message boundaries.</a:t>
            </a:r>
          </a:p>
          <a:p>
            <a:pPr>
              <a:spcAft>
                <a:spcPts val="1100"/>
              </a:spcAft>
              <a:defRPr sz="1700">
                <a:solidFill>
                  <a:srgbClr val="F2F5F8"/>
                </a:solidFill>
              </a:defRPr>
            </a:pPr>
            <a:r>
              <a:t>• If a sender writes a 4-byte length followed by 100 payload bytes, the receiver may obtain those bytes across several reads.</a:t>
            </a:r>
          </a:p>
          <a:p>
            <a:pPr>
              <a:spcAft>
                <a:spcPts val="1100"/>
              </a:spcAft>
              <a:defRPr sz="1700">
                <a:solidFill>
                  <a:srgbClr val="F2F5F8"/>
                </a:solidFill>
              </a:defRPr>
            </a:pPr>
            <a:r>
              <a:t>• It must first accumulate exactly the framing header, decode the length safely, then accumulate exactly that many payload bytes subject to a configured maximum.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51.</a:t>
            </a:r>
          </a:p>
          <a:p>
            <a:pPr>
              <a:spcAft>
                <a:spcPts val="1100"/>
              </a:spcAft>
              <a:defRPr sz="1700">
                <a:solidFill>
                  <a:srgbClr val="F2F5F8"/>
                </a:solidFill>
              </a:defRPr>
            </a:pPr>
            <a:r>
              <a:t>• Add tests for an empty frame, a 1024-byte frame, an oversized prefix, EOF halfway through the prefix, and EOF halfway through the body.</a:t>
            </a:r>
          </a:p>
          <a:p>
            <a:pPr>
              <a:spcAft>
                <a:spcPts val="1100"/>
              </a:spcAft>
              <a:defRPr sz="1900">
                <a:solidFill>
                  <a:srgbClr val="F2F5F8"/>
                </a:solidFill>
              </a:defRPr>
            </a:pPr>
            <a:r>
              <a:t>• Use local socket pairs or loopback fixtures and bounded test timeouts.</a:t>
            </a:r>
          </a:p>
          <a:p>
            <a:pPr>
              <a:spcAft>
                <a:spcPts val="1100"/>
              </a:spcAft>
              <a:defRPr sz="1900">
                <a:solidFill>
                  <a:srgbClr val="F2F5F8"/>
                </a:solidFill>
              </a:defRPr>
            </a:pPr>
            <a:r>
              <a:t>• Do not expose the listener on a public interface.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Does one send correspond to one receive?</a:t>
            </a:r>
          </a:p>
          <a:p>
            <a:pPr>
              <a:spcAft>
                <a:spcPts val="1100"/>
              </a:spcAft>
              <a:defRPr sz="1900">
                <a:solidFill>
                  <a:srgbClr val="F2F5F8"/>
                </a:solidFill>
              </a:defRPr>
            </a:pPr>
            <a:r>
              <a:t>• Review 2.</a:t>
            </a:r>
          </a:p>
          <a:p>
            <a:pPr>
              <a:spcAft>
                <a:spcPts val="1100"/>
              </a:spcAft>
              <a:defRPr sz="1900">
                <a:solidFill>
                  <a:srgbClr val="F2F5F8"/>
                </a:solidFill>
              </a:defRPr>
            </a:pPr>
            <a:r>
              <a:t>• Why must length validation precede payload allocation?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network programming.</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Concurrent Servers.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51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