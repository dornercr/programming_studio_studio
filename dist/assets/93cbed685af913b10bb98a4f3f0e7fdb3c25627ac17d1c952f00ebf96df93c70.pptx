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59 — System Robustness</a:t>
            </a:r>
          </a:p>
          <a:p/>
          <a:p>
            <a:r>
              <a:t>LECTURE NARRATION</a:t>
            </a:r>
          </a:p>
          <a:p>
            <a:r>
              <a:t>Robustness is the ability to behave predictably when inputs are invalid, resources are unavailable, operations make partial progress, or dependencies fail. It requires explicit failure contracts and cleanup paths. A robust system does not have to succeed at every request; it must avoid turning a failed request into corruption, leakage, or an unexplained hang. Correctness on the normal path is only the beginning. Examine each resource acquisition and each externally visible update: what can fail before it, what can fail after it, and what state remains when that happens?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robustness is the ability to behave predictably when inputs are invalid, resources are unavailable, operations make partial progress, or dependencies fail.</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Robustness is the ability to behave predictably when inputs are invalid, resources are unavailable, operations make partial progress, or dependencies fail. It requires explicit failure contracts and cleanup paths. A robust system does not have to succeed at every request; it must avoid turning a failed request into corruption, leakage, or an unexplained hang. Correctness on the normal path is only the beginning. Examine each resource acquisition and each externally visible update: what can fail before it, what can fail after it, and what state remains when that happens?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robustness is the ability to behave predictably when inputs are invalid, resources are unavailable, operations make partial progress, or dependencies fail.</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59.1 Defensive programming 59.2 Error handling 59.3 Return values 59.4 errno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59.1 Defensive programming 59.2 Error handling 59.3 Return values 59.4 errno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59.1 Defensive programming</a:t>
            </a:r>
          </a:p>
          <a:p/>
          <a:p>
            <a:r>
              <a:t>LECTURE NARRATION</a:t>
            </a:r>
          </a:p>
          <a:p>
            <a:r>
              <a:t>Defensive programming validates assumptions at trust boundaries and makes internal invariants explicit. Validate external lengths, indexes, versions, and resource requests before using them. Keep validated values in a representation that will not silently change during later conversion. Avoid indiscriminate checks that conceal programming errors or continue with fabricated defaults. A failed invariant inside a component may require stopping that operation rather than proceeding with a “best guess” pointer or size. The response should preserve safety and make diagnosis possible.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defensive programming validates assumptions at trust boundaries and makes internal invariants explicit.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59.1 Defensive programming — Deep Dive</a:t>
            </a:r>
          </a:p>
          <a:p/>
          <a:p>
            <a:r>
              <a:t>LECTURE NARRATION</a:t>
            </a:r>
          </a:p>
          <a:p>
            <a:r>
              <a:t>Defensive programming validates assumptions at trust boundaries and makes internal invariants explicit. Validate external lengths, indexes, versions, and resource requests before using them. Keep validated values in a representation that will not silently change during later conversion. Avoid indiscriminate checks that conceal programming errors or continue with fabricated defaults. A failed invariant inside a component may require stopping that operation rather than proceeding with a “best guess” pointer or size. The response should preserve safety and make diagnosis possible.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defensive programming validates assumptions at trust boundaries and makes internal invariants explicit.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59.2 Error handling</a:t>
            </a:r>
          </a:p>
          <a:p/>
          <a:p>
            <a:r>
              <a:t>LECTURE NARRATION</a:t>
            </a:r>
          </a:p>
          <a:p>
            <a:r>
              <a:t>Error handling must define the operation’s postcondition after failure. Did nothing happen, did some bytes transfer, or did the update commit but its acknowledgment fail? These are different states with different retry rules. Design for idempotence where retries are expected. Repeating a read is different from repeating a money transfer or appending a record. An error does not necessarily mean that the remote side performed no work. Protocols need identifiers, transactions, or explicit reconciliation when duplicate effects would be harmful.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error handling must define the operation’s postcondition after failure.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59.2 Error handling — Deep Dive</a:t>
            </a:r>
          </a:p>
          <a:p/>
          <a:p>
            <a:r>
              <a:t>LECTURE NARRATION</a:t>
            </a:r>
          </a:p>
          <a:p>
            <a:r>
              <a:t>Error handling must define the operation’s postcondition after failure. Did nothing happen, did some bytes transfer, or did the update commit but its acknowledgment fail? These are different states with different retry rules. Design for idempotence where retries are expected. Repeating a read is different from repeating a money transfer or appending a record. An error does not necessarily mean that the remote side performed no work. Protocols need identifiers, transactions, or explicit reconciliation when duplicate effects would be harmful.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error handling must define the operation’s postcondition after failure.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59.3 Return values</a:t>
            </a:r>
          </a:p>
          <a:p/>
          <a:p>
            <a:r>
              <a:t>LECTURE NARRATION</a:t>
            </a:r>
          </a:p>
          <a:p>
            <a:r>
              <a:t>Use each interface’s documented failure indicator. A negative descriptor result, a null allocation result, MAP_FAILED , a short element count, and a C++ exception are not interchangeable conventions. Some APIs return an error number directly rather than storing it in errno , notably many POSIX thread interfaces. Reading errno after such a call can report an unrelated value. Wrap interfaces only after preserving their distinct contracts.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 each interface’s documented failure indicator.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59.3 Return values — Deep Dive</a:t>
            </a:r>
          </a:p>
          <a:p/>
          <a:p>
            <a:r>
              <a:t>LECTURE NARRATION</a:t>
            </a:r>
          </a:p>
          <a:p>
            <a:r>
              <a:t>Use each interface’s documented failure indicator. A negative descriptor result, a null allocation result, MAP_FAILED , a short element count, and a C++ exception are not interchangeable conventions. Some APIs return an error number directly rather than storing it in errno , notably many POSIX thread interfaces. Reading errno after such a call can report an unrelated value. Wrap interfaces only after preserving their distinct contracts.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 each interface’s documented failure indicator.</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59.4 errno</a:t>
            </a:r>
          </a:p>
          <a:p/>
          <a:p>
            <a:r>
              <a:t>LECTURE NARRATION</a:t>
            </a:r>
          </a:p>
          <a:p>
            <a:r>
              <a:t>errno is meaningful when an interface documents that its failure result sets it. A successful call need not clear an old error value. Inspecting errno after success can therefore diagnose a failure that never occurred. Save the error code before cleanup or logging that could change it. Report the failed operation and relevant safe context, not just an unexplained number. In multithreaded POSIX environments, errno access is thread-specific, but that does not make stale values meaningful. [ R54 ]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errno is meaningful when an interface documents that its failure result sets it.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59.4 errno — Deep Dive</a:t>
            </a:r>
          </a:p>
          <a:p/>
          <a:p>
            <a:r>
              <a:t>LECTURE NARRATION</a:t>
            </a:r>
          </a:p>
          <a:p>
            <a:r>
              <a:t>errno is meaningful when an interface documents that its failure result sets it. A successful call need not clear an old error value. Inspecting errno after success can therefore diagnose a failure that never occurred. Save the error code before cleanup or logging that could change it. Report the failed operation and relevant safe context, not just an unexplained number. In multithreaded POSIX environments, errno access is thread-specific, but that does not make stale values meaningful. [ R54 ]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errno is meaningful when an interface documents that its failure result sets it.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59.5 Assertions</a:t>
            </a:r>
          </a:p>
          <a:p/>
          <a:p>
            <a:r>
              <a:t>LECTURE NARRATION</a:t>
            </a:r>
          </a:p>
          <a:p>
            <a:r>
              <a:t>Assertions document and test internal invariants. They are not a substitute for validating untrusted input because ordinary C/C++ assertion checks can be disabled in builds defining NDEBUG . Do not place required side effects inside an assertion. assert(close(fd) == 0) can remove the close operation when assertions are disabled. Perform the operation explicitly, handle its result, and use assertions only for checks whose removal does not change required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assertions document and test internal invariants.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59.5 Assertions — Deep Dive</a:t>
            </a:r>
          </a:p>
          <a:p/>
          <a:p>
            <a:r>
              <a:t>LECTURE NARRATION</a:t>
            </a:r>
          </a:p>
          <a:p>
            <a:r>
              <a:t>Assertions document and test internal invariants. They are not a substitute for validating untrusted input because ordinary C/C++ assertion checks can be disabled in builds defining NDEBUG . Do not place required side effects inside an assertion. assert(close(fd) == 0) can remove the close operation when assertions are disabled. Perform the operation explicitly, handle its result, and use assertions only for checks whose removal does not change required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assertions document and test internal invariants.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59.6 Sanitizers</a:t>
            </a:r>
          </a:p>
          <a:p/>
          <a:p>
            <a:r>
              <a:t>LECTURE NARRATION</a:t>
            </a:r>
          </a:p>
          <a:p>
            <a:r>
              <a:t>AddressSanitizer, UndefinedBehaviorSanitizer, and ThreadSanitizer instrument different classes of behavior. Their availability, compatible combinations, and runtime requirements differ. Address and undefined-behavior checks are commonly combined; thread-race checking should normally use a separate build. [ R5 , R6 , R53 ] A clean run means that the enabled instrumentation reported no covered failure during that execution. It does not prove memory safety, race freedom, or correct recovery on unexecuted paths. Keep compiler warnings, static analysis, boundary tests, and design review alongside instrumentation.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addressSanitizer, UndefinedBehaviorSanitizer, and ThreadSanitizer instrument different classes of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59.6 Sanitizers — Deep Dive</a:t>
            </a:r>
          </a:p>
          <a:p/>
          <a:p>
            <a:r>
              <a:t>LECTURE NARRATION</a:t>
            </a:r>
          </a:p>
          <a:p>
            <a:r>
              <a:t>AddressSanitizer, UndefinedBehaviorSanitizer, and ThreadSanitizer instrument different classes of behavior. Their availability, compatible combinations, and runtime requirements differ. Address and undefined-behavior checks are commonly combined; thread-race checking should normally use a separate build. [ R5 , R6 , R53 ] A clean run means that the enabled instrumentation reported no covered failure during that execution. It does not prove memory safety, race freedom, or correct recovery on unexecuted paths. Keep compiler warnings, static analysis, boundary tests, and design review alongside instrumentation.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addressSanitizer, UndefinedBehaviorSanitizer, and ThreadSanitizer instrument different classes of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59.7 Resource cleanup</a:t>
            </a:r>
          </a:p>
          <a:p/>
          <a:p>
            <a:r>
              <a:t>LECTURE NARRATION</a:t>
            </a:r>
          </a:p>
          <a:p>
            <a:r>
              <a:t>Cleanup releases every owned resource exactly once: memory, descriptors, mappings, threads, temporary files, and permits. RAII in C++ and structured cleanup paths in C make the ownership visible during both normal returns and failures. Destructors should not casually throw during stack unwinding. Operations whose completion can fail meaningfully, such as flushing durable output, often need an explicit checked completion method before fallback destruction. Cleanup that merely prevents leaks is not the same as successful commit.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cleanup releases every owned resource exactly once: memory, descriptors, mappings, threads, temporary files, and permits.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59.7 Resource cleanup — Deep Dive</a:t>
            </a:r>
          </a:p>
          <a:p/>
          <a:p>
            <a:r>
              <a:t>LECTURE NARRATION</a:t>
            </a:r>
          </a:p>
          <a:p>
            <a:r>
              <a:t>Cleanup releases every owned resource exactly once: memory, descriptors, mappings, threads, temporary files, and permits. RAII in C++ and structured cleanup paths in C make the ownership visible during both normal returns and failures. Destructors should not casually throw during stack unwinding. Operations whose completion can fail meaningfully, such as flushing durable output, often need an explicit checked completion method before fallback destruction. Cleanup that merely prevents leaks is not the same as successful commit.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cleanup releases every owned resource exactly once: memory, descriptors, mappings, threads, temporary files, and permits.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59.8 Failure recovery</a:t>
            </a:r>
          </a:p>
          <a:p/>
          <a:p>
            <a:r>
              <a:t>LECTURE NARRATION</a:t>
            </a:r>
          </a:p>
          <a:p>
            <a:r>
              <a:t>Recovery establishes a known consistent state after failure. Common techniques include constructing a new result before replacing the old one, writing temporary files before rename, logging transactions, and restarting isolated workers. Atomic visibility and durable persistence are different guarantees. A rename can make a new pathname visible atomically under filesystem rules, while durable recovery after power loss can require synchronizing the file and containing directory. The exact guarantee also depends on filesystem and hardware behavior.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recovery establishes a known consistent state after failure.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59.8 Failure recovery — Deep Dive</a:t>
            </a:r>
          </a:p>
          <a:p/>
          <a:p>
            <a:r>
              <a:t>LECTURE NARRATION</a:t>
            </a:r>
          </a:p>
          <a:p>
            <a:r>
              <a:t>Recovery establishes a known consistent state after failure. Common techniques include constructing a new result before replacing the old one, writing temporary files before rename, logging transactions, and restarting isolated workers. Atomic visibility and durable persistence are different guarantees. A rename can make a new pathname visible atomically under filesystem rules, while durable recovery after power loss can require synchronizing the file and containing directory. The exact guarantee also depends on filesystem and hardware behavior.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recovery establishes a known consistent state after failure.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 checked snapshot protocol in a private temporary directory</a:t>
            </a:r>
          </a:p>
          <a:p/>
          <a:p>
            <a:r>
              <a:t>LECTURE NARRATION</a:t>
            </a:r>
          </a:p>
          <a:p>
            <a:r>
              <a:t>The program below creates its own temporary directory, writes a new snapshot, synchronizes it, closes it, renames it into place, and synchronizes the directory. It then verifies the bytes and removes only its own test artifacts. It does not operate on an existing user file. Companion listing: ch59/snapshot.c The expected output is snapshot checks passed on a filesystem supporting the requested synchronization. The test verifies successful API sequencing and byte contents. It does not simulate power loss, prove a storage device’s behavior, or establish crash consistency on every filesystem. The commit point also matters for real recovery. If rename succeeds but directory synchronization fails, the new file may already be visible even though the requested durability was not confirmed. A production API should report that distinction instead of promising that failure means “nothing changed.” This private test removes its own artifacts after either path, which is appropriate for a lab but not a replacement for an application’s recovery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program below creates its own temporary directory, writes a new snapshot, synchronizes it, closes it, renames it into place, and synchronizes the directory.</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 checked snapshot protocol in a private temporary directory — Deep Dive</a:t>
            </a:r>
          </a:p>
          <a:p/>
          <a:p>
            <a:r>
              <a:t>LECTURE NARRATION</a:t>
            </a:r>
          </a:p>
          <a:p>
            <a:r>
              <a:t>The program below creates its own temporary directory, writes a new snapshot, synchronizes it, closes it, renames it into place, and synchronizes the directory. It then verifies the bytes and removes only its own test artifacts. It does not operate on an existing user file. Companion listing: ch59/snapshot.c The expected output is snapshot checks passed on a filesystem supporting the requested synchronization. The test verifies successful API sequencing and byte contents. It does not simulate power loss, prove a storage device’s behavior, or establish crash consistency on every filesystem. The commit point also matters for real recovery. If rename succeeds but directory synchronization fails, the new file may already be visible even though the requested durability was not confirmed. A production API should report that distinction instead of promising that failure means “nothing changed.” This private test removes its own artifacts after either path, which is appropriate for a lab but not a replacement for an application’s recovery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program below creates its own temporary directory, writes a new snapshot, synchronizes it, closes it, renames it into place, and synchronizes the directory.</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errno handling</a:t>
            </a:r>
          </a:p>
          <a:p/>
          <a:p>
            <a:r>
              <a:t>LECTURE NARRATION</a:t>
            </a:r>
          </a:p>
          <a:p>
            <a:r>
              <a:t>A function such as open indicates failure through its documented return value. Only after detecting failure should code inspect errno , because unrelated successful library calls may leave old errno values unchanged. Save the error code if subsequent operations could overwrite it before reporting or cleanup.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function such as open indicates failure through its documented return value.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errno handling — Deep Dive</a:t>
            </a:r>
          </a:p>
          <a:p/>
          <a:p>
            <a:r>
              <a:t>LECTURE NARRATION</a:t>
            </a:r>
          </a:p>
          <a:p>
            <a:r>
              <a:t>A function such as open indicates failure through its documented return value. Only after detecting failure should code inspect errno , because unrelated successful library calls may leave old errno values unchanged. Save the error code if subsequent operations could overwrite it before reporting or cleanup.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function such as open indicates failure through its documented return value.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Cleanup on partial failure</a:t>
            </a:r>
          </a:p>
          <a:p/>
          <a:p>
            <a:r>
              <a:t>LECTURE NARRATION</a:t>
            </a:r>
          </a:p>
          <a:p>
            <a:r>
              <a:t>Suppose initialization opens a file, allocates a buffer, then fails to create a thread. Recovery must release the buffer and close the file while avoiding cleanup for resources never acquired. RAII in C++ or structured cleanup paths in C make ownership states explicit so every exit path restores a valid resource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initialization opens a file, allocates a buffer, then fails to create a thread.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Cleanup on partial failure — Deep Dive</a:t>
            </a:r>
          </a:p>
          <a:p/>
          <a:p>
            <a:r>
              <a:t>LECTURE NARRATION</a:t>
            </a:r>
          </a:p>
          <a:p>
            <a:r>
              <a:t>Suppose initialization opens a file, allocates a buffer, then fails to create a thread. Recovery must release the buffer and close the file while avoiding cleanup for resources never acquired. RAII in C++ or structured cleanup paths in C make ownership states explicit so every exit path restores a valid resource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initialization opens a file, allocates a buffer, then fails to create a thread.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59. Write a failure-state table for each stage: before creation, after partial write, after file synchronization, after rename, and after directory synchronization. For each, state which names may exist and whether the new state is visible or durably confirmed under the assumed filesystem contract. Do not simulate device failure on a machine holding valuable data. Review 1. Why is errno after success unreliable? Review 2. Why should required cleanup never be placed only inside an assertion?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59.</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59. Write a failure-state table for each stage: before creation, after partial write, after file synchronization, after rename, and after directory synchronization. For each, state which names may exist and whether the new state is visible or durably confirmed under the assumed filesystem contract. Do not simulate device failure on a machine holding valuable data. Review 1. Why is errno after success unreliable? Review 2. Why should required cleanup never be placed only inside an assertion?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59.</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system robustness.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system robustness.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From Source Code to Running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59 — System Robustness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Robustness is the ability to behave predictably when inputs are invalid, resources are unavailable, operations make partial progress, or dependencies fail.</a:t>
            </a:r>
          </a:p>
          <a:p>
            <a:pPr>
              <a:spcAft>
                <a:spcPts val="1100"/>
              </a:spcAft>
              <a:defRPr sz="1900">
                <a:solidFill>
                  <a:srgbClr val="F2F5F8"/>
                </a:solidFill>
              </a:defRPr>
            </a:pPr>
            <a:r>
              <a:t>• It requires explicit failure contracts and cleanup paths.</a:t>
            </a:r>
          </a:p>
          <a:p>
            <a:pPr>
              <a:spcAft>
                <a:spcPts val="1100"/>
              </a:spcAft>
              <a:defRPr sz="1700">
                <a:solidFill>
                  <a:srgbClr val="F2F5F8"/>
                </a:solidFill>
              </a:defRPr>
            </a:pPr>
            <a:r>
              <a:t>• A robust system does not have to succeed at every request; it must avoid turning a failed request into corruption, leakage, or an unexplained hang.</a:t>
            </a:r>
          </a:p>
          <a:p>
            <a:pPr>
              <a:spcAft>
                <a:spcPts val="1100"/>
              </a:spcAft>
              <a:defRPr sz="1900">
                <a:solidFill>
                  <a:srgbClr val="F2F5F8"/>
                </a:solidFill>
              </a:defRPr>
            </a:pPr>
            <a:r>
              <a:t>• Correctness on the normal path is only the beginning.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System Robustness.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59.1 Defensive programming</a:t>
            </a:r>
          </a:p>
          <a:p>
            <a:pPr>
              <a:spcAft>
                <a:spcPts val="1100"/>
              </a:spcAft>
              <a:defRPr sz="1900">
                <a:solidFill>
                  <a:srgbClr val="F2F5F8"/>
                </a:solidFill>
              </a:defRPr>
            </a:pPr>
            <a:r>
              <a:t>• 59.2 Error handling</a:t>
            </a:r>
          </a:p>
          <a:p>
            <a:pPr>
              <a:spcAft>
                <a:spcPts val="1100"/>
              </a:spcAft>
              <a:defRPr sz="1900">
                <a:solidFill>
                  <a:srgbClr val="F2F5F8"/>
                </a:solidFill>
              </a:defRPr>
            </a:pPr>
            <a:r>
              <a:t>• 59.3 Return values</a:t>
            </a:r>
          </a:p>
          <a:p>
            <a:pPr>
              <a:spcAft>
                <a:spcPts val="1100"/>
              </a:spcAft>
              <a:defRPr sz="1900">
                <a:solidFill>
                  <a:srgbClr val="F2F5F8"/>
                </a:solidFill>
              </a:defRPr>
            </a:pPr>
            <a:r>
              <a:t>• 59.4 errno</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59.1 Defensive programming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Defensive programming validates assumptions at trust boundaries and makes internal invariants explicit.</a:t>
            </a:r>
          </a:p>
          <a:p>
            <a:pPr>
              <a:spcAft>
                <a:spcPts val="1100"/>
              </a:spcAft>
              <a:defRPr sz="1900">
                <a:solidFill>
                  <a:srgbClr val="F2F5F8"/>
                </a:solidFill>
              </a:defRPr>
            </a:pPr>
            <a:r>
              <a:t>• Validate external lengths, indexes, versions, and resource requests before using them.</a:t>
            </a:r>
          </a:p>
          <a:p>
            <a:pPr>
              <a:spcAft>
                <a:spcPts val="1100"/>
              </a:spcAft>
              <a:defRPr sz="1900">
                <a:solidFill>
                  <a:srgbClr val="F2F5F8"/>
                </a:solidFill>
              </a:defRPr>
            </a:pPr>
            <a:r>
              <a:t>• Keep validated values in a representation that will not silently change during later conversion.</a:t>
            </a:r>
          </a:p>
          <a:p>
            <a:pPr>
              <a:spcAft>
                <a:spcPts val="1100"/>
              </a:spcAft>
              <a:defRPr sz="1900">
                <a:solidFill>
                  <a:srgbClr val="F2F5F8"/>
                </a:solidFill>
              </a:defRPr>
            </a:pPr>
            <a:r>
              <a:t>• Avoid indiscriminate checks that conceal programming errors or continue with fabricated defaults.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59.1 Defensive programming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Avoid indiscriminate checks that conceal programming errors or continue with fabricated defaults.</a:t>
            </a:r>
          </a:p>
          <a:p>
            <a:pPr>
              <a:spcAft>
                <a:spcPts val="1100"/>
              </a:spcAft>
              <a:defRPr sz="1700">
                <a:solidFill>
                  <a:srgbClr val="F2F5F8"/>
                </a:solidFill>
              </a:defRPr>
            </a:pPr>
            <a:r>
              <a:t>• A failed invariant inside a component may require stopping that operation rather than proceeding with a “best guess” pointer or size.</a:t>
            </a:r>
          </a:p>
          <a:p>
            <a:pPr>
              <a:spcAft>
                <a:spcPts val="1100"/>
              </a:spcAft>
              <a:defRPr sz="1900">
                <a:solidFill>
                  <a:srgbClr val="F2F5F8"/>
                </a:solidFill>
              </a:defRPr>
            </a:pPr>
            <a:r>
              <a:t>• The response should preserve safety and make diagnosis possible.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59.2 Error handling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Error handling must define the operation’s postcondition after failure.</a:t>
            </a:r>
          </a:p>
          <a:p>
            <a:pPr>
              <a:spcAft>
                <a:spcPts val="1100"/>
              </a:spcAft>
              <a:defRPr sz="1900">
                <a:solidFill>
                  <a:srgbClr val="F2F5F8"/>
                </a:solidFill>
              </a:defRPr>
            </a:pPr>
            <a:r>
              <a:t>• Did nothing happen, did some bytes transfer, or did the update commit but its acknowledgment fail?</a:t>
            </a:r>
          </a:p>
          <a:p>
            <a:pPr>
              <a:spcAft>
                <a:spcPts val="1100"/>
              </a:spcAft>
              <a:defRPr sz="1900">
                <a:solidFill>
                  <a:srgbClr val="F2F5F8"/>
                </a:solidFill>
              </a:defRPr>
            </a:pPr>
            <a:r>
              <a:t>• These are different states with different retry rules.</a:t>
            </a:r>
          </a:p>
          <a:p>
            <a:pPr>
              <a:spcAft>
                <a:spcPts val="1100"/>
              </a:spcAft>
              <a:defRPr sz="1900">
                <a:solidFill>
                  <a:srgbClr val="F2F5F8"/>
                </a:solidFill>
              </a:defRPr>
            </a:pPr>
            <a:r>
              <a:t>• Design for idempotence where retries are expected.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59.2 Error handling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Design for idempotence where retries are expected.</a:t>
            </a:r>
          </a:p>
          <a:p>
            <a:pPr>
              <a:spcAft>
                <a:spcPts val="1100"/>
              </a:spcAft>
              <a:defRPr sz="1900">
                <a:solidFill>
                  <a:srgbClr val="F2F5F8"/>
                </a:solidFill>
              </a:defRPr>
            </a:pPr>
            <a:r>
              <a:t>• Repeating a read is different from repeating a money transfer or appending a record.</a:t>
            </a:r>
          </a:p>
          <a:p>
            <a:pPr>
              <a:spcAft>
                <a:spcPts val="1100"/>
              </a:spcAft>
              <a:defRPr sz="1900">
                <a:solidFill>
                  <a:srgbClr val="F2F5F8"/>
                </a:solidFill>
              </a:defRPr>
            </a:pPr>
            <a:r>
              <a:t>• An error does not necessarily mean that the remote side performed no work.</a:t>
            </a:r>
          </a:p>
          <a:p>
            <a:pPr>
              <a:spcAft>
                <a:spcPts val="1100"/>
              </a:spcAft>
              <a:defRPr sz="1900">
                <a:solidFill>
                  <a:srgbClr val="F2F5F8"/>
                </a:solidFill>
              </a:defRPr>
            </a:pPr>
            <a:r>
              <a:t>• Protocols need identifiers, transactions, or explicit reconciliation when duplicate effects would be harmful.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59.3 Return values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each interface’s documented failure indicator.</a:t>
            </a:r>
          </a:p>
          <a:p>
            <a:pPr>
              <a:spcAft>
                <a:spcPts val="1100"/>
              </a:spcAft>
              <a:defRPr sz="1700">
                <a:solidFill>
                  <a:srgbClr val="F2F5F8"/>
                </a:solidFill>
              </a:defRPr>
            </a:pPr>
            <a:r>
              <a:t>• A negative descriptor result, a null allocation result, MAP_FAILED , a short element count, and a C++ exception are not interchangeable conventions.</a:t>
            </a:r>
          </a:p>
          <a:p>
            <a:pPr>
              <a:spcAft>
                <a:spcPts val="1100"/>
              </a:spcAft>
              <a:defRPr sz="1900">
                <a:solidFill>
                  <a:srgbClr val="F2F5F8"/>
                </a:solidFill>
              </a:defRPr>
            </a:pPr>
            <a:r>
              <a:t>• Some APIs return an error number directly rather than storing it in errno , notably many POSIX thread interfaces.</a:t>
            </a:r>
          </a:p>
          <a:p>
            <a:pPr>
              <a:spcAft>
                <a:spcPts val="1100"/>
              </a:spcAft>
              <a:defRPr sz="1900">
                <a:solidFill>
                  <a:srgbClr val="F2F5F8"/>
                </a:solidFill>
              </a:defRPr>
            </a:pPr>
            <a:r>
              <a:t>• Reading errno after such a call can report an unrelated value.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59.3 Return values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Some APIs return an error number directly rather than storing it in errno , notably many POSIX thread interfaces.</a:t>
            </a:r>
          </a:p>
          <a:p>
            <a:pPr>
              <a:spcAft>
                <a:spcPts val="1100"/>
              </a:spcAft>
              <a:defRPr sz="1900">
                <a:solidFill>
                  <a:srgbClr val="F2F5F8"/>
                </a:solidFill>
              </a:defRPr>
            </a:pPr>
            <a:r>
              <a:t>• Reading errno after such a call can report an unrelated value.</a:t>
            </a:r>
          </a:p>
          <a:p>
            <a:pPr>
              <a:spcAft>
                <a:spcPts val="1100"/>
              </a:spcAft>
              <a:defRPr sz="1900">
                <a:solidFill>
                  <a:srgbClr val="F2F5F8"/>
                </a:solidFill>
              </a:defRPr>
            </a:pPr>
            <a:r>
              <a:t>• Wrap interfaces only after preserving their distinct contracts.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59.4 errno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errno is meaningful when an interface documents that its failure result sets it.</a:t>
            </a:r>
          </a:p>
          <a:p>
            <a:pPr>
              <a:spcAft>
                <a:spcPts val="1100"/>
              </a:spcAft>
              <a:defRPr sz="1900">
                <a:solidFill>
                  <a:srgbClr val="F2F5F8"/>
                </a:solidFill>
              </a:defRPr>
            </a:pPr>
            <a:r>
              <a:t>• A successful call need not clear an old error value.</a:t>
            </a:r>
          </a:p>
          <a:p>
            <a:pPr>
              <a:spcAft>
                <a:spcPts val="1100"/>
              </a:spcAft>
              <a:defRPr sz="1900">
                <a:solidFill>
                  <a:srgbClr val="F2F5F8"/>
                </a:solidFill>
              </a:defRPr>
            </a:pPr>
            <a:r>
              <a:t>• Inspecting errno after success can therefore diagnose a failure that never occurred.</a:t>
            </a:r>
          </a:p>
          <a:p>
            <a:pPr>
              <a:spcAft>
                <a:spcPts val="1100"/>
              </a:spcAft>
              <a:defRPr sz="1900">
                <a:solidFill>
                  <a:srgbClr val="F2F5F8"/>
                </a:solidFill>
              </a:defRPr>
            </a:pPr>
            <a:r>
              <a:t>• Save the error code before cleanup or logging that could change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59.4 errno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Save the error code before cleanup or logging that could change it.</a:t>
            </a:r>
          </a:p>
          <a:p>
            <a:pPr>
              <a:spcAft>
                <a:spcPts val="1100"/>
              </a:spcAft>
              <a:defRPr sz="1900">
                <a:solidFill>
                  <a:srgbClr val="F2F5F8"/>
                </a:solidFill>
              </a:defRPr>
            </a:pPr>
            <a:r>
              <a:t>• Report the failed operation and relevant safe context, not just an unexplained number.</a:t>
            </a:r>
          </a:p>
          <a:p>
            <a:pPr>
              <a:spcAft>
                <a:spcPts val="1100"/>
              </a:spcAft>
              <a:defRPr sz="1700">
                <a:solidFill>
                  <a:srgbClr val="F2F5F8"/>
                </a:solidFill>
              </a:defRPr>
            </a:pPr>
            <a:r>
              <a:t>• In multithreaded POSIX environments, errno access is thread-specific, but that does not make stale values meaningful. [ R54 ]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59.5 Assertions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Assertions document and test internal invariants.</a:t>
            </a:r>
          </a:p>
          <a:p>
            <a:pPr>
              <a:spcAft>
                <a:spcPts val="1100"/>
              </a:spcAft>
              <a:defRPr sz="1700">
                <a:solidFill>
                  <a:srgbClr val="F2F5F8"/>
                </a:solidFill>
              </a:defRPr>
            </a:pPr>
            <a:r>
              <a:t>• They are not a substitute for validating untrusted input because ordinary C/C++ assertion checks can be disabled in builds defining NDEBUG .</a:t>
            </a:r>
          </a:p>
          <a:p>
            <a:pPr>
              <a:spcAft>
                <a:spcPts val="1100"/>
              </a:spcAft>
              <a:defRPr sz="1700">
                <a:solidFill>
                  <a:srgbClr val="F2F5F8"/>
                </a:solidFill>
              </a:defRPr>
            </a:pPr>
            <a:r>
              <a:t>• Do not place required side effects inside an assertion. assert(close(fd) == 0) can remove the close operation when assertions are disabled.</a:t>
            </a:r>
          </a:p>
          <a:p>
            <a:pPr>
              <a:spcAft>
                <a:spcPts val="1100"/>
              </a:spcAft>
              <a:defRPr sz="1700">
                <a:solidFill>
                  <a:srgbClr val="F2F5F8"/>
                </a:solidFill>
              </a:defRPr>
            </a:pPr>
            <a:r>
              <a:t>• Perform the operation explicitly, handle its result, and use assertions only for checks whose removal does not change required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59.5 Assertions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Do not place required side effects inside an assertion. assert(close(fd) == 0) can remove the close operation when assertions are disabled.</a:t>
            </a:r>
          </a:p>
          <a:p>
            <a:pPr>
              <a:spcAft>
                <a:spcPts val="1100"/>
              </a:spcAft>
              <a:defRPr sz="1700">
                <a:solidFill>
                  <a:srgbClr val="F2F5F8"/>
                </a:solidFill>
              </a:defRPr>
            </a:pPr>
            <a:r>
              <a:t>• Perform the operation explicitly, handle its result, and use assertions only for checks whose removal does not change required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59.6 Sanitizers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AddressSanitizer, UndefinedBehaviorSanitizer, and ThreadSanitizer instrument different classes of behavior.</a:t>
            </a:r>
          </a:p>
          <a:p>
            <a:pPr>
              <a:spcAft>
                <a:spcPts val="1100"/>
              </a:spcAft>
              <a:defRPr sz="1900">
                <a:solidFill>
                  <a:srgbClr val="F2F5F8"/>
                </a:solidFill>
              </a:defRPr>
            </a:pPr>
            <a:r>
              <a:t>• Their availability, compatible combinations, and runtime requirements differ.</a:t>
            </a:r>
          </a:p>
          <a:p>
            <a:pPr>
              <a:spcAft>
                <a:spcPts val="1100"/>
              </a:spcAft>
              <a:defRPr sz="1700">
                <a:solidFill>
                  <a:srgbClr val="F2F5F8"/>
                </a:solidFill>
              </a:defRPr>
            </a:pPr>
            <a:r>
              <a:t>• Address and undefined-behavior checks are commonly combined; thread-race checking should normally use a separate build. [ R5 , R6 , R53 ]</a:t>
            </a:r>
          </a:p>
          <a:p>
            <a:pPr>
              <a:spcAft>
                <a:spcPts val="1100"/>
              </a:spcAft>
              <a:defRPr sz="1900">
                <a:solidFill>
                  <a:srgbClr val="F2F5F8"/>
                </a:solidFill>
              </a:defRPr>
            </a:pPr>
            <a:r>
              <a:t>• A clean run means that the enabled instrumentation reported no covered failure during that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59.6 Sanitizers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clean run means that the enabled instrumentation reported no covered failure during that execution.</a:t>
            </a:r>
          </a:p>
          <a:p>
            <a:pPr>
              <a:spcAft>
                <a:spcPts val="1100"/>
              </a:spcAft>
              <a:defRPr sz="1900">
                <a:solidFill>
                  <a:srgbClr val="F2F5F8"/>
                </a:solidFill>
              </a:defRPr>
            </a:pPr>
            <a:r>
              <a:t>• It does not prove memory safety, race freedom, or correct recovery on unexecuted paths.</a:t>
            </a:r>
          </a:p>
          <a:p>
            <a:pPr>
              <a:spcAft>
                <a:spcPts val="1100"/>
              </a:spcAft>
              <a:defRPr sz="1900">
                <a:solidFill>
                  <a:srgbClr val="F2F5F8"/>
                </a:solidFill>
              </a:defRPr>
            </a:pPr>
            <a:r>
              <a:t>• Keep compiler warnings, static analysis, boundary tests, and design review alongside instrumentation.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59.7 Resource cleanup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Cleanup releases every owned resource exactly once: memory, descriptors, mappings, threads, temporary files, and permits.</a:t>
            </a:r>
          </a:p>
          <a:p>
            <a:pPr>
              <a:spcAft>
                <a:spcPts val="1100"/>
              </a:spcAft>
              <a:defRPr sz="1900">
                <a:solidFill>
                  <a:srgbClr val="F2F5F8"/>
                </a:solidFill>
              </a:defRPr>
            </a:pPr>
            <a:r>
              <a:t>• RAII in C++ and structured cleanup paths in C make the ownership visible during both normal returns and failures.</a:t>
            </a:r>
          </a:p>
          <a:p>
            <a:pPr>
              <a:spcAft>
                <a:spcPts val="1100"/>
              </a:spcAft>
              <a:defRPr sz="1900">
                <a:solidFill>
                  <a:srgbClr val="F2F5F8"/>
                </a:solidFill>
              </a:defRPr>
            </a:pPr>
            <a:r>
              <a:t>• Destructors should not casually throw during stack unwinding.</a:t>
            </a:r>
          </a:p>
          <a:p>
            <a:pPr>
              <a:spcAft>
                <a:spcPts val="1100"/>
              </a:spcAft>
              <a:defRPr sz="1700">
                <a:solidFill>
                  <a:srgbClr val="F2F5F8"/>
                </a:solidFill>
              </a:defRPr>
            </a:pPr>
            <a:r>
              <a:t>• Operations whose completion can fail meaningfully, such as flushing durable output, often need an explicit checked completion method before fallback destruction.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59.7 Resource cleanup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Destructors should not casually throw during stack unwinding.</a:t>
            </a:r>
          </a:p>
          <a:p>
            <a:pPr>
              <a:spcAft>
                <a:spcPts val="1100"/>
              </a:spcAft>
              <a:defRPr sz="1700">
                <a:solidFill>
                  <a:srgbClr val="F2F5F8"/>
                </a:solidFill>
              </a:defRPr>
            </a:pPr>
            <a:r>
              <a:t>• Operations whose completion can fail meaningfully, such as flushing durable output, often need an explicit checked completion method before fallback destruction.</a:t>
            </a:r>
          </a:p>
          <a:p>
            <a:pPr>
              <a:spcAft>
                <a:spcPts val="1100"/>
              </a:spcAft>
              <a:defRPr sz="1900">
                <a:solidFill>
                  <a:srgbClr val="F2F5F8"/>
                </a:solidFill>
              </a:defRPr>
            </a:pPr>
            <a:r>
              <a:t>• Cleanup that merely prevents leaks is not the same as successful commit.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59.8 Failure recovery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Recovery establishes a known consistent state after failure.</a:t>
            </a:r>
          </a:p>
          <a:p>
            <a:pPr>
              <a:spcAft>
                <a:spcPts val="1100"/>
              </a:spcAft>
              <a:defRPr sz="1700">
                <a:solidFill>
                  <a:srgbClr val="F2F5F8"/>
                </a:solidFill>
              </a:defRPr>
            </a:pPr>
            <a:r>
              <a:t>• Common techniques include constructing a new result before replacing the old one, writing temporary files before rename, logging transactions, and restarting isolated workers.</a:t>
            </a:r>
          </a:p>
          <a:p>
            <a:pPr>
              <a:spcAft>
                <a:spcPts val="1100"/>
              </a:spcAft>
              <a:defRPr sz="1900">
                <a:solidFill>
                  <a:srgbClr val="F2F5F8"/>
                </a:solidFill>
              </a:defRPr>
            </a:pPr>
            <a:r>
              <a:t>• Atomic visibility and durable persistence are different guarantees.</a:t>
            </a:r>
          </a:p>
          <a:p>
            <a:pPr>
              <a:spcAft>
                <a:spcPts val="1100"/>
              </a:spcAft>
              <a:defRPr sz="1700">
                <a:solidFill>
                  <a:srgbClr val="F2F5F8"/>
                </a:solidFill>
              </a:defRPr>
            </a:pPr>
            <a:r>
              <a:t>• A rename can make a new pathname visible atomically under filesystem rules, while durable recovery after power loss can require synchronizing the file and containing directory.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59.8 Failure recovery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Atomic visibility and durable persistence are different guarantees.</a:t>
            </a:r>
          </a:p>
          <a:p>
            <a:pPr>
              <a:spcAft>
                <a:spcPts val="1100"/>
              </a:spcAft>
              <a:defRPr sz="1700">
                <a:solidFill>
                  <a:srgbClr val="F2F5F8"/>
                </a:solidFill>
              </a:defRPr>
            </a:pPr>
            <a:r>
              <a:t>• A rename can make a new pathname visible atomically under filesystem rules, while durable recovery after power loss can require synchronizing the file and containing...</a:t>
            </a:r>
          </a:p>
          <a:p>
            <a:pPr>
              <a:spcAft>
                <a:spcPts val="1100"/>
              </a:spcAft>
              <a:defRPr sz="1900">
                <a:solidFill>
                  <a:srgbClr val="F2F5F8"/>
                </a:solidFill>
              </a:defRPr>
            </a:pPr>
            <a:r>
              <a:t>• The exact guarantee also depends on filesystem and hardware behavior. [ R33 ]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checked snapshot protocol in a private temporary directory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program below creates its own temporary directory, writes a new snapshot, synchronizes it, closes it, renames it into place, and synchronizes the directory.</a:t>
            </a:r>
          </a:p>
          <a:p>
            <a:pPr>
              <a:spcAft>
                <a:spcPts val="1100"/>
              </a:spcAft>
              <a:defRPr sz="1900">
                <a:solidFill>
                  <a:srgbClr val="F2F5F8"/>
                </a:solidFill>
              </a:defRPr>
            </a:pPr>
            <a:r>
              <a:t>• It then verifies the bytes and removes only its own test artifacts.</a:t>
            </a:r>
          </a:p>
          <a:p>
            <a:pPr>
              <a:spcAft>
                <a:spcPts val="1100"/>
              </a:spcAft>
              <a:defRPr sz="1900">
                <a:solidFill>
                  <a:srgbClr val="F2F5F8"/>
                </a:solidFill>
              </a:defRPr>
            </a:pPr>
            <a:r>
              <a:t>• It does not operate on an existing user file.</a:t>
            </a:r>
          </a:p>
          <a:p>
            <a:pPr>
              <a:spcAft>
                <a:spcPts val="1100"/>
              </a:spcAft>
              <a:defRPr sz="1900">
                <a:solidFill>
                  <a:srgbClr val="F2F5F8"/>
                </a:solidFill>
              </a:defRPr>
            </a:pPr>
            <a:r>
              <a:t>• Companion listing: ch59/snapshot.c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checked snapshot protocol in a private temporary directory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ch59/snapshot.c</a:t>
            </a:r>
          </a:p>
          <a:p>
            <a:pPr>
              <a:spcAft>
                <a:spcPts val="1100"/>
              </a:spcAft>
              <a:defRPr sz="1900">
                <a:solidFill>
                  <a:srgbClr val="F2F5F8"/>
                </a:solidFill>
              </a:defRPr>
            </a:pPr>
            <a:r>
              <a:t>• The expected output is snapshot checks passed on a filesystem supporting the requested synchronization.</a:t>
            </a:r>
          </a:p>
          <a:p>
            <a:pPr>
              <a:spcAft>
                <a:spcPts val="1100"/>
              </a:spcAft>
              <a:defRPr sz="1900">
                <a:solidFill>
                  <a:srgbClr val="F2F5F8"/>
                </a:solidFill>
              </a:defRPr>
            </a:pPr>
            <a:r>
              <a:t>• The test verifies successful API sequencing and byte contents.</a:t>
            </a:r>
          </a:p>
          <a:p>
            <a:pPr>
              <a:spcAft>
                <a:spcPts val="1100"/>
              </a:spcAft>
              <a:defRPr sz="1900">
                <a:solidFill>
                  <a:srgbClr val="F2F5F8"/>
                </a:solidFill>
              </a:defRPr>
            </a:pPr>
            <a:r>
              <a:t>• It does not simulate power loss, prove a storage device’s behavior, or establish crash consistency on every filesystem.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errno handling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function such as open indicates failure through its documented return value.</a:t>
            </a:r>
          </a:p>
          <a:p>
            <a:pPr>
              <a:spcAft>
                <a:spcPts val="1100"/>
              </a:spcAft>
              <a:defRPr sz="1700">
                <a:solidFill>
                  <a:srgbClr val="F2F5F8"/>
                </a:solidFill>
              </a:defRPr>
            </a:pPr>
            <a:r>
              <a:t>• Only after detecting failure should code inspect errno , because unrelated successful library calls may leave old errno values unchanged.</a:t>
            </a:r>
          </a:p>
          <a:p>
            <a:pPr>
              <a:spcAft>
                <a:spcPts val="1100"/>
              </a:spcAft>
              <a:defRPr sz="1900">
                <a:solidFill>
                  <a:srgbClr val="F2F5F8"/>
                </a:solidFill>
              </a:defRPr>
            </a:pPr>
            <a:r>
              <a:t>• Save the error code if subsequent operations could overwrite it before reporting or cleanup.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errno handling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function such as open indicates failure through its documented return value.</a:t>
            </a:r>
          </a:p>
          <a:p>
            <a:pPr>
              <a:spcAft>
                <a:spcPts val="1100"/>
              </a:spcAft>
              <a:defRPr sz="1700">
                <a:solidFill>
                  <a:srgbClr val="F2F5F8"/>
                </a:solidFill>
              </a:defRPr>
            </a:pPr>
            <a:r>
              <a:t>• Only after detecting failure should code inspect errno , because unrelated successful library calls may leave old errno values unchanged.</a:t>
            </a:r>
          </a:p>
          <a:p>
            <a:pPr>
              <a:spcAft>
                <a:spcPts val="1100"/>
              </a:spcAft>
              <a:defRPr sz="1900">
                <a:solidFill>
                  <a:srgbClr val="F2F5F8"/>
                </a:solidFill>
              </a:defRPr>
            </a:pPr>
            <a:r>
              <a:t>• Save the error code if subsequent operations could overwrite it before reporting or cleanup.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Cleanup on partial failure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initialization opens a file, allocates a buffer, then fails to create a thread.</a:t>
            </a:r>
          </a:p>
          <a:p>
            <a:pPr>
              <a:spcAft>
                <a:spcPts val="1100"/>
              </a:spcAft>
              <a:defRPr sz="1900">
                <a:solidFill>
                  <a:srgbClr val="F2F5F8"/>
                </a:solidFill>
              </a:defRPr>
            </a:pPr>
            <a:r>
              <a:t>• Recovery must release the buffer and close the file while avoiding cleanup for resources never acquired.</a:t>
            </a:r>
          </a:p>
          <a:p>
            <a:pPr>
              <a:spcAft>
                <a:spcPts val="1100"/>
              </a:spcAft>
              <a:defRPr sz="1700">
                <a:solidFill>
                  <a:srgbClr val="F2F5F8"/>
                </a:solidFill>
              </a:defRPr>
            </a:pPr>
            <a:r>
              <a:t>• RAII in C++ or structured cleanup paths in C make ownership states explicit so every exit path restores a valid resource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Cleanup on partial failure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initialization opens a file, allocates a buffer, then fails to create a thread.</a:t>
            </a:r>
          </a:p>
          <a:p>
            <a:pPr>
              <a:spcAft>
                <a:spcPts val="1100"/>
              </a:spcAft>
              <a:defRPr sz="1900">
                <a:solidFill>
                  <a:srgbClr val="F2F5F8"/>
                </a:solidFill>
              </a:defRPr>
            </a:pPr>
            <a:r>
              <a:t>• Recovery must release the buffer and close the file while avoiding cleanup for resources never acquired.</a:t>
            </a:r>
          </a:p>
          <a:p>
            <a:pPr>
              <a:spcAft>
                <a:spcPts val="1100"/>
              </a:spcAft>
              <a:defRPr sz="1700">
                <a:solidFill>
                  <a:srgbClr val="F2F5F8"/>
                </a:solidFill>
              </a:defRPr>
            </a:pPr>
            <a:r>
              <a:t>• RAII in C++ or structured cleanup paths in C make ownership states explicit so every exit path restores a valid resource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59.</a:t>
            </a:r>
          </a:p>
          <a:p>
            <a:pPr>
              <a:spcAft>
                <a:spcPts val="1100"/>
              </a:spcAft>
              <a:defRPr sz="1700">
                <a:solidFill>
                  <a:srgbClr val="F2F5F8"/>
                </a:solidFill>
              </a:defRPr>
            </a:pPr>
            <a:r>
              <a:t>• Write a failure-state table for each stage: before creation, after partial write, after file synchronization, after rename, and after directory synchronization.</a:t>
            </a:r>
          </a:p>
          <a:p>
            <a:pPr>
              <a:spcAft>
                <a:spcPts val="1100"/>
              </a:spcAft>
              <a:defRPr sz="1700">
                <a:solidFill>
                  <a:srgbClr val="F2F5F8"/>
                </a:solidFill>
              </a:defRPr>
            </a:pPr>
            <a:r>
              <a:t>• For each, state which names may exist and whether the new state is visible or durably confirmed under the assumed filesystem contract.</a:t>
            </a:r>
          </a:p>
          <a:p>
            <a:pPr>
              <a:spcAft>
                <a:spcPts val="1100"/>
              </a:spcAft>
              <a:defRPr sz="1900">
                <a:solidFill>
                  <a:srgbClr val="F2F5F8"/>
                </a:solidFill>
              </a:defRPr>
            </a:pPr>
            <a:r>
              <a:t>• Do not simulate device failure on a machine holding valuable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errno after success unreliable?</a:t>
            </a:r>
          </a:p>
          <a:p>
            <a:pPr>
              <a:spcAft>
                <a:spcPts val="1100"/>
              </a:spcAft>
              <a:defRPr sz="1900">
                <a:solidFill>
                  <a:srgbClr val="F2F5F8"/>
                </a:solidFill>
              </a:defRPr>
            </a:pPr>
            <a:r>
              <a:t>• Review 2.</a:t>
            </a:r>
          </a:p>
          <a:p>
            <a:pPr>
              <a:spcAft>
                <a:spcPts val="1100"/>
              </a:spcAft>
              <a:defRPr sz="1900">
                <a:solidFill>
                  <a:srgbClr val="F2F5F8"/>
                </a:solidFill>
              </a:defRPr>
            </a:pPr>
            <a:r>
              <a:t>• Why should required cleanup never be placed only inside an assertion?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system robustness.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From Source Code to Running Program.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59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