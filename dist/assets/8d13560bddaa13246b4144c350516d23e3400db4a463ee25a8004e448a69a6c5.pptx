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56 — Performance Analysis</a:t>
            </a:r>
          </a:p>
          <a:p/>
          <a:p>
            <a:r>
              <a:t>LECTURE NARRATION</a:t>
            </a:r>
          </a:p>
          <a:p>
            <a:r>
              <a:t>Performance analysis identifies the limiting resource or dependency and estimates how much improvement is possible. It combines observations, profiles, and models. The purpose is not to collect every available counter, but to explain which change could reduce the application’s completion time or increase useful throughput.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performance analysis identifies the limiting resource or dependency and estimates how much improvement is possible.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Performance analysis identifies the limiting resource or dependency and estimates how much improvement is possible. It combines observations, profiles, and models. The purpose is not to collect every available counter, but to explain which change could reduce the application’s completion time or increase useful throughput.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performance analysis identifies the limiting resource or dependency and estimates how much improvement is possible.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56.1 Identifying bottlenecks 56.2 CPU-bound workloads 56.3 Memory-bound workloads 56.4 I/O-bound workloads ...plus 7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56.1 Identifying bottlenecks 56.2 CPU-bound workloads 56.3 Memory-bound workloads 56.4 I/O-bound workloads ...plus 7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56.1 Identifying bottlenecks</a:t>
            </a:r>
          </a:p>
          <a:p/>
          <a:p>
            <a:r>
              <a:t>LECTURE NARRATION</a:t>
            </a:r>
          </a:p>
          <a:p>
            <a:r>
              <a:t>A bottleneck is a stage or resource that constrains the chosen performance objective. Removing one bottleneck can expose another. The limiting factor can also change with input size, concurrency, and cache state. Form a testable hypothesis: “This phase is limited by repeated allocation,” or “These workers wait on one mutex.” Then collect evidence that could disprove it. A profile showing time inside a function does not by itself identify whether the cause is computation, cache misses, or waiting inside that function.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bottleneck is a stage or resource that constrains the chosen performance objective.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56.1 Identifying bottlenecks — Deep Dive</a:t>
            </a:r>
          </a:p>
          <a:p/>
          <a:p>
            <a:r>
              <a:t>LECTURE NARRATION</a:t>
            </a:r>
          </a:p>
          <a:p>
            <a:r>
              <a:t>A bottleneck is a stage or resource that constrains the chosen performance objective. Removing one bottleneck can expose another. The limiting factor can also change with input size, concurrency, and cache state. Form a testable hypothesis: “This phase is limited by repeated allocation,” or “These workers wait on one mutex.” Then collect evidence that could disprove it. A profile showing time inside a function does not by itself identify whether the cause is computation, cache misses, or waiting inside that function.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bottleneck is a stage or resource that constrains the chosen performance objective.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56.2 CPU-bound workloads</a:t>
            </a:r>
          </a:p>
          <a:p/>
          <a:p>
            <a:r>
              <a:t>LECTURE NARRATION</a:t>
            </a:r>
          </a:p>
          <a:p>
            <a:r>
              <a:t>A CPU-bound workload spends its critical time performing computation rather than waiting on external I/O. It may still be limited by instruction dependencies, branch behavior, vectorization, or execution-resource throughput. Reducing instruction count can help, but not every instruction has equal cost and not every removed instruction lies on the critical path. Independent work can overlap, while a short dependency chain can dominate latency. Inspect the hot generated code only after establishing that it matters.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CPU-bound workload spends its critical time performing computation rather than waiting on external I/O.</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56.2 CPU-bound workloads — Deep Dive</a:t>
            </a:r>
          </a:p>
          <a:p/>
          <a:p>
            <a:r>
              <a:t>LECTURE NARRATION</a:t>
            </a:r>
          </a:p>
          <a:p>
            <a:r>
              <a:t>A CPU-bound workload spends its critical time performing computation rather than waiting on external I/O. It may still be limited by instruction dependencies, branch behavior, vectorization, or execution-resource throughput. Reducing instruction count can help, but not every instruction has equal cost and not every removed instruction lies on the critical path. Independent work can overlap, while a short dependency chain can dominate latency. Inspect the hot generated code only after establishing that it matters.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CPU-bound workload spends its critical time performing computation rather than waiting on external I/O.</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56.3 Memory-bound workloads</a:t>
            </a:r>
          </a:p>
          <a:p/>
          <a:p>
            <a:r>
              <a:t>LECTURE NARRATION</a:t>
            </a:r>
          </a:p>
          <a:p>
            <a:r>
              <a:t>A memory-bound workload is constrained by data access, such as bandwidth or dependent-load latency. Reducing arithmetic may have little effect when the processor already waits for data. Improving locality or reducing transferred bytes can be more valuable. A simple bandwidth roof illustrates the limit. At arithmetic intensity 0.125 operations per byte and available bandwidth 40 GB/s, the bandwidth-limited rate is 5 billion operations per second under the model. A processor capable of much more arithmetic cannot exceed that rate for the same required traffic without changing the access pattern or reuse.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memory-bound workload is constrained by data access, such as bandwidth or dependent-load latency.</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56.3 Memory-bound workloads — Deep Dive</a:t>
            </a:r>
          </a:p>
          <a:p/>
          <a:p>
            <a:r>
              <a:t>LECTURE NARRATION</a:t>
            </a:r>
          </a:p>
          <a:p>
            <a:r>
              <a:t>A memory-bound workload is constrained by data access, such as bandwidth or dependent-load latency. Reducing arithmetic may have little effect when the processor already waits for data. Improving locality or reducing transferred bytes can be more valuable. A simple bandwidth roof illustrates the limit. At arithmetic intensity 0.125 operations per byte and available bandwidth 40 GB/s, the bandwidth-limited rate is 5 billion operations per second under the model. A processor capable of much more arithmetic cannot exceed that rate for the same required traffic without changing the access pattern or reuse.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memory-bound workload is constrained by data access, such as bandwidth or dependent-load latency.</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56.4 I/O-bound workloads</a:t>
            </a:r>
          </a:p>
          <a:p/>
          <a:p>
            <a:r>
              <a:t>LECTURE NARRATION</a:t>
            </a:r>
          </a:p>
          <a:p>
            <a:r>
              <a:t>An I/O-bound workload waits on storage, network, or another external service. Useful changes include batching, caching, reducing requests, overlapping independent operations, and improving the protocol. Adding threads can hide some waits but can also overload the downstream system and increase queueing. Distinguish service time from waiting time. When the dependency is saturated, more concurrent demand may worsen latency without increasing completed throughput.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56.4 I/O-bound workloads — Deep Dive</a:t>
            </a:r>
          </a:p>
          <a:p/>
          <a:p>
            <a:r>
              <a:t>LECTURE NARRATION</a:t>
            </a:r>
          </a:p>
          <a:p>
            <a:r>
              <a:t>An I/O-bound workload waits on storage, network, or another external service. Useful changes include batching, caching, reducing requests, overlapping independent operations, and improving the protocol. Adding threads can hide some waits but can also overload the downstream system and increase queueing. Distinguish service time from waiting time. When the dependency is saturated, more concurrent demand may worsen latency without increasing completed throughput.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56.5 Profiling</a:t>
            </a:r>
          </a:p>
          <a:p/>
          <a:p>
            <a:r>
              <a:t>LECTURE NARRATION</a:t>
            </a:r>
          </a:p>
          <a:p>
            <a:r>
              <a:t>Profiling attributes time or events to code paths. Sampling profiles estimate where execution spends time; instrumentation records chosen events more directly but can perturb behavior. Hardware counters provide additional evidence subject to event definitions and access permissions. A Linux starting point can be perf stat with a small set of understood events, followed by a sampling profile when available. Container, kernel, and administrative policy may restrict access. Record those limitations instead of inventing missing counter data. [ R30 ] The executable path is illustrative; use the actual path produced by the companion build script. A missing tool or denied counter is not a program correctness failure.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profiling attributes time or events to code paths.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56.5 Profiling — Deep Dive</a:t>
            </a:r>
          </a:p>
          <a:p/>
          <a:p>
            <a:r>
              <a:t>LECTURE NARRATION</a:t>
            </a:r>
          </a:p>
          <a:p>
            <a:r>
              <a:t>Profiling attributes time or events to code paths. Sampling profiles estimate where execution spends time; instrumentation records chosen events more directly but can perturb behavior. Hardware counters provide additional evidence subject to event definitions and access permissions. A Linux starting point can be perf stat with a small set of understood events, followed by a sampling profile when available. Container, kernel, and administrative policy may restrict access. Record those limitations instead of inventing missing counter data. [ R30 ] The executable path is illustrative; use the actual path produced by the companion build script. A missing tool or denied counter is not a program correctness failure.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profiling attributes time or events to code paths.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56.6 Scaling</a:t>
            </a:r>
          </a:p>
          <a:p/>
          <a:p>
            <a:r>
              <a:t>LECTURE NARRATION</a:t>
            </a:r>
          </a:p>
          <a:p>
            <a:r>
              <a:t>Strong scaling holds total problem size fixed while increasing resources. Weak scaling grows the problem with the resource count. They answer different questions and should not be compared without stating which workload changed. Synchronization, communication, memory bandwidth, load imbalance, and serial setup limit scaling. Measure useful throughput and latency alongside CPU use. A program using all cores at high utilization can still scale poorly if much of that activity is contention or redundant work.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strong scaling holds total problem size fixed while increasing resources.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56.6 Scaling — Deep Dive</a:t>
            </a:r>
          </a:p>
          <a:p/>
          <a:p>
            <a:r>
              <a:t>LECTURE NARRATION</a:t>
            </a:r>
          </a:p>
          <a:p>
            <a:r>
              <a:t>Strong scaling holds total problem size fixed while increasing resources. Weak scaling grows the problem with the resource count. They answer different questions and should not be compared without stating which workload changed. Synchronization, communication, memory bandwidth, load imbalance, and serial setup limit scaling. Measure useful throughput and latency alongside CPU use. A program using all cores at high utilization can still scale poorly if much of that activity is contention or redundant work.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strong scaling holds total problem size fixed while increasing resources.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56.7 Amdahl’s law</a:t>
            </a:r>
          </a:p>
          <a:p/>
          <a:p>
            <a:r>
              <a:t>LECTURE NARRATION</a:t>
            </a:r>
          </a:p>
          <a:p>
            <a:r>
              <a:t>If fraction s of the original execution time remains serial and the remaining fraction parallelizes ideally across p workers, the modeled speedup is: The model assumes a fixed workload and excludes added overhead. As p grows without bound, the speedup approaches 1/s for positive s . The result is a ceiling under assumptions, not a promise that real execution reaches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fraction s of the original execution time remains serial and the remaining fraction parallelizes ideally across p workers, the modeled speedup is: The model assumes a fixed workload and excludes added overhead.</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56.7 Amdahl’s law — Deep Dive</a:t>
            </a:r>
          </a:p>
          <a:p/>
          <a:p>
            <a:r>
              <a:t>LECTURE NARRATION</a:t>
            </a:r>
          </a:p>
          <a:p>
            <a:r>
              <a:t>If fraction s of the original execution time remains serial and the remaining fraction parallelizes ideally across p workers, the modeled speedup is: The model assumes a fixed workload and excludes added overhead. As p grows without bound, the speedup approaches 1/s for positive s . The result is a ceiling under assumptions, not a promise that real execution reaches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fraction s of the original execution time remains serial and the remaining fraction parallelizes ideally across p workers, the modeled speedup is: The model assumes a fixed workload and excludes added overhead.</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Quantify the improvement ceiling</a:t>
            </a:r>
          </a:p>
          <a:p/>
          <a:p>
            <a:r>
              <a:t>LECTURE NARRATION</a:t>
            </a:r>
          </a:p>
          <a:p>
            <a:r>
              <a:t>With serial fraction 0.20 and four workers, the normalized time is 0.20 + 0.80/4 = 0.40 , so speedup is 2.5. With infinitely many ideal workers, speedup cannot exceed 5 unless the serial portion is changed. Now add overhead equal to 0.05 of the original runtime at four workers. Normalized time becomes 0.45 and speedup falls to approximately 2.222. This explains why “80% parallelizable” is not a sufficient performance forecast without a communication and synchronization model. Companion listing: ch56/amdahl.py The output is ideal=2.500 with_overhead=2.222 . A model can also guide priorities: reducing the serial fraction from 0.20 to 0.10 may be more valuable than adding workers beyond the point of diminishing returns. Confirm that the measured serial component is truly independent of worker count before applying the formula mechanically.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with serial fraction 0.20 and four workers, the normalized time is 0.20 + 0.80/4 = 0.40 , so speedup is 2.5.</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Quantify the improvement ceiling — Deep Dive</a:t>
            </a:r>
          </a:p>
          <a:p/>
          <a:p>
            <a:r>
              <a:t>LECTURE NARRATION</a:t>
            </a:r>
          </a:p>
          <a:p>
            <a:r>
              <a:t>With serial fraction 0.20 and four workers, the normalized time is 0.20 + 0.80/4 = 0.40 , so speedup is 2.5. With infinitely many ideal workers, speedup cannot exceed 5 unless the serial portion is changed. Now add overhead equal to 0.05 of the original runtime at four workers. Normalized time becomes 0.45 and speedup falls to approximately 2.222. This explains why “80% parallelizable” is not a sufficient performance forecast without a communication and synchronization model. Companion listing: ch56/amdahl.py The output is ideal=2.500 with_overhead=2.222 . A model can also guide priorities: reducing the serial fraction from 0.20 to 0.10 may be more valuable than adding workers beyond the point of diminishing returns. Confirm that the measured serial component is truly independent of worker count before applying the formula mechanically.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with serial fraction 0.20 and four workers, the normalized time is 0.20 + 0.80/4 = 0.40 , so speedup is 2.5.</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Amdahl calculation</a:t>
            </a:r>
          </a:p>
          <a:p/>
          <a:p>
            <a:r>
              <a:t>LECTURE NARRATION</a:t>
            </a:r>
          </a:p>
          <a:p>
            <a:r>
              <a:t>If 80% of a program can be accelerated by a factor of 4 while 20% is unchanged, total speedup is 1 / (0.20 + 0.80/4) = 2.5 . Infinite acceleration of the parallel part would still cap speedup at 1/0.20 = 5 . The unchanged fraction sets a hard upper bound.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80% of a program can be accelerated by a factor of 4 while 20% is unchanged, total speedup is 1 / (0.20 + 0.80/4) = 2.5 .</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Amdahl calculation — Deep Dive</a:t>
            </a:r>
          </a:p>
          <a:p/>
          <a:p>
            <a:r>
              <a:t>LECTURE NARRATION</a:t>
            </a:r>
          </a:p>
          <a:p>
            <a:r>
              <a:t>If 80% of a program can be accelerated by a factor of 4 while 20% is unchanged, total speedup is 1 / (0.20 + 0.80/4) = 2.5 . Infinite acceleration of the parallel part would still cap speedup at 1/0.20 = 5 . The unchanged fraction sets a hard upper bound.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80% of a program can be accelerated by a factor of 4 while 20% is unchanged, total speedup is 1 / (0.20 + 0.80/4) = 2.5 .</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Distinguishing CPU- and memory-bound behavior</a:t>
            </a:r>
          </a:p>
          <a:p/>
          <a:p>
            <a:r>
              <a:t>LECTURE NARRATION</a:t>
            </a:r>
          </a:p>
          <a:p>
            <a:r>
              <a:t>If profiling shows execution units frequently idle while the program waits on last-level cache misses, optimizing arithmetic instructions may have little effect. Improving locality, reducing the working set, or prefetching may matter more. A CPU-bound loop with high cache hit rates suggests a different optimization path. Profiling should classify the bottleneck before changes are chosen.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profiling shows execution units frequently idle while the program waits on last-level cache misses, optimizing arithmetic instructions may have little effect.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Distinguishing CPU- and memory-bound behavior — Deep Dive</a:t>
            </a:r>
          </a:p>
          <a:p/>
          <a:p>
            <a:r>
              <a:t>LECTURE NARRATION</a:t>
            </a:r>
          </a:p>
          <a:p>
            <a:r>
              <a:t>If profiling shows execution units frequently idle while the program waits on last-level cache misses, optimizing arithmetic instructions may have little effect. Improving locality, reducing the working set, or prefetching may matter more. A CPU-bound loop with high cache hit rates suggests a different optimization path. Profiling should classify the bottleneck before changes are chosen.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profiling shows execution units frequently idle while the program waits on last-level cache misses, optimizing arithmetic instructions may have little effect.</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Guided lab and review</a:t>
            </a:r>
          </a:p>
          <a:p/>
          <a:p>
            <a:r>
              <a:t>LECTURE NARRATION</a:t>
            </a:r>
          </a:p>
          <a:p>
            <a:r>
              <a:t>Lab 56. Calculate ideal speedups for serial fraction 0.10 at 2, 4, 8, and 16 workers. Add overhead increasing by 0.01 for each additional worker and identify the best result among those four choices. Review 1. Why can more concurrency worsen an I/O-bound service? Review 2. What assumptions make Amdahl’s law a model rather than a benchmark result?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56.</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Guided lab and review — Deep Dive</a:t>
            </a:r>
          </a:p>
          <a:p/>
          <a:p>
            <a:r>
              <a:t>LECTURE NARRATION</a:t>
            </a:r>
          </a:p>
          <a:p>
            <a:r>
              <a:t>Lab 56. Calculate ideal speedups for serial fraction 0.10 at 2, 4, 8, and 16 workers. Add overhead increasing by 0.01 for each additional worker and identify the best result among those four choices. Review 1. Why can more concurrency worsen an I/O-bound service? Review 2. What assumptions make Amdahl’s law a model rather than a benchmark result?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56.</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Chapter Synthesis</a:t>
            </a:r>
          </a:p>
          <a:p/>
          <a:p>
            <a:r>
              <a:t>LECTURE NARRATION</a:t>
            </a:r>
          </a:p>
          <a:p>
            <a:r>
              <a:t>The chapter's central subject is performance analysis.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performance analysis.</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Memory-Safety Vulnerabilities.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56 — Performance Analysis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Performance analysis identifies the limiting resource or dependency and estimates how much improvement is possible.</a:t>
            </a:r>
          </a:p>
          <a:p>
            <a:pPr>
              <a:spcAft>
                <a:spcPts val="1100"/>
              </a:spcAft>
              <a:defRPr sz="1900">
                <a:solidFill>
                  <a:srgbClr val="F2F5F8"/>
                </a:solidFill>
              </a:defRPr>
            </a:pPr>
            <a:r>
              <a:t>• It combines observations, profiles, and models.</a:t>
            </a:r>
          </a:p>
          <a:p>
            <a:pPr>
              <a:spcAft>
                <a:spcPts val="1100"/>
              </a:spcAft>
              <a:defRPr sz="1700">
                <a:solidFill>
                  <a:srgbClr val="F2F5F8"/>
                </a:solidFill>
              </a:defRPr>
            </a:pPr>
            <a:r>
              <a:t>• The purpose is not to collect every available counter, but to explain which change could reduce the application’s completion time or increase useful throughput.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Performance Analysis.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56.1 Identifying bottlenecks</a:t>
            </a:r>
          </a:p>
          <a:p>
            <a:pPr>
              <a:spcAft>
                <a:spcPts val="1100"/>
              </a:spcAft>
              <a:defRPr sz="1900">
                <a:solidFill>
                  <a:srgbClr val="F2F5F8"/>
                </a:solidFill>
              </a:defRPr>
            </a:pPr>
            <a:r>
              <a:t>• 56.2 CPU-bound workloads</a:t>
            </a:r>
          </a:p>
          <a:p>
            <a:pPr>
              <a:spcAft>
                <a:spcPts val="1100"/>
              </a:spcAft>
              <a:defRPr sz="1900">
                <a:solidFill>
                  <a:srgbClr val="F2F5F8"/>
                </a:solidFill>
              </a:defRPr>
            </a:pPr>
            <a:r>
              <a:t>• 56.3 Memory-bound workloads</a:t>
            </a:r>
          </a:p>
          <a:p>
            <a:pPr>
              <a:spcAft>
                <a:spcPts val="1100"/>
              </a:spcAft>
              <a:defRPr sz="1900">
                <a:solidFill>
                  <a:srgbClr val="F2F5F8"/>
                </a:solidFill>
              </a:defRPr>
            </a:pPr>
            <a:r>
              <a:t>• 56.4 I/O-bound workloads</a:t>
            </a:r>
          </a:p>
          <a:p>
            <a:pPr>
              <a:spcAft>
                <a:spcPts val="1100"/>
              </a:spcAft>
              <a:defRPr sz="1900">
                <a:solidFill>
                  <a:srgbClr val="F2F5F8"/>
                </a:solidFill>
              </a:defRPr>
            </a:pPr>
            <a:r>
              <a:t>• ...plus 7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56.1 Identifying bottlenecks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bottleneck is a stage or resource that constrains the chosen performance objective.</a:t>
            </a:r>
          </a:p>
          <a:p>
            <a:pPr>
              <a:spcAft>
                <a:spcPts val="1100"/>
              </a:spcAft>
              <a:defRPr sz="1900">
                <a:solidFill>
                  <a:srgbClr val="F2F5F8"/>
                </a:solidFill>
              </a:defRPr>
            </a:pPr>
            <a:r>
              <a:t>• Removing one bottleneck can expose another.</a:t>
            </a:r>
          </a:p>
          <a:p>
            <a:pPr>
              <a:spcAft>
                <a:spcPts val="1100"/>
              </a:spcAft>
              <a:defRPr sz="1900">
                <a:solidFill>
                  <a:srgbClr val="F2F5F8"/>
                </a:solidFill>
              </a:defRPr>
            </a:pPr>
            <a:r>
              <a:t>• The limiting factor can also change with input size, concurrency, and cache state.</a:t>
            </a:r>
          </a:p>
          <a:p>
            <a:pPr>
              <a:spcAft>
                <a:spcPts val="1100"/>
              </a:spcAft>
              <a:defRPr sz="1700">
                <a:solidFill>
                  <a:srgbClr val="F2F5F8"/>
                </a:solidFill>
              </a:defRPr>
            </a:pPr>
            <a:r>
              <a:t>• Form a testable hypothesis: “This phase is limited by repeated allocation,” or “These workers wait on one mutex.” Then collect evidence that could disprove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56.1 Identifying bottlenecks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Form a testable hypothesis: “This phase is limited by repeated allocation,” or “These workers wait on one mutex.” Then collect evidence that could disprove it.</a:t>
            </a:r>
          </a:p>
          <a:p>
            <a:pPr>
              <a:spcAft>
                <a:spcPts val="1100"/>
              </a:spcAft>
              <a:defRPr sz="1700">
                <a:solidFill>
                  <a:srgbClr val="F2F5F8"/>
                </a:solidFill>
              </a:defRPr>
            </a:pPr>
            <a:r>
              <a:t>• A profile showing time inside a function does not by itself identify whether the cause is computation, cache misses, or waiting inside that function.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56.2 CPU-bound workloads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CPU-bound workload spends its critical time performing computation rather than waiting on external I/O.</a:t>
            </a:r>
          </a:p>
          <a:p>
            <a:pPr>
              <a:spcAft>
                <a:spcPts val="1100"/>
              </a:spcAft>
              <a:defRPr sz="1900">
                <a:solidFill>
                  <a:srgbClr val="F2F5F8"/>
                </a:solidFill>
              </a:defRPr>
            </a:pPr>
            <a:r>
              <a:t>• It may still be limited by instruction dependencies, branch behavior, vectorization, or execution-resource throughput.</a:t>
            </a:r>
          </a:p>
          <a:p>
            <a:pPr>
              <a:spcAft>
                <a:spcPts val="1100"/>
              </a:spcAft>
              <a:defRPr sz="1700">
                <a:solidFill>
                  <a:srgbClr val="F2F5F8"/>
                </a:solidFill>
              </a:defRPr>
            </a:pPr>
            <a:r>
              <a:t>• Reducing instruction count can help, but not every instruction has equal cost and not every removed instruction lies on the critical path.</a:t>
            </a:r>
          </a:p>
          <a:p>
            <a:pPr>
              <a:spcAft>
                <a:spcPts val="1100"/>
              </a:spcAft>
              <a:defRPr sz="1900">
                <a:solidFill>
                  <a:srgbClr val="F2F5F8"/>
                </a:solidFill>
              </a:defRPr>
            </a:pPr>
            <a:r>
              <a:t>• Independent work can overlap, while a short dependency chain can dominate latency.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56.2 CPU-bound workloads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Reducing instruction count can help, but not every instruction has equal cost and not every removed instruction lies on the critical path.</a:t>
            </a:r>
          </a:p>
          <a:p>
            <a:pPr>
              <a:spcAft>
                <a:spcPts val="1100"/>
              </a:spcAft>
              <a:defRPr sz="1900">
                <a:solidFill>
                  <a:srgbClr val="F2F5F8"/>
                </a:solidFill>
              </a:defRPr>
            </a:pPr>
            <a:r>
              <a:t>• Independent work can overlap, while a short dependency chain can dominate latency.</a:t>
            </a:r>
          </a:p>
          <a:p>
            <a:pPr>
              <a:spcAft>
                <a:spcPts val="1100"/>
              </a:spcAft>
              <a:defRPr sz="1900">
                <a:solidFill>
                  <a:srgbClr val="F2F5F8"/>
                </a:solidFill>
              </a:defRPr>
            </a:pPr>
            <a:r>
              <a:t>• Inspect the hot generated code only after establishing that it matters.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56.3 Memory-bound workloads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memory-bound workload is constrained by data access, such as bandwidth or dependent-load latency.</a:t>
            </a:r>
          </a:p>
          <a:p>
            <a:pPr>
              <a:spcAft>
                <a:spcPts val="1100"/>
              </a:spcAft>
              <a:defRPr sz="1900">
                <a:solidFill>
                  <a:srgbClr val="F2F5F8"/>
                </a:solidFill>
              </a:defRPr>
            </a:pPr>
            <a:r>
              <a:t>• Reducing arithmetic may have little effect when the processor already waits for data.</a:t>
            </a:r>
          </a:p>
          <a:p>
            <a:pPr>
              <a:spcAft>
                <a:spcPts val="1100"/>
              </a:spcAft>
              <a:defRPr sz="1900">
                <a:solidFill>
                  <a:srgbClr val="F2F5F8"/>
                </a:solidFill>
              </a:defRPr>
            </a:pPr>
            <a:r>
              <a:t>• Improving locality or reducing transferred bytes can be more valuable.</a:t>
            </a:r>
          </a:p>
          <a:p>
            <a:pPr>
              <a:spcAft>
                <a:spcPts val="1100"/>
              </a:spcAft>
              <a:defRPr sz="1900">
                <a:solidFill>
                  <a:srgbClr val="F2F5F8"/>
                </a:solidFill>
              </a:defRPr>
            </a:pPr>
            <a:r>
              <a:t>• A simple bandwidth roof illustrates the limit.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56.3 Memory-bound workloads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simple bandwidth roof illustrates the limit.</a:t>
            </a:r>
          </a:p>
          <a:p>
            <a:pPr>
              <a:spcAft>
                <a:spcPts val="1100"/>
              </a:spcAft>
              <a:defRPr sz="1700">
                <a:solidFill>
                  <a:srgbClr val="F2F5F8"/>
                </a:solidFill>
              </a:defRPr>
            </a:pPr>
            <a:r>
              <a:t>• At arithmetic intensity 0.125 operations per byte and available bandwidth 40 GB/s, the bandwidth-limited rate is 5 billion operations per second under the model.</a:t>
            </a:r>
          </a:p>
          <a:p>
            <a:pPr>
              <a:spcAft>
                <a:spcPts val="1100"/>
              </a:spcAft>
              <a:defRPr sz="1700">
                <a:solidFill>
                  <a:srgbClr val="F2F5F8"/>
                </a:solidFill>
              </a:defRPr>
            </a:pPr>
            <a:r>
              <a:t>• A processor capable of much more arithmetic cannot exceed that rate for the same required traffic without changing the access pattern or reuse.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56.4 I/O-bound workloads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I/O-bound workload waits on storage, network, or another external service.</a:t>
            </a:r>
          </a:p>
          <a:p>
            <a:pPr>
              <a:spcAft>
                <a:spcPts val="1100"/>
              </a:spcAft>
              <a:defRPr sz="1700">
                <a:solidFill>
                  <a:srgbClr val="F2F5F8"/>
                </a:solidFill>
              </a:defRPr>
            </a:pPr>
            <a:r>
              <a:t>• Useful changes include batching, caching, reducing requests, overlapping independent operations, and improving the protocol.</a:t>
            </a:r>
          </a:p>
          <a:p>
            <a:pPr>
              <a:spcAft>
                <a:spcPts val="1100"/>
              </a:spcAft>
              <a:defRPr sz="1900">
                <a:solidFill>
                  <a:srgbClr val="F2F5F8"/>
                </a:solidFill>
              </a:defRPr>
            </a:pPr>
            <a:r>
              <a:t>• Adding threads can hide some waits but can also overload the downstream system and increase queueing.</a:t>
            </a:r>
          </a:p>
          <a:p>
            <a:pPr>
              <a:spcAft>
                <a:spcPts val="1100"/>
              </a:spcAft>
              <a:defRPr sz="1900">
                <a:solidFill>
                  <a:srgbClr val="F2F5F8"/>
                </a:solidFill>
              </a:defRPr>
            </a:pPr>
            <a:r>
              <a:t>• Distinguish service time from waiting time.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56.4 I/O-bound workloads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Adding threads can hide some waits but can also overload the downstream system and increase queueing.</a:t>
            </a:r>
          </a:p>
          <a:p>
            <a:pPr>
              <a:spcAft>
                <a:spcPts val="1100"/>
              </a:spcAft>
              <a:defRPr sz="1900">
                <a:solidFill>
                  <a:srgbClr val="F2F5F8"/>
                </a:solidFill>
              </a:defRPr>
            </a:pPr>
            <a:r>
              <a:t>• Distinguish service time from waiting time.</a:t>
            </a:r>
          </a:p>
          <a:p>
            <a:pPr>
              <a:spcAft>
                <a:spcPts val="1100"/>
              </a:spcAft>
              <a:defRPr sz="1900">
                <a:solidFill>
                  <a:srgbClr val="F2F5F8"/>
                </a:solidFill>
              </a:defRPr>
            </a:pPr>
            <a:r>
              <a:t>• When the dependency is saturated, more concurrent demand may worsen latency without increasing completed throughput.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56.5 Profiling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Profiling attributes time or events to code paths.</a:t>
            </a:r>
          </a:p>
          <a:p>
            <a:pPr>
              <a:spcAft>
                <a:spcPts val="1100"/>
              </a:spcAft>
              <a:defRPr sz="1700">
                <a:solidFill>
                  <a:srgbClr val="F2F5F8"/>
                </a:solidFill>
              </a:defRPr>
            </a:pPr>
            <a:r>
              <a:t>• Sampling profiles estimate where execution spends time; instrumentation records chosen events more directly but can perturb behavior.</a:t>
            </a:r>
          </a:p>
          <a:p>
            <a:pPr>
              <a:spcAft>
                <a:spcPts val="1100"/>
              </a:spcAft>
              <a:defRPr sz="1900">
                <a:solidFill>
                  <a:srgbClr val="F2F5F8"/>
                </a:solidFill>
              </a:defRPr>
            </a:pPr>
            <a:r>
              <a:t>• Hardware counters provide additional evidence subject to event definitions and access permissions.</a:t>
            </a:r>
          </a:p>
          <a:p>
            <a:pPr>
              <a:spcAft>
                <a:spcPts val="1100"/>
              </a:spcAft>
              <a:defRPr sz="1700">
                <a:solidFill>
                  <a:srgbClr val="F2F5F8"/>
                </a:solidFill>
              </a:defRPr>
            </a:pPr>
            <a:r>
              <a:t>• A Linux starting point can be perf stat with a small set of understood events, followed by a sampling profile when available.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56.5 Profiling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Linux starting point can be perf stat with a small set of understood events, followed by a sampling profile when available.</a:t>
            </a:r>
          </a:p>
          <a:p>
            <a:pPr>
              <a:spcAft>
                <a:spcPts val="1100"/>
              </a:spcAft>
              <a:defRPr sz="1900">
                <a:solidFill>
                  <a:srgbClr val="F2F5F8"/>
                </a:solidFill>
              </a:defRPr>
            </a:pPr>
            <a:r>
              <a:t>• Container, kernel, and administrative policy may restrict access.</a:t>
            </a:r>
          </a:p>
          <a:p>
            <a:pPr>
              <a:spcAft>
                <a:spcPts val="1100"/>
              </a:spcAft>
              <a:defRPr sz="1900">
                <a:solidFill>
                  <a:srgbClr val="F2F5F8"/>
                </a:solidFill>
              </a:defRPr>
            </a:pPr>
            <a:r>
              <a:t>• Record those limitations instead of inventing missing counter data. [ R30 ]</a:t>
            </a:r>
          </a:p>
          <a:p>
            <a:pPr>
              <a:spcAft>
                <a:spcPts val="1100"/>
              </a:spcAft>
              <a:defRPr sz="1900">
                <a:solidFill>
                  <a:srgbClr val="F2F5F8"/>
                </a:solidFill>
              </a:defRPr>
            </a:pPr>
            <a:r>
              <a:t>• The executable path is illustrative; use the actual path produced by the companion build script.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56.6 Scaling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Strong scaling holds total problem size fixed while increasing resources.</a:t>
            </a:r>
          </a:p>
          <a:p>
            <a:pPr>
              <a:spcAft>
                <a:spcPts val="1100"/>
              </a:spcAft>
              <a:defRPr sz="1900">
                <a:solidFill>
                  <a:srgbClr val="F2F5F8"/>
                </a:solidFill>
              </a:defRPr>
            </a:pPr>
            <a:r>
              <a:t>• Weak scaling grows the problem with the resource count.</a:t>
            </a:r>
          </a:p>
          <a:p>
            <a:pPr>
              <a:spcAft>
                <a:spcPts val="1100"/>
              </a:spcAft>
              <a:defRPr sz="1900">
                <a:solidFill>
                  <a:srgbClr val="F2F5F8"/>
                </a:solidFill>
              </a:defRPr>
            </a:pPr>
            <a:r>
              <a:t>• They answer different questions and should not be compared without stating which workload changed.</a:t>
            </a:r>
          </a:p>
          <a:p>
            <a:pPr>
              <a:spcAft>
                <a:spcPts val="1100"/>
              </a:spcAft>
              <a:defRPr sz="1900">
                <a:solidFill>
                  <a:srgbClr val="F2F5F8"/>
                </a:solidFill>
              </a:defRPr>
            </a:pPr>
            <a:r>
              <a:t>• Synchronization, communication, memory bandwidth, load imbalance, and serial setup limit scaling.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56.6 Scaling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Synchronization, communication, memory bandwidth, load imbalance, and serial setup limit scaling.</a:t>
            </a:r>
          </a:p>
          <a:p>
            <a:pPr>
              <a:spcAft>
                <a:spcPts val="1100"/>
              </a:spcAft>
              <a:defRPr sz="1900">
                <a:solidFill>
                  <a:srgbClr val="F2F5F8"/>
                </a:solidFill>
              </a:defRPr>
            </a:pPr>
            <a:r>
              <a:t>• Measure useful throughput and latency alongside CPU use.</a:t>
            </a:r>
          </a:p>
          <a:p>
            <a:pPr>
              <a:spcAft>
                <a:spcPts val="1100"/>
              </a:spcAft>
              <a:defRPr sz="1700">
                <a:solidFill>
                  <a:srgbClr val="F2F5F8"/>
                </a:solidFill>
              </a:defRPr>
            </a:pPr>
            <a:r>
              <a:t>• A program using all cores at high utilization can still scale poorly if much of that activity is contention or redundant work.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56.7 Amdahl’s law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fraction s of the original execution time remains serial and the remaining fraction parallelizes ideally across p workers, the modeled speedup is:</a:t>
            </a:r>
          </a:p>
          <a:p>
            <a:pPr>
              <a:spcAft>
                <a:spcPts val="1100"/>
              </a:spcAft>
              <a:defRPr sz="1900">
                <a:solidFill>
                  <a:srgbClr val="F2F5F8"/>
                </a:solidFill>
              </a:defRPr>
            </a:pPr>
            <a:r>
              <a:t>• The model assumes a fixed workload and excludes added overhead.</a:t>
            </a:r>
          </a:p>
          <a:p>
            <a:pPr>
              <a:spcAft>
                <a:spcPts val="1100"/>
              </a:spcAft>
              <a:defRPr sz="1900">
                <a:solidFill>
                  <a:srgbClr val="F2F5F8"/>
                </a:solidFill>
              </a:defRPr>
            </a:pPr>
            <a:r>
              <a:t>• As p grows without bound, the speedup approaches 1/s for positive s .</a:t>
            </a:r>
          </a:p>
          <a:p>
            <a:pPr>
              <a:spcAft>
                <a:spcPts val="1100"/>
              </a:spcAft>
              <a:defRPr sz="1900">
                <a:solidFill>
                  <a:srgbClr val="F2F5F8"/>
                </a:solidFill>
              </a:defRPr>
            </a:pPr>
            <a:r>
              <a:t>• The result is a ceiling under assumptions, not a promise that real execution reaches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56.7 Amdahl’s law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model assumes a fixed workload and excludes added overhead.</a:t>
            </a:r>
          </a:p>
          <a:p>
            <a:pPr>
              <a:spcAft>
                <a:spcPts val="1100"/>
              </a:spcAft>
              <a:defRPr sz="1900">
                <a:solidFill>
                  <a:srgbClr val="F2F5F8"/>
                </a:solidFill>
              </a:defRPr>
            </a:pPr>
            <a:r>
              <a:t>• As p grows without bound, the speedup approaches 1/s for positive s .</a:t>
            </a:r>
          </a:p>
          <a:p>
            <a:pPr>
              <a:spcAft>
                <a:spcPts val="1100"/>
              </a:spcAft>
              <a:defRPr sz="1900">
                <a:solidFill>
                  <a:srgbClr val="F2F5F8"/>
                </a:solidFill>
              </a:defRPr>
            </a:pPr>
            <a:r>
              <a:t>• The result is a ceiling under assumptions, not a promise that real execution reaches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Quantify the improvement ceiling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With serial fraction 0.20 and four workers, the normalized time is 0.20 + 0.80/4 = 0.40 , so speedup is 2.5.</a:t>
            </a:r>
          </a:p>
          <a:p>
            <a:pPr>
              <a:spcAft>
                <a:spcPts val="1100"/>
              </a:spcAft>
              <a:defRPr sz="1900">
                <a:solidFill>
                  <a:srgbClr val="F2F5F8"/>
                </a:solidFill>
              </a:defRPr>
            </a:pPr>
            <a:r>
              <a:t>• With infinitely many ideal workers, speedup cannot exceed 5 unless the serial portion is changed.</a:t>
            </a:r>
          </a:p>
          <a:p>
            <a:pPr>
              <a:spcAft>
                <a:spcPts val="1100"/>
              </a:spcAft>
              <a:defRPr sz="1900">
                <a:solidFill>
                  <a:srgbClr val="F2F5F8"/>
                </a:solidFill>
              </a:defRPr>
            </a:pPr>
            <a:r>
              <a:t>• Now add overhead equal to 0.05 of the original runtime at four workers.</a:t>
            </a:r>
          </a:p>
          <a:p>
            <a:pPr>
              <a:spcAft>
                <a:spcPts val="1100"/>
              </a:spcAft>
              <a:defRPr sz="1900">
                <a:solidFill>
                  <a:srgbClr val="F2F5F8"/>
                </a:solidFill>
              </a:defRPr>
            </a:pPr>
            <a:r>
              <a:t>• Normalized time becomes 0.45 and speedup falls to approximately 2.222.</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Quantify the improvement ceiling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Now add overhead equal to 0.05 of the original runtime at four workers.</a:t>
            </a:r>
          </a:p>
          <a:p>
            <a:pPr>
              <a:spcAft>
                <a:spcPts val="1100"/>
              </a:spcAft>
              <a:defRPr sz="1900">
                <a:solidFill>
                  <a:srgbClr val="F2F5F8"/>
                </a:solidFill>
              </a:defRPr>
            </a:pPr>
            <a:r>
              <a:t>• Normalized time becomes 0.45 and speedup falls to approximately 2.222.</a:t>
            </a:r>
          </a:p>
          <a:p>
            <a:pPr>
              <a:spcAft>
                <a:spcPts val="1100"/>
              </a:spcAft>
              <a:defRPr sz="1700">
                <a:solidFill>
                  <a:srgbClr val="F2F5F8"/>
                </a:solidFill>
              </a:defRPr>
            </a:pPr>
            <a:r>
              <a:t>• This explains why “80% parallelizable” is not a sufficient performance forecast without a communication and synchronization model.</a:t>
            </a:r>
          </a:p>
          <a:p>
            <a:pPr>
              <a:spcAft>
                <a:spcPts val="1100"/>
              </a:spcAft>
              <a:defRPr sz="1900">
                <a:solidFill>
                  <a:srgbClr val="F2F5F8"/>
                </a:solidFill>
              </a:defRPr>
            </a:pPr>
            <a:r>
              <a:t>• Companion listing: ch56/amdahl.py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Amdahl calculation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80% of a program can be accelerated by a factor of 4 while 20% is unchanged, total speedup is 1 / (0.20 + 0.80/4) = 2.5 .</a:t>
            </a:r>
          </a:p>
          <a:p>
            <a:pPr>
              <a:spcAft>
                <a:spcPts val="1100"/>
              </a:spcAft>
              <a:defRPr sz="1900">
                <a:solidFill>
                  <a:srgbClr val="F2F5F8"/>
                </a:solidFill>
              </a:defRPr>
            </a:pPr>
            <a:r>
              <a:t>• Infinite acceleration of the parallel part would still cap speedup at 1/0.20 = 5 .</a:t>
            </a:r>
          </a:p>
          <a:p>
            <a:pPr>
              <a:spcAft>
                <a:spcPts val="1100"/>
              </a:spcAft>
              <a:defRPr sz="1900">
                <a:solidFill>
                  <a:srgbClr val="F2F5F8"/>
                </a:solidFill>
              </a:defRPr>
            </a:pPr>
            <a:r>
              <a:t>• The unchanged fraction sets a hard upper bound.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Amdahl calculation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80% of a program can be accelerated by a factor of 4 while 20% is unchanged, total speedup is 1 / (0.20 + 0.80/4) = 2.5 .</a:t>
            </a:r>
          </a:p>
          <a:p>
            <a:pPr>
              <a:spcAft>
                <a:spcPts val="1100"/>
              </a:spcAft>
              <a:defRPr sz="1900">
                <a:solidFill>
                  <a:srgbClr val="F2F5F8"/>
                </a:solidFill>
              </a:defRPr>
            </a:pPr>
            <a:r>
              <a:t>• Infinite acceleration of the parallel part would still cap speedup at 1/0.20 = 5 .</a:t>
            </a:r>
          </a:p>
          <a:p>
            <a:pPr>
              <a:spcAft>
                <a:spcPts val="1100"/>
              </a:spcAft>
              <a:defRPr sz="1900">
                <a:solidFill>
                  <a:srgbClr val="F2F5F8"/>
                </a:solidFill>
              </a:defRPr>
            </a:pPr>
            <a:r>
              <a:t>• The unchanged fraction sets a hard upper bound.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Distinguishing CPU- and memory-bound behavior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profiling shows execution units frequently idle while the program waits on last-level cache misses, optimizing arithmetic instructions may have little effect.</a:t>
            </a:r>
          </a:p>
          <a:p>
            <a:pPr>
              <a:spcAft>
                <a:spcPts val="1100"/>
              </a:spcAft>
              <a:defRPr sz="1900">
                <a:solidFill>
                  <a:srgbClr val="F2F5F8"/>
                </a:solidFill>
              </a:defRPr>
            </a:pPr>
            <a:r>
              <a:t>• Improving locality, reducing the working set, or prefetching may matter more.</a:t>
            </a:r>
          </a:p>
          <a:p>
            <a:pPr>
              <a:spcAft>
                <a:spcPts val="1100"/>
              </a:spcAft>
              <a:defRPr sz="1900">
                <a:solidFill>
                  <a:srgbClr val="F2F5F8"/>
                </a:solidFill>
              </a:defRPr>
            </a:pPr>
            <a:r>
              <a:t>• A CPU-bound loop with high cache hit rates suggests a different optimization path.</a:t>
            </a:r>
          </a:p>
          <a:p>
            <a:pPr>
              <a:spcAft>
                <a:spcPts val="1100"/>
              </a:spcAft>
              <a:defRPr sz="1900">
                <a:solidFill>
                  <a:srgbClr val="F2F5F8"/>
                </a:solidFill>
              </a:defRPr>
            </a:pPr>
            <a:r>
              <a:t>• Profiling should classify the bottleneck before changes are chosen.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Distinguishing CPU- and memory-bound behavior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profiling shows execution units frequently idle while the program waits on last-level cache misses, optimizing arithmetic instructions may have little effect.</a:t>
            </a:r>
          </a:p>
          <a:p>
            <a:pPr>
              <a:spcAft>
                <a:spcPts val="1100"/>
              </a:spcAft>
              <a:defRPr sz="1900">
                <a:solidFill>
                  <a:srgbClr val="F2F5F8"/>
                </a:solidFill>
              </a:defRPr>
            </a:pPr>
            <a:r>
              <a:t>• Improving locality, reducing the working set, or prefetching may matter more.</a:t>
            </a:r>
          </a:p>
          <a:p>
            <a:pPr>
              <a:spcAft>
                <a:spcPts val="1100"/>
              </a:spcAft>
              <a:defRPr sz="1900">
                <a:solidFill>
                  <a:srgbClr val="F2F5F8"/>
                </a:solidFill>
              </a:defRPr>
            </a:pPr>
            <a:r>
              <a:t>• A CPU-bound loop with high cache hit rates suggests a different optimization path.</a:t>
            </a:r>
          </a:p>
          <a:p>
            <a:pPr>
              <a:spcAft>
                <a:spcPts val="1100"/>
              </a:spcAft>
              <a:defRPr sz="1900">
                <a:solidFill>
                  <a:srgbClr val="F2F5F8"/>
                </a:solidFill>
              </a:defRPr>
            </a:pPr>
            <a:r>
              <a:t>• Profiling should classify the bottleneck before changes are chosen.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56.</a:t>
            </a:r>
          </a:p>
          <a:p>
            <a:pPr>
              <a:spcAft>
                <a:spcPts val="1100"/>
              </a:spcAft>
              <a:defRPr sz="1900">
                <a:solidFill>
                  <a:srgbClr val="F2F5F8"/>
                </a:solidFill>
              </a:defRPr>
            </a:pPr>
            <a:r>
              <a:t>• Calculate ideal speedups for serial fraction 0.10 at 2, 4, 8, and 16 workers.</a:t>
            </a:r>
          </a:p>
          <a:p>
            <a:pPr>
              <a:spcAft>
                <a:spcPts val="1100"/>
              </a:spcAft>
              <a:defRPr sz="1900">
                <a:solidFill>
                  <a:srgbClr val="F2F5F8"/>
                </a:solidFill>
              </a:defRPr>
            </a:pPr>
            <a:r>
              <a:t>• Add overhead increasing by 0.01 for each additional worker and identify the best result among those four choices.</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can more concurrency worsen an I/O-bound service?</a:t>
            </a:r>
          </a:p>
          <a:p>
            <a:pPr>
              <a:spcAft>
                <a:spcPts val="1100"/>
              </a:spcAft>
              <a:defRPr sz="1900">
                <a:solidFill>
                  <a:srgbClr val="F2F5F8"/>
                </a:solidFill>
              </a:defRPr>
            </a:pPr>
            <a:r>
              <a:t>• Review 2.</a:t>
            </a:r>
          </a:p>
          <a:p>
            <a:pPr>
              <a:spcAft>
                <a:spcPts val="1100"/>
              </a:spcAft>
              <a:defRPr sz="1900">
                <a:solidFill>
                  <a:srgbClr val="F2F5F8"/>
                </a:solidFill>
              </a:defRPr>
            </a:pPr>
            <a:r>
              <a:t>• What assumptions make Amdahl’s law a model rather than a benchmark result?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performance analysis.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Memory-Safety Vulnerabilities.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56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