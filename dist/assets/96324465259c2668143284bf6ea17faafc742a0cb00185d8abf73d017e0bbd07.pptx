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37 — Process Creation</a:t>
            </a:r>
          </a:p>
          <a:p/>
          <a:p>
            <a:r>
              <a:t>LECTURE NARRATION</a:t>
            </a:r>
          </a:p>
          <a:p>
            <a:r>
              <a:t>Process creation separates an execution environment into independently scheduled participants. On POSIX systems, fork creates a child whose initial state resembles the parent’s at the call boundary, but the two processes receive different return values and can immediately follow different paths. The resemblance must be interpreted carefully. Private memory has independent modification semantics, while inherited descriptors can reference the same underlying open objects. Treating everything as either “fully copied” or “fully shared” produces errors. [ R15 ]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 creation separates an execution environment into independently scheduled participants.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Process creation separates an execution environment into independently scheduled participants. On POSIX systems, fork creates a child whose initial state resembles the parent’s at the call boundary, but the two processes receive different return values and can immediately follow different paths. The resemblance must be interpreted carefully. Private memory has independent modification semantics, while inherited descriptors can reference the same underlying open objects. Treating everything as either “fully copied” or “fully shared” produces errors. [ R15 ]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 creation separates an execution environment into independently scheduled participants.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37.1 fork 37.2 Parent process 37.3 Child process 37.4 Return values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37.1 fork 37.2 Parent process 37.3 Child process 37.4 Return values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37.1 fork</a:t>
            </a:r>
          </a:p>
          <a:p/>
          <a:p>
            <a:r>
              <a:t>LECTURE NARRATION</a:t>
            </a:r>
          </a:p>
          <a:p>
            <a:r>
              <a:t>fork returns once in the parent and once in the child after successful creation. In the parent it returns the child’s process ID; in the child it returns zero. On failure, the parent receives -1 and no child is created. The child begins after the call, not at the beginning of main . Every branch must therefore be explicit about which process owns which cleanup and continuation responsibilities. A child intended to execute a new program should not accidentally fall through into the parent’s main loop when execution fails.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fork returns once in the parent and once in the child after successful creation.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37.1 fork — Deep Dive</a:t>
            </a:r>
          </a:p>
          <a:p/>
          <a:p>
            <a:r>
              <a:t>LECTURE NARRATION</a:t>
            </a:r>
          </a:p>
          <a:p>
            <a:r>
              <a:t>fork returns once in the parent and once in the child after successful creation. In the parent it returns the child’s process ID; in the child it returns zero. On failure, the parent receives -1 and no child is created. The child begins after the call, not at the beginning of main . Every branch must therefore be explicit about which process owns which cleanup and continuation responsibilities. A child intended to execute a new program should not accidentally fall through into the parent’s main loop when execution fails.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fork returns once in the parent and once in the child after successful creation.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37.2 Parent process</a:t>
            </a:r>
          </a:p>
          <a:p/>
          <a:p>
            <a:r>
              <a:t>LECTURE NARRATION</a:t>
            </a:r>
          </a:p>
          <a:p>
            <a:r>
              <a:t>The parent retains its identity and receives a handle-like process ID for the child. It must decide whether to wait immediately, continue concurrently, or supervise several children. It also remains responsible for closing inherited communication endpoints it does not use. A parent cannot assume that it executes first after the fork. Scheduling can run the child before the parent reaches its next statement. Any ordering requirement must be established through waiting or communication, not inferred from source order in the parent’s branch.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parent retains its identity and receives a handle-like process ID for the child.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37.2 Parent process — Deep Dive</a:t>
            </a:r>
          </a:p>
          <a:p/>
          <a:p>
            <a:r>
              <a:t>LECTURE NARRATION</a:t>
            </a:r>
          </a:p>
          <a:p>
            <a:r>
              <a:t>The parent retains its identity and receives a handle-like process ID for the child. It must decide whether to wait immediately, continue concurrently, or supervise several children. It also remains responsible for closing inherited communication endpoints it does not use. A parent cannot assume that it executes first after the fork. Scheduling can run the child before the parent reaches its next statement. Any ordering requirement must be established through waiting or communication, not inferred from source order in the parent’s branch.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parent retains its identity and receives a handle-like process ID for the child.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37.3 Child process</a:t>
            </a:r>
          </a:p>
          <a:p/>
          <a:p>
            <a:r>
              <a:t>LECTURE NARRATION</a:t>
            </a:r>
          </a:p>
          <a:p>
            <a:r>
              <a:t>The child has its own process identity and private execution state. It can modify ordinary private variables without changing the parent’s copies. It may execute a new program, perform bounded work, or participate in a pipeline. After a fork from a multithreaded process, only the calling thread appears in the child, while copied library and mutex state can reflect locks held by threads that no longer exist there. Until a successful exec, the child must obey the applicable async-signal-safe restrictions. The examples here create children from single-threaded programs. [ R15 , R20 ]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child has its own process identity and private execution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37.3 Child process — Deep Dive</a:t>
            </a:r>
          </a:p>
          <a:p/>
          <a:p>
            <a:r>
              <a:t>LECTURE NARRATION</a:t>
            </a:r>
          </a:p>
          <a:p>
            <a:r>
              <a:t>The child has its own process identity and private execution state. It can modify ordinary private variables without changing the parent’s copies. It may execute a new program, perform bounded work, or participate in a pipeline. After a fork from a multithreaded process, only the calling thread appears in the child, while copied library and mutex state can reflect locks held by threads that no longer exist there. Until a successful exec, the child must obey the applicable async-signal-safe restrictions. The examples here create children from single-threaded programs. [ R15 , R20 ]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child has its own process identity and private execution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37.4 Return values</a:t>
            </a:r>
          </a:p>
          <a:p/>
          <a:p>
            <a:r>
              <a:t>LECTURE NARRATION</a:t>
            </a:r>
          </a:p>
          <a:p>
            <a:r>
              <a:t>The three-way return distinction is fundamental: Do not collapse failure and parent behavior into one generic nonzero branch. A failed fork gives no child to wait for. Preserve the error information before cleanup operations that could change errno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three-way return distinction is fundamental: Do not collapse failure and parent behavior into one generic nonzero branch.</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37.4 Return values — Deep Dive</a:t>
            </a:r>
          </a:p>
          <a:p/>
          <a:p>
            <a:r>
              <a:t>LECTURE NARRATION</a:t>
            </a:r>
          </a:p>
          <a:p>
            <a:r>
              <a:t>The three-way return distinction is fundamental: Do not collapse failure and parent behavior into one generic nonzero branch. A failed fork gives no child to wait for. Preserve the error information before cleanup operations that could change errno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three-way return distinction is fundamental: Do not collapse failure and parent behavior into one generic nonzero branch.</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37.5 Address-space duplication</a:t>
            </a:r>
          </a:p>
          <a:p/>
          <a:p>
            <a:r>
              <a:t>LECTURE NARRATION</a:t>
            </a:r>
          </a:p>
          <a:p>
            <a:r>
              <a:t>The child receives an address space with corresponding mappings according to the interface’s rules. Ordinary private memory initially contains the same values, but later modifications are logically independent. Shared mappings remain shared according to their mapping semantics. User-space I/O buffers are also memory. If buffered output exists before a fork and both processes later perform normal stream flushing, the same buffered bytes can be emitted twice. Flush deliberately before forking when appropriate, or ensure that an exec-bound child’s failure path uses _exit rather than normal buffered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37.5 Address-space duplication — Deep Dive</a:t>
            </a:r>
          </a:p>
          <a:p/>
          <a:p>
            <a:r>
              <a:t>LECTURE NARRATION</a:t>
            </a:r>
          </a:p>
          <a:p>
            <a:r>
              <a:t>The child receives an address space with corresponding mappings according to the interface’s rules. Ordinary private memory initially contains the same values, but later modifications are logically independent. Shared mappings remain shared according to their mapping semantics. User-space I/O buffers are also memory. If buffered output exists before a fork and both processes later perform normal stream flushing, the same buffered bytes can be emitted twice. Flush deliberately before forking when appropriate, or ensure that an exec-bound child’s failure path uses _exit rather than normal buffered cleanup.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37.6 File-descriptor inheritance</a:t>
            </a:r>
          </a:p>
          <a:p/>
          <a:p>
            <a:r>
              <a:t>LECTURE NARRATION</a:t>
            </a:r>
          </a:p>
          <a:p>
            <a:r>
              <a:t>The child’s inherited descriptors refer to the same open file descriptions as the corresponding parent descriptors. They can share current offsets and file status flags. Closing the child’s descriptor releases its reference without closing the parent’s separate descriptor-table entry. This sharing is useful for pipelines and redirection but can also cause surprises. A child’s read can advance the offset subsequently observed by the parent. An accidentally retained pipe write end can prevent another process from seeing end of file.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37.6 File-descriptor inheritance — Deep Dive</a:t>
            </a:r>
          </a:p>
          <a:p/>
          <a:p>
            <a:r>
              <a:t>LECTURE NARRATION</a:t>
            </a:r>
          </a:p>
          <a:p>
            <a:r>
              <a:t>The child’s inherited descriptors refer to the same open file descriptions as the corresponding parent descriptors. They can share current offsets and file status flags. Closing the child’s descriptor releases its reference without closing the parent’s separate descriptor-table entry. This sharing is useful for pipelines and redirection but can also cause surprises. A child’s read can advance the offset subsequently observed by the parent. An accidentally retained pipe write end can prevent another process from seeing end of file.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37.7 Copy-on-write</a:t>
            </a:r>
          </a:p>
          <a:p/>
          <a:p>
            <a:r>
              <a:t>LECTURE NARRATION</a:t>
            </a:r>
          </a:p>
          <a:p>
            <a:r>
              <a:t>Copy-on-write can avoid physically copying all private pages immediately. Parent and child initially share backing while hardware permissions trigger separation when a private write requires it. The interface promises the observable private-memory behavior, not an eager byte-for-byte copy at the instant of creation. The amount of memory actually duplicated depends on later writes, mappings, allocator activity, and kernel policy. Forking a large process is therefore not automatically equivalent to immediately allocating another complete physical copy, but it is also not free.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copy-on-write can avoid physically copying all private pages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37.7 Copy-on-write — Deep Dive</a:t>
            </a:r>
          </a:p>
          <a:p/>
          <a:p>
            <a:r>
              <a:t>LECTURE NARRATION</a:t>
            </a:r>
          </a:p>
          <a:p>
            <a:r>
              <a:t>Copy-on-write can avoid physically copying all private pages immediately. Parent and child initially share backing while hardware permissions trigger separation when a private write requires it. The interface promises the observable private-memory behavior, not an eager byte-for-byte copy at the instant of creation. The amount of memory actually duplicated depends on later writes, mappings, allocator activity, and kernel policy. Forking a large process is therefore not automatically equivalent to immediately allocating another complete physical copy, but it is also not free.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copy-on-write can avoid physically copying all private pages immediately.</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Private values after fork</a:t>
            </a:r>
          </a:p>
          <a:p/>
          <a:p>
            <a:r>
              <a:t>LECTURE NARRATION</a:t>
            </a:r>
          </a:p>
          <a:p>
            <a:r>
              <a:t>This program starts with value 7. The child changes its private value to 12 and reports correctness through its exit status. The parent waits and verifies that its own value remains 7. Companion listing: ch37/private_values.c The output is deterministic because only the parent prints and it waits for the child’s check. This does not prove which process ran first or which physical pages were copied. It verifies the private-value contract visible to the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starts with value 7.</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Private values after fork — Deep Dive</a:t>
            </a:r>
          </a:p>
          <a:p/>
          <a:p>
            <a:r>
              <a:t>LECTURE NARRATION</a:t>
            </a:r>
          </a:p>
          <a:p>
            <a:r>
              <a:t>This program starts with value 7. The child changes its private value to 12 and reports correctness through its exit status. The parent waits and verifies that its own value remains 7. Companion listing: ch37/private_values.c The output is deterministic because only the parent prints and it waits for the child’s check. This does not prove which process ran first or which physical pages were copied. It verifies the private-value contract visible to the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starts with value 7.</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Interpreting fork returns</a:t>
            </a:r>
          </a:p>
          <a:p/>
          <a:p>
            <a:r>
              <a:t>LECTURE NARRATION</a:t>
            </a:r>
          </a:p>
          <a:p>
            <a:r>
              <a:t>After a successful fork , the parent receives the child’s positive PID while the child receives zero. Both continue from the instruction after the call. Code commonly branches on the return value to assign parent and child responsibilities. A negative return in the parent-side call indicates failure and no child was created.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a successful fork , the parent receives the child’s positive PID while the child receives zero.</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Interpreting fork returns — Deep Dive</a:t>
            </a:r>
          </a:p>
          <a:p/>
          <a:p>
            <a:r>
              <a:t>LECTURE NARRATION</a:t>
            </a:r>
          </a:p>
          <a:p>
            <a:r>
              <a:t>After a successful fork , the parent receives the child’s positive PID while the child receives zero. Both continue from the instruction after the call. Code commonly branches on the return value to assign parent and child responsibilities. A negative return in the parent-side call indicates failure and no child was created.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a successful fork , the parent receives the child’s positive PID while the child receives zero.</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Inherited descriptor example</a:t>
            </a:r>
          </a:p>
          <a:p/>
          <a:p>
            <a:r>
              <a:t>LECTURE NARRATION</a:t>
            </a:r>
          </a:p>
          <a:p>
            <a:r>
              <a:t>If a process opens a file and then forks, parent and child inherit descriptors referring to the same open file description. Writes can therefore interact through a shared offset unless the program coordinates them or opens separate descriptions. The address spaces are logically separate, but kernel objects can remain shared.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process opens a file and then forks, parent and child inherit descriptors referring to the same open file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Inherited descriptor example — Deep Dive</a:t>
            </a:r>
          </a:p>
          <a:p/>
          <a:p>
            <a:r>
              <a:t>LECTURE NARRATION</a:t>
            </a:r>
          </a:p>
          <a:p>
            <a:r>
              <a:t>If a process opens a file and then forks, parent and child inherit descriptors referring to the same open file description. Writes can therefore interact through a shared offset unless the program coordinates them or opens separate descriptions. The address spaces are logically separate, but kernel objects can remain shared.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process opens a file and then forks, parent and child inherit descriptors referring to the same open file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37. Add a second private variable and make different updates in the parent and child. Keep output in the parent and use exit status or a pipe to report the child’s checks. Explain why printing raw addresses would not demonstrate physical-page independence. Review 1. What exists after a failed fork? Review 2. Why can pre-fork buffered output appear twice?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37.</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37. Add a second private variable and make different updates in the parent and child. Keep output in the parent and use exit status or a pipe to report the child’s checks. Explain why printing raw addresses would not demonstrate physical-page independence. Review 1. What exists after a failed fork? Review 2. Why can pre-fork buffered output appear twice?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37.</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process creation.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process creation.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Program Execution.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37 — Process Creation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 creation separates an execution environment into independently scheduled participants.</a:t>
            </a:r>
          </a:p>
          <a:p>
            <a:pPr>
              <a:spcAft>
                <a:spcPts val="1100"/>
              </a:spcAft>
              <a:defRPr sz="1700">
                <a:solidFill>
                  <a:srgbClr val="F2F5F8"/>
                </a:solidFill>
              </a:defRPr>
            </a:pPr>
            <a:r>
              <a:t>• On POSIX systems, fork creates a child whose initial state resembles the parent’s at the call boundary, but the two processes receive different return values and can...</a:t>
            </a:r>
          </a:p>
          <a:p>
            <a:pPr>
              <a:spcAft>
                <a:spcPts val="1100"/>
              </a:spcAft>
              <a:defRPr sz="1900">
                <a:solidFill>
                  <a:srgbClr val="F2F5F8"/>
                </a:solidFill>
              </a:defRPr>
            </a:pPr>
            <a:r>
              <a:t>• The resemblance must be interpreted carefully.</a:t>
            </a:r>
          </a:p>
          <a:p>
            <a:pPr>
              <a:spcAft>
                <a:spcPts val="1100"/>
              </a:spcAft>
              <a:defRPr sz="1700">
                <a:solidFill>
                  <a:srgbClr val="F2F5F8"/>
                </a:solidFill>
              </a:defRPr>
            </a:pPr>
            <a:r>
              <a:t>• Private memory has independent modification semantics, while inherited descriptors can reference the same underlying open objects.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Process Creation.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37.1 fork</a:t>
            </a:r>
          </a:p>
          <a:p>
            <a:pPr>
              <a:spcAft>
                <a:spcPts val="1100"/>
              </a:spcAft>
              <a:defRPr sz="1900">
                <a:solidFill>
                  <a:srgbClr val="F2F5F8"/>
                </a:solidFill>
              </a:defRPr>
            </a:pPr>
            <a:r>
              <a:t>• 37.2 Parent process</a:t>
            </a:r>
          </a:p>
          <a:p>
            <a:pPr>
              <a:spcAft>
                <a:spcPts val="1100"/>
              </a:spcAft>
              <a:defRPr sz="1900">
                <a:solidFill>
                  <a:srgbClr val="F2F5F8"/>
                </a:solidFill>
              </a:defRPr>
            </a:pPr>
            <a:r>
              <a:t>• 37.3 Child process</a:t>
            </a:r>
          </a:p>
          <a:p>
            <a:pPr>
              <a:spcAft>
                <a:spcPts val="1100"/>
              </a:spcAft>
              <a:defRPr sz="1900">
                <a:solidFill>
                  <a:srgbClr val="F2F5F8"/>
                </a:solidFill>
              </a:defRPr>
            </a:pPr>
            <a:r>
              <a:t>• 37.4 Return values</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37.1 fork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fork returns once in the parent and once in the child after successful creation.</a:t>
            </a:r>
          </a:p>
          <a:p>
            <a:pPr>
              <a:spcAft>
                <a:spcPts val="1100"/>
              </a:spcAft>
              <a:defRPr sz="1900">
                <a:solidFill>
                  <a:srgbClr val="F2F5F8"/>
                </a:solidFill>
              </a:defRPr>
            </a:pPr>
            <a:r>
              <a:t>• In the parent it returns the child’s process ID; in the child it returns zero.</a:t>
            </a:r>
          </a:p>
          <a:p>
            <a:pPr>
              <a:spcAft>
                <a:spcPts val="1100"/>
              </a:spcAft>
              <a:defRPr sz="1900">
                <a:solidFill>
                  <a:srgbClr val="F2F5F8"/>
                </a:solidFill>
              </a:defRPr>
            </a:pPr>
            <a:r>
              <a:t>• On failure, the parent receives -1 and no child is created.</a:t>
            </a:r>
          </a:p>
          <a:p>
            <a:pPr>
              <a:spcAft>
                <a:spcPts val="1100"/>
              </a:spcAft>
              <a:defRPr sz="1900">
                <a:solidFill>
                  <a:srgbClr val="F2F5F8"/>
                </a:solidFill>
              </a:defRPr>
            </a:pPr>
            <a:r>
              <a:t>• The child begins after the call, not at the beginning of main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37.1 fork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child begins after the call, not at the beginning of main .</a:t>
            </a:r>
          </a:p>
          <a:p>
            <a:pPr>
              <a:spcAft>
                <a:spcPts val="1100"/>
              </a:spcAft>
              <a:defRPr sz="1900">
                <a:solidFill>
                  <a:srgbClr val="F2F5F8"/>
                </a:solidFill>
              </a:defRPr>
            </a:pPr>
            <a:r>
              <a:t>• Every branch must therefore be explicit about which process owns which cleanup and continuation responsibilities.</a:t>
            </a:r>
          </a:p>
          <a:p>
            <a:pPr>
              <a:spcAft>
                <a:spcPts val="1100"/>
              </a:spcAft>
              <a:defRPr sz="1700">
                <a:solidFill>
                  <a:srgbClr val="F2F5F8"/>
                </a:solidFill>
              </a:defRPr>
            </a:pPr>
            <a:r>
              <a:t>• A child intended to execute a new program should not accidentally fall through into the parent’s main loop when execution fails.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37.2 Parent process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parent retains its identity and receives a handle-like process ID for the child.</a:t>
            </a:r>
          </a:p>
          <a:p>
            <a:pPr>
              <a:spcAft>
                <a:spcPts val="1100"/>
              </a:spcAft>
              <a:defRPr sz="1900">
                <a:solidFill>
                  <a:srgbClr val="F2F5F8"/>
                </a:solidFill>
              </a:defRPr>
            </a:pPr>
            <a:r>
              <a:t>• It must decide whether to wait immediately, continue concurrently, or supervise several children.</a:t>
            </a:r>
          </a:p>
          <a:p>
            <a:pPr>
              <a:spcAft>
                <a:spcPts val="1100"/>
              </a:spcAft>
              <a:defRPr sz="1900">
                <a:solidFill>
                  <a:srgbClr val="F2F5F8"/>
                </a:solidFill>
              </a:defRPr>
            </a:pPr>
            <a:r>
              <a:t>• It also remains responsible for closing inherited communication endpoints it does not use.</a:t>
            </a:r>
          </a:p>
          <a:p>
            <a:pPr>
              <a:spcAft>
                <a:spcPts val="1100"/>
              </a:spcAft>
              <a:defRPr sz="1900">
                <a:solidFill>
                  <a:srgbClr val="F2F5F8"/>
                </a:solidFill>
              </a:defRPr>
            </a:pPr>
            <a:r>
              <a:t>• A parent cannot assume that it executes first after the fork.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37.2 Parent process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parent cannot assume that it executes first after the fork.</a:t>
            </a:r>
          </a:p>
          <a:p>
            <a:pPr>
              <a:spcAft>
                <a:spcPts val="1100"/>
              </a:spcAft>
              <a:defRPr sz="1900">
                <a:solidFill>
                  <a:srgbClr val="F2F5F8"/>
                </a:solidFill>
              </a:defRPr>
            </a:pPr>
            <a:r>
              <a:t>• Scheduling can run the child before the parent reaches its next statement.</a:t>
            </a:r>
          </a:p>
          <a:p>
            <a:pPr>
              <a:spcAft>
                <a:spcPts val="1100"/>
              </a:spcAft>
              <a:defRPr sz="1700">
                <a:solidFill>
                  <a:srgbClr val="F2F5F8"/>
                </a:solidFill>
              </a:defRPr>
            </a:pPr>
            <a:r>
              <a:t>• Any ordering requirement must be established through waiting or communication, not inferred from source order in the parent’s branch.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37.3 Child process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child has its own process identity and private execution state.</a:t>
            </a:r>
          </a:p>
          <a:p>
            <a:pPr>
              <a:spcAft>
                <a:spcPts val="1100"/>
              </a:spcAft>
              <a:defRPr sz="1900">
                <a:solidFill>
                  <a:srgbClr val="F2F5F8"/>
                </a:solidFill>
              </a:defRPr>
            </a:pPr>
            <a:r>
              <a:t>• It can modify ordinary private variables without changing the parent’s copies.</a:t>
            </a:r>
          </a:p>
          <a:p>
            <a:pPr>
              <a:spcAft>
                <a:spcPts val="1100"/>
              </a:spcAft>
              <a:defRPr sz="1900">
                <a:solidFill>
                  <a:srgbClr val="F2F5F8"/>
                </a:solidFill>
              </a:defRPr>
            </a:pPr>
            <a:r>
              <a:t>• It may execute a new program, perform bounded work, or participate in a pipeline.</a:t>
            </a:r>
          </a:p>
          <a:p>
            <a:pPr>
              <a:spcAft>
                <a:spcPts val="1100"/>
              </a:spcAft>
              <a:defRPr sz="1700">
                <a:solidFill>
                  <a:srgbClr val="F2F5F8"/>
                </a:solidFill>
              </a:defRPr>
            </a:pPr>
            <a:r>
              <a:t>• After a fork from a multithreaded process, only the calling thread appears in the child, while copied library and mutex state can reflect locks held by threads that no longer...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37.3 Child process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After a fork from a multithreaded process, only the calling thread appears in the child, while copied library and mutex state can reflect locks held by threads that no...</a:t>
            </a:r>
          </a:p>
          <a:p>
            <a:pPr>
              <a:spcAft>
                <a:spcPts val="1100"/>
              </a:spcAft>
              <a:defRPr sz="1900">
                <a:solidFill>
                  <a:srgbClr val="F2F5F8"/>
                </a:solidFill>
              </a:defRPr>
            </a:pPr>
            <a:r>
              <a:t>• Until a successful exec, the child must obey the applicable async-signal-safe restrictions.</a:t>
            </a:r>
          </a:p>
          <a:p>
            <a:pPr>
              <a:spcAft>
                <a:spcPts val="1100"/>
              </a:spcAft>
              <a:defRPr sz="1900">
                <a:solidFill>
                  <a:srgbClr val="F2F5F8"/>
                </a:solidFill>
              </a:defRPr>
            </a:pPr>
            <a:r>
              <a:t>• The examples here create children from single-threaded programs. [ R15 , R20 ]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37.4 Return values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three-way return distinction is fundamental:</a:t>
            </a:r>
          </a:p>
          <a:p>
            <a:pPr>
              <a:spcAft>
                <a:spcPts val="1100"/>
              </a:spcAft>
              <a:defRPr sz="1900">
                <a:solidFill>
                  <a:srgbClr val="F2F5F8"/>
                </a:solidFill>
              </a:defRPr>
            </a:pPr>
            <a:r>
              <a:t>• Do not collapse failure and parent behavior into one generic nonzero branch.</a:t>
            </a:r>
          </a:p>
          <a:p>
            <a:pPr>
              <a:spcAft>
                <a:spcPts val="1100"/>
              </a:spcAft>
              <a:defRPr sz="1900">
                <a:solidFill>
                  <a:srgbClr val="F2F5F8"/>
                </a:solidFill>
              </a:defRPr>
            </a:pPr>
            <a:r>
              <a:t>• A failed fork gives no child to wait for.</a:t>
            </a:r>
          </a:p>
          <a:p>
            <a:pPr>
              <a:spcAft>
                <a:spcPts val="1100"/>
              </a:spcAft>
              <a:defRPr sz="1900">
                <a:solidFill>
                  <a:srgbClr val="F2F5F8"/>
                </a:solidFill>
              </a:defRPr>
            </a:pPr>
            <a:r>
              <a:t>• Preserve the error information before cleanup operations that could change errno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37.4 Return values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collapse failure and parent behavior into one generic nonzero branch.</a:t>
            </a:r>
          </a:p>
          <a:p>
            <a:pPr>
              <a:spcAft>
                <a:spcPts val="1100"/>
              </a:spcAft>
              <a:defRPr sz="1900">
                <a:solidFill>
                  <a:srgbClr val="F2F5F8"/>
                </a:solidFill>
              </a:defRPr>
            </a:pPr>
            <a:r>
              <a:t>• A failed fork gives no child to wait for.</a:t>
            </a:r>
          </a:p>
          <a:p>
            <a:pPr>
              <a:spcAft>
                <a:spcPts val="1100"/>
              </a:spcAft>
              <a:defRPr sz="1900">
                <a:solidFill>
                  <a:srgbClr val="F2F5F8"/>
                </a:solidFill>
              </a:defRPr>
            </a:pPr>
            <a:r>
              <a:t>• Preserve the error information before cleanup operations that could change errno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37.5 Address-space duplication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child receives an address space with corresponding mappings according to the interface’s rules.</a:t>
            </a:r>
          </a:p>
          <a:p>
            <a:pPr>
              <a:spcAft>
                <a:spcPts val="1100"/>
              </a:spcAft>
              <a:defRPr sz="1900">
                <a:solidFill>
                  <a:srgbClr val="F2F5F8"/>
                </a:solidFill>
              </a:defRPr>
            </a:pPr>
            <a:r>
              <a:t>• Ordinary private memory initially contains the same values, but later modifications are logically independent.</a:t>
            </a:r>
          </a:p>
          <a:p>
            <a:pPr>
              <a:spcAft>
                <a:spcPts val="1100"/>
              </a:spcAft>
              <a:defRPr sz="1900">
                <a:solidFill>
                  <a:srgbClr val="F2F5F8"/>
                </a:solidFill>
              </a:defRPr>
            </a:pPr>
            <a:r>
              <a:t>• Shared mappings remain shared according to their mapping semantics.</a:t>
            </a:r>
          </a:p>
          <a:p>
            <a:pPr>
              <a:spcAft>
                <a:spcPts val="1100"/>
              </a:spcAft>
              <a:defRPr sz="1900">
                <a:solidFill>
                  <a:srgbClr val="F2F5F8"/>
                </a:solidFill>
              </a:defRPr>
            </a:pPr>
            <a:r>
              <a:t>• User-space I/O buffers are also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37.5 Address-space duplication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User-space I/O buffers are also memory.</a:t>
            </a:r>
          </a:p>
          <a:p>
            <a:pPr>
              <a:spcAft>
                <a:spcPts val="1100"/>
              </a:spcAft>
              <a:defRPr sz="1700">
                <a:solidFill>
                  <a:srgbClr val="F2F5F8"/>
                </a:solidFill>
              </a:defRPr>
            </a:pPr>
            <a:r>
              <a:t>• If buffered output exists before a fork and both processes later perform normal stream flushing, the same buffered bytes can be emitted twice.</a:t>
            </a:r>
          </a:p>
          <a:p>
            <a:pPr>
              <a:spcAft>
                <a:spcPts val="1100"/>
              </a:spcAft>
              <a:defRPr sz="1700">
                <a:solidFill>
                  <a:srgbClr val="F2F5F8"/>
                </a:solidFill>
              </a:defRPr>
            </a:pPr>
            <a:r>
              <a:t>• Flush deliberately before forking when appropriate, or ensure that an exec-bound child’s failure path uses _exit rather than normal buffered cleanup.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37.6 File-descriptor inheritance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child’s inherited descriptors refer to the same open file descriptions as the corresponding parent descriptors.</a:t>
            </a:r>
          </a:p>
          <a:p>
            <a:pPr>
              <a:spcAft>
                <a:spcPts val="1100"/>
              </a:spcAft>
              <a:defRPr sz="1900">
                <a:solidFill>
                  <a:srgbClr val="F2F5F8"/>
                </a:solidFill>
              </a:defRPr>
            </a:pPr>
            <a:r>
              <a:t>• They can share current offsets and file status flags.</a:t>
            </a:r>
          </a:p>
          <a:p>
            <a:pPr>
              <a:spcAft>
                <a:spcPts val="1100"/>
              </a:spcAft>
              <a:defRPr sz="1900">
                <a:solidFill>
                  <a:srgbClr val="F2F5F8"/>
                </a:solidFill>
              </a:defRPr>
            </a:pPr>
            <a:r>
              <a:t>• Closing the child’s descriptor releases its reference without closing the parent’s separate descriptor-table entry.</a:t>
            </a:r>
          </a:p>
          <a:p>
            <a:pPr>
              <a:spcAft>
                <a:spcPts val="1100"/>
              </a:spcAft>
              <a:defRPr sz="1900">
                <a:solidFill>
                  <a:srgbClr val="F2F5F8"/>
                </a:solidFill>
              </a:defRPr>
            </a:pPr>
            <a:r>
              <a:t>• This sharing is useful for pipelines and redirection but can also cause surprises.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37.6 File-descriptor inheritance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sharing is useful for pipelines and redirection but can also cause surprises.</a:t>
            </a:r>
          </a:p>
          <a:p>
            <a:pPr>
              <a:spcAft>
                <a:spcPts val="1100"/>
              </a:spcAft>
              <a:defRPr sz="1900">
                <a:solidFill>
                  <a:srgbClr val="F2F5F8"/>
                </a:solidFill>
              </a:defRPr>
            </a:pPr>
            <a:r>
              <a:t>• A child’s read can advance the offset subsequently observed by the parent.</a:t>
            </a:r>
          </a:p>
          <a:p>
            <a:pPr>
              <a:spcAft>
                <a:spcPts val="1100"/>
              </a:spcAft>
              <a:defRPr sz="1900">
                <a:solidFill>
                  <a:srgbClr val="F2F5F8"/>
                </a:solidFill>
              </a:defRPr>
            </a:pPr>
            <a:r>
              <a:t>• An accidentally retained pipe write end can prevent another process from seeing end of file.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37.7 Copy-on-write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Copy-on-write can avoid physically copying all private pages immediately.</a:t>
            </a:r>
          </a:p>
          <a:p>
            <a:pPr>
              <a:spcAft>
                <a:spcPts val="1100"/>
              </a:spcAft>
              <a:defRPr sz="1700">
                <a:solidFill>
                  <a:srgbClr val="F2F5F8"/>
                </a:solidFill>
              </a:defRPr>
            </a:pPr>
            <a:r>
              <a:t>• Parent and child initially share backing while hardware permissions trigger separation when a private write requires it.</a:t>
            </a:r>
          </a:p>
          <a:p>
            <a:pPr>
              <a:spcAft>
                <a:spcPts val="1100"/>
              </a:spcAft>
              <a:defRPr sz="1700">
                <a:solidFill>
                  <a:srgbClr val="F2F5F8"/>
                </a:solidFill>
              </a:defRPr>
            </a:pPr>
            <a:r>
              <a:t>• The interface promises the observable private-memory behavior, not an eager byte-for-byte copy at the instant of creation.</a:t>
            </a:r>
          </a:p>
          <a:p>
            <a:pPr>
              <a:spcAft>
                <a:spcPts val="1100"/>
              </a:spcAft>
              <a:defRPr sz="1900">
                <a:solidFill>
                  <a:srgbClr val="F2F5F8"/>
                </a:solidFill>
              </a:defRPr>
            </a:pPr>
            <a:r>
              <a:t>• The amount of memory actually duplicated depends on later writes, mappings, allocator activity, and kernel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37.7 Copy-on-write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amount of memory actually duplicated depends on later writes, mappings, allocator activity, and kernel policy.</a:t>
            </a:r>
          </a:p>
          <a:p>
            <a:pPr>
              <a:spcAft>
                <a:spcPts val="1100"/>
              </a:spcAft>
              <a:defRPr sz="1700">
                <a:solidFill>
                  <a:srgbClr val="F2F5F8"/>
                </a:solidFill>
              </a:defRPr>
            </a:pPr>
            <a:r>
              <a:t>• Forking a large process is therefore not automatically equivalent to immediately allocating another complete physical copy, but it is also not free.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Private values after fork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program starts with value 7.</a:t>
            </a:r>
          </a:p>
          <a:p>
            <a:pPr>
              <a:spcAft>
                <a:spcPts val="1100"/>
              </a:spcAft>
              <a:defRPr sz="1900">
                <a:solidFill>
                  <a:srgbClr val="F2F5F8"/>
                </a:solidFill>
              </a:defRPr>
            </a:pPr>
            <a:r>
              <a:t>• The child changes its private value to 12 and reports correctness through its exit status.</a:t>
            </a:r>
          </a:p>
          <a:p>
            <a:pPr>
              <a:spcAft>
                <a:spcPts val="1100"/>
              </a:spcAft>
              <a:defRPr sz="1900">
                <a:solidFill>
                  <a:srgbClr val="F2F5F8"/>
                </a:solidFill>
              </a:defRPr>
            </a:pPr>
            <a:r>
              <a:t>• The parent waits and verifies that its own value remains 7.</a:t>
            </a:r>
          </a:p>
          <a:p>
            <a:pPr>
              <a:spcAft>
                <a:spcPts val="1100"/>
              </a:spcAft>
              <a:defRPr sz="1900">
                <a:solidFill>
                  <a:srgbClr val="F2F5F8"/>
                </a:solidFill>
              </a:defRPr>
            </a:pPr>
            <a:r>
              <a:t>• Companion listing: ch37/private_values.c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Private values after fork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ch37/private_values.c</a:t>
            </a:r>
          </a:p>
          <a:p>
            <a:pPr>
              <a:spcAft>
                <a:spcPts val="1100"/>
              </a:spcAft>
              <a:defRPr sz="1900">
                <a:solidFill>
                  <a:srgbClr val="F2F5F8"/>
                </a:solidFill>
              </a:defRPr>
            </a:pPr>
            <a:r>
              <a:t>• The output is deterministic because only the parent prints and it waits for the child’s check.</a:t>
            </a:r>
          </a:p>
          <a:p>
            <a:pPr>
              <a:spcAft>
                <a:spcPts val="1100"/>
              </a:spcAft>
              <a:defRPr sz="1900">
                <a:solidFill>
                  <a:srgbClr val="F2F5F8"/>
                </a:solidFill>
              </a:defRPr>
            </a:pPr>
            <a:r>
              <a:t>• This does not prove which process ran first or which physical pages were copied.</a:t>
            </a:r>
          </a:p>
          <a:p>
            <a:pPr>
              <a:spcAft>
                <a:spcPts val="1100"/>
              </a:spcAft>
              <a:defRPr sz="1900">
                <a:solidFill>
                  <a:srgbClr val="F2F5F8"/>
                </a:solidFill>
              </a:defRPr>
            </a:pPr>
            <a:r>
              <a:t>• It verifies the private-value contract visible to the program.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Interpreting fork returns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a successful fork , the parent receives the child’s positive PID while the child receives zero.</a:t>
            </a:r>
          </a:p>
          <a:p>
            <a:pPr>
              <a:spcAft>
                <a:spcPts val="1100"/>
              </a:spcAft>
              <a:defRPr sz="1900">
                <a:solidFill>
                  <a:srgbClr val="F2F5F8"/>
                </a:solidFill>
              </a:defRPr>
            </a:pPr>
            <a:r>
              <a:t>• Both continue from the instruction after the call.</a:t>
            </a:r>
          </a:p>
          <a:p>
            <a:pPr>
              <a:spcAft>
                <a:spcPts val="1100"/>
              </a:spcAft>
              <a:defRPr sz="1900">
                <a:solidFill>
                  <a:srgbClr val="F2F5F8"/>
                </a:solidFill>
              </a:defRPr>
            </a:pPr>
            <a:r>
              <a:t>• Code commonly branches on the return value to assign parent and child responsibilities.</a:t>
            </a:r>
          </a:p>
          <a:p>
            <a:pPr>
              <a:spcAft>
                <a:spcPts val="1100"/>
              </a:spcAft>
              <a:defRPr sz="1900">
                <a:solidFill>
                  <a:srgbClr val="F2F5F8"/>
                </a:solidFill>
              </a:defRPr>
            </a:pPr>
            <a:r>
              <a:t>• A negative return in the parent-side call indicates failure and no child was created.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Interpreting fork returns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a successful fork , the parent receives the child’s positive PID while the child receives zero.</a:t>
            </a:r>
          </a:p>
          <a:p>
            <a:pPr>
              <a:spcAft>
                <a:spcPts val="1100"/>
              </a:spcAft>
              <a:defRPr sz="1900">
                <a:solidFill>
                  <a:srgbClr val="F2F5F8"/>
                </a:solidFill>
              </a:defRPr>
            </a:pPr>
            <a:r>
              <a:t>• Both continue from the instruction after the call.</a:t>
            </a:r>
          </a:p>
          <a:p>
            <a:pPr>
              <a:spcAft>
                <a:spcPts val="1100"/>
              </a:spcAft>
              <a:defRPr sz="1900">
                <a:solidFill>
                  <a:srgbClr val="F2F5F8"/>
                </a:solidFill>
              </a:defRPr>
            </a:pPr>
            <a:r>
              <a:t>• Code commonly branches on the return value to assign parent and child responsibilities.</a:t>
            </a:r>
          </a:p>
          <a:p>
            <a:pPr>
              <a:spcAft>
                <a:spcPts val="1100"/>
              </a:spcAft>
              <a:defRPr sz="1900">
                <a:solidFill>
                  <a:srgbClr val="F2F5F8"/>
                </a:solidFill>
              </a:defRPr>
            </a:pPr>
            <a:r>
              <a:t>• A negative return in the parent-side call indicates failure and no child was created.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Inherited descriptor example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process opens a file and then forks, parent and child inherit descriptors referring to the same open file description.</a:t>
            </a:r>
          </a:p>
          <a:p>
            <a:pPr>
              <a:spcAft>
                <a:spcPts val="1100"/>
              </a:spcAft>
              <a:defRPr sz="1700">
                <a:solidFill>
                  <a:srgbClr val="F2F5F8"/>
                </a:solidFill>
              </a:defRPr>
            </a:pPr>
            <a:r>
              <a:t>• Writes can therefore interact through a shared offset unless the program coordinates them or opens separate descriptions.</a:t>
            </a:r>
          </a:p>
          <a:p>
            <a:pPr>
              <a:spcAft>
                <a:spcPts val="1100"/>
              </a:spcAft>
              <a:defRPr sz="1900">
                <a:solidFill>
                  <a:srgbClr val="F2F5F8"/>
                </a:solidFill>
              </a:defRPr>
            </a:pPr>
            <a:r>
              <a:t>• The address spaces are logically separate, but kernel objects can remain shared.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Inherited descriptor example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process opens a file and then forks, parent and child inherit descriptors referring to the same open file description.</a:t>
            </a:r>
          </a:p>
          <a:p>
            <a:pPr>
              <a:spcAft>
                <a:spcPts val="1100"/>
              </a:spcAft>
              <a:defRPr sz="1700">
                <a:solidFill>
                  <a:srgbClr val="F2F5F8"/>
                </a:solidFill>
              </a:defRPr>
            </a:pPr>
            <a:r>
              <a:t>• Writes can therefore interact through a shared offset unless the program coordinates them or opens separate descriptions.</a:t>
            </a:r>
          </a:p>
          <a:p>
            <a:pPr>
              <a:spcAft>
                <a:spcPts val="1100"/>
              </a:spcAft>
              <a:defRPr sz="1900">
                <a:solidFill>
                  <a:srgbClr val="F2F5F8"/>
                </a:solidFill>
              </a:defRPr>
            </a:pPr>
            <a:r>
              <a:t>• The address spaces are logically separate, but kernel objects can remain shared.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37.</a:t>
            </a:r>
          </a:p>
          <a:p>
            <a:pPr>
              <a:spcAft>
                <a:spcPts val="1100"/>
              </a:spcAft>
              <a:defRPr sz="1900">
                <a:solidFill>
                  <a:srgbClr val="F2F5F8"/>
                </a:solidFill>
              </a:defRPr>
            </a:pPr>
            <a:r>
              <a:t>• Add a second private variable and make different updates in the parent and child.</a:t>
            </a:r>
          </a:p>
          <a:p>
            <a:pPr>
              <a:spcAft>
                <a:spcPts val="1100"/>
              </a:spcAft>
              <a:defRPr sz="1900">
                <a:solidFill>
                  <a:srgbClr val="F2F5F8"/>
                </a:solidFill>
              </a:defRPr>
            </a:pPr>
            <a:r>
              <a:t>• Keep output in the parent and use exit status or a pipe to report the child’s checks.</a:t>
            </a:r>
          </a:p>
          <a:p>
            <a:pPr>
              <a:spcAft>
                <a:spcPts val="1100"/>
              </a:spcAft>
              <a:defRPr sz="1900">
                <a:solidFill>
                  <a:srgbClr val="F2F5F8"/>
                </a:solidFill>
              </a:defRPr>
            </a:pPr>
            <a:r>
              <a:t>• Explain why printing raw addresses would not demonstrate physical-page independence.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What exists after a failed fork?</a:t>
            </a:r>
          </a:p>
          <a:p>
            <a:pPr>
              <a:spcAft>
                <a:spcPts val="1100"/>
              </a:spcAft>
              <a:defRPr sz="1900">
                <a:solidFill>
                  <a:srgbClr val="F2F5F8"/>
                </a:solidFill>
              </a:defRPr>
            </a:pPr>
            <a:r>
              <a:t>• Review 2.</a:t>
            </a:r>
          </a:p>
          <a:p>
            <a:pPr>
              <a:spcAft>
                <a:spcPts val="1100"/>
              </a:spcAft>
              <a:defRPr sz="1900">
                <a:solidFill>
                  <a:srgbClr val="F2F5F8"/>
                </a:solidFill>
              </a:defRPr>
            </a:pPr>
            <a:r>
              <a:t>• Why can pre-fork buffered output appear twice?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process creation.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Program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