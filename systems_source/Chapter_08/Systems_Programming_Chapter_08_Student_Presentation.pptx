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 Chapter 8 — Process Memory Layout</a:t>
            </a:r>
          </a:p>
          <a:p/>
          <a:p>
            <a:r>
              <a:t>LECTURE NARRATION</a:t>
            </a:r>
          </a:p>
          <a:p>
            <a:r>
              <a:t>A process sees a virtual address space containing mappings with different purposes and permissions. The familiar picture of code, data, heap, and stack is useful, but it is a conceptual map rather than a universal fixed arrangement. Shared libraries, thread stacks, mapped files, guard pages, and allocator regions make real layouts more complex.</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a process sees a virtual address space containing mappings with different purposes and permissions.</a:t>
            </a:r>
          </a:p>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 What This Chapter Builds</a:t>
            </a:r>
          </a:p>
          <a:p/>
          <a:p>
            <a:r>
              <a:t>LECTURE NARRATION</a:t>
            </a:r>
          </a:p>
          <a:p>
            <a:r>
              <a:t>A process sees a virtual address space containing mappings with different purposes and permissions. The familiar picture of code, data, heap, and stack is useful, but it is a conceptual map rather than a universal fixed arrangement. Shared libraries, thread stacks, mapped files, guard pages, and allocator regions make real layouts more complex.</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a process sees a virtual address space containing mappings with different purposes and permissions.</a:t>
            </a:r>
          </a:p>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3: Chapter Roadmap</a:t>
            </a:r>
          </a:p>
          <a:p/>
          <a:p>
            <a:r>
              <a:t>LECTURE NARRATION</a:t>
            </a:r>
          </a:p>
          <a:p>
            <a:r>
              <a:t>8.1 Code/text segment 8.2 Read-only data 8.3 Initialized data 8.4 Uninitialized data ...plus 8 additional source topics</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8.1 Code/text segment 8.2 Read-only data 8.3 Initialized data 8.4 Uninitialized data ...plus 8 additional source topics</a:t>
            </a:r>
          </a:p>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4: 8.1 Code/text segment</a:t>
            </a:r>
          </a:p>
          <a:p/>
          <a:p>
            <a:r>
              <a:t>LECTURE NARRATION</a:t>
            </a:r>
          </a:p>
          <a:p>
            <a:r>
              <a:t>The text region contains executable instructions. In an ELF file, sections organize linking information while loadable segments describe mappings needed at execution time. Several sections can contribute to one segment. Do not confuse a linker section name with a complete runtime mapping. Executable mappings are commonly readable and executable but not writable. This limits accidental modification and supports security policy. A function’s instructions may be shared physically among processes running the same executable while each process retains its own virtual mappings and private writable state. The sharing is below the source-level function abstraction.</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the text region contains executable instructions.</a:t>
            </a:r>
          </a:p>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5: 8.1 Code/text segment — Deep Dive</a:t>
            </a:r>
          </a:p>
          <a:p/>
          <a:p>
            <a:r>
              <a:t>LECTURE NARRATION</a:t>
            </a:r>
          </a:p>
          <a:p>
            <a:r>
              <a:t>The text region contains executable instructions. In an ELF file, sections organize linking information while loadable segments describe mappings needed at execution time. Several sections can contribute to one segment. Do not confuse a linker section name with a complete runtime mapping. Executable mappings are commonly readable and executable but not writable. This limits accidental modification and supports security policy. A function’s instructions may be shared physically among processes running the same executable while each process retains its own virtual mappings and private writable state. The sharing is below the source-level function abstraction.</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the text region contains executable instructions.</a:t>
            </a:r>
          </a:p>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6: 8.2 Read-only data</a:t>
            </a:r>
          </a:p>
          <a:p/>
          <a:p>
            <a:r>
              <a:t>LECTURE NARRATION</a:t>
            </a:r>
          </a:p>
          <a:p>
            <a:r>
              <a:t>Read-only regions commonly hold constants, string literals, and tables that need not change. A string literal’s storage must not be modified through an ordinary program operation. In C, historical syntax may allow a pointer assignment that does not itself enforce that rule; the attempted modification is still invalid. A const object is not guaranteed to appear in a particular read-only section. It may be automatic, optimized away, embedded into instructions, or stored elsewhere according to its use. The language’s const qualification and the operating system’s page permissions are related design tools, not identical mechanisms.</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read-only regions commonly hold constants, string literals, and tables that need not change.</a:t>
            </a:r>
          </a:p>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7: 8.2 Read-only data — Deep Dive</a:t>
            </a:r>
          </a:p>
          <a:p/>
          <a:p>
            <a:r>
              <a:t>LECTURE NARRATION</a:t>
            </a:r>
          </a:p>
          <a:p>
            <a:r>
              <a:t>Read-only regions commonly hold constants, string literals, and tables that need not change. A string literal’s storage must not be modified through an ordinary program operation. In C, historical syntax may allow a pointer assignment that does not itself enforce that rule; the attempted modification is still invalid. A const object is not guaranteed to appear in a particular read-only section. It may be automatic, optimized away, embedded into instructions, or stored elsewhere according to its use. The language’s const qualification and the operating system’s page permissions are related design tools, not identical mechanisms.</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read-only regions commonly hold constants, string literals, and tables that need not change.</a:t>
            </a:r>
          </a:p>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8: 8.3 Initialized data</a:t>
            </a:r>
          </a:p>
          <a:p/>
          <a:p>
            <a:r>
              <a:t>LECTURE NARRATION</a:t>
            </a:r>
          </a:p>
          <a:p>
            <a:r>
              <a:t>Writable objects with static storage duration and explicit nonzero initial values commonly contribute to an initialized-data region. Their initial bytes are described by the executable or its loading process. Each process can then modify its private copy according to the mapping rules. A global counter initialized to seven is logically initialized before ordinary application use, but the exact startup work can differ for C++ objects requiring dynamic initialization. Separate the initial byte image from constructors and runtime initialization. A complex global object’s readiness may depend on code that runs before main .</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writable objects with static storage duration and explicit nonzero initial values commonly contribute to an initialized-data region.</a:t>
            </a:r>
          </a:p>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9: 8.3 Initialized data — Deep Dive</a:t>
            </a:r>
          </a:p>
          <a:p/>
          <a:p>
            <a:r>
              <a:t>LECTURE NARRATION</a:t>
            </a:r>
          </a:p>
          <a:p>
            <a:r>
              <a:t>Writable objects with static storage duration and explicit nonzero initial values commonly contribute to an initialized-data region. Their initial bytes are described by the executable or its loading process. Each process can then modify its private copy according to the mapping rules. A global counter initialized to seven is logically initialized before ordinary application use, but the exact startup work can differ for C++ objects requiring dynamic initialization. Separate the initial byte image from constructors and runtime initialization. A complex global object’s readiness may depend on code that runs before main .</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writable objects with static storage duration and explicit nonzero initial values commonly contribute to an initialized-data region.</a:t>
            </a:r>
          </a:p>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10: 8.4 Uninitialized data</a:t>
            </a:r>
          </a:p>
          <a:p/>
          <a:p>
            <a:r>
              <a:t>LECTURE NARRATION</a:t>
            </a:r>
          </a:p>
          <a:p>
            <a:r>
              <a:t>The conventional BSS region represents static-duration storage that begins zero-initialized without requiring every zero byte to be stored literally in the executable file. “Uninitialized data” is therefore a misleading everyday label: these objects do receive the language’s required initial state. An automatic local integer without an initializer is different. Its value is not made zero merely because a global integer would be. The storage-duration distinction matters more than whether the source visibly contains = 0 . The loader and runtime can efficiently establish zero-filled pages for large static regions.</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the conventional BSS region represents static-duration storage that begins zero-initialized without requiring every zero byte to be stored literally in the executable file. “Uninitialized data” is therefore a misleading everyday label: these objects do receive the language’s required initial state.</a:t>
            </a:r>
          </a:p>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11: 8.4 Uninitialized data — Deep Dive</a:t>
            </a:r>
          </a:p>
          <a:p/>
          <a:p>
            <a:r>
              <a:t>LECTURE NARRATION</a:t>
            </a:r>
          </a:p>
          <a:p>
            <a:r>
              <a:t>The conventional BSS region represents static-duration storage that begins zero-initialized without requiring every zero byte to be stored literally in the executable file. “Uninitialized data” is therefore a misleading everyday label: these objects do receive the language’s required initial state. An automatic local integer without an initializer is different. Its value is not made zero merely because a global integer would be. The storage-duration distinction matters more than whether the source visibly contains = 0 . The loader and runtime can efficiently establish zero-filled pages for large static regions.</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the conventional BSS region represents static-duration storage that begins zero-initialized without requiring every zero byte to be stored literally in the executable file. “Uninitialized data” is therefore a misleading everyday label: these objects do receive the language’s required initial state.</a:t>
            </a:r>
          </a:p>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12: 8.5 Heap</a:t>
            </a:r>
          </a:p>
          <a:p/>
          <a:p>
            <a:r>
              <a:t>LECTURE NARRATION</a:t>
            </a:r>
          </a:p>
          <a:p>
            <a:r>
              <a:t>The heap is a conventional name for dynamically managed storage. A user-space allocator may obtain regions from the operating system through several mechanisms and divide them into allocations. Large allocations may use separate mappings rather than one continuously growing area. Calling malloc does not necessarily trigger a system call, and calling free does not necessarily return pages immediately to the operating system. The allocator can retain free blocks for reuse. Consequently, a process’s resident memory may remain high after application objects are released. Distinguish live allocations, allocator-retained storage, mapped address space, and resident physical pages.</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the heap is a conventional name for dynamically managed storage.</a:t>
            </a:r>
          </a:p>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13: 8.5 Heap — Deep Dive</a:t>
            </a:r>
          </a:p>
          <a:p/>
          <a:p>
            <a:r>
              <a:t>LECTURE NARRATION</a:t>
            </a:r>
          </a:p>
          <a:p>
            <a:r>
              <a:t>The heap is a conventional name for dynamically managed storage. A user-space allocator may obtain regions from the operating system through several mechanisms and divide them into allocations. Large allocations may use separate mappings rather than one continuously growing area. Calling malloc does not necessarily trigger a system call, and calling free does not necessarily return pages immediately to the operating system. The allocator can retain free blocks for reuse. Consequently, a process’s resident memory may remain high after application objects are released. Distinguish live allocations, allocator-retained storage, mapped address space, and resident physical pages.</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the heap is a conventional name for dynamically managed storage.</a:t>
            </a:r>
          </a:p>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14: 8.6 Stack</a:t>
            </a:r>
          </a:p>
          <a:p/>
          <a:p>
            <a:r>
              <a:t>LECTURE NARRATION</a:t>
            </a:r>
          </a:p>
          <a:p>
            <a:r>
              <a:t>A thread’s stack supports call state and automatic storage that the compiler chooses to place there. On the reference ABI it conventionally grows toward lower addresses. Optimized functions can omit frame pointers, keep values in registers, or use other layouts permitted by the ABI. Each thread needs its own execution stack. Stack capacity is finite, and guard mappings can detect some growth beyond its boundary. Large automatic arrays and deep recursion can exhaust it. A stack overflow is not reliably recoverable by ordinary code that needs the same exhausted stack to run its error path.</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a thread’s stack supports call state and automatic storage that the compiler chooses to place there.</a:t>
            </a:r>
          </a:p>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15: 8.6 Stack — Deep Dive</a:t>
            </a:r>
          </a:p>
          <a:p/>
          <a:p>
            <a:r>
              <a:t>LECTURE NARRATION</a:t>
            </a:r>
          </a:p>
          <a:p>
            <a:r>
              <a:t>A thread’s stack supports call state and automatic storage that the compiler chooses to place there. On the reference ABI it conventionally grows toward lower addresses. Optimized functions can omit frame pointers, keep values in registers, or use other layouts permitted by the ABI. Each thread needs its own execution stack. Stack capacity is finite, and guard mappings can detect some growth beyond its boundary. Large automatic arrays and deep recursion can exhaust it. A stack overflow is not reliably recoverable by ordinary code that needs the same exhausted stack to run its error path.</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a thread’s stack supports call state and automatic storage that the compiler chooses to place there.</a:t>
            </a:r>
          </a:p>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16: 8.7 Command-line arguments</a:t>
            </a:r>
          </a:p>
          <a:p/>
          <a:p>
            <a:r>
              <a:t>LECTURE NARRATION</a:t>
            </a:r>
          </a:p>
          <a:p>
            <a:r>
              <a:t>Program startup provides an argument count and an array of pointers to strings. In the usual main(int argc, char* argv[]) form, valid argument entries are argv[0] through argv[argc-1] , and argv[argc] is a null pointer. The first entry conventionally identifies the program, but applications should not treat it as a trusted executable path. Arguments are input, not authority. Parse numeric strings with range and syntax checks. A string that begins with a valid number but contains trailing junk should not silently become a valid count unless that grammar is intended. Never use an argument length or value directly in allocation arithmetic without validation.</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program startup provides an argument count and an array of pointers to strings.</a:t>
            </a:r>
          </a:p>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17: 8.7 Command-line arguments — Deep Dive</a:t>
            </a:r>
          </a:p>
          <a:p/>
          <a:p>
            <a:r>
              <a:t>LECTURE NARRATION</a:t>
            </a:r>
          </a:p>
          <a:p>
            <a:r>
              <a:t>Program startup provides an argument count and an array of pointers to strings. In the usual main(int argc, char* argv[]) form, valid argument entries are argv[0] through argv[argc-1] , and argv[argc] is a null pointer. The first entry conventionally identifies the program, but applications should not treat it as a trusted executable path. Arguments are input, not authority. Parse numeric strings with range and syntax checks. A string that begins with a valid number but contains trailing junk should not silently become a valid count unless that grammar is intended. Never use an argument length or value directly in allocation arithmetic without validation.</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program startup provides an argument count and an array of pointers to strings.</a:t>
            </a:r>
          </a:p>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18: 8.8 Environment</a:t>
            </a:r>
          </a:p>
          <a:p/>
          <a:p>
            <a:r>
              <a:t>LECTURE NARRATION</a:t>
            </a:r>
          </a:p>
          <a:p>
            <a:r>
              <a:t>The environment supplies named string values such as locale settings, search paths, and configuration. It is inherited and can be replaced when a new program image is executed. Environment values can affect library behavior before the application examines them. Treat environment data as untrusted configuration where appropriate, especially across privilege boundaries. Avoid printing the complete environment in diagnostics because it can contain secrets. Concurrent modification also complicates use: a pointer returned by an environment lookup should not be assumed permanently stable while other code changes the environment. Prefer capturing required configuration during controlled startup.</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the environment supplies named string values such as locale settings, search paths, and configuration.</a:t>
            </a:r>
          </a:p>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19: 8.8 Environment — Deep Dive</a:t>
            </a:r>
          </a:p>
          <a:p/>
          <a:p>
            <a:r>
              <a:t>LECTURE NARRATION</a:t>
            </a:r>
          </a:p>
          <a:p>
            <a:r>
              <a:t>The environment supplies named string values such as locale settings, search paths, and configuration. It is inherited and can be replaced when a new program image is executed. Environment values can affect library behavior before the application examines them. Treat environment data as untrusted configuration where appropriate, especially across privilege boundaries. Avoid printing the complete environment in diagnostics because it can contain secrets. Concurrent modification also complicates use: a pointer returned by an environment lookup should not be assumed permanently stable while other code changes the environment. Prefer capturing required configuration during controlled startup.</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the environment supplies named string values such as locale settings, search paths, and configuration.</a:t>
            </a:r>
          </a:p>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20: Worked example — Predicting placement without assuming addresses</a:t>
            </a:r>
          </a:p>
          <a:p/>
          <a:p>
            <a:r>
              <a:t>LECTURE NARRATION</a:t>
            </a:r>
          </a:p>
          <a:p>
            <a:r>
              <a:t>Consider four objects: a global initialized integer, a global zero-initialized array, an automatic local integer, and an allocated integer. Their storage-duration categories are known from the source. Their exact addresses are runtime observations and may change between executions because of address-space randomization. Companion listing: ch08/regions.c The stable value output is values=7 0 11 13 . The pointer output is intentionally variable. Predict categories first, then compare addresses with a mapping tool such as the process’s Linux maps view. A large gap between two addresses does not prove a corresponding amount of physical memory is resident. The program does not print function pointers by converting them to void* , because that conversion is not a general portable C object-pointer operation. To inspect executable mappings, use binary and process inspection tools. This keeps a language-level demonstration from quietly depending on an unnecessary pointer-conversion extension. [ R4 , R37 ]</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Think of an address written on a note: the note can tell you where to look, but it does not prove the thing is still there or that you are allowed to use it.</a:t>
            </a:r>
          </a:p>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21: Worked example — Predicting placement without assuming addresses — Deep Dive</a:t>
            </a:r>
          </a:p>
          <a:p/>
          <a:p>
            <a:r>
              <a:t>LECTURE NARRATION</a:t>
            </a:r>
          </a:p>
          <a:p>
            <a:r>
              <a:t>Consider four objects: a global initialized integer, a global zero-initialized array, an automatic local integer, and an allocated integer. Their storage-duration categories are known from the source. Their exact addresses are runtime observations and may change between executions because of address-space randomization. Companion listing: ch08/regions.c The stable value output is values=7 0 11 13 . The pointer output is intentionally variable. Predict categories first, then compare addresses with a mapping tool such as the process’s Linux maps view. A large gap between two addresses does not prove a corresponding amount of physical memory is resident. The program does not print function pointers by converting them to void* , because that conversion is not a general portable C object-pointer operation. To inspect executable mappings, use binary and process inspection tools. This keeps a language-level demonstration from quietly depending on an unnecessary pointer-conversion extension. [ R4 , R37 ]</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Think of an address written on a note: the note can tell you where to look, but it does not prove the thing is still there or that you are allowed to use it.</a:t>
            </a:r>
          </a:p>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22: Worked example — Placing common objects conceptually</a:t>
            </a:r>
          </a:p>
          <a:p/>
          <a:p>
            <a:r>
              <a:t>LECTURE NARRATION</a:t>
            </a:r>
          </a:p>
          <a:p>
            <a:r>
              <a:t>A function’s instructions normally belong to executable text; a string literal typically resides in read-only data; an initialized global such as int g=7; belongs to initialized static storage; an uninitialized global such as int h; is represented in a zero-initialized region; dynamically allocated storage comes from the heap; and ordinary local variables commonly use stack storage. Exact addresses are loader and ABI details, but these conceptual regions explain protection and lifetime differences.</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a function’s instructions normally belong to executable text; a string literal typically resides in read-only data; an initialized global such as int g=7; belongs to initialized static storage; an uninitialized global such as int h; is represented in a zero-initialized region; dynamically allocated storage comes from the heap; and ordinary local variables commonly use stack storage.</a:t>
            </a:r>
          </a:p>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23: Worked example — Placing common objects conceptually — Deep Dive</a:t>
            </a:r>
          </a:p>
          <a:p/>
          <a:p>
            <a:r>
              <a:t>LECTURE NARRATION</a:t>
            </a:r>
          </a:p>
          <a:p>
            <a:r>
              <a:t>A function’s instructions normally belong to executable text; a string literal typically resides in read-only data; an initialized global such as int g=7; belongs to initialized static storage; an uninitialized global such as int h; is represented in a zero-initialized region; dynamically allocated storage comes from the heap; and ordinary local variables commonly use stack storage. Exact addresses are loader and ABI details, but these conceptual regions explain protection and lifetime differences.</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a function’s instructions normally belong to executable text; a string literal typically resides in read-only data; an initialized global such as int g=7; belongs to initialized static storage; an uninitialized global such as int h; is represented in a zero-initialized region; dynamically allocated storage comes from the heap; and ordinary local variables commonly use stack storage.</a:t>
            </a:r>
          </a:p>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24: Worked example — Estimating stack growth</a:t>
            </a:r>
          </a:p>
          <a:p/>
          <a:p>
            <a:r>
              <a:t>LECTURE NARRATION</a:t>
            </a:r>
          </a:p>
          <a:p>
            <a:r>
              <a:t>Suppose a recursive function consumes roughly 256 bytes of stack per call and the usable thread stack is 8 MiB. Ignoring guard pages and other frames, the crude upper bound is 8 × 1024 × 1024 / 256 = 32768 frames. Real safe depth is lower because startup frames, alignment, libraries, and variable frame sizes consume space too. The calculation is an estimate, not a recursion guarantee.</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suppose a recursive function consumes roughly 256 bytes of stack per call and the usable thread stack is 8 MiB.</a:t>
            </a:r>
          </a:p>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25: Worked example — Estimating stack growth — Deep Dive</a:t>
            </a:r>
          </a:p>
          <a:p/>
          <a:p>
            <a:r>
              <a:t>LECTURE NARRATION</a:t>
            </a:r>
          </a:p>
          <a:p>
            <a:r>
              <a:t>Suppose a recursive function consumes roughly 256 bytes of stack per call and the usable thread stack is 8 MiB. Ignoring guard pages and other frames, the crude upper bound is 8 × 1024 × 1024 / 256 = 32768 frames. Real safe depth is lower because startup frames, alignment, libraries, and variable frame sizes consume space too. The calculation is an estimate, not a recursion guarantee.</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suppose a recursive function consumes roughly 256 bytes of stack per call and the usable thread stack is 8 MiB.</a:t>
            </a:r>
          </a:p>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26: Guided lab and review</a:t>
            </a:r>
          </a:p>
          <a:p/>
          <a:p>
            <a:r>
              <a:t>LECTURE NARRATION</a:t>
            </a:r>
          </a:p>
          <a:p>
            <a:r>
              <a:t>Lab 8. Inspect the executable’s sections and program headers with readelf . Relate the zero-initialized array to file size versus memory size, and distinguish section organization from loadable segments. Do not expect exact addresses to match another build. Review 1. Why does a global integer without an explicit initializer begin at zero while an ordinary local integer may not? Review 2. Why can freeing all application allocations leave the process with mapped memory?</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lab 8.</a:t>
            </a:r>
          </a:p>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27: Guided lab and review — Deep Dive</a:t>
            </a:r>
          </a:p>
          <a:p/>
          <a:p>
            <a:r>
              <a:t>LECTURE NARRATION</a:t>
            </a:r>
          </a:p>
          <a:p>
            <a:r>
              <a:t>Lab 8. Inspect the executable’s sections and program headers with readelf . Relate the zero-initialized array to file size versus memory size, and distinguish section organization from loadable segments. Do not expect exact addresses to match another build. Review 1. Why does a global integer without an explicit initializer begin at zero while an ordinary local integer may not? Review 2. Why can freeing all application allocations leave the process with mapped memory?</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lab 8.</a:t>
            </a:r>
          </a:p>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28: Chapter Synthesis</a:t>
            </a:r>
          </a:p>
          <a:p/>
          <a:p>
            <a:r>
              <a:t>LECTURE NARRATION</a:t>
            </a:r>
          </a:p>
          <a:p>
            <a:r>
              <a:t>The chapter's central subject is process memory layout. Correct reasoning requires explicit assumptions, bounds, ownership, and interface contracts. Observed behavior is evidence about a run; it is not automatically a language or system guarantee. Use the worked examples and lab to test whether the model transfers to new cases.</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the chapter's central subject is process memory layout.</a:t>
            </a:r>
          </a:p>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29: Review and Transition</a:t>
            </a:r>
          </a:p>
          <a:p/>
          <a:p>
            <a:r>
              <a:t>LECTURE NARRATION</a:t>
            </a:r>
          </a:p>
          <a:p>
            <a:r>
              <a:t>Explain one mechanism from the chapter without relying on vocabulary alone. Identify one failure mode and the violated contract or invariant. State what evidence would support your diagnosis and what it would not prove. Next: Dynamic Memory.</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explain one mechanism from the chapter without relying on vocabulary alone.</a:t>
            </a:r>
          </a:p>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Chapter 8 — Process Memory Layout</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GRADUATE LECTURE</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A process sees a virtual address space containing mappings with different purposes and permissions.</a:t>
            </a:r>
          </a:p>
          <a:p>
            <a:pPr>
              <a:spcAft>
                <a:spcPts val="1100"/>
              </a:spcAft>
              <a:defRPr sz="1700">
                <a:solidFill>
                  <a:srgbClr val="F2F5F8"/>
                </a:solidFill>
              </a:defRPr>
            </a:pPr>
            <a:r>
              <a:t>• The familiar picture of code, data, heap, and stack is useful, but it is a conceptual map rather than a universal fixed arrangement.</a:t>
            </a:r>
          </a:p>
          <a:p>
            <a:pPr>
              <a:spcAft>
                <a:spcPts val="1100"/>
              </a:spcAft>
              <a:defRPr sz="1900">
                <a:solidFill>
                  <a:srgbClr val="F2F5F8"/>
                </a:solidFill>
              </a:defRPr>
            </a:pPr>
            <a:r>
              <a:t>• Shared libraries, thread stacks, mapped files, guard pages, and allocator regions make real layouts more complex.</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8     |     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What This Chapter Builds</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LEARNING OBJECTIVES</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Explain the mechanisms and contracts in Process Memory Layout.</a:t>
            </a:r>
          </a:p>
          <a:p>
            <a:pPr>
              <a:spcAft>
                <a:spcPts val="1100"/>
              </a:spcAft>
              <a:defRPr sz="1900">
                <a:solidFill>
                  <a:srgbClr val="F2F5F8"/>
                </a:solidFill>
              </a:defRPr>
            </a:pPr>
            <a:r>
              <a:t>• Trace the chapter's important state, representation, and resource transitions.</a:t>
            </a:r>
          </a:p>
          <a:p>
            <a:pPr>
              <a:spcAft>
                <a:spcPts val="1100"/>
              </a:spcAft>
              <a:defRPr sz="1900">
                <a:solidFill>
                  <a:srgbClr val="F2F5F8"/>
                </a:solidFill>
              </a:defRPr>
            </a:pPr>
            <a:r>
              <a:t>• Identify failure modes, assumptions, and evidence required for correctness.</a:t>
            </a:r>
          </a:p>
          <a:p>
            <a:pPr>
              <a:spcAft>
                <a:spcPts val="1100"/>
              </a:spcAft>
              <a:defRPr sz="1900">
                <a:solidFill>
                  <a:srgbClr val="F2F5F8"/>
                </a:solidFill>
              </a:defRPr>
            </a:pPr>
            <a:r>
              <a:t>• Apply the chapter model to the worked examples and guided lab.</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8     |     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Chapter Roadmap</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SOURCE-ALIGNED COVERAGE</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8.1 Code/text segment</a:t>
            </a:r>
          </a:p>
          <a:p>
            <a:pPr>
              <a:spcAft>
                <a:spcPts val="1100"/>
              </a:spcAft>
              <a:defRPr sz="1900">
                <a:solidFill>
                  <a:srgbClr val="F2F5F8"/>
                </a:solidFill>
              </a:defRPr>
            </a:pPr>
            <a:r>
              <a:t>• 8.2 Read-only data</a:t>
            </a:r>
          </a:p>
          <a:p>
            <a:pPr>
              <a:spcAft>
                <a:spcPts val="1100"/>
              </a:spcAft>
              <a:defRPr sz="1900">
                <a:solidFill>
                  <a:srgbClr val="F2F5F8"/>
                </a:solidFill>
              </a:defRPr>
            </a:pPr>
            <a:r>
              <a:t>• 8.3 Initialized data</a:t>
            </a:r>
          </a:p>
          <a:p>
            <a:pPr>
              <a:spcAft>
                <a:spcPts val="1100"/>
              </a:spcAft>
              <a:defRPr sz="1900">
                <a:solidFill>
                  <a:srgbClr val="F2F5F8"/>
                </a:solidFill>
              </a:defRPr>
            </a:pPr>
            <a:r>
              <a:t>• 8.4 Uninitialized data</a:t>
            </a:r>
          </a:p>
          <a:p>
            <a:pPr>
              <a:spcAft>
                <a:spcPts val="1100"/>
              </a:spcAft>
              <a:defRPr sz="1900">
                <a:solidFill>
                  <a:srgbClr val="F2F5F8"/>
                </a:solidFill>
              </a:defRPr>
            </a:pPr>
            <a:r>
              <a:t>• ...plus 8 additional source topics</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8     |     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8.1 Code/text segment</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 TOPIC</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The text region contains executable instructions.</a:t>
            </a:r>
          </a:p>
          <a:p>
            <a:pPr>
              <a:spcAft>
                <a:spcPts val="1100"/>
              </a:spcAft>
              <a:defRPr sz="1700">
                <a:solidFill>
                  <a:srgbClr val="F2F5F8"/>
                </a:solidFill>
              </a:defRPr>
            </a:pPr>
            <a:r>
              <a:t>• In an ELF file, sections organize linking information while loadable segments describe mappings needed at execution time.</a:t>
            </a:r>
          </a:p>
          <a:p>
            <a:pPr>
              <a:spcAft>
                <a:spcPts val="1100"/>
              </a:spcAft>
              <a:defRPr sz="1900">
                <a:solidFill>
                  <a:srgbClr val="F2F5F8"/>
                </a:solidFill>
              </a:defRPr>
            </a:pPr>
            <a:r>
              <a:t>• Several sections can contribute to one segment.</a:t>
            </a:r>
          </a:p>
          <a:p>
            <a:pPr>
              <a:spcAft>
                <a:spcPts val="1100"/>
              </a:spcAft>
              <a:defRPr sz="1900">
                <a:solidFill>
                  <a:srgbClr val="F2F5F8"/>
                </a:solidFill>
              </a:defRPr>
            </a:pPr>
            <a:r>
              <a:t>• Do not confuse a linker section name with a complete runtime mapping.</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8     |     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8.1 Code/text segment — Deep Dive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ENGINEERING IMPLICATIONS</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Executable mappings are commonly readable and executable but not writable.</a:t>
            </a:r>
          </a:p>
          <a:p>
            <a:pPr>
              <a:spcAft>
                <a:spcPts val="1100"/>
              </a:spcAft>
              <a:defRPr sz="1900">
                <a:solidFill>
                  <a:srgbClr val="F2F5F8"/>
                </a:solidFill>
              </a:defRPr>
            </a:pPr>
            <a:r>
              <a:t>• This limits accidental modification and supports security policy.</a:t>
            </a:r>
          </a:p>
          <a:p>
            <a:pPr>
              <a:spcAft>
                <a:spcPts val="1100"/>
              </a:spcAft>
              <a:defRPr sz="1700">
                <a:solidFill>
                  <a:srgbClr val="F2F5F8"/>
                </a:solidFill>
              </a:defRPr>
            </a:pPr>
            <a:r>
              <a:t>• A function’s instructions may be shared physically among processes running the same executable while each process retains its own virtual mappings and private writable state.</a:t>
            </a:r>
          </a:p>
          <a:p>
            <a:pPr>
              <a:spcAft>
                <a:spcPts val="1100"/>
              </a:spcAft>
              <a:defRPr sz="1900">
                <a:solidFill>
                  <a:srgbClr val="F2F5F8"/>
                </a:solidFill>
              </a:defRPr>
            </a:pPr>
            <a:r>
              <a:t>• The sharing is below the source-level function abstraction.</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8     |     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8.2 Read-only data</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 TOPIC</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Read-only regions commonly hold constants, string literals, and tables that need not change.</a:t>
            </a:r>
          </a:p>
          <a:p>
            <a:pPr>
              <a:spcAft>
                <a:spcPts val="1100"/>
              </a:spcAft>
              <a:defRPr sz="1900">
                <a:solidFill>
                  <a:srgbClr val="F2F5F8"/>
                </a:solidFill>
              </a:defRPr>
            </a:pPr>
            <a:r>
              <a:t>• A string literal’s storage must not be modified through an ordinary program operation.</a:t>
            </a:r>
          </a:p>
          <a:p>
            <a:pPr>
              <a:spcAft>
                <a:spcPts val="1100"/>
              </a:spcAft>
              <a:defRPr sz="1700">
                <a:solidFill>
                  <a:srgbClr val="F2F5F8"/>
                </a:solidFill>
              </a:defRPr>
            </a:pPr>
            <a:r>
              <a:t>• In C, historical syntax may allow a pointer assignment that does not itself enforce that rule; the attempted modification is still invalid.</a:t>
            </a:r>
          </a:p>
          <a:p>
            <a:pPr>
              <a:spcAft>
                <a:spcPts val="1100"/>
              </a:spcAft>
              <a:defRPr sz="1900">
                <a:solidFill>
                  <a:srgbClr val="F2F5F8"/>
                </a:solidFill>
              </a:defRPr>
            </a:pPr>
            <a:r>
              <a:t>• A const object is not guaranteed to appear in a particular read-only section.</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8     |     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8.2 Read-only data — Deep Dive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ENGINEERING IMPLICATIONS</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A const object is not guaranteed to appear in a particular read-only section.</a:t>
            </a:r>
          </a:p>
          <a:p>
            <a:pPr>
              <a:spcAft>
                <a:spcPts val="1100"/>
              </a:spcAft>
              <a:defRPr sz="1900">
                <a:solidFill>
                  <a:srgbClr val="F2F5F8"/>
                </a:solidFill>
              </a:defRPr>
            </a:pPr>
            <a:r>
              <a:t>• It may be automatic, optimized away, embedded into instructions, or stored elsewhere according to its use.</a:t>
            </a:r>
          </a:p>
          <a:p>
            <a:pPr>
              <a:spcAft>
                <a:spcPts val="1100"/>
              </a:spcAft>
              <a:defRPr sz="1700">
                <a:solidFill>
                  <a:srgbClr val="F2F5F8"/>
                </a:solidFill>
              </a:defRPr>
            </a:pPr>
            <a:r>
              <a:t>• The language’s const qualification and the operating system’s page permissions are related design tools, not identical mechanisms.</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8     |     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8.3 Initialized data</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 TOPIC</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700">
                <a:solidFill>
                  <a:srgbClr val="F2F5F8"/>
                </a:solidFill>
              </a:defRPr>
            </a:pPr>
            <a:r>
              <a:t>• Writable objects with static storage duration and explicit nonzero initial values commonly contribute to an initialized-data region.</a:t>
            </a:r>
          </a:p>
          <a:p>
            <a:pPr>
              <a:spcAft>
                <a:spcPts val="1100"/>
              </a:spcAft>
              <a:defRPr sz="1900">
                <a:solidFill>
                  <a:srgbClr val="F2F5F8"/>
                </a:solidFill>
              </a:defRPr>
            </a:pPr>
            <a:r>
              <a:t>• Their initial bytes are described by the executable or its loading process.</a:t>
            </a:r>
          </a:p>
          <a:p>
            <a:pPr>
              <a:spcAft>
                <a:spcPts val="1100"/>
              </a:spcAft>
              <a:defRPr sz="1900">
                <a:solidFill>
                  <a:srgbClr val="F2F5F8"/>
                </a:solidFill>
              </a:defRPr>
            </a:pPr>
            <a:r>
              <a:t>• Each process can then modify its private copy according to the mapping rules.</a:t>
            </a:r>
          </a:p>
          <a:p>
            <a:pPr>
              <a:spcAft>
                <a:spcPts val="1100"/>
              </a:spcAft>
              <a:defRPr sz="1700">
                <a:solidFill>
                  <a:srgbClr val="F2F5F8"/>
                </a:solidFill>
              </a:defRPr>
            </a:pPr>
            <a:r>
              <a:t>• A global counter initialized to seven is logically initialized before ordinary application use, but the exact startup work can differ for C++ objects requiring dynamic...</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8     |     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8.3 Initialized data — Deep Dive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ENGINEERING IMPLICATIONS</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700">
                <a:solidFill>
                  <a:srgbClr val="F2F5F8"/>
                </a:solidFill>
              </a:defRPr>
            </a:pPr>
            <a:r>
              <a:t>• A global counter initialized to seven is logically initialized before ordinary application use, but the exact startup work can differ for C++ objects requiring dynamic...</a:t>
            </a:r>
          </a:p>
          <a:p>
            <a:pPr>
              <a:spcAft>
                <a:spcPts val="1100"/>
              </a:spcAft>
              <a:defRPr sz="1900">
                <a:solidFill>
                  <a:srgbClr val="F2F5F8"/>
                </a:solidFill>
              </a:defRPr>
            </a:pPr>
            <a:r>
              <a:t>• Separate the initial byte image from constructors and runtime initialization.</a:t>
            </a:r>
          </a:p>
          <a:p>
            <a:pPr>
              <a:spcAft>
                <a:spcPts val="1100"/>
              </a:spcAft>
              <a:defRPr sz="1900">
                <a:solidFill>
                  <a:srgbClr val="F2F5F8"/>
                </a:solidFill>
              </a:defRPr>
            </a:pPr>
            <a:r>
              <a:t>• A complex global object’s readiness may depend on code that runs before main .</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8     |     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8.4 Uninitialized data</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 TOPIC</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700">
                <a:solidFill>
                  <a:srgbClr val="F2F5F8"/>
                </a:solidFill>
              </a:defRPr>
            </a:pPr>
            <a:r>
              <a:t>• The conventional BSS region represents static-duration storage that begins zero-initialized without requiring every zero byte to be stored literally in the executable file....</a:t>
            </a:r>
          </a:p>
          <a:p>
            <a:pPr>
              <a:spcAft>
                <a:spcPts val="1100"/>
              </a:spcAft>
              <a:defRPr sz="1900">
                <a:solidFill>
                  <a:srgbClr val="F2F5F8"/>
                </a:solidFill>
              </a:defRPr>
            </a:pPr>
            <a:r>
              <a:t>• An automatic local integer without an initializer is different.</a:t>
            </a:r>
          </a:p>
          <a:p>
            <a:pPr>
              <a:spcAft>
                <a:spcPts val="1100"/>
              </a:spcAft>
              <a:defRPr sz="1900">
                <a:solidFill>
                  <a:srgbClr val="F2F5F8"/>
                </a:solidFill>
              </a:defRPr>
            </a:pPr>
            <a:r>
              <a:t>• Its value is not made zero merely because a global integer would be.</a:t>
            </a:r>
          </a:p>
          <a:p>
            <a:pPr>
              <a:spcAft>
                <a:spcPts val="1100"/>
              </a:spcAft>
              <a:defRPr sz="1900">
                <a:solidFill>
                  <a:srgbClr val="F2F5F8"/>
                </a:solidFill>
              </a:defRPr>
            </a:pPr>
            <a:r>
              <a:t>• The storage-duration distinction matters more than whether the source visibly contains = 0 .</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8     |     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8.4 Uninitialized data — Deep Dive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ENGINEERING IMPLICATIONS</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An automatic local integer without an initializer is different.</a:t>
            </a:r>
          </a:p>
          <a:p>
            <a:pPr>
              <a:spcAft>
                <a:spcPts val="1100"/>
              </a:spcAft>
              <a:defRPr sz="1900">
                <a:solidFill>
                  <a:srgbClr val="F2F5F8"/>
                </a:solidFill>
              </a:defRPr>
            </a:pPr>
            <a:r>
              <a:t>• Its value is not made zero merely because a global integer would be.</a:t>
            </a:r>
          </a:p>
          <a:p>
            <a:pPr>
              <a:spcAft>
                <a:spcPts val="1100"/>
              </a:spcAft>
              <a:defRPr sz="1900">
                <a:solidFill>
                  <a:srgbClr val="F2F5F8"/>
                </a:solidFill>
              </a:defRPr>
            </a:pPr>
            <a:r>
              <a:t>• The storage-duration distinction matters more than whether the source visibly contains = 0 .</a:t>
            </a:r>
          </a:p>
          <a:p>
            <a:pPr>
              <a:spcAft>
                <a:spcPts val="1100"/>
              </a:spcAft>
              <a:defRPr sz="1900">
                <a:solidFill>
                  <a:srgbClr val="F2F5F8"/>
                </a:solidFill>
              </a:defRPr>
            </a:pPr>
            <a:r>
              <a:t>• The loader and runtime can efficiently establish zero-filled pages for large static regions.</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8     |     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8.5 Heap</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 TOPIC</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The heap is a conventional name for dynamically managed storage.</a:t>
            </a:r>
          </a:p>
          <a:p>
            <a:pPr>
              <a:spcAft>
                <a:spcPts val="1100"/>
              </a:spcAft>
              <a:defRPr sz="1700">
                <a:solidFill>
                  <a:srgbClr val="F2F5F8"/>
                </a:solidFill>
              </a:defRPr>
            </a:pPr>
            <a:r>
              <a:t>• A user-space allocator may obtain regions from the operating system through several mechanisms and divide them into allocations.</a:t>
            </a:r>
          </a:p>
          <a:p>
            <a:pPr>
              <a:spcAft>
                <a:spcPts val="1100"/>
              </a:spcAft>
              <a:defRPr sz="1900">
                <a:solidFill>
                  <a:srgbClr val="F2F5F8"/>
                </a:solidFill>
              </a:defRPr>
            </a:pPr>
            <a:r>
              <a:t>• Large allocations may use separate mappings rather than one continuously growing area.</a:t>
            </a:r>
          </a:p>
          <a:p>
            <a:pPr>
              <a:spcAft>
                <a:spcPts val="1100"/>
              </a:spcAft>
              <a:defRPr sz="1700">
                <a:solidFill>
                  <a:srgbClr val="F2F5F8"/>
                </a:solidFill>
              </a:defRPr>
            </a:pPr>
            <a:r>
              <a:t>• Calling malloc does not necessarily trigger a system call, and calling free does not necessarily return pages immediately to the operating system.</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8     |     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8.5 Heap — Deep Dive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ENGINEERING IMPLICATIONS</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700">
                <a:solidFill>
                  <a:srgbClr val="F2F5F8"/>
                </a:solidFill>
              </a:defRPr>
            </a:pPr>
            <a:r>
              <a:t>• Calling malloc does not necessarily trigger a system call, and calling free does not necessarily return pages immediately to the operating system.</a:t>
            </a:r>
          </a:p>
          <a:p>
            <a:pPr>
              <a:spcAft>
                <a:spcPts val="1100"/>
              </a:spcAft>
              <a:defRPr sz="1900">
                <a:solidFill>
                  <a:srgbClr val="F2F5F8"/>
                </a:solidFill>
              </a:defRPr>
            </a:pPr>
            <a:r>
              <a:t>• The allocator can retain free blocks for reuse.</a:t>
            </a:r>
          </a:p>
          <a:p>
            <a:pPr>
              <a:spcAft>
                <a:spcPts val="1100"/>
              </a:spcAft>
              <a:defRPr sz="1900">
                <a:solidFill>
                  <a:srgbClr val="F2F5F8"/>
                </a:solidFill>
              </a:defRPr>
            </a:pPr>
            <a:r>
              <a:t>• Consequently, a process’s resident memory may remain high after application objects are released.</a:t>
            </a:r>
          </a:p>
          <a:p>
            <a:pPr>
              <a:spcAft>
                <a:spcPts val="1100"/>
              </a:spcAft>
              <a:defRPr sz="1900">
                <a:solidFill>
                  <a:srgbClr val="F2F5F8"/>
                </a:solidFill>
              </a:defRPr>
            </a:pPr>
            <a:r>
              <a:t>• Distinguish live allocations, allocator-retained storage, mapped address space, and resident physical pages.</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8     |     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8.6 Stack</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 TOPIC</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A thread’s stack supports call state and automatic storage that the compiler chooses to place there.</a:t>
            </a:r>
          </a:p>
          <a:p>
            <a:pPr>
              <a:spcAft>
                <a:spcPts val="1100"/>
              </a:spcAft>
              <a:defRPr sz="1900">
                <a:solidFill>
                  <a:srgbClr val="F2F5F8"/>
                </a:solidFill>
              </a:defRPr>
            </a:pPr>
            <a:r>
              <a:t>• On the reference ABI it conventionally grows toward lower addresses.</a:t>
            </a:r>
          </a:p>
          <a:p>
            <a:pPr>
              <a:spcAft>
                <a:spcPts val="1100"/>
              </a:spcAft>
              <a:defRPr sz="1900">
                <a:solidFill>
                  <a:srgbClr val="F2F5F8"/>
                </a:solidFill>
              </a:defRPr>
            </a:pPr>
            <a:r>
              <a:t>• Optimized functions can omit frame pointers, keep values in registers, or use other layouts permitted by the ABI.</a:t>
            </a:r>
          </a:p>
          <a:p>
            <a:pPr>
              <a:spcAft>
                <a:spcPts val="1100"/>
              </a:spcAft>
              <a:defRPr sz="1900">
                <a:solidFill>
                  <a:srgbClr val="F2F5F8"/>
                </a:solidFill>
              </a:defRPr>
            </a:pPr>
            <a:r>
              <a:t>• Each thread needs its own execution stack.</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8     |     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8.6 Stack — Deep Dive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ENGINEERING IMPLICATIONS</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Each thread needs its own execution stack.</a:t>
            </a:r>
          </a:p>
          <a:p>
            <a:pPr>
              <a:spcAft>
                <a:spcPts val="1100"/>
              </a:spcAft>
              <a:defRPr sz="1900">
                <a:solidFill>
                  <a:srgbClr val="F2F5F8"/>
                </a:solidFill>
              </a:defRPr>
            </a:pPr>
            <a:r>
              <a:t>• Stack capacity is finite, and guard mappings can detect some growth beyond its boundary.</a:t>
            </a:r>
          </a:p>
          <a:p>
            <a:pPr>
              <a:spcAft>
                <a:spcPts val="1100"/>
              </a:spcAft>
              <a:defRPr sz="1900">
                <a:solidFill>
                  <a:srgbClr val="F2F5F8"/>
                </a:solidFill>
              </a:defRPr>
            </a:pPr>
            <a:r>
              <a:t>• Large automatic arrays and deep recursion can exhaust it.</a:t>
            </a:r>
          </a:p>
          <a:p>
            <a:pPr>
              <a:spcAft>
                <a:spcPts val="1100"/>
              </a:spcAft>
              <a:defRPr sz="1700">
                <a:solidFill>
                  <a:srgbClr val="F2F5F8"/>
                </a:solidFill>
              </a:defRPr>
            </a:pPr>
            <a:r>
              <a:t>• A stack overflow is not reliably recoverable by ordinary code that needs the same exhausted stack to run its error path.</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8     |     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8.7 Command-line arguments</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 TOPIC</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Program startup provides an argument count and an array of pointers to strings.</a:t>
            </a:r>
          </a:p>
          <a:p>
            <a:pPr>
              <a:spcAft>
                <a:spcPts val="1100"/>
              </a:spcAft>
              <a:defRPr sz="1700">
                <a:solidFill>
                  <a:srgbClr val="F2F5F8"/>
                </a:solidFill>
              </a:defRPr>
            </a:pPr>
            <a:r>
              <a:t>• In the usual main(int argc, char* argv[]) form, valid argument entries are argv[0] through argv[argc-1] , and argv[argc] is a null pointer.</a:t>
            </a:r>
          </a:p>
          <a:p>
            <a:pPr>
              <a:spcAft>
                <a:spcPts val="1100"/>
              </a:spcAft>
              <a:defRPr sz="1700">
                <a:solidFill>
                  <a:srgbClr val="F2F5F8"/>
                </a:solidFill>
              </a:defRPr>
            </a:pPr>
            <a:r>
              <a:t>• The first entry conventionally identifies the program, but applications should not treat it as a trusted executable path.</a:t>
            </a:r>
          </a:p>
          <a:p>
            <a:pPr>
              <a:spcAft>
                <a:spcPts val="1100"/>
              </a:spcAft>
              <a:defRPr sz="1900">
                <a:solidFill>
                  <a:srgbClr val="F2F5F8"/>
                </a:solidFill>
              </a:defRPr>
            </a:pPr>
            <a:r>
              <a:t>• Arguments are input, not authority.</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8     |     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8.7 Command-line arguments — Deep Dive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ENGINEERING IMPLICATIONS</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Arguments are input, not authority.</a:t>
            </a:r>
          </a:p>
          <a:p>
            <a:pPr>
              <a:spcAft>
                <a:spcPts val="1100"/>
              </a:spcAft>
              <a:defRPr sz="1900">
                <a:solidFill>
                  <a:srgbClr val="F2F5F8"/>
                </a:solidFill>
              </a:defRPr>
            </a:pPr>
            <a:r>
              <a:t>• Parse numeric strings with range and syntax checks.</a:t>
            </a:r>
          </a:p>
          <a:p>
            <a:pPr>
              <a:spcAft>
                <a:spcPts val="1100"/>
              </a:spcAft>
              <a:defRPr sz="1700">
                <a:solidFill>
                  <a:srgbClr val="F2F5F8"/>
                </a:solidFill>
              </a:defRPr>
            </a:pPr>
            <a:r>
              <a:t>• A string that begins with a valid number but contains trailing junk should not silently become a valid count unless that grammar is intended.</a:t>
            </a:r>
          </a:p>
          <a:p>
            <a:pPr>
              <a:spcAft>
                <a:spcPts val="1100"/>
              </a:spcAft>
              <a:defRPr sz="1900">
                <a:solidFill>
                  <a:srgbClr val="F2F5F8"/>
                </a:solidFill>
              </a:defRPr>
            </a:pPr>
            <a:r>
              <a:t>• Never use an argument length or value directly in allocation arithmetic without validation.</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8     |     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8.8 Environment</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 TOPIC</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The environment supplies named string values such as locale settings, search paths, and configuration.</a:t>
            </a:r>
          </a:p>
          <a:p>
            <a:pPr>
              <a:spcAft>
                <a:spcPts val="1100"/>
              </a:spcAft>
              <a:defRPr sz="1900">
                <a:solidFill>
                  <a:srgbClr val="F2F5F8"/>
                </a:solidFill>
              </a:defRPr>
            </a:pPr>
            <a:r>
              <a:t>• It is inherited and can be replaced when a new program image is executed.</a:t>
            </a:r>
          </a:p>
          <a:p>
            <a:pPr>
              <a:spcAft>
                <a:spcPts val="1100"/>
              </a:spcAft>
              <a:defRPr sz="1900">
                <a:solidFill>
                  <a:srgbClr val="F2F5F8"/>
                </a:solidFill>
              </a:defRPr>
            </a:pPr>
            <a:r>
              <a:t>• Environment values can affect library behavior before the application examines them.</a:t>
            </a:r>
          </a:p>
          <a:p>
            <a:pPr>
              <a:spcAft>
                <a:spcPts val="1100"/>
              </a:spcAft>
              <a:defRPr sz="1900">
                <a:solidFill>
                  <a:srgbClr val="F2F5F8"/>
                </a:solidFill>
              </a:defRPr>
            </a:pPr>
            <a:r>
              <a:t>• Treat environment data as untrusted configuration where appropriate, especially across privilege boundaries.</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8     |     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8.8 Environment — Deep Dive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ENGINEERING IMPLICATIONS</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Treat environment data as untrusted configuration where appropriate, especially across privilege boundaries.</a:t>
            </a:r>
          </a:p>
          <a:p>
            <a:pPr>
              <a:spcAft>
                <a:spcPts val="1100"/>
              </a:spcAft>
              <a:defRPr sz="1900">
                <a:solidFill>
                  <a:srgbClr val="F2F5F8"/>
                </a:solidFill>
              </a:defRPr>
            </a:pPr>
            <a:r>
              <a:t>• Avoid printing the complete environment in diagnostics because it can contain secrets.</a:t>
            </a:r>
          </a:p>
          <a:p>
            <a:pPr>
              <a:spcAft>
                <a:spcPts val="1100"/>
              </a:spcAft>
              <a:defRPr sz="1700">
                <a:solidFill>
                  <a:srgbClr val="F2F5F8"/>
                </a:solidFill>
              </a:defRPr>
            </a:pPr>
            <a:r>
              <a:t>• Concurrent modification also complicates use: a pointer returned by an environment lookup should not be assumed permanently stable while other code changes the environment.</a:t>
            </a:r>
          </a:p>
          <a:p>
            <a:pPr>
              <a:spcAft>
                <a:spcPts val="1100"/>
              </a:spcAft>
              <a:defRPr sz="1900">
                <a:solidFill>
                  <a:srgbClr val="F2F5F8"/>
                </a:solidFill>
              </a:defRPr>
            </a:pPr>
            <a:r>
              <a:t>• Prefer capturing required configuration during controlled startup.</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8     |     19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2500" b="1">
                <a:solidFill>
                  <a:srgbClr val="F2F5F8"/>
                </a:solidFill>
              </a:defRPr>
            </a:pPr>
            <a:r>
              <a:t>Worked example — Predicting placement without assuming addresses</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 TOPIC</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700">
                <a:solidFill>
                  <a:srgbClr val="F2F5F8"/>
                </a:solidFill>
              </a:defRPr>
            </a:pPr>
            <a:r>
              <a:t>• Consider four objects: a global initialized integer, a global zero-initialized array, an automatic local integer, and an allocated integer.</a:t>
            </a:r>
          </a:p>
          <a:p>
            <a:pPr>
              <a:spcAft>
                <a:spcPts val="1100"/>
              </a:spcAft>
              <a:defRPr sz="1900">
                <a:solidFill>
                  <a:srgbClr val="F2F5F8"/>
                </a:solidFill>
              </a:defRPr>
            </a:pPr>
            <a:r>
              <a:t>• Their storage-duration categories are known from the source.</a:t>
            </a:r>
          </a:p>
          <a:p>
            <a:pPr>
              <a:spcAft>
                <a:spcPts val="1100"/>
              </a:spcAft>
              <a:defRPr sz="1700">
                <a:solidFill>
                  <a:srgbClr val="F2F5F8"/>
                </a:solidFill>
              </a:defRPr>
            </a:pPr>
            <a:r>
              <a:t>• Their exact addresses are runtime observations and may change between executions because of address-space randomization.</a:t>
            </a:r>
          </a:p>
          <a:p>
            <a:pPr>
              <a:spcAft>
                <a:spcPts val="1100"/>
              </a:spcAft>
              <a:defRPr sz="1900">
                <a:solidFill>
                  <a:srgbClr val="F2F5F8"/>
                </a:solidFill>
              </a:defRPr>
            </a:pPr>
            <a:r>
              <a:t>• Companion listing: ch08/regions.c</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8     |     20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2500" b="1">
                <a:solidFill>
                  <a:srgbClr val="F2F5F8"/>
                </a:solidFill>
              </a:defRPr>
            </a:pPr>
            <a:r>
              <a:t>Worked example — Predicting placement without assuming addresses — Deep Dive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WORKED EXAMPLE &amp; INTERPRETATION</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Companion listing: ch08/regions.c</a:t>
            </a:r>
          </a:p>
          <a:p>
            <a:pPr>
              <a:spcAft>
                <a:spcPts val="1100"/>
              </a:spcAft>
              <a:defRPr sz="1900">
                <a:solidFill>
                  <a:srgbClr val="F2F5F8"/>
                </a:solidFill>
              </a:defRPr>
            </a:pPr>
            <a:r>
              <a:t>• The stable value output is values=7 0 11 13 .</a:t>
            </a:r>
          </a:p>
          <a:p>
            <a:pPr>
              <a:spcAft>
                <a:spcPts val="1100"/>
              </a:spcAft>
              <a:defRPr sz="1900">
                <a:solidFill>
                  <a:srgbClr val="F2F5F8"/>
                </a:solidFill>
              </a:defRPr>
            </a:pPr>
            <a:r>
              <a:t>• The pointer output is intentionally variable.</a:t>
            </a:r>
          </a:p>
          <a:p>
            <a:pPr>
              <a:spcAft>
                <a:spcPts val="1100"/>
              </a:spcAft>
              <a:defRPr sz="1900">
                <a:solidFill>
                  <a:srgbClr val="F2F5F8"/>
                </a:solidFill>
              </a:defRPr>
            </a:pPr>
            <a:r>
              <a:t>• Predict categories first, then compare addresses with a mapping tool such as the process’s Linux maps view.</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8     |     21</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2500" b="1">
                <a:solidFill>
                  <a:srgbClr val="F2F5F8"/>
                </a:solidFill>
              </a:defRPr>
            </a:pPr>
            <a:r>
              <a:t>Worked example — Placing common objects conceptually</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 TOPIC</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700">
                <a:solidFill>
                  <a:srgbClr val="F2F5F8"/>
                </a:solidFill>
              </a:defRPr>
            </a:pPr>
            <a:r>
              <a:t>• A function’s instructions normally belong to executable text; a string literal typically resides in read-only data; an initialized global such as int g=7; belongs to...</a:t>
            </a:r>
          </a:p>
          <a:p>
            <a:pPr>
              <a:spcAft>
                <a:spcPts val="1100"/>
              </a:spcAft>
              <a:defRPr sz="1900">
                <a:solidFill>
                  <a:srgbClr val="F2F5F8"/>
                </a:solidFill>
              </a:defRPr>
            </a:pPr>
            <a:r>
              <a:t>• Exact addresses are loader and ABI details, but these conceptual regions explain protection and lifetime differences.</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8     |     22</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2500" b="1">
                <a:solidFill>
                  <a:srgbClr val="F2F5F8"/>
                </a:solidFill>
              </a:defRPr>
            </a:pPr>
            <a:r>
              <a:t>Worked example — Placing common objects conceptually — Deep Dive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WORKED EXAMPLE &amp; INTERPRETATION</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700">
                <a:solidFill>
                  <a:srgbClr val="F2F5F8"/>
                </a:solidFill>
              </a:defRPr>
            </a:pPr>
            <a:r>
              <a:t>• A function’s instructions normally belong to executable text; a string literal typically resides in read-only data; an initialized global such as int g=7; belongs to...</a:t>
            </a:r>
          </a:p>
          <a:p>
            <a:pPr>
              <a:spcAft>
                <a:spcPts val="1100"/>
              </a:spcAft>
              <a:defRPr sz="1900">
                <a:solidFill>
                  <a:srgbClr val="F2F5F8"/>
                </a:solidFill>
              </a:defRPr>
            </a:pPr>
            <a:r>
              <a:t>• Exact addresses are loader and ABI details, but these conceptual regions explain protection and lifetime differences.</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8     |     23</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Worked example — Estimating stack growth</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 TOPIC</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Suppose a recursive function consumes roughly 256 bytes of stack per call and the usable thread stack is 8 MiB.</a:t>
            </a:r>
          </a:p>
          <a:p>
            <a:pPr>
              <a:spcAft>
                <a:spcPts val="1100"/>
              </a:spcAft>
              <a:defRPr sz="1900">
                <a:solidFill>
                  <a:srgbClr val="F2F5F8"/>
                </a:solidFill>
              </a:defRPr>
            </a:pPr>
            <a:r>
              <a:t>• Ignoring guard pages and other frames, the crude upper bound is 8 × 1024 × 1024 / 256 = 32768 frames.</a:t>
            </a:r>
          </a:p>
          <a:p>
            <a:pPr>
              <a:spcAft>
                <a:spcPts val="1100"/>
              </a:spcAft>
              <a:defRPr sz="1900">
                <a:solidFill>
                  <a:srgbClr val="F2F5F8"/>
                </a:solidFill>
              </a:defRPr>
            </a:pPr>
            <a:r>
              <a:t>• Real safe depth is lower because startup frames, alignment, libraries, and variable frame sizes consume space too.</a:t>
            </a:r>
          </a:p>
          <a:p>
            <a:pPr>
              <a:spcAft>
                <a:spcPts val="1100"/>
              </a:spcAft>
              <a:defRPr sz="1900">
                <a:solidFill>
                  <a:srgbClr val="F2F5F8"/>
                </a:solidFill>
              </a:defRPr>
            </a:pPr>
            <a:r>
              <a:t>• The calculation is an estimate, not a recursion guarantee.</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8     |     24</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2500" b="1">
                <a:solidFill>
                  <a:srgbClr val="F2F5F8"/>
                </a:solidFill>
              </a:defRPr>
            </a:pPr>
            <a:r>
              <a:t>Worked example — Estimating stack growth — Deep Dive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WORKED EXAMPLE &amp; INTERPRETATION</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Suppose a recursive function consumes roughly 256 bytes of stack per call and the usable thread stack is 8 MiB.</a:t>
            </a:r>
          </a:p>
          <a:p>
            <a:pPr>
              <a:spcAft>
                <a:spcPts val="1100"/>
              </a:spcAft>
              <a:defRPr sz="1900">
                <a:solidFill>
                  <a:srgbClr val="F2F5F8"/>
                </a:solidFill>
              </a:defRPr>
            </a:pPr>
            <a:r>
              <a:t>• Ignoring guard pages and other frames, the crude upper bound is 8 × 1024 × 1024 / 256 = 32768 frames.</a:t>
            </a:r>
          </a:p>
          <a:p>
            <a:pPr>
              <a:spcAft>
                <a:spcPts val="1100"/>
              </a:spcAft>
              <a:defRPr sz="1900">
                <a:solidFill>
                  <a:srgbClr val="F2F5F8"/>
                </a:solidFill>
              </a:defRPr>
            </a:pPr>
            <a:r>
              <a:t>• Real safe depth is lower because startup frames, alignment, libraries, and variable frame sizes consume space too.</a:t>
            </a:r>
          </a:p>
          <a:p>
            <a:pPr>
              <a:spcAft>
                <a:spcPts val="1100"/>
              </a:spcAft>
              <a:defRPr sz="1900">
                <a:solidFill>
                  <a:srgbClr val="F2F5F8"/>
                </a:solidFill>
              </a:defRPr>
            </a:pPr>
            <a:r>
              <a:t>• The calculation is an estimate, not a recursion guarantee.</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8     |     25</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Guided lab and review</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 TOPIC</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Lab 8.</a:t>
            </a:r>
          </a:p>
          <a:p>
            <a:pPr>
              <a:spcAft>
                <a:spcPts val="1100"/>
              </a:spcAft>
              <a:defRPr sz="1900">
                <a:solidFill>
                  <a:srgbClr val="F2F5F8"/>
                </a:solidFill>
              </a:defRPr>
            </a:pPr>
            <a:r>
              <a:t>• Inspect the executable’s sections and program headers with readelf .</a:t>
            </a:r>
          </a:p>
          <a:p>
            <a:pPr>
              <a:spcAft>
                <a:spcPts val="1100"/>
              </a:spcAft>
              <a:defRPr sz="1700">
                <a:solidFill>
                  <a:srgbClr val="F2F5F8"/>
                </a:solidFill>
              </a:defRPr>
            </a:pPr>
            <a:r>
              <a:t>• Relate the zero-initialized array to file size versus memory size, and distinguish section organization from loadable segments.</a:t>
            </a:r>
          </a:p>
          <a:p>
            <a:pPr>
              <a:spcAft>
                <a:spcPts val="1100"/>
              </a:spcAft>
              <a:defRPr sz="1900">
                <a:solidFill>
                  <a:srgbClr val="F2F5F8"/>
                </a:solidFill>
              </a:defRPr>
            </a:pPr>
            <a:r>
              <a:t>• Do not expect exact addresses to match another build.</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8     |     26</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Guided lab and review — Deep Dive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LAB, REVIEW &amp; ACCEPTANCE</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Review 1.</a:t>
            </a:r>
          </a:p>
          <a:p>
            <a:pPr>
              <a:spcAft>
                <a:spcPts val="1100"/>
              </a:spcAft>
              <a:defRPr sz="1900">
                <a:solidFill>
                  <a:srgbClr val="F2F5F8"/>
                </a:solidFill>
              </a:defRPr>
            </a:pPr>
            <a:r>
              <a:t>• Why does a global integer without an explicit initializer begin at zero while an ordinary local integer may not?</a:t>
            </a:r>
          </a:p>
          <a:p>
            <a:pPr>
              <a:spcAft>
                <a:spcPts val="1100"/>
              </a:spcAft>
              <a:defRPr sz="1900">
                <a:solidFill>
                  <a:srgbClr val="F2F5F8"/>
                </a:solidFill>
              </a:defRPr>
            </a:pPr>
            <a:r>
              <a:t>• Review 2.</a:t>
            </a:r>
          </a:p>
          <a:p>
            <a:pPr>
              <a:spcAft>
                <a:spcPts val="1100"/>
              </a:spcAft>
              <a:defRPr sz="1900">
                <a:solidFill>
                  <a:srgbClr val="F2F5F8"/>
                </a:solidFill>
              </a:defRPr>
            </a:pPr>
            <a:r>
              <a:t>• Why can freeing all application allocations leave the process with mapped memory?</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8     |     27</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Chapter Synthesis</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KEY TAKEAWAYS</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The chapter's central subject is process memory layout.</a:t>
            </a:r>
          </a:p>
          <a:p>
            <a:pPr>
              <a:spcAft>
                <a:spcPts val="1100"/>
              </a:spcAft>
              <a:defRPr sz="1900">
                <a:solidFill>
                  <a:srgbClr val="F2F5F8"/>
                </a:solidFill>
              </a:defRPr>
            </a:pPr>
            <a:r>
              <a:t>• Correct reasoning requires explicit assumptions, bounds, ownership, and interface contracts.</a:t>
            </a:r>
          </a:p>
          <a:p>
            <a:pPr>
              <a:spcAft>
                <a:spcPts val="1100"/>
              </a:spcAft>
              <a:defRPr sz="1900">
                <a:solidFill>
                  <a:srgbClr val="F2F5F8"/>
                </a:solidFill>
              </a:defRPr>
            </a:pPr>
            <a:r>
              <a:t>• Observed behavior is evidence about a run; it is not automatically a language or system guarantee.</a:t>
            </a:r>
          </a:p>
          <a:p>
            <a:pPr>
              <a:spcAft>
                <a:spcPts val="1100"/>
              </a:spcAft>
              <a:defRPr sz="1900">
                <a:solidFill>
                  <a:srgbClr val="F2F5F8"/>
                </a:solidFill>
              </a:defRPr>
            </a:pPr>
            <a:r>
              <a:t>• Use the worked examples and lab to test whether the model transfers to new cases.</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8     |     28</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Review and Transition</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CHECK YOUR MODEL</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Explain one mechanism from the chapter without relying on vocabulary alone.</a:t>
            </a:r>
          </a:p>
          <a:p>
            <a:pPr>
              <a:spcAft>
                <a:spcPts val="1100"/>
              </a:spcAft>
              <a:defRPr sz="1900">
                <a:solidFill>
                  <a:srgbClr val="F2F5F8"/>
                </a:solidFill>
              </a:defRPr>
            </a:pPr>
            <a:r>
              <a:t>• Identify one failure mode and the violated contract or invariant.</a:t>
            </a:r>
          </a:p>
          <a:p>
            <a:pPr>
              <a:spcAft>
                <a:spcPts val="1100"/>
              </a:spcAft>
              <a:defRPr sz="1900">
                <a:solidFill>
                  <a:srgbClr val="F2F5F8"/>
                </a:solidFill>
              </a:defRPr>
            </a:pPr>
            <a:r>
              <a:t>• State what evidence would support your diagnosis and what it would not prove.</a:t>
            </a:r>
          </a:p>
          <a:p>
            <a:pPr>
              <a:spcAft>
                <a:spcPts val="1100"/>
              </a:spcAft>
              <a:defRPr sz="1900">
                <a:solidFill>
                  <a:srgbClr val="F2F5F8"/>
                </a:solidFill>
              </a:defRPr>
            </a:pPr>
            <a:r>
              <a:t>• Next: Dynamic Memory.</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8     |     29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