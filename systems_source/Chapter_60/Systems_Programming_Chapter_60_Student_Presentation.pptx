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60 — From Source Code to Running Program</a:t>
            </a:r>
          </a:p>
          <a:p/>
          <a:p>
            <a:r>
              <a:t>LECTURE NARRATION</a:t>
            </a:r>
          </a:p>
          <a:p>
            <a:r>
              <a:t>The previous chapters examined individual layers. This chapter follows one small program through the complete path: source text becomes instructions, the executable becomes mappings, instructions access translated memory, and I/O requests cross into the kernel. Each layer contributes a different kind of correctness and a different class of failure. The example computes a byte count and an unsigned 64-bit byte sum from standard input. The sum is intentionally simple and wraps modulo 2^64 ; the count rejects overflow rather than wrapping. Neither result is a cryptographic integrity guarantee. The simple operation makes the surrounding system behavior easy to inspect.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previous chapters examined individual layers.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The previous chapters examined individual layers. This chapter follows one small program through the complete path: source text becomes instructions, the executable becomes mappings, instructions access translated memory, and I/O requests cross into the kernel. Each layer contributes a different kind of correctness and a different class of failure. The example computes a byte count and an unsigned 64-bit byte sum from standard input. The sum is intentionally simple and wraps modulo 2^64 ; the count rejects overflow rather than wrapping. Neither result is a cryptographic integrity guarantee. The simple operation makes the surrounding system behavior easy to inspect.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previous chapters examined individual layers.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60.1 Source Code → Compiler 60.2 Compiler → Assembly 60.3 Assembly → Object Code 60.4 Object Code → Linker ...plus 12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60.1 Source Code → Compiler 60.2 Compiler → Assembly 60.3 Assembly → Object Code 60.4 Object Code → Linker ...plus 12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60.1 Source Code → Compiler</a:t>
            </a:r>
          </a:p>
          <a:p/>
          <a:p>
            <a:r>
              <a:t>LECTURE NARRATION</a:t>
            </a:r>
          </a:p>
          <a:p>
            <a:r>
              <a:t>Source code describes behavior under a language standard. Declarations establish types and interfaces; definitions provide objects and function bodies. The preprocessor handles includes and macros before the compiler’s language analysis. The compiler must reason about the program’s allowed behavior, including integer rules, object lifetime, aliasing, and observable effects. A pointer-and-length interface carries preconditions even when its machine representation is only two integer-like values. Invalid source-level behavior is not repaired by the fact that the target CPU can execute some corresponding instruction sequence. [ R1 , R8 ]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source code describes behavior under a language standard.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60.1 Source Code → Compiler — Deep Dive</a:t>
            </a:r>
          </a:p>
          <a:p/>
          <a:p>
            <a:r>
              <a:t>LECTURE NARRATION</a:t>
            </a:r>
          </a:p>
          <a:p>
            <a:r>
              <a:t>Source code describes behavior under a language standard. Declarations establish types and interfaces; definitions provide objects and function bodies. The preprocessor handles includes and macros before the compiler’s language analysis. The compiler must reason about the program’s allowed behavior, including integer rules, object lifetime, aliasing, and observable effects. A pointer-and-length interface carries preconditions even when its machine representation is only two integer-like values. Invalid source-level behavior is not repaired by the fact that the target CPU can execute some corresponding instruction sequence. [ R1 , R8 ]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source code describes behavior under a language standard.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60.2 Compiler → Assembly</a:t>
            </a:r>
          </a:p>
          <a:p/>
          <a:p>
            <a:r>
              <a:t>LECTURE NARRATION</a:t>
            </a:r>
          </a:p>
          <a:p>
            <a:r>
              <a:t>The compiler lowers the program into target instructions and chooses registers, branches, addressing modes, and transformations. The source loop need not survive as one literal assembly loop; optimization may unroll or vectorize it while preserving required behavior. The unsigned byte sum permits reassociation under modular arithmetic in ways that a strict floating-point sum might not. Numeric semantics therefore influence available machine implementations. Compare generated assembly only after identifying which transformations the source contract permits. [ R2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compiler lowers the program into target instructions and chooses registers, branches, addressing modes, and transformations.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60.2 Compiler → Assembly — Deep Dive</a:t>
            </a:r>
          </a:p>
          <a:p/>
          <a:p>
            <a:r>
              <a:t>LECTURE NARRATION</a:t>
            </a:r>
          </a:p>
          <a:p>
            <a:r>
              <a:t>The compiler lowers the program into target instructions and chooses registers, branches, addressing modes, and transformations. The source loop need not survive as one literal assembly loop; optimization may unroll or vectorize it while preserving required behavior. The unsigned byte sum permits reassociation under modular arithmetic in ways that a strict floating-point sum might not. Numeric semantics therefore influence available machine implementations. Compare generated assembly only after identifying which transformations the source contract permits. [ R2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compiler lowers the program into target instructions and chooses registers, branches, addressing modes, and transformations.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60.3 Assembly → Object Code</a:t>
            </a:r>
          </a:p>
          <a:p/>
          <a:p>
            <a:r>
              <a:t>LECTURE NARRATION</a:t>
            </a:r>
          </a:p>
          <a:p>
            <a:r>
              <a:t>The assembler encodes instructions and data into a relocatable object file. Symbols identify definitions and references, while relocation records describe locations that need adjustment when final addresses are determined. An object file is not yet necessarily a runnable executable. A call to checksum_update can refer to a symbol whose final location is unresolved until linking. Debug information and symbol tables help tools explain the relationship between source and machine code without being the code’s runtime semantics themselves.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assembler encodes instructions and data into a relocatable object file.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60.3 Assembly → Object Code — Deep Dive</a:t>
            </a:r>
          </a:p>
          <a:p/>
          <a:p>
            <a:r>
              <a:t>LECTURE NARRATION</a:t>
            </a:r>
          </a:p>
          <a:p>
            <a:r>
              <a:t>The assembler encodes instructions and data into a relocatable object file. Symbols identify definitions and references, while relocation records describe locations that need adjustment when final addresses are determined. An object file is not yet necessarily a runnable executable. A call to checksum_update can refer to a symbol whose final location is unresolved until linking. Debug information and symbol tables help tools explain the relationship between source and machine code without being the code’s runtime semantics themselves.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assembler encodes instructions and data into a relocatable object file.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60.4 Object Code → Linker</a:t>
            </a:r>
          </a:p>
          <a:p/>
          <a:p>
            <a:r>
              <a:t>LECTURE NARRATION</a:t>
            </a:r>
          </a:p>
          <a:p>
            <a:r>
              <a:t>The linker combines object files and resolves symbols against other objects and libraries. It lays out the resulting program according to the executable format and link options. Missing definitions, incompatible interfaces, and duplicate definitions appear at this boundary. The C declaration and definition must agree. A successful link does not prove that a mismatched manually declared ABI is correct, and linking a library does not prove that its runtime dependencies will be available. Build correctness includes the intended headers, object versions, options, and target architecture. [ R1 , R37 ]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linker combines object files and resolves symbols against other objects and libraries.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60.4 Object Code → Linker — Deep Dive</a:t>
            </a:r>
          </a:p>
          <a:p/>
          <a:p>
            <a:r>
              <a:t>LECTURE NARRATION</a:t>
            </a:r>
          </a:p>
          <a:p>
            <a:r>
              <a:t>The linker combines object files and resolves symbols against other objects and libraries. It lays out the resulting program according to the executable format and link options. Missing definitions, incompatible interfaces, and duplicate definitions appear at this boundary. The C declaration and definition must agree. A successful link does not prove that a mismatched manually declared ABI is correct, and linking a library does not prove that its runtime dependencies will be available. Build correctness includes the intended headers, object versions, options, and target architecture. [ R1 , R37 ]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linker combines object files and resolves symbols against other objects and libraries.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60.5 Executable → Loader</a:t>
            </a:r>
          </a:p>
          <a:p/>
          <a:p>
            <a:r>
              <a:t>LECTURE NARRATION</a:t>
            </a:r>
          </a:p>
          <a:p>
            <a:r>
              <a:t>Execution asks the operating system to replace a process image with the executable. The kernel validates and interprets the executable format and establishes the initial execution environment. Dynamically linked programs also involve a runtime linker or loader according to the platform’s format and configuration. main is not normally the very first instruction executed. Startup code establishes language-runtime state before calling it. Understanding this explains why a program can fail before reaching the first source line of main , for example when a required dynamic library cannot be loaded. [ R16 ]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execution asks the operating system to replace a process image with the executable.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60.5 Executable → Loader — Deep Dive</a:t>
            </a:r>
          </a:p>
          <a:p/>
          <a:p>
            <a:r>
              <a:t>LECTURE NARRATION</a:t>
            </a:r>
          </a:p>
          <a:p>
            <a:r>
              <a:t>Execution asks the operating system to replace a process image with the executable. The kernel validates and interprets the executable format and establishes the initial execution environment. Dynamically linked programs also involve a runtime linker or loader according to the platform’s format and configuration. main is not normally the very first instruction executed. Startup code establishes language-runtime state before calling it. Understanding this explains why a program can fail before reaching the first source line of main , for example when a required dynamic library cannot be loaded. [ R16 ]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execution asks the operating system to replace a process image with the executable.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60.6 Loader → Virtual Address Space</a:t>
            </a:r>
          </a:p>
          <a:p/>
          <a:p>
            <a:r>
              <a:t>LECTURE NARRATION</a:t>
            </a:r>
          </a:p>
          <a:p>
            <a:r>
              <a:t>The executable’s loadable segments become virtual mappings with appropriate permissions and backing. Code, initialized data, zero-filled storage, stack, and libraries occupy regions of the process’s address space. The loader need not eagerly copy every executable byte into physical memory before execution begins. File-backed demand paging and shared mappings allow work to occur as pages are used. The address-space layout is therefore a mapping plan, not simply a complete physical-memory photograph. [ R10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60.6 Loader → Virtual Address Space — Deep Dive</a:t>
            </a:r>
          </a:p>
          <a:p/>
          <a:p>
            <a:r>
              <a:t>LECTURE NARRATION</a:t>
            </a:r>
          </a:p>
          <a:p>
            <a:r>
              <a:t>The executable’s loadable segments become virtual mappings with appropriate permissions and backing. Code, initialized data, zero-filled storage, stack, and libraries occupy regions of the process’s address space. The loader need not eagerly copy every executable byte into physical memory before execution begins. File-backed demand paging and shared mappings allow work to occur as pages are used. The address-space layout is therefore a mapping plan, not simply a complete physical-memory photograph. [ R10 , R14 ]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60.7 Instructions → CPU</a:t>
            </a:r>
          </a:p>
          <a:p/>
          <a:p>
            <a:r>
              <a:t>LECTURE NARRATION</a:t>
            </a:r>
          </a:p>
          <a:p>
            <a:r>
              <a:t>The processor fetches and executes instructions according to the ISA. Its microarchitecture can decode, schedule, speculate, and overlap operations while preserving the architectural behavior required for correct execution. The instruction pointer and registers describe the architectural stream, while internal execution details determine performance. A branch, cache miss, or dependency can change how quickly the next useful result becomes available without changing the program’s specified output.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processor fetches and executes instructions according to the ISA.</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60.7 Instructions → CPU — Deep Dive</a:t>
            </a:r>
          </a:p>
          <a:p/>
          <a:p>
            <a:r>
              <a:t>LECTURE NARRATION</a:t>
            </a:r>
          </a:p>
          <a:p>
            <a:r>
              <a:t>The processor fetches and executes instructions according to the ISA. Its microarchitecture can decode, schedule, speculate, and overlap operations while preserving the architectural behavior required for correct execution. The instruction pointer and registers describe the architectural stream, while internal execution details determine performance. A branch, cache miss, or dependency can change how quickly the next useful result becomes available without changing the program’s specified output.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processor fetches and executes instructions according to the ISA.</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60.8 CPU → Registers and Caches</a:t>
            </a:r>
          </a:p>
          <a:p/>
          <a:p>
            <a:r>
              <a:t>LECTURE NARRATION</a:t>
            </a:r>
          </a:p>
          <a:p>
            <a:r>
              <a:t>The byte-sum loop uses registers for pointers, counters, and partial results where the compiler chooses. Loads obtain input bytes through the cache hierarchy. Several adjacent bytes can share a fetched line, giving spatial locality. Calling the update function may require arguments in the ABI’s designated registers and preservation of callee-saved state. Inlining can remove that call boundary but not the source-level requirement to read only valid input bytes. Machine optimization and memory safety remain separate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60.8 CPU → Registers and Caches — Deep Dive</a:t>
            </a:r>
          </a:p>
          <a:p/>
          <a:p>
            <a:r>
              <a:t>LECTURE NARRATION</a:t>
            </a:r>
          </a:p>
          <a:p>
            <a:r>
              <a:t>The byte-sum loop uses registers for pointers, counters, and partial results where the compiler chooses. Loads obtain input bytes through the cache hierarchy. Several adjacent bytes can share a fetched line, giving spatial locality. Calling the update function may require arguments in the ABI’s designated registers and preservation of callee-saved state. Inlining can remove that call boundary but not the source-level requirement to read only valid input bytes. Machine optimization and memory safety remain separate obligations.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60.9 Cache → Main Memory</a:t>
            </a:r>
          </a:p>
          <a:p/>
          <a:p>
            <a:r>
              <a:t>LECTURE NARRATION</a:t>
            </a:r>
          </a:p>
          <a:p>
            <a:r>
              <a:t>A cache miss obtains data from another level. Main memory backs the buffer’s resident pages, while translation hardware supplies the virtual-to-physical relationship. TLB misses, data-cache misses, and page faults remain distinct events even within this one loop. The loop’s sequential traversal can use cache lines efficiently, but the total throughput also depends on how input reaches the buffer. If the producer or storage source is slow, arithmetic optimization may have little effect on end-to-end completion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60.9 Cache → Main Memory — Deep Dive</a:t>
            </a:r>
          </a:p>
          <a:p/>
          <a:p>
            <a:r>
              <a:t>LECTURE NARRATION</a:t>
            </a:r>
          </a:p>
          <a:p>
            <a:r>
              <a:t>A cache miss obtains data from another level. Main memory backs the buffer’s resident pages, while translation hardware supplies the virtual-to-physical relationship. TLB misses, data-cache misses, and page faults remain distinct events even within this one loop. The loop’s sequential traversal can use cache lines efficiently, but the total throughput also depends on how input reaches the buffer. If the producer or storage source is slow, arithmetic optimization may have little effect on end-to-end completion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60.10 Program → System Call</a:t>
            </a:r>
          </a:p>
          <a:p/>
          <a:p>
            <a:r>
              <a:t>LECTURE NARRATION</a:t>
            </a:r>
          </a:p>
          <a:p>
            <a:r>
              <a:t>The program calls read to obtain input and write to emit its result. Library wrappers marshal arguments into the operating-system ABI and translate return conventions into the documented C interface. Every positive read result supplies an exact valid extent for the next checksum update. The program must not process the entire 4096-byte buffer when only 100 bytes were returned. This is where an I/O return value becomes a memory-safety boundary. [ R11 , R12 , R46 ]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calls read to obtain input and write to emit its result.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60.10 Program → System Call — Deep Dive</a:t>
            </a:r>
          </a:p>
          <a:p/>
          <a:p>
            <a:r>
              <a:t>LECTURE NARRATION</a:t>
            </a:r>
          </a:p>
          <a:p>
            <a:r>
              <a:t>The program calls read to obtain input and write to emit its result. Library wrappers marshal arguments into the operating-system ABI and translate return conventions into the documented C interface. Every positive read result supplies an exact valid extent for the next checksum update. The program must not process the entire 4096-byte buffer when only 100 bytes were returned. This is where an I/O return value becomes a memory-safety boundary. [ R11 , R12 , R46 ]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calls read to obtain input and write to emit its result.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60.11 System Call → Kernel</a:t>
            </a:r>
          </a:p>
          <a:p/>
          <a:p>
            <a:r>
              <a:t>LECTURE NARRATION</a:t>
            </a:r>
          </a:p>
          <a:p>
            <a:r>
              <a:t>The kernel resolves the descriptor, checks the request, and performs or waits for the relevant operation. Standard input may be a regular file, pipe, terminal, or another endpoint, so the same user code can trigger different kernel paths. A blocking read may let another task run, while a read satisfied from available data may return without switching processes. Kernel entry, blocking, and context switching are separate events. Error and short-progress results return responsibility to the program’s control flow.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resolves the descriptor, checks the request, and performs or waits for the relevant operation.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60.11 System Call → Kernel — Deep Dive</a:t>
            </a:r>
          </a:p>
          <a:p/>
          <a:p>
            <a:r>
              <a:t>LECTURE NARRATION</a:t>
            </a:r>
          </a:p>
          <a:p>
            <a:r>
              <a:t>The kernel resolves the descriptor, checks the request, and performs or waits for the relevant operation. Standard input may be a regular file, pipe, terminal, or another endpoint, so the same user code can trigger different kernel paths. A blocking read may let another task run, while a read satisfied from available data may return without switching processes. Kernel entry, blocking, and context switching are separate events. Error and short-progress results return responsibility to the program’s control flow.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kernel resolves the descriptor, checks the request, and performs or waits for the relevant operation.</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60.12 Kernel → Hardware</a:t>
            </a:r>
          </a:p>
          <a:p/>
          <a:p>
            <a:r>
              <a:t>LECTURE NARRATION</a:t>
            </a:r>
          </a:p>
          <a:p>
            <a:r>
              <a:t>When necessary, kernel subsystems and drivers coordinate with storage or network hardware. Interrupts, DMA, device queues, and memory-management policy can participate below the user-visible read interface. A cached read need not reach a device at all. Conversely, a device operation can complete before the waiting application is scheduled again. The end-to-end result is produced by several cooperating layers whose internal timings differ. Measure at the boundary relevant to the application’s requirement rather than attributing every delay to the CPU instruction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necessary, kernel subsystems and drivers coordinate with storage or network hardware.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60.12 Kernel → Hardware — Deep Dive</a:t>
            </a:r>
          </a:p>
          <a:p/>
          <a:p>
            <a:r>
              <a:t>LECTURE NARRATION</a:t>
            </a:r>
          </a:p>
          <a:p>
            <a:r>
              <a:t>When necessary, kernel subsystems and drivers coordinate with storage or network hardware. Interrupts, DMA, device queues, and memory-management policy can participate below the user-visible read interface. A cached read need not reach a device at all. Conversely, a device operation can complete before the waiting application is scheduled again. The end-to-end result is produced by several cooperating layers whose internal timings differ. Measure at the boundary relevant to the application’s requirement rather than attributing every delay to the CPU instruction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necessary, kernel subsystems and drivers coordinate with storage or network hardware.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Build and trace a complete byte-summary utility</a:t>
            </a:r>
          </a:p>
          <a:p/>
          <a:p>
            <a:r>
              <a:t>LECTURE NARRATION</a:t>
            </a:r>
          </a:p>
          <a:p>
            <a:r>
              <a:t>The public interface states that data designates at least length valid bytes whenever length is nonzero. The function borrows the bytes and retains no pointer. Companion listing: ch60/checksum.h Companion listing: ch60/checksum.c Companion listing: ch60/main.c From the chapter’s source directory, the following commands expose separate stages. They write only local build products; use a copy or dedicated build directory for experimentation. The final output is bytes=4 sum=208 . The shell starts a producer and connects it to the utility through a pipe. The utility’s read returns valid bytes, the checksum function processes that exact extent, and a complete-transfer write emits the formatted result. A failure at any stage has a different meaning. Preprocessing can fail to find a header. Compilation can reject a type error. Linking can miss a definition. Loading can fail to locate a runtime dependency. Reading can fail on an invalid descriptor. The checksum itself can remain logically correct while the overall program fails to receive or deliver data. An integrated diagnosis identifies the failed boundary before changing unrelated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Build and trace a complete byte-summary utility — Deep Dive</a:t>
            </a:r>
          </a:p>
          <a:p/>
          <a:p>
            <a:r>
              <a:t>LECTURE NARRATION</a:t>
            </a:r>
          </a:p>
          <a:p>
            <a:r>
              <a:t>The public interface states that data designates at least length valid bytes whenever length is nonzero. The function borrows the bytes and retains no pointer. Companion listing: ch60/checksum.h Companion listing: ch60/checksum.c Companion listing: ch60/main.c From the chapter’s source directory, the following commands expose separate stages. They write only local build products; use a copy or dedicated build directory for experimentation. The final output is bytes=4 sum=208 . The shell starts a producer and connects it to the utility through a pipe. The utility’s read returns valid bytes, the checksum function processes that exact extent, and a complete-transfer write emits the formatted result. A failure at any stage has a different meaning. Preprocessing can fail to find a header. Compilation can reject a type error. Linking can miss a definition. Loading can fail to locate a runtime dependency. Reading can fail on an invalid descriptor. The checksum itself can remain logically correct while the overall program fails to receive or deliver data. An integrated diagnosis identifies the failed boundary before changing unrelated code.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Following one global variable</a:t>
            </a:r>
          </a:p>
          <a:p/>
          <a:p>
            <a:r>
              <a:t>LECTURE NARRATION</a:t>
            </a:r>
          </a:p>
          <a:p>
            <a:r>
              <a:t>A source file defines int g=7; . The compiler emits code that refers to g and object-file data containing its initial value. The assembler encodes instructions and relocation records. The linker assigns g a location in the executable image. The loader maps the appropriate segment, and machine instructions later access the mapped bytes through virtual-memory translation and caches.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source file defines int g=7; .</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Following one global variable — Deep Dive</a:t>
            </a:r>
          </a:p>
          <a:p/>
          <a:p>
            <a:r>
              <a:t>LECTURE NARRATION</a:t>
            </a:r>
          </a:p>
          <a:p>
            <a:r>
              <a:t>A source file defines int g=7; . The compiler emits code that refers to g and object-file data containing its initial value. The assembler encodes instructions and relocation records. The linker assigns g a location in the executable image. The loader maps the appropriate segment, and machine instructions later access the mapped bytes through virtual-memory translation and caches.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source file defines int g=7; .</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Worked example — Following one write system call</a:t>
            </a:r>
          </a:p>
          <a:p/>
          <a:p>
            <a:r>
              <a:t>LECTURE NARRATION</a:t>
            </a:r>
          </a:p>
          <a:p>
            <a:r>
              <a:t>Source code calls write(fd,p,n) . A library wrapper arranges arguments according to the ABI and executes the system-call entry instruction. The CPU transfers to kernel mode, where the kernel validates the descriptor and user buffer, updates kernel/device state, and returns a byte count or error. User-mode code resumes with the result. This single operation crosses language, ABI, ISA, kernel, and hardware boundaries.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source code calls write(fd,p,n) .</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Worked example — Following one write system call — Deep Dive</a:t>
            </a:r>
          </a:p>
          <a:p/>
          <a:p>
            <a:r>
              <a:t>LECTURE NARRATION</a:t>
            </a:r>
          </a:p>
          <a:p>
            <a:r>
              <a:t>Source code calls write(fd,p,n) . A library wrapper arranges arguments according to the ABI and executes the system-call entry instruction. The CPU transfers to kernel mode, where the kernel validates the descriptor and user buffer, updates kernel/device state, and returns a byte count or error. User-mode code resumes with the result. This single operation crosses language, ABI, ISA, kernel, and hardware boundaries.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source code calls write(fd,p,n) .</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Guided lab and review</a:t>
            </a:r>
          </a:p>
          <a:p/>
          <a:p>
            <a:r>
              <a:t>LECTURE NARRATION</a:t>
            </a:r>
          </a:p>
          <a:p>
            <a:r>
              <a:t>Lab 60. Build the two source files separately, omit checksum.o once to observe the controlled link failure, then restore it. Compare the sequential utility’s output for empty, text, binary, and multi-buffer input. Inspect loadable segments without assuming their virtual addresses are fixed across runs. Review 1. Why is main not necessarily the first executed code? Review 2. Which value determines how many buffer bytes the checksum may read after one system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60.</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Guided lab and review — Deep Dive</a:t>
            </a:r>
          </a:p>
          <a:p/>
          <a:p>
            <a:r>
              <a:t>LECTURE NARRATION</a:t>
            </a:r>
          </a:p>
          <a:p>
            <a:r>
              <a:t>Lab 60. Build the two source files separately, omit checksum.o once to observe the controlled link failure, then restore it. Compare the sequential utility’s output for empty, text, binary, and multi-buffer input. Inspect loadable segments without assuming their virtual addresses are fixed across runs. Review 1. Why is main not necessarily the first executed code? Review 2. Which value determines how many buffer bytes the checksum may read after one system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60.</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Chapter Synthesis</a:t>
            </a:r>
          </a:p>
          <a:p/>
          <a:p>
            <a:r>
              <a:t>LECTURE NARRATION</a:t>
            </a:r>
          </a:p>
          <a:p>
            <a:r>
              <a:t>The chapter's central subject is from source code to running program.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from source code to running program.</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Putting the System Together.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Chapter 60 — From Source Code to Running Program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previous chapters examined individual layers.</a:t>
            </a:r>
          </a:p>
          <a:p>
            <a:pPr>
              <a:spcAft>
                <a:spcPts val="1100"/>
              </a:spcAft>
              <a:defRPr sz="1700">
                <a:solidFill>
                  <a:srgbClr val="F2F5F8"/>
                </a:solidFill>
              </a:defRPr>
            </a:pPr>
            <a:r>
              <a:t>• This chapter follows one small program through the complete path: source text becomes instructions, the executable becomes mappings, instructions access translated memory, and...</a:t>
            </a:r>
          </a:p>
          <a:p>
            <a:pPr>
              <a:spcAft>
                <a:spcPts val="1100"/>
              </a:spcAft>
              <a:defRPr sz="1900">
                <a:solidFill>
                  <a:srgbClr val="F2F5F8"/>
                </a:solidFill>
              </a:defRPr>
            </a:pPr>
            <a:r>
              <a:t>• Each layer contributes a different kind of correctness and a different class of failure.</a:t>
            </a:r>
          </a:p>
          <a:p>
            <a:pPr>
              <a:spcAft>
                <a:spcPts val="1100"/>
              </a:spcAft>
              <a:defRPr sz="1900">
                <a:solidFill>
                  <a:srgbClr val="F2F5F8"/>
                </a:solidFill>
              </a:defRPr>
            </a:pPr>
            <a:r>
              <a:t>• The example computes a byte count and an unsigned 64-bit byte sum from standard input.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From Source Code to Running Program.</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60.1 Source Code → Compiler</a:t>
            </a:r>
          </a:p>
          <a:p>
            <a:pPr>
              <a:spcAft>
                <a:spcPts val="1100"/>
              </a:spcAft>
              <a:defRPr sz="1900">
                <a:solidFill>
                  <a:srgbClr val="F2F5F8"/>
                </a:solidFill>
              </a:defRPr>
            </a:pPr>
            <a:r>
              <a:t>• 60.2 Compiler → Assembly</a:t>
            </a:r>
          </a:p>
          <a:p>
            <a:pPr>
              <a:spcAft>
                <a:spcPts val="1100"/>
              </a:spcAft>
              <a:defRPr sz="1900">
                <a:solidFill>
                  <a:srgbClr val="F2F5F8"/>
                </a:solidFill>
              </a:defRPr>
            </a:pPr>
            <a:r>
              <a:t>• 60.3 Assembly → Object Code</a:t>
            </a:r>
          </a:p>
          <a:p>
            <a:pPr>
              <a:spcAft>
                <a:spcPts val="1100"/>
              </a:spcAft>
              <a:defRPr sz="1900">
                <a:solidFill>
                  <a:srgbClr val="F2F5F8"/>
                </a:solidFill>
              </a:defRPr>
            </a:pPr>
            <a:r>
              <a:t>• 60.4 Object Code → Linker</a:t>
            </a:r>
          </a:p>
          <a:p>
            <a:pPr>
              <a:spcAft>
                <a:spcPts val="1100"/>
              </a:spcAft>
              <a:defRPr sz="1900">
                <a:solidFill>
                  <a:srgbClr val="F2F5F8"/>
                </a:solidFill>
              </a:defRPr>
            </a:pPr>
            <a:r>
              <a:t>• ...plus 12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 Source Code → Compiler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Source code describes behavior under a language standard.</a:t>
            </a:r>
          </a:p>
          <a:p>
            <a:pPr>
              <a:spcAft>
                <a:spcPts val="1100"/>
              </a:spcAft>
              <a:defRPr sz="1900">
                <a:solidFill>
                  <a:srgbClr val="F2F5F8"/>
                </a:solidFill>
              </a:defRPr>
            </a:pPr>
            <a:r>
              <a:t>• Declarations establish types and interfaces; definitions provide objects and function bodies.</a:t>
            </a:r>
          </a:p>
          <a:p>
            <a:pPr>
              <a:spcAft>
                <a:spcPts val="1100"/>
              </a:spcAft>
              <a:defRPr sz="1900">
                <a:solidFill>
                  <a:srgbClr val="F2F5F8"/>
                </a:solidFill>
              </a:defRPr>
            </a:pPr>
            <a:r>
              <a:t>• The preprocessor handles includes and macros before the compiler’s language analysis.</a:t>
            </a:r>
          </a:p>
          <a:p>
            <a:pPr>
              <a:spcAft>
                <a:spcPts val="1100"/>
              </a:spcAft>
              <a:defRPr sz="1700">
                <a:solidFill>
                  <a:srgbClr val="F2F5F8"/>
                </a:solidFill>
              </a:defRPr>
            </a:pPr>
            <a:r>
              <a:t>• The compiler must reason about the program’s allowed behavior, including integer rules, object lifetime, aliasing, and observable effects.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 Source Code → Compiler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compiler must reason about the program’s allowed behavior, including integer rules, object lifetime, aliasing, and observable effects.</a:t>
            </a:r>
          </a:p>
          <a:p>
            <a:pPr>
              <a:spcAft>
                <a:spcPts val="1100"/>
              </a:spcAft>
              <a:defRPr sz="1700">
                <a:solidFill>
                  <a:srgbClr val="F2F5F8"/>
                </a:solidFill>
              </a:defRPr>
            </a:pPr>
            <a:r>
              <a:t>• A pointer-and-length interface carries preconditions even when its machine representation is only two integer-like values.</a:t>
            </a:r>
          </a:p>
          <a:p>
            <a:pPr>
              <a:spcAft>
                <a:spcPts val="1100"/>
              </a:spcAft>
              <a:defRPr sz="1700">
                <a:solidFill>
                  <a:srgbClr val="F2F5F8"/>
                </a:solidFill>
              </a:defRPr>
            </a:pPr>
            <a:r>
              <a:t>• Invalid source-level behavior is not repaired by the fact that the target CPU can execute some corresponding instruction sequence. [ R1 , R8 ]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60.2 Compiler → Assembly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compiler lowers the program into target instructions and chooses registers, branches, addressing modes, and transformations.</a:t>
            </a:r>
          </a:p>
          <a:p>
            <a:pPr>
              <a:spcAft>
                <a:spcPts val="1100"/>
              </a:spcAft>
              <a:defRPr sz="1700">
                <a:solidFill>
                  <a:srgbClr val="F2F5F8"/>
                </a:solidFill>
              </a:defRPr>
            </a:pPr>
            <a:r>
              <a:t>• The source loop need not survive as one literal assembly loop; optimization may unroll or vectorize it while preserving required behavior.</a:t>
            </a:r>
          </a:p>
          <a:p>
            <a:pPr>
              <a:spcAft>
                <a:spcPts val="1100"/>
              </a:spcAft>
              <a:defRPr sz="1700">
                <a:solidFill>
                  <a:srgbClr val="F2F5F8"/>
                </a:solidFill>
              </a:defRPr>
            </a:pPr>
            <a:r>
              <a:t>• The unsigned byte sum permits reassociation under modular arithmetic in ways that a strict floating-point sum might not.</a:t>
            </a:r>
          </a:p>
          <a:p>
            <a:pPr>
              <a:spcAft>
                <a:spcPts val="1100"/>
              </a:spcAft>
              <a:defRPr sz="1900">
                <a:solidFill>
                  <a:srgbClr val="F2F5F8"/>
                </a:solidFill>
              </a:defRPr>
            </a:pPr>
            <a:r>
              <a:t>• Numeric semantics therefore influence available machine implementations.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60.2 Compiler → Assembly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unsigned byte sum permits reassociation under modular arithmetic in ways that a strict floating-point sum might not.</a:t>
            </a:r>
          </a:p>
          <a:p>
            <a:pPr>
              <a:spcAft>
                <a:spcPts val="1100"/>
              </a:spcAft>
              <a:defRPr sz="1900">
                <a:solidFill>
                  <a:srgbClr val="F2F5F8"/>
                </a:solidFill>
              </a:defRPr>
            </a:pPr>
            <a:r>
              <a:t>• Numeric semantics therefore influence available machine implementations.</a:t>
            </a:r>
          </a:p>
          <a:p>
            <a:pPr>
              <a:spcAft>
                <a:spcPts val="1100"/>
              </a:spcAft>
              <a:defRPr sz="1900">
                <a:solidFill>
                  <a:srgbClr val="F2F5F8"/>
                </a:solidFill>
              </a:defRPr>
            </a:pPr>
            <a:r>
              <a:t>• Compare generated assembly only after identifying which transformations the source contract permits. [ R2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60.3 Assembly → Object Code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assembler encodes instructions and data into a relocatable object file.</a:t>
            </a:r>
          </a:p>
          <a:p>
            <a:pPr>
              <a:spcAft>
                <a:spcPts val="1100"/>
              </a:spcAft>
              <a:defRPr sz="1700">
                <a:solidFill>
                  <a:srgbClr val="F2F5F8"/>
                </a:solidFill>
              </a:defRPr>
            </a:pPr>
            <a:r>
              <a:t>• Symbols identify definitions and references, while relocation records describe locations that need adjustment when final addresses are determined.</a:t>
            </a:r>
          </a:p>
          <a:p>
            <a:pPr>
              <a:spcAft>
                <a:spcPts val="1100"/>
              </a:spcAft>
              <a:defRPr sz="1900">
                <a:solidFill>
                  <a:srgbClr val="F2F5F8"/>
                </a:solidFill>
              </a:defRPr>
            </a:pPr>
            <a:r>
              <a:t>• An object file is not yet necessarily a runnable executable.</a:t>
            </a:r>
          </a:p>
          <a:p>
            <a:pPr>
              <a:spcAft>
                <a:spcPts val="1100"/>
              </a:spcAft>
              <a:defRPr sz="1900">
                <a:solidFill>
                  <a:srgbClr val="F2F5F8"/>
                </a:solidFill>
              </a:defRPr>
            </a:pPr>
            <a:r>
              <a:t>• A call to checksum_update can refer to a symbol whose final location is unresolved until linking.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60.3 Assembly → Object Code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object file is not yet necessarily a runnable executable.</a:t>
            </a:r>
          </a:p>
          <a:p>
            <a:pPr>
              <a:spcAft>
                <a:spcPts val="1100"/>
              </a:spcAft>
              <a:defRPr sz="1900">
                <a:solidFill>
                  <a:srgbClr val="F2F5F8"/>
                </a:solidFill>
              </a:defRPr>
            </a:pPr>
            <a:r>
              <a:t>• A call to checksum_update can refer to a symbol whose final location is unresolved until linking.</a:t>
            </a:r>
          </a:p>
          <a:p>
            <a:pPr>
              <a:spcAft>
                <a:spcPts val="1100"/>
              </a:spcAft>
              <a:defRPr sz="1700">
                <a:solidFill>
                  <a:srgbClr val="F2F5F8"/>
                </a:solidFill>
              </a:defRPr>
            </a:pPr>
            <a:r>
              <a:t>• Debug information and symbol tables help tools explain the relationship between source and machine code without being the code’s runtime semantics themselves.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60.4 Object Code → Linker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linker combines object files and resolves symbols against other objects and libraries.</a:t>
            </a:r>
          </a:p>
          <a:p>
            <a:pPr>
              <a:spcAft>
                <a:spcPts val="1100"/>
              </a:spcAft>
              <a:defRPr sz="1900">
                <a:solidFill>
                  <a:srgbClr val="F2F5F8"/>
                </a:solidFill>
              </a:defRPr>
            </a:pPr>
            <a:r>
              <a:t>• It lays out the resulting program according to the executable format and link options.</a:t>
            </a:r>
          </a:p>
          <a:p>
            <a:pPr>
              <a:spcAft>
                <a:spcPts val="1100"/>
              </a:spcAft>
              <a:defRPr sz="1900">
                <a:solidFill>
                  <a:srgbClr val="F2F5F8"/>
                </a:solidFill>
              </a:defRPr>
            </a:pPr>
            <a:r>
              <a:t>• Missing definitions, incompatible interfaces, and duplicate definitions appear at this boundary.</a:t>
            </a:r>
          </a:p>
          <a:p>
            <a:pPr>
              <a:spcAft>
                <a:spcPts val="1100"/>
              </a:spcAft>
              <a:defRPr sz="1900">
                <a:solidFill>
                  <a:srgbClr val="F2F5F8"/>
                </a:solidFill>
              </a:defRPr>
            </a:pPr>
            <a:r>
              <a:t>• The C declaration and definition must agree.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60.4 Object Code → Linker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 declaration and definition must agree.</a:t>
            </a:r>
          </a:p>
          <a:p>
            <a:pPr>
              <a:spcAft>
                <a:spcPts val="1100"/>
              </a:spcAft>
              <a:defRPr sz="1700">
                <a:solidFill>
                  <a:srgbClr val="F2F5F8"/>
                </a:solidFill>
              </a:defRPr>
            </a:pPr>
            <a:r>
              <a:t>• A successful link does not prove that a mismatched manually declared ABI is correct, and linking a library does not prove that its runtime dependencies will be available.</a:t>
            </a:r>
          </a:p>
          <a:p>
            <a:pPr>
              <a:spcAft>
                <a:spcPts val="1100"/>
              </a:spcAft>
              <a:defRPr sz="1900">
                <a:solidFill>
                  <a:srgbClr val="F2F5F8"/>
                </a:solidFill>
              </a:defRPr>
            </a:pPr>
            <a:r>
              <a:t>• Build correctness includes the intended headers, object versions, options, and target architecture. [ R1 , R37 ]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60.5 Executable → Loader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Execution asks the operating system to replace a process image with the executable.</a:t>
            </a:r>
          </a:p>
          <a:p>
            <a:pPr>
              <a:spcAft>
                <a:spcPts val="1100"/>
              </a:spcAft>
              <a:defRPr sz="1900">
                <a:solidFill>
                  <a:srgbClr val="F2F5F8"/>
                </a:solidFill>
              </a:defRPr>
            </a:pPr>
            <a:r>
              <a:t>• The kernel validates and interprets the executable format and establishes the initial execution environment.</a:t>
            </a:r>
          </a:p>
          <a:p>
            <a:pPr>
              <a:spcAft>
                <a:spcPts val="1100"/>
              </a:spcAft>
              <a:defRPr sz="1700">
                <a:solidFill>
                  <a:srgbClr val="F2F5F8"/>
                </a:solidFill>
              </a:defRPr>
            </a:pPr>
            <a:r>
              <a:t>• Dynamically linked programs also involve a runtime linker or loader according to the platform’s format and configuration.</a:t>
            </a:r>
          </a:p>
          <a:p>
            <a:pPr>
              <a:spcAft>
                <a:spcPts val="1100"/>
              </a:spcAft>
              <a:defRPr sz="1900">
                <a:solidFill>
                  <a:srgbClr val="F2F5F8"/>
                </a:solidFill>
              </a:defRPr>
            </a:pPr>
            <a:r>
              <a:t>• main is not normally the very first instruction executed.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60.5 Executable → Loader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main is not normally the very first instruction executed.</a:t>
            </a:r>
          </a:p>
          <a:p>
            <a:pPr>
              <a:spcAft>
                <a:spcPts val="1100"/>
              </a:spcAft>
              <a:defRPr sz="1900">
                <a:solidFill>
                  <a:srgbClr val="F2F5F8"/>
                </a:solidFill>
              </a:defRPr>
            </a:pPr>
            <a:r>
              <a:t>• Startup code establishes language-runtime state before calling it.</a:t>
            </a:r>
          </a:p>
          <a:p>
            <a:pPr>
              <a:spcAft>
                <a:spcPts val="1100"/>
              </a:spcAft>
              <a:defRPr sz="1700">
                <a:solidFill>
                  <a:srgbClr val="F2F5F8"/>
                </a:solidFill>
              </a:defRPr>
            </a:pPr>
            <a:r>
              <a:t>• Understanding this explains why a program can fail before reaching the first source line of main , for example when a required dynamic library cannot be loaded. [ R16 ]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60.6 Loader → Virtual Address Space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executable’s loadable segments become virtual mappings with appropriate permissions and backing.</a:t>
            </a:r>
          </a:p>
          <a:p>
            <a:pPr>
              <a:spcAft>
                <a:spcPts val="1100"/>
              </a:spcAft>
              <a:defRPr sz="1900">
                <a:solidFill>
                  <a:srgbClr val="F2F5F8"/>
                </a:solidFill>
              </a:defRPr>
            </a:pPr>
            <a:r>
              <a:t>• Code, initialized data, zero-filled storage, stack, and libraries occupy regions of the process’s address space.</a:t>
            </a:r>
          </a:p>
          <a:p>
            <a:pPr>
              <a:spcAft>
                <a:spcPts val="1100"/>
              </a:spcAft>
              <a:defRPr sz="1900">
                <a:solidFill>
                  <a:srgbClr val="F2F5F8"/>
                </a:solidFill>
              </a:defRPr>
            </a:pPr>
            <a:r>
              <a:t>• The loader need not eagerly copy every executable byte into physical memory before execution begins.</a:t>
            </a:r>
          </a:p>
          <a:p>
            <a:pPr>
              <a:spcAft>
                <a:spcPts val="1100"/>
              </a:spcAft>
              <a:defRPr sz="1900">
                <a:solidFill>
                  <a:srgbClr val="F2F5F8"/>
                </a:solidFill>
              </a:defRPr>
            </a:pPr>
            <a:r>
              <a:t>• File-backed demand paging and shared mappings allow work to occur as pages are used.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60.6 Loader → Virtual Address Space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loader need not eagerly copy every executable byte into physical memory before execution begins.</a:t>
            </a:r>
          </a:p>
          <a:p>
            <a:pPr>
              <a:spcAft>
                <a:spcPts val="1100"/>
              </a:spcAft>
              <a:defRPr sz="1900">
                <a:solidFill>
                  <a:srgbClr val="F2F5F8"/>
                </a:solidFill>
              </a:defRPr>
            </a:pPr>
            <a:r>
              <a:t>• File-backed demand paging and shared mappings allow work to occur as pages are used.</a:t>
            </a:r>
          </a:p>
          <a:p>
            <a:pPr>
              <a:spcAft>
                <a:spcPts val="1100"/>
              </a:spcAft>
              <a:defRPr sz="1900">
                <a:solidFill>
                  <a:srgbClr val="F2F5F8"/>
                </a:solidFill>
              </a:defRPr>
            </a:pPr>
            <a:r>
              <a:t>• The address-space layout is therefore a mapping plan, not simply a complete physical-memory photograph. [ R10 , R14 ]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60.7 Instructions → CPU</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processor fetches and executes instructions according to the ISA.</a:t>
            </a:r>
          </a:p>
          <a:p>
            <a:pPr>
              <a:spcAft>
                <a:spcPts val="1100"/>
              </a:spcAft>
              <a:defRPr sz="1700">
                <a:solidFill>
                  <a:srgbClr val="F2F5F8"/>
                </a:solidFill>
              </a:defRPr>
            </a:pPr>
            <a:r>
              <a:t>• Its microarchitecture can decode, schedule, speculate, and overlap operations while preserving the architectural behavior required for correct execution.</a:t>
            </a:r>
          </a:p>
          <a:p>
            <a:pPr>
              <a:spcAft>
                <a:spcPts val="1100"/>
              </a:spcAft>
              <a:defRPr sz="1700">
                <a:solidFill>
                  <a:srgbClr val="F2F5F8"/>
                </a:solidFill>
              </a:defRPr>
            </a:pPr>
            <a:r>
              <a:t>• The instruction pointer and registers describe the architectural stream, while internal execution details determine performance.</a:t>
            </a:r>
          </a:p>
          <a:p>
            <a:pPr>
              <a:spcAft>
                <a:spcPts val="1100"/>
              </a:spcAft>
              <a:defRPr sz="1700">
                <a:solidFill>
                  <a:srgbClr val="F2F5F8"/>
                </a:solidFill>
              </a:defRPr>
            </a:pPr>
            <a:r>
              <a:t>• A branch, cache miss, or dependency can change how quickly the next useful result becomes available without changing the program’s specified output.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60.7 Instructions → CPU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instruction pointer and registers describe the architectural stream, while internal execution details determine performance.</a:t>
            </a:r>
          </a:p>
          <a:p>
            <a:pPr>
              <a:spcAft>
                <a:spcPts val="1100"/>
              </a:spcAft>
              <a:defRPr sz="1700">
                <a:solidFill>
                  <a:srgbClr val="F2F5F8"/>
                </a:solidFill>
              </a:defRPr>
            </a:pPr>
            <a:r>
              <a:t>• A branch, cache miss, or dependency can change how quickly the next useful result becomes available without changing the program’s specified output.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60.8 CPU → Registers and Caches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byte-sum loop uses registers for pointers, counters, and partial results where the compiler chooses.</a:t>
            </a:r>
          </a:p>
          <a:p>
            <a:pPr>
              <a:spcAft>
                <a:spcPts val="1100"/>
              </a:spcAft>
              <a:defRPr sz="1900">
                <a:solidFill>
                  <a:srgbClr val="F2F5F8"/>
                </a:solidFill>
              </a:defRPr>
            </a:pPr>
            <a:r>
              <a:t>• Loads obtain input bytes through the cache hierarchy.</a:t>
            </a:r>
          </a:p>
          <a:p>
            <a:pPr>
              <a:spcAft>
                <a:spcPts val="1100"/>
              </a:spcAft>
              <a:defRPr sz="1900">
                <a:solidFill>
                  <a:srgbClr val="F2F5F8"/>
                </a:solidFill>
              </a:defRPr>
            </a:pPr>
            <a:r>
              <a:t>• Several adjacent bytes can share a fetched line, giving spatial locality.</a:t>
            </a:r>
          </a:p>
          <a:p>
            <a:pPr>
              <a:spcAft>
                <a:spcPts val="1100"/>
              </a:spcAft>
              <a:defRPr sz="1700">
                <a:solidFill>
                  <a:srgbClr val="F2F5F8"/>
                </a:solidFill>
              </a:defRPr>
            </a:pPr>
            <a:r>
              <a:t>• Calling the update function may require arguments in the ABI’s designated registers and preservation of callee-saved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60.8 CPU → Registers and Caches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Calling the update function may require arguments in the ABI’s designated registers and preservation of callee-saved state.</a:t>
            </a:r>
          </a:p>
          <a:p>
            <a:pPr>
              <a:spcAft>
                <a:spcPts val="1100"/>
              </a:spcAft>
              <a:defRPr sz="1900">
                <a:solidFill>
                  <a:srgbClr val="F2F5F8"/>
                </a:solidFill>
              </a:defRPr>
            </a:pPr>
            <a:r>
              <a:t>• Inlining can remove that call boundary but not the source-level requirement to read only valid input bytes.</a:t>
            </a:r>
          </a:p>
          <a:p>
            <a:pPr>
              <a:spcAft>
                <a:spcPts val="1100"/>
              </a:spcAft>
              <a:defRPr sz="1900">
                <a:solidFill>
                  <a:srgbClr val="F2F5F8"/>
                </a:solidFill>
              </a:defRPr>
            </a:pPr>
            <a:r>
              <a:t>• Machine optimization and memory safety remain separate obligations.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60.9 Cache → Main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cache miss obtains data from another level.</a:t>
            </a:r>
          </a:p>
          <a:p>
            <a:pPr>
              <a:spcAft>
                <a:spcPts val="1100"/>
              </a:spcAft>
              <a:defRPr sz="1700">
                <a:solidFill>
                  <a:srgbClr val="F2F5F8"/>
                </a:solidFill>
              </a:defRPr>
            </a:pPr>
            <a:r>
              <a:t>• Main memory backs the buffer’s resident pages, while translation hardware supplies the virtual-to-physical relationship.</a:t>
            </a:r>
          </a:p>
          <a:p>
            <a:pPr>
              <a:spcAft>
                <a:spcPts val="1100"/>
              </a:spcAft>
              <a:defRPr sz="1900">
                <a:solidFill>
                  <a:srgbClr val="F2F5F8"/>
                </a:solidFill>
              </a:defRPr>
            </a:pPr>
            <a:r>
              <a:t>• TLB misses, data-cache misses, and page faults remain distinct events even within this one loop.</a:t>
            </a:r>
          </a:p>
          <a:p>
            <a:pPr>
              <a:spcAft>
                <a:spcPts val="1100"/>
              </a:spcAft>
              <a:defRPr sz="1700">
                <a:solidFill>
                  <a:srgbClr val="F2F5F8"/>
                </a:solidFill>
              </a:defRPr>
            </a:pPr>
            <a:r>
              <a:t>• The loop’s sequential traversal can use cache lines efficiently, but the total throughput also depends on how input reaches the buffer.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60.9 Cache → Main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loop’s sequential traversal can use cache lines efficiently, but the total throughput also depends on how input reaches the buffer.</a:t>
            </a:r>
          </a:p>
          <a:p>
            <a:pPr>
              <a:spcAft>
                <a:spcPts val="1100"/>
              </a:spcAft>
              <a:defRPr sz="1700">
                <a:solidFill>
                  <a:srgbClr val="F2F5F8"/>
                </a:solidFill>
              </a:defRPr>
            </a:pPr>
            <a:r>
              <a:t>• If the producer or storage source is slow, arithmetic optimization may have little effect on end-to-end completion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60.10 Program → System Call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program calls read to obtain input and write to emit its result.</a:t>
            </a:r>
          </a:p>
          <a:p>
            <a:pPr>
              <a:spcAft>
                <a:spcPts val="1100"/>
              </a:spcAft>
              <a:defRPr sz="1700">
                <a:solidFill>
                  <a:srgbClr val="F2F5F8"/>
                </a:solidFill>
              </a:defRPr>
            </a:pPr>
            <a:r>
              <a:t>• Library wrappers marshal arguments into the operating-system ABI and translate return conventions into the documented C interface.</a:t>
            </a:r>
          </a:p>
          <a:p>
            <a:pPr>
              <a:spcAft>
                <a:spcPts val="1100"/>
              </a:spcAft>
              <a:defRPr sz="1900">
                <a:solidFill>
                  <a:srgbClr val="F2F5F8"/>
                </a:solidFill>
              </a:defRPr>
            </a:pPr>
            <a:r>
              <a:t>• Every positive read result supplies an exact valid extent for the next checksum update.</a:t>
            </a:r>
          </a:p>
          <a:p>
            <a:pPr>
              <a:spcAft>
                <a:spcPts val="1100"/>
              </a:spcAft>
              <a:defRPr sz="1900">
                <a:solidFill>
                  <a:srgbClr val="F2F5F8"/>
                </a:solidFill>
              </a:defRPr>
            </a:pPr>
            <a:r>
              <a:t>• The program must not process the entire 4096-byte buffer when only 100 bytes were returned.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60.10 Program → System Call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Every positive read result supplies an exact valid extent for the next checksum update.</a:t>
            </a:r>
          </a:p>
          <a:p>
            <a:pPr>
              <a:spcAft>
                <a:spcPts val="1100"/>
              </a:spcAft>
              <a:defRPr sz="1900">
                <a:solidFill>
                  <a:srgbClr val="F2F5F8"/>
                </a:solidFill>
              </a:defRPr>
            </a:pPr>
            <a:r>
              <a:t>• The program must not process the entire 4096-byte buffer when only 100 bytes were returned.</a:t>
            </a:r>
          </a:p>
          <a:p>
            <a:pPr>
              <a:spcAft>
                <a:spcPts val="1100"/>
              </a:spcAft>
              <a:defRPr sz="1900">
                <a:solidFill>
                  <a:srgbClr val="F2F5F8"/>
                </a:solidFill>
              </a:defRPr>
            </a:pPr>
            <a:r>
              <a:t>• This is where an I/O return value becomes a memory-safety boundary. [ R11 , R12 , R46 ]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60.11 System Call → Kernel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kernel resolves the descriptor, checks the request, and performs or waits for the relevant operation.</a:t>
            </a:r>
          </a:p>
          <a:p>
            <a:pPr>
              <a:spcAft>
                <a:spcPts val="1100"/>
              </a:spcAft>
              <a:defRPr sz="1700">
                <a:solidFill>
                  <a:srgbClr val="F2F5F8"/>
                </a:solidFill>
              </a:defRPr>
            </a:pPr>
            <a:r>
              <a:t>• Standard input may be a regular file, pipe, terminal, or another endpoint, so the same user code can trigger different kernel paths.</a:t>
            </a:r>
          </a:p>
          <a:p>
            <a:pPr>
              <a:spcAft>
                <a:spcPts val="1100"/>
              </a:spcAft>
              <a:defRPr sz="1700">
                <a:solidFill>
                  <a:srgbClr val="F2F5F8"/>
                </a:solidFill>
              </a:defRPr>
            </a:pPr>
            <a:r>
              <a:t>• A blocking read may let another task run, while a read satisfied from available data may return without switching processes.</a:t>
            </a:r>
          </a:p>
          <a:p>
            <a:pPr>
              <a:spcAft>
                <a:spcPts val="1100"/>
              </a:spcAft>
              <a:defRPr sz="1900">
                <a:solidFill>
                  <a:srgbClr val="F2F5F8"/>
                </a:solidFill>
              </a:defRPr>
            </a:pPr>
            <a:r>
              <a:t>• Kernel entry, blocking, and context switching are separate events.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60.11 System Call → Kernel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blocking read may let another task run, while a read satisfied from available data may return without switching processes.</a:t>
            </a:r>
          </a:p>
          <a:p>
            <a:pPr>
              <a:spcAft>
                <a:spcPts val="1100"/>
              </a:spcAft>
              <a:defRPr sz="1900">
                <a:solidFill>
                  <a:srgbClr val="F2F5F8"/>
                </a:solidFill>
              </a:defRPr>
            </a:pPr>
            <a:r>
              <a:t>• Kernel entry, blocking, and context switching are separate events.</a:t>
            </a:r>
          </a:p>
          <a:p>
            <a:pPr>
              <a:spcAft>
                <a:spcPts val="1100"/>
              </a:spcAft>
              <a:defRPr sz="1900">
                <a:solidFill>
                  <a:srgbClr val="F2F5F8"/>
                </a:solidFill>
              </a:defRPr>
            </a:pPr>
            <a:r>
              <a:t>• Error and short-progress results return responsibility to the program’s control flow.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60.12 Kernel → Hardware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necessary, kernel subsystems and drivers coordinate with storage or network hardware.</a:t>
            </a:r>
          </a:p>
          <a:p>
            <a:pPr>
              <a:spcAft>
                <a:spcPts val="1100"/>
              </a:spcAft>
              <a:defRPr sz="1900">
                <a:solidFill>
                  <a:srgbClr val="F2F5F8"/>
                </a:solidFill>
              </a:defRPr>
            </a:pPr>
            <a:r>
              <a:t>• Interrupts, DMA, device queues, and memory-management policy can participate below the user-visible read interface.</a:t>
            </a:r>
          </a:p>
          <a:p>
            <a:pPr>
              <a:spcAft>
                <a:spcPts val="1100"/>
              </a:spcAft>
              <a:defRPr sz="1900">
                <a:solidFill>
                  <a:srgbClr val="F2F5F8"/>
                </a:solidFill>
              </a:defRPr>
            </a:pPr>
            <a:r>
              <a:t>• A cached read need not reach a device at all.</a:t>
            </a:r>
          </a:p>
          <a:p>
            <a:pPr>
              <a:spcAft>
                <a:spcPts val="1100"/>
              </a:spcAft>
              <a:defRPr sz="1900">
                <a:solidFill>
                  <a:srgbClr val="F2F5F8"/>
                </a:solidFill>
              </a:defRPr>
            </a:pPr>
            <a:r>
              <a:t>• Conversely, a device operation can complete before the waiting application is scheduled again.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60.12 Kernel → Hardware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cached read need not reach a device at all.</a:t>
            </a:r>
          </a:p>
          <a:p>
            <a:pPr>
              <a:spcAft>
                <a:spcPts val="1100"/>
              </a:spcAft>
              <a:defRPr sz="1900">
                <a:solidFill>
                  <a:srgbClr val="F2F5F8"/>
                </a:solidFill>
              </a:defRPr>
            </a:pPr>
            <a:r>
              <a:t>• Conversely, a device operation can complete before the waiting application is scheduled again.</a:t>
            </a:r>
          </a:p>
          <a:p>
            <a:pPr>
              <a:spcAft>
                <a:spcPts val="1100"/>
              </a:spcAft>
              <a:defRPr sz="1900">
                <a:solidFill>
                  <a:srgbClr val="F2F5F8"/>
                </a:solidFill>
              </a:defRPr>
            </a:pPr>
            <a:r>
              <a:t>• The end-to-end result is produced by several cooperating layers whose internal timings differ.</a:t>
            </a:r>
          </a:p>
          <a:p>
            <a:pPr>
              <a:spcAft>
                <a:spcPts val="1100"/>
              </a:spcAft>
              <a:defRPr sz="1700">
                <a:solidFill>
                  <a:srgbClr val="F2F5F8"/>
                </a:solidFill>
              </a:defRPr>
            </a:pPr>
            <a:r>
              <a:t>• Measure at the boundary relevant to the application’s requirement rather than attributing every delay to the CPU instruction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 and trace a complete byte-summary utility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public interface states that data designates at least length valid bytes whenever length is nonzero.</a:t>
            </a:r>
          </a:p>
          <a:p>
            <a:pPr>
              <a:spcAft>
                <a:spcPts val="1100"/>
              </a:spcAft>
              <a:defRPr sz="1900">
                <a:solidFill>
                  <a:srgbClr val="F2F5F8"/>
                </a:solidFill>
              </a:defRPr>
            </a:pPr>
            <a:r>
              <a:t>• The function borrows the bytes and retains no pointer.</a:t>
            </a:r>
          </a:p>
          <a:p>
            <a:pPr>
              <a:spcAft>
                <a:spcPts val="1100"/>
              </a:spcAft>
              <a:defRPr sz="1900">
                <a:solidFill>
                  <a:srgbClr val="F2F5F8"/>
                </a:solidFill>
              </a:defRPr>
            </a:pPr>
            <a:r>
              <a:t>• Companion listing: ch60/checksum.h</a:t>
            </a:r>
          </a:p>
          <a:p>
            <a:pPr>
              <a:spcAft>
                <a:spcPts val="1100"/>
              </a:spcAft>
              <a:defRPr sz="1900">
                <a:solidFill>
                  <a:srgbClr val="F2F5F8"/>
                </a:solidFill>
              </a:defRPr>
            </a:pPr>
            <a:r>
              <a:t>• Companion listing: ch60/checksum.c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 and trace a complete byte-summary utility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ch60/checksum.h</a:t>
            </a:r>
          </a:p>
          <a:p>
            <a:pPr>
              <a:spcAft>
                <a:spcPts val="1100"/>
              </a:spcAft>
              <a:defRPr sz="1900">
                <a:solidFill>
                  <a:srgbClr val="F2F5F8"/>
                </a:solidFill>
              </a:defRPr>
            </a:pPr>
            <a:r>
              <a:t>• Companion listing: ch60/checksum.c</a:t>
            </a:r>
          </a:p>
          <a:p>
            <a:pPr>
              <a:spcAft>
                <a:spcPts val="1100"/>
              </a:spcAft>
              <a:defRPr sz="1900">
                <a:solidFill>
                  <a:srgbClr val="F2F5F8"/>
                </a:solidFill>
              </a:defRPr>
            </a:pPr>
            <a:r>
              <a:t>• Companion listing: ch60/main.c</a:t>
            </a:r>
          </a:p>
          <a:p>
            <a:pPr>
              <a:spcAft>
                <a:spcPts val="1100"/>
              </a:spcAft>
              <a:defRPr sz="1900">
                <a:solidFill>
                  <a:srgbClr val="F2F5F8"/>
                </a:solidFill>
              </a:defRPr>
            </a:pPr>
            <a:r>
              <a:t>• From the chapter’s source directory, the following commands expose separate stages.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one global variable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source file defines int g=7; .</a:t>
            </a:r>
          </a:p>
          <a:p>
            <a:pPr>
              <a:spcAft>
                <a:spcPts val="1100"/>
              </a:spcAft>
              <a:defRPr sz="1900">
                <a:solidFill>
                  <a:srgbClr val="F2F5F8"/>
                </a:solidFill>
              </a:defRPr>
            </a:pPr>
            <a:r>
              <a:t>• The compiler emits code that refers to g and object-file data containing its initial value.</a:t>
            </a:r>
          </a:p>
          <a:p>
            <a:pPr>
              <a:spcAft>
                <a:spcPts val="1100"/>
              </a:spcAft>
              <a:defRPr sz="1900">
                <a:solidFill>
                  <a:srgbClr val="F2F5F8"/>
                </a:solidFill>
              </a:defRPr>
            </a:pPr>
            <a:r>
              <a:t>• The assembler encodes instructions and relocation records.</a:t>
            </a:r>
          </a:p>
          <a:p>
            <a:pPr>
              <a:spcAft>
                <a:spcPts val="1100"/>
              </a:spcAft>
              <a:defRPr sz="1900">
                <a:solidFill>
                  <a:srgbClr val="F2F5F8"/>
                </a:solidFill>
              </a:defRPr>
            </a:pPr>
            <a:r>
              <a:t>• The linker assigns g a location in the executable image.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one global variable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source file defines int g=7; .</a:t>
            </a:r>
          </a:p>
          <a:p>
            <a:pPr>
              <a:spcAft>
                <a:spcPts val="1100"/>
              </a:spcAft>
              <a:defRPr sz="1900">
                <a:solidFill>
                  <a:srgbClr val="F2F5F8"/>
                </a:solidFill>
              </a:defRPr>
            </a:pPr>
            <a:r>
              <a:t>• The compiler emits code that refers to g and object-file data containing its initial value.</a:t>
            </a:r>
          </a:p>
          <a:p>
            <a:pPr>
              <a:spcAft>
                <a:spcPts val="1100"/>
              </a:spcAft>
              <a:defRPr sz="1900">
                <a:solidFill>
                  <a:srgbClr val="F2F5F8"/>
                </a:solidFill>
              </a:defRPr>
            </a:pPr>
            <a:r>
              <a:t>• The assembler encodes instructions and relocation records.</a:t>
            </a:r>
          </a:p>
          <a:p>
            <a:pPr>
              <a:spcAft>
                <a:spcPts val="1100"/>
              </a:spcAft>
              <a:defRPr sz="1900">
                <a:solidFill>
                  <a:srgbClr val="F2F5F8"/>
                </a:solidFill>
              </a:defRPr>
            </a:pPr>
            <a:r>
              <a:t>• The linker assigns g a location in the executable image.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one write system call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Source code calls write(fd,p,n) .</a:t>
            </a:r>
          </a:p>
          <a:p>
            <a:pPr>
              <a:spcAft>
                <a:spcPts val="1100"/>
              </a:spcAft>
              <a:defRPr sz="1900">
                <a:solidFill>
                  <a:srgbClr val="F2F5F8"/>
                </a:solidFill>
              </a:defRPr>
            </a:pPr>
            <a:r>
              <a:t>• A library wrapper arranges arguments according to the ABI and executes the system-call entry instruction.</a:t>
            </a:r>
          </a:p>
          <a:p>
            <a:pPr>
              <a:spcAft>
                <a:spcPts val="1100"/>
              </a:spcAft>
              <a:defRPr sz="1700">
                <a:solidFill>
                  <a:srgbClr val="F2F5F8"/>
                </a:solidFill>
              </a:defRPr>
            </a:pPr>
            <a:r>
              <a:t>• The CPU transfers to kernel mode, where the kernel validates the descriptor and user buffer, updates kernel/device state, and returns a byte count or error.</a:t>
            </a:r>
          </a:p>
          <a:p>
            <a:pPr>
              <a:spcAft>
                <a:spcPts val="1100"/>
              </a:spcAft>
              <a:defRPr sz="1900">
                <a:solidFill>
                  <a:srgbClr val="F2F5F8"/>
                </a:solidFill>
              </a:defRPr>
            </a:pPr>
            <a:r>
              <a:t>• User-mode code resumes with the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one write system call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Source code calls write(fd,p,n) .</a:t>
            </a:r>
          </a:p>
          <a:p>
            <a:pPr>
              <a:spcAft>
                <a:spcPts val="1100"/>
              </a:spcAft>
              <a:defRPr sz="1900">
                <a:solidFill>
                  <a:srgbClr val="F2F5F8"/>
                </a:solidFill>
              </a:defRPr>
            </a:pPr>
            <a:r>
              <a:t>• A library wrapper arranges arguments according to the ABI and executes the system-call entry instruction.</a:t>
            </a:r>
          </a:p>
          <a:p>
            <a:pPr>
              <a:spcAft>
                <a:spcPts val="1100"/>
              </a:spcAft>
              <a:defRPr sz="1700">
                <a:solidFill>
                  <a:srgbClr val="F2F5F8"/>
                </a:solidFill>
              </a:defRPr>
            </a:pPr>
            <a:r>
              <a:t>• The CPU transfers to kernel mode, where the kernel validates the descriptor and user buffer, updates kernel/device state, and returns a byte count or error.</a:t>
            </a:r>
          </a:p>
          <a:p>
            <a:pPr>
              <a:spcAft>
                <a:spcPts val="1100"/>
              </a:spcAft>
              <a:defRPr sz="1900">
                <a:solidFill>
                  <a:srgbClr val="F2F5F8"/>
                </a:solidFill>
              </a:defRPr>
            </a:pPr>
            <a:r>
              <a:t>• User-mode code resumes with the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60.</a:t>
            </a:r>
          </a:p>
          <a:p>
            <a:pPr>
              <a:spcAft>
                <a:spcPts val="1100"/>
              </a:spcAft>
              <a:defRPr sz="1900">
                <a:solidFill>
                  <a:srgbClr val="F2F5F8"/>
                </a:solidFill>
              </a:defRPr>
            </a:pPr>
            <a:r>
              <a:t>• Build the two source files separately, omit checksum.o once to observe the controlled link failure, then restore it.</a:t>
            </a:r>
          </a:p>
          <a:p>
            <a:pPr>
              <a:spcAft>
                <a:spcPts val="1100"/>
              </a:spcAft>
              <a:defRPr sz="1900">
                <a:solidFill>
                  <a:srgbClr val="F2F5F8"/>
                </a:solidFill>
              </a:defRPr>
            </a:pPr>
            <a:r>
              <a:t>• Compare the sequential utility’s output for empty, text, binary, and multi-buffer input.</a:t>
            </a:r>
          </a:p>
          <a:p>
            <a:pPr>
              <a:spcAft>
                <a:spcPts val="1100"/>
              </a:spcAft>
              <a:defRPr sz="1900">
                <a:solidFill>
                  <a:srgbClr val="F2F5F8"/>
                </a:solidFill>
              </a:defRPr>
            </a:pPr>
            <a:r>
              <a:t>• Inspect loadable segments without assuming their virtual addresses are fixed across runs.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main not necessarily the first executed code?</a:t>
            </a:r>
          </a:p>
          <a:p>
            <a:pPr>
              <a:spcAft>
                <a:spcPts val="1100"/>
              </a:spcAft>
              <a:defRPr sz="1900">
                <a:solidFill>
                  <a:srgbClr val="F2F5F8"/>
                </a:solidFill>
              </a:defRPr>
            </a:pPr>
            <a:r>
              <a:t>• Review 2.</a:t>
            </a:r>
          </a:p>
          <a:p>
            <a:pPr>
              <a:spcAft>
                <a:spcPts val="1100"/>
              </a:spcAft>
              <a:defRPr sz="1900">
                <a:solidFill>
                  <a:srgbClr val="F2F5F8"/>
                </a:solidFill>
              </a:defRPr>
            </a:pPr>
            <a:r>
              <a:t>• Which value determines how many buffer bytes the checksum may read after one system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from source code to running program.</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Putting the System Together.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60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