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52 — Concurrent Servers</a:t>
            </a:r>
          </a:p>
          <a:p/>
          <a:p>
            <a:r>
              <a:t>LECTURE NARRATION</a:t>
            </a:r>
          </a:p>
          <a:p>
            <a:r>
              <a:t>A concurrent server handles overlapping client lifecycles while sharing finite resources. The architecture must balance simplicity, throughput, latency, isolation, and failure containment. The most important scaling question is not “How many threads can I create?” but “What resources does one admitted connection consume, and what happens when the budget is exhausted?”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concurrent server handles overlapping client lifecycles while sharing finite resources.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concurrent server handles overlapping client lifecycles while sharing finite resources. The architecture must balance simplicity, throughput, latency, isolation, and failure containment. The most important scaling question is not “How many threads can I create?” but “What resources does one admitted connection consume, and what happens when the budget is exhausted?”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concurrent server handles overlapping client lifecycles while sharing finite resources.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52.1 Thread-per-connection 52.2 Connection state 52.3 Shared resources 52.4 Synchronization ...plus 5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52.1 Thread-per-connection 52.2 Connection state 52.3 Shared resources 52.4 Synchronization ...plus 5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52.1 Thread-per-connection</a:t>
            </a:r>
          </a:p>
          <a:p/>
          <a:p>
            <a:r>
              <a:t>LECTURE NARRATION</a:t>
            </a:r>
          </a:p>
          <a:p>
            <a:r>
              <a:t>A thread-per-connection design assigns a worker to each accepted client. Blocking I/O becomes straightforward because one slow connection blocks its own worker rather than the entire server loop. The control flow resembles a sequential protocol handler. The cost grows with active connections: thread stacks, scheduler state, per-connection buffers, and synchronization overhead accumulate. An unbounded thread-per-connection loop can exhaust resources before useful work completes. Bound admission and ensure every thread is joined or otherwise owned through shutdown.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52.1 Thread-per-connection — Deep Dive</a:t>
            </a:r>
          </a:p>
          <a:p/>
          <a:p>
            <a:r>
              <a:t>LECTURE NARRATION</a:t>
            </a:r>
          </a:p>
          <a:p>
            <a:r>
              <a:t>A thread-per-connection design assigns a worker to each accepted client. Blocking I/O becomes straightforward because one slow connection blocks its own worker rather than the entire server loop. The control flow resembles a sequential protocol handler. The cost grows with active connections: thread stacks, scheduler state, per-connection buffers, and synchronization overhead accumulate. An unbounded thread-per-connection loop can exhaust resources before useful work completes. Bound admission and ensure every thread is joined or otherwise owned through shutdown.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52.2 Connection state</a:t>
            </a:r>
          </a:p>
          <a:p/>
          <a:p>
            <a:r>
              <a:t>LECTURE NARRATION</a:t>
            </a:r>
          </a:p>
          <a:p>
            <a:r>
              <a:t>Connection state includes protocol progress, input and output buffers, authentication or session information, deadlines, and lifecycle status. A connection may be reading a prefix, reading a body, computing a response, writing a partial response, or closing. Make state transitions explicit. “Socket exists” is not enough to determine which operation is valid next. A half-closed connection can still have data to drain or a response to send, depending on the protocol. Cleanup should occur only when no worker or event handler can still reference the connection object.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connection state includes protocol progress, input and output buffers, authentication or session information, deadlines, and lifecycle status.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52.2 Connection state — Deep Dive</a:t>
            </a:r>
          </a:p>
          <a:p/>
          <a:p>
            <a:r>
              <a:t>LECTURE NARRATION</a:t>
            </a:r>
          </a:p>
          <a:p>
            <a:r>
              <a:t>Connection state includes protocol progress, input and output buffers, authentication or session information, deadlines, and lifecycle status. A connection may be reading a prefix, reading a body, computing a response, writing a partial response, or closing. Make state transitions explicit. “Socket exists” is not enough to determine which operation is valid next. A half-closed connection can still have data to drain or a response to send, depending on the protocol. Cleanup should occur only when no worker or event handler can still reference the connection object.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connection state includes protocol progress, input and output buffers, authentication or session information, deadlines, and lifecycle status.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52.3 Shared resources</a:t>
            </a:r>
          </a:p>
          <a:p/>
          <a:p>
            <a:r>
              <a:t>LECTURE NARRATION</a:t>
            </a:r>
          </a:p>
          <a:p>
            <a:r>
              <a:t>Connections compete for descriptors, memory, CPU, downstream services, caches, and application data. Per-connection limits do not replace global limits. A thousand individually acceptable requests can collectively overwhelm a shared database or work queue. Define budgets at each stage. An accepted socket may count against a connection limit, a parsed request against a queued-work limit, and an executing task against a worker limit. Transfer the corresponding ownership credits when work moves between stages, and release them on every failure path.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connections compete for descriptors, memory, CPU, downstream services, caches, and application data.</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52.3 Shared resources — Deep Dive</a:t>
            </a:r>
          </a:p>
          <a:p/>
          <a:p>
            <a:r>
              <a:t>LECTURE NARRATION</a:t>
            </a:r>
          </a:p>
          <a:p>
            <a:r>
              <a:t>Connections compete for descriptors, memory, CPU, downstream services, caches, and application data. Per-connection limits do not replace global limits. A thousand individually acceptable requests can collectively overwhelm a shared database or work queue. Define budgets at each stage. An accepted socket may count against a connection limit, a parsed request against a queued-work limit, and an executing task against a worker limit. Transfer the corresponding ownership credits when work moves between stages, and release them on every failure path.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connections compete for descriptors, memory, CPU, downstream services, caches, and application data.</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52.4 Synchronization</a:t>
            </a:r>
          </a:p>
          <a:p/>
          <a:p>
            <a:r>
              <a:t>LECTURE NARRATION</a:t>
            </a:r>
          </a:p>
          <a:p>
            <a:r>
              <a:t>Shared application state requires the same synchronization rules developed in Parts X and XI. A server should avoid holding global locks while waiting for a client or downstream service. Slow external activity inside a critical section can stall otherwise independent clients. Use snapshots, immutable request objects, and bounded queues to separate I/O from protected updates. A worker pool limits simultaneously executing handlers, but an unbounded queue in front of it can still consume unlimited memory and produce extreme waiting times.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shared application state requires the same synchronization rules developed in Parts X and XI.</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52.4 Synchronization — Deep Dive</a:t>
            </a:r>
          </a:p>
          <a:p/>
          <a:p>
            <a:r>
              <a:t>LECTURE NARRATION</a:t>
            </a:r>
          </a:p>
          <a:p>
            <a:r>
              <a:t>Shared application state requires the same synchronization rules developed in Parts X and XI. A server should avoid holding global locks while waiting for a client or downstream service. Slow external activity inside a critical section can stall otherwise independent clients. Use snapshots, immutable request objects, and bounded queues to separate I/O from protected updates. A worker pool limits simultaneously executing handlers, but an unbounded queue in front of it can still consume unlimited memory and produce extreme waiting times.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shared application state requires the same synchronization rules developed in Parts X and XI.</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52.5 Resource exhaustion</a:t>
            </a:r>
          </a:p>
          <a:p/>
          <a:p>
            <a:r>
              <a:t>LECTURE NARRATION</a:t>
            </a:r>
          </a:p>
          <a:p>
            <a:r>
              <a:t>Exhaustion occurs when demand exceeds a resource limit. Symptoms include failed thread creation, descriptor exhaustion, allocation failure, long queues, and timeout cascades. Rejecting or deferring work deliberately is often safer than accepting everything and failing unpredictably later. A robust policy specifies admission limits, maximum frame sizes, idle and whole-request deadlines, output-buffer limits, and shutdown behavior. Per-operation socket timeouts alone do not defeat a client that makes tiny amounts of progress just before each timeout; a whole-request deadline bounds the complete transaction.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exhaustion occurs when demand exceeds a resource limit.</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52.5 Resource exhaustion — Deep Dive</a:t>
            </a:r>
          </a:p>
          <a:p/>
          <a:p>
            <a:r>
              <a:t>LECTURE NARRATION</a:t>
            </a:r>
          </a:p>
          <a:p>
            <a:r>
              <a:t>Exhaustion occurs when demand exceeds a resource limit. Symptoms include failed thread creation, descriptor exhaustion, allocation failure, long queues, and timeout cascades. Rejecting or deferring work deliberately is often safer than accepting everything and failing unpredictably later. A robust policy specifies admission limits, maximum frame sizes, idle and whole-request deadlines, output-buffer limits, and shutdown behavior. Per-operation socket timeouts alone do not defeat a client that makes tiny amounts of progress just before each timeout; a whole-request deadline bounds the complete transaction.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exhaustion occurs when demand exceeds a resource limit.</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Worked example — Derive an admission budget</a:t>
            </a:r>
          </a:p>
          <a:p/>
          <a:p>
            <a:r>
              <a:t>LECTURE NARRATION</a:t>
            </a:r>
          </a:p>
          <a:p>
            <a:r>
              <a:t>Assume a hypothetical service budget , not a measurement of the host system: The descriptor bound is 1024 - 64 = 960 clients when each client uses one descriptor. The modeled per-client memory is 72 KiB. The remaining memory is 96 MiB, which permits floor(96 × 1024 / 72) = 1365 clients under those assumptions. The combined arithmetic ceiling is therefore 960. Choosing an operational cap of 256 leaves headroom. Its modeled client memory is 256 × 72 KiB = 18 MiB ; adding the 32-MiB base gives 50 MiB. This does not include every possible kernel buffer or thread reservation. The assumptions must be replaced with measurements and explicit accounting before using the number as a deployment limit. Companion listing: ch52/budget.py The output is ceiling=960 cap=256 modeled_MiB=50 . The code verifies the budget calculation, not a claim that 960 live threads or clients are safe on the current machine. Real thread stack reservation and committed use are distinct quantities, and downstream capacity may impose a much lower cap.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assume a hypothetical service budget , not a measurement of the host system: The descriptor bound is 1024 - 64 = 960 clients when each client uses one descriptor.</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Worked example — Derive an admission budget — Deep Dive</a:t>
            </a:r>
          </a:p>
          <a:p/>
          <a:p>
            <a:r>
              <a:t>LECTURE NARRATION</a:t>
            </a:r>
          </a:p>
          <a:p>
            <a:r>
              <a:t>Assume a hypothetical service budget , not a measurement of the host system: The descriptor bound is 1024 - 64 = 960 clients when each client uses one descriptor. The modeled per-client memory is 72 KiB. The remaining memory is 96 MiB, which permits floor(96 × 1024 / 72) = 1365 clients under those assumptions. The combined arithmetic ceiling is therefore 960. Choosing an operational cap of 256 leaves headroom. Its modeled client memory is 256 × 72 KiB = 18 MiB ; adding the 32-MiB base gives 50 MiB. This does not include every possible kernel buffer or thread reservation. The assumptions must be replaced with measurements and explicit accounting before using the number as a deployment limit. Companion listing: ch52/budget.py The output is ceiling=960 cap=256 modeled_MiB=50 . The code verifies the budget calculation, not a claim that 960 live threads or clients are safe on the current machine. Real thread stack reservation and committed use are distinct quantities, and downstream capacity may impose a much lower cap.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assume a hypothetical service budget , not a measurement of the host system: The descriptor bound is 1024 - 64 = 960 clients when each client uses one descriptor.</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Worked example — Thread-per-connection budget</a:t>
            </a:r>
          </a:p>
          <a:p/>
          <a:p>
            <a:r>
              <a:t>LECTURE NARRATION</a:t>
            </a:r>
          </a:p>
          <a:p>
            <a:r>
              <a:t>If each connection thread reserves an 8 MiB stack, 1,000 concurrent connections can imply roughly 8 GiB of virtual stack reservation before application buffers and kernel state. Even when pages are demand allocated, this architecture has scaling costs. Admission limits and smaller controlled stacks can matter as much as CPU throughput.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Worked example — Thread-per-connection budget — Deep Dive</a:t>
            </a:r>
          </a:p>
          <a:p/>
          <a:p>
            <a:r>
              <a:t>LECTURE NARRATION</a:t>
            </a:r>
          </a:p>
          <a:p>
            <a:r>
              <a:t>If each connection thread reserves an 8 MiB stack, 1,000 concurrent connections can imply roughly 8 GiB of virtual stack reservation before application buffers and kernel state. Even when pages are demand allocated, this architecture has scaling costs. Admission limits and smaller controlled stacks can matter as much as CPU throughput.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Imagine several people editing the same whiteboard. If they do not coordinate, the final answer can depend on who writes at exactly the wrong moment.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Shared cache synchronization</a:t>
            </a:r>
          </a:p>
          <a:p/>
          <a:p>
            <a:r>
              <a:t>LECTURE NARRATION</a:t>
            </a:r>
          </a:p>
          <a:p>
            <a:r>
              <a:t>A concurrent server may let every connection consult a shared in-memory cache. Reads and updates need a synchronization strategy: a mutex, reader-writer scheme, sharding, or another concurrency-safe design. Per-connection threading does not make shared application state private.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Shared cache synchronization — Deep Dive</a:t>
            </a:r>
          </a:p>
          <a:p/>
          <a:p>
            <a:r>
              <a:t>LECTURE NARRATION</a:t>
            </a:r>
          </a:p>
          <a:p>
            <a:r>
              <a:t>A concurrent server may let every connection consult a shared in-memory cache. Reads and updates need a synchronization strategy: a mutex, reader-writer scheme, sharding, or another concurrency-safe design. Per-connection threading does not make shared application state private.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A cache is like keeping the things you use most often on your desk instead of walking to a storage room every time.</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Guided lab and review</a:t>
            </a:r>
          </a:p>
          <a:p/>
          <a:p>
            <a:r>
              <a:t>LECTURE NARRATION</a:t>
            </a:r>
          </a:p>
          <a:p>
            <a:r>
              <a:t>Lab 52. Add a downstream service limit of 32 simultaneous requests and a pending-work queue of 128 items. Explain why the connection cap, executing-work cap, and queued-work cap should remain separate. Specify what response or closure policy applies when each limit is reached. Review 1. Why can a bounded worker pool still run out of memory? Review 2. Why is a whole-request deadline stronger than repeatedly renewed per-read timeouts?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52.</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Guided lab and review — Deep Dive</a:t>
            </a:r>
          </a:p>
          <a:p/>
          <a:p>
            <a:r>
              <a:t>LECTURE NARRATION</a:t>
            </a:r>
          </a:p>
          <a:p>
            <a:r>
              <a:t>Lab 52. Add a downstream service limit of 32 simultaneous requests and a pending-work queue of 128 items. Explain why the connection cap, executing-work cap, and queued-work cap should remain separate. Specify what response or closure policy applies when each limit is reached. Review 1. Why can a bounded worker pool still run out of memory? Review 2. Why is a whole-request deadline stronger than repeatedly renewed per-read timeouts?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52.</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Chapter Synthesis</a:t>
            </a:r>
          </a:p>
          <a:p/>
          <a:p>
            <a:r>
              <a:t>LECTURE NARRATION</a:t>
            </a:r>
          </a:p>
          <a:p>
            <a:r>
              <a:t>The chapter's central subject is concurrent servers.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concurrent servers.</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Event-Driven I/O.</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52 — Concurrent Servers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concurrent server handles overlapping client lifecycles while sharing finite resources.</a:t>
            </a:r>
          </a:p>
          <a:p>
            <a:pPr>
              <a:spcAft>
                <a:spcPts val="1100"/>
              </a:spcAft>
              <a:defRPr sz="1900">
                <a:solidFill>
                  <a:srgbClr val="F2F5F8"/>
                </a:solidFill>
              </a:defRPr>
            </a:pPr>
            <a:r>
              <a:t>• The architecture must balance simplicity, throughput, latency, isolation, and failure containment.</a:t>
            </a:r>
          </a:p>
          <a:p>
            <a:pPr>
              <a:spcAft>
                <a:spcPts val="1100"/>
              </a:spcAft>
              <a:defRPr sz="1700">
                <a:solidFill>
                  <a:srgbClr val="F2F5F8"/>
                </a:solidFill>
              </a:defRPr>
            </a:pPr>
            <a:r>
              <a:t>• The most important scaling question is not “How many threads can I create?” but “What resources does one admitted connection consume, and what happens when the budget is...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Concurrent Servers.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52.1 Thread-per-connection</a:t>
            </a:r>
          </a:p>
          <a:p>
            <a:pPr>
              <a:spcAft>
                <a:spcPts val="1100"/>
              </a:spcAft>
              <a:defRPr sz="1900">
                <a:solidFill>
                  <a:srgbClr val="F2F5F8"/>
                </a:solidFill>
              </a:defRPr>
            </a:pPr>
            <a:r>
              <a:t>• 52.2 Connection state</a:t>
            </a:r>
          </a:p>
          <a:p>
            <a:pPr>
              <a:spcAft>
                <a:spcPts val="1100"/>
              </a:spcAft>
              <a:defRPr sz="1900">
                <a:solidFill>
                  <a:srgbClr val="F2F5F8"/>
                </a:solidFill>
              </a:defRPr>
            </a:pPr>
            <a:r>
              <a:t>• 52.3 Shared resources</a:t>
            </a:r>
          </a:p>
          <a:p>
            <a:pPr>
              <a:spcAft>
                <a:spcPts val="1100"/>
              </a:spcAft>
              <a:defRPr sz="1900">
                <a:solidFill>
                  <a:srgbClr val="F2F5F8"/>
                </a:solidFill>
              </a:defRPr>
            </a:pPr>
            <a:r>
              <a:t>• 52.4 Synchronization</a:t>
            </a:r>
          </a:p>
          <a:p>
            <a:pPr>
              <a:spcAft>
                <a:spcPts val="1100"/>
              </a:spcAft>
              <a:defRPr sz="1900">
                <a:solidFill>
                  <a:srgbClr val="F2F5F8"/>
                </a:solidFill>
              </a:defRPr>
            </a:pPr>
            <a:r>
              <a:t>• ...plus 5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52.1 Thread-per-connection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thread-per-connection design assigns a worker to each accepted client.</a:t>
            </a:r>
          </a:p>
          <a:p>
            <a:pPr>
              <a:spcAft>
                <a:spcPts val="1100"/>
              </a:spcAft>
              <a:defRPr sz="1700">
                <a:solidFill>
                  <a:srgbClr val="F2F5F8"/>
                </a:solidFill>
              </a:defRPr>
            </a:pPr>
            <a:r>
              <a:t>• Blocking I/O becomes straightforward because one slow connection blocks its own worker rather than the entire server loop.</a:t>
            </a:r>
          </a:p>
          <a:p>
            <a:pPr>
              <a:spcAft>
                <a:spcPts val="1100"/>
              </a:spcAft>
              <a:defRPr sz="1900">
                <a:solidFill>
                  <a:srgbClr val="F2F5F8"/>
                </a:solidFill>
              </a:defRPr>
            </a:pPr>
            <a:r>
              <a:t>• The control flow resembles a sequential protocol handler.</a:t>
            </a:r>
          </a:p>
          <a:p>
            <a:pPr>
              <a:spcAft>
                <a:spcPts val="1100"/>
              </a:spcAft>
              <a:defRPr sz="1700">
                <a:solidFill>
                  <a:srgbClr val="F2F5F8"/>
                </a:solidFill>
              </a:defRPr>
            </a:pPr>
            <a:r>
              <a:t>• The cost grows with active connections: thread stacks, scheduler state, per-connection buffers, and synchronization overhead accumulate.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52.1 Thread-per-connection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cost grows with active connections: thread stacks, scheduler state, per-connection buffers, and synchronization overhead accumulate.</a:t>
            </a:r>
          </a:p>
          <a:p>
            <a:pPr>
              <a:spcAft>
                <a:spcPts val="1100"/>
              </a:spcAft>
              <a:defRPr sz="1900">
                <a:solidFill>
                  <a:srgbClr val="F2F5F8"/>
                </a:solidFill>
              </a:defRPr>
            </a:pPr>
            <a:r>
              <a:t>• An unbounded thread-per-connection loop can exhaust resources before useful work completes.</a:t>
            </a:r>
          </a:p>
          <a:p>
            <a:pPr>
              <a:spcAft>
                <a:spcPts val="1100"/>
              </a:spcAft>
              <a:defRPr sz="1900">
                <a:solidFill>
                  <a:srgbClr val="F2F5F8"/>
                </a:solidFill>
              </a:defRPr>
            </a:pPr>
            <a:r>
              <a:t>• Bound admission and ensure every thread is joined or otherwise owned through shutdown.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52.2 Connection state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Connection state includes protocol progress, input and output buffers, authentication or session information, deadlines, and lifecycle status.</a:t>
            </a:r>
          </a:p>
          <a:p>
            <a:pPr>
              <a:spcAft>
                <a:spcPts val="1100"/>
              </a:spcAft>
              <a:defRPr sz="1900">
                <a:solidFill>
                  <a:srgbClr val="F2F5F8"/>
                </a:solidFill>
              </a:defRPr>
            </a:pPr>
            <a:r>
              <a:t>• A connection may be reading a prefix, reading a body, computing a response, writing a partial response, or closing.</a:t>
            </a:r>
          </a:p>
          <a:p>
            <a:pPr>
              <a:spcAft>
                <a:spcPts val="1100"/>
              </a:spcAft>
              <a:defRPr sz="1900">
                <a:solidFill>
                  <a:srgbClr val="F2F5F8"/>
                </a:solidFill>
              </a:defRPr>
            </a:pPr>
            <a:r>
              <a:t>• Make state transitions explicit. “Socket exists” is not enough to determine which operation is valid next.</a:t>
            </a:r>
          </a:p>
          <a:p>
            <a:pPr>
              <a:spcAft>
                <a:spcPts val="1100"/>
              </a:spcAft>
              <a:defRPr sz="1900">
                <a:solidFill>
                  <a:srgbClr val="F2F5F8"/>
                </a:solidFill>
              </a:defRPr>
            </a:pPr>
            <a:r>
              <a:t>• A half-closed connection can still have data to drain or a response to send, depending on the protocol.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52.2 Connection state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Make state transitions explicit. “Socket exists” is not enough to determine which operation is valid next.</a:t>
            </a:r>
          </a:p>
          <a:p>
            <a:pPr>
              <a:spcAft>
                <a:spcPts val="1100"/>
              </a:spcAft>
              <a:defRPr sz="1900">
                <a:solidFill>
                  <a:srgbClr val="F2F5F8"/>
                </a:solidFill>
              </a:defRPr>
            </a:pPr>
            <a:r>
              <a:t>• A half-closed connection can still have data to drain or a response to send, depending on the protocol.</a:t>
            </a:r>
          </a:p>
          <a:p>
            <a:pPr>
              <a:spcAft>
                <a:spcPts val="1100"/>
              </a:spcAft>
              <a:defRPr sz="1900">
                <a:solidFill>
                  <a:srgbClr val="F2F5F8"/>
                </a:solidFill>
              </a:defRPr>
            </a:pPr>
            <a:r>
              <a:t>• Cleanup should occur only when no worker or event handler can still reference the connection object.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52.3 Shared resources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Connections compete for descriptors, memory, CPU, downstream services, caches, and application data.</a:t>
            </a:r>
          </a:p>
          <a:p>
            <a:pPr>
              <a:spcAft>
                <a:spcPts val="1100"/>
              </a:spcAft>
              <a:defRPr sz="1900">
                <a:solidFill>
                  <a:srgbClr val="F2F5F8"/>
                </a:solidFill>
              </a:defRPr>
            </a:pPr>
            <a:r>
              <a:t>• Per-connection limits do not replace global limits.</a:t>
            </a:r>
          </a:p>
          <a:p>
            <a:pPr>
              <a:spcAft>
                <a:spcPts val="1100"/>
              </a:spcAft>
              <a:defRPr sz="1900">
                <a:solidFill>
                  <a:srgbClr val="F2F5F8"/>
                </a:solidFill>
              </a:defRPr>
            </a:pPr>
            <a:r>
              <a:t>• A thousand individually acceptable requests can collectively overwhelm a shared database or work queue.</a:t>
            </a:r>
          </a:p>
          <a:p>
            <a:pPr>
              <a:spcAft>
                <a:spcPts val="1100"/>
              </a:spcAft>
              <a:defRPr sz="1900">
                <a:solidFill>
                  <a:srgbClr val="F2F5F8"/>
                </a:solidFill>
              </a:defRPr>
            </a:pPr>
            <a:r>
              <a:t>• Define budgets at each stage.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52.3 Shared resources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Define budgets at each stage.</a:t>
            </a:r>
          </a:p>
          <a:p>
            <a:pPr>
              <a:spcAft>
                <a:spcPts val="1100"/>
              </a:spcAft>
              <a:defRPr sz="1700">
                <a:solidFill>
                  <a:srgbClr val="F2F5F8"/>
                </a:solidFill>
              </a:defRPr>
            </a:pPr>
            <a:r>
              <a:t>• An accepted socket may count against a connection limit, a parsed request against a queued-work limit, and an executing task against a worker limit.</a:t>
            </a:r>
          </a:p>
          <a:p>
            <a:pPr>
              <a:spcAft>
                <a:spcPts val="1100"/>
              </a:spcAft>
              <a:defRPr sz="1900">
                <a:solidFill>
                  <a:srgbClr val="F2F5F8"/>
                </a:solidFill>
              </a:defRPr>
            </a:pPr>
            <a:r>
              <a:t>• Transfer the corresponding ownership credits when work moves between stages, and release them on every failure path.</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52.4 Synchronization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Shared application state requires the same synchronization rules developed in Parts X and XI.</a:t>
            </a:r>
          </a:p>
          <a:p>
            <a:pPr>
              <a:spcAft>
                <a:spcPts val="1100"/>
              </a:spcAft>
              <a:defRPr sz="1900">
                <a:solidFill>
                  <a:srgbClr val="F2F5F8"/>
                </a:solidFill>
              </a:defRPr>
            </a:pPr>
            <a:r>
              <a:t>• A server should avoid holding global locks while waiting for a client or downstream service.</a:t>
            </a:r>
          </a:p>
          <a:p>
            <a:pPr>
              <a:spcAft>
                <a:spcPts val="1100"/>
              </a:spcAft>
              <a:defRPr sz="1900">
                <a:solidFill>
                  <a:srgbClr val="F2F5F8"/>
                </a:solidFill>
              </a:defRPr>
            </a:pPr>
            <a:r>
              <a:t>• Slow external activity inside a critical section can stall otherwise independent clients.</a:t>
            </a:r>
          </a:p>
          <a:p>
            <a:pPr>
              <a:spcAft>
                <a:spcPts val="1100"/>
              </a:spcAft>
              <a:defRPr sz="1900">
                <a:solidFill>
                  <a:srgbClr val="F2F5F8"/>
                </a:solidFill>
              </a:defRPr>
            </a:pPr>
            <a:r>
              <a:t>• Use snapshots, immutable request objects, and bounded queues to separate I/O from protected updates.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52.4 Synchronization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Use snapshots, immutable request objects, and bounded queues to separate I/O from protected updates.</a:t>
            </a:r>
          </a:p>
          <a:p>
            <a:pPr>
              <a:spcAft>
                <a:spcPts val="1100"/>
              </a:spcAft>
              <a:defRPr sz="1700">
                <a:solidFill>
                  <a:srgbClr val="F2F5F8"/>
                </a:solidFill>
              </a:defRPr>
            </a:pPr>
            <a:r>
              <a:t>• A worker pool limits simultaneously executing handlers, but an unbounded queue in front of it can still consume unlimited memory and produce extreme waiting times.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52.5 Resource exhaustion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Exhaustion occurs when demand exceeds a resource limit.</a:t>
            </a:r>
          </a:p>
          <a:p>
            <a:pPr>
              <a:spcAft>
                <a:spcPts val="1100"/>
              </a:spcAft>
              <a:defRPr sz="1900">
                <a:solidFill>
                  <a:srgbClr val="F2F5F8"/>
                </a:solidFill>
              </a:defRPr>
            </a:pPr>
            <a:r>
              <a:t>• Symptoms include failed thread creation, descriptor exhaustion, allocation failure, long queues, and timeout cascades.</a:t>
            </a:r>
          </a:p>
          <a:p>
            <a:pPr>
              <a:spcAft>
                <a:spcPts val="1100"/>
              </a:spcAft>
              <a:defRPr sz="1900">
                <a:solidFill>
                  <a:srgbClr val="F2F5F8"/>
                </a:solidFill>
              </a:defRPr>
            </a:pPr>
            <a:r>
              <a:t>• Rejecting or deferring work deliberately is often safer than accepting everything and failing unpredictably later.</a:t>
            </a:r>
          </a:p>
          <a:p>
            <a:pPr>
              <a:spcAft>
                <a:spcPts val="1100"/>
              </a:spcAft>
              <a:defRPr sz="1700">
                <a:solidFill>
                  <a:srgbClr val="F2F5F8"/>
                </a:solidFill>
              </a:defRPr>
            </a:pPr>
            <a:r>
              <a:t>• A robust policy specifies admission limits, maximum frame sizes, idle and whole-request deadlines, output-buffer limits, and shutdown behavior.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52.5 Resource exhaustion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robust policy specifies admission limits, maximum frame sizes, idle and whole-request deadlines, output-buffer limits, and shutdown behavior.</a:t>
            </a:r>
          </a:p>
          <a:p>
            <a:pPr>
              <a:spcAft>
                <a:spcPts val="1100"/>
              </a:spcAft>
              <a:defRPr sz="1700">
                <a:solidFill>
                  <a:srgbClr val="F2F5F8"/>
                </a:solidFill>
              </a:defRPr>
            </a:pPr>
            <a:r>
              <a:t>• Per-operation socket timeouts alone do not defeat a client that makes tiny amounts of progress just before each timeout; a whole-request deadline bounds the complete...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Derive an admission budget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Assume a hypothetical service budget , not a measurement of the host system:</a:t>
            </a:r>
          </a:p>
          <a:p>
            <a:pPr>
              <a:spcAft>
                <a:spcPts val="1100"/>
              </a:spcAft>
              <a:defRPr sz="1900">
                <a:solidFill>
                  <a:srgbClr val="F2F5F8"/>
                </a:solidFill>
              </a:defRPr>
            </a:pPr>
            <a:r>
              <a:t>• The descriptor bound is 1024 - 64 = 960 clients when each client uses one descriptor.</a:t>
            </a:r>
          </a:p>
          <a:p>
            <a:pPr>
              <a:spcAft>
                <a:spcPts val="1100"/>
              </a:spcAft>
              <a:defRPr sz="1900">
                <a:solidFill>
                  <a:srgbClr val="F2F5F8"/>
                </a:solidFill>
              </a:defRPr>
            </a:pPr>
            <a:r>
              <a:t>• The modeled per-client memory is 72 KiB.</a:t>
            </a:r>
          </a:p>
          <a:p>
            <a:pPr>
              <a:spcAft>
                <a:spcPts val="1100"/>
              </a:spcAft>
              <a:defRPr sz="1900">
                <a:solidFill>
                  <a:srgbClr val="F2F5F8"/>
                </a:solidFill>
              </a:defRPr>
            </a:pPr>
            <a:r>
              <a:t>• The remaining memory is 96 MiB, which permits floor(96 × 1024 / 72) = 1365 clients under those assumptions.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Derive an admission budget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descriptor bound is 1024 - 64 = 960 clients when each client uses one descriptor.</a:t>
            </a:r>
          </a:p>
          <a:p>
            <a:pPr>
              <a:spcAft>
                <a:spcPts val="1100"/>
              </a:spcAft>
              <a:defRPr sz="1900">
                <a:solidFill>
                  <a:srgbClr val="F2F5F8"/>
                </a:solidFill>
              </a:defRPr>
            </a:pPr>
            <a:r>
              <a:t>• The modeled per-client memory is 72 KiB.</a:t>
            </a:r>
          </a:p>
          <a:p>
            <a:pPr>
              <a:spcAft>
                <a:spcPts val="1100"/>
              </a:spcAft>
              <a:defRPr sz="1900">
                <a:solidFill>
                  <a:srgbClr val="F2F5F8"/>
                </a:solidFill>
              </a:defRPr>
            </a:pPr>
            <a:r>
              <a:t>• The remaining memory is 96 MiB, which permits floor(96 × 1024 / 72) = 1365 clients under those assumptions.</a:t>
            </a:r>
          </a:p>
          <a:p>
            <a:pPr>
              <a:spcAft>
                <a:spcPts val="1100"/>
              </a:spcAft>
              <a:defRPr sz="1900">
                <a:solidFill>
                  <a:srgbClr val="F2F5F8"/>
                </a:solidFill>
              </a:defRPr>
            </a:pPr>
            <a:r>
              <a:t>• The combined arithmetic ceiling is therefore 960.</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Thread-per-connection budget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each connection thread reserves an 8 MiB stack, 1,000 concurrent connections can imply roughly 8 GiB of virtual stack reservation before application buffers and kernel state.</a:t>
            </a:r>
          </a:p>
          <a:p>
            <a:pPr>
              <a:spcAft>
                <a:spcPts val="1100"/>
              </a:spcAft>
              <a:defRPr sz="1900">
                <a:solidFill>
                  <a:srgbClr val="F2F5F8"/>
                </a:solidFill>
              </a:defRPr>
            </a:pPr>
            <a:r>
              <a:t>• Even when pages are demand allocated, this architecture has scaling costs.</a:t>
            </a:r>
          </a:p>
          <a:p>
            <a:pPr>
              <a:spcAft>
                <a:spcPts val="1100"/>
              </a:spcAft>
              <a:defRPr sz="1900">
                <a:solidFill>
                  <a:srgbClr val="F2F5F8"/>
                </a:solidFill>
              </a:defRPr>
            </a:pPr>
            <a:r>
              <a:t>• Admission limits and smaller controlled stacks can matter as much as CPU throughput.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Thread-per-connection budget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each connection thread reserves an 8 MiB stack, 1,000 concurrent connections can imply roughly 8 GiB of virtual stack reservation before application buffers and kernel...</a:t>
            </a:r>
          </a:p>
          <a:p>
            <a:pPr>
              <a:spcAft>
                <a:spcPts val="1100"/>
              </a:spcAft>
              <a:defRPr sz="1900">
                <a:solidFill>
                  <a:srgbClr val="F2F5F8"/>
                </a:solidFill>
              </a:defRPr>
            </a:pPr>
            <a:r>
              <a:t>• Even when pages are demand allocated, this architecture has scaling costs.</a:t>
            </a:r>
          </a:p>
          <a:p>
            <a:pPr>
              <a:spcAft>
                <a:spcPts val="1100"/>
              </a:spcAft>
              <a:defRPr sz="1900">
                <a:solidFill>
                  <a:srgbClr val="F2F5F8"/>
                </a:solidFill>
              </a:defRPr>
            </a:pPr>
            <a:r>
              <a:t>• Admission limits and smaller controlled stacks can matter as much as CPU throughput.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Shared cache synchronization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concurrent server may let every connection consult a shared in-memory cache.</a:t>
            </a:r>
          </a:p>
          <a:p>
            <a:pPr>
              <a:spcAft>
                <a:spcPts val="1100"/>
              </a:spcAft>
              <a:defRPr sz="1700">
                <a:solidFill>
                  <a:srgbClr val="F2F5F8"/>
                </a:solidFill>
              </a:defRPr>
            </a:pPr>
            <a:r>
              <a:t>• Reads and updates need a synchronization strategy: a mutex, reader-writer scheme, sharding, or another concurrency-safe design.</a:t>
            </a:r>
          </a:p>
          <a:p>
            <a:pPr>
              <a:spcAft>
                <a:spcPts val="1100"/>
              </a:spcAft>
              <a:defRPr sz="1900">
                <a:solidFill>
                  <a:srgbClr val="F2F5F8"/>
                </a:solidFill>
              </a:defRPr>
            </a:pPr>
            <a:r>
              <a:t>• Per-connection threading does not make shared application state private.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Shared cache synchronization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concurrent server may let every connection consult a shared in-memory cache.</a:t>
            </a:r>
          </a:p>
          <a:p>
            <a:pPr>
              <a:spcAft>
                <a:spcPts val="1100"/>
              </a:spcAft>
              <a:defRPr sz="1700">
                <a:solidFill>
                  <a:srgbClr val="F2F5F8"/>
                </a:solidFill>
              </a:defRPr>
            </a:pPr>
            <a:r>
              <a:t>• Reads and updates need a synchronization strategy: a mutex, reader-writer scheme, sharding, or another concurrency-safe design.</a:t>
            </a:r>
          </a:p>
          <a:p>
            <a:pPr>
              <a:spcAft>
                <a:spcPts val="1100"/>
              </a:spcAft>
              <a:defRPr sz="1900">
                <a:solidFill>
                  <a:srgbClr val="F2F5F8"/>
                </a:solidFill>
              </a:defRPr>
            </a:pPr>
            <a:r>
              <a:t>• Per-connection threading does not make shared application state private.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52.</a:t>
            </a:r>
          </a:p>
          <a:p>
            <a:pPr>
              <a:spcAft>
                <a:spcPts val="1100"/>
              </a:spcAft>
              <a:defRPr sz="1900">
                <a:solidFill>
                  <a:srgbClr val="F2F5F8"/>
                </a:solidFill>
              </a:defRPr>
            </a:pPr>
            <a:r>
              <a:t>• Add a downstream service limit of 32 simultaneous requests and a pending-work queue of 128 items.</a:t>
            </a:r>
          </a:p>
          <a:p>
            <a:pPr>
              <a:spcAft>
                <a:spcPts val="1100"/>
              </a:spcAft>
              <a:defRPr sz="1900">
                <a:solidFill>
                  <a:srgbClr val="F2F5F8"/>
                </a:solidFill>
              </a:defRPr>
            </a:pPr>
            <a:r>
              <a:t>• Explain why the connection cap, executing-work cap, and queued-work cap should remain separate.</a:t>
            </a:r>
          </a:p>
          <a:p>
            <a:pPr>
              <a:spcAft>
                <a:spcPts val="1100"/>
              </a:spcAft>
              <a:defRPr sz="1900">
                <a:solidFill>
                  <a:srgbClr val="F2F5F8"/>
                </a:solidFill>
              </a:defRPr>
            </a:pPr>
            <a:r>
              <a:t>• Specify what response or closure policy applies when each limit is reached.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can a bounded worker pool still run out of memory?</a:t>
            </a:r>
          </a:p>
          <a:p>
            <a:pPr>
              <a:spcAft>
                <a:spcPts val="1100"/>
              </a:spcAft>
              <a:defRPr sz="1900">
                <a:solidFill>
                  <a:srgbClr val="F2F5F8"/>
                </a:solidFill>
              </a:defRPr>
            </a:pPr>
            <a:r>
              <a:t>• Review 2.</a:t>
            </a:r>
          </a:p>
          <a:p>
            <a:pPr>
              <a:spcAft>
                <a:spcPts val="1100"/>
              </a:spcAft>
              <a:defRPr sz="1900">
                <a:solidFill>
                  <a:srgbClr val="F2F5F8"/>
                </a:solidFill>
              </a:defRPr>
            </a:pPr>
            <a:r>
              <a:t>• Why is a whole-request deadline stronger than repeatedly renewed per-read timeouts?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concurrent servers.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Event-Driven I/O.</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52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