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10 — Memory Allocators</a:t>
            </a:r>
          </a:p>
          <a:p/>
          <a:p>
            <a:r>
              <a:t>LECTURE NARRATION</a:t>
            </a:r>
          </a:p>
          <a:p>
            <a:r>
              <a:t>An allocator converts larger regions of storage into smaller allocations while tracking which regions are available. It must return suitably aligned, nonoverlapping storage and preserve enough metadata to reclaim it. Performance policies such as first fit or best fit operate inside these correctness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allocator converts larger regions of storage into smaller allocations while tracking which regions are available.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An allocator converts larger regions of storage into smaller allocations while tracking which regions are available. It must return suitably aligned, nonoverlapping storage and preserve enough metadata to reclaim it. Performance policies such as first fit or best fit operate inside these correctness constraints.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allocator converts larger regions of storage into smaller allocations while tracking which regions are available.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10.1 Blocks 10.2 Metadata 10.3 Free lists 10.4 First fit ...plus 12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10.1 Blocks 10.2 Metadata 10.3 Free lists 10.4 First fit ...plus 12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10.1 Blocks</a:t>
            </a:r>
          </a:p>
          <a:p/>
          <a:p>
            <a:r>
              <a:t>LECTURE NARRATION</a:t>
            </a:r>
          </a:p>
          <a:p>
            <a:r>
              <a:t>A block is a unit of storage managed by the allocator. It may contain a header, a payload returned to the caller, and padding. The caller’s requested size and the allocator’s actual block size can differ. A 13-byte request might occupy a larger block because of alignment or size classes. The fundamental invariant is that live allocation payloads do not overlap and remain valid until release. A custom allocator should state its supported alignments, maximum request size, zero-size policy, and threading model. Without those declarations, callers cannot know whether a returned address is appropriate for their object.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 is a unit of storage managed by the allocator.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10.1 Blocks — Deep Dive</a:t>
            </a:r>
          </a:p>
          <a:p/>
          <a:p>
            <a:r>
              <a:t>LECTURE NARRATION</a:t>
            </a:r>
          </a:p>
          <a:p>
            <a:r>
              <a:t>A block is a unit of storage managed by the allocator. It may contain a header, a payload returned to the caller, and padding. The caller’s requested size and the allocator’s actual block size can differ. A 13-byte request might occupy a larger block because of alignment or size classes. The fundamental invariant is that live allocation payloads do not overlap and remain valid until release. A custom allocator should state its supported alignments, maximum request size, zero-size policy, and threading model. Without those declarations, callers cannot know whether a returned address is appropriate for their object.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 is a unit of storage managed by the allocator.</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10.2 Metadata</a:t>
            </a:r>
          </a:p>
          <a:p/>
          <a:p>
            <a:r>
              <a:t>LECTURE NARRATION</a:t>
            </a:r>
          </a:p>
          <a:p>
            <a:r>
              <a:t>Metadata records information such as block size, allocation state, neighboring blocks, or free-list links. It can be stored next to the payload or in separate tables. Adjacent metadata is convenient but can be corrupted by an out-of-bounds write from the payload. Never treat allocator metadata as trustworthy after detecting memory corruption. Continuing to allocate and free through damaged state can amplify the failure. A teaching allocator can use assertions and validation scans; a production allocator also needs careful hardening, concurrency control, and recovery policy. Implementing an allocator is not just writing a fast search loop.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metadata records information such as block size, allocation state, neighboring blocks, or free-list links.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10.2 Metadata — Deep Dive</a:t>
            </a:r>
          </a:p>
          <a:p/>
          <a:p>
            <a:r>
              <a:t>LECTURE NARRATION</a:t>
            </a:r>
          </a:p>
          <a:p>
            <a:r>
              <a:t>Metadata records information such as block size, allocation state, neighboring blocks, or free-list links. It can be stored next to the payload or in separate tables. Adjacent metadata is convenient but can be corrupted by an out-of-bounds write from the payload. Never treat allocator metadata as trustworthy after detecting memory corruption. Continuing to allocate and free through damaged state can amplify the failure. A teaching allocator can use assertions and validation scans; a production allocator also needs careful hardening, concurrency control, and recovery policy. Implementing an allocator is not just writing a fast search loop.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metadata records information such as block size, allocation state, neighboring blocks, or free-list links.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10.3 Free lists</a:t>
            </a:r>
          </a:p>
          <a:p/>
          <a:p>
            <a:r>
              <a:t>LECTURE NARRATION</a:t>
            </a:r>
          </a:p>
          <a:p>
            <a:r>
              <a:t>A free list links blocks available for reuse. An implicit list discovers free blocks by walking every block’s metadata. An explicit list links free blocks directly, often storing links inside the free payload. Segregated lists group blocks by size to reduce search cost. Every insertion and removal must preserve list consistency. A block must not appear twice, and an allocated block must not remain on a free list. In a concurrent allocator, these are shared-state invariants requiring synchronization or a carefully proved lock-free scheme. Thread-local caches reduce contention but can retain memory that another thread could otherwise 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free list links blocks available for reuse.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10.3 Free lists — Deep Dive</a:t>
            </a:r>
          </a:p>
          <a:p/>
          <a:p>
            <a:r>
              <a:t>LECTURE NARRATION</a:t>
            </a:r>
          </a:p>
          <a:p>
            <a:r>
              <a:t>A free list links blocks available for reuse. An implicit list discovers free blocks by walking every block’s metadata. An explicit list links free blocks directly, often storing links inside the free payload. Segregated lists group blocks by size to reduce search cost. Every insertion and removal must preserve list consistency. A block must not appear twice, and an allocated block must not remain on a free list. In a concurrent allocator, these are shared-state invariants requiring synchronization or a carefully proved lock-free scheme. Thread-local caches reduce contention but can retain memory that another thread could otherwise 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free list links blocks available for reuse.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10.4 First fit</a:t>
            </a:r>
          </a:p>
          <a:p/>
          <a:p>
            <a:r>
              <a:t>LECTURE NARRATION</a:t>
            </a:r>
          </a:p>
          <a:p>
            <a:r>
              <a:t>First fit scans candidates and selects the first block large enough. It is simple and can stop early, but its behavior depends on list order. Over time, small leftover regions near the beginning can increase search work or change fragmentation patterns. A first-fit policy is not inherently bad; its suitability depends on request sizes, lifetimes, and workload locality. Measure representative traces rather than judging a policy by one allocation. Search cost, fragmentation, cache behavior, and synchronization overhead can move in different directions.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first fit scans candidates and selects the first block large enough.</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10.4 First fit — Deep Dive</a:t>
            </a:r>
          </a:p>
          <a:p/>
          <a:p>
            <a:r>
              <a:t>LECTURE NARRATION</a:t>
            </a:r>
          </a:p>
          <a:p>
            <a:r>
              <a:t>First fit scans candidates and selects the first block large enough. It is simple and can stop early, but its behavior depends on list order. Over time, small leftover regions near the beginning can increase search work or change fragmentation patterns. A first-fit policy is not inherently bad; its suitability depends on request sizes, lifetimes, and workload locality. Measure representative traces rather than judging a policy by one allocation. Search cost, fragmentation, cache behavior, and synchronization overhead can move in different directions.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first fit scans candidates and selects the first block large enough.</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10.5 Best fit</a:t>
            </a:r>
          </a:p>
          <a:p/>
          <a:p>
            <a:r>
              <a:t>LECTURE NARRATION</a:t>
            </a:r>
          </a:p>
          <a:p>
            <a:r>
              <a:t>Best fit selects the smallest available block that can satisfy the request. It tries to minimize the immediate leftover amount, but finding that block can require more search or a more complex index. Small leftovers can also become unusable fragments. The name describes a local choice, not a proof of globally optimal memory use. Future requests are unknown. A slightly larger current remainder might be more useful later than a tiny one. Compare allocator policies using complete traces and explicit metrics rather than assuming that the word “best” guarantees the best outcome.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best fit selects the smallest available block that can satisfy the request.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10.5 Best fit — Deep Dive</a:t>
            </a:r>
          </a:p>
          <a:p/>
          <a:p>
            <a:r>
              <a:t>LECTURE NARRATION</a:t>
            </a:r>
          </a:p>
          <a:p>
            <a:r>
              <a:t>Best fit selects the smallest available block that can satisfy the request. It tries to minimize the immediate leftover amount, but finding that block can require more search or a more complex index. Small leftovers can also become unusable fragments. The name describes a local choice, not a proof of globally optimal memory use. Future requests are unknown. A slightly larger current remainder might be more useful later than a tiny one. Compare allocator policies using complete traces and explicit metrics rather than assuming that the word “best” guarantees the best outcome.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best fit selects the smallest available block that can satisfy the request.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10.6 Block splitting</a:t>
            </a:r>
          </a:p>
          <a:p/>
          <a:p>
            <a:r>
              <a:t>LECTURE NARRATION</a:t>
            </a:r>
          </a:p>
          <a:p>
            <a:r>
              <a:t>When a free block is larger than needed, the allocator can divide it into an allocated block and a remaining free block. The remainder must be large enough to hold required metadata, alignment, and a useful payload. Otherwise it is often better to give the entire block to the request. Splitting changes both physical-neighbor relationships and free-list membership. Update these consistently before exposing the new state. A trace should show old block boundaries, allocated size, remainder size, and every metadata update. This makes off-by-header and alignment mistakes visible.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a free block is larger than needed, the allocator can divide it into an allocated block and a remaining free block.</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10.6 Block splitting — Deep Dive</a:t>
            </a:r>
          </a:p>
          <a:p/>
          <a:p>
            <a:r>
              <a:t>LECTURE NARRATION</a:t>
            </a:r>
          </a:p>
          <a:p>
            <a:r>
              <a:t>When a free block is larger than needed, the allocator can divide it into an allocated block and a remaining free block. The remainder must be large enough to hold required metadata, alignment, and a useful payload. Otherwise it is often better to give the entire block to the request. Splitting changes both physical-neighbor relationships and free-list membership. Update these consistently before exposing the new state. A trace should show old block boundaries, allocated size, remainder size, and every metadata update. This makes off-by-header and alignment mistakes visible.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when a free block is larger than needed, the allocator can divide it into an allocated block and a remaining free block.</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10.7 Coalescing</a:t>
            </a:r>
          </a:p>
          <a:p/>
          <a:p>
            <a:r>
              <a:t>LECTURE NARRATION</a:t>
            </a:r>
          </a:p>
          <a:p>
            <a:r>
              <a:t>Coalescing merges adjacent free blocks into a larger free region. It reduces external fragmentation by restoring space that can satisfy larger requests. Adjacency means neighboring addresses in the managed region, not neighboring nodes in an arbitrary free-list order. Boundary tags or external metadata can help find physical neighbors. Immediate coalescing merges on each release; deferred coalescing postpones work until needed. Either policy must avoid merging across live blocks or unrelated regions. A correct merge removes old list entries before inserting the combined block exactly once.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coalescing merges adjacent free blocks into a larger free region.</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10.7 Coalescing — Deep Dive</a:t>
            </a:r>
          </a:p>
          <a:p/>
          <a:p>
            <a:r>
              <a:t>LECTURE NARRATION</a:t>
            </a:r>
          </a:p>
          <a:p>
            <a:r>
              <a:t>Coalescing merges adjacent free blocks into a larger free region. It reduces external fragmentation by restoring space that can satisfy larger requests. Adjacency means neighboring addresses in the managed region, not neighboring nodes in an arbitrary free-list order. Boundary tags or external metadata can help find physical neighbors. Immediate coalescing merges on each release; deferred coalescing postpones work until needed. Either policy must avoid merging across live blocks or unrelated regions. A correct merge removes old list entries before inserting the combined block exactly once.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coalescing merges adjacent free blocks into a larger free region.</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10.8 Alignment</a:t>
            </a:r>
          </a:p>
          <a:p/>
          <a:p>
            <a:r>
              <a:t>LECTURE NARRATION</a:t>
            </a:r>
          </a:p>
          <a:p>
            <a:r>
              <a:t>The allocator must align the payload, not merely the block header. A header whose size is not a multiple of the requested alignment can misalign the returned address. The allocator may add padding before the payload and must retain enough information to find the actual block on release. For an arena, alignment consumes part of the remaining space before the requested bytes are reserved. Check both components. C++ std::align can help find an aligned subregion within a bounded span of storage. It does not allocate more memory or initialize an object; it only adjusts a pointer and available-space description.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allocator must align the payload, not merely the block header.</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10.8 Alignment — Deep Dive</a:t>
            </a:r>
          </a:p>
          <a:p/>
          <a:p>
            <a:r>
              <a:t>LECTURE NARRATION</a:t>
            </a:r>
          </a:p>
          <a:p>
            <a:r>
              <a:t>The allocator must align the payload, not merely the block header. A header whose size is not a multiple of the requested alignment can misalign the returned address. The allocator may add padding before the payload and must retain enough information to find the actual block on release. For an arena, alignment consumes part of the remaining space before the requested bytes are reserved. Check both components. C++ std::align can help find an aligned subregion within a bounded span of storage. It does not allocate more memory or initialize an object; it only adjusts a pointer and available-space description.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allocator must align the payload, not merely the block header.</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10.9 Internal fragmentation</a:t>
            </a:r>
          </a:p>
          <a:p/>
          <a:p>
            <a:r>
              <a:t>LECTURE NARRATION</a:t>
            </a:r>
          </a:p>
          <a:p>
            <a:r>
              <a:t>Internal fragmentation is unused space inside an allocated block, such as rounding a 13-byte request to a 16-byte size class. The application owns the block’s payload contract but may not be allowed to use all allocator-internal spare bytes. Measure internal fragmentation as actual reserved bytes minus requested useful bytes under a clearly stated accounting rule. Headers and alignment padding may be reported separately or included; consistency matters. A small per-object waste becomes substantial when millions of objects are live.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internal fragmentation is unused space inside an allocated block, such as rounding a 13-byte request to a 16-byte size class.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10.9 Internal fragmentation — Deep Dive</a:t>
            </a:r>
          </a:p>
          <a:p/>
          <a:p>
            <a:r>
              <a:t>LECTURE NARRATION</a:t>
            </a:r>
          </a:p>
          <a:p>
            <a:r>
              <a:t>Internal fragmentation is unused space inside an allocated block, such as rounding a 13-byte request to a 16-byte size class. The application owns the block’s payload contract but may not be allowed to use all allocator-internal spare bytes. Measure internal fragmentation as actual reserved bytes minus requested useful bytes under a clearly stated accounting rule. Headers and alignment padding may be reported separately or included; consistency matters. A small per-object waste becomes substantial when millions of objects are live.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internal fragmentation is unused space inside an allocated block, such as rounding a 13-byte request to a 16-byte size class.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10.10 External fragmentation</a:t>
            </a:r>
          </a:p>
          <a:p/>
          <a:p>
            <a:r>
              <a:t>LECTURE NARRATION</a:t>
            </a:r>
          </a:p>
          <a:p>
            <a:r>
              <a:t>External fragmentation occurs when free space is divided into regions that cannot satisfy a larger request even though their total size is sufficient. Two free 40-byte regions separated by a live block cannot satisfy one contiguous 64-byte request. Coalescing helps only when free regions are physically adjacent. Compaction could move live objects, but ordinary raw pointers make transparent movement difficult. Handles, indirection, or moving-memory runtimes can support compaction; a conventional C allocator cannot simply relocate an arbitrary live allocation without the program’s cooperation.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external fragmentation occurs when free space is divided into regions that cannot satisfy a larger request even though their total size is sufficient.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10.10 External fragmentation — Deep Dive</a:t>
            </a:r>
          </a:p>
          <a:p/>
          <a:p>
            <a:r>
              <a:t>LECTURE NARRATION</a:t>
            </a:r>
          </a:p>
          <a:p>
            <a:r>
              <a:t>External fragmentation occurs when free space is divided into regions that cannot satisfy a larger request even though their total size is sufficient. Two free 40-byte regions separated by a live block cannot satisfy one contiguous 64-byte request. Coalescing helps only when free regions are physically adjacent. Compaction could move live objects, but ordinary raw pointers make transparent movement difficult. Handles, indirection, or moving-memory runtimes can support compaction; a conventional C allocator cannot simply relocate an arbitrary live allocation without the program’s cooperation.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external fragmentation occurs when free space is divided into regions that cannot satisfy a larger request even though their total size is sufficient.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10.11 Arena allocation</a:t>
            </a:r>
          </a:p>
          <a:p/>
          <a:p>
            <a:r>
              <a:t>LECTURE NARRATION</a:t>
            </a:r>
          </a:p>
          <a:p>
            <a:r>
              <a:t>An arena obtains a region and serves allocations from it, often by advancing a cursor. Individual deallocation may be omitted; all storage is reset together. This makes allocation fast and cleanup simple when objects share a lifetime, such as one parsed document or request. Resetting an arena invalidates every object and view backed by it. Nontrivial C++ objects may need destructors before reset, and retained pointers must not escape the arena’s lifetime. An arena trades flexible reclamation for a stronger lifetime discipline. It is excellent when that discipline matches the problem and dangerous when callers assume independent object lifetimes.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arena obtains a region and serves allocations from it, often by advancing a cursor.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10.11 Arena allocation — Deep Dive</a:t>
            </a:r>
          </a:p>
          <a:p/>
          <a:p>
            <a:r>
              <a:t>LECTURE NARRATION</a:t>
            </a:r>
          </a:p>
          <a:p>
            <a:r>
              <a:t>An arena obtains a region and serves allocations from it, often by advancing a cursor. Individual deallocation may be omitted; all storage is reset together. This makes allocation fast and cleanup simple when objects share a lifetime, such as one parsed document or request. Resetting an arena invalidates every object and view backed by it. Nontrivial C++ objects may need destructors before reset, and retained pointers must not escape the arena’s lifetime. An arena trades flexible reclamation for a stronger lifetime discipline. It is excellent when that discipline matches the problem and dangerous when callers assume independent object lifetimes.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arena obtains a region and serves allocations from it, often by advancing a cursor.</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A bounded bump arena</a:t>
            </a:r>
          </a:p>
          <a:p/>
          <a:p>
            <a:r>
              <a:t>LECTURE NARRATION</a:t>
            </a:r>
          </a:p>
          <a:p>
            <a:r>
              <a:t>The requirement is to allocate aligned byte regions from a fixed 128-byte arena and reject requests that do not fit. Individual release is intentionally unsupported. The arena provides storage only; the example does not construct nontrivial objects inside it. Companion listing: ch10/arena.cpp The first request consumes three bytes. On the stated alignment model, the next eight-byte-aligned start is offset 8, so five padding bytes are skipped and the second payload occupies offsets 8 through 15. The cursor becomes 16. The 200-byte request cannot fit and leaves the cursor unchanged. The abstraction has deliberately narrow semantics. Returned regions remain valid only until reset or destruction, and the arena is not thread-safe. A complete object allocator would add construction, destruction, and stronger alignment policy. Keeping the storage-only contract explicit makes this example useful without presenting it as a drop-in replacement for the standard allocator.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allocate aligned byte regions from a fixed 128-byte arena and reject requests that do not fit.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A bounded bump arena — Deep Dive</a:t>
            </a:r>
          </a:p>
          <a:p/>
          <a:p>
            <a:r>
              <a:t>LECTURE NARRATION</a:t>
            </a:r>
          </a:p>
          <a:p>
            <a:r>
              <a:t>The requirement is to allocate aligned byte regions from a fixed 128-byte arena and reject requests that do not fit. Individual release is intentionally unsupported. The arena provides storage only; the example does not construct nontrivial objects inside it. Companion listing: ch10/arena.cpp The first request consumes three bytes. On the stated alignment model, the next eight-byte-aligned start is offset 8, so five padding bytes are skipped and the second payload occupies offsets 8 through 15. The cursor becomes 16. The 200-byte request cannot fit and leaves the cursor unchanged. The abstraction has deliberately narrow semantics. Returned regions remain valid only until reset or destruction, and the arena is not thread-safe. A complete object allocator would add construction, destruction, and stronger alignment policy. Keeping the storage-only contract explicit makes this example useful without presenting it as a drop-in replacement for the standard allocator.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allocate aligned byte regions from a fixed 128-byte arena and reject requests that do not fit.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Splitting a free block</a:t>
            </a:r>
          </a:p>
          <a:p/>
          <a:p>
            <a:r>
              <a:t>LECTURE NARRATION</a:t>
            </a:r>
          </a:p>
          <a:p>
            <a:r>
              <a:t>Suppose a free-list allocator has a 256-byte free block and receives a 96-byte aligned request plus 16 bytes of metadata. If the allocator rounds the payload to 96 and needs 112 total bytes, it can allocate 112 bytes and leave a 144-byte remainder if that remainder is large enough to represent another valid block. Otherwise it may consume the whole block, creating internal fragmentation.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free-list allocator has a 256-byte free block and receives a 96-byte aligned request plus 16 bytes of metadata.</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Splitting a free block — Deep Dive</a:t>
            </a:r>
          </a:p>
          <a:p/>
          <a:p>
            <a:r>
              <a:t>LECTURE NARRATION</a:t>
            </a:r>
          </a:p>
          <a:p>
            <a:r>
              <a:t>Suppose a free-list allocator has a 256-byte free block and receives a 96-byte aligned request plus 16 bytes of metadata. If the allocator rounds the payload to 96 and needs 112 total bytes, it can allocate 112 bytes and leave a 144-byte remainder if that remainder is large enough to represent another valid block. Otherwise it may consume the whole block, creating internal fragmentation.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free-list allocator has a 256-byte free block and receives a 96-byte aligned request plus 16 bytes of metadata.</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Worked example — Coalescing neighbors</a:t>
            </a:r>
          </a:p>
          <a:p/>
          <a:p>
            <a:r>
              <a:t>LECTURE NARRATION</a:t>
            </a:r>
          </a:p>
          <a:p>
            <a:r>
              <a:t>Imagine three consecutive heap blocks: allocated 64, free 80, free 48. When the allocator notices the two free neighbors are physically adjacent, it can merge their payload and metadata representation into one larger free block. Coalescing reduces external fragmentation because future large requests can use space that was previously split into smaller holes.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imagine three consecutive heap blocks: allocated 64, free 80, free 48.</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Worked example — Coalescing neighbors — Deep Dive</a:t>
            </a:r>
          </a:p>
          <a:p/>
          <a:p>
            <a:r>
              <a:t>LECTURE NARRATION</a:t>
            </a:r>
          </a:p>
          <a:p>
            <a:r>
              <a:t>Imagine three consecutive heap blocks: allocated 64, free 80, free 48. When the allocator notices the two free neighbors are physically adjacent, it can merge their payload and metadata representation into one larger free block. Coalescing reduces external fragmentation because future large requests can use space that was previously split into smaller holes.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imagine three consecutive heap blocks: allocated 64, free 80, free 48.</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Staged project — A reusable free-list allocator</a:t>
            </a:r>
          </a:p>
          <a:p/>
          <a:p>
            <a:r>
              <a:t>LECTURE NARRATION</a:t>
            </a:r>
          </a:p>
          <a:p>
            <a:r>
              <a:t>The bump arena is intentionally retained because it isolates alignment and bounded allocation. The next implementation adds individual deallocation and combines the mechanisms introduced in Sections 10.1 through 10.10. Its contract is deliberately narrower than malloc : it manages one fixed 512-byte region, returns storage aligned to 16 bytes, accepts only pointers returned by its own allocate , uses first fit, splits only when the remainder is at least 32 bytes, and immediately coalesces physically adjacent free blocks. It is single-threaded and does not construct C++ objects. Companion listing: ch10/freelist_allocator.cpp The companion listing contains the complete definitions and executable tests. Keeping block descriptors in a vector rather than inside the managed bytes makes the teaching invariant easier to inspect: descriptors are in increasing address order, their half-open ranges exactly partition [0, 512) , and no two live allocations overlap. A production allocator would normally avoid allocating metadata dynamically while servicing an allocation request. Allocation trace. Begin with [0,512) F . Allocate 64 bytes: [0,64) A [64,512) F . Allocate 80 bytes: [0,64) A [64,144) A [144,512) F . Allocate 48 bytes: [0,64) A [64,144) A [144,192) A [192,512) F . Free the middle block: [0,64) A [64,144) F [144,192) A [192,512) F . A 32-byte request reuses the 80-byte hole and splits it because the 48-byte remainder exceeds the minimum split: [0,64) A [64,96) A [96,144) F [144,192) A [192,512) F . Coalescing trace. Free [0,64) , then [64,96) . The allocator first merges left with the newly free block and then merges the adjacent [96,144) remainder, producing [0,144) F . Freeing [144,192) merges on both sides as applicable; the final free of the last live block restores [0,512) F . The test therefore exercises reuse, left coalescing, right coalescing, and restoration of the original region. Statistics distinguish requested bytes from reserved bytes. Their difference is internal fragmentation under this implementation’s rounding rule. External fragmentation can be reported as free_bytes - largest_free : zero means every free byte is currently in one contiguous block. These metrics are policy-dependent descriptions, not universal allocator-quality scores. The implementation rejects zero-sized requests, arithmetic that would overflow during alignment rounding, pointers outside the arena, pointers into the interior of a block, and a second release of a block that is still represented as free. These checks are intentionally limited. After coalescing, stale pointers can coincide with a later allocation start, corrupted metadata can invalidate the reasoning, and address reuse makes perfect temporal error detection impossible without additional generation or quarantine metadata. Sanitizers and hardened allocators use stronger mechanisms; this example does not claim complete invalid-free detection. Allocator project tests. Verify exhaustion without state corruption; reuse of a freed first-fit block; 16-byte alignment for every successful result; refusal to create a remainder smaller than 32 bytes; coalescing with a free predecessor, successor, and both neighbors; invalid and double-free rejection for the cases above; overflow-checked size rounding; and conservation of the 512 managed bytes after every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bump arena is intentionally retained because it isolates alignment and bounded 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Staged project — A reusable free-list allocator — Deep Dive</a:t>
            </a:r>
          </a:p>
          <a:p/>
          <a:p>
            <a:r>
              <a:t>LECTURE NARRATION</a:t>
            </a:r>
          </a:p>
          <a:p>
            <a:r>
              <a:t>The bump arena is intentionally retained because it isolates alignment and bounded allocation. The next implementation adds individual deallocation and combines the mechanisms introduced in Sections 10.1 through 10.10. Its contract is deliberately narrower than malloc : it manages one fixed 512-byte region, returns storage aligned to 16 bytes, accepts only pointers returned by its own allocate , uses first fit, splits only when the remainder is at least 32 bytes, and immediately coalesces physically adjacent free blocks. It is single-threaded and does not construct C++ objects. Companion listing: ch10/freelist_allocator.cpp The companion listing contains the complete definitions and executable tests. Keeping block descriptors in a vector rather than inside the managed bytes makes the teaching invariant easier to inspect: descriptors are in increasing address order, their half-open ranges exactly partition [0, 512) , and no two live allocations overlap. A production allocator would normally avoid allocating metadata dynamically while servicing an allocation request. Allocation trace. Begin with [0,512) F . Allocate 64 bytes: [0,64) A [64,512) F . Allocate 80 bytes: [0,64) A [64,144) A [144,512) F . Allocate 48 bytes: [0,64) A [64,144) A [144,192) A [192,512) F . Free the middle block: [0,64) A [64,144) F [144,192) A [192,512) F . A 32-byte request reuses the 80-byte hole and splits it because the 48-byte remainder exceeds the minimum split: [0,64) A [64,96) A [96,144) F [144,192) A [192,512) F . Coalescing trace. Free [0,64) , then [64,96) . The allocator first merges left with the newly free block and then merges the adjacent [96,144) remainder, producing [0,144) F . Freeing [144,192) merges on both sides as applicable; the final free of the last live block restores [0,512) F . The test therefore exercises reuse, left coalescing, right coalescing, and restoration of the original region. Statistics distinguish requested bytes from reserved bytes. Their difference is internal fragmentation under this implementation’s rounding rule. External fragmentation can be reported as free_bytes - largest_free : zero means every free byte is currently in one contiguous block. These metrics are policy-dependent descriptions, not universal allocator-quality scores. The implementation rejects zero-sized requests, arithmetic that would overflow during alignment rounding, pointers outside the arena, pointers into the interior of a block, and a second release of a block that is still represented as free. These checks are intentionally limited. After coalescing, stale pointers can coincide with a later allocation start, corrupted metadata can invalidate the reasoning, and address reuse makes perfect temporal error detection impossible without additional generation or quarantine metadata. Sanitizers and hardened allocators use stronger mechanisms; this example does not claim complete invalid-free detection. Allocator project tests. Verify exhaustion without state corruption; reuse of a freed first-fit block; 16-byte alignment for every successful result; refusal to create a remainder smaller than 32 bytes; coalescing with a free predecessor, successor, and both neighbors; invalid and double-free rejection for the cases above; overflow-checked size rounding; and conservation of the 512 managed bytes after every operation.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bump arena is intentionally retained because it isolates alignment and bounded allocation.</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Guided lab and review</a:t>
            </a:r>
          </a:p>
          <a:p/>
          <a:p>
            <a:r>
              <a:t>LECTURE NARRATION</a:t>
            </a:r>
          </a:p>
          <a:p>
            <a:r>
              <a:t>Lab 10. Add accounting for requested bytes and alignment padding. Allocate a sequence of differently aligned requests, then verify that every successful region lies inside the arena and that no two live regions overlap. Review 1. Distinguish internal from external fragmentation using a concrete layout. Review 2. Why can two consecutive free-list nodes fail to be coalescible?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10.</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Guided lab and review — Deep Dive</a:t>
            </a:r>
          </a:p>
          <a:p/>
          <a:p>
            <a:r>
              <a:t>LECTURE NARRATION</a:t>
            </a:r>
          </a:p>
          <a:p>
            <a:r>
              <a:t>Lab 10. Add accounting for requested bytes and alignment padding. Allocate a sequence of differently aligned requests, then verify that every successful region lies inside the arena and that no two live regions overlap. Review 1. Distinguish internal from external fragmentation using a concrete layout. Review 2. Why can two consecutive free-list nodes fail to be coalescible?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10.</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Chapter Synthesis</a:t>
            </a:r>
          </a:p>
          <a:p/>
          <a:p>
            <a:r>
              <a:t>LECTURE NARRATION</a:t>
            </a:r>
          </a:p>
          <a:p>
            <a:r>
              <a:t>The chapter's central subject is memory allocators.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memory allocators.</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Memory Errors.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10 — Memory Allocators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allocator converts larger regions of storage into smaller allocations while tracking which regions are available.</a:t>
            </a:r>
          </a:p>
          <a:p>
            <a:pPr>
              <a:spcAft>
                <a:spcPts val="1100"/>
              </a:spcAft>
              <a:defRPr sz="1900">
                <a:solidFill>
                  <a:srgbClr val="F2F5F8"/>
                </a:solidFill>
              </a:defRPr>
            </a:pPr>
            <a:r>
              <a:t>• It must return suitably aligned, nonoverlapping storage and preserve enough metadata to reclaim it.</a:t>
            </a:r>
          </a:p>
          <a:p>
            <a:pPr>
              <a:spcAft>
                <a:spcPts val="1100"/>
              </a:spcAft>
              <a:defRPr sz="1900">
                <a:solidFill>
                  <a:srgbClr val="F2F5F8"/>
                </a:solidFill>
              </a:defRPr>
            </a:pPr>
            <a:r>
              <a:t>• Performance policies such as first fit or best fit operate inside these correctness constraints.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Memory Allocators.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10.1 Blocks</a:t>
            </a:r>
          </a:p>
          <a:p>
            <a:pPr>
              <a:spcAft>
                <a:spcPts val="1100"/>
              </a:spcAft>
              <a:defRPr sz="1900">
                <a:solidFill>
                  <a:srgbClr val="F2F5F8"/>
                </a:solidFill>
              </a:defRPr>
            </a:pPr>
            <a:r>
              <a:t>• 10.2 Metadata</a:t>
            </a:r>
          </a:p>
          <a:p>
            <a:pPr>
              <a:spcAft>
                <a:spcPts val="1100"/>
              </a:spcAft>
              <a:defRPr sz="1900">
                <a:solidFill>
                  <a:srgbClr val="F2F5F8"/>
                </a:solidFill>
              </a:defRPr>
            </a:pPr>
            <a:r>
              <a:t>• 10.3 Free lists</a:t>
            </a:r>
          </a:p>
          <a:p>
            <a:pPr>
              <a:spcAft>
                <a:spcPts val="1100"/>
              </a:spcAft>
              <a:defRPr sz="1900">
                <a:solidFill>
                  <a:srgbClr val="F2F5F8"/>
                </a:solidFill>
              </a:defRPr>
            </a:pPr>
            <a:r>
              <a:t>• 10.4 First fit</a:t>
            </a:r>
          </a:p>
          <a:p>
            <a:pPr>
              <a:spcAft>
                <a:spcPts val="1100"/>
              </a:spcAft>
              <a:defRPr sz="1900">
                <a:solidFill>
                  <a:srgbClr val="F2F5F8"/>
                </a:solidFill>
              </a:defRPr>
            </a:pPr>
            <a:r>
              <a:t>• ...plus 12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10.1 Blocks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block is a unit of storage managed by the allocator.</a:t>
            </a:r>
          </a:p>
          <a:p>
            <a:pPr>
              <a:spcAft>
                <a:spcPts val="1100"/>
              </a:spcAft>
              <a:defRPr sz="1900">
                <a:solidFill>
                  <a:srgbClr val="F2F5F8"/>
                </a:solidFill>
              </a:defRPr>
            </a:pPr>
            <a:r>
              <a:t>• It may contain a header, a payload returned to the caller, and padding.</a:t>
            </a:r>
          </a:p>
          <a:p>
            <a:pPr>
              <a:spcAft>
                <a:spcPts val="1100"/>
              </a:spcAft>
              <a:defRPr sz="1900">
                <a:solidFill>
                  <a:srgbClr val="F2F5F8"/>
                </a:solidFill>
              </a:defRPr>
            </a:pPr>
            <a:r>
              <a:t>• The caller’s requested size and the allocator’s actual block size can differ.</a:t>
            </a:r>
          </a:p>
          <a:p>
            <a:pPr>
              <a:spcAft>
                <a:spcPts val="1100"/>
              </a:spcAft>
              <a:defRPr sz="1900">
                <a:solidFill>
                  <a:srgbClr val="F2F5F8"/>
                </a:solidFill>
              </a:defRPr>
            </a:pPr>
            <a:r>
              <a:t>• A 13-byte request might occupy a larger block because of alignment or size classes.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10.1 Blocks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fundamental invariant is that live allocation payloads do not overlap and remain valid until release.</a:t>
            </a:r>
          </a:p>
          <a:p>
            <a:pPr>
              <a:spcAft>
                <a:spcPts val="1100"/>
              </a:spcAft>
              <a:defRPr sz="1900">
                <a:solidFill>
                  <a:srgbClr val="F2F5F8"/>
                </a:solidFill>
              </a:defRPr>
            </a:pPr>
            <a:r>
              <a:t>• A custom allocator should state its supported alignments, maximum request size, zero-size policy, and threading model.</a:t>
            </a:r>
          </a:p>
          <a:p>
            <a:pPr>
              <a:spcAft>
                <a:spcPts val="1100"/>
              </a:spcAft>
              <a:defRPr sz="1900">
                <a:solidFill>
                  <a:srgbClr val="F2F5F8"/>
                </a:solidFill>
              </a:defRPr>
            </a:pPr>
            <a:r>
              <a:t>• Without those declarations, callers cannot know whether a returned address is appropriate for their object.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10.2 Metadata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Metadata records information such as block size, allocation state, neighboring blocks, or free-list links.</a:t>
            </a:r>
          </a:p>
          <a:p>
            <a:pPr>
              <a:spcAft>
                <a:spcPts val="1100"/>
              </a:spcAft>
              <a:defRPr sz="1900">
                <a:solidFill>
                  <a:srgbClr val="F2F5F8"/>
                </a:solidFill>
              </a:defRPr>
            </a:pPr>
            <a:r>
              <a:t>• It can be stored next to the payload or in separate tables.</a:t>
            </a:r>
          </a:p>
          <a:p>
            <a:pPr>
              <a:spcAft>
                <a:spcPts val="1100"/>
              </a:spcAft>
              <a:defRPr sz="1900">
                <a:solidFill>
                  <a:srgbClr val="F2F5F8"/>
                </a:solidFill>
              </a:defRPr>
            </a:pPr>
            <a:r>
              <a:t>• Adjacent metadata is convenient but can be corrupted by an out-of-bounds write from the payload.</a:t>
            </a:r>
          </a:p>
          <a:p>
            <a:pPr>
              <a:spcAft>
                <a:spcPts val="1100"/>
              </a:spcAft>
              <a:defRPr sz="1900">
                <a:solidFill>
                  <a:srgbClr val="F2F5F8"/>
                </a:solidFill>
              </a:defRPr>
            </a:pPr>
            <a:r>
              <a:t>• Never treat allocator metadata as trustworthy after detecting memory corruption.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10.2 Metadata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Never treat allocator metadata as trustworthy after detecting memory corruption.</a:t>
            </a:r>
          </a:p>
          <a:p>
            <a:pPr>
              <a:spcAft>
                <a:spcPts val="1100"/>
              </a:spcAft>
              <a:defRPr sz="1900">
                <a:solidFill>
                  <a:srgbClr val="F2F5F8"/>
                </a:solidFill>
              </a:defRPr>
            </a:pPr>
            <a:r>
              <a:t>• Continuing to allocate and free through damaged state can amplify the failure.</a:t>
            </a:r>
          </a:p>
          <a:p>
            <a:pPr>
              <a:spcAft>
                <a:spcPts val="1100"/>
              </a:spcAft>
              <a:defRPr sz="1700">
                <a:solidFill>
                  <a:srgbClr val="F2F5F8"/>
                </a:solidFill>
              </a:defRPr>
            </a:pPr>
            <a:r>
              <a:t>• A teaching allocator can use assertions and validation scans; a production allocator also needs careful hardening, concurrency control, and recovery policy.</a:t>
            </a:r>
          </a:p>
          <a:p>
            <a:pPr>
              <a:spcAft>
                <a:spcPts val="1100"/>
              </a:spcAft>
              <a:defRPr sz="1900">
                <a:solidFill>
                  <a:srgbClr val="F2F5F8"/>
                </a:solidFill>
              </a:defRPr>
            </a:pPr>
            <a:r>
              <a:t>• Implementing an allocator is not just writing a fast search loop.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10.3 Free lists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free list links blocks available for reuse.</a:t>
            </a:r>
          </a:p>
          <a:p>
            <a:pPr>
              <a:spcAft>
                <a:spcPts val="1100"/>
              </a:spcAft>
              <a:defRPr sz="1900">
                <a:solidFill>
                  <a:srgbClr val="F2F5F8"/>
                </a:solidFill>
              </a:defRPr>
            </a:pPr>
            <a:r>
              <a:t>• An implicit list discovers free blocks by walking every block’s metadata.</a:t>
            </a:r>
          </a:p>
          <a:p>
            <a:pPr>
              <a:spcAft>
                <a:spcPts val="1100"/>
              </a:spcAft>
              <a:defRPr sz="1900">
                <a:solidFill>
                  <a:srgbClr val="F2F5F8"/>
                </a:solidFill>
              </a:defRPr>
            </a:pPr>
            <a:r>
              <a:t>• An explicit list links free blocks directly, often storing links inside the free payload.</a:t>
            </a:r>
          </a:p>
          <a:p>
            <a:pPr>
              <a:spcAft>
                <a:spcPts val="1100"/>
              </a:spcAft>
              <a:defRPr sz="1900">
                <a:solidFill>
                  <a:srgbClr val="F2F5F8"/>
                </a:solidFill>
              </a:defRPr>
            </a:pPr>
            <a:r>
              <a:t>• Segregated lists group blocks by size to reduce search cost.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10.3 Free lists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Every insertion and removal must preserve list consistency.</a:t>
            </a:r>
          </a:p>
          <a:p>
            <a:pPr>
              <a:spcAft>
                <a:spcPts val="1100"/>
              </a:spcAft>
              <a:defRPr sz="1900">
                <a:solidFill>
                  <a:srgbClr val="F2F5F8"/>
                </a:solidFill>
              </a:defRPr>
            </a:pPr>
            <a:r>
              <a:t>• A block must not appear twice, and an allocated block must not remain on a free list.</a:t>
            </a:r>
          </a:p>
          <a:p>
            <a:pPr>
              <a:spcAft>
                <a:spcPts val="1100"/>
              </a:spcAft>
              <a:defRPr sz="1700">
                <a:solidFill>
                  <a:srgbClr val="F2F5F8"/>
                </a:solidFill>
              </a:defRPr>
            </a:pPr>
            <a:r>
              <a:t>• In a concurrent allocator, these are shared-state invariants requiring synchronization or a carefully proved lock-free scheme.</a:t>
            </a:r>
          </a:p>
          <a:p>
            <a:pPr>
              <a:spcAft>
                <a:spcPts val="1100"/>
              </a:spcAft>
              <a:defRPr sz="1900">
                <a:solidFill>
                  <a:srgbClr val="F2F5F8"/>
                </a:solidFill>
              </a:defRPr>
            </a:pPr>
            <a:r>
              <a:t>• Thread-local caches reduce contention but can retain memory that another thread could otherwise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10.4 First fit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First fit scans candidates and selects the first block large enough.</a:t>
            </a:r>
          </a:p>
          <a:p>
            <a:pPr>
              <a:spcAft>
                <a:spcPts val="1100"/>
              </a:spcAft>
              <a:defRPr sz="1900">
                <a:solidFill>
                  <a:srgbClr val="F2F5F8"/>
                </a:solidFill>
              </a:defRPr>
            </a:pPr>
            <a:r>
              <a:t>• It is simple and can stop early, but its behavior depends on list order.</a:t>
            </a:r>
          </a:p>
          <a:p>
            <a:pPr>
              <a:spcAft>
                <a:spcPts val="1100"/>
              </a:spcAft>
              <a:defRPr sz="1900">
                <a:solidFill>
                  <a:srgbClr val="F2F5F8"/>
                </a:solidFill>
              </a:defRPr>
            </a:pPr>
            <a:r>
              <a:t>• Over time, small leftover regions near the beginning can increase search work or change fragmentation patterns.</a:t>
            </a:r>
          </a:p>
          <a:p>
            <a:pPr>
              <a:spcAft>
                <a:spcPts val="1100"/>
              </a:spcAft>
              <a:defRPr sz="1900">
                <a:solidFill>
                  <a:srgbClr val="F2F5F8"/>
                </a:solidFill>
              </a:defRPr>
            </a:pPr>
            <a:r>
              <a:t>• A first-fit policy is not inherently bad; its suitability depends on request sizes, lifetimes, and workload locality.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10.4 First fit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first-fit policy is not inherently bad; its suitability depends on request sizes, lifetimes, and workload locality.</a:t>
            </a:r>
          </a:p>
          <a:p>
            <a:pPr>
              <a:spcAft>
                <a:spcPts val="1100"/>
              </a:spcAft>
              <a:defRPr sz="1900">
                <a:solidFill>
                  <a:srgbClr val="F2F5F8"/>
                </a:solidFill>
              </a:defRPr>
            </a:pPr>
            <a:r>
              <a:t>• Measure representative traces rather than judging a policy by one allocation.</a:t>
            </a:r>
          </a:p>
          <a:p>
            <a:pPr>
              <a:spcAft>
                <a:spcPts val="1100"/>
              </a:spcAft>
              <a:defRPr sz="1900">
                <a:solidFill>
                  <a:srgbClr val="F2F5F8"/>
                </a:solidFill>
              </a:defRPr>
            </a:pPr>
            <a:r>
              <a:t>• Search cost, fragmentation, cache behavior, and synchronization overhead can move in different directions.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10.5 Best fit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Best fit selects the smallest available block that can satisfy the request.</a:t>
            </a:r>
          </a:p>
          <a:p>
            <a:pPr>
              <a:spcAft>
                <a:spcPts val="1100"/>
              </a:spcAft>
              <a:defRPr sz="1700">
                <a:solidFill>
                  <a:srgbClr val="F2F5F8"/>
                </a:solidFill>
              </a:defRPr>
            </a:pPr>
            <a:r>
              <a:t>• It tries to minimize the immediate leftover amount, but finding that block can require more search or a more complex index.</a:t>
            </a:r>
          </a:p>
          <a:p>
            <a:pPr>
              <a:spcAft>
                <a:spcPts val="1100"/>
              </a:spcAft>
              <a:defRPr sz="1900">
                <a:solidFill>
                  <a:srgbClr val="F2F5F8"/>
                </a:solidFill>
              </a:defRPr>
            </a:pPr>
            <a:r>
              <a:t>• Small leftovers can also become unusable fragments.</a:t>
            </a:r>
          </a:p>
          <a:p>
            <a:pPr>
              <a:spcAft>
                <a:spcPts val="1100"/>
              </a:spcAft>
              <a:defRPr sz="1900">
                <a:solidFill>
                  <a:srgbClr val="F2F5F8"/>
                </a:solidFill>
              </a:defRPr>
            </a:pPr>
            <a:r>
              <a:t>• The name describes a local choice, not a proof of globally optimal memory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10.5 Best fit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name describes a local choice, not a proof of globally optimal memory use.</a:t>
            </a:r>
          </a:p>
          <a:p>
            <a:pPr>
              <a:spcAft>
                <a:spcPts val="1100"/>
              </a:spcAft>
              <a:defRPr sz="1900">
                <a:solidFill>
                  <a:srgbClr val="F2F5F8"/>
                </a:solidFill>
              </a:defRPr>
            </a:pPr>
            <a:r>
              <a:t>• Future requests are unknown.</a:t>
            </a:r>
          </a:p>
          <a:p>
            <a:pPr>
              <a:spcAft>
                <a:spcPts val="1100"/>
              </a:spcAft>
              <a:defRPr sz="1900">
                <a:solidFill>
                  <a:srgbClr val="F2F5F8"/>
                </a:solidFill>
              </a:defRPr>
            </a:pPr>
            <a:r>
              <a:t>• A slightly larger current remainder might be more useful later than a tiny one.</a:t>
            </a:r>
          </a:p>
          <a:p>
            <a:pPr>
              <a:spcAft>
                <a:spcPts val="1100"/>
              </a:spcAft>
              <a:defRPr sz="1700">
                <a:solidFill>
                  <a:srgbClr val="F2F5F8"/>
                </a:solidFill>
              </a:defRPr>
            </a:pPr>
            <a:r>
              <a:t>• Compare allocator policies using complete traces and explicit metrics rather than assuming that the word “best” guarantees the best outcome.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10.6 Block splitting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When a free block is larger than needed, the allocator can divide it into an allocated block and a remaining free block.</a:t>
            </a:r>
          </a:p>
          <a:p>
            <a:pPr>
              <a:spcAft>
                <a:spcPts val="1100"/>
              </a:spcAft>
              <a:defRPr sz="1900">
                <a:solidFill>
                  <a:srgbClr val="F2F5F8"/>
                </a:solidFill>
              </a:defRPr>
            </a:pPr>
            <a:r>
              <a:t>• The remainder must be large enough to hold required metadata, alignment, and a useful payload.</a:t>
            </a:r>
          </a:p>
          <a:p>
            <a:pPr>
              <a:spcAft>
                <a:spcPts val="1100"/>
              </a:spcAft>
              <a:defRPr sz="1900">
                <a:solidFill>
                  <a:srgbClr val="F2F5F8"/>
                </a:solidFill>
              </a:defRPr>
            </a:pPr>
            <a:r>
              <a:t>• Otherwise it is often better to give the entire block to the request.</a:t>
            </a:r>
          </a:p>
          <a:p>
            <a:pPr>
              <a:spcAft>
                <a:spcPts val="1100"/>
              </a:spcAft>
              <a:defRPr sz="1900">
                <a:solidFill>
                  <a:srgbClr val="F2F5F8"/>
                </a:solidFill>
              </a:defRPr>
            </a:pPr>
            <a:r>
              <a:t>• Splitting changes both physical-neighbor relationships and free-list membership.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10.6 Block splitting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Splitting changes both physical-neighbor relationships and free-list membership.</a:t>
            </a:r>
          </a:p>
          <a:p>
            <a:pPr>
              <a:spcAft>
                <a:spcPts val="1100"/>
              </a:spcAft>
              <a:defRPr sz="1900">
                <a:solidFill>
                  <a:srgbClr val="F2F5F8"/>
                </a:solidFill>
              </a:defRPr>
            </a:pPr>
            <a:r>
              <a:t>• Update these consistently before exposing the new state.</a:t>
            </a:r>
          </a:p>
          <a:p>
            <a:pPr>
              <a:spcAft>
                <a:spcPts val="1100"/>
              </a:spcAft>
              <a:defRPr sz="1900">
                <a:solidFill>
                  <a:srgbClr val="F2F5F8"/>
                </a:solidFill>
              </a:defRPr>
            </a:pPr>
            <a:r>
              <a:t>• A trace should show old block boundaries, allocated size, remainder size, and every metadata update.</a:t>
            </a:r>
          </a:p>
          <a:p>
            <a:pPr>
              <a:spcAft>
                <a:spcPts val="1100"/>
              </a:spcAft>
              <a:defRPr sz="1900">
                <a:solidFill>
                  <a:srgbClr val="F2F5F8"/>
                </a:solidFill>
              </a:defRPr>
            </a:pPr>
            <a:r>
              <a:t>• This makes off-by-header and alignment mistakes visible.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10.7 Coalescing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Coalescing merges adjacent free blocks into a larger free region.</a:t>
            </a:r>
          </a:p>
          <a:p>
            <a:pPr>
              <a:spcAft>
                <a:spcPts val="1100"/>
              </a:spcAft>
              <a:defRPr sz="1900">
                <a:solidFill>
                  <a:srgbClr val="F2F5F8"/>
                </a:solidFill>
              </a:defRPr>
            </a:pPr>
            <a:r>
              <a:t>• It reduces external fragmentation by restoring space that can satisfy larger requests.</a:t>
            </a:r>
          </a:p>
          <a:p>
            <a:pPr>
              <a:spcAft>
                <a:spcPts val="1100"/>
              </a:spcAft>
              <a:defRPr sz="1900">
                <a:solidFill>
                  <a:srgbClr val="F2F5F8"/>
                </a:solidFill>
              </a:defRPr>
            </a:pPr>
            <a:r>
              <a:t>• Adjacency means neighboring addresses in the managed region, not neighboring nodes in an arbitrary free-list order.</a:t>
            </a:r>
          </a:p>
          <a:p>
            <a:pPr>
              <a:spcAft>
                <a:spcPts val="1100"/>
              </a:spcAft>
              <a:defRPr sz="1900">
                <a:solidFill>
                  <a:srgbClr val="F2F5F8"/>
                </a:solidFill>
              </a:defRPr>
            </a:pPr>
            <a:r>
              <a:t>• Boundary tags or external metadata can help find physical neighbors.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10.7 Coalescing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Boundary tags or external metadata can help find physical neighbors.</a:t>
            </a:r>
          </a:p>
          <a:p>
            <a:pPr>
              <a:spcAft>
                <a:spcPts val="1100"/>
              </a:spcAft>
              <a:defRPr sz="1900">
                <a:solidFill>
                  <a:srgbClr val="F2F5F8"/>
                </a:solidFill>
              </a:defRPr>
            </a:pPr>
            <a:r>
              <a:t>• Immediate coalescing merges on each release; deferred coalescing postpones work until needed.</a:t>
            </a:r>
          </a:p>
          <a:p>
            <a:pPr>
              <a:spcAft>
                <a:spcPts val="1100"/>
              </a:spcAft>
              <a:defRPr sz="1900">
                <a:solidFill>
                  <a:srgbClr val="F2F5F8"/>
                </a:solidFill>
              </a:defRPr>
            </a:pPr>
            <a:r>
              <a:t>• Either policy must avoid merging across live blocks or unrelated regions.</a:t>
            </a:r>
          </a:p>
          <a:p>
            <a:pPr>
              <a:spcAft>
                <a:spcPts val="1100"/>
              </a:spcAft>
              <a:defRPr sz="1900">
                <a:solidFill>
                  <a:srgbClr val="F2F5F8"/>
                </a:solidFill>
              </a:defRPr>
            </a:pPr>
            <a:r>
              <a:t>• A correct merge removes old list entries before inserting the combined block exactly once.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10.8 Alignment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allocator must align the payload, not merely the block header.</a:t>
            </a:r>
          </a:p>
          <a:p>
            <a:pPr>
              <a:spcAft>
                <a:spcPts val="1100"/>
              </a:spcAft>
              <a:defRPr sz="1900">
                <a:solidFill>
                  <a:srgbClr val="F2F5F8"/>
                </a:solidFill>
              </a:defRPr>
            </a:pPr>
            <a:r>
              <a:t>• A header whose size is not a multiple of the requested alignment can misalign the returned address.</a:t>
            </a:r>
          </a:p>
          <a:p>
            <a:pPr>
              <a:spcAft>
                <a:spcPts val="1100"/>
              </a:spcAft>
              <a:defRPr sz="1700">
                <a:solidFill>
                  <a:srgbClr val="F2F5F8"/>
                </a:solidFill>
              </a:defRPr>
            </a:pPr>
            <a:r>
              <a:t>• The allocator may add padding before the payload and must retain enough information to find the actual block on release.</a:t>
            </a:r>
          </a:p>
          <a:p>
            <a:pPr>
              <a:spcAft>
                <a:spcPts val="1100"/>
              </a:spcAft>
              <a:defRPr sz="1900">
                <a:solidFill>
                  <a:srgbClr val="F2F5F8"/>
                </a:solidFill>
              </a:defRPr>
            </a:pPr>
            <a:r>
              <a:t>• For an arena, alignment consumes part of the remaining space before the requested bytes are reserved.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10.8 Alignment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an arena, alignment consumes part of the remaining space before the requested bytes are reserved.</a:t>
            </a:r>
          </a:p>
          <a:p>
            <a:pPr>
              <a:spcAft>
                <a:spcPts val="1100"/>
              </a:spcAft>
              <a:defRPr sz="1900">
                <a:solidFill>
                  <a:srgbClr val="F2F5F8"/>
                </a:solidFill>
              </a:defRPr>
            </a:pPr>
            <a:r>
              <a:t>• Check both components.</a:t>
            </a:r>
          </a:p>
          <a:p>
            <a:pPr>
              <a:spcAft>
                <a:spcPts val="1100"/>
              </a:spcAft>
              <a:defRPr sz="1900">
                <a:solidFill>
                  <a:srgbClr val="F2F5F8"/>
                </a:solidFill>
              </a:defRPr>
            </a:pPr>
            <a:r>
              <a:t>• C++ std::align can help find an aligned subregion within a bounded span of storage.</a:t>
            </a:r>
          </a:p>
          <a:p>
            <a:pPr>
              <a:spcAft>
                <a:spcPts val="1100"/>
              </a:spcAft>
              <a:defRPr sz="1900">
                <a:solidFill>
                  <a:srgbClr val="F2F5F8"/>
                </a:solidFill>
              </a:defRPr>
            </a:pPr>
            <a:r>
              <a:t>• It does not allocate more memory or initialize an object; it only adjusts a pointer and available-space description.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10.9 Internal fragmentation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Internal fragmentation is unused space inside an allocated block, such as rounding a 13-byte request to a 16-byte size class.</a:t>
            </a:r>
          </a:p>
          <a:p>
            <a:pPr>
              <a:spcAft>
                <a:spcPts val="1100"/>
              </a:spcAft>
              <a:defRPr sz="1900">
                <a:solidFill>
                  <a:srgbClr val="F2F5F8"/>
                </a:solidFill>
              </a:defRPr>
            </a:pPr>
            <a:r>
              <a:t>• The application owns the block’s payload contract but may not be allowed to use all allocator-internal spare bytes.</a:t>
            </a:r>
          </a:p>
          <a:p>
            <a:pPr>
              <a:spcAft>
                <a:spcPts val="1100"/>
              </a:spcAft>
              <a:defRPr sz="1700">
                <a:solidFill>
                  <a:srgbClr val="F2F5F8"/>
                </a:solidFill>
              </a:defRPr>
            </a:pPr>
            <a:r>
              <a:t>• Measure internal fragmentation as actual reserved bytes minus requested useful bytes under a clearly stated accounting rule.</a:t>
            </a:r>
          </a:p>
          <a:p>
            <a:pPr>
              <a:spcAft>
                <a:spcPts val="1100"/>
              </a:spcAft>
              <a:defRPr sz="1900">
                <a:solidFill>
                  <a:srgbClr val="F2F5F8"/>
                </a:solidFill>
              </a:defRPr>
            </a:pPr>
            <a:r>
              <a:t>• Headers and alignment padding may be reported separately or included; consistency matters.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10.9 Internal fragmentation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Measure internal fragmentation as actual reserved bytes minus requested useful bytes under a clearly stated accounting rule.</a:t>
            </a:r>
          </a:p>
          <a:p>
            <a:pPr>
              <a:spcAft>
                <a:spcPts val="1100"/>
              </a:spcAft>
              <a:defRPr sz="1900">
                <a:solidFill>
                  <a:srgbClr val="F2F5F8"/>
                </a:solidFill>
              </a:defRPr>
            </a:pPr>
            <a:r>
              <a:t>• Headers and alignment padding may be reported separately or included; consistency matters.</a:t>
            </a:r>
          </a:p>
          <a:p>
            <a:pPr>
              <a:spcAft>
                <a:spcPts val="1100"/>
              </a:spcAft>
              <a:defRPr sz="1900">
                <a:solidFill>
                  <a:srgbClr val="F2F5F8"/>
                </a:solidFill>
              </a:defRPr>
            </a:pPr>
            <a:r>
              <a:t>• A small per-object waste becomes substantial when millions of objects are live.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10.10 External fragmentation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External fragmentation occurs when free space is divided into regions that cannot satisfy a larger request even though their total size is sufficient.</a:t>
            </a:r>
          </a:p>
          <a:p>
            <a:pPr>
              <a:spcAft>
                <a:spcPts val="1100"/>
              </a:spcAft>
              <a:defRPr sz="1900">
                <a:solidFill>
                  <a:srgbClr val="F2F5F8"/>
                </a:solidFill>
              </a:defRPr>
            </a:pPr>
            <a:r>
              <a:t>• Two free 40-byte regions separated by a live block cannot satisfy one contiguous 64-byte request.</a:t>
            </a:r>
          </a:p>
          <a:p>
            <a:pPr>
              <a:spcAft>
                <a:spcPts val="1100"/>
              </a:spcAft>
              <a:defRPr sz="1900">
                <a:solidFill>
                  <a:srgbClr val="F2F5F8"/>
                </a:solidFill>
              </a:defRPr>
            </a:pPr>
            <a:r>
              <a:t>• Coalescing helps only when free regions are physically adjacent.</a:t>
            </a:r>
          </a:p>
          <a:p>
            <a:pPr>
              <a:spcAft>
                <a:spcPts val="1100"/>
              </a:spcAft>
              <a:defRPr sz="1900">
                <a:solidFill>
                  <a:srgbClr val="F2F5F8"/>
                </a:solidFill>
              </a:defRPr>
            </a:pPr>
            <a:r>
              <a:t>• Compaction could move live objects, but ordinary raw pointers make transparent movement difficult.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10.10 External fragmentation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Coalescing helps only when free regions are physically adjacent.</a:t>
            </a:r>
          </a:p>
          <a:p>
            <a:pPr>
              <a:spcAft>
                <a:spcPts val="1100"/>
              </a:spcAft>
              <a:defRPr sz="1900">
                <a:solidFill>
                  <a:srgbClr val="F2F5F8"/>
                </a:solidFill>
              </a:defRPr>
            </a:pPr>
            <a:r>
              <a:t>• Compaction could move live objects, but ordinary raw pointers make transparent movement difficult.</a:t>
            </a:r>
          </a:p>
          <a:p>
            <a:pPr>
              <a:spcAft>
                <a:spcPts val="1100"/>
              </a:spcAft>
              <a:defRPr sz="1700">
                <a:solidFill>
                  <a:srgbClr val="F2F5F8"/>
                </a:solidFill>
              </a:defRPr>
            </a:pPr>
            <a:r>
              <a:t>• Handles, indirection, or moving-memory runtimes can support compaction; a conventional C allocator cannot simply relocate an arbitrary live allocation without the...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10.11 Arena allocation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arena obtains a region and serves allocations from it, often by advancing a cursor.</a:t>
            </a:r>
          </a:p>
          <a:p>
            <a:pPr>
              <a:spcAft>
                <a:spcPts val="1100"/>
              </a:spcAft>
              <a:defRPr sz="1900">
                <a:solidFill>
                  <a:srgbClr val="F2F5F8"/>
                </a:solidFill>
              </a:defRPr>
            </a:pPr>
            <a:r>
              <a:t>• Individual deallocation may be omitted; all storage is reset together.</a:t>
            </a:r>
          </a:p>
          <a:p>
            <a:pPr>
              <a:spcAft>
                <a:spcPts val="1100"/>
              </a:spcAft>
              <a:defRPr sz="1900">
                <a:solidFill>
                  <a:srgbClr val="F2F5F8"/>
                </a:solidFill>
              </a:defRPr>
            </a:pPr>
            <a:r>
              <a:t>• This makes allocation fast and cleanup simple when objects share a lifetime, such as one parsed document or request.</a:t>
            </a:r>
          </a:p>
          <a:p>
            <a:pPr>
              <a:spcAft>
                <a:spcPts val="1100"/>
              </a:spcAft>
              <a:defRPr sz="1900">
                <a:solidFill>
                  <a:srgbClr val="F2F5F8"/>
                </a:solidFill>
              </a:defRPr>
            </a:pPr>
            <a:r>
              <a:t>• Resetting an arena invalidates every object and view backed by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10.11 Arena allocation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Resetting an arena invalidates every object and view backed by it.</a:t>
            </a:r>
          </a:p>
          <a:p>
            <a:pPr>
              <a:spcAft>
                <a:spcPts val="1100"/>
              </a:spcAft>
              <a:defRPr sz="1900">
                <a:solidFill>
                  <a:srgbClr val="F2F5F8"/>
                </a:solidFill>
              </a:defRPr>
            </a:pPr>
            <a:r>
              <a:t>• Nontrivial C++ objects may need destructors before reset, and retained pointers must not escape the arena’s lifetime.</a:t>
            </a:r>
          </a:p>
          <a:p>
            <a:pPr>
              <a:spcAft>
                <a:spcPts val="1100"/>
              </a:spcAft>
              <a:defRPr sz="1900">
                <a:solidFill>
                  <a:srgbClr val="F2F5F8"/>
                </a:solidFill>
              </a:defRPr>
            </a:pPr>
            <a:r>
              <a:t>• An arena trades flexible reclamation for a stronger lifetime discipline.</a:t>
            </a:r>
          </a:p>
          <a:p>
            <a:pPr>
              <a:spcAft>
                <a:spcPts val="1100"/>
              </a:spcAft>
              <a:defRPr sz="1700">
                <a:solidFill>
                  <a:srgbClr val="F2F5F8"/>
                </a:solidFill>
              </a:defRPr>
            </a:pPr>
            <a:r>
              <a:t>• It is excellent when that discipline matches the problem and dangerous when callers assume independent object lifetimes.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bounded bump arena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requirement is to allocate aligned byte regions from a fixed 128-byte arena and reject requests that do not fit.</a:t>
            </a:r>
          </a:p>
          <a:p>
            <a:pPr>
              <a:spcAft>
                <a:spcPts val="1100"/>
              </a:spcAft>
              <a:defRPr sz="1900">
                <a:solidFill>
                  <a:srgbClr val="F2F5F8"/>
                </a:solidFill>
              </a:defRPr>
            </a:pPr>
            <a:r>
              <a:t>• Individual release is intentionally unsupported.</a:t>
            </a:r>
          </a:p>
          <a:p>
            <a:pPr>
              <a:spcAft>
                <a:spcPts val="1100"/>
              </a:spcAft>
              <a:defRPr sz="1900">
                <a:solidFill>
                  <a:srgbClr val="F2F5F8"/>
                </a:solidFill>
              </a:defRPr>
            </a:pPr>
            <a:r>
              <a:t>• The arena provides storage only; the example does not construct nontrivial objects inside it.</a:t>
            </a:r>
          </a:p>
          <a:p>
            <a:pPr>
              <a:spcAft>
                <a:spcPts val="1100"/>
              </a:spcAft>
              <a:defRPr sz="1900">
                <a:solidFill>
                  <a:srgbClr val="F2F5F8"/>
                </a:solidFill>
              </a:defRPr>
            </a:pPr>
            <a:r>
              <a:t>• Companion listing: ch10/arena.cpp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bounded bump arena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ch10/arena.cpp</a:t>
            </a:r>
          </a:p>
          <a:p>
            <a:pPr>
              <a:spcAft>
                <a:spcPts val="1100"/>
              </a:spcAft>
              <a:defRPr sz="1900">
                <a:solidFill>
                  <a:srgbClr val="F2F5F8"/>
                </a:solidFill>
              </a:defRPr>
            </a:pPr>
            <a:r>
              <a:t>• The first request consumes three bytes.</a:t>
            </a:r>
          </a:p>
          <a:p>
            <a:pPr>
              <a:spcAft>
                <a:spcPts val="1100"/>
              </a:spcAft>
              <a:defRPr sz="1700">
                <a:solidFill>
                  <a:srgbClr val="F2F5F8"/>
                </a:solidFill>
              </a:defRPr>
            </a:pPr>
            <a:r>
              <a:t>• On the stated alignment model, the next eight-byte-aligned start is offset 8, so five padding bytes are skipped and the second payload occupies offsets 8 through 15.</a:t>
            </a:r>
          </a:p>
          <a:p>
            <a:pPr>
              <a:spcAft>
                <a:spcPts val="1100"/>
              </a:spcAft>
              <a:defRPr sz="1900">
                <a:solidFill>
                  <a:srgbClr val="F2F5F8"/>
                </a:solidFill>
              </a:defRPr>
            </a:pPr>
            <a:r>
              <a:t>• The cursor becomes 16.</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Splitting a free block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Suppose a free-list allocator has a 256-byte free block and receives a 96-byte aligned request plus 16 bytes of metadata.</a:t>
            </a:r>
          </a:p>
          <a:p>
            <a:pPr>
              <a:spcAft>
                <a:spcPts val="1100"/>
              </a:spcAft>
              <a:defRPr sz="1700">
                <a:solidFill>
                  <a:srgbClr val="F2F5F8"/>
                </a:solidFill>
              </a:defRPr>
            </a:pPr>
            <a:r>
              <a:t>• If the allocator rounds the payload to 96 and needs 112 total bytes, it can allocate 112 bytes and leave a 144-byte remainder if that remainder is large enough to represent...</a:t>
            </a:r>
          </a:p>
          <a:p>
            <a:pPr>
              <a:spcAft>
                <a:spcPts val="1100"/>
              </a:spcAft>
              <a:defRPr sz="1900">
                <a:solidFill>
                  <a:srgbClr val="F2F5F8"/>
                </a:solidFill>
              </a:defRPr>
            </a:pPr>
            <a:r>
              <a:t>• Otherwise it may consume the whole block, creating internal fragmentation.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Splitting a free block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Suppose a free-list allocator has a 256-byte free block and receives a 96-byte aligned request plus 16 bytes of metadata.</a:t>
            </a:r>
          </a:p>
          <a:p>
            <a:pPr>
              <a:spcAft>
                <a:spcPts val="1100"/>
              </a:spcAft>
              <a:defRPr sz="1700">
                <a:solidFill>
                  <a:srgbClr val="F2F5F8"/>
                </a:solidFill>
              </a:defRPr>
            </a:pPr>
            <a:r>
              <a:t>• If the allocator rounds the payload to 96 and needs 112 total bytes, it can allocate 112 bytes and leave a 144-byte remainder if that remainder is large enough to...</a:t>
            </a:r>
          </a:p>
          <a:p>
            <a:pPr>
              <a:spcAft>
                <a:spcPts val="1100"/>
              </a:spcAft>
              <a:defRPr sz="1900">
                <a:solidFill>
                  <a:srgbClr val="F2F5F8"/>
                </a:solidFill>
              </a:defRPr>
            </a:pPr>
            <a:r>
              <a:t>• Otherwise it may consume the whole block, creating internal fragmentation.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Coalescing neighbors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Imagine three consecutive heap blocks: allocated 64, free 80, free 48.</a:t>
            </a:r>
          </a:p>
          <a:p>
            <a:pPr>
              <a:spcAft>
                <a:spcPts val="1100"/>
              </a:spcAft>
              <a:defRPr sz="1700">
                <a:solidFill>
                  <a:srgbClr val="F2F5F8"/>
                </a:solidFill>
              </a:defRPr>
            </a:pPr>
            <a:r>
              <a:t>• When the allocator notices the two free neighbors are physically adjacent, it can merge their payload and metadata representation into one larger free block.</a:t>
            </a:r>
          </a:p>
          <a:p>
            <a:pPr>
              <a:spcAft>
                <a:spcPts val="1100"/>
              </a:spcAft>
              <a:defRPr sz="1700">
                <a:solidFill>
                  <a:srgbClr val="F2F5F8"/>
                </a:solidFill>
              </a:defRPr>
            </a:pPr>
            <a:r>
              <a:t>• Coalescing reduces external fragmentation because future large requests can use space that was previously split into smaller holes.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Coalescing neighbors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Imagine three consecutive heap blocks: allocated 64, free 80, free 48.</a:t>
            </a:r>
          </a:p>
          <a:p>
            <a:pPr>
              <a:spcAft>
                <a:spcPts val="1100"/>
              </a:spcAft>
              <a:defRPr sz="1700">
                <a:solidFill>
                  <a:srgbClr val="F2F5F8"/>
                </a:solidFill>
              </a:defRPr>
            </a:pPr>
            <a:r>
              <a:t>• When the allocator notices the two free neighbors are physically adjacent, it can merge their payload and metadata representation into one larger free block.</a:t>
            </a:r>
          </a:p>
          <a:p>
            <a:pPr>
              <a:spcAft>
                <a:spcPts val="1100"/>
              </a:spcAft>
              <a:defRPr sz="1700">
                <a:solidFill>
                  <a:srgbClr val="F2F5F8"/>
                </a:solidFill>
              </a:defRPr>
            </a:pPr>
            <a:r>
              <a:t>• Coalescing reduces external fragmentation because future large requests can use space that was previously split into smaller holes.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Staged project — A reusable free-list allocator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bump arena is intentionally retained because it isolates alignment and bounded allocation.</a:t>
            </a:r>
          </a:p>
          <a:p>
            <a:pPr>
              <a:spcAft>
                <a:spcPts val="1100"/>
              </a:spcAft>
              <a:defRPr sz="1700">
                <a:solidFill>
                  <a:srgbClr val="F2F5F8"/>
                </a:solidFill>
              </a:defRPr>
            </a:pPr>
            <a:r>
              <a:t>• The next implementation adds individual deallocation and combines the mechanisms introduced in Sections 10.1 through 10.10.</a:t>
            </a:r>
          </a:p>
          <a:p>
            <a:pPr>
              <a:spcAft>
                <a:spcPts val="1100"/>
              </a:spcAft>
              <a:defRPr sz="1700">
                <a:solidFill>
                  <a:srgbClr val="F2F5F8"/>
                </a:solidFill>
              </a:defRPr>
            </a:pPr>
            <a:r>
              <a:t>• Its contract is deliberately narrower than malloc : it manages one fixed 512-byte region, returns storage aligned to 16 bytes, accepts only pointers returned by its own...</a:t>
            </a:r>
          </a:p>
          <a:p>
            <a:pPr>
              <a:spcAft>
                <a:spcPts val="1100"/>
              </a:spcAft>
              <a:defRPr sz="1900">
                <a:solidFill>
                  <a:srgbClr val="F2F5F8"/>
                </a:solidFill>
              </a:defRPr>
            </a:pPr>
            <a:r>
              <a:t>• It is single-threaded and does not construct C++ objects.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Staged project — A reusable free-list allocator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ch10/freelist_allocator.cpp</a:t>
            </a:r>
          </a:p>
          <a:p>
            <a:pPr>
              <a:spcAft>
                <a:spcPts val="1100"/>
              </a:spcAft>
              <a:defRPr sz="1900">
                <a:solidFill>
                  <a:srgbClr val="F2F5F8"/>
                </a:solidFill>
              </a:defRPr>
            </a:pPr>
            <a:r>
              <a:t>• The companion listing contains the complete definitions and executable tests.</a:t>
            </a:r>
          </a:p>
          <a:p>
            <a:pPr>
              <a:spcAft>
                <a:spcPts val="1100"/>
              </a:spcAft>
              <a:defRPr sz="1700">
                <a:solidFill>
                  <a:srgbClr val="F2F5F8"/>
                </a:solidFill>
              </a:defRPr>
            </a:pPr>
            <a:r>
              <a:t>• Keeping block descriptors in a vector rather than inside the managed bytes makes the teaching invariant easier to inspect: descriptors are in increasing address order,...</a:t>
            </a:r>
          </a:p>
          <a:p>
            <a:pPr>
              <a:spcAft>
                <a:spcPts val="1100"/>
              </a:spcAft>
              <a:defRPr sz="1900">
                <a:solidFill>
                  <a:srgbClr val="F2F5F8"/>
                </a:solidFill>
              </a:defRPr>
            </a:pPr>
            <a:r>
              <a:t>• A production allocator would normally avoid allocating metadata dynamically while servicing an allocation request.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10.</a:t>
            </a:r>
          </a:p>
          <a:p>
            <a:pPr>
              <a:spcAft>
                <a:spcPts val="1100"/>
              </a:spcAft>
              <a:defRPr sz="1900">
                <a:solidFill>
                  <a:srgbClr val="F2F5F8"/>
                </a:solidFill>
              </a:defRPr>
            </a:pPr>
            <a:r>
              <a:t>• Add accounting for requested bytes and alignment padding.</a:t>
            </a:r>
          </a:p>
          <a:p>
            <a:pPr>
              <a:spcAft>
                <a:spcPts val="1100"/>
              </a:spcAft>
              <a:defRPr sz="1700">
                <a:solidFill>
                  <a:srgbClr val="F2F5F8"/>
                </a:solidFill>
              </a:defRPr>
            </a:pPr>
            <a:r>
              <a:t>• Allocate a sequence of differently aligned requests, then verify that every successful region lies inside the arena and that no two live regions overlap.</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Distinguish internal from external fragmentation using a concrete layout.</a:t>
            </a:r>
          </a:p>
          <a:p>
            <a:pPr>
              <a:spcAft>
                <a:spcPts val="1100"/>
              </a:spcAft>
              <a:defRPr sz="1900">
                <a:solidFill>
                  <a:srgbClr val="F2F5F8"/>
                </a:solidFill>
              </a:defRPr>
            </a:pPr>
            <a:r>
              <a:t>• Review 2.</a:t>
            </a:r>
          </a:p>
          <a:p>
            <a:pPr>
              <a:spcAft>
                <a:spcPts val="1100"/>
              </a:spcAft>
              <a:defRPr sz="1900">
                <a:solidFill>
                  <a:srgbClr val="F2F5F8"/>
                </a:solidFill>
              </a:defRPr>
            </a:pPr>
            <a:r>
              <a:t>• Why can two consecutive free-list nodes fail to be coalescible?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memory allocators.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Memory Errors.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10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