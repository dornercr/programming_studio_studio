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40 — Pipes and Redirection</a:t>
            </a:r>
          </a:p>
          <a:p/>
          <a:p>
            <a:r>
              <a:t>LECTURE NARRATION</a:t>
            </a:r>
          </a:p>
          <a:p>
            <a:r>
              <a:t>A pipe connects a byte-producing endpoint to a byte-consuming endpoint. Descriptors and duplication let a shell attach those endpoints to a program’s standard input or output without changing the program’s own source. The difficult part is not creating the pipe; it is closing every unused reference and coordinating concurrent execution. [ R18 , R19 , R48 ]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pipe connects a byte-producing endpoint to a byte-consuming endpoint.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pipe connects a byte-producing endpoint to a byte-consuming endpoint. Descriptors and duplication let a shell attach those endpoints to a program’s standard input or output without changing the program’s own source. The difficult part is not creating the pipe; it is closing every unused reference and coordinating concurrent execution. [ R18 , R19 , R48 ]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pipe connects a byte-producing endpoint to a byte-consuming endpoint.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40.1 Pipes 40.2 Pipe buffers 40.3 Blocking 40.4 File-descriptor duplication ...plus 9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40.1 Pipes 40.2 Pipe buffers 40.3 Blocking 40.4 File-descriptor duplication ...plus 9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40.1 Pipes</a:t>
            </a:r>
          </a:p>
          <a:p/>
          <a:p>
            <a:r>
              <a:t>LECTURE NARRATION</a:t>
            </a:r>
          </a:p>
          <a:p>
            <a:r>
              <a:t>pipe returns two descriptors: one for reading and one for writing. Bytes written to the write end become available at the read end in order. The pipe does not preserve arbitrary application message boundaries as a record protocol. A reader sees end of file only after all write-end references are closed and buffered bytes have been consumed. “The original writer exited” is insufficient when another process accidentally retains a write descriptor.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pipe returns two descriptors: one for reading and one for writing.</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40.1 Pipes — Deep Dive</a:t>
            </a:r>
          </a:p>
          <a:p/>
          <a:p>
            <a:r>
              <a:t>LECTURE NARRATION</a:t>
            </a:r>
          </a:p>
          <a:p>
            <a:r>
              <a:t>pipe returns two descriptors: one for reading and one for writing. Bytes written to the write end become available at the read end in order. The pipe does not preserve arbitrary application message boundaries as a record protocol. A reader sees end of file only after all write-end references are closed and buffered bytes have been consumed. “The original writer exited” is insufficient when another process accidentally retains a write descriptor.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pipe returns two descriptors: one for reading and one for writing.</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40.2 Pipe buffers</a:t>
            </a:r>
          </a:p>
          <a:p/>
          <a:p>
            <a:r>
              <a:t>LECTURE NARRATION</a:t>
            </a:r>
          </a:p>
          <a:p>
            <a:r>
              <a:t>The kernel stores a bounded amount of pending pipe data. Buffer capacity is not the same as PIPE_BUF , which concerns atomicity guarantees for appropriately sized writes under the documented conditions. Large writes from several writers can interleave. A multiwriter protocol must define record sizes and synchronization rather than assume that one source-level write always becomes one indivisible record. Capacity can vary with system configuration and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kernel stores a bounded amount of pending pipe data.</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40.2 Pipe buffers — Deep Dive</a:t>
            </a:r>
          </a:p>
          <a:p/>
          <a:p>
            <a:r>
              <a:t>LECTURE NARRATION</a:t>
            </a:r>
          </a:p>
          <a:p>
            <a:r>
              <a:t>The kernel stores a bounded amount of pending pipe data. Buffer capacity is not the same as PIPE_BUF , which concerns atomicity guarantees for appropriately sized writes under the documented conditions. Large writes from several writers can interleave. A multiwriter protocol must define record sizes and synchronization rather than assume that one source-level write always becomes one indivisible record. Capacity can vary with system configuration and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kernel stores a bounded amount of pending pipe data.</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40.3 Blocking</a:t>
            </a:r>
          </a:p>
          <a:p/>
          <a:p>
            <a:r>
              <a:t>LECTURE NARRATION</a:t>
            </a:r>
          </a:p>
          <a:p>
            <a:r>
              <a:t>A blocking read waits when the pipe is empty but writers still exist. A blocking write can wait when capacity is unavailable. If all read ends are closed, writing can cause SIGPIPE or report EPIPE when signal policy permits the error to be observed. These rules make lifecycle mistakes visible as hangs or unexpected termination. Waiting for a producer before starting its consumer can deadlock when the producer fills the pipe. Start communicating participants before waiting for their completion.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blocking read waits when the pipe is empty but writers still exist.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40.3 Blocking — Deep Dive</a:t>
            </a:r>
          </a:p>
          <a:p/>
          <a:p>
            <a:r>
              <a:t>LECTURE NARRATION</a:t>
            </a:r>
          </a:p>
          <a:p>
            <a:r>
              <a:t>A blocking read waits when the pipe is empty but writers still exist. A blocking write can wait when capacity is unavailable. If all read ends are closed, writing can cause SIGPIPE or report EPIPE when signal policy permits the error to be observed. These rules make lifecycle mistakes visible as hangs or unexpected termination. Waiting for a producer before starting its consumer can deadlock when the producer fills the pipe. Start communicating participants before waiting for their completion.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blocking read waits when the pipe is empty but writers still exist.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40.4 File-descriptor duplication</a:t>
            </a:r>
          </a:p>
          <a:p/>
          <a:p>
            <a:r>
              <a:t>LECTURE NARRATION</a:t>
            </a:r>
          </a:p>
          <a:p>
            <a:r>
              <a:t>Duplication creates another descriptor referring to the same open file description. Both descriptors keep the underlying open object referenced until each is closed. The new descriptor is a new ownership obligation even though it refers to the same object. Duplication shares the underlying offset and status where applicable; it does not copy file contents or create an independent seek position. Descriptor-specific flags have separate rules and should be set deliberately.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40.4 File-descriptor duplication — Deep Dive</a:t>
            </a:r>
          </a:p>
          <a:p/>
          <a:p>
            <a:r>
              <a:t>LECTURE NARRATION</a:t>
            </a:r>
          </a:p>
          <a:p>
            <a:r>
              <a:t>Duplication creates another descriptor referring to the same open file description. Both descriptors keep the underlying open object referenced until each is closed. The new descriptor is a new ownership obligation even though it refers to the same object. Duplication shares the underlying offset and status where applicable; it does not copy file contents or create an independent seek position. Descriptor-specific flags have separate rules and should be set deliberately.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40.5 dup</a:t>
            </a:r>
          </a:p>
          <a:p/>
          <a:p>
            <a:r>
              <a:t>LECTURE NARRATION</a:t>
            </a:r>
          </a:p>
          <a:p>
            <a:r>
              <a:t>dup chooses an available descriptor number and makes it refer to the same open file description as the source. It is useful when preserving an existing stream before temporary redirection. The copied integer value alone would not preserve anything: closing the original table entry would invalidate all variables holding that number. dup creates an actual additional kernel reference.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dup chooses an available descriptor number and makes it refer to the same open file description as the source.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40.5 dup — Deep Dive</a:t>
            </a:r>
          </a:p>
          <a:p/>
          <a:p>
            <a:r>
              <a:t>LECTURE NARRATION</a:t>
            </a:r>
          </a:p>
          <a:p>
            <a:r>
              <a:t>dup chooses an available descriptor number and makes it refer to the same open file description as the source. It is useful when preserving an existing stream before temporary redirection. The copied integer value alone would not preserve anything: closing the original table entry would invalidate all variables holding that number. dup creates an actual additional kernel reference.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dup chooses an available descriptor number and makes it refer to the same open file description as the source.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40.6 dup2</a:t>
            </a:r>
          </a:p>
          <a:p/>
          <a:p>
            <a:r>
              <a:t>LECTURE NARRATION</a:t>
            </a:r>
          </a:p>
          <a:p>
            <a:r>
              <a:t>dup2(oldfd, newfd) makes a specific descriptor number refer to the source object, atomically replacing an existing target reference when appropriate. This avoids the race in a separate close(newfd) followed by dup(oldfd) sequence. When oldfd == newfd and the descriptor is valid, the operation leaves it as that descriptor. Cleanup code must not then blindly close the source number if doing so would close the newly intended standard stream. The example below tests this case before closing the source reference.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dup2(oldfd, newfd) makes a specific descriptor number refer to the source object, atomically replacing an existing target reference when appropriate.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40.6 dup2 — Deep Dive</a:t>
            </a:r>
          </a:p>
          <a:p/>
          <a:p>
            <a:r>
              <a:t>LECTURE NARRATION</a:t>
            </a:r>
          </a:p>
          <a:p>
            <a:r>
              <a:t>dup2(oldfd, newfd) makes a specific descriptor number refer to the source object, atomically replacing an existing target reference when appropriate. This avoids the race in a separate close(newfd) followed by dup(oldfd) sequence. When oldfd == newfd and the descriptor is valid, the operation leaves it as that descriptor. Cleanup code must not then blindly close the source number if doing so would close the newly intended standard stream. The example below tests this case before closing the source reference.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dup2(oldfd, newfd) makes a specific descriptor number refer to the source object, atomically replacing an existing target reference when appropriate.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40.7 Input redirection</a:t>
            </a:r>
          </a:p>
          <a:p/>
          <a:p>
            <a:r>
              <a:t>LECTURE NARRATION</a:t>
            </a:r>
          </a:p>
          <a:p>
            <a:r>
              <a:t>Input redirection opens or obtains a source descriptor and duplicates it onto descriptor 0 before exec. The executed program reads standard input normally and need not know that a file or pipe supplied it. Apply redirections in the defined order. Shell constructs that duplicate descriptors can produce different results depending on whether an earlier redirection has already changed the source descriptor. A shell implementation must preserve syntax order rather than sort redirections arbitrarily.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input redirection opens or obtains a source descriptor and duplicates it onto descriptor 0 before exec.</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40.7 Input redirection — Deep Dive</a:t>
            </a:r>
          </a:p>
          <a:p/>
          <a:p>
            <a:r>
              <a:t>LECTURE NARRATION</a:t>
            </a:r>
          </a:p>
          <a:p>
            <a:r>
              <a:t>Input redirection opens or obtains a source descriptor and duplicates it onto descriptor 0 before exec. The executed program reads standard input normally and need not know that a file or pipe supplied it. Apply redirections in the defined order. Shell constructs that duplicate descriptors can produce different results depending on whether an earlier redirection has already changed the source descriptor. A shell implementation must preserve syntax order rather than sort redirections arbitrarily.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input redirection opens or obtains a source descriptor and duplicates it onto descriptor 0 before exec.</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40.8 Output redirection</a:t>
            </a:r>
          </a:p>
          <a:p/>
          <a:p>
            <a:r>
              <a:t>LECTURE NARRATION</a:t>
            </a:r>
          </a:p>
          <a:p>
            <a:r>
              <a:t>Output redirection duplicates a destination onto descriptor 1. File creation, append behavior, and truncation must be requested explicitly. Diagnostics should remain on descriptor 2 unless the command syntax redirects them as well. Opening a destination can fail before exec. The child should report the setup failure and terminate rather than execute the requested program with an unintended output destination. Resource setup is part of launch correctness.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output redirection duplicates a destination onto descriptor 1.</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40.8 Output redirection — Deep Dive</a:t>
            </a:r>
          </a:p>
          <a:p/>
          <a:p>
            <a:r>
              <a:t>LECTURE NARRATION</a:t>
            </a:r>
          </a:p>
          <a:p>
            <a:r>
              <a:t>Output redirection duplicates a destination onto descriptor 1. File creation, append behavior, and truncation must be requested explicitly. Diagnostics should remain on descriptor 2 unless the command syntax redirects them as well. Opening a destination can fail before exec. The child should report the setup failure and terminate rather than execute the requested program with an unintended output destination. Resource setup is part of launch correctness.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output redirection duplicates a destination onto descriptor 1.</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40.9 Pipelines</a:t>
            </a:r>
          </a:p>
          <a:p/>
          <a:p>
            <a:r>
              <a:t>LECTURE NARRATION</a:t>
            </a:r>
          </a:p>
          <a:p>
            <a:r>
              <a:t>A pipeline connects several processes so that one process’s output feeds the next process’s input. The parent creates pipes, launches all stages, closes its unused ends, and then waits according to its policy. Every child must close pipe ends it does not need. In a longer pipeline, this includes descriptors for other stages, not only its immediate neighbor. A descriptor ownership table is often the clearest way to design and review the launch sequence.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pipeline connects several processes so that one process’s output feeds the next process’s input.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40.9 Pipelines — Deep Dive</a:t>
            </a:r>
          </a:p>
          <a:p/>
          <a:p>
            <a:r>
              <a:t>LECTURE NARRATION</a:t>
            </a:r>
          </a:p>
          <a:p>
            <a:r>
              <a:t>A pipeline connects several processes so that one process’s output feeds the next process’s input. The parent creates pipes, launches all stages, closes its unused ends, and then waits according to its policy. Every child must close pipe ends it does not need. In a longer pipeline, this includes descriptors for other stages, not only its immediate neighbor. A descriptor ownership table is often the clearest way to design and review the launch sequence.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pipeline connects several processes so that one process’s output feeds the next process’s input.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Two concurrently started stages</a:t>
            </a:r>
          </a:p>
          <a:p/>
          <a:p>
            <a:r>
              <a:t>LECTURE NARRATION</a:t>
            </a:r>
          </a:p>
          <a:p>
            <a:r>
              <a:t>This program runs a fixed, harmless pipeline equivalent to producing two lines and counting them. It assumes the reference environment provides printf and wc in the controlled system path. It is not a general shell. Companion listing: ch40/pipeline.c The output contains the line count 2, with formatting determined by wc . Both processes are launched before either is waited for. On second-fork failure, the parent closes both ends and reaps the already-created producer; the fixed producer exits when its output cannot be delivered under the ordinary broken-pipe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Two concurrently started stages — Deep Dive</a:t>
            </a:r>
          </a:p>
          <a:p/>
          <a:p>
            <a:r>
              <a:t>LECTURE NARRATION</a:t>
            </a:r>
          </a:p>
          <a:p>
            <a:r>
              <a:t>This program runs a fixed, harmless pipeline equivalent to producing two lines and counting them. It assumes the reference environment provides printf and wc in the controlled system path. It is not a general shell. Companion listing: ch40/pipeline.c The output contains the line count 2, with formatting determined by wc . Both processes are launched before either is waited for. On second-fork failure, the parent closes both ends and reaps the already-created producer; the fixed producer exits when its output cannot be delivered under the ordinary broken-pipe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Constructing producer | consumer</a:t>
            </a:r>
          </a:p>
          <a:p/>
          <a:p>
            <a:r>
              <a:t>LECTURE NARRATION</a:t>
            </a:r>
          </a:p>
          <a:p>
            <a:r>
              <a:t>Create a pipe, fork both children, connect the producer’s standard output to the pipe’s write end with dup2 , and connect the consumer’s standard input to the read end. Close unused pipe ends in every process. If the parent accidentally keeps a write end open, the consumer may never observe EOF after the producer exits.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create a pipe, fork both children, connect the producer’s standard output to the pipe’s write end with dup2 , and connect the consumer’s standard input to the read end.</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Constructing producer | consumer — Deep Dive</a:t>
            </a:r>
          </a:p>
          <a:p/>
          <a:p>
            <a:r>
              <a:t>LECTURE NARRATION</a:t>
            </a:r>
          </a:p>
          <a:p>
            <a:r>
              <a:t>Create a pipe, fork both children, connect the producer’s standard output to the pipe’s write end with dup2 , and connect the consumer’s standard input to the read end. Close unused pipe ends in every process. If the parent accidentally keeps a write end open, the consumer may never observe EOF after the producer exits.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create a pipe, fork both children, connect the producer’s standard output to the pipe’s write end with dup2 , and connect the consumer’s standard input to the read end.</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Redirecting output</a:t>
            </a:r>
          </a:p>
          <a:p/>
          <a:p>
            <a:r>
              <a:t>LECTURE NARRATION</a:t>
            </a:r>
          </a:p>
          <a:p>
            <a:r>
              <a:t>To implement cmd &gt; out.txt , open the destination file with the desired creation/truncation flags, then duplicate that descriptor onto standard output before executing the program. After dup2 , ordinary writes to descriptor 1 flow to the file. Close the now-redundant original descriptor when safe.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to implement cmd &gt; out.txt , open the destination file with the desired creation/truncation flags, then duplicate that descriptor onto standard output before executing the program.</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Redirecting output — Deep Dive</a:t>
            </a:r>
          </a:p>
          <a:p/>
          <a:p>
            <a:r>
              <a:t>LECTURE NARRATION</a:t>
            </a:r>
          </a:p>
          <a:p>
            <a:r>
              <a:t>To implement cmd &gt; out.txt , open the destination file with the desired creation/truncation flags, then duplicate that descriptor onto standard output before executing the program. After dup2 , ordinary writes to descriptor 1 flow to the file. Close the now-redundant original descriptor when safe.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to implement cmd &gt; out.txt , open the destination file with the desired creation/truncation flags, then duplicate that descriptor onto standard output before executing the program.</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Guided lab and review</a:t>
            </a:r>
          </a:p>
          <a:p/>
          <a:p>
            <a:r>
              <a:t>LECTURE NARRATION</a:t>
            </a:r>
          </a:p>
          <a:p>
            <a:r>
              <a:t>Lab 40. Draw a descriptor table for parent, producer, and consumer immediately after both forks and again after cleanup. For a larger temporary payload, explain why starting the consumer before waiting is essential. Review 1. Why can an unused write descriptor prevent EOF? Review 2. How does PIPE_BUF differ from total pipe capacity?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40.</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Guided lab and review — Deep Dive</a:t>
            </a:r>
          </a:p>
          <a:p/>
          <a:p>
            <a:r>
              <a:t>LECTURE NARRATION</a:t>
            </a:r>
          </a:p>
          <a:p>
            <a:r>
              <a:t>Lab 40. Draw a descriptor table for parent, producer, and consumer immediately after both forks and again after cleanup. For a larger temporary payload, explain why starting the consumer before waiting is essential. Review 1. Why can an unused write descriptor prevent EOF? Review 2. How does PIPE_BUF differ from total pipe capacity?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40.</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Chapter Synthesis</a:t>
            </a:r>
          </a:p>
          <a:p/>
          <a:p>
            <a:r>
              <a:t>LECTURE NARRATION</a:t>
            </a:r>
          </a:p>
          <a:p>
            <a:r>
              <a:t>The chapter's central subject is pipes and redirection.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pipes and redirection.</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Signals.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40 — Pipes and Redirection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pipe connects a byte-producing endpoint to a byte-consuming endpoint.</a:t>
            </a:r>
          </a:p>
          <a:p>
            <a:pPr>
              <a:spcAft>
                <a:spcPts val="1100"/>
              </a:spcAft>
              <a:defRPr sz="1700">
                <a:solidFill>
                  <a:srgbClr val="F2F5F8"/>
                </a:solidFill>
              </a:defRPr>
            </a:pPr>
            <a:r>
              <a:t>• Descriptors and duplication let a shell attach those endpoints to a program’s standard input or output without changing the program’s own source.</a:t>
            </a:r>
          </a:p>
          <a:p>
            <a:pPr>
              <a:spcAft>
                <a:spcPts val="1100"/>
              </a:spcAft>
              <a:defRPr sz="1700">
                <a:solidFill>
                  <a:srgbClr val="F2F5F8"/>
                </a:solidFill>
              </a:defRPr>
            </a:pPr>
            <a:r>
              <a:t>• The difficult part is not creating the pipe; it is closing every unused reference and coordinating concurrent execution. [ R18 , R19 , R48 ]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Pipes and Redirection.</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40.1 Pipes</a:t>
            </a:r>
          </a:p>
          <a:p>
            <a:pPr>
              <a:spcAft>
                <a:spcPts val="1100"/>
              </a:spcAft>
              <a:defRPr sz="1900">
                <a:solidFill>
                  <a:srgbClr val="F2F5F8"/>
                </a:solidFill>
              </a:defRPr>
            </a:pPr>
            <a:r>
              <a:t>• 40.2 Pipe buffers</a:t>
            </a:r>
          </a:p>
          <a:p>
            <a:pPr>
              <a:spcAft>
                <a:spcPts val="1100"/>
              </a:spcAft>
              <a:defRPr sz="1900">
                <a:solidFill>
                  <a:srgbClr val="F2F5F8"/>
                </a:solidFill>
              </a:defRPr>
            </a:pPr>
            <a:r>
              <a:t>• 40.3 Blocking</a:t>
            </a:r>
          </a:p>
          <a:p>
            <a:pPr>
              <a:spcAft>
                <a:spcPts val="1100"/>
              </a:spcAft>
              <a:defRPr sz="1900">
                <a:solidFill>
                  <a:srgbClr val="F2F5F8"/>
                </a:solidFill>
              </a:defRPr>
            </a:pPr>
            <a:r>
              <a:t>• 40.4 File-descriptor duplication</a:t>
            </a:r>
          </a:p>
          <a:p>
            <a:pPr>
              <a:spcAft>
                <a:spcPts val="1100"/>
              </a:spcAft>
              <a:defRPr sz="1900">
                <a:solidFill>
                  <a:srgbClr val="F2F5F8"/>
                </a:solidFill>
              </a:defRPr>
            </a:pPr>
            <a:r>
              <a:t>• ...plus 9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40.1 Pipes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pipe returns two descriptors: one for reading and one for writing.</a:t>
            </a:r>
          </a:p>
          <a:p>
            <a:pPr>
              <a:spcAft>
                <a:spcPts val="1100"/>
              </a:spcAft>
              <a:defRPr sz="1900">
                <a:solidFill>
                  <a:srgbClr val="F2F5F8"/>
                </a:solidFill>
              </a:defRPr>
            </a:pPr>
            <a:r>
              <a:t>• Bytes written to the write end become available at the read end in order.</a:t>
            </a:r>
          </a:p>
          <a:p>
            <a:pPr>
              <a:spcAft>
                <a:spcPts val="1100"/>
              </a:spcAft>
              <a:defRPr sz="1900">
                <a:solidFill>
                  <a:srgbClr val="F2F5F8"/>
                </a:solidFill>
              </a:defRPr>
            </a:pPr>
            <a:r>
              <a:t>• The pipe does not preserve arbitrary application message boundaries as a record protocol.</a:t>
            </a:r>
          </a:p>
          <a:p>
            <a:pPr>
              <a:spcAft>
                <a:spcPts val="1100"/>
              </a:spcAft>
              <a:defRPr sz="1700">
                <a:solidFill>
                  <a:srgbClr val="F2F5F8"/>
                </a:solidFill>
              </a:defRPr>
            </a:pPr>
            <a:r>
              <a:t>• A reader sees end of file only after all write-end references are closed and buffered bytes have been consumed. “The original writer exited” is insufficient when another...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40.1 Pipes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reader sees end of file only after all write-end references are closed and buffered bytes have been consumed. “The original writer exited” is insufficient when another...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40.2 Pipe buffers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kernel stores a bounded amount of pending pipe data.</a:t>
            </a:r>
          </a:p>
          <a:p>
            <a:pPr>
              <a:spcAft>
                <a:spcPts val="1100"/>
              </a:spcAft>
              <a:defRPr sz="1700">
                <a:solidFill>
                  <a:srgbClr val="F2F5F8"/>
                </a:solidFill>
              </a:defRPr>
            </a:pPr>
            <a:r>
              <a:t>• Buffer capacity is not the same as PIPE_BUF , which concerns atomicity guarantees for appropriately sized writes under the documented conditions.</a:t>
            </a:r>
          </a:p>
          <a:p>
            <a:pPr>
              <a:spcAft>
                <a:spcPts val="1100"/>
              </a:spcAft>
              <a:defRPr sz="1900">
                <a:solidFill>
                  <a:srgbClr val="F2F5F8"/>
                </a:solidFill>
              </a:defRPr>
            </a:pPr>
            <a:r>
              <a:t>• Large writes from several writers can interleave.</a:t>
            </a:r>
          </a:p>
          <a:p>
            <a:pPr>
              <a:spcAft>
                <a:spcPts val="1100"/>
              </a:spcAft>
              <a:defRPr sz="1700">
                <a:solidFill>
                  <a:srgbClr val="F2F5F8"/>
                </a:solidFill>
              </a:defRPr>
            </a:pPr>
            <a:r>
              <a:t>• A multiwriter protocol must define record sizes and synchronization rather than assume that one source-level write always becomes one indivisible record.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40.2 Pipe buffers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Large writes from several writers can interleave.</a:t>
            </a:r>
          </a:p>
          <a:p>
            <a:pPr>
              <a:spcAft>
                <a:spcPts val="1100"/>
              </a:spcAft>
              <a:defRPr sz="1700">
                <a:solidFill>
                  <a:srgbClr val="F2F5F8"/>
                </a:solidFill>
              </a:defRPr>
            </a:pPr>
            <a:r>
              <a:t>• A multiwriter protocol must define record sizes and synchronization rather than assume that one source-level write always becomes one indivisible record.</a:t>
            </a:r>
          </a:p>
          <a:p>
            <a:pPr>
              <a:spcAft>
                <a:spcPts val="1100"/>
              </a:spcAft>
              <a:defRPr sz="1900">
                <a:solidFill>
                  <a:srgbClr val="F2F5F8"/>
                </a:solidFill>
              </a:defRPr>
            </a:pPr>
            <a:r>
              <a:t>• Capacity can vary with system configuration and policy.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40.3 Blocking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blocking read waits when the pipe is empty but writers still exist.</a:t>
            </a:r>
          </a:p>
          <a:p>
            <a:pPr>
              <a:spcAft>
                <a:spcPts val="1100"/>
              </a:spcAft>
              <a:defRPr sz="1900">
                <a:solidFill>
                  <a:srgbClr val="F2F5F8"/>
                </a:solidFill>
              </a:defRPr>
            </a:pPr>
            <a:r>
              <a:t>• A blocking write can wait when capacity is unavailable.</a:t>
            </a:r>
          </a:p>
          <a:p>
            <a:pPr>
              <a:spcAft>
                <a:spcPts val="1100"/>
              </a:spcAft>
              <a:defRPr sz="1700">
                <a:solidFill>
                  <a:srgbClr val="F2F5F8"/>
                </a:solidFill>
              </a:defRPr>
            </a:pPr>
            <a:r>
              <a:t>• If all read ends are closed, writing can cause SIGPIPE or report EPIPE when signal policy permits the error to be observed.</a:t>
            </a:r>
          </a:p>
          <a:p>
            <a:pPr>
              <a:spcAft>
                <a:spcPts val="1100"/>
              </a:spcAft>
              <a:defRPr sz="1900">
                <a:solidFill>
                  <a:srgbClr val="F2F5F8"/>
                </a:solidFill>
              </a:defRPr>
            </a:pPr>
            <a:r>
              <a:t>• These rules make lifecycle mistakes visible as hangs or unexpected termination.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40.3 Blocking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These rules make lifecycle mistakes visible as hangs or unexpected termination.</a:t>
            </a:r>
          </a:p>
          <a:p>
            <a:pPr>
              <a:spcAft>
                <a:spcPts val="1100"/>
              </a:spcAft>
              <a:defRPr sz="1900">
                <a:solidFill>
                  <a:srgbClr val="F2F5F8"/>
                </a:solidFill>
              </a:defRPr>
            </a:pPr>
            <a:r>
              <a:t>• Waiting for a producer before starting its consumer can deadlock when the producer fills the pipe.</a:t>
            </a:r>
          </a:p>
          <a:p>
            <a:pPr>
              <a:spcAft>
                <a:spcPts val="1100"/>
              </a:spcAft>
              <a:defRPr sz="1900">
                <a:solidFill>
                  <a:srgbClr val="F2F5F8"/>
                </a:solidFill>
              </a:defRPr>
            </a:pPr>
            <a:r>
              <a:t>• Start communicating participants before waiting for their completion.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40.4 File-descriptor duplication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Duplication creates another descriptor referring to the same open file description.</a:t>
            </a:r>
          </a:p>
          <a:p>
            <a:pPr>
              <a:spcAft>
                <a:spcPts val="1100"/>
              </a:spcAft>
              <a:defRPr sz="1900">
                <a:solidFill>
                  <a:srgbClr val="F2F5F8"/>
                </a:solidFill>
              </a:defRPr>
            </a:pPr>
            <a:r>
              <a:t>• Both descriptors keep the underlying open object referenced until each is closed.</a:t>
            </a:r>
          </a:p>
          <a:p>
            <a:pPr>
              <a:spcAft>
                <a:spcPts val="1100"/>
              </a:spcAft>
              <a:defRPr sz="1900">
                <a:solidFill>
                  <a:srgbClr val="F2F5F8"/>
                </a:solidFill>
              </a:defRPr>
            </a:pPr>
            <a:r>
              <a:t>• The new descriptor is a new ownership obligation even though it refers to the same object.</a:t>
            </a:r>
          </a:p>
          <a:p>
            <a:pPr>
              <a:spcAft>
                <a:spcPts val="1100"/>
              </a:spcAft>
              <a:defRPr sz="1700">
                <a:solidFill>
                  <a:srgbClr val="F2F5F8"/>
                </a:solidFill>
              </a:defRPr>
            </a:pPr>
            <a:r>
              <a:t>• Duplication shares the underlying offset and status where applicable; it does not copy file contents or create an independent seek position.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40.4 File-descriptor duplication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Duplication shares the underlying offset and status where applicable; it does not copy file contents or create an independent seek position.</a:t>
            </a:r>
          </a:p>
          <a:p>
            <a:pPr>
              <a:spcAft>
                <a:spcPts val="1100"/>
              </a:spcAft>
              <a:defRPr sz="1900">
                <a:solidFill>
                  <a:srgbClr val="F2F5F8"/>
                </a:solidFill>
              </a:defRPr>
            </a:pPr>
            <a:r>
              <a:t>• Descriptor-specific flags have separate rules and should be set deliberately.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40.5 dup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dup chooses an available descriptor number and makes it refer to the same open file description as the source.</a:t>
            </a:r>
          </a:p>
          <a:p>
            <a:pPr>
              <a:spcAft>
                <a:spcPts val="1100"/>
              </a:spcAft>
              <a:defRPr sz="1900">
                <a:solidFill>
                  <a:srgbClr val="F2F5F8"/>
                </a:solidFill>
              </a:defRPr>
            </a:pPr>
            <a:r>
              <a:t>• It is useful when preserving an existing stream before temporary redirection.</a:t>
            </a:r>
          </a:p>
          <a:p>
            <a:pPr>
              <a:spcAft>
                <a:spcPts val="1100"/>
              </a:spcAft>
              <a:defRPr sz="1700">
                <a:solidFill>
                  <a:srgbClr val="F2F5F8"/>
                </a:solidFill>
              </a:defRPr>
            </a:pPr>
            <a:r>
              <a:t>• The copied integer value alone would not preserve anything: closing the original table entry would invalidate all variables holding that number. dup creates an actual...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40.5 dup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copied integer value alone would not preserve anything: closing the original table entry would invalidate all variables holding that number. dup creates an actual...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40.6 dup2</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dup2(oldfd, newfd) makes a specific descriptor number refer to the source object, atomically replacing an existing target reference when appropriate.</a:t>
            </a:r>
          </a:p>
          <a:p>
            <a:pPr>
              <a:spcAft>
                <a:spcPts val="1100"/>
              </a:spcAft>
              <a:defRPr sz="1900">
                <a:solidFill>
                  <a:srgbClr val="F2F5F8"/>
                </a:solidFill>
              </a:defRPr>
            </a:pPr>
            <a:r>
              <a:t>• This avoids the race in a separate close(newfd) followed by dup(oldfd) sequence.</a:t>
            </a:r>
          </a:p>
          <a:p>
            <a:pPr>
              <a:spcAft>
                <a:spcPts val="1100"/>
              </a:spcAft>
              <a:defRPr sz="1900">
                <a:solidFill>
                  <a:srgbClr val="F2F5F8"/>
                </a:solidFill>
              </a:defRPr>
            </a:pPr>
            <a:r>
              <a:t>• When oldfd == newfd and the descriptor is valid, the operation leaves it as that descriptor.</a:t>
            </a:r>
          </a:p>
          <a:p>
            <a:pPr>
              <a:spcAft>
                <a:spcPts val="1100"/>
              </a:spcAft>
              <a:defRPr sz="1900">
                <a:solidFill>
                  <a:srgbClr val="F2F5F8"/>
                </a:solidFill>
              </a:defRPr>
            </a:pPr>
            <a:r>
              <a:t>• Cleanup code must not then blindly close the source number if doing so would close the newly intended standard stream.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40.6 dup2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When oldfd == newfd and the descriptor is valid, the operation leaves it as that descriptor.</a:t>
            </a:r>
          </a:p>
          <a:p>
            <a:pPr>
              <a:spcAft>
                <a:spcPts val="1100"/>
              </a:spcAft>
              <a:defRPr sz="1900">
                <a:solidFill>
                  <a:srgbClr val="F2F5F8"/>
                </a:solidFill>
              </a:defRPr>
            </a:pPr>
            <a:r>
              <a:t>• Cleanup code must not then blindly close the source number if doing so would close the newly intended standard stream.</a:t>
            </a:r>
          </a:p>
          <a:p>
            <a:pPr>
              <a:spcAft>
                <a:spcPts val="1100"/>
              </a:spcAft>
              <a:defRPr sz="1900">
                <a:solidFill>
                  <a:srgbClr val="F2F5F8"/>
                </a:solidFill>
              </a:defRPr>
            </a:pPr>
            <a:r>
              <a:t>• The example below tests this case before closing the source reference.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40.7 Input redirection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Input redirection opens or obtains a source descriptor and duplicates it onto descriptor 0 before exec.</a:t>
            </a:r>
          </a:p>
          <a:p>
            <a:pPr>
              <a:spcAft>
                <a:spcPts val="1100"/>
              </a:spcAft>
              <a:defRPr sz="1900">
                <a:solidFill>
                  <a:srgbClr val="F2F5F8"/>
                </a:solidFill>
              </a:defRPr>
            </a:pPr>
            <a:r>
              <a:t>• The executed program reads standard input normally and need not know that a file or pipe supplied it.</a:t>
            </a:r>
          </a:p>
          <a:p>
            <a:pPr>
              <a:spcAft>
                <a:spcPts val="1100"/>
              </a:spcAft>
              <a:defRPr sz="1900">
                <a:solidFill>
                  <a:srgbClr val="F2F5F8"/>
                </a:solidFill>
              </a:defRPr>
            </a:pPr>
            <a:r>
              <a:t>• Apply redirections in the defined order.</a:t>
            </a:r>
          </a:p>
          <a:p>
            <a:pPr>
              <a:spcAft>
                <a:spcPts val="1100"/>
              </a:spcAft>
              <a:defRPr sz="1700">
                <a:solidFill>
                  <a:srgbClr val="F2F5F8"/>
                </a:solidFill>
              </a:defRPr>
            </a:pPr>
            <a:r>
              <a:t>• Shell constructs that duplicate descriptors can produce different results depending on whether an earlier redirection has already changed the source descriptor.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40.7 Input redirection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Apply redirections in the defined order.</a:t>
            </a:r>
          </a:p>
          <a:p>
            <a:pPr>
              <a:spcAft>
                <a:spcPts val="1100"/>
              </a:spcAft>
              <a:defRPr sz="1700">
                <a:solidFill>
                  <a:srgbClr val="F2F5F8"/>
                </a:solidFill>
              </a:defRPr>
            </a:pPr>
            <a:r>
              <a:t>• Shell constructs that duplicate descriptors can produce different results depending on whether an earlier redirection has already changed the source descriptor.</a:t>
            </a:r>
          </a:p>
          <a:p>
            <a:pPr>
              <a:spcAft>
                <a:spcPts val="1100"/>
              </a:spcAft>
              <a:defRPr sz="1900">
                <a:solidFill>
                  <a:srgbClr val="F2F5F8"/>
                </a:solidFill>
              </a:defRPr>
            </a:pPr>
            <a:r>
              <a:t>• A shell implementation must preserve syntax order rather than sort redirections arbitrarily.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40.8 Output redirection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Output redirection duplicates a destination onto descriptor 1.</a:t>
            </a:r>
          </a:p>
          <a:p>
            <a:pPr>
              <a:spcAft>
                <a:spcPts val="1100"/>
              </a:spcAft>
              <a:defRPr sz="1900">
                <a:solidFill>
                  <a:srgbClr val="F2F5F8"/>
                </a:solidFill>
              </a:defRPr>
            </a:pPr>
            <a:r>
              <a:t>• File creation, append behavior, and truncation must be requested explicitly.</a:t>
            </a:r>
          </a:p>
          <a:p>
            <a:pPr>
              <a:spcAft>
                <a:spcPts val="1100"/>
              </a:spcAft>
              <a:defRPr sz="1900">
                <a:solidFill>
                  <a:srgbClr val="F2F5F8"/>
                </a:solidFill>
              </a:defRPr>
            </a:pPr>
            <a:r>
              <a:t>• Diagnostics should remain on descriptor 2 unless the command syntax redirects them as well.</a:t>
            </a:r>
          </a:p>
          <a:p>
            <a:pPr>
              <a:spcAft>
                <a:spcPts val="1100"/>
              </a:spcAft>
              <a:defRPr sz="1900">
                <a:solidFill>
                  <a:srgbClr val="F2F5F8"/>
                </a:solidFill>
              </a:defRPr>
            </a:pPr>
            <a:r>
              <a:t>• Opening a destination can fail before exec.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40.8 Output redirection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Opening a destination can fail before exec.</a:t>
            </a:r>
          </a:p>
          <a:p>
            <a:pPr>
              <a:spcAft>
                <a:spcPts val="1100"/>
              </a:spcAft>
              <a:defRPr sz="1700">
                <a:solidFill>
                  <a:srgbClr val="F2F5F8"/>
                </a:solidFill>
              </a:defRPr>
            </a:pPr>
            <a:r>
              <a:t>• The child should report the setup failure and terminate rather than execute the requested program with an unintended output destination.</a:t>
            </a:r>
          </a:p>
          <a:p>
            <a:pPr>
              <a:spcAft>
                <a:spcPts val="1100"/>
              </a:spcAft>
              <a:defRPr sz="1900">
                <a:solidFill>
                  <a:srgbClr val="F2F5F8"/>
                </a:solidFill>
              </a:defRPr>
            </a:pPr>
            <a:r>
              <a:t>• Resource setup is part of launch correctness.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40.9 Pipelines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pipeline connects several processes so that one process’s output feeds the next process’s input.</a:t>
            </a:r>
          </a:p>
          <a:p>
            <a:pPr>
              <a:spcAft>
                <a:spcPts val="1100"/>
              </a:spcAft>
              <a:defRPr sz="1900">
                <a:solidFill>
                  <a:srgbClr val="F2F5F8"/>
                </a:solidFill>
              </a:defRPr>
            </a:pPr>
            <a:r>
              <a:t>• The parent creates pipes, launches all stages, closes its unused ends, and then waits according to its policy.</a:t>
            </a:r>
          </a:p>
          <a:p>
            <a:pPr>
              <a:spcAft>
                <a:spcPts val="1100"/>
              </a:spcAft>
              <a:defRPr sz="1900">
                <a:solidFill>
                  <a:srgbClr val="F2F5F8"/>
                </a:solidFill>
              </a:defRPr>
            </a:pPr>
            <a:r>
              <a:t>• Every child must close pipe ends it does not need.</a:t>
            </a:r>
          </a:p>
          <a:p>
            <a:pPr>
              <a:spcAft>
                <a:spcPts val="1100"/>
              </a:spcAft>
              <a:defRPr sz="1900">
                <a:solidFill>
                  <a:srgbClr val="F2F5F8"/>
                </a:solidFill>
              </a:defRPr>
            </a:pPr>
            <a:r>
              <a:t>• In a longer pipeline, this includes descriptors for other stages, not only its immediate neighbor.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40.9 Pipelines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Every child must close pipe ends it does not need.</a:t>
            </a:r>
          </a:p>
          <a:p>
            <a:pPr>
              <a:spcAft>
                <a:spcPts val="1100"/>
              </a:spcAft>
              <a:defRPr sz="1900">
                <a:solidFill>
                  <a:srgbClr val="F2F5F8"/>
                </a:solidFill>
              </a:defRPr>
            </a:pPr>
            <a:r>
              <a:t>• In a longer pipeline, this includes descriptors for other stages, not only its immediate neighbor.</a:t>
            </a:r>
          </a:p>
          <a:p>
            <a:pPr>
              <a:spcAft>
                <a:spcPts val="1100"/>
              </a:spcAft>
              <a:defRPr sz="1900">
                <a:solidFill>
                  <a:srgbClr val="F2F5F8"/>
                </a:solidFill>
              </a:defRPr>
            </a:pPr>
            <a:r>
              <a:t>• A descriptor ownership table is often the clearest way to design and review the launch sequence.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Two concurrently started stages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program runs a fixed, harmless pipeline equivalent to producing two lines and counting them.</a:t>
            </a:r>
          </a:p>
          <a:p>
            <a:pPr>
              <a:spcAft>
                <a:spcPts val="1100"/>
              </a:spcAft>
              <a:defRPr sz="1900">
                <a:solidFill>
                  <a:srgbClr val="F2F5F8"/>
                </a:solidFill>
              </a:defRPr>
            </a:pPr>
            <a:r>
              <a:t>• It assumes the reference environment provides printf and wc in the controlled system path.</a:t>
            </a:r>
          </a:p>
          <a:p>
            <a:pPr>
              <a:spcAft>
                <a:spcPts val="1100"/>
              </a:spcAft>
              <a:defRPr sz="1900">
                <a:solidFill>
                  <a:srgbClr val="F2F5F8"/>
                </a:solidFill>
              </a:defRPr>
            </a:pPr>
            <a:r>
              <a:t>• It is not a general shell.</a:t>
            </a:r>
          </a:p>
          <a:p>
            <a:pPr>
              <a:spcAft>
                <a:spcPts val="1100"/>
              </a:spcAft>
              <a:defRPr sz="1900">
                <a:solidFill>
                  <a:srgbClr val="F2F5F8"/>
                </a:solidFill>
              </a:defRPr>
            </a:pPr>
            <a:r>
              <a:t>• Companion listing: ch40/pipeline.c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Two concurrently started stages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ch40/pipeline.c</a:t>
            </a:r>
          </a:p>
          <a:p>
            <a:pPr>
              <a:spcAft>
                <a:spcPts val="1100"/>
              </a:spcAft>
              <a:defRPr sz="1900">
                <a:solidFill>
                  <a:srgbClr val="F2F5F8"/>
                </a:solidFill>
              </a:defRPr>
            </a:pPr>
            <a:r>
              <a:t>• The output contains the line count 2, with formatting determined by wc .</a:t>
            </a:r>
          </a:p>
          <a:p>
            <a:pPr>
              <a:spcAft>
                <a:spcPts val="1100"/>
              </a:spcAft>
              <a:defRPr sz="1900">
                <a:solidFill>
                  <a:srgbClr val="F2F5F8"/>
                </a:solidFill>
              </a:defRPr>
            </a:pPr>
            <a:r>
              <a:t>• Both processes are launched before either is waited for.</a:t>
            </a:r>
          </a:p>
          <a:p>
            <a:pPr>
              <a:spcAft>
                <a:spcPts val="1100"/>
              </a:spcAft>
              <a:defRPr sz="1700">
                <a:solidFill>
                  <a:srgbClr val="F2F5F8"/>
                </a:solidFill>
              </a:defRPr>
            </a:pPr>
            <a:r>
              <a:t>• On second-fork failure, the parent closes both ends and reaps the already-created producer; the fixed producer exits when its output cannot be delivered under the ordinary...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Constructing producer | consumer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Create a pipe, fork both children, connect the producer’s standard output to the pipe’s write end with dup2 , and connect the consumer’s standard input to the read end.</a:t>
            </a:r>
          </a:p>
          <a:p>
            <a:pPr>
              <a:spcAft>
                <a:spcPts val="1100"/>
              </a:spcAft>
              <a:defRPr sz="1900">
                <a:solidFill>
                  <a:srgbClr val="F2F5F8"/>
                </a:solidFill>
              </a:defRPr>
            </a:pPr>
            <a:r>
              <a:t>• Close unused pipe ends in every process.</a:t>
            </a:r>
          </a:p>
          <a:p>
            <a:pPr>
              <a:spcAft>
                <a:spcPts val="1100"/>
              </a:spcAft>
              <a:defRPr sz="1900">
                <a:solidFill>
                  <a:srgbClr val="F2F5F8"/>
                </a:solidFill>
              </a:defRPr>
            </a:pPr>
            <a:r>
              <a:t>• If the parent accidentally keeps a write end open, the consumer may never observe EOF after the producer exits.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Constructing producer | consumer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Create a pipe, fork both children, connect the producer’s standard output to the pipe’s write end with dup2 , and connect the consumer’s standard input to the read end.</a:t>
            </a:r>
          </a:p>
          <a:p>
            <a:pPr>
              <a:spcAft>
                <a:spcPts val="1100"/>
              </a:spcAft>
              <a:defRPr sz="1900">
                <a:solidFill>
                  <a:srgbClr val="F2F5F8"/>
                </a:solidFill>
              </a:defRPr>
            </a:pPr>
            <a:r>
              <a:t>• Close unused pipe ends in every process.</a:t>
            </a:r>
          </a:p>
          <a:p>
            <a:pPr>
              <a:spcAft>
                <a:spcPts val="1100"/>
              </a:spcAft>
              <a:defRPr sz="1900">
                <a:solidFill>
                  <a:srgbClr val="F2F5F8"/>
                </a:solidFill>
              </a:defRPr>
            </a:pPr>
            <a:r>
              <a:t>• If the parent accidentally keeps a write end open, the consumer may never observe EOF after the producer exits.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Redirecting output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To implement cmd &gt; out.txt , open the destination file with the desired creation/truncation flags, then duplicate that descriptor onto standard output before executing the program.</a:t>
            </a:r>
          </a:p>
          <a:p>
            <a:pPr>
              <a:spcAft>
                <a:spcPts val="1100"/>
              </a:spcAft>
              <a:defRPr sz="1900">
                <a:solidFill>
                  <a:srgbClr val="F2F5F8"/>
                </a:solidFill>
              </a:defRPr>
            </a:pPr>
            <a:r>
              <a:t>• After dup2 , ordinary writes to descriptor 1 flow to the file.</a:t>
            </a:r>
          </a:p>
          <a:p>
            <a:pPr>
              <a:spcAft>
                <a:spcPts val="1100"/>
              </a:spcAft>
              <a:defRPr sz="1900">
                <a:solidFill>
                  <a:srgbClr val="F2F5F8"/>
                </a:solidFill>
              </a:defRPr>
            </a:pPr>
            <a:r>
              <a:t>• Close the now-redundant original descriptor when safe.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Redirecting output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To implement cmd &gt; out.txt , open the destination file with the desired creation/truncation flags, then duplicate that descriptor onto standard output before executing the...</a:t>
            </a:r>
          </a:p>
          <a:p>
            <a:pPr>
              <a:spcAft>
                <a:spcPts val="1100"/>
              </a:spcAft>
              <a:defRPr sz="1900">
                <a:solidFill>
                  <a:srgbClr val="F2F5F8"/>
                </a:solidFill>
              </a:defRPr>
            </a:pPr>
            <a:r>
              <a:t>• After dup2 , ordinary writes to descriptor 1 flow to the file.</a:t>
            </a:r>
          </a:p>
          <a:p>
            <a:pPr>
              <a:spcAft>
                <a:spcPts val="1100"/>
              </a:spcAft>
              <a:defRPr sz="1900">
                <a:solidFill>
                  <a:srgbClr val="F2F5F8"/>
                </a:solidFill>
              </a:defRPr>
            </a:pPr>
            <a:r>
              <a:t>• Close the now-redundant original descriptor when safe.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40.</a:t>
            </a:r>
          </a:p>
          <a:p>
            <a:pPr>
              <a:spcAft>
                <a:spcPts val="1100"/>
              </a:spcAft>
              <a:defRPr sz="1900">
                <a:solidFill>
                  <a:srgbClr val="F2F5F8"/>
                </a:solidFill>
              </a:defRPr>
            </a:pPr>
            <a:r>
              <a:t>• Draw a descriptor table for parent, producer, and consumer immediately after both forks and again after cleanup.</a:t>
            </a:r>
          </a:p>
          <a:p>
            <a:pPr>
              <a:spcAft>
                <a:spcPts val="1100"/>
              </a:spcAft>
              <a:defRPr sz="1900">
                <a:solidFill>
                  <a:srgbClr val="F2F5F8"/>
                </a:solidFill>
              </a:defRPr>
            </a:pPr>
            <a:r>
              <a:t>• For a larger temporary payload, explain why starting the consumer before waiting is essential.</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can an unused write descriptor prevent EOF?</a:t>
            </a:r>
          </a:p>
          <a:p>
            <a:pPr>
              <a:spcAft>
                <a:spcPts val="1100"/>
              </a:spcAft>
              <a:defRPr sz="1900">
                <a:solidFill>
                  <a:srgbClr val="F2F5F8"/>
                </a:solidFill>
              </a:defRPr>
            </a:pPr>
            <a:r>
              <a:t>• Review 2.</a:t>
            </a:r>
          </a:p>
          <a:p>
            <a:pPr>
              <a:spcAft>
                <a:spcPts val="1100"/>
              </a:spcAft>
              <a:defRPr sz="1900">
                <a:solidFill>
                  <a:srgbClr val="F2F5F8"/>
                </a:solidFill>
              </a:defRPr>
            </a:pPr>
            <a:r>
              <a:t>• How does PIPE_BUF differ from total pipe capacity?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pipes and redirection.</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Signals.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40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