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 id="282" r:id="rId34"/>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 Id="rId32" Type="http://schemas.openxmlformats.org/officeDocument/2006/relationships/slide" Target="slides/slide25.xml"/><Relationship Id="rId33" Type="http://schemas.openxmlformats.org/officeDocument/2006/relationships/slide" Target="slides/slide26.xml"/><Relationship Id="rId34" Type="http://schemas.openxmlformats.org/officeDocument/2006/relationships/slide" Target="slides/slide2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1: Chapter 21 — Processes</a:t>
            </a:r>
          </a:p>
          <a:p/>
          <a:p>
            <a:r>
              <a:t>LECTURE NARRATION</a:t>
            </a:r>
          </a:p>
          <a:p>
            <a:r>
              <a:t>A process is an operating-system-managed execution environment. It combines an address space, references to resources, credentials, and one or more threads of execution. The abstraction gives a program the appearance of its own machine while allowing the kernel to share actual processors, memory, and devices among many programs. Processes are not identical to executable files. Several processes can run the same executable, and one process can replace its program image with another through exec . A process also need not have exactly one thread. These distinctions become important when considering scheduling, resource ownership, and process creation. [ R15 , R16 , R38 ]</a:t>
            </a:r>
          </a:p>
          <a:p/>
          <a:p>
            <a:r>
              <a:t>At graduate level, do not treat this as a term to memorize. Identify the contract being described, the state or representation it constrains, and the assumptions that must remain true. When this topic appears in real systems code, separate what the language guarantees from what a compiler, operating system, ABI, ISA, or particular machine happens to do. Then identify the evidence you would inspect to test the claim without overgeneralizing from a single successful run.</a:t>
            </a:r>
          </a:p>
          <a:p/>
          <a:p>
            <a:r>
              <a:t>SIXTH-GRADE EXPLANATION</a:t>
            </a:r>
          </a:p>
          <a:p>
            <a:r>
              <a:t>In simpler terms, a process is an operating-system-managed execution environment.</a:t>
            </a:r>
          </a:p>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2: What This Chapter Builds</a:t>
            </a:r>
          </a:p>
          <a:p/>
          <a:p>
            <a:r>
              <a:t>LECTURE NARRATION</a:t>
            </a:r>
          </a:p>
          <a:p>
            <a:r>
              <a:t>A process is an operating-system-managed execution environment. It combines an address space, references to resources, credentials, and one or more threads of execution. The abstraction gives a program the appearance of its own machine while allowing the kernel to share actual processors, memory, and devices among many programs. Processes are not identical to executable files. Several processes can run the same executable, and one process can replace its program image with another through exec . A process also need not have exactly one thread. These distinctions become important when considering scheduling, resource ownership, and process creation. [ R15 , R16 , R38 ]</a:t>
            </a:r>
          </a:p>
          <a:p/>
          <a:p>
            <a:r>
              <a:t>At graduate level, do not treat this as a term to memorize. Identify the contract being described, the state or representation it constrains, and the assumptions that must remain true. When this topic appears in real systems code, separate what the language guarantees from what a compiler, operating system, ABI, ISA, or particular machine happens to do. Then identify the evidence you would inspect to test the claim without overgeneralizing from a single successful run.</a:t>
            </a:r>
          </a:p>
          <a:p/>
          <a:p>
            <a:r>
              <a:t>SIXTH-GRADE EXPLANATION</a:t>
            </a:r>
          </a:p>
          <a:p>
            <a:r>
              <a:t>In simpler terms, a process is an operating-system-managed execution environment.</a:t>
            </a:r>
          </a:p>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3: Chapter Roadmap</a:t>
            </a:r>
          </a:p>
          <a:p/>
          <a:p>
            <a:r>
              <a:t>LECTURE NARRATION</a:t>
            </a:r>
          </a:p>
          <a:p>
            <a:r>
              <a:t>21.1 Process abstraction 21.2 Process state 21.3 CPU context 21.4 Address space ...plus 7 additional source topics</a:t>
            </a:r>
          </a:p>
          <a:p/>
          <a:p>
            <a:r>
              <a:t>At graduate level, do not treat this as a term to memorize. Identify the contract being described, the state or representation it constrains, and the assumptions that must remain true. When this topic appears in real systems code, separate what the language guarantees from what a compiler, operating system, ABI, ISA, or particular machine happens to do. Then identify the evidence you would inspect to test the claim without overgeneralizing from a single successful run.</a:t>
            </a:r>
          </a:p>
          <a:p/>
          <a:p>
            <a:r>
              <a:t>SIXTH-GRADE EXPLANATION</a:t>
            </a:r>
          </a:p>
          <a:p>
            <a:r>
              <a:t>In simpler terms, 21.1 Process abstraction 21.2 Process state 21.3 CPU context 21.4 Address space ...plus 7 additional source topics</a:t>
            </a:r>
          </a:p>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4: 21.1 Process abstraction</a:t>
            </a:r>
          </a:p>
          <a:p/>
          <a:p>
            <a:r>
              <a:t>LECTURE NARRATION</a:t>
            </a:r>
          </a:p>
          <a:p>
            <a:r>
              <a:t>The process abstraction groups resources and identity. Its virtual address space determines which addresses have meaning; its descriptor table determines what small descriptor numbers refer to; its credentials help determine which requests are allowed. Two processes can use the integer descriptor 3 for entirely different files. A thread is an execution stream within that environment. Threads in one process usually share mappings and many resources while retaining their own register state and stacks. Therefore, “switching processes” and “switching threads” are related but not interchangeable descriptions. The scheduler chooses runnable execution entities, while the process abstraction supplies much of their shared environment.</a:t>
            </a:r>
          </a:p>
          <a:p/>
          <a:p>
            <a:r>
              <a:t>At graduate level, do not treat this as a term to memorize. Identify the contract being described, the state or representation it constrains, and the assumptions that must remain true. When this topic appears in real systems code, separate what the language guarantees from what a compiler, operating system, ABI, ISA, or particular machine happens to do. Then identify the evidence you would inspect to test the claim without overgeneralizing from a single successful run.</a:t>
            </a:r>
          </a:p>
          <a:p/>
          <a:p>
            <a:r>
              <a:t>SIXTH-GRADE EXPLANATION</a:t>
            </a:r>
          </a:p>
          <a:p>
            <a:r>
              <a:t>In simpler terms, the process abstraction groups resources and identity.</a:t>
            </a:r>
          </a:p>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5: 21.1 Process abstraction — Deep Dive</a:t>
            </a:r>
          </a:p>
          <a:p/>
          <a:p>
            <a:r>
              <a:t>LECTURE NARRATION</a:t>
            </a:r>
          </a:p>
          <a:p>
            <a:r>
              <a:t>The process abstraction groups resources and identity. Its virtual address space determines which addresses have meaning; its descriptor table determines what small descriptor numbers refer to; its credentials help determine which requests are allowed. Two processes can use the integer descriptor 3 for entirely different files. A thread is an execution stream within that environment. Threads in one process usually share mappings and many resources while retaining their own register state and stacks. Therefore, “switching processes” and “switching threads” are related but not interchangeable descriptions. The scheduler chooses runnable execution entities, while the process abstraction supplies much of their shared environment.</a:t>
            </a:r>
          </a:p>
          <a:p/>
          <a:p>
            <a:r>
              <a:t>At graduate level, do not treat this as a term to memorize. Identify the contract being described, the state or representation it constrains, and the assumptions that must remain true. When this topic appears in real systems code, separate what the language guarantees from what a compiler, operating system, ABI, ISA, or particular machine happens to do. Then identify the evidence you would inspect to test the claim without overgeneralizing from a single successful run.</a:t>
            </a:r>
          </a:p>
          <a:p/>
          <a:p>
            <a:r>
              <a:t>SIXTH-GRADE EXPLANATION</a:t>
            </a:r>
          </a:p>
          <a:p>
            <a:r>
              <a:t>In simpler terms, the process abstraction groups resources and identity.</a:t>
            </a:r>
          </a:p>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6: 21.2 Process state</a:t>
            </a:r>
          </a:p>
          <a:p/>
          <a:p>
            <a:r>
              <a:t>LECTURE NARRATION</a:t>
            </a:r>
          </a:p>
          <a:p>
            <a:r>
              <a:t>A simple state model includes running, runnable, waiting, stopped, and terminated states. Runnable means eligible for CPU execution; running means currently executing. A process waiting for input is not made faster merely by adding more CPU time if the required input has not arrived. A terminated child may temporarily remain as a zombie until its parent collects the termination information. The zombie is not executing the old program. Its remaining bookkeeping supports the parent’s ability to retrieve status. Real kernels expose more detailed states than this teaching model, but the model is sufficient to separate eligibility, execution, and event waiting.</a:t>
            </a:r>
          </a:p>
          <a:p/>
          <a:p>
            <a:r>
              <a:t>At graduate level, do not treat this as a term to memorize. Identify the contract being described, the state or representation it constrains, and the assumptions that must remain true. When this topic appears in real systems code, separate what the language guarantees from what a compiler, operating system, ABI, ISA, or particular machine happens to do. Then identify the evidence you would inspect to test the claim without overgeneralizing from a single successful run.</a:t>
            </a:r>
          </a:p>
          <a:p/>
          <a:p>
            <a:r>
              <a:t>SIXTH-GRADE EXPLANATION</a:t>
            </a:r>
          </a:p>
          <a:p>
            <a:r>
              <a:t>In simpler terms, a simple state model includes running, runnable, waiting, stopped, and terminated states.</a:t>
            </a:r>
          </a:p>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7: 21.2 Process state — Deep Dive</a:t>
            </a:r>
          </a:p>
          <a:p/>
          <a:p>
            <a:r>
              <a:t>LECTURE NARRATION</a:t>
            </a:r>
          </a:p>
          <a:p>
            <a:r>
              <a:t>A simple state model includes running, runnable, waiting, stopped, and terminated states. Runnable means eligible for CPU execution; running means currently executing. A process waiting for input is not made faster merely by adding more CPU time if the required input has not arrived. A terminated child may temporarily remain as a zombie until its parent collects the termination information. The zombie is not executing the old program. Its remaining bookkeeping supports the parent’s ability to retrieve status. Real kernels expose more detailed states than this teaching model, but the model is sufficient to separate eligibility, execution, and event waiting.</a:t>
            </a:r>
          </a:p>
          <a:p/>
          <a:p>
            <a:r>
              <a:t>At graduate level, do not treat this as a term to memorize. Identify the contract being described, the state or representation it constrains, and the assumptions that must remain true. When this topic appears in real systems code, separate what the language guarantees from what a compiler, operating system, ABI, ISA, or particular machine happens to do. Then identify the evidence you would inspect to test the claim without overgeneralizing from a single successful run.</a:t>
            </a:r>
          </a:p>
          <a:p/>
          <a:p>
            <a:r>
              <a:t>SIXTH-GRADE EXPLANATION</a:t>
            </a:r>
          </a:p>
          <a:p>
            <a:r>
              <a:t>In simpler terms, a simple state model includes running, runnable, waiting, stopped, and terminated states.</a:t>
            </a:r>
          </a:p>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8: 21.3 CPU context</a:t>
            </a:r>
          </a:p>
          <a:p/>
          <a:p>
            <a:r>
              <a:t>LECTURE NARRATION</a:t>
            </a:r>
          </a:p>
          <a:p>
            <a:r>
              <a:t>CPU context includes the register and control state needed to resume an execution stream. It encompasses more than the source-level local variables a programmer can name. The instruction pointer, stack pointer, flags, and other architecture-defined state influence what happens next. Not all context is necessarily saved and restored through one identical path. Kernel implementations optimize context handling, and architecture extensions enlarge the state that may need management. For reasoning, the essential requirement is preservation of the execution semantics promised to the program. A resumed thread must not receive another thread’s live register values as though they were its own.</a:t>
            </a:r>
          </a:p>
          <a:p/>
          <a:p>
            <a:r>
              <a:t>At graduate level, do not treat this as a term to memorize. Identify the contract being described, the state or representation it constrains, and the assumptions that must remain true. When this topic appears in real systems code, separate what the language guarantees from what a compiler, operating system, ABI, ISA, or particular machine happens to do. Then identify the evidence you would inspect to test the claim without overgeneralizing from a single successful run.</a:t>
            </a:r>
          </a:p>
          <a:p/>
          <a:p>
            <a:r>
              <a:t>SIXTH-GRADE EXPLANATION</a:t>
            </a:r>
          </a:p>
          <a:p>
            <a:r>
              <a:t>In simpler terms, cPU context includes the register and control state needed to resume an execution stream.</a:t>
            </a:r>
          </a:p>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9: 21.3 CPU context — Deep Dive</a:t>
            </a:r>
          </a:p>
          <a:p/>
          <a:p>
            <a:r>
              <a:t>LECTURE NARRATION</a:t>
            </a:r>
          </a:p>
          <a:p>
            <a:r>
              <a:t>CPU context includes the register and control state needed to resume an execution stream. It encompasses more than the source-level local variables a programmer can name. The instruction pointer, stack pointer, flags, and other architecture-defined state influence what happens next. Not all context is necessarily saved and restored through one identical path. Kernel implementations optimize context handling, and architecture extensions enlarge the state that may need management. For reasoning, the essential requirement is preservation of the execution semantics promised to the program. A resumed thread must not receive another thread’s live register values as though they were its own.</a:t>
            </a:r>
          </a:p>
          <a:p/>
          <a:p>
            <a:r>
              <a:t>At graduate level, do not treat this as a term to memorize. Identify the contract being described, the state or representation it constrains, and the assumptions that must remain true. When this topic appears in real systems code, separate what the language guarantees from what a compiler, operating system, ABI, ISA, or particular machine happens to do. Then identify the evidence you would inspect to test the claim without overgeneralizing from a single successful run.</a:t>
            </a:r>
          </a:p>
          <a:p/>
          <a:p>
            <a:r>
              <a:t>SIXTH-GRADE EXPLANATION</a:t>
            </a:r>
          </a:p>
          <a:p>
            <a:r>
              <a:t>In simpler terms, cPU context includes the register and control state needed to resume an execution stream.</a:t>
            </a:r>
          </a:p>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10: 21.4 Address space</a:t>
            </a:r>
          </a:p>
          <a:p/>
          <a:p>
            <a:r>
              <a:t>LECTURE NARRATION</a:t>
            </a:r>
          </a:p>
          <a:p>
            <a:r>
              <a:t>An address space defines the virtual mappings visible to a process. It contains executable code, data, stacks, dynamically allocated regions, shared mappings, and reserved or inaccessible gaps. Two processes can map different physical storage at the same virtual address. Conversely, two processes can map the same physical storage at different virtual addresses. This is how shared mappings can coexist with otherwise distinct address spaces. A pointer stored in shared memory is therefore not automatically meaningful in another process. Use offsets or another explicitly designed representation when the same region may appear at different base addresses.</a:t>
            </a:r>
          </a:p>
          <a:p/>
          <a:p>
            <a:r>
              <a:t>At graduate level, do not treat this as a term to memorize. Identify the contract being described, the state or representation it constrains, and the assumptions that must remain true. When this topic appears in real systems code, separate what the language guarantees from what a compiler, operating system, ABI, ISA, or particular machine happens to do. Then identify the evidence you would inspect to test the claim without overgeneralizing from a single successful run.</a:t>
            </a:r>
          </a:p>
          <a:p/>
          <a:p>
            <a:r>
              <a:t>SIXTH-GRADE EXPLANATION</a:t>
            </a:r>
          </a:p>
          <a:p>
            <a:r>
              <a:t>Think of an address written on a note: the note can tell you where to look, but it does not prove the thing is still there or that you are allowed to use it.</a:t>
            </a:r>
          </a:p>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11: 21.4 Address space — Deep Dive</a:t>
            </a:r>
          </a:p>
          <a:p/>
          <a:p>
            <a:r>
              <a:t>LECTURE NARRATION</a:t>
            </a:r>
          </a:p>
          <a:p>
            <a:r>
              <a:t>An address space defines the virtual mappings visible to a process. It contains executable code, data, stacks, dynamically allocated regions, shared mappings, and reserved or inaccessible gaps. Two processes can map different physical storage at the same virtual address. Conversely, two processes can map the same physical storage at different virtual addresses. This is how shared mappings can coexist with otherwise distinct address spaces. A pointer stored in shared memory is therefore not automatically meaningful in another process. Use offsets or another explicitly designed representation when the same region may appear at different base addresses.</a:t>
            </a:r>
          </a:p>
          <a:p/>
          <a:p>
            <a:r>
              <a:t>At graduate level, do not treat this as a term to memorize. Identify the contract being described, the state or representation it constrains, and the assumptions that must remain true. When this topic appears in real systems code, separate what the language guarantees from what a compiler, operating system, ABI, ISA, or particular machine happens to do. Then identify the evidence you would inspect to test the claim without overgeneralizing from a single successful run.</a:t>
            </a:r>
          </a:p>
          <a:p/>
          <a:p>
            <a:r>
              <a:t>SIXTH-GRADE EXPLANATION</a:t>
            </a:r>
          </a:p>
          <a:p>
            <a:r>
              <a:t>Think of an address written on a note: the note can tell you where to look, but it does not prove the thing is still there or that you are allowed to use it.</a:t>
            </a:r>
          </a:p>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12: 21.5 Process isolation</a:t>
            </a:r>
          </a:p>
          <a:p/>
          <a:p>
            <a:r>
              <a:t>LECTURE NARRATION</a:t>
            </a:r>
          </a:p>
          <a:p>
            <a:r>
              <a:t>Isolation limits the ability of one process to read or modify another process’s private state. Page tables and permissions provide a major hardware-backed mechanism. Kernel policy controls explicit exceptions, such as shared mappings and authorized debugging interfaces. Isolation is a security and reliability boundary, but it is not an absolute statement that processes can never communicate or interfere indirectly. They may share files, services, CPU capacity, and other resources. An application must distinguish intentional communication from accidental sharing and must still validate input received across process boundaries.</a:t>
            </a:r>
          </a:p>
          <a:p/>
          <a:p>
            <a:r>
              <a:t>At graduate level, do not treat this as a term to memorize. Identify the contract being described, the state or representation it constrains, and the assumptions that must remain true. When this topic appears in real systems code, separate what the language guarantees from what a compiler, operating system, ABI, ISA, or particular machine happens to do. Then identify the evidence you would inspect to test the claim without overgeneralizing from a single successful run.</a:t>
            </a:r>
          </a:p>
          <a:p/>
          <a:p>
            <a:r>
              <a:t>SIXTH-GRADE EXPLANATION</a:t>
            </a:r>
          </a:p>
          <a:p>
            <a:r>
              <a:t>In simpler terms, isolation limits the ability of one process to read or modify another process’s private state.</a:t>
            </a:r>
          </a:p>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13: 21.5 Process isolation — Deep Dive</a:t>
            </a:r>
          </a:p>
          <a:p/>
          <a:p>
            <a:r>
              <a:t>LECTURE NARRATION</a:t>
            </a:r>
          </a:p>
          <a:p>
            <a:r>
              <a:t>Isolation limits the ability of one process to read or modify another process’s private state. Page tables and permissions provide a major hardware-backed mechanism. Kernel policy controls explicit exceptions, such as shared mappings and authorized debugging interfaces. Isolation is a security and reliability boundary, but it is not an absolute statement that processes can never communicate or interfere indirectly. They may share files, services, CPU capacity, and other resources. An application must distinguish intentional communication from accidental sharing and must still validate input received across process boundaries.</a:t>
            </a:r>
          </a:p>
          <a:p/>
          <a:p>
            <a:r>
              <a:t>At graduate level, do not treat this as a term to memorize. Identify the contract being described, the state or representation it constrains, and the assumptions that must remain true. When this topic appears in real systems code, separate what the language guarantees from what a compiler, operating system, ABI, ISA, or particular machine happens to do. Then identify the evidence you would inspect to test the claim without overgeneralizing from a single successful run.</a:t>
            </a:r>
          </a:p>
          <a:p/>
          <a:p>
            <a:r>
              <a:t>SIXTH-GRADE EXPLANATION</a:t>
            </a:r>
          </a:p>
          <a:p>
            <a:r>
              <a:t>In simpler terms, isolation limits the ability of one process to read or modify another process’s private state.</a:t>
            </a:r>
          </a:p>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14: 21.6 Context switching</a:t>
            </a:r>
          </a:p>
          <a:p/>
          <a:p>
            <a:r>
              <a:t>LECTURE NARRATION</a:t>
            </a:r>
          </a:p>
          <a:p>
            <a:r>
              <a:t>A context switch changes which execution stream uses a processor. It requires saving and restoring relevant state and may involve changing the active address-space context. Switching between threads in the same process can avoid some address-space changes, but it still has scheduling and execution-state costs. The effects extend beyond the instructions that perform the switch. A different working set can displace useful cache entries or translations. Conversely, a context switch does not imply that all caches are universally flushed. Actual hardware and kernel mechanisms determine which state remains useful. Avoid reducing context-switch cost to one supposedly universal number.</a:t>
            </a:r>
          </a:p>
          <a:p/>
          <a:p>
            <a:r>
              <a:t>At graduate level, do not treat this as a term to memorize. Identify the contract being described, the state or representation it constrains, and the assumptions that must remain true. When this topic appears in real systems code, separate what the language guarantees from what a compiler, operating system, ABI, ISA, or particular machine happens to do. Then identify the evidence you would inspect to test the claim without overgeneralizing from a single successful run.</a:t>
            </a:r>
          </a:p>
          <a:p/>
          <a:p>
            <a:r>
              <a:t>SIXTH-GRADE EXPLANATION</a:t>
            </a:r>
          </a:p>
          <a:p>
            <a:r>
              <a:t>In simpler terms, a context switch changes which execution stream uses a processor.</a:t>
            </a:r>
          </a:p>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15: 21.6 Context switching — Deep Dive</a:t>
            </a:r>
          </a:p>
          <a:p/>
          <a:p>
            <a:r>
              <a:t>LECTURE NARRATION</a:t>
            </a:r>
          </a:p>
          <a:p>
            <a:r>
              <a:t>A context switch changes which execution stream uses a processor. It requires saving and restoring relevant state and may involve changing the active address-space context. Switching between threads in the same process can avoid some address-space changes, but it still has scheduling and execution-state costs. The effects extend beyond the instructions that perform the switch. A different working set can displace useful cache entries or translations. Conversely, a context switch does not imply that all caches are universally flushed. Actual hardware and kernel mechanisms determine which state remains useful. Avoid reducing context-switch cost to one supposedly universal number.</a:t>
            </a:r>
          </a:p>
          <a:p/>
          <a:p>
            <a:r>
              <a:t>At graduate level, do not treat this as a term to memorize. Identify the contract being described, the state or representation it constrains, and the assumptions that must remain true. When this topic appears in real systems code, separate what the language guarantees from what a compiler, operating system, ABI, ISA, or particular machine happens to do. Then identify the evidence you would inspect to test the claim without overgeneralizing from a single successful run.</a:t>
            </a:r>
          </a:p>
          <a:p/>
          <a:p>
            <a:r>
              <a:t>SIXTH-GRADE EXPLANATION</a:t>
            </a:r>
          </a:p>
          <a:p>
            <a:r>
              <a:t>In simpler terms, a context switch changes which execution stream uses a processor.</a:t>
            </a:r>
          </a:p>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16: 21.7 Scheduling</a:t>
            </a:r>
          </a:p>
          <a:p/>
          <a:p>
            <a:r>
              <a:t>LECTURE NARRATION</a:t>
            </a:r>
          </a:p>
          <a:p>
            <a:r>
              <a:t>Scheduling selects runnable work according to policy and constraints. General-purpose scheduling balances responsiveness, fairness, and throughput; real-time policies make different tradeoffs and require careful system-level design. Application priorities do not create CPU capacity that does not exist. A scheduling trace must include waiting as well as computation. A server may consume little CPU because it is blocked on clients, not because it is efficient. A compute-heavy application may scale until it encounters memory bandwidth or synchronization limits. Measure runnable demand, actual execution, and blocking causes separately before changing priorities or thread counts. [ R38 ]</a:t>
            </a:r>
          </a:p>
          <a:p/>
          <a:p>
            <a:r>
              <a:t>At graduate level, do not treat this as a term to memorize. Identify the contract being described, the state or representation it constrains, and the assumptions that must remain true. When this topic appears in real systems code, separate what the language guarantees from what a compiler, operating system, ABI, ISA, or particular machine happens to do. Then identify the evidence you would inspect to test the claim without overgeneralizing from a single successful run.</a:t>
            </a:r>
          </a:p>
          <a:p/>
          <a:p>
            <a:r>
              <a:t>SIXTH-GRADE EXPLANATION</a:t>
            </a:r>
          </a:p>
          <a:p>
            <a:r>
              <a:t>In simpler terms, scheduling selects runnable work according to policy and constraints.</a:t>
            </a:r>
          </a:p>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17: 21.7 Scheduling — Deep Dive</a:t>
            </a:r>
          </a:p>
          <a:p/>
          <a:p>
            <a:r>
              <a:t>LECTURE NARRATION</a:t>
            </a:r>
          </a:p>
          <a:p>
            <a:r>
              <a:t>Scheduling selects runnable work according to policy and constraints. General-purpose scheduling balances responsiveness, fairness, and throughput; real-time policies make different tradeoffs and require careful system-level design. Application priorities do not create CPU capacity that does not exist. A scheduling trace must include waiting as well as computation. A server may consume little CPU because it is blocked on clients, not because it is efficient. A compute-heavy application may scale until it encounters memory bandwidth or synchronization limits. Measure runnable demand, actual execution, and blocking causes separately before changing priorities or thread counts. [ R38 ]</a:t>
            </a:r>
          </a:p>
          <a:p/>
          <a:p>
            <a:r>
              <a:t>At graduate level, do not treat this as a term to memorize. Identify the contract being described, the state or representation it constrains, and the assumptions that must remain true. When this topic appears in real systems code, separate what the language guarantees from what a compiler, operating system, ABI, ISA, or particular machine happens to do. Then identify the evidence you would inspect to test the claim without overgeneralizing from a single successful run.</a:t>
            </a:r>
          </a:p>
          <a:p/>
          <a:p>
            <a:r>
              <a:t>SIXTH-GRADE EXPLANATION</a:t>
            </a:r>
          </a:p>
          <a:p>
            <a:r>
              <a:t>In simpler terms, scheduling selects runnable work according to policy and constraints.</a:t>
            </a:r>
          </a:p>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18: Worked example — A scheduling model with waiting</a:t>
            </a:r>
          </a:p>
          <a:p/>
          <a:p>
            <a:r>
              <a:t>LECTURE NARRATION</a:t>
            </a:r>
          </a:p>
          <a:p>
            <a:r>
              <a:t>Assume one CPU, zero switching overhead, and a scheduler that gives a newly runnable job the next available opportunity. Job A needs 2 milliseconds of CPU, then waits 5 milliseconds for I/O, then needs 1 millisecond of CPU. Job B needs 4 milliseconds of CPU and never blocks. Both are ready at time zero, and A starts first. A consumes 3 milliseconds of CPU but finishes after 8 milliseconds of wall time. B consumes 4 milliseconds and finishes at time 6. The CPU performs 7 milliseconds of useful work during an 8-millisecond observation interval, giving modeled utilization of 7 / 8 = 87.5% . This calculation assumes that the I/O wait completes at time 7 independently of B. It excludes kernel work, interrupt overhead, and real scheduling details. The point is not to predict a production trace but to establish the vocabulary and accounting needed to interpret one.</a:t>
            </a:r>
          </a:p>
          <a:p/>
          <a:p>
            <a:r>
              <a:t>At graduate level, do not treat this as a term to memorize. Identify the contract being described, the state or representation it constrains, and the assumptions that must remain true. When this topic appears in real systems code, separate what the language guarantees from what a compiler, operating system, ABI, ISA, or particular machine happens to do. Then identify the evidence you would inspect to test the claim without overgeneralizing from a single successful run.</a:t>
            </a:r>
          </a:p>
          <a:p/>
          <a:p>
            <a:r>
              <a:t>SIXTH-GRADE EXPLANATION</a:t>
            </a:r>
          </a:p>
          <a:p>
            <a:r>
              <a:t>In simpler terms, assume one CPU, zero switching overhead, and a scheduler that gives a newly runnable job the next available opportunity.</a:t>
            </a:r>
          </a:p>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19: Worked example — A scheduling model with waiting — Deep Dive</a:t>
            </a:r>
          </a:p>
          <a:p/>
          <a:p>
            <a:r>
              <a:t>LECTURE NARRATION</a:t>
            </a:r>
          </a:p>
          <a:p>
            <a:r>
              <a:t>Assume one CPU, zero switching overhead, and a scheduler that gives a newly runnable job the next available opportunity. Job A needs 2 milliseconds of CPU, then waits 5 milliseconds for I/O, then needs 1 millisecond of CPU. Job B needs 4 milliseconds of CPU and never blocks. Both are ready at time zero, and A starts first. A consumes 3 milliseconds of CPU but finishes after 8 milliseconds of wall time. B consumes 4 milliseconds and finishes at time 6. The CPU performs 7 milliseconds of useful work during an 8-millisecond observation interval, giving modeled utilization of 7 / 8 = 87.5% . This calculation assumes that the I/O wait completes at time 7 independently of B. It excludes kernel work, interrupt overhead, and real scheduling details. The point is not to predict a production trace but to establish the vocabulary and accounting needed to interpret one.</a:t>
            </a:r>
          </a:p>
          <a:p/>
          <a:p>
            <a:r>
              <a:t>At graduate level, do not treat this as a term to memorize. Identify the contract being described, the state or representation it constrains, and the assumptions that must remain true. When this topic appears in real systems code, separate what the language guarantees from what a compiler, operating system, ABI, ISA, or particular machine happens to do. Then identify the evidence you would inspect to test the claim without overgeneralizing from a single successful run.</a:t>
            </a:r>
          </a:p>
          <a:p/>
          <a:p>
            <a:r>
              <a:t>SIXTH-GRADE EXPLANATION</a:t>
            </a:r>
          </a:p>
          <a:p>
            <a:r>
              <a:t>In simpler terms, assume one CPU, zero switching overhead, and a scheduler that gives a newly runnable job the next available opportunity.</a:t>
            </a:r>
          </a:p>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20: Worked example — Context-switch contents</a:t>
            </a:r>
          </a:p>
          <a:p/>
          <a:p>
            <a:r>
              <a:t>LECTURE NARRATION</a:t>
            </a:r>
          </a:p>
          <a:p>
            <a:r>
              <a:t>If process A is preempted so process B can run, the kernel must preserve enough CPU state to resume A later: instruction location, stack state, general registers, and other architecture-specific context. It also switches the active address-space context as required. The exact saved set is implementation dependent, but the abstraction requires each process to resume consistently.</a:t>
            </a:r>
          </a:p>
          <a:p/>
          <a:p>
            <a:r>
              <a:t>At graduate level, do not treat this as a term to memorize. Identify the contract being described, the state or representation it constrains, and the assumptions that must remain true. When this topic appears in real systems code, separate what the language guarantees from what a compiler, operating system, ABI, ISA, or particular machine happens to do. Then identify the evidence you would inspect to test the claim without overgeneralizing from a single successful run.</a:t>
            </a:r>
          </a:p>
          <a:p/>
          <a:p>
            <a:r>
              <a:t>SIXTH-GRADE EXPLANATION</a:t>
            </a:r>
          </a:p>
          <a:p>
            <a:r>
              <a:t>In simpler terms, if process A is preempted so process B can run, the kernel must preserve enough CPU state to resume A later: instruction location, stack state, general registers, and other architecture-specific context.</a:t>
            </a:r>
          </a:p>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21: Worked example — Context-switch contents — Deep Dive</a:t>
            </a:r>
          </a:p>
          <a:p/>
          <a:p>
            <a:r>
              <a:t>LECTURE NARRATION</a:t>
            </a:r>
          </a:p>
          <a:p>
            <a:r>
              <a:t>If process A is preempted so process B can run, the kernel must preserve enough CPU state to resume A later: instruction location, stack state, general registers, and other architecture-specific context. It also switches the active address-space context as required. The exact saved set is implementation dependent, but the abstraction requires each process to resume consistently.</a:t>
            </a:r>
          </a:p>
          <a:p/>
          <a:p>
            <a:r>
              <a:t>At graduate level, do not treat this as a term to memorize. Identify the contract being described, the state or representation it constrains, and the assumptions that must remain true. When this topic appears in real systems code, separate what the language guarantees from what a compiler, operating system, ABI, ISA, or particular machine happens to do. Then identify the evidence you would inspect to test the claim without overgeneralizing from a single successful run.</a:t>
            </a:r>
          </a:p>
          <a:p/>
          <a:p>
            <a:r>
              <a:t>SIXTH-GRADE EXPLANATION</a:t>
            </a:r>
          </a:p>
          <a:p>
            <a:r>
              <a:t>In simpler terms, if process A is preempted so process B can run, the kernel must preserve enough CPU state to resume A later: instruction location, stack state, general registers, and other architecture-specific context.</a:t>
            </a:r>
          </a:p>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22: Worked example — Scheduling a CPU-bound and I/O-bound process</a:t>
            </a:r>
          </a:p>
          <a:p/>
          <a:p>
            <a:r>
              <a:t>LECTURE NARRATION</a:t>
            </a:r>
          </a:p>
          <a:p>
            <a:r>
              <a:t>If process A consumes full quanta while process B frequently blocks waiting for input, a scheduler can run A while B sleeps and wake B when its I/O completes. The CPU is therefore multiplexed among runnable processes, not divided equally among all processes regardless of state.</a:t>
            </a:r>
          </a:p>
          <a:p/>
          <a:p>
            <a:r>
              <a:t>At graduate level, do not treat this as a term to memorize. Identify the contract being described, the state or representation it constrains, and the assumptions that must remain true. When this topic appears in real systems code, separate what the language guarantees from what a compiler, operating system, ABI, ISA, or particular machine happens to do. Then identify the evidence you would inspect to test the claim without overgeneralizing from a single successful run.</a:t>
            </a:r>
          </a:p>
          <a:p/>
          <a:p>
            <a:r>
              <a:t>SIXTH-GRADE EXPLANATION</a:t>
            </a:r>
          </a:p>
          <a:p>
            <a:r>
              <a:t>The program asks the operating system to move bytes to or from a resource, much like using a numbered ticket to ask a clerk for the right item.</a:t>
            </a:r>
          </a:p>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23: Worked example — Scheduling a CPU-bound and I/O-bound process — Deep Dive</a:t>
            </a:r>
          </a:p>
          <a:p/>
          <a:p>
            <a:r>
              <a:t>LECTURE NARRATION</a:t>
            </a:r>
          </a:p>
          <a:p>
            <a:r>
              <a:t>If process A consumes full quanta while process B frequently blocks waiting for input, a scheduler can run A while B sleeps and wake B when its I/O completes. The CPU is therefore multiplexed among runnable processes, not divided equally among all processes regardless of state.</a:t>
            </a:r>
          </a:p>
          <a:p/>
          <a:p>
            <a:r>
              <a:t>At graduate level, do not treat this as a term to memorize. Identify the contract being described, the state or representation it constrains, and the assumptions that must remain true. When this topic appears in real systems code, separate what the language guarantees from what a compiler, operating system, ABI, ISA, or particular machine happens to do. Then identify the evidence you would inspect to test the claim without overgeneralizing from a single successful run.</a:t>
            </a:r>
          </a:p>
          <a:p/>
          <a:p>
            <a:r>
              <a:t>SIXTH-GRADE EXPLANATION</a:t>
            </a:r>
          </a:p>
          <a:p>
            <a:r>
              <a:t>The program asks the operating system to move bytes to or from a resource, much like using a numbered ticket to ask a clerk for the right item.</a:t>
            </a:r>
          </a:p>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24: Guided lab and review</a:t>
            </a:r>
          </a:p>
          <a:p/>
          <a:p>
            <a:r>
              <a:t>LECTURE NARRATION</a:t>
            </a:r>
          </a:p>
          <a:p>
            <a:r>
              <a:t>Lab 21. Repeat the trace when B needs 8 milliseconds instead of 4 and A runs immediately when its I/O completes, preempting B. Calculate each completion time, CPU time, and total CPU utilization over the interval ending when both finish. Review 1. Can two processes contain the same virtual address but different data? Review 2. Why is a waiting process not necessarily helped by a faster CPU?</a:t>
            </a:r>
          </a:p>
          <a:p/>
          <a:p>
            <a:r>
              <a:t>At graduate level, do not treat this as a term to memorize. Identify the contract being described, the state or representation it constrains, and the assumptions that must remain true. When this topic appears in real systems code, separate what the language guarantees from what a compiler, operating system, ABI, ISA, or particular machine happens to do. Then identify the evidence you would inspect to test the claim without overgeneralizing from a single successful run.</a:t>
            </a:r>
          </a:p>
          <a:p/>
          <a:p>
            <a:r>
              <a:t>SIXTH-GRADE EXPLANATION</a:t>
            </a:r>
          </a:p>
          <a:p>
            <a:r>
              <a:t>In simpler terms, lab 21.</a:t>
            </a:r>
          </a:p>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25: Guided lab and review — Deep Dive</a:t>
            </a:r>
          </a:p>
          <a:p/>
          <a:p>
            <a:r>
              <a:t>LECTURE NARRATION</a:t>
            </a:r>
          </a:p>
          <a:p>
            <a:r>
              <a:t>Lab 21. Repeat the trace when B needs 8 milliseconds instead of 4 and A runs immediately when its I/O completes, preempting B. Calculate each completion time, CPU time, and total CPU utilization over the interval ending when both finish. Review 1. Can two processes contain the same virtual address but different data? Review 2. Why is a waiting process not necessarily helped by a faster CPU?</a:t>
            </a:r>
          </a:p>
          <a:p/>
          <a:p>
            <a:r>
              <a:t>At graduate level, do not treat this as a term to memorize. Identify the contract being described, the state or representation it constrains, and the assumptions that must remain true. When this topic appears in real systems code, separate what the language guarantees from what a compiler, operating system, ABI, ISA, or particular machine happens to do. Then identify the evidence you would inspect to test the claim without overgeneralizing from a single successful run.</a:t>
            </a:r>
          </a:p>
          <a:p/>
          <a:p>
            <a:r>
              <a:t>SIXTH-GRADE EXPLANATION</a:t>
            </a:r>
          </a:p>
          <a:p>
            <a:r>
              <a:t>In simpler terms, lab 21.</a:t>
            </a:r>
          </a:p>
          <a:p/>
        </p:txBody>
      </p:sp>
      <p:sp>
        <p:nvSpPr>
          <p:cNvPr id="4" name="Slide Number Placeholder 3"/>
          <p:cNvSpPr>
            <a:spLocks noGrp="1"/>
          </p:cNvSpPr>
          <p:nvPr>
            <p:ph type="sldNum" idx="5" sz="quarter"/>
          </p:nvPr>
        </p:nvSpPr>
        <p:spPr/>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26: Chapter Synthesis</a:t>
            </a:r>
          </a:p>
          <a:p/>
          <a:p>
            <a:r>
              <a:t>LECTURE NARRATION</a:t>
            </a:r>
          </a:p>
          <a:p>
            <a:r>
              <a:t>The chapter's central subject is processes. Correct reasoning requires explicit assumptions, bounds, ownership, and interface contracts. Observed behavior is evidence about a run; it is not automatically a language or system guarantee. Use the worked examples and lab to test whether the model transfers to new cases.</a:t>
            </a:r>
          </a:p>
          <a:p/>
          <a:p>
            <a:r>
              <a:t>At graduate level, do not treat this as a term to memorize. Identify the contract being described, the state or representation it constrains, and the assumptions that must remain true. When this topic appears in real systems code, separate what the language guarantees from what a compiler, operating system, ABI, ISA, or particular machine happens to do. Then identify the evidence you would inspect to test the claim without overgeneralizing from a single successful run.</a:t>
            </a:r>
          </a:p>
          <a:p/>
          <a:p>
            <a:r>
              <a:t>SIXTH-GRADE EXPLANATION</a:t>
            </a:r>
          </a:p>
          <a:p>
            <a:r>
              <a:t>In simpler terms, the chapter's central subject is processes.</a:t>
            </a:r>
          </a:p>
          <a:p/>
        </p:txBody>
      </p:sp>
      <p:sp>
        <p:nvSpPr>
          <p:cNvPr id="4" name="Slide Number Placeholder 3"/>
          <p:cNvSpPr>
            <a:spLocks noGrp="1"/>
          </p:cNvSpPr>
          <p:nvPr>
            <p:ph type="sldNum" idx="5" sz="quarter"/>
          </p:nvPr>
        </p:nvSpPr>
        <p:spPr/>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27: Review and Transition</a:t>
            </a:r>
          </a:p>
          <a:p/>
          <a:p>
            <a:r>
              <a:t>LECTURE NARRATION</a:t>
            </a:r>
          </a:p>
          <a:p>
            <a:r>
              <a:t>Explain one mechanism from the chapter without relying on vocabulary alone. Identify one failure mode and the violated contract or invariant. State what evidence would support your diagnosis and what it would not prove. Next: Virtual Address Spaces.</a:t>
            </a:r>
          </a:p>
          <a:p/>
          <a:p>
            <a:r>
              <a:t>At graduate level, do not treat this as a term to memorize. Identify the contract being described, the state or representation it constrains, and the assumptions that must remain true. When this topic appears in real systems code, separate what the language guarantees from what a compiler, operating system, ABI, ISA, or particular machine happens to do. Then identify the evidence you would inspect to test the claim without overgeneralizing from a single successful run.</a:t>
            </a:r>
          </a:p>
          <a:p/>
          <a:p>
            <a:r>
              <a:t>SIXTH-GRADE EXPLANATION</a:t>
            </a:r>
          </a:p>
          <a:p>
            <a:r>
              <a:t>In simpler terms, explain one mechanism from the chapter without relying on vocabulary alone.</a:t>
            </a:r>
          </a:p>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7.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B121C"/>
        </a:solidFill>
        <a:effectLst/>
      </p:bgPr>
    </p:bg>
    <p:spTree>
      <p:nvGrpSpPr>
        <p:cNvPr id="1" name=""/>
        <p:cNvGrpSpPr/>
        <p:nvPr/>
      </p:nvGrpSpPr>
      <p:grpSpPr/>
      <p:sp>
        <p:nvSpPr>
          <p:cNvPr id="2" name="Rectangle 1"/>
          <p:cNvSpPr/>
          <p:nvPr/>
        </p:nvSpPr>
        <p:spPr>
          <a:xfrm>
            <a:off x="0" y="0"/>
            <a:ext cx="12191695" cy="73152"/>
          </a:xfrm>
          <a:prstGeom prst="rect">
            <a:avLst/>
          </a:prstGeom>
          <a:solidFill>
            <a:srgbClr val="42B8D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20040"/>
            <a:ext cx="10972800" cy="274320"/>
          </a:xfrm>
          <a:prstGeom prst="rect">
            <a:avLst/>
          </a:prstGeom>
          <a:noFill/>
        </p:spPr>
        <p:txBody>
          <a:bodyPr wrap="none">
            <a:spAutoFit/>
          </a:bodyPr>
          <a:lstStyle/>
          <a:p>
            <a:pPr>
              <a:defRPr sz="1100" b="1">
                <a:solidFill>
                  <a:srgbClr val="A5B2C1"/>
                </a:solidFill>
              </a:defRPr>
            </a:pPr>
            <a:r>
              <a:t>SYSTEMS PROGRAMMING AND MACHINE ORGANIZATION     ·     CHARLES DORNER</a:t>
            </a:r>
          </a:p>
        </p:txBody>
      </p:sp>
      <p:sp>
        <p:nvSpPr>
          <p:cNvPr id="4" name="TextBox 3"/>
          <p:cNvSpPr txBox="1"/>
          <p:nvPr/>
        </p:nvSpPr>
        <p:spPr>
          <a:xfrm>
            <a:off x="594360" y="822960"/>
            <a:ext cx="10972800" cy="914400"/>
          </a:xfrm>
          <a:prstGeom prst="rect">
            <a:avLst/>
          </a:prstGeom>
          <a:noFill/>
        </p:spPr>
        <p:txBody>
          <a:bodyPr wrap="none">
            <a:spAutoFit/>
          </a:bodyPr>
          <a:lstStyle/>
          <a:p>
            <a:pPr>
              <a:defRPr sz="3000" b="1">
                <a:solidFill>
                  <a:srgbClr val="F2F5F8"/>
                </a:solidFill>
              </a:defRPr>
            </a:pPr>
            <a:r>
              <a:t>Chapter 21 — Processes</a:t>
            </a:r>
          </a:p>
        </p:txBody>
      </p:sp>
      <p:sp>
        <p:nvSpPr>
          <p:cNvPr id="5" name="TextBox 4"/>
          <p:cNvSpPr txBox="1"/>
          <p:nvPr/>
        </p:nvSpPr>
        <p:spPr>
          <a:xfrm>
            <a:off x="612648" y="1600200"/>
            <a:ext cx="10698480" cy="365760"/>
          </a:xfrm>
          <a:prstGeom prst="rect">
            <a:avLst/>
          </a:prstGeom>
          <a:noFill/>
        </p:spPr>
        <p:txBody>
          <a:bodyPr wrap="none">
            <a:spAutoFit/>
          </a:bodyPr>
          <a:lstStyle/>
          <a:p>
            <a:pPr>
              <a:defRPr sz="1300" b="1">
                <a:solidFill>
                  <a:srgbClr val="42B8D5"/>
                </a:solidFill>
              </a:defRPr>
            </a:pPr>
            <a:r>
              <a:t>GRADUATE LECTURE</a:t>
            </a:r>
          </a:p>
        </p:txBody>
      </p:sp>
      <p:sp>
        <p:nvSpPr>
          <p:cNvPr id="6" name="Rounded Rectangle 5"/>
          <p:cNvSpPr/>
          <p:nvPr/>
        </p:nvSpPr>
        <p:spPr>
          <a:xfrm>
            <a:off x="594360" y="2148840"/>
            <a:ext cx="10972800" cy="3840480"/>
          </a:xfrm>
          <a:prstGeom prst="roundRect">
            <a:avLst/>
          </a:prstGeom>
          <a:solidFill>
            <a:srgbClr val="141E2B"/>
          </a:solidFill>
          <a:ln>
            <a:solidFill>
              <a:srgbClr val="2F3E4E"/>
            </a:solidFill>
          </a:ln>
        </p:spPr>
        <p:style>
          <a:lnRef idx="1">
            <a:schemeClr val="accent1"/>
          </a:lnRef>
          <a:fillRef idx="3">
            <a:schemeClr val="accent1"/>
          </a:fillRef>
          <a:effectRef idx="2">
            <a:schemeClr val="accent1"/>
          </a:effectRef>
          <a:fontRef idx="minor">
            <a:schemeClr val="lt1"/>
          </a:fontRef>
        </p:style>
        <p:txBody>
          <a:bodyPr rtlCol="0" anchor="ctr" lIns="320040" rIns="274320" tIns="228600"/>
          <a:lstStyle/>
          <a:p>
            <a:pPr algn="ctr">
              <a:spcAft>
                <a:spcPts val="1100"/>
              </a:spcAft>
              <a:defRPr sz="1900">
                <a:solidFill>
                  <a:srgbClr val="F2F5F8"/>
                </a:solidFill>
              </a:defRPr>
            </a:pPr>
            <a:r>
              <a:t>• A process is an operating-system-managed execution environment.</a:t>
            </a:r>
          </a:p>
          <a:p>
            <a:pPr>
              <a:spcAft>
                <a:spcPts val="1100"/>
              </a:spcAft>
              <a:defRPr sz="1900">
                <a:solidFill>
                  <a:srgbClr val="F2F5F8"/>
                </a:solidFill>
              </a:defRPr>
            </a:pPr>
            <a:r>
              <a:t>• It combines an address space, references to resources, credentials, and one or more threads of execution.</a:t>
            </a:r>
          </a:p>
          <a:p>
            <a:pPr>
              <a:spcAft>
                <a:spcPts val="1100"/>
              </a:spcAft>
              <a:defRPr sz="1700">
                <a:solidFill>
                  <a:srgbClr val="F2F5F8"/>
                </a:solidFill>
              </a:defRPr>
            </a:pPr>
            <a:r>
              <a:t>• The abstraction gives a program the appearance of its own machine while allowing the kernel to share actual processors, memory, and devices among many programs.</a:t>
            </a:r>
          </a:p>
          <a:p>
            <a:pPr>
              <a:spcAft>
                <a:spcPts val="1100"/>
              </a:spcAft>
              <a:defRPr sz="1900">
                <a:solidFill>
                  <a:srgbClr val="F2F5F8"/>
                </a:solidFill>
              </a:defRPr>
            </a:pPr>
            <a:r>
              <a:t>• Processes are not identical to executable files.</a:t>
            </a:r>
          </a:p>
        </p:txBody>
      </p:sp>
      <p:sp>
        <p:nvSpPr>
          <p:cNvPr id="7" name="TextBox 6"/>
          <p:cNvSpPr txBox="1"/>
          <p:nvPr/>
        </p:nvSpPr>
        <p:spPr>
          <a:xfrm>
            <a:off x="612648" y="6309360"/>
            <a:ext cx="10698480" cy="228600"/>
          </a:xfrm>
          <a:prstGeom prst="rect">
            <a:avLst/>
          </a:prstGeom>
          <a:noFill/>
        </p:spPr>
        <p:txBody>
          <a:bodyPr wrap="none">
            <a:spAutoFit/>
          </a:bodyPr>
          <a:lstStyle/>
          <a:p>
            <a:pPr>
              <a:defRPr sz="1000">
                <a:solidFill>
                  <a:srgbClr val="A5B2C1"/>
                </a:solidFill>
              </a:defRPr>
            </a:pPr>
            <a:r>
              <a:t>CHAPTER 21     |     1</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B121C"/>
        </a:solidFill>
        <a:effectLst/>
      </p:bgPr>
    </p:bg>
    <p:spTree>
      <p:nvGrpSpPr>
        <p:cNvPr id="1" name=""/>
        <p:cNvGrpSpPr/>
        <p:nvPr/>
      </p:nvGrpSpPr>
      <p:grpSpPr/>
      <p:sp>
        <p:nvSpPr>
          <p:cNvPr id="2" name="Rectangle 1"/>
          <p:cNvSpPr/>
          <p:nvPr/>
        </p:nvSpPr>
        <p:spPr>
          <a:xfrm>
            <a:off x="0" y="0"/>
            <a:ext cx="12191695" cy="73152"/>
          </a:xfrm>
          <a:prstGeom prst="rect">
            <a:avLst/>
          </a:prstGeom>
          <a:solidFill>
            <a:srgbClr val="42B8D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20040"/>
            <a:ext cx="10972800" cy="274320"/>
          </a:xfrm>
          <a:prstGeom prst="rect">
            <a:avLst/>
          </a:prstGeom>
          <a:noFill/>
        </p:spPr>
        <p:txBody>
          <a:bodyPr wrap="none">
            <a:spAutoFit/>
          </a:bodyPr>
          <a:lstStyle/>
          <a:p>
            <a:pPr>
              <a:defRPr sz="1100" b="1">
                <a:solidFill>
                  <a:srgbClr val="A5B2C1"/>
                </a:solidFill>
              </a:defRPr>
            </a:pPr>
            <a:r>
              <a:t>SYSTEMS PROGRAMMING AND MACHINE ORGANIZATION     ·     CHARLES DORNER</a:t>
            </a:r>
          </a:p>
        </p:txBody>
      </p:sp>
      <p:sp>
        <p:nvSpPr>
          <p:cNvPr id="4" name="TextBox 3"/>
          <p:cNvSpPr txBox="1"/>
          <p:nvPr/>
        </p:nvSpPr>
        <p:spPr>
          <a:xfrm>
            <a:off x="594360" y="822960"/>
            <a:ext cx="10972800" cy="914400"/>
          </a:xfrm>
          <a:prstGeom prst="rect">
            <a:avLst/>
          </a:prstGeom>
          <a:noFill/>
        </p:spPr>
        <p:txBody>
          <a:bodyPr wrap="none">
            <a:spAutoFit/>
          </a:bodyPr>
          <a:lstStyle/>
          <a:p>
            <a:pPr>
              <a:defRPr sz="3000" b="1">
                <a:solidFill>
                  <a:srgbClr val="F2F5F8"/>
                </a:solidFill>
              </a:defRPr>
            </a:pPr>
            <a:r>
              <a:t>What This Chapter Builds</a:t>
            </a:r>
          </a:p>
        </p:txBody>
      </p:sp>
      <p:sp>
        <p:nvSpPr>
          <p:cNvPr id="5" name="TextBox 4"/>
          <p:cNvSpPr txBox="1"/>
          <p:nvPr/>
        </p:nvSpPr>
        <p:spPr>
          <a:xfrm>
            <a:off x="612648" y="1600200"/>
            <a:ext cx="10698480" cy="365760"/>
          </a:xfrm>
          <a:prstGeom prst="rect">
            <a:avLst/>
          </a:prstGeom>
          <a:noFill/>
        </p:spPr>
        <p:txBody>
          <a:bodyPr wrap="none">
            <a:spAutoFit/>
          </a:bodyPr>
          <a:lstStyle/>
          <a:p>
            <a:pPr>
              <a:defRPr sz="1300" b="1">
                <a:solidFill>
                  <a:srgbClr val="42B8D5"/>
                </a:solidFill>
              </a:defRPr>
            </a:pPr>
            <a:r>
              <a:t>LEARNING OBJECTIVES</a:t>
            </a:r>
          </a:p>
        </p:txBody>
      </p:sp>
      <p:sp>
        <p:nvSpPr>
          <p:cNvPr id="6" name="Rounded Rectangle 5"/>
          <p:cNvSpPr/>
          <p:nvPr/>
        </p:nvSpPr>
        <p:spPr>
          <a:xfrm>
            <a:off x="594360" y="2148840"/>
            <a:ext cx="10972800" cy="3840480"/>
          </a:xfrm>
          <a:prstGeom prst="roundRect">
            <a:avLst/>
          </a:prstGeom>
          <a:solidFill>
            <a:srgbClr val="141E2B"/>
          </a:solidFill>
          <a:ln>
            <a:solidFill>
              <a:srgbClr val="2F3E4E"/>
            </a:solidFill>
          </a:ln>
        </p:spPr>
        <p:style>
          <a:lnRef idx="1">
            <a:schemeClr val="accent1"/>
          </a:lnRef>
          <a:fillRef idx="3">
            <a:schemeClr val="accent1"/>
          </a:fillRef>
          <a:effectRef idx="2">
            <a:schemeClr val="accent1"/>
          </a:effectRef>
          <a:fontRef idx="minor">
            <a:schemeClr val="lt1"/>
          </a:fontRef>
        </p:style>
        <p:txBody>
          <a:bodyPr rtlCol="0" anchor="ctr" lIns="320040" rIns="274320" tIns="228600"/>
          <a:lstStyle/>
          <a:p>
            <a:pPr algn="ctr">
              <a:spcAft>
                <a:spcPts val="1100"/>
              </a:spcAft>
              <a:defRPr sz="1900">
                <a:solidFill>
                  <a:srgbClr val="F2F5F8"/>
                </a:solidFill>
              </a:defRPr>
            </a:pPr>
            <a:r>
              <a:t>• Explain the mechanisms and contracts in Processes.</a:t>
            </a:r>
          </a:p>
          <a:p>
            <a:pPr>
              <a:spcAft>
                <a:spcPts val="1100"/>
              </a:spcAft>
              <a:defRPr sz="1900">
                <a:solidFill>
                  <a:srgbClr val="F2F5F8"/>
                </a:solidFill>
              </a:defRPr>
            </a:pPr>
            <a:r>
              <a:t>• Trace the chapter's important state, representation, and resource transitions.</a:t>
            </a:r>
          </a:p>
          <a:p>
            <a:pPr>
              <a:spcAft>
                <a:spcPts val="1100"/>
              </a:spcAft>
              <a:defRPr sz="1900">
                <a:solidFill>
                  <a:srgbClr val="F2F5F8"/>
                </a:solidFill>
              </a:defRPr>
            </a:pPr>
            <a:r>
              <a:t>• Identify failure modes, assumptions, and evidence required for correctness.</a:t>
            </a:r>
          </a:p>
          <a:p>
            <a:pPr>
              <a:spcAft>
                <a:spcPts val="1100"/>
              </a:spcAft>
              <a:defRPr sz="1900">
                <a:solidFill>
                  <a:srgbClr val="F2F5F8"/>
                </a:solidFill>
              </a:defRPr>
            </a:pPr>
            <a:r>
              <a:t>• Apply the chapter model to the worked examples and guided lab.</a:t>
            </a:r>
          </a:p>
        </p:txBody>
      </p:sp>
      <p:sp>
        <p:nvSpPr>
          <p:cNvPr id="7" name="TextBox 6"/>
          <p:cNvSpPr txBox="1"/>
          <p:nvPr/>
        </p:nvSpPr>
        <p:spPr>
          <a:xfrm>
            <a:off x="612648" y="6309360"/>
            <a:ext cx="10698480" cy="228600"/>
          </a:xfrm>
          <a:prstGeom prst="rect">
            <a:avLst/>
          </a:prstGeom>
          <a:noFill/>
        </p:spPr>
        <p:txBody>
          <a:bodyPr wrap="none">
            <a:spAutoFit/>
          </a:bodyPr>
          <a:lstStyle/>
          <a:p>
            <a:pPr>
              <a:defRPr sz="1000">
                <a:solidFill>
                  <a:srgbClr val="A5B2C1"/>
                </a:solidFill>
              </a:defRPr>
            </a:pPr>
            <a:r>
              <a:t>CHAPTER 21     |     2</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B121C"/>
        </a:solidFill>
        <a:effectLst/>
      </p:bgPr>
    </p:bg>
    <p:spTree>
      <p:nvGrpSpPr>
        <p:cNvPr id="1" name=""/>
        <p:cNvGrpSpPr/>
        <p:nvPr/>
      </p:nvGrpSpPr>
      <p:grpSpPr/>
      <p:sp>
        <p:nvSpPr>
          <p:cNvPr id="2" name="Rectangle 1"/>
          <p:cNvSpPr/>
          <p:nvPr/>
        </p:nvSpPr>
        <p:spPr>
          <a:xfrm>
            <a:off x="0" y="0"/>
            <a:ext cx="12191695" cy="73152"/>
          </a:xfrm>
          <a:prstGeom prst="rect">
            <a:avLst/>
          </a:prstGeom>
          <a:solidFill>
            <a:srgbClr val="42B8D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20040"/>
            <a:ext cx="10972800" cy="274320"/>
          </a:xfrm>
          <a:prstGeom prst="rect">
            <a:avLst/>
          </a:prstGeom>
          <a:noFill/>
        </p:spPr>
        <p:txBody>
          <a:bodyPr wrap="none">
            <a:spAutoFit/>
          </a:bodyPr>
          <a:lstStyle/>
          <a:p>
            <a:pPr>
              <a:defRPr sz="1100" b="1">
                <a:solidFill>
                  <a:srgbClr val="A5B2C1"/>
                </a:solidFill>
              </a:defRPr>
            </a:pPr>
            <a:r>
              <a:t>SYSTEMS PROGRAMMING AND MACHINE ORGANIZATION     ·     CHARLES DORNER</a:t>
            </a:r>
          </a:p>
        </p:txBody>
      </p:sp>
      <p:sp>
        <p:nvSpPr>
          <p:cNvPr id="4" name="TextBox 3"/>
          <p:cNvSpPr txBox="1"/>
          <p:nvPr/>
        </p:nvSpPr>
        <p:spPr>
          <a:xfrm>
            <a:off x="594360" y="822960"/>
            <a:ext cx="10972800" cy="914400"/>
          </a:xfrm>
          <a:prstGeom prst="rect">
            <a:avLst/>
          </a:prstGeom>
          <a:noFill/>
        </p:spPr>
        <p:txBody>
          <a:bodyPr wrap="none">
            <a:spAutoFit/>
          </a:bodyPr>
          <a:lstStyle/>
          <a:p>
            <a:pPr>
              <a:defRPr sz="3000" b="1">
                <a:solidFill>
                  <a:srgbClr val="F2F5F8"/>
                </a:solidFill>
              </a:defRPr>
            </a:pPr>
            <a:r>
              <a:t>Chapter Roadmap</a:t>
            </a:r>
          </a:p>
        </p:txBody>
      </p:sp>
      <p:sp>
        <p:nvSpPr>
          <p:cNvPr id="5" name="TextBox 4"/>
          <p:cNvSpPr txBox="1"/>
          <p:nvPr/>
        </p:nvSpPr>
        <p:spPr>
          <a:xfrm>
            <a:off x="612648" y="1600200"/>
            <a:ext cx="10698480" cy="365760"/>
          </a:xfrm>
          <a:prstGeom prst="rect">
            <a:avLst/>
          </a:prstGeom>
          <a:noFill/>
        </p:spPr>
        <p:txBody>
          <a:bodyPr wrap="none">
            <a:spAutoFit/>
          </a:bodyPr>
          <a:lstStyle/>
          <a:p>
            <a:pPr>
              <a:defRPr sz="1300" b="1">
                <a:solidFill>
                  <a:srgbClr val="42B8D5"/>
                </a:solidFill>
              </a:defRPr>
            </a:pPr>
            <a:r>
              <a:t>SOURCE-ALIGNED COVERAGE</a:t>
            </a:r>
          </a:p>
        </p:txBody>
      </p:sp>
      <p:sp>
        <p:nvSpPr>
          <p:cNvPr id="6" name="Rounded Rectangle 5"/>
          <p:cNvSpPr/>
          <p:nvPr/>
        </p:nvSpPr>
        <p:spPr>
          <a:xfrm>
            <a:off x="594360" y="2148840"/>
            <a:ext cx="10972800" cy="3840480"/>
          </a:xfrm>
          <a:prstGeom prst="roundRect">
            <a:avLst/>
          </a:prstGeom>
          <a:solidFill>
            <a:srgbClr val="141E2B"/>
          </a:solidFill>
          <a:ln>
            <a:solidFill>
              <a:srgbClr val="2F3E4E"/>
            </a:solidFill>
          </a:ln>
        </p:spPr>
        <p:style>
          <a:lnRef idx="1">
            <a:schemeClr val="accent1"/>
          </a:lnRef>
          <a:fillRef idx="3">
            <a:schemeClr val="accent1"/>
          </a:fillRef>
          <a:effectRef idx="2">
            <a:schemeClr val="accent1"/>
          </a:effectRef>
          <a:fontRef idx="minor">
            <a:schemeClr val="lt1"/>
          </a:fontRef>
        </p:style>
        <p:txBody>
          <a:bodyPr rtlCol="0" anchor="ctr" lIns="320040" rIns="274320" tIns="228600"/>
          <a:lstStyle/>
          <a:p>
            <a:pPr algn="ctr">
              <a:spcAft>
                <a:spcPts val="1100"/>
              </a:spcAft>
              <a:defRPr sz="1900">
                <a:solidFill>
                  <a:srgbClr val="F2F5F8"/>
                </a:solidFill>
              </a:defRPr>
            </a:pPr>
            <a:r>
              <a:t>• 21.1 Process abstraction</a:t>
            </a:r>
          </a:p>
          <a:p>
            <a:pPr>
              <a:spcAft>
                <a:spcPts val="1100"/>
              </a:spcAft>
              <a:defRPr sz="1900">
                <a:solidFill>
                  <a:srgbClr val="F2F5F8"/>
                </a:solidFill>
              </a:defRPr>
            </a:pPr>
            <a:r>
              <a:t>• 21.2 Process state</a:t>
            </a:r>
          </a:p>
          <a:p>
            <a:pPr>
              <a:spcAft>
                <a:spcPts val="1100"/>
              </a:spcAft>
              <a:defRPr sz="1900">
                <a:solidFill>
                  <a:srgbClr val="F2F5F8"/>
                </a:solidFill>
              </a:defRPr>
            </a:pPr>
            <a:r>
              <a:t>• 21.3 CPU context</a:t>
            </a:r>
          </a:p>
          <a:p>
            <a:pPr>
              <a:spcAft>
                <a:spcPts val="1100"/>
              </a:spcAft>
              <a:defRPr sz="1900">
                <a:solidFill>
                  <a:srgbClr val="F2F5F8"/>
                </a:solidFill>
              </a:defRPr>
            </a:pPr>
            <a:r>
              <a:t>• 21.4 Address space</a:t>
            </a:r>
          </a:p>
          <a:p>
            <a:pPr>
              <a:spcAft>
                <a:spcPts val="1100"/>
              </a:spcAft>
              <a:defRPr sz="1900">
                <a:solidFill>
                  <a:srgbClr val="F2F5F8"/>
                </a:solidFill>
              </a:defRPr>
            </a:pPr>
            <a:r>
              <a:t>• ...plus 7 additional source topics</a:t>
            </a:r>
          </a:p>
        </p:txBody>
      </p:sp>
      <p:sp>
        <p:nvSpPr>
          <p:cNvPr id="7" name="TextBox 6"/>
          <p:cNvSpPr txBox="1"/>
          <p:nvPr/>
        </p:nvSpPr>
        <p:spPr>
          <a:xfrm>
            <a:off x="612648" y="6309360"/>
            <a:ext cx="10698480" cy="228600"/>
          </a:xfrm>
          <a:prstGeom prst="rect">
            <a:avLst/>
          </a:prstGeom>
          <a:noFill/>
        </p:spPr>
        <p:txBody>
          <a:bodyPr wrap="none">
            <a:spAutoFit/>
          </a:bodyPr>
          <a:lstStyle/>
          <a:p>
            <a:pPr>
              <a:defRPr sz="1000">
                <a:solidFill>
                  <a:srgbClr val="A5B2C1"/>
                </a:solidFill>
              </a:defRPr>
            </a:pPr>
            <a:r>
              <a:t>CHAPTER 21     |     3</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B121C"/>
        </a:solidFill>
        <a:effectLst/>
      </p:bgPr>
    </p:bg>
    <p:spTree>
      <p:nvGrpSpPr>
        <p:cNvPr id="1" name=""/>
        <p:cNvGrpSpPr/>
        <p:nvPr/>
      </p:nvGrpSpPr>
      <p:grpSpPr/>
      <p:sp>
        <p:nvSpPr>
          <p:cNvPr id="2" name="Rectangle 1"/>
          <p:cNvSpPr/>
          <p:nvPr/>
        </p:nvSpPr>
        <p:spPr>
          <a:xfrm>
            <a:off x="0" y="0"/>
            <a:ext cx="12191695" cy="73152"/>
          </a:xfrm>
          <a:prstGeom prst="rect">
            <a:avLst/>
          </a:prstGeom>
          <a:solidFill>
            <a:srgbClr val="42B8D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20040"/>
            <a:ext cx="10972800" cy="274320"/>
          </a:xfrm>
          <a:prstGeom prst="rect">
            <a:avLst/>
          </a:prstGeom>
          <a:noFill/>
        </p:spPr>
        <p:txBody>
          <a:bodyPr wrap="none">
            <a:spAutoFit/>
          </a:bodyPr>
          <a:lstStyle/>
          <a:p>
            <a:pPr>
              <a:defRPr sz="1100" b="1">
                <a:solidFill>
                  <a:srgbClr val="A5B2C1"/>
                </a:solidFill>
              </a:defRPr>
            </a:pPr>
            <a:r>
              <a:t>SYSTEMS PROGRAMMING AND MACHINE ORGANIZATION     ·     CHARLES DORNER</a:t>
            </a:r>
          </a:p>
        </p:txBody>
      </p:sp>
      <p:sp>
        <p:nvSpPr>
          <p:cNvPr id="4" name="TextBox 3"/>
          <p:cNvSpPr txBox="1"/>
          <p:nvPr/>
        </p:nvSpPr>
        <p:spPr>
          <a:xfrm>
            <a:off x="594360" y="822960"/>
            <a:ext cx="10972800" cy="914400"/>
          </a:xfrm>
          <a:prstGeom prst="rect">
            <a:avLst/>
          </a:prstGeom>
          <a:noFill/>
        </p:spPr>
        <p:txBody>
          <a:bodyPr wrap="none">
            <a:spAutoFit/>
          </a:bodyPr>
          <a:lstStyle/>
          <a:p>
            <a:pPr>
              <a:defRPr sz="3000" b="1">
                <a:solidFill>
                  <a:srgbClr val="F2F5F8"/>
                </a:solidFill>
              </a:defRPr>
            </a:pPr>
            <a:r>
              <a:t>21.1 Process abstraction</a:t>
            </a:r>
          </a:p>
        </p:txBody>
      </p:sp>
      <p:sp>
        <p:nvSpPr>
          <p:cNvPr id="5" name="TextBox 4"/>
          <p:cNvSpPr txBox="1"/>
          <p:nvPr/>
        </p:nvSpPr>
        <p:spPr>
          <a:xfrm>
            <a:off x="612648" y="1600200"/>
            <a:ext cx="10698480" cy="365760"/>
          </a:xfrm>
          <a:prstGeom prst="rect">
            <a:avLst/>
          </a:prstGeom>
          <a:noFill/>
        </p:spPr>
        <p:txBody>
          <a:bodyPr wrap="none">
            <a:spAutoFit/>
          </a:bodyPr>
          <a:lstStyle/>
          <a:p>
            <a:pPr>
              <a:defRPr sz="1300" b="1">
                <a:solidFill>
                  <a:srgbClr val="42B8D5"/>
                </a:solidFill>
              </a:defRPr>
            </a:pPr>
            <a:r>
              <a:t>SOURCE TOPIC</a:t>
            </a:r>
          </a:p>
        </p:txBody>
      </p:sp>
      <p:sp>
        <p:nvSpPr>
          <p:cNvPr id="6" name="Rounded Rectangle 5"/>
          <p:cNvSpPr/>
          <p:nvPr/>
        </p:nvSpPr>
        <p:spPr>
          <a:xfrm>
            <a:off x="594360" y="2148840"/>
            <a:ext cx="10972800" cy="3840480"/>
          </a:xfrm>
          <a:prstGeom prst="roundRect">
            <a:avLst/>
          </a:prstGeom>
          <a:solidFill>
            <a:srgbClr val="141E2B"/>
          </a:solidFill>
          <a:ln>
            <a:solidFill>
              <a:srgbClr val="2F3E4E"/>
            </a:solidFill>
          </a:ln>
        </p:spPr>
        <p:style>
          <a:lnRef idx="1">
            <a:schemeClr val="accent1"/>
          </a:lnRef>
          <a:fillRef idx="3">
            <a:schemeClr val="accent1"/>
          </a:fillRef>
          <a:effectRef idx="2">
            <a:schemeClr val="accent1"/>
          </a:effectRef>
          <a:fontRef idx="minor">
            <a:schemeClr val="lt1"/>
          </a:fontRef>
        </p:style>
        <p:txBody>
          <a:bodyPr rtlCol="0" anchor="ctr" lIns="320040" rIns="274320" tIns="228600"/>
          <a:lstStyle/>
          <a:p>
            <a:pPr algn="ctr">
              <a:spcAft>
                <a:spcPts val="1100"/>
              </a:spcAft>
              <a:defRPr sz="1900">
                <a:solidFill>
                  <a:srgbClr val="F2F5F8"/>
                </a:solidFill>
              </a:defRPr>
            </a:pPr>
            <a:r>
              <a:t>• The process abstraction groups resources and identity.</a:t>
            </a:r>
          </a:p>
          <a:p>
            <a:pPr>
              <a:spcAft>
                <a:spcPts val="1100"/>
              </a:spcAft>
              <a:defRPr sz="1700">
                <a:solidFill>
                  <a:srgbClr val="F2F5F8"/>
                </a:solidFill>
              </a:defRPr>
            </a:pPr>
            <a:r>
              <a:t>• Its virtual address space determines which addresses have meaning; its descriptor table determines what small descriptor numbers refer to; its credentials help determine which...</a:t>
            </a:r>
          </a:p>
          <a:p>
            <a:pPr>
              <a:spcAft>
                <a:spcPts val="1100"/>
              </a:spcAft>
              <a:defRPr sz="1900">
                <a:solidFill>
                  <a:srgbClr val="F2F5F8"/>
                </a:solidFill>
              </a:defRPr>
            </a:pPr>
            <a:r>
              <a:t>• Two processes can use the integer descriptor 3 for entirely different files.</a:t>
            </a:r>
          </a:p>
          <a:p>
            <a:pPr>
              <a:spcAft>
                <a:spcPts val="1100"/>
              </a:spcAft>
              <a:defRPr sz="1900">
                <a:solidFill>
                  <a:srgbClr val="F2F5F8"/>
                </a:solidFill>
              </a:defRPr>
            </a:pPr>
            <a:r>
              <a:t>• A thread is an execution stream within that environment.</a:t>
            </a:r>
          </a:p>
        </p:txBody>
      </p:sp>
      <p:sp>
        <p:nvSpPr>
          <p:cNvPr id="7" name="TextBox 6"/>
          <p:cNvSpPr txBox="1"/>
          <p:nvPr/>
        </p:nvSpPr>
        <p:spPr>
          <a:xfrm>
            <a:off x="612648" y="6309360"/>
            <a:ext cx="10698480" cy="228600"/>
          </a:xfrm>
          <a:prstGeom prst="rect">
            <a:avLst/>
          </a:prstGeom>
          <a:noFill/>
        </p:spPr>
        <p:txBody>
          <a:bodyPr wrap="none">
            <a:spAutoFit/>
          </a:bodyPr>
          <a:lstStyle/>
          <a:p>
            <a:pPr>
              <a:defRPr sz="1000">
                <a:solidFill>
                  <a:srgbClr val="A5B2C1"/>
                </a:solidFill>
              </a:defRPr>
            </a:pPr>
            <a:r>
              <a:t>CHAPTER 21     |     4</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B121C"/>
        </a:solidFill>
        <a:effectLst/>
      </p:bgPr>
    </p:bg>
    <p:spTree>
      <p:nvGrpSpPr>
        <p:cNvPr id="1" name=""/>
        <p:cNvGrpSpPr/>
        <p:nvPr/>
      </p:nvGrpSpPr>
      <p:grpSpPr/>
      <p:sp>
        <p:nvSpPr>
          <p:cNvPr id="2" name="Rectangle 1"/>
          <p:cNvSpPr/>
          <p:nvPr/>
        </p:nvSpPr>
        <p:spPr>
          <a:xfrm>
            <a:off x="0" y="0"/>
            <a:ext cx="12191695" cy="73152"/>
          </a:xfrm>
          <a:prstGeom prst="rect">
            <a:avLst/>
          </a:prstGeom>
          <a:solidFill>
            <a:srgbClr val="42B8D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20040"/>
            <a:ext cx="10972800" cy="274320"/>
          </a:xfrm>
          <a:prstGeom prst="rect">
            <a:avLst/>
          </a:prstGeom>
          <a:noFill/>
        </p:spPr>
        <p:txBody>
          <a:bodyPr wrap="none">
            <a:spAutoFit/>
          </a:bodyPr>
          <a:lstStyle/>
          <a:p>
            <a:pPr>
              <a:defRPr sz="1100" b="1">
                <a:solidFill>
                  <a:srgbClr val="A5B2C1"/>
                </a:solidFill>
              </a:defRPr>
            </a:pPr>
            <a:r>
              <a:t>SYSTEMS PROGRAMMING AND MACHINE ORGANIZATION     ·     CHARLES DORNER</a:t>
            </a:r>
          </a:p>
        </p:txBody>
      </p:sp>
      <p:sp>
        <p:nvSpPr>
          <p:cNvPr id="4" name="TextBox 3"/>
          <p:cNvSpPr txBox="1"/>
          <p:nvPr/>
        </p:nvSpPr>
        <p:spPr>
          <a:xfrm>
            <a:off x="594360" y="822960"/>
            <a:ext cx="10972800" cy="914400"/>
          </a:xfrm>
          <a:prstGeom prst="rect">
            <a:avLst/>
          </a:prstGeom>
          <a:noFill/>
        </p:spPr>
        <p:txBody>
          <a:bodyPr wrap="none">
            <a:spAutoFit/>
          </a:bodyPr>
          <a:lstStyle/>
          <a:p>
            <a:pPr>
              <a:defRPr sz="3000" b="1">
                <a:solidFill>
                  <a:srgbClr val="F2F5F8"/>
                </a:solidFill>
              </a:defRPr>
            </a:pPr>
            <a:r>
              <a:t>21.1 Process abstraction — Deep Dive</a:t>
            </a:r>
          </a:p>
        </p:txBody>
      </p:sp>
      <p:sp>
        <p:nvSpPr>
          <p:cNvPr id="5" name="TextBox 4"/>
          <p:cNvSpPr txBox="1"/>
          <p:nvPr/>
        </p:nvSpPr>
        <p:spPr>
          <a:xfrm>
            <a:off x="612648" y="1600200"/>
            <a:ext cx="10698480" cy="365760"/>
          </a:xfrm>
          <a:prstGeom prst="rect">
            <a:avLst/>
          </a:prstGeom>
          <a:noFill/>
        </p:spPr>
        <p:txBody>
          <a:bodyPr wrap="none">
            <a:spAutoFit/>
          </a:bodyPr>
          <a:lstStyle/>
          <a:p>
            <a:pPr>
              <a:defRPr sz="1300" b="1">
                <a:solidFill>
                  <a:srgbClr val="42B8D5"/>
                </a:solidFill>
              </a:defRPr>
            </a:pPr>
            <a:r>
              <a:t>ENGINEERING IMPLICATIONS</a:t>
            </a:r>
          </a:p>
        </p:txBody>
      </p:sp>
      <p:sp>
        <p:nvSpPr>
          <p:cNvPr id="6" name="Rounded Rectangle 5"/>
          <p:cNvSpPr/>
          <p:nvPr/>
        </p:nvSpPr>
        <p:spPr>
          <a:xfrm>
            <a:off x="594360" y="2148840"/>
            <a:ext cx="10972800" cy="3840480"/>
          </a:xfrm>
          <a:prstGeom prst="roundRect">
            <a:avLst/>
          </a:prstGeom>
          <a:solidFill>
            <a:srgbClr val="141E2B"/>
          </a:solidFill>
          <a:ln>
            <a:solidFill>
              <a:srgbClr val="2F3E4E"/>
            </a:solidFill>
          </a:ln>
        </p:spPr>
        <p:style>
          <a:lnRef idx="1">
            <a:schemeClr val="accent1"/>
          </a:lnRef>
          <a:fillRef idx="3">
            <a:schemeClr val="accent1"/>
          </a:fillRef>
          <a:effectRef idx="2">
            <a:schemeClr val="accent1"/>
          </a:effectRef>
          <a:fontRef idx="minor">
            <a:schemeClr val="lt1"/>
          </a:fontRef>
        </p:style>
        <p:txBody>
          <a:bodyPr rtlCol="0" anchor="ctr" lIns="320040" rIns="274320" tIns="228600"/>
          <a:lstStyle/>
          <a:p>
            <a:pPr algn="ctr">
              <a:spcAft>
                <a:spcPts val="1100"/>
              </a:spcAft>
              <a:defRPr sz="1900">
                <a:solidFill>
                  <a:srgbClr val="F2F5F8"/>
                </a:solidFill>
              </a:defRPr>
            </a:pPr>
            <a:r>
              <a:t>• A thread is an execution stream within that environment.</a:t>
            </a:r>
          </a:p>
          <a:p>
            <a:pPr>
              <a:spcAft>
                <a:spcPts val="1100"/>
              </a:spcAft>
              <a:defRPr sz="1900">
                <a:solidFill>
                  <a:srgbClr val="F2F5F8"/>
                </a:solidFill>
              </a:defRPr>
            </a:pPr>
            <a:r>
              <a:t>• Threads in one process usually share mappings and many resources while retaining their own register state and stacks.</a:t>
            </a:r>
          </a:p>
          <a:p>
            <a:pPr>
              <a:spcAft>
                <a:spcPts val="1100"/>
              </a:spcAft>
              <a:defRPr sz="1900">
                <a:solidFill>
                  <a:srgbClr val="F2F5F8"/>
                </a:solidFill>
              </a:defRPr>
            </a:pPr>
            <a:r>
              <a:t>• Therefore, “switching processes” and “switching threads” are related but not interchangeable descriptions.</a:t>
            </a:r>
          </a:p>
          <a:p>
            <a:pPr>
              <a:spcAft>
                <a:spcPts val="1100"/>
              </a:spcAft>
              <a:defRPr sz="1700">
                <a:solidFill>
                  <a:srgbClr val="F2F5F8"/>
                </a:solidFill>
              </a:defRPr>
            </a:pPr>
            <a:r>
              <a:t>• The scheduler chooses runnable execution entities, while the process abstraction supplies much of their shared environment.</a:t>
            </a:r>
          </a:p>
        </p:txBody>
      </p:sp>
      <p:sp>
        <p:nvSpPr>
          <p:cNvPr id="7" name="TextBox 6"/>
          <p:cNvSpPr txBox="1"/>
          <p:nvPr/>
        </p:nvSpPr>
        <p:spPr>
          <a:xfrm>
            <a:off x="612648" y="6309360"/>
            <a:ext cx="10698480" cy="228600"/>
          </a:xfrm>
          <a:prstGeom prst="rect">
            <a:avLst/>
          </a:prstGeom>
          <a:noFill/>
        </p:spPr>
        <p:txBody>
          <a:bodyPr wrap="none">
            <a:spAutoFit/>
          </a:bodyPr>
          <a:lstStyle/>
          <a:p>
            <a:pPr>
              <a:defRPr sz="1000">
                <a:solidFill>
                  <a:srgbClr val="A5B2C1"/>
                </a:solidFill>
              </a:defRPr>
            </a:pPr>
            <a:r>
              <a:t>CHAPTER 21     |     5</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B121C"/>
        </a:solidFill>
        <a:effectLst/>
      </p:bgPr>
    </p:bg>
    <p:spTree>
      <p:nvGrpSpPr>
        <p:cNvPr id="1" name=""/>
        <p:cNvGrpSpPr/>
        <p:nvPr/>
      </p:nvGrpSpPr>
      <p:grpSpPr/>
      <p:sp>
        <p:nvSpPr>
          <p:cNvPr id="2" name="Rectangle 1"/>
          <p:cNvSpPr/>
          <p:nvPr/>
        </p:nvSpPr>
        <p:spPr>
          <a:xfrm>
            <a:off x="0" y="0"/>
            <a:ext cx="12191695" cy="73152"/>
          </a:xfrm>
          <a:prstGeom prst="rect">
            <a:avLst/>
          </a:prstGeom>
          <a:solidFill>
            <a:srgbClr val="42B8D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20040"/>
            <a:ext cx="10972800" cy="274320"/>
          </a:xfrm>
          <a:prstGeom prst="rect">
            <a:avLst/>
          </a:prstGeom>
          <a:noFill/>
        </p:spPr>
        <p:txBody>
          <a:bodyPr wrap="none">
            <a:spAutoFit/>
          </a:bodyPr>
          <a:lstStyle/>
          <a:p>
            <a:pPr>
              <a:defRPr sz="1100" b="1">
                <a:solidFill>
                  <a:srgbClr val="A5B2C1"/>
                </a:solidFill>
              </a:defRPr>
            </a:pPr>
            <a:r>
              <a:t>SYSTEMS PROGRAMMING AND MACHINE ORGANIZATION     ·     CHARLES DORNER</a:t>
            </a:r>
          </a:p>
        </p:txBody>
      </p:sp>
      <p:sp>
        <p:nvSpPr>
          <p:cNvPr id="4" name="TextBox 3"/>
          <p:cNvSpPr txBox="1"/>
          <p:nvPr/>
        </p:nvSpPr>
        <p:spPr>
          <a:xfrm>
            <a:off x="594360" y="822960"/>
            <a:ext cx="10972800" cy="914400"/>
          </a:xfrm>
          <a:prstGeom prst="rect">
            <a:avLst/>
          </a:prstGeom>
          <a:noFill/>
        </p:spPr>
        <p:txBody>
          <a:bodyPr wrap="none">
            <a:spAutoFit/>
          </a:bodyPr>
          <a:lstStyle/>
          <a:p>
            <a:pPr>
              <a:defRPr sz="3000" b="1">
                <a:solidFill>
                  <a:srgbClr val="F2F5F8"/>
                </a:solidFill>
              </a:defRPr>
            </a:pPr>
            <a:r>
              <a:t>21.2 Process state</a:t>
            </a:r>
          </a:p>
        </p:txBody>
      </p:sp>
      <p:sp>
        <p:nvSpPr>
          <p:cNvPr id="5" name="TextBox 4"/>
          <p:cNvSpPr txBox="1"/>
          <p:nvPr/>
        </p:nvSpPr>
        <p:spPr>
          <a:xfrm>
            <a:off x="612648" y="1600200"/>
            <a:ext cx="10698480" cy="365760"/>
          </a:xfrm>
          <a:prstGeom prst="rect">
            <a:avLst/>
          </a:prstGeom>
          <a:noFill/>
        </p:spPr>
        <p:txBody>
          <a:bodyPr wrap="none">
            <a:spAutoFit/>
          </a:bodyPr>
          <a:lstStyle/>
          <a:p>
            <a:pPr>
              <a:defRPr sz="1300" b="1">
                <a:solidFill>
                  <a:srgbClr val="42B8D5"/>
                </a:solidFill>
              </a:defRPr>
            </a:pPr>
            <a:r>
              <a:t>SOURCE TOPIC</a:t>
            </a:r>
          </a:p>
        </p:txBody>
      </p:sp>
      <p:sp>
        <p:nvSpPr>
          <p:cNvPr id="6" name="Rounded Rectangle 5"/>
          <p:cNvSpPr/>
          <p:nvPr/>
        </p:nvSpPr>
        <p:spPr>
          <a:xfrm>
            <a:off x="594360" y="2148840"/>
            <a:ext cx="10972800" cy="3840480"/>
          </a:xfrm>
          <a:prstGeom prst="roundRect">
            <a:avLst/>
          </a:prstGeom>
          <a:solidFill>
            <a:srgbClr val="141E2B"/>
          </a:solidFill>
          <a:ln>
            <a:solidFill>
              <a:srgbClr val="2F3E4E"/>
            </a:solidFill>
          </a:ln>
        </p:spPr>
        <p:style>
          <a:lnRef idx="1">
            <a:schemeClr val="accent1"/>
          </a:lnRef>
          <a:fillRef idx="3">
            <a:schemeClr val="accent1"/>
          </a:fillRef>
          <a:effectRef idx="2">
            <a:schemeClr val="accent1"/>
          </a:effectRef>
          <a:fontRef idx="minor">
            <a:schemeClr val="lt1"/>
          </a:fontRef>
        </p:style>
        <p:txBody>
          <a:bodyPr rtlCol="0" anchor="ctr" lIns="320040" rIns="274320" tIns="228600"/>
          <a:lstStyle/>
          <a:p>
            <a:pPr algn="ctr">
              <a:spcAft>
                <a:spcPts val="1100"/>
              </a:spcAft>
              <a:defRPr sz="1900">
                <a:solidFill>
                  <a:srgbClr val="F2F5F8"/>
                </a:solidFill>
              </a:defRPr>
            </a:pPr>
            <a:r>
              <a:t>• A simple state model includes running, runnable, waiting, stopped, and terminated states.</a:t>
            </a:r>
          </a:p>
          <a:p>
            <a:pPr>
              <a:spcAft>
                <a:spcPts val="1100"/>
              </a:spcAft>
              <a:defRPr sz="1900">
                <a:solidFill>
                  <a:srgbClr val="F2F5F8"/>
                </a:solidFill>
              </a:defRPr>
            </a:pPr>
            <a:r>
              <a:t>• Runnable means eligible for CPU execution; running means currently executing.</a:t>
            </a:r>
          </a:p>
          <a:p>
            <a:pPr>
              <a:spcAft>
                <a:spcPts val="1100"/>
              </a:spcAft>
              <a:defRPr sz="1900">
                <a:solidFill>
                  <a:srgbClr val="F2F5F8"/>
                </a:solidFill>
              </a:defRPr>
            </a:pPr>
            <a:r>
              <a:t>• A process waiting for input is not made faster merely by adding more CPU time if the required input has not arrived.</a:t>
            </a:r>
          </a:p>
          <a:p>
            <a:pPr>
              <a:spcAft>
                <a:spcPts val="1100"/>
              </a:spcAft>
              <a:defRPr sz="1900">
                <a:solidFill>
                  <a:srgbClr val="F2F5F8"/>
                </a:solidFill>
              </a:defRPr>
            </a:pPr>
            <a:r>
              <a:t>• A terminated child may temporarily remain as a zombie until its parent collects the termination information.</a:t>
            </a:r>
          </a:p>
        </p:txBody>
      </p:sp>
      <p:sp>
        <p:nvSpPr>
          <p:cNvPr id="7" name="TextBox 6"/>
          <p:cNvSpPr txBox="1"/>
          <p:nvPr/>
        </p:nvSpPr>
        <p:spPr>
          <a:xfrm>
            <a:off x="612648" y="6309360"/>
            <a:ext cx="10698480" cy="228600"/>
          </a:xfrm>
          <a:prstGeom prst="rect">
            <a:avLst/>
          </a:prstGeom>
          <a:noFill/>
        </p:spPr>
        <p:txBody>
          <a:bodyPr wrap="none">
            <a:spAutoFit/>
          </a:bodyPr>
          <a:lstStyle/>
          <a:p>
            <a:pPr>
              <a:defRPr sz="1000">
                <a:solidFill>
                  <a:srgbClr val="A5B2C1"/>
                </a:solidFill>
              </a:defRPr>
            </a:pPr>
            <a:r>
              <a:t>CHAPTER 21     |     6</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B121C"/>
        </a:solidFill>
        <a:effectLst/>
      </p:bgPr>
    </p:bg>
    <p:spTree>
      <p:nvGrpSpPr>
        <p:cNvPr id="1" name=""/>
        <p:cNvGrpSpPr/>
        <p:nvPr/>
      </p:nvGrpSpPr>
      <p:grpSpPr/>
      <p:sp>
        <p:nvSpPr>
          <p:cNvPr id="2" name="Rectangle 1"/>
          <p:cNvSpPr/>
          <p:nvPr/>
        </p:nvSpPr>
        <p:spPr>
          <a:xfrm>
            <a:off x="0" y="0"/>
            <a:ext cx="12191695" cy="73152"/>
          </a:xfrm>
          <a:prstGeom prst="rect">
            <a:avLst/>
          </a:prstGeom>
          <a:solidFill>
            <a:srgbClr val="42B8D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20040"/>
            <a:ext cx="10972800" cy="274320"/>
          </a:xfrm>
          <a:prstGeom prst="rect">
            <a:avLst/>
          </a:prstGeom>
          <a:noFill/>
        </p:spPr>
        <p:txBody>
          <a:bodyPr wrap="none">
            <a:spAutoFit/>
          </a:bodyPr>
          <a:lstStyle/>
          <a:p>
            <a:pPr>
              <a:defRPr sz="1100" b="1">
                <a:solidFill>
                  <a:srgbClr val="A5B2C1"/>
                </a:solidFill>
              </a:defRPr>
            </a:pPr>
            <a:r>
              <a:t>SYSTEMS PROGRAMMING AND MACHINE ORGANIZATION     ·     CHARLES DORNER</a:t>
            </a:r>
          </a:p>
        </p:txBody>
      </p:sp>
      <p:sp>
        <p:nvSpPr>
          <p:cNvPr id="4" name="TextBox 3"/>
          <p:cNvSpPr txBox="1"/>
          <p:nvPr/>
        </p:nvSpPr>
        <p:spPr>
          <a:xfrm>
            <a:off x="594360" y="822960"/>
            <a:ext cx="10972800" cy="914400"/>
          </a:xfrm>
          <a:prstGeom prst="rect">
            <a:avLst/>
          </a:prstGeom>
          <a:noFill/>
        </p:spPr>
        <p:txBody>
          <a:bodyPr wrap="none">
            <a:spAutoFit/>
          </a:bodyPr>
          <a:lstStyle/>
          <a:p>
            <a:pPr>
              <a:defRPr sz="3000" b="1">
                <a:solidFill>
                  <a:srgbClr val="F2F5F8"/>
                </a:solidFill>
              </a:defRPr>
            </a:pPr>
            <a:r>
              <a:t>21.2 Process state — Deep Dive</a:t>
            </a:r>
          </a:p>
        </p:txBody>
      </p:sp>
      <p:sp>
        <p:nvSpPr>
          <p:cNvPr id="5" name="TextBox 4"/>
          <p:cNvSpPr txBox="1"/>
          <p:nvPr/>
        </p:nvSpPr>
        <p:spPr>
          <a:xfrm>
            <a:off x="612648" y="1600200"/>
            <a:ext cx="10698480" cy="365760"/>
          </a:xfrm>
          <a:prstGeom prst="rect">
            <a:avLst/>
          </a:prstGeom>
          <a:noFill/>
        </p:spPr>
        <p:txBody>
          <a:bodyPr wrap="none">
            <a:spAutoFit/>
          </a:bodyPr>
          <a:lstStyle/>
          <a:p>
            <a:pPr>
              <a:defRPr sz="1300" b="1">
                <a:solidFill>
                  <a:srgbClr val="42B8D5"/>
                </a:solidFill>
              </a:defRPr>
            </a:pPr>
            <a:r>
              <a:t>ENGINEERING IMPLICATIONS</a:t>
            </a:r>
          </a:p>
        </p:txBody>
      </p:sp>
      <p:sp>
        <p:nvSpPr>
          <p:cNvPr id="6" name="Rounded Rectangle 5"/>
          <p:cNvSpPr/>
          <p:nvPr/>
        </p:nvSpPr>
        <p:spPr>
          <a:xfrm>
            <a:off x="594360" y="2148840"/>
            <a:ext cx="10972800" cy="3840480"/>
          </a:xfrm>
          <a:prstGeom prst="roundRect">
            <a:avLst/>
          </a:prstGeom>
          <a:solidFill>
            <a:srgbClr val="141E2B"/>
          </a:solidFill>
          <a:ln>
            <a:solidFill>
              <a:srgbClr val="2F3E4E"/>
            </a:solidFill>
          </a:ln>
        </p:spPr>
        <p:style>
          <a:lnRef idx="1">
            <a:schemeClr val="accent1"/>
          </a:lnRef>
          <a:fillRef idx="3">
            <a:schemeClr val="accent1"/>
          </a:fillRef>
          <a:effectRef idx="2">
            <a:schemeClr val="accent1"/>
          </a:effectRef>
          <a:fontRef idx="minor">
            <a:schemeClr val="lt1"/>
          </a:fontRef>
        </p:style>
        <p:txBody>
          <a:bodyPr rtlCol="0" anchor="ctr" lIns="320040" rIns="274320" tIns="228600"/>
          <a:lstStyle/>
          <a:p>
            <a:pPr algn="ctr">
              <a:spcAft>
                <a:spcPts val="1100"/>
              </a:spcAft>
              <a:defRPr sz="1900">
                <a:solidFill>
                  <a:srgbClr val="F2F5F8"/>
                </a:solidFill>
              </a:defRPr>
            </a:pPr>
            <a:r>
              <a:t>• A terminated child may temporarily remain as a zombie until its parent collects the termination information.</a:t>
            </a:r>
          </a:p>
          <a:p>
            <a:pPr>
              <a:spcAft>
                <a:spcPts val="1100"/>
              </a:spcAft>
              <a:defRPr sz="1900">
                <a:solidFill>
                  <a:srgbClr val="F2F5F8"/>
                </a:solidFill>
              </a:defRPr>
            </a:pPr>
            <a:r>
              <a:t>• The zombie is not executing the old program.</a:t>
            </a:r>
          </a:p>
          <a:p>
            <a:pPr>
              <a:spcAft>
                <a:spcPts val="1100"/>
              </a:spcAft>
              <a:defRPr sz="1900">
                <a:solidFill>
                  <a:srgbClr val="F2F5F8"/>
                </a:solidFill>
              </a:defRPr>
            </a:pPr>
            <a:r>
              <a:t>• Its remaining bookkeeping supports the parent’s ability to retrieve status.</a:t>
            </a:r>
          </a:p>
          <a:p>
            <a:pPr>
              <a:spcAft>
                <a:spcPts val="1100"/>
              </a:spcAft>
              <a:defRPr sz="1700">
                <a:solidFill>
                  <a:srgbClr val="F2F5F8"/>
                </a:solidFill>
              </a:defRPr>
            </a:pPr>
            <a:r>
              <a:t>• Real kernels expose more detailed states than this teaching model, but the model is sufficient to separate eligibility, execution, and event waiting.</a:t>
            </a:r>
          </a:p>
        </p:txBody>
      </p:sp>
      <p:sp>
        <p:nvSpPr>
          <p:cNvPr id="7" name="TextBox 6"/>
          <p:cNvSpPr txBox="1"/>
          <p:nvPr/>
        </p:nvSpPr>
        <p:spPr>
          <a:xfrm>
            <a:off x="612648" y="6309360"/>
            <a:ext cx="10698480" cy="228600"/>
          </a:xfrm>
          <a:prstGeom prst="rect">
            <a:avLst/>
          </a:prstGeom>
          <a:noFill/>
        </p:spPr>
        <p:txBody>
          <a:bodyPr wrap="none">
            <a:spAutoFit/>
          </a:bodyPr>
          <a:lstStyle/>
          <a:p>
            <a:pPr>
              <a:defRPr sz="1000">
                <a:solidFill>
                  <a:srgbClr val="A5B2C1"/>
                </a:solidFill>
              </a:defRPr>
            </a:pPr>
            <a:r>
              <a:t>CHAPTER 21     |     7</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B121C"/>
        </a:solidFill>
        <a:effectLst/>
      </p:bgPr>
    </p:bg>
    <p:spTree>
      <p:nvGrpSpPr>
        <p:cNvPr id="1" name=""/>
        <p:cNvGrpSpPr/>
        <p:nvPr/>
      </p:nvGrpSpPr>
      <p:grpSpPr/>
      <p:sp>
        <p:nvSpPr>
          <p:cNvPr id="2" name="Rectangle 1"/>
          <p:cNvSpPr/>
          <p:nvPr/>
        </p:nvSpPr>
        <p:spPr>
          <a:xfrm>
            <a:off x="0" y="0"/>
            <a:ext cx="12191695" cy="73152"/>
          </a:xfrm>
          <a:prstGeom prst="rect">
            <a:avLst/>
          </a:prstGeom>
          <a:solidFill>
            <a:srgbClr val="42B8D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20040"/>
            <a:ext cx="10972800" cy="274320"/>
          </a:xfrm>
          <a:prstGeom prst="rect">
            <a:avLst/>
          </a:prstGeom>
          <a:noFill/>
        </p:spPr>
        <p:txBody>
          <a:bodyPr wrap="none">
            <a:spAutoFit/>
          </a:bodyPr>
          <a:lstStyle/>
          <a:p>
            <a:pPr>
              <a:defRPr sz="1100" b="1">
                <a:solidFill>
                  <a:srgbClr val="A5B2C1"/>
                </a:solidFill>
              </a:defRPr>
            </a:pPr>
            <a:r>
              <a:t>SYSTEMS PROGRAMMING AND MACHINE ORGANIZATION     ·     CHARLES DORNER</a:t>
            </a:r>
          </a:p>
        </p:txBody>
      </p:sp>
      <p:sp>
        <p:nvSpPr>
          <p:cNvPr id="4" name="TextBox 3"/>
          <p:cNvSpPr txBox="1"/>
          <p:nvPr/>
        </p:nvSpPr>
        <p:spPr>
          <a:xfrm>
            <a:off x="594360" y="822960"/>
            <a:ext cx="10972800" cy="914400"/>
          </a:xfrm>
          <a:prstGeom prst="rect">
            <a:avLst/>
          </a:prstGeom>
          <a:noFill/>
        </p:spPr>
        <p:txBody>
          <a:bodyPr wrap="none">
            <a:spAutoFit/>
          </a:bodyPr>
          <a:lstStyle/>
          <a:p>
            <a:pPr>
              <a:defRPr sz="3000" b="1">
                <a:solidFill>
                  <a:srgbClr val="F2F5F8"/>
                </a:solidFill>
              </a:defRPr>
            </a:pPr>
            <a:r>
              <a:t>21.3 CPU context</a:t>
            </a:r>
          </a:p>
        </p:txBody>
      </p:sp>
      <p:sp>
        <p:nvSpPr>
          <p:cNvPr id="5" name="TextBox 4"/>
          <p:cNvSpPr txBox="1"/>
          <p:nvPr/>
        </p:nvSpPr>
        <p:spPr>
          <a:xfrm>
            <a:off x="612648" y="1600200"/>
            <a:ext cx="10698480" cy="365760"/>
          </a:xfrm>
          <a:prstGeom prst="rect">
            <a:avLst/>
          </a:prstGeom>
          <a:noFill/>
        </p:spPr>
        <p:txBody>
          <a:bodyPr wrap="none">
            <a:spAutoFit/>
          </a:bodyPr>
          <a:lstStyle/>
          <a:p>
            <a:pPr>
              <a:defRPr sz="1300" b="1">
                <a:solidFill>
                  <a:srgbClr val="42B8D5"/>
                </a:solidFill>
              </a:defRPr>
            </a:pPr>
            <a:r>
              <a:t>SOURCE TOPIC</a:t>
            </a:r>
          </a:p>
        </p:txBody>
      </p:sp>
      <p:sp>
        <p:nvSpPr>
          <p:cNvPr id="6" name="Rounded Rectangle 5"/>
          <p:cNvSpPr/>
          <p:nvPr/>
        </p:nvSpPr>
        <p:spPr>
          <a:xfrm>
            <a:off x="594360" y="2148840"/>
            <a:ext cx="10972800" cy="3840480"/>
          </a:xfrm>
          <a:prstGeom prst="roundRect">
            <a:avLst/>
          </a:prstGeom>
          <a:solidFill>
            <a:srgbClr val="141E2B"/>
          </a:solidFill>
          <a:ln>
            <a:solidFill>
              <a:srgbClr val="2F3E4E"/>
            </a:solidFill>
          </a:ln>
        </p:spPr>
        <p:style>
          <a:lnRef idx="1">
            <a:schemeClr val="accent1"/>
          </a:lnRef>
          <a:fillRef idx="3">
            <a:schemeClr val="accent1"/>
          </a:fillRef>
          <a:effectRef idx="2">
            <a:schemeClr val="accent1"/>
          </a:effectRef>
          <a:fontRef idx="minor">
            <a:schemeClr val="lt1"/>
          </a:fontRef>
        </p:style>
        <p:txBody>
          <a:bodyPr rtlCol="0" anchor="ctr" lIns="320040" rIns="274320" tIns="228600"/>
          <a:lstStyle/>
          <a:p>
            <a:pPr algn="ctr">
              <a:spcAft>
                <a:spcPts val="1100"/>
              </a:spcAft>
              <a:defRPr sz="1900">
                <a:solidFill>
                  <a:srgbClr val="F2F5F8"/>
                </a:solidFill>
              </a:defRPr>
            </a:pPr>
            <a:r>
              <a:t>• CPU context includes the register and control state needed to resume an execution stream.</a:t>
            </a:r>
          </a:p>
          <a:p>
            <a:pPr>
              <a:spcAft>
                <a:spcPts val="1100"/>
              </a:spcAft>
              <a:defRPr sz="1900">
                <a:solidFill>
                  <a:srgbClr val="F2F5F8"/>
                </a:solidFill>
              </a:defRPr>
            </a:pPr>
            <a:r>
              <a:t>• It encompasses more than the source-level local variables a programmer can name.</a:t>
            </a:r>
          </a:p>
          <a:p>
            <a:pPr>
              <a:spcAft>
                <a:spcPts val="1100"/>
              </a:spcAft>
              <a:defRPr sz="1900">
                <a:solidFill>
                  <a:srgbClr val="F2F5F8"/>
                </a:solidFill>
              </a:defRPr>
            </a:pPr>
            <a:r>
              <a:t>• The instruction pointer, stack pointer, flags, and other architecture-defined state influence what happens next.</a:t>
            </a:r>
          </a:p>
          <a:p>
            <a:pPr>
              <a:spcAft>
                <a:spcPts val="1100"/>
              </a:spcAft>
              <a:defRPr sz="1900">
                <a:solidFill>
                  <a:srgbClr val="F2F5F8"/>
                </a:solidFill>
              </a:defRPr>
            </a:pPr>
            <a:r>
              <a:t>• Not all context is necessarily saved and restored through one identical path.</a:t>
            </a:r>
          </a:p>
        </p:txBody>
      </p:sp>
      <p:sp>
        <p:nvSpPr>
          <p:cNvPr id="7" name="TextBox 6"/>
          <p:cNvSpPr txBox="1"/>
          <p:nvPr/>
        </p:nvSpPr>
        <p:spPr>
          <a:xfrm>
            <a:off x="612648" y="6309360"/>
            <a:ext cx="10698480" cy="228600"/>
          </a:xfrm>
          <a:prstGeom prst="rect">
            <a:avLst/>
          </a:prstGeom>
          <a:noFill/>
        </p:spPr>
        <p:txBody>
          <a:bodyPr wrap="none">
            <a:spAutoFit/>
          </a:bodyPr>
          <a:lstStyle/>
          <a:p>
            <a:pPr>
              <a:defRPr sz="1000">
                <a:solidFill>
                  <a:srgbClr val="A5B2C1"/>
                </a:solidFill>
              </a:defRPr>
            </a:pPr>
            <a:r>
              <a:t>CHAPTER 21     |     8</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B121C"/>
        </a:solidFill>
        <a:effectLst/>
      </p:bgPr>
    </p:bg>
    <p:spTree>
      <p:nvGrpSpPr>
        <p:cNvPr id="1" name=""/>
        <p:cNvGrpSpPr/>
        <p:nvPr/>
      </p:nvGrpSpPr>
      <p:grpSpPr/>
      <p:sp>
        <p:nvSpPr>
          <p:cNvPr id="2" name="Rectangle 1"/>
          <p:cNvSpPr/>
          <p:nvPr/>
        </p:nvSpPr>
        <p:spPr>
          <a:xfrm>
            <a:off x="0" y="0"/>
            <a:ext cx="12191695" cy="73152"/>
          </a:xfrm>
          <a:prstGeom prst="rect">
            <a:avLst/>
          </a:prstGeom>
          <a:solidFill>
            <a:srgbClr val="42B8D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20040"/>
            <a:ext cx="10972800" cy="274320"/>
          </a:xfrm>
          <a:prstGeom prst="rect">
            <a:avLst/>
          </a:prstGeom>
          <a:noFill/>
        </p:spPr>
        <p:txBody>
          <a:bodyPr wrap="none">
            <a:spAutoFit/>
          </a:bodyPr>
          <a:lstStyle/>
          <a:p>
            <a:pPr>
              <a:defRPr sz="1100" b="1">
                <a:solidFill>
                  <a:srgbClr val="A5B2C1"/>
                </a:solidFill>
              </a:defRPr>
            </a:pPr>
            <a:r>
              <a:t>SYSTEMS PROGRAMMING AND MACHINE ORGANIZATION     ·     CHARLES DORNER</a:t>
            </a:r>
          </a:p>
        </p:txBody>
      </p:sp>
      <p:sp>
        <p:nvSpPr>
          <p:cNvPr id="4" name="TextBox 3"/>
          <p:cNvSpPr txBox="1"/>
          <p:nvPr/>
        </p:nvSpPr>
        <p:spPr>
          <a:xfrm>
            <a:off x="594360" y="822960"/>
            <a:ext cx="10972800" cy="914400"/>
          </a:xfrm>
          <a:prstGeom prst="rect">
            <a:avLst/>
          </a:prstGeom>
          <a:noFill/>
        </p:spPr>
        <p:txBody>
          <a:bodyPr wrap="none">
            <a:spAutoFit/>
          </a:bodyPr>
          <a:lstStyle/>
          <a:p>
            <a:pPr>
              <a:defRPr sz="3000" b="1">
                <a:solidFill>
                  <a:srgbClr val="F2F5F8"/>
                </a:solidFill>
              </a:defRPr>
            </a:pPr>
            <a:r>
              <a:t>21.3 CPU context — Deep Dive</a:t>
            </a:r>
          </a:p>
        </p:txBody>
      </p:sp>
      <p:sp>
        <p:nvSpPr>
          <p:cNvPr id="5" name="TextBox 4"/>
          <p:cNvSpPr txBox="1"/>
          <p:nvPr/>
        </p:nvSpPr>
        <p:spPr>
          <a:xfrm>
            <a:off x="612648" y="1600200"/>
            <a:ext cx="10698480" cy="365760"/>
          </a:xfrm>
          <a:prstGeom prst="rect">
            <a:avLst/>
          </a:prstGeom>
          <a:noFill/>
        </p:spPr>
        <p:txBody>
          <a:bodyPr wrap="none">
            <a:spAutoFit/>
          </a:bodyPr>
          <a:lstStyle/>
          <a:p>
            <a:pPr>
              <a:defRPr sz="1300" b="1">
                <a:solidFill>
                  <a:srgbClr val="42B8D5"/>
                </a:solidFill>
              </a:defRPr>
            </a:pPr>
            <a:r>
              <a:t>ENGINEERING IMPLICATIONS</a:t>
            </a:r>
          </a:p>
        </p:txBody>
      </p:sp>
      <p:sp>
        <p:nvSpPr>
          <p:cNvPr id="6" name="Rounded Rectangle 5"/>
          <p:cNvSpPr/>
          <p:nvPr/>
        </p:nvSpPr>
        <p:spPr>
          <a:xfrm>
            <a:off x="594360" y="2148840"/>
            <a:ext cx="10972800" cy="3840480"/>
          </a:xfrm>
          <a:prstGeom prst="roundRect">
            <a:avLst/>
          </a:prstGeom>
          <a:solidFill>
            <a:srgbClr val="141E2B"/>
          </a:solidFill>
          <a:ln>
            <a:solidFill>
              <a:srgbClr val="2F3E4E"/>
            </a:solidFill>
          </a:ln>
        </p:spPr>
        <p:style>
          <a:lnRef idx="1">
            <a:schemeClr val="accent1"/>
          </a:lnRef>
          <a:fillRef idx="3">
            <a:schemeClr val="accent1"/>
          </a:fillRef>
          <a:effectRef idx="2">
            <a:schemeClr val="accent1"/>
          </a:effectRef>
          <a:fontRef idx="minor">
            <a:schemeClr val="lt1"/>
          </a:fontRef>
        </p:style>
        <p:txBody>
          <a:bodyPr rtlCol="0" anchor="ctr" lIns="320040" rIns="274320" tIns="228600"/>
          <a:lstStyle/>
          <a:p>
            <a:pPr algn="ctr">
              <a:spcAft>
                <a:spcPts val="1100"/>
              </a:spcAft>
              <a:defRPr sz="1900">
                <a:solidFill>
                  <a:srgbClr val="F2F5F8"/>
                </a:solidFill>
              </a:defRPr>
            </a:pPr>
            <a:r>
              <a:t>• Not all context is necessarily saved and restored through one identical path.</a:t>
            </a:r>
          </a:p>
          <a:p>
            <a:pPr>
              <a:spcAft>
                <a:spcPts val="1100"/>
              </a:spcAft>
              <a:defRPr sz="1700">
                <a:solidFill>
                  <a:srgbClr val="F2F5F8"/>
                </a:solidFill>
              </a:defRPr>
            </a:pPr>
            <a:r>
              <a:t>• Kernel implementations optimize context handling, and architecture extensions enlarge the state that may need management.</a:t>
            </a:r>
          </a:p>
          <a:p>
            <a:pPr>
              <a:spcAft>
                <a:spcPts val="1100"/>
              </a:spcAft>
              <a:defRPr sz="1900">
                <a:solidFill>
                  <a:srgbClr val="F2F5F8"/>
                </a:solidFill>
              </a:defRPr>
            </a:pPr>
            <a:r>
              <a:t>• For reasoning, the essential requirement is preservation of the execution semantics promised to the program.</a:t>
            </a:r>
          </a:p>
          <a:p>
            <a:pPr>
              <a:spcAft>
                <a:spcPts val="1100"/>
              </a:spcAft>
              <a:defRPr sz="1900">
                <a:solidFill>
                  <a:srgbClr val="F2F5F8"/>
                </a:solidFill>
              </a:defRPr>
            </a:pPr>
            <a:r>
              <a:t>• A resumed thread must not receive another thread’s live register values as though they were its own.</a:t>
            </a:r>
          </a:p>
        </p:txBody>
      </p:sp>
      <p:sp>
        <p:nvSpPr>
          <p:cNvPr id="7" name="TextBox 6"/>
          <p:cNvSpPr txBox="1"/>
          <p:nvPr/>
        </p:nvSpPr>
        <p:spPr>
          <a:xfrm>
            <a:off x="612648" y="6309360"/>
            <a:ext cx="10698480" cy="228600"/>
          </a:xfrm>
          <a:prstGeom prst="rect">
            <a:avLst/>
          </a:prstGeom>
          <a:noFill/>
        </p:spPr>
        <p:txBody>
          <a:bodyPr wrap="none">
            <a:spAutoFit/>
          </a:bodyPr>
          <a:lstStyle/>
          <a:p>
            <a:pPr>
              <a:defRPr sz="1000">
                <a:solidFill>
                  <a:srgbClr val="A5B2C1"/>
                </a:solidFill>
              </a:defRPr>
            </a:pPr>
            <a:r>
              <a:t>CHAPTER 21     |     9</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B121C"/>
        </a:solidFill>
        <a:effectLst/>
      </p:bgPr>
    </p:bg>
    <p:spTree>
      <p:nvGrpSpPr>
        <p:cNvPr id="1" name=""/>
        <p:cNvGrpSpPr/>
        <p:nvPr/>
      </p:nvGrpSpPr>
      <p:grpSpPr/>
      <p:sp>
        <p:nvSpPr>
          <p:cNvPr id="2" name="Rectangle 1"/>
          <p:cNvSpPr/>
          <p:nvPr/>
        </p:nvSpPr>
        <p:spPr>
          <a:xfrm>
            <a:off x="0" y="0"/>
            <a:ext cx="12191695" cy="73152"/>
          </a:xfrm>
          <a:prstGeom prst="rect">
            <a:avLst/>
          </a:prstGeom>
          <a:solidFill>
            <a:srgbClr val="42B8D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20040"/>
            <a:ext cx="10972800" cy="274320"/>
          </a:xfrm>
          <a:prstGeom prst="rect">
            <a:avLst/>
          </a:prstGeom>
          <a:noFill/>
        </p:spPr>
        <p:txBody>
          <a:bodyPr wrap="none">
            <a:spAutoFit/>
          </a:bodyPr>
          <a:lstStyle/>
          <a:p>
            <a:pPr>
              <a:defRPr sz="1100" b="1">
                <a:solidFill>
                  <a:srgbClr val="A5B2C1"/>
                </a:solidFill>
              </a:defRPr>
            </a:pPr>
            <a:r>
              <a:t>SYSTEMS PROGRAMMING AND MACHINE ORGANIZATION     ·     CHARLES DORNER</a:t>
            </a:r>
          </a:p>
        </p:txBody>
      </p:sp>
      <p:sp>
        <p:nvSpPr>
          <p:cNvPr id="4" name="TextBox 3"/>
          <p:cNvSpPr txBox="1"/>
          <p:nvPr/>
        </p:nvSpPr>
        <p:spPr>
          <a:xfrm>
            <a:off x="594360" y="822960"/>
            <a:ext cx="10972800" cy="914400"/>
          </a:xfrm>
          <a:prstGeom prst="rect">
            <a:avLst/>
          </a:prstGeom>
          <a:noFill/>
        </p:spPr>
        <p:txBody>
          <a:bodyPr wrap="none">
            <a:spAutoFit/>
          </a:bodyPr>
          <a:lstStyle/>
          <a:p>
            <a:pPr>
              <a:defRPr sz="3000" b="1">
                <a:solidFill>
                  <a:srgbClr val="F2F5F8"/>
                </a:solidFill>
              </a:defRPr>
            </a:pPr>
            <a:r>
              <a:t>21.4 Address space</a:t>
            </a:r>
          </a:p>
        </p:txBody>
      </p:sp>
      <p:sp>
        <p:nvSpPr>
          <p:cNvPr id="5" name="TextBox 4"/>
          <p:cNvSpPr txBox="1"/>
          <p:nvPr/>
        </p:nvSpPr>
        <p:spPr>
          <a:xfrm>
            <a:off x="612648" y="1600200"/>
            <a:ext cx="10698480" cy="365760"/>
          </a:xfrm>
          <a:prstGeom prst="rect">
            <a:avLst/>
          </a:prstGeom>
          <a:noFill/>
        </p:spPr>
        <p:txBody>
          <a:bodyPr wrap="none">
            <a:spAutoFit/>
          </a:bodyPr>
          <a:lstStyle/>
          <a:p>
            <a:pPr>
              <a:defRPr sz="1300" b="1">
                <a:solidFill>
                  <a:srgbClr val="42B8D5"/>
                </a:solidFill>
              </a:defRPr>
            </a:pPr>
            <a:r>
              <a:t>SOURCE TOPIC</a:t>
            </a:r>
          </a:p>
        </p:txBody>
      </p:sp>
      <p:sp>
        <p:nvSpPr>
          <p:cNvPr id="6" name="Rounded Rectangle 5"/>
          <p:cNvSpPr/>
          <p:nvPr/>
        </p:nvSpPr>
        <p:spPr>
          <a:xfrm>
            <a:off x="594360" y="2148840"/>
            <a:ext cx="10972800" cy="3840480"/>
          </a:xfrm>
          <a:prstGeom prst="roundRect">
            <a:avLst/>
          </a:prstGeom>
          <a:solidFill>
            <a:srgbClr val="141E2B"/>
          </a:solidFill>
          <a:ln>
            <a:solidFill>
              <a:srgbClr val="2F3E4E"/>
            </a:solidFill>
          </a:ln>
        </p:spPr>
        <p:style>
          <a:lnRef idx="1">
            <a:schemeClr val="accent1"/>
          </a:lnRef>
          <a:fillRef idx="3">
            <a:schemeClr val="accent1"/>
          </a:fillRef>
          <a:effectRef idx="2">
            <a:schemeClr val="accent1"/>
          </a:effectRef>
          <a:fontRef idx="minor">
            <a:schemeClr val="lt1"/>
          </a:fontRef>
        </p:style>
        <p:txBody>
          <a:bodyPr rtlCol="0" anchor="ctr" lIns="320040" rIns="274320" tIns="228600"/>
          <a:lstStyle/>
          <a:p>
            <a:pPr algn="ctr">
              <a:spcAft>
                <a:spcPts val="1100"/>
              </a:spcAft>
              <a:defRPr sz="1900">
                <a:solidFill>
                  <a:srgbClr val="F2F5F8"/>
                </a:solidFill>
              </a:defRPr>
            </a:pPr>
            <a:r>
              <a:t>• An address space defines the virtual mappings visible to a process.</a:t>
            </a:r>
          </a:p>
          <a:p>
            <a:pPr>
              <a:spcAft>
                <a:spcPts val="1100"/>
              </a:spcAft>
              <a:defRPr sz="1700">
                <a:solidFill>
                  <a:srgbClr val="F2F5F8"/>
                </a:solidFill>
              </a:defRPr>
            </a:pPr>
            <a:r>
              <a:t>• It contains executable code, data, stacks, dynamically allocated regions, shared mappings, and reserved or inaccessible gaps.</a:t>
            </a:r>
          </a:p>
          <a:p>
            <a:pPr>
              <a:spcAft>
                <a:spcPts val="1100"/>
              </a:spcAft>
              <a:defRPr sz="1900">
                <a:solidFill>
                  <a:srgbClr val="F2F5F8"/>
                </a:solidFill>
              </a:defRPr>
            </a:pPr>
            <a:r>
              <a:t>• Two processes can map different physical storage at the same virtual address.</a:t>
            </a:r>
          </a:p>
          <a:p>
            <a:pPr>
              <a:spcAft>
                <a:spcPts val="1100"/>
              </a:spcAft>
              <a:defRPr sz="1900">
                <a:solidFill>
                  <a:srgbClr val="F2F5F8"/>
                </a:solidFill>
              </a:defRPr>
            </a:pPr>
            <a:r>
              <a:t>• Conversely, two processes can map the same physical storage at different virtual addresses.</a:t>
            </a:r>
          </a:p>
        </p:txBody>
      </p:sp>
      <p:sp>
        <p:nvSpPr>
          <p:cNvPr id="7" name="TextBox 6"/>
          <p:cNvSpPr txBox="1"/>
          <p:nvPr/>
        </p:nvSpPr>
        <p:spPr>
          <a:xfrm>
            <a:off x="612648" y="6309360"/>
            <a:ext cx="10698480" cy="228600"/>
          </a:xfrm>
          <a:prstGeom prst="rect">
            <a:avLst/>
          </a:prstGeom>
          <a:noFill/>
        </p:spPr>
        <p:txBody>
          <a:bodyPr wrap="none">
            <a:spAutoFit/>
          </a:bodyPr>
          <a:lstStyle/>
          <a:p>
            <a:pPr>
              <a:defRPr sz="1000">
                <a:solidFill>
                  <a:srgbClr val="A5B2C1"/>
                </a:solidFill>
              </a:defRPr>
            </a:pPr>
            <a:r>
              <a:t>CHAPTER 21     |     10</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B121C"/>
        </a:solidFill>
        <a:effectLst/>
      </p:bgPr>
    </p:bg>
    <p:spTree>
      <p:nvGrpSpPr>
        <p:cNvPr id="1" name=""/>
        <p:cNvGrpSpPr/>
        <p:nvPr/>
      </p:nvGrpSpPr>
      <p:grpSpPr/>
      <p:sp>
        <p:nvSpPr>
          <p:cNvPr id="2" name="Rectangle 1"/>
          <p:cNvSpPr/>
          <p:nvPr/>
        </p:nvSpPr>
        <p:spPr>
          <a:xfrm>
            <a:off x="0" y="0"/>
            <a:ext cx="12191695" cy="73152"/>
          </a:xfrm>
          <a:prstGeom prst="rect">
            <a:avLst/>
          </a:prstGeom>
          <a:solidFill>
            <a:srgbClr val="42B8D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20040"/>
            <a:ext cx="10972800" cy="274320"/>
          </a:xfrm>
          <a:prstGeom prst="rect">
            <a:avLst/>
          </a:prstGeom>
          <a:noFill/>
        </p:spPr>
        <p:txBody>
          <a:bodyPr wrap="none">
            <a:spAutoFit/>
          </a:bodyPr>
          <a:lstStyle/>
          <a:p>
            <a:pPr>
              <a:defRPr sz="1100" b="1">
                <a:solidFill>
                  <a:srgbClr val="A5B2C1"/>
                </a:solidFill>
              </a:defRPr>
            </a:pPr>
            <a:r>
              <a:t>SYSTEMS PROGRAMMING AND MACHINE ORGANIZATION     ·     CHARLES DORNER</a:t>
            </a:r>
          </a:p>
        </p:txBody>
      </p:sp>
      <p:sp>
        <p:nvSpPr>
          <p:cNvPr id="4" name="TextBox 3"/>
          <p:cNvSpPr txBox="1"/>
          <p:nvPr/>
        </p:nvSpPr>
        <p:spPr>
          <a:xfrm>
            <a:off x="594360" y="822960"/>
            <a:ext cx="10972800" cy="914400"/>
          </a:xfrm>
          <a:prstGeom prst="rect">
            <a:avLst/>
          </a:prstGeom>
          <a:noFill/>
        </p:spPr>
        <p:txBody>
          <a:bodyPr wrap="none">
            <a:spAutoFit/>
          </a:bodyPr>
          <a:lstStyle/>
          <a:p>
            <a:pPr>
              <a:defRPr sz="3000" b="1">
                <a:solidFill>
                  <a:srgbClr val="F2F5F8"/>
                </a:solidFill>
              </a:defRPr>
            </a:pPr>
            <a:r>
              <a:t>21.4 Address space — Deep Dive</a:t>
            </a:r>
          </a:p>
        </p:txBody>
      </p:sp>
      <p:sp>
        <p:nvSpPr>
          <p:cNvPr id="5" name="TextBox 4"/>
          <p:cNvSpPr txBox="1"/>
          <p:nvPr/>
        </p:nvSpPr>
        <p:spPr>
          <a:xfrm>
            <a:off x="612648" y="1600200"/>
            <a:ext cx="10698480" cy="365760"/>
          </a:xfrm>
          <a:prstGeom prst="rect">
            <a:avLst/>
          </a:prstGeom>
          <a:noFill/>
        </p:spPr>
        <p:txBody>
          <a:bodyPr wrap="none">
            <a:spAutoFit/>
          </a:bodyPr>
          <a:lstStyle/>
          <a:p>
            <a:pPr>
              <a:defRPr sz="1300" b="1">
                <a:solidFill>
                  <a:srgbClr val="42B8D5"/>
                </a:solidFill>
              </a:defRPr>
            </a:pPr>
            <a:r>
              <a:t>ENGINEERING IMPLICATIONS</a:t>
            </a:r>
          </a:p>
        </p:txBody>
      </p:sp>
      <p:sp>
        <p:nvSpPr>
          <p:cNvPr id="6" name="Rounded Rectangle 5"/>
          <p:cNvSpPr/>
          <p:nvPr/>
        </p:nvSpPr>
        <p:spPr>
          <a:xfrm>
            <a:off x="594360" y="2148840"/>
            <a:ext cx="10972800" cy="3840480"/>
          </a:xfrm>
          <a:prstGeom prst="roundRect">
            <a:avLst/>
          </a:prstGeom>
          <a:solidFill>
            <a:srgbClr val="141E2B"/>
          </a:solidFill>
          <a:ln>
            <a:solidFill>
              <a:srgbClr val="2F3E4E"/>
            </a:solidFill>
          </a:ln>
        </p:spPr>
        <p:style>
          <a:lnRef idx="1">
            <a:schemeClr val="accent1"/>
          </a:lnRef>
          <a:fillRef idx="3">
            <a:schemeClr val="accent1"/>
          </a:fillRef>
          <a:effectRef idx="2">
            <a:schemeClr val="accent1"/>
          </a:effectRef>
          <a:fontRef idx="minor">
            <a:schemeClr val="lt1"/>
          </a:fontRef>
        </p:style>
        <p:txBody>
          <a:bodyPr rtlCol="0" anchor="ctr" lIns="320040" rIns="274320" tIns="228600"/>
          <a:lstStyle/>
          <a:p>
            <a:pPr algn="ctr">
              <a:spcAft>
                <a:spcPts val="1100"/>
              </a:spcAft>
              <a:defRPr sz="1900">
                <a:solidFill>
                  <a:srgbClr val="F2F5F8"/>
                </a:solidFill>
              </a:defRPr>
            </a:pPr>
            <a:r>
              <a:t>• Conversely, two processes can map the same physical storage at different virtual addresses.</a:t>
            </a:r>
          </a:p>
          <a:p>
            <a:pPr>
              <a:spcAft>
                <a:spcPts val="1100"/>
              </a:spcAft>
              <a:defRPr sz="1900">
                <a:solidFill>
                  <a:srgbClr val="F2F5F8"/>
                </a:solidFill>
              </a:defRPr>
            </a:pPr>
            <a:r>
              <a:t>• This is how shared mappings can coexist with otherwise distinct address spaces.</a:t>
            </a:r>
          </a:p>
          <a:p>
            <a:pPr>
              <a:spcAft>
                <a:spcPts val="1100"/>
              </a:spcAft>
              <a:defRPr sz="1900">
                <a:solidFill>
                  <a:srgbClr val="F2F5F8"/>
                </a:solidFill>
              </a:defRPr>
            </a:pPr>
            <a:r>
              <a:t>• A pointer stored in shared memory is therefore not automatically meaningful in another process.</a:t>
            </a:r>
          </a:p>
          <a:p>
            <a:pPr>
              <a:spcAft>
                <a:spcPts val="1100"/>
              </a:spcAft>
              <a:defRPr sz="1900">
                <a:solidFill>
                  <a:srgbClr val="F2F5F8"/>
                </a:solidFill>
              </a:defRPr>
            </a:pPr>
            <a:r>
              <a:t>• Use offsets or another explicitly designed representation when the same region may appear at different base addresses.</a:t>
            </a:r>
          </a:p>
        </p:txBody>
      </p:sp>
      <p:sp>
        <p:nvSpPr>
          <p:cNvPr id="7" name="TextBox 6"/>
          <p:cNvSpPr txBox="1"/>
          <p:nvPr/>
        </p:nvSpPr>
        <p:spPr>
          <a:xfrm>
            <a:off x="612648" y="6309360"/>
            <a:ext cx="10698480" cy="228600"/>
          </a:xfrm>
          <a:prstGeom prst="rect">
            <a:avLst/>
          </a:prstGeom>
          <a:noFill/>
        </p:spPr>
        <p:txBody>
          <a:bodyPr wrap="none">
            <a:spAutoFit/>
          </a:bodyPr>
          <a:lstStyle/>
          <a:p>
            <a:pPr>
              <a:defRPr sz="1000">
                <a:solidFill>
                  <a:srgbClr val="A5B2C1"/>
                </a:solidFill>
              </a:defRPr>
            </a:pPr>
            <a:r>
              <a:t>CHAPTER 21     |     11</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B121C"/>
        </a:solidFill>
        <a:effectLst/>
      </p:bgPr>
    </p:bg>
    <p:spTree>
      <p:nvGrpSpPr>
        <p:cNvPr id="1" name=""/>
        <p:cNvGrpSpPr/>
        <p:nvPr/>
      </p:nvGrpSpPr>
      <p:grpSpPr/>
      <p:sp>
        <p:nvSpPr>
          <p:cNvPr id="2" name="Rectangle 1"/>
          <p:cNvSpPr/>
          <p:nvPr/>
        </p:nvSpPr>
        <p:spPr>
          <a:xfrm>
            <a:off x="0" y="0"/>
            <a:ext cx="12191695" cy="73152"/>
          </a:xfrm>
          <a:prstGeom prst="rect">
            <a:avLst/>
          </a:prstGeom>
          <a:solidFill>
            <a:srgbClr val="42B8D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20040"/>
            <a:ext cx="10972800" cy="274320"/>
          </a:xfrm>
          <a:prstGeom prst="rect">
            <a:avLst/>
          </a:prstGeom>
          <a:noFill/>
        </p:spPr>
        <p:txBody>
          <a:bodyPr wrap="none">
            <a:spAutoFit/>
          </a:bodyPr>
          <a:lstStyle/>
          <a:p>
            <a:pPr>
              <a:defRPr sz="1100" b="1">
                <a:solidFill>
                  <a:srgbClr val="A5B2C1"/>
                </a:solidFill>
              </a:defRPr>
            </a:pPr>
            <a:r>
              <a:t>SYSTEMS PROGRAMMING AND MACHINE ORGANIZATION     ·     CHARLES DORNER</a:t>
            </a:r>
          </a:p>
        </p:txBody>
      </p:sp>
      <p:sp>
        <p:nvSpPr>
          <p:cNvPr id="4" name="TextBox 3"/>
          <p:cNvSpPr txBox="1"/>
          <p:nvPr/>
        </p:nvSpPr>
        <p:spPr>
          <a:xfrm>
            <a:off x="594360" y="822960"/>
            <a:ext cx="10972800" cy="914400"/>
          </a:xfrm>
          <a:prstGeom prst="rect">
            <a:avLst/>
          </a:prstGeom>
          <a:noFill/>
        </p:spPr>
        <p:txBody>
          <a:bodyPr wrap="none">
            <a:spAutoFit/>
          </a:bodyPr>
          <a:lstStyle/>
          <a:p>
            <a:pPr>
              <a:defRPr sz="3000" b="1">
                <a:solidFill>
                  <a:srgbClr val="F2F5F8"/>
                </a:solidFill>
              </a:defRPr>
            </a:pPr>
            <a:r>
              <a:t>21.5 Process isolation</a:t>
            </a:r>
          </a:p>
        </p:txBody>
      </p:sp>
      <p:sp>
        <p:nvSpPr>
          <p:cNvPr id="5" name="TextBox 4"/>
          <p:cNvSpPr txBox="1"/>
          <p:nvPr/>
        </p:nvSpPr>
        <p:spPr>
          <a:xfrm>
            <a:off x="612648" y="1600200"/>
            <a:ext cx="10698480" cy="365760"/>
          </a:xfrm>
          <a:prstGeom prst="rect">
            <a:avLst/>
          </a:prstGeom>
          <a:noFill/>
        </p:spPr>
        <p:txBody>
          <a:bodyPr wrap="none">
            <a:spAutoFit/>
          </a:bodyPr>
          <a:lstStyle/>
          <a:p>
            <a:pPr>
              <a:defRPr sz="1300" b="1">
                <a:solidFill>
                  <a:srgbClr val="42B8D5"/>
                </a:solidFill>
              </a:defRPr>
            </a:pPr>
            <a:r>
              <a:t>SOURCE TOPIC</a:t>
            </a:r>
          </a:p>
        </p:txBody>
      </p:sp>
      <p:sp>
        <p:nvSpPr>
          <p:cNvPr id="6" name="Rounded Rectangle 5"/>
          <p:cNvSpPr/>
          <p:nvPr/>
        </p:nvSpPr>
        <p:spPr>
          <a:xfrm>
            <a:off x="594360" y="2148840"/>
            <a:ext cx="10972800" cy="3840480"/>
          </a:xfrm>
          <a:prstGeom prst="roundRect">
            <a:avLst/>
          </a:prstGeom>
          <a:solidFill>
            <a:srgbClr val="141E2B"/>
          </a:solidFill>
          <a:ln>
            <a:solidFill>
              <a:srgbClr val="2F3E4E"/>
            </a:solidFill>
          </a:ln>
        </p:spPr>
        <p:style>
          <a:lnRef idx="1">
            <a:schemeClr val="accent1"/>
          </a:lnRef>
          <a:fillRef idx="3">
            <a:schemeClr val="accent1"/>
          </a:fillRef>
          <a:effectRef idx="2">
            <a:schemeClr val="accent1"/>
          </a:effectRef>
          <a:fontRef idx="minor">
            <a:schemeClr val="lt1"/>
          </a:fontRef>
        </p:style>
        <p:txBody>
          <a:bodyPr rtlCol="0" anchor="ctr" lIns="320040" rIns="274320" tIns="228600"/>
          <a:lstStyle/>
          <a:p>
            <a:pPr algn="ctr">
              <a:spcAft>
                <a:spcPts val="1100"/>
              </a:spcAft>
              <a:defRPr sz="1900">
                <a:solidFill>
                  <a:srgbClr val="F2F5F8"/>
                </a:solidFill>
              </a:defRPr>
            </a:pPr>
            <a:r>
              <a:t>• Isolation limits the ability of one process to read or modify another process’s private state.</a:t>
            </a:r>
          </a:p>
          <a:p>
            <a:pPr>
              <a:spcAft>
                <a:spcPts val="1100"/>
              </a:spcAft>
              <a:defRPr sz="1900">
                <a:solidFill>
                  <a:srgbClr val="F2F5F8"/>
                </a:solidFill>
              </a:defRPr>
            </a:pPr>
            <a:r>
              <a:t>• Page tables and permissions provide a major hardware-backed mechanism.</a:t>
            </a:r>
          </a:p>
          <a:p>
            <a:pPr>
              <a:spcAft>
                <a:spcPts val="1100"/>
              </a:spcAft>
              <a:defRPr sz="1900">
                <a:solidFill>
                  <a:srgbClr val="F2F5F8"/>
                </a:solidFill>
              </a:defRPr>
            </a:pPr>
            <a:r>
              <a:t>• Kernel policy controls explicit exceptions, such as shared mappings and authorized debugging interfaces.</a:t>
            </a:r>
          </a:p>
          <a:p>
            <a:pPr>
              <a:spcAft>
                <a:spcPts val="1100"/>
              </a:spcAft>
              <a:defRPr sz="1700">
                <a:solidFill>
                  <a:srgbClr val="F2F5F8"/>
                </a:solidFill>
              </a:defRPr>
            </a:pPr>
            <a:r>
              <a:t>• Isolation is a security and reliability boundary, but it is not an absolute statement that processes can never communicate or interfere indirectly.</a:t>
            </a:r>
          </a:p>
        </p:txBody>
      </p:sp>
      <p:sp>
        <p:nvSpPr>
          <p:cNvPr id="7" name="TextBox 6"/>
          <p:cNvSpPr txBox="1"/>
          <p:nvPr/>
        </p:nvSpPr>
        <p:spPr>
          <a:xfrm>
            <a:off x="612648" y="6309360"/>
            <a:ext cx="10698480" cy="228600"/>
          </a:xfrm>
          <a:prstGeom prst="rect">
            <a:avLst/>
          </a:prstGeom>
          <a:noFill/>
        </p:spPr>
        <p:txBody>
          <a:bodyPr wrap="none">
            <a:spAutoFit/>
          </a:bodyPr>
          <a:lstStyle/>
          <a:p>
            <a:pPr>
              <a:defRPr sz="1000">
                <a:solidFill>
                  <a:srgbClr val="A5B2C1"/>
                </a:solidFill>
              </a:defRPr>
            </a:pPr>
            <a:r>
              <a:t>CHAPTER 21     |     12</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B121C"/>
        </a:solidFill>
        <a:effectLst/>
      </p:bgPr>
    </p:bg>
    <p:spTree>
      <p:nvGrpSpPr>
        <p:cNvPr id="1" name=""/>
        <p:cNvGrpSpPr/>
        <p:nvPr/>
      </p:nvGrpSpPr>
      <p:grpSpPr/>
      <p:sp>
        <p:nvSpPr>
          <p:cNvPr id="2" name="Rectangle 1"/>
          <p:cNvSpPr/>
          <p:nvPr/>
        </p:nvSpPr>
        <p:spPr>
          <a:xfrm>
            <a:off x="0" y="0"/>
            <a:ext cx="12191695" cy="73152"/>
          </a:xfrm>
          <a:prstGeom prst="rect">
            <a:avLst/>
          </a:prstGeom>
          <a:solidFill>
            <a:srgbClr val="42B8D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20040"/>
            <a:ext cx="10972800" cy="274320"/>
          </a:xfrm>
          <a:prstGeom prst="rect">
            <a:avLst/>
          </a:prstGeom>
          <a:noFill/>
        </p:spPr>
        <p:txBody>
          <a:bodyPr wrap="none">
            <a:spAutoFit/>
          </a:bodyPr>
          <a:lstStyle/>
          <a:p>
            <a:pPr>
              <a:defRPr sz="1100" b="1">
                <a:solidFill>
                  <a:srgbClr val="A5B2C1"/>
                </a:solidFill>
              </a:defRPr>
            </a:pPr>
            <a:r>
              <a:t>SYSTEMS PROGRAMMING AND MACHINE ORGANIZATION     ·     CHARLES DORNER</a:t>
            </a:r>
          </a:p>
        </p:txBody>
      </p:sp>
      <p:sp>
        <p:nvSpPr>
          <p:cNvPr id="4" name="TextBox 3"/>
          <p:cNvSpPr txBox="1"/>
          <p:nvPr/>
        </p:nvSpPr>
        <p:spPr>
          <a:xfrm>
            <a:off x="594360" y="822960"/>
            <a:ext cx="10972800" cy="914400"/>
          </a:xfrm>
          <a:prstGeom prst="rect">
            <a:avLst/>
          </a:prstGeom>
          <a:noFill/>
        </p:spPr>
        <p:txBody>
          <a:bodyPr wrap="none">
            <a:spAutoFit/>
          </a:bodyPr>
          <a:lstStyle/>
          <a:p>
            <a:pPr>
              <a:defRPr sz="3000" b="1">
                <a:solidFill>
                  <a:srgbClr val="F2F5F8"/>
                </a:solidFill>
              </a:defRPr>
            </a:pPr>
            <a:r>
              <a:t>21.5 Process isolation — Deep Dive</a:t>
            </a:r>
          </a:p>
        </p:txBody>
      </p:sp>
      <p:sp>
        <p:nvSpPr>
          <p:cNvPr id="5" name="TextBox 4"/>
          <p:cNvSpPr txBox="1"/>
          <p:nvPr/>
        </p:nvSpPr>
        <p:spPr>
          <a:xfrm>
            <a:off x="612648" y="1600200"/>
            <a:ext cx="10698480" cy="365760"/>
          </a:xfrm>
          <a:prstGeom prst="rect">
            <a:avLst/>
          </a:prstGeom>
          <a:noFill/>
        </p:spPr>
        <p:txBody>
          <a:bodyPr wrap="none">
            <a:spAutoFit/>
          </a:bodyPr>
          <a:lstStyle/>
          <a:p>
            <a:pPr>
              <a:defRPr sz="1300" b="1">
                <a:solidFill>
                  <a:srgbClr val="42B8D5"/>
                </a:solidFill>
              </a:defRPr>
            </a:pPr>
            <a:r>
              <a:t>ENGINEERING IMPLICATIONS</a:t>
            </a:r>
          </a:p>
        </p:txBody>
      </p:sp>
      <p:sp>
        <p:nvSpPr>
          <p:cNvPr id="6" name="Rounded Rectangle 5"/>
          <p:cNvSpPr/>
          <p:nvPr/>
        </p:nvSpPr>
        <p:spPr>
          <a:xfrm>
            <a:off x="594360" y="2148840"/>
            <a:ext cx="10972800" cy="3840480"/>
          </a:xfrm>
          <a:prstGeom prst="roundRect">
            <a:avLst/>
          </a:prstGeom>
          <a:solidFill>
            <a:srgbClr val="141E2B"/>
          </a:solidFill>
          <a:ln>
            <a:solidFill>
              <a:srgbClr val="2F3E4E"/>
            </a:solidFill>
          </a:ln>
        </p:spPr>
        <p:style>
          <a:lnRef idx="1">
            <a:schemeClr val="accent1"/>
          </a:lnRef>
          <a:fillRef idx="3">
            <a:schemeClr val="accent1"/>
          </a:fillRef>
          <a:effectRef idx="2">
            <a:schemeClr val="accent1"/>
          </a:effectRef>
          <a:fontRef idx="minor">
            <a:schemeClr val="lt1"/>
          </a:fontRef>
        </p:style>
        <p:txBody>
          <a:bodyPr rtlCol="0" anchor="ctr" lIns="320040" rIns="274320" tIns="228600"/>
          <a:lstStyle/>
          <a:p>
            <a:pPr algn="ctr">
              <a:spcAft>
                <a:spcPts val="1100"/>
              </a:spcAft>
              <a:defRPr sz="1700">
                <a:solidFill>
                  <a:srgbClr val="F2F5F8"/>
                </a:solidFill>
              </a:defRPr>
            </a:pPr>
            <a:r>
              <a:t>• Isolation is a security and reliability boundary, but it is not an absolute statement that processes can never communicate or interfere indirectly.</a:t>
            </a:r>
          </a:p>
          <a:p>
            <a:pPr>
              <a:spcAft>
                <a:spcPts val="1100"/>
              </a:spcAft>
              <a:defRPr sz="1900">
                <a:solidFill>
                  <a:srgbClr val="F2F5F8"/>
                </a:solidFill>
              </a:defRPr>
            </a:pPr>
            <a:r>
              <a:t>• They may share files, services, CPU capacity, and other resources.</a:t>
            </a:r>
          </a:p>
          <a:p>
            <a:pPr>
              <a:spcAft>
                <a:spcPts val="1100"/>
              </a:spcAft>
              <a:defRPr sz="1700">
                <a:solidFill>
                  <a:srgbClr val="F2F5F8"/>
                </a:solidFill>
              </a:defRPr>
            </a:pPr>
            <a:r>
              <a:t>• An application must distinguish intentional communication from accidental sharing and must still validate input received across process boundaries.</a:t>
            </a:r>
          </a:p>
        </p:txBody>
      </p:sp>
      <p:sp>
        <p:nvSpPr>
          <p:cNvPr id="7" name="TextBox 6"/>
          <p:cNvSpPr txBox="1"/>
          <p:nvPr/>
        </p:nvSpPr>
        <p:spPr>
          <a:xfrm>
            <a:off x="612648" y="6309360"/>
            <a:ext cx="10698480" cy="228600"/>
          </a:xfrm>
          <a:prstGeom prst="rect">
            <a:avLst/>
          </a:prstGeom>
          <a:noFill/>
        </p:spPr>
        <p:txBody>
          <a:bodyPr wrap="none">
            <a:spAutoFit/>
          </a:bodyPr>
          <a:lstStyle/>
          <a:p>
            <a:pPr>
              <a:defRPr sz="1000">
                <a:solidFill>
                  <a:srgbClr val="A5B2C1"/>
                </a:solidFill>
              </a:defRPr>
            </a:pPr>
            <a:r>
              <a:t>CHAPTER 21     |     13</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B121C"/>
        </a:solidFill>
        <a:effectLst/>
      </p:bgPr>
    </p:bg>
    <p:spTree>
      <p:nvGrpSpPr>
        <p:cNvPr id="1" name=""/>
        <p:cNvGrpSpPr/>
        <p:nvPr/>
      </p:nvGrpSpPr>
      <p:grpSpPr/>
      <p:sp>
        <p:nvSpPr>
          <p:cNvPr id="2" name="Rectangle 1"/>
          <p:cNvSpPr/>
          <p:nvPr/>
        </p:nvSpPr>
        <p:spPr>
          <a:xfrm>
            <a:off x="0" y="0"/>
            <a:ext cx="12191695" cy="73152"/>
          </a:xfrm>
          <a:prstGeom prst="rect">
            <a:avLst/>
          </a:prstGeom>
          <a:solidFill>
            <a:srgbClr val="42B8D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20040"/>
            <a:ext cx="10972800" cy="274320"/>
          </a:xfrm>
          <a:prstGeom prst="rect">
            <a:avLst/>
          </a:prstGeom>
          <a:noFill/>
        </p:spPr>
        <p:txBody>
          <a:bodyPr wrap="none">
            <a:spAutoFit/>
          </a:bodyPr>
          <a:lstStyle/>
          <a:p>
            <a:pPr>
              <a:defRPr sz="1100" b="1">
                <a:solidFill>
                  <a:srgbClr val="A5B2C1"/>
                </a:solidFill>
              </a:defRPr>
            </a:pPr>
            <a:r>
              <a:t>SYSTEMS PROGRAMMING AND MACHINE ORGANIZATION     ·     CHARLES DORNER</a:t>
            </a:r>
          </a:p>
        </p:txBody>
      </p:sp>
      <p:sp>
        <p:nvSpPr>
          <p:cNvPr id="4" name="TextBox 3"/>
          <p:cNvSpPr txBox="1"/>
          <p:nvPr/>
        </p:nvSpPr>
        <p:spPr>
          <a:xfrm>
            <a:off x="594360" y="822960"/>
            <a:ext cx="10972800" cy="914400"/>
          </a:xfrm>
          <a:prstGeom prst="rect">
            <a:avLst/>
          </a:prstGeom>
          <a:noFill/>
        </p:spPr>
        <p:txBody>
          <a:bodyPr wrap="none">
            <a:spAutoFit/>
          </a:bodyPr>
          <a:lstStyle/>
          <a:p>
            <a:pPr>
              <a:defRPr sz="3000" b="1">
                <a:solidFill>
                  <a:srgbClr val="F2F5F8"/>
                </a:solidFill>
              </a:defRPr>
            </a:pPr>
            <a:r>
              <a:t>21.6 Context switching</a:t>
            </a:r>
          </a:p>
        </p:txBody>
      </p:sp>
      <p:sp>
        <p:nvSpPr>
          <p:cNvPr id="5" name="TextBox 4"/>
          <p:cNvSpPr txBox="1"/>
          <p:nvPr/>
        </p:nvSpPr>
        <p:spPr>
          <a:xfrm>
            <a:off x="612648" y="1600200"/>
            <a:ext cx="10698480" cy="365760"/>
          </a:xfrm>
          <a:prstGeom prst="rect">
            <a:avLst/>
          </a:prstGeom>
          <a:noFill/>
        </p:spPr>
        <p:txBody>
          <a:bodyPr wrap="none">
            <a:spAutoFit/>
          </a:bodyPr>
          <a:lstStyle/>
          <a:p>
            <a:pPr>
              <a:defRPr sz="1300" b="1">
                <a:solidFill>
                  <a:srgbClr val="42B8D5"/>
                </a:solidFill>
              </a:defRPr>
            </a:pPr>
            <a:r>
              <a:t>SOURCE TOPIC</a:t>
            </a:r>
          </a:p>
        </p:txBody>
      </p:sp>
      <p:sp>
        <p:nvSpPr>
          <p:cNvPr id="6" name="Rounded Rectangle 5"/>
          <p:cNvSpPr/>
          <p:nvPr/>
        </p:nvSpPr>
        <p:spPr>
          <a:xfrm>
            <a:off x="594360" y="2148840"/>
            <a:ext cx="10972800" cy="3840480"/>
          </a:xfrm>
          <a:prstGeom prst="roundRect">
            <a:avLst/>
          </a:prstGeom>
          <a:solidFill>
            <a:srgbClr val="141E2B"/>
          </a:solidFill>
          <a:ln>
            <a:solidFill>
              <a:srgbClr val="2F3E4E"/>
            </a:solidFill>
          </a:ln>
        </p:spPr>
        <p:style>
          <a:lnRef idx="1">
            <a:schemeClr val="accent1"/>
          </a:lnRef>
          <a:fillRef idx="3">
            <a:schemeClr val="accent1"/>
          </a:fillRef>
          <a:effectRef idx="2">
            <a:schemeClr val="accent1"/>
          </a:effectRef>
          <a:fontRef idx="minor">
            <a:schemeClr val="lt1"/>
          </a:fontRef>
        </p:style>
        <p:txBody>
          <a:bodyPr rtlCol="0" anchor="ctr" lIns="320040" rIns="274320" tIns="228600"/>
          <a:lstStyle/>
          <a:p>
            <a:pPr algn="ctr">
              <a:spcAft>
                <a:spcPts val="1100"/>
              </a:spcAft>
              <a:defRPr sz="1900">
                <a:solidFill>
                  <a:srgbClr val="F2F5F8"/>
                </a:solidFill>
              </a:defRPr>
            </a:pPr>
            <a:r>
              <a:t>• A context switch changes which execution stream uses a processor.</a:t>
            </a:r>
          </a:p>
          <a:p>
            <a:pPr>
              <a:spcAft>
                <a:spcPts val="1100"/>
              </a:spcAft>
              <a:defRPr sz="1900">
                <a:solidFill>
                  <a:srgbClr val="F2F5F8"/>
                </a:solidFill>
              </a:defRPr>
            </a:pPr>
            <a:r>
              <a:t>• It requires saving and restoring relevant state and may involve changing the active address-space context.</a:t>
            </a:r>
          </a:p>
          <a:p>
            <a:pPr>
              <a:spcAft>
                <a:spcPts val="1100"/>
              </a:spcAft>
              <a:defRPr sz="1700">
                <a:solidFill>
                  <a:srgbClr val="F2F5F8"/>
                </a:solidFill>
              </a:defRPr>
            </a:pPr>
            <a:r>
              <a:t>• Switching between threads in the same process can avoid some address-space changes, but it still has scheduling and execution-state costs.</a:t>
            </a:r>
          </a:p>
          <a:p>
            <a:pPr>
              <a:spcAft>
                <a:spcPts val="1100"/>
              </a:spcAft>
              <a:defRPr sz="1900">
                <a:solidFill>
                  <a:srgbClr val="F2F5F8"/>
                </a:solidFill>
              </a:defRPr>
            </a:pPr>
            <a:r>
              <a:t>• The effects extend beyond the instructions that perform the switch.</a:t>
            </a:r>
          </a:p>
        </p:txBody>
      </p:sp>
      <p:sp>
        <p:nvSpPr>
          <p:cNvPr id="7" name="TextBox 6"/>
          <p:cNvSpPr txBox="1"/>
          <p:nvPr/>
        </p:nvSpPr>
        <p:spPr>
          <a:xfrm>
            <a:off x="612648" y="6309360"/>
            <a:ext cx="10698480" cy="228600"/>
          </a:xfrm>
          <a:prstGeom prst="rect">
            <a:avLst/>
          </a:prstGeom>
          <a:noFill/>
        </p:spPr>
        <p:txBody>
          <a:bodyPr wrap="none">
            <a:spAutoFit/>
          </a:bodyPr>
          <a:lstStyle/>
          <a:p>
            <a:pPr>
              <a:defRPr sz="1000">
                <a:solidFill>
                  <a:srgbClr val="A5B2C1"/>
                </a:solidFill>
              </a:defRPr>
            </a:pPr>
            <a:r>
              <a:t>CHAPTER 21     |     14</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0B121C"/>
        </a:solidFill>
        <a:effectLst/>
      </p:bgPr>
    </p:bg>
    <p:spTree>
      <p:nvGrpSpPr>
        <p:cNvPr id="1" name=""/>
        <p:cNvGrpSpPr/>
        <p:nvPr/>
      </p:nvGrpSpPr>
      <p:grpSpPr/>
      <p:sp>
        <p:nvSpPr>
          <p:cNvPr id="2" name="Rectangle 1"/>
          <p:cNvSpPr/>
          <p:nvPr/>
        </p:nvSpPr>
        <p:spPr>
          <a:xfrm>
            <a:off x="0" y="0"/>
            <a:ext cx="12191695" cy="73152"/>
          </a:xfrm>
          <a:prstGeom prst="rect">
            <a:avLst/>
          </a:prstGeom>
          <a:solidFill>
            <a:srgbClr val="42B8D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20040"/>
            <a:ext cx="10972800" cy="274320"/>
          </a:xfrm>
          <a:prstGeom prst="rect">
            <a:avLst/>
          </a:prstGeom>
          <a:noFill/>
        </p:spPr>
        <p:txBody>
          <a:bodyPr wrap="none">
            <a:spAutoFit/>
          </a:bodyPr>
          <a:lstStyle/>
          <a:p>
            <a:pPr>
              <a:defRPr sz="1100" b="1">
                <a:solidFill>
                  <a:srgbClr val="A5B2C1"/>
                </a:solidFill>
              </a:defRPr>
            </a:pPr>
            <a:r>
              <a:t>SYSTEMS PROGRAMMING AND MACHINE ORGANIZATION     ·     CHARLES DORNER</a:t>
            </a:r>
          </a:p>
        </p:txBody>
      </p:sp>
      <p:sp>
        <p:nvSpPr>
          <p:cNvPr id="4" name="TextBox 3"/>
          <p:cNvSpPr txBox="1"/>
          <p:nvPr/>
        </p:nvSpPr>
        <p:spPr>
          <a:xfrm>
            <a:off x="594360" y="822960"/>
            <a:ext cx="10972800" cy="914400"/>
          </a:xfrm>
          <a:prstGeom prst="rect">
            <a:avLst/>
          </a:prstGeom>
          <a:noFill/>
        </p:spPr>
        <p:txBody>
          <a:bodyPr wrap="none">
            <a:spAutoFit/>
          </a:bodyPr>
          <a:lstStyle/>
          <a:p>
            <a:pPr>
              <a:defRPr sz="3000" b="1">
                <a:solidFill>
                  <a:srgbClr val="F2F5F8"/>
                </a:solidFill>
              </a:defRPr>
            </a:pPr>
            <a:r>
              <a:t>21.6 Context switching — Deep Dive</a:t>
            </a:r>
          </a:p>
        </p:txBody>
      </p:sp>
      <p:sp>
        <p:nvSpPr>
          <p:cNvPr id="5" name="TextBox 4"/>
          <p:cNvSpPr txBox="1"/>
          <p:nvPr/>
        </p:nvSpPr>
        <p:spPr>
          <a:xfrm>
            <a:off x="612648" y="1600200"/>
            <a:ext cx="10698480" cy="365760"/>
          </a:xfrm>
          <a:prstGeom prst="rect">
            <a:avLst/>
          </a:prstGeom>
          <a:noFill/>
        </p:spPr>
        <p:txBody>
          <a:bodyPr wrap="none">
            <a:spAutoFit/>
          </a:bodyPr>
          <a:lstStyle/>
          <a:p>
            <a:pPr>
              <a:defRPr sz="1300" b="1">
                <a:solidFill>
                  <a:srgbClr val="42B8D5"/>
                </a:solidFill>
              </a:defRPr>
            </a:pPr>
            <a:r>
              <a:t>ENGINEERING IMPLICATIONS</a:t>
            </a:r>
          </a:p>
        </p:txBody>
      </p:sp>
      <p:sp>
        <p:nvSpPr>
          <p:cNvPr id="6" name="Rounded Rectangle 5"/>
          <p:cNvSpPr/>
          <p:nvPr/>
        </p:nvSpPr>
        <p:spPr>
          <a:xfrm>
            <a:off x="594360" y="2148840"/>
            <a:ext cx="10972800" cy="3840480"/>
          </a:xfrm>
          <a:prstGeom prst="roundRect">
            <a:avLst/>
          </a:prstGeom>
          <a:solidFill>
            <a:srgbClr val="141E2B"/>
          </a:solidFill>
          <a:ln>
            <a:solidFill>
              <a:srgbClr val="2F3E4E"/>
            </a:solidFill>
          </a:ln>
        </p:spPr>
        <p:style>
          <a:lnRef idx="1">
            <a:schemeClr val="accent1"/>
          </a:lnRef>
          <a:fillRef idx="3">
            <a:schemeClr val="accent1"/>
          </a:fillRef>
          <a:effectRef idx="2">
            <a:schemeClr val="accent1"/>
          </a:effectRef>
          <a:fontRef idx="minor">
            <a:schemeClr val="lt1"/>
          </a:fontRef>
        </p:style>
        <p:txBody>
          <a:bodyPr rtlCol="0" anchor="ctr" lIns="320040" rIns="274320" tIns="228600"/>
          <a:lstStyle/>
          <a:p>
            <a:pPr algn="ctr">
              <a:spcAft>
                <a:spcPts val="1100"/>
              </a:spcAft>
              <a:defRPr sz="1900">
                <a:solidFill>
                  <a:srgbClr val="F2F5F8"/>
                </a:solidFill>
              </a:defRPr>
            </a:pPr>
            <a:r>
              <a:t>• The effects extend beyond the instructions that perform the switch.</a:t>
            </a:r>
          </a:p>
          <a:p>
            <a:pPr>
              <a:spcAft>
                <a:spcPts val="1100"/>
              </a:spcAft>
              <a:defRPr sz="1900">
                <a:solidFill>
                  <a:srgbClr val="F2F5F8"/>
                </a:solidFill>
              </a:defRPr>
            </a:pPr>
            <a:r>
              <a:t>• A different working set can displace useful cache entries or translations.</a:t>
            </a:r>
          </a:p>
          <a:p>
            <a:pPr>
              <a:spcAft>
                <a:spcPts val="1100"/>
              </a:spcAft>
              <a:defRPr sz="1900">
                <a:solidFill>
                  <a:srgbClr val="F2F5F8"/>
                </a:solidFill>
              </a:defRPr>
            </a:pPr>
            <a:r>
              <a:t>• Conversely, a context switch does not imply that all caches are universally flushed.</a:t>
            </a:r>
          </a:p>
          <a:p>
            <a:pPr>
              <a:spcAft>
                <a:spcPts val="1100"/>
              </a:spcAft>
              <a:defRPr sz="1900">
                <a:solidFill>
                  <a:srgbClr val="F2F5F8"/>
                </a:solidFill>
              </a:defRPr>
            </a:pPr>
            <a:r>
              <a:t>• Actual hardware and kernel mechanisms determine which state remains useful.</a:t>
            </a:r>
          </a:p>
        </p:txBody>
      </p:sp>
      <p:sp>
        <p:nvSpPr>
          <p:cNvPr id="7" name="TextBox 6"/>
          <p:cNvSpPr txBox="1"/>
          <p:nvPr/>
        </p:nvSpPr>
        <p:spPr>
          <a:xfrm>
            <a:off x="612648" y="6309360"/>
            <a:ext cx="10698480" cy="228600"/>
          </a:xfrm>
          <a:prstGeom prst="rect">
            <a:avLst/>
          </a:prstGeom>
          <a:noFill/>
        </p:spPr>
        <p:txBody>
          <a:bodyPr wrap="none">
            <a:spAutoFit/>
          </a:bodyPr>
          <a:lstStyle/>
          <a:p>
            <a:pPr>
              <a:defRPr sz="1000">
                <a:solidFill>
                  <a:srgbClr val="A5B2C1"/>
                </a:solidFill>
              </a:defRPr>
            </a:pPr>
            <a:r>
              <a:t>CHAPTER 21     |     15</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0B121C"/>
        </a:solidFill>
        <a:effectLst/>
      </p:bgPr>
    </p:bg>
    <p:spTree>
      <p:nvGrpSpPr>
        <p:cNvPr id="1" name=""/>
        <p:cNvGrpSpPr/>
        <p:nvPr/>
      </p:nvGrpSpPr>
      <p:grpSpPr/>
      <p:sp>
        <p:nvSpPr>
          <p:cNvPr id="2" name="Rectangle 1"/>
          <p:cNvSpPr/>
          <p:nvPr/>
        </p:nvSpPr>
        <p:spPr>
          <a:xfrm>
            <a:off x="0" y="0"/>
            <a:ext cx="12191695" cy="73152"/>
          </a:xfrm>
          <a:prstGeom prst="rect">
            <a:avLst/>
          </a:prstGeom>
          <a:solidFill>
            <a:srgbClr val="42B8D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20040"/>
            <a:ext cx="10972800" cy="274320"/>
          </a:xfrm>
          <a:prstGeom prst="rect">
            <a:avLst/>
          </a:prstGeom>
          <a:noFill/>
        </p:spPr>
        <p:txBody>
          <a:bodyPr wrap="none">
            <a:spAutoFit/>
          </a:bodyPr>
          <a:lstStyle/>
          <a:p>
            <a:pPr>
              <a:defRPr sz="1100" b="1">
                <a:solidFill>
                  <a:srgbClr val="A5B2C1"/>
                </a:solidFill>
              </a:defRPr>
            </a:pPr>
            <a:r>
              <a:t>SYSTEMS PROGRAMMING AND MACHINE ORGANIZATION     ·     CHARLES DORNER</a:t>
            </a:r>
          </a:p>
        </p:txBody>
      </p:sp>
      <p:sp>
        <p:nvSpPr>
          <p:cNvPr id="4" name="TextBox 3"/>
          <p:cNvSpPr txBox="1"/>
          <p:nvPr/>
        </p:nvSpPr>
        <p:spPr>
          <a:xfrm>
            <a:off x="594360" y="822960"/>
            <a:ext cx="10972800" cy="914400"/>
          </a:xfrm>
          <a:prstGeom prst="rect">
            <a:avLst/>
          </a:prstGeom>
          <a:noFill/>
        </p:spPr>
        <p:txBody>
          <a:bodyPr wrap="none">
            <a:spAutoFit/>
          </a:bodyPr>
          <a:lstStyle/>
          <a:p>
            <a:pPr>
              <a:defRPr sz="3000" b="1">
                <a:solidFill>
                  <a:srgbClr val="F2F5F8"/>
                </a:solidFill>
              </a:defRPr>
            </a:pPr>
            <a:r>
              <a:t>21.7 Scheduling</a:t>
            </a:r>
          </a:p>
        </p:txBody>
      </p:sp>
      <p:sp>
        <p:nvSpPr>
          <p:cNvPr id="5" name="TextBox 4"/>
          <p:cNvSpPr txBox="1"/>
          <p:nvPr/>
        </p:nvSpPr>
        <p:spPr>
          <a:xfrm>
            <a:off x="612648" y="1600200"/>
            <a:ext cx="10698480" cy="365760"/>
          </a:xfrm>
          <a:prstGeom prst="rect">
            <a:avLst/>
          </a:prstGeom>
          <a:noFill/>
        </p:spPr>
        <p:txBody>
          <a:bodyPr wrap="none">
            <a:spAutoFit/>
          </a:bodyPr>
          <a:lstStyle/>
          <a:p>
            <a:pPr>
              <a:defRPr sz="1300" b="1">
                <a:solidFill>
                  <a:srgbClr val="42B8D5"/>
                </a:solidFill>
              </a:defRPr>
            </a:pPr>
            <a:r>
              <a:t>SOURCE TOPIC</a:t>
            </a:r>
          </a:p>
        </p:txBody>
      </p:sp>
      <p:sp>
        <p:nvSpPr>
          <p:cNvPr id="6" name="Rounded Rectangle 5"/>
          <p:cNvSpPr/>
          <p:nvPr/>
        </p:nvSpPr>
        <p:spPr>
          <a:xfrm>
            <a:off x="594360" y="2148840"/>
            <a:ext cx="10972800" cy="3840480"/>
          </a:xfrm>
          <a:prstGeom prst="roundRect">
            <a:avLst/>
          </a:prstGeom>
          <a:solidFill>
            <a:srgbClr val="141E2B"/>
          </a:solidFill>
          <a:ln>
            <a:solidFill>
              <a:srgbClr val="2F3E4E"/>
            </a:solidFill>
          </a:ln>
        </p:spPr>
        <p:style>
          <a:lnRef idx="1">
            <a:schemeClr val="accent1"/>
          </a:lnRef>
          <a:fillRef idx="3">
            <a:schemeClr val="accent1"/>
          </a:fillRef>
          <a:effectRef idx="2">
            <a:schemeClr val="accent1"/>
          </a:effectRef>
          <a:fontRef idx="minor">
            <a:schemeClr val="lt1"/>
          </a:fontRef>
        </p:style>
        <p:txBody>
          <a:bodyPr rtlCol="0" anchor="ctr" lIns="320040" rIns="274320" tIns="228600"/>
          <a:lstStyle/>
          <a:p>
            <a:pPr algn="ctr">
              <a:spcAft>
                <a:spcPts val="1100"/>
              </a:spcAft>
              <a:defRPr sz="1900">
                <a:solidFill>
                  <a:srgbClr val="F2F5F8"/>
                </a:solidFill>
              </a:defRPr>
            </a:pPr>
            <a:r>
              <a:t>• Scheduling selects runnable work according to policy and constraints.</a:t>
            </a:r>
          </a:p>
          <a:p>
            <a:pPr>
              <a:spcAft>
                <a:spcPts val="1100"/>
              </a:spcAft>
              <a:defRPr sz="1700">
                <a:solidFill>
                  <a:srgbClr val="F2F5F8"/>
                </a:solidFill>
              </a:defRPr>
            </a:pPr>
            <a:r>
              <a:t>• General-purpose scheduling balances responsiveness, fairness, and throughput; real-time policies make different tradeoffs and require careful system-level design.</a:t>
            </a:r>
          </a:p>
          <a:p>
            <a:pPr>
              <a:spcAft>
                <a:spcPts val="1100"/>
              </a:spcAft>
              <a:defRPr sz="1900">
                <a:solidFill>
                  <a:srgbClr val="F2F5F8"/>
                </a:solidFill>
              </a:defRPr>
            </a:pPr>
            <a:r>
              <a:t>• Application priorities do not create CPU capacity that does not exist.</a:t>
            </a:r>
          </a:p>
          <a:p>
            <a:pPr>
              <a:spcAft>
                <a:spcPts val="1100"/>
              </a:spcAft>
              <a:defRPr sz="1900">
                <a:solidFill>
                  <a:srgbClr val="F2F5F8"/>
                </a:solidFill>
              </a:defRPr>
            </a:pPr>
            <a:r>
              <a:t>• A scheduling trace must include waiting as well as computation.</a:t>
            </a:r>
          </a:p>
        </p:txBody>
      </p:sp>
      <p:sp>
        <p:nvSpPr>
          <p:cNvPr id="7" name="TextBox 6"/>
          <p:cNvSpPr txBox="1"/>
          <p:nvPr/>
        </p:nvSpPr>
        <p:spPr>
          <a:xfrm>
            <a:off x="612648" y="6309360"/>
            <a:ext cx="10698480" cy="228600"/>
          </a:xfrm>
          <a:prstGeom prst="rect">
            <a:avLst/>
          </a:prstGeom>
          <a:noFill/>
        </p:spPr>
        <p:txBody>
          <a:bodyPr wrap="none">
            <a:spAutoFit/>
          </a:bodyPr>
          <a:lstStyle/>
          <a:p>
            <a:pPr>
              <a:defRPr sz="1000">
                <a:solidFill>
                  <a:srgbClr val="A5B2C1"/>
                </a:solidFill>
              </a:defRPr>
            </a:pPr>
            <a:r>
              <a:t>CHAPTER 21     |     16</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0B121C"/>
        </a:solidFill>
        <a:effectLst/>
      </p:bgPr>
    </p:bg>
    <p:spTree>
      <p:nvGrpSpPr>
        <p:cNvPr id="1" name=""/>
        <p:cNvGrpSpPr/>
        <p:nvPr/>
      </p:nvGrpSpPr>
      <p:grpSpPr/>
      <p:sp>
        <p:nvSpPr>
          <p:cNvPr id="2" name="Rectangle 1"/>
          <p:cNvSpPr/>
          <p:nvPr/>
        </p:nvSpPr>
        <p:spPr>
          <a:xfrm>
            <a:off x="0" y="0"/>
            <a:ext cx="12191695" cy="73152"/>
          </a:xfrm>
          <a:prstGeom prst="rect">
            <a:avLst/>
          </a:prstGeom>
          <a:solidFill>
            <a:srgbClr val="42B8D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20040"/>
            <a:ext cx="10972800" cy="274320"/>
          </a:xfrm>
          <a:prstGeom prst="rect">
            <a:avLst/>
          </a:prstGeom>
          <a:noFill/>
        </p:spPr>
        <p:txBody>
          <a:bodyPr wrap="none">
            <a:spAutoFit/>
          </a:bodyPr>
          <a:lstStyle/>
          <a:p>
            <a:pPr>
              <a:defRPr sz="1100" b="1">
                <a:solidFill>
                  <a:srgbClr val="A5B2C1"/>
                </a:solidFill>
              </a:defRPr>
            </a:pPr>
            <a:r>
              <a:t>SYSTEMS PROGRAMMING AND MACHINE ORGANIZATION     ·     CHARLES DORNER</a:t>
            </a:r>
          </a:p>
        </p:txBody>
      </p:sp>
      <p:sp>
        <p:nvSpPr>
          <p:cNvPr id="4" name="TextBox 3"/>
          <p:cNvSpPr txBox="1"/>
          <p:nvPr/>
        </p:nvSpPr>
        <p:spPr>
          <a:xfrm>
            <a:off x="594360" y="822960"/>
            <a:ext cx="10972800" cy="914400"/>
          </a:xfrm>
          <a:prstGeom prst="rect">
            <a:avLst/>
          </a:prstGeom>
          <a:noFill/>
        </p:spPr>
        <p:txBody>
          <a:bodyPr wrap="none">
            <a:spAutoFit/>
          </a:bodyPr>
          <a:lstStyle/>
          <a:p>
            <a:pPr>
              <a:defRPr sz="3000" b="1">
                <a:solidFill>
                  <a:srgbClr val="F2F5F8"/>
                </a:solidFill>
              </a:defRPr>
            </a:pPr>
            <a:r>
              <a:t>21.7 Scheduling — Deep Dive</a:t>
            </a:r>
          </a:p>
        </p:txBody>
      </p:sp>
      <p:sp>
        <p:nvSpPr>
          <p:cNvPr id="5" name="TextBox 4"/>
          <p:cNvSpPr txBox="1"/>
          <p:nvPr/>
        </p:nvSpPr>
        <p:spPr>
          <a:xfrm>
            <a:off x="612648" y="1600200"/>
            <a:ext cx="10698480" cy="365760"/>
          </a:xfrm>
          <a:prstGeom prst="rect">
            <a:avLst/>
          </a:prstGeom>
          <a:noFill/>
        </p:spPr>
        <p:txBody>
          <a:bodyPr wrap="none">
            <a:spAutoFit/>
          </a:bodyPr>
          <a:lstStyle/>
          <a:p>
            <a:pPr>
              <a:defRPr sz="1300" b="1">
                <a:solidFill>
                  <a:srgbClr val="42B8D5"/>
                </a:solidFill>
              </a:defRPr>
            </a:pPr>
            <a:r>
              <a:t>ENGINEERING IMPLICATIONS</a:t>
            </a:r>
          </a:p>
        </p:txBody>
      </p:sp>
      <p:sp>
        <p:nvSpPr>
          <p:cNvPr id="6" name="Rounded Rectangle 5"/>
          <p:cNvSpPr/>
          <p:nvPr/>
        </p:nvSpPr>
        <p:spPr>
          <a:xfrm>
            <a:off x="594360" y="2148840"/>
            <a:ext cx="10972800" cy="3840480"/>
          </a:xfrm>
          <a:prstGeom prst="roundRect">
            <a:avLst/>
          </a:prstGeom>
          <a:solidFill>
            <a:srgbClr val="141E2B"/>
          </a:solidFill>
          <a:ln>
            <a:solidFill>
              <a:srgbClr val="2F3E4E"/>
            </a:solidFill>
          </a:ln>
        </p:spPr>
        <p:style>
          <a:lnRef idx="1">
            <a:schemeClr val="accent1"/>
          </a:lnRef>
          <a:fillRef idx="3">
            <a:schemeClr val="accent1"/>
          </a:fillRef>
          <a:effectRef idx="2">
            <a:schemeClr val="accent1"/>
          </a:effectRef>
          <a:fontRef idx="minor">
            <a:schemeClr val="lt1"/>
          </a:fontRef>
        </p:style>
        <p:txBody>
          <a:bodyPr rtlCol="0" anchor="ctr" lIns="320040" rIns="274320" tIns="228600"/>
          <a:lstStyle/>
          <a:p>
            <a:pPr algn="ctr">
              <a:spcAft>
                <a:spcPts val="1100"/>
              </a:spcAft>
              <a:defRPr sz="1900">
                <a:solidFill>
                  <a:srgbClr val="F2F5F8"/>
                </a:solidFill>
              </a:defRPr>
            </a:pPr>
            <a:r>
              <a:t>• A scheduling trace must include waiting as well as computation.</a:t>
            </a:r>
          </a:p>
          <a:p>
            <a:pPr>
              <a:spcAft>
                <a:spcPts val="1100"/>
              </a:spcAft>
              <a:defRPr sz="1900">
                <a:solidFill>
                  <a:srgbClr val="F2F5F8"/>
                </a:solidFill>
              </a:defRPr>
            </a:pPr>
            <a:r>
              <a:t>• A server may consume little CPU because it is blocked on clients, not because it is efficient.</a:t>
            </a:r>
          </a:p>
          <a:p>
            <a:pPr>
              <a:spcAft>
                <a:spcPts val="1100"/>
              </a:spcAft>
              <a:defRPr sz="1900">
                <a:solidFill>
                  <a:srgbClr val="F2F5F8"/>
                </a:solidFill>
              </a:defRPr>
            </a:pPr>
            <a:r>
              <a:t>• A compute-heavy application may scale until it encounters memory bandwidth or synchronization limits.</a:t>
            </a:r>
          </a:p>
          <a:p>
            <a:pPr>
              <a:spcAft>
                <a:spcPts val="1100"/>
              </a:spcAft>
              <a:defRPr sz="1700">
                <a:solidFill>
                  <a:srgbClr val="F2F5F8"/>
                </a:solidFill>
              </a:defRPr>
            </a:pPr>
            <a:r>
              <a:t>• Measure runnable demand, actual execution, and blocking causes separately before changing priorities or thread counts. [ R38 ]</a:t>
            </a:r>
          </a:p>
        </p:txBody>
      </p:sp>
      <p:sp>
        <p:nvSpPr>
          <p:cNvPr id="7" name="TextBox 6"/>
          <p:cNvSpPr txBox="1"/>
          <p:nvPr/>
        </p:nvSpPr>
        <p:spPr>
          <a:xfrm>
            <a:off x="612648" y="6309360"/>
            <a:ext cx="10698480" cy="228600"/>
          </a:xfrm>
          <a:prstGeom prst="rect">
            <a:avLst/>
          </a:prstGeom>
          <a:noFill/>
        </p:spPr>
        <p:txBody>
          <a:bodyPr wrap="none">
            <a:spAutoFit/>
          </a:bodyPr>
          <a:lstStyle/>
          <a:p>
            <a:pPr>
              <a:defRPr sz="1000">
                <a:solidFill>
                  <a:srgbClr val="A5B2C1"/>
                </a:solidFill>
              </a:defRPr>
            </a:pPr>
            <a:r>
              <a:t>CHAPTER 21     |     17</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0B121C"/>
        </a:solidFill>
        <a:effectLst/>
      </p:bgPr>
    </p:bg>
    <p:spTree>
      <p:nvGrpSpPr>
        <p:cNvPr id="1" name=""/>
        <p:cNvGrpSpPr/>
        <p:nvPr/>
      </p:nvGrpSpPr>
      <p:grpSpPr/>
      <p:sp>
        <p:nvSpPr>
          <p:cNvPr id="2" name="Rectangle 1"/>
          <p:cNvSpPr/>
          <p:nvPr/>
        </p:nvSpPr>
        <p:spPr>
          <a:xfrm>
            <a:off x="0" y="0"/>
            <a:ext cx="12191695" cy="73152"/>
          </a:xfrm>
          <a:prstGeom prst="rect">
            <a:avLst/>
          </a:prstGeom>
          <a:solidFill>
            <a:srgbClr val="42B8D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20040"/>
            <a:ext cx="10972800" cy="274320"/>
          </a:xfrm>
          <a:prstGeom prst="rect">
            <a:avLst/>
          </a:prstGeom>
          <a:noFill/>
        </p:spPr>
        <p:txBody>
          <a:bodyPr wrap="none">
            <a:spAutoFit/>
          </a:bodyPr>
          <a:lstStyle/>
          <a:p>
            <a:pPr>
              <a:defRPr sz="1100" b="1">
                <a:solidFill>
                  <a:srgbClr val="A5B2C1"/>
                </a:solidFill>
              </a:defRPr>
            </a:pPr>
            <a:r>
              <a:t>SYSTEMS PROGRAMMING AND MACHINE ORGANIZATION     ·     CHARLES DORNER</a:t>
            </a:r>
          </a:p>
        </p:txBody>
      </p:sp>
      <p:sp>
        <p:nvSpPr>
          <p:cNvPr id="4" name="TextBox 3"/>
          <p:cNvSpPr txBox="1"/>
          <p:nvPr/>
        </p:nvSpPr>
        <p:spPr>
          <a:xfrm>
            <a:off x="594360" y="822960"/>
            <a:ext cx="10972800" cy="914400"/>
          </a:xfrm>
          <a:prstGeom prst="rect">
            <a:avLst/>
          </a:prstGeom>
          <a:noFill/>
        </p:spPr>
        <p:txBody>
          <a:bodyPr wrap="none">
            <a:spAutoFit/>
          </a:bodyPr>
          <a:lstStyle/>
          <a:p>
            <a:pPr>
              <a:defRPr sz="2500" b="1">
                <a:solidFill>
                  <a:srgbClr val="F2F5F8"/>
                </a:solidFill>
              </a:defRPr>
            </a:pPr>
            <a:r>
              <a:t>Worked example — A scheduling model with waiting</a:t>
            </a:r>
          </a:p>
        </p:txBody>
      </p:sp>
      <p:sp>
        <p:nvSpPr>
          <p:cNvPr id="5" name="TextBox 4"/>
          <p:cNvSpPr txBox="1"/>
          <p:nvPr/>
        </p:nvSpPr>
        <p:spPr>
          <a:xfrm>
            <a:off x="612648" y="1600200"/>
            <a:ext cx="10698480" cy="365760"/>
          </a:xfrm>
          <a:prstGeom prst="rect">
            <a:avLst/>
          </a:prstGeom>
          <a:noFill/>
        </p:spPr>
        <p:txBody>
          <a:bodyPr wrap="none">
            <a:spAutoFit/>
          </a:bodyPr>
          <a:lstStyle/>
          <a:p>
            <a:pPr>
              <a:defRPr sz="1300" b="1">
                <a:solidFill>
                  <a:srgbClr val="42B8D5"/>
                </a:solidFill>
              </a:defRPr>
            </a:pPr>
            <a:r>
              <a:t>SOURCE TOPIC</a:t>
            </a:r>
          </a:p>
        </p:txBody>
      </p:sp>
      <p:sp>
        <p:nvSpPr>
          <p:cNvPr id="6" name="Rounded Rectangle 5"/>
          <p:cNvSpPr/>
          <p:nvPr/>
        </p:nvSpPr>
        <p:spPr>
          <a:xfrm>
            <a:off x="594360" y="2148840"/>
            <a:ext cx="10972800" cy="3840480"/>
          </a:xfrm>
          <a:prstGeom prst="roundRect">
            <a:avLst/>
          </a:prstGeom>
          <a:solidFill>
            <a:srgbClr val="141E2B"/>
          </a:solidFill>
          <a:ln>
            <a:solidFill>
              <a:srgbClr val="2F3E4E"/>
            </a:solidFill>
          </a:ln>
        </p:spPr>
        <p:style>
          <a:lnRef idx="1">
            <a:schemeClr val="accent1"/>
          </a:lnRef>
          <a:fillRef idx="3">
            <a:schemeClr val="accent1"/>
          </a:fillRef>
          <a:effectRef idx="2">
            <a:schemeClr val="accent1"/>
          </a:effectRef>
          <a:fontRef idx="minor">
            <a:schemeClr val="lt1"/>
          </a:fontRef>
        </p:style>
        <p:txBody>
          <a:bodyPr rtlCol="0" anchor="ctr" lIns="320040" rIns="274320" tIns="228600"/>
          <a:lstStyle/>
          <a:p>
            <a:pPr algn="ctr">
              <a:spcAft>
                <a:spcPts val="1100"/>
              </a:spcAft>
              <a:defRPr sz="1700">
                <a:solidFill>
                  <a:srgbClr val="F2F5F8"/>
                </a:solidFill>
              </a:defRPr>
            </a:pPr>
            <a:r>
              <a:t>• Assume one CPU, zero switching overhead, and a scheduler that gives a newly runnable job the next available opportunity.</a:t>
            </a:r>
          </a:p>
          <a:p>
            <a:pPr>
              <a:spcAft>
                <a:spcPts val="1100"/>
              </a:spcAft>
              <a:defRPr sz="1900">
                <a:solidFill>
                  <a:srgbClr val="F2F5F8"/>
                </a:solidFill>
              </a:defRPr>
            </a:pPr>
            <a:r>
              <a:t>• Job A needs 2 milliseconds of CPU, then waits 5 milliseconds for I/O, then needs 1 millisecond of CPU.</a:t>
            </a:r>
          </a:p>
          <a:p>
            <a:pPr>
              <a:spcAft>
                <a:spcPts val="1100"/>
              </a:spcAft>
              <a:defRPr sz="1900">
                <a:solidFill>
                  <a:srgbClr val="F2F5F8"/>
                </a:solidFill>
              </a:defRPr>
            </a:pPr>
            <a:r>
              <a:t>• Job B needs 4 milliseconds of CPU and never blocks.</a:t>
            </a:r>
          </a:p>
          <a:p>
            <a:pPr>
              <a:spcAft>
                <a:spcPts val="1100"/>
              </a:spcAft>
              <a:defRPr sz="1900">
                <a:solidFill>
                  <a:srgbClr val="F2F5F8"/>
                </a:solidFill>
              </a:defRPr>
            </a:pPr>
            <a:r>
              <a:t>• Both are ready at time zero, and A starts first.</a:t>
            </a:r>
          </a:p>
        </p:txBody>
      </p:sp>
      <p:sp>
        <p:nvSpPr>
          <p:cNvPr id="7" name="TextBox 6"/>
          <p:cNvSpPr txBox="1"/>
          <p:nvPr/>
        </p:nvSpPr>
        <p:spPr>
          <a:xfrm>
            <a:off x="612648" y="6309360"/>
            <a:ext cx="10698480" cy="228600"/>
          </a:xfrm>
          <a:prstGeom prst="rect">
            <a:avLst/>
          </a:prstGeom>
          <a:noFill/>
        </p:spPr>
        <p:txBody>
          <a:bodyPr wrap="none">
            <a:spAutoFit/>
          </a:bodyPr>
          <a:lstStyle/>
          <a:p>
            <a:pPr>
              <a:defRPr sz="1000">
                <a:solidFill>
                  <a:srgbClr val="A5B2C1"/>
                </a:solidFill>
              </a:defRPr>
            </a:pPr>
            <a:r>
              <a:t>CHAPTER 21     |     18</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0B121C"/>
        </a:solidFill>
        <a:effectLst/>
      </p:bgPr>
    </p:bg>
    <p:spTree>
      <p:nvGrpSpPr>
        <p:cNvPr id="1" name=""/>
        <p:cNvGrpSpPr/>
        <p:nvPr/>
      </p:nvGrpSpPr>
      <p:grpSpPr/>
      <p:sp>
        <p:nvSpPr>
          <p:cNvPr id="2" name="Rectangle 1"/>
          <p:cNvSpPr/>
          <p:nvPr/>
        </p:nvSpPr>
        <p:spPr>
          <a:xfrm>
            <a:off x="0" y="0"/>
            <a:ext cx="12191695" cy="73152"/>
          </a:xfrm>
          <a:prstGeom prst="rect">
            <a:avLst/>
          </a:prstGeom>
          <a:solidFill>
            <a:srgbClr val="42B8D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20040"/>
            <a:ext cx="10972800" cy="274320"/>
          </a:xfrm>
          <a:prstGeom prst="rect">
            <a:avLst/>
          </a:prstGeom>
          <a:noFill/>
        </p:spPr>
        <p:txBody>
          <a:bodyPr wrap="none">
            <a:spAutoFit/>
          </a:bodyPr>
          <a:lstStyle/>
          <a:p>
            <a:pPr>
              <a:defRPr sz="1100" b="1">
                <a:solidFill>
                  <a:srgbClr val="A5B2C1"/>
                </a:solidFill>
              </a:defRPr>
            </a:pPr>
            <a:r>
              <a:t>SYSTEMS PROGRAMMING AND MACHINE ORGANIZATION     ·     CHARLES DORNER</a:t>
            </a:r>
          </a:p>
        </p:txBody>
      </p:sp>
      <p:sp>
        <p:nvSpPr>
          <p:cNvPr id="4" name="TextBox 3"/>
          <p:cNvSpPr txBox="1"/>
          <p:nvPr/>
        </p:nvSpPr>
        <p:spPr>
          <a:xfrm>
            <a:off x="594360" y="822960"/>
            <a:ext cx="10972800" cy="914400"/>
          </a:xfrm>
          <a:prstGeom prst="rect">
            <a:avLst/>
          </a:prstGeom>
          <a:noFill/>
        </p:spPr>
        <p:txBody>
          <a:bodyPr wrap="none">
            <a:spAutoFit/>
          </a:bodyPr>
          <a:lstStyle/>
          <a:p>
            <a:pPr>
              <a:defRPr sz="2500" b="1">
                <a:solidFill>
                  <a:srgbClr val="F2F5F8"/>
                </a:solidFill>
              </a:defRPr>
            </a:pPr>
            <a:r>
              <a:t>Worked example — A scheduling model with waiting — Deep Dive</a:t>
            </a:r>
          </a:p>
        </p:txBody>
      </p:sp>
      <p:sp>
        <p:nvSpPr>
          <p:cNvPr id="5" name="TextBox 4"/>
          <p:cNvSpPr txBox="1"/>
          <p:nvPr/>
        </p:nvSpPr>
        <p:spPr>
          <a:xfrm>
            <a:off x="612648" y="1600200"/>
            <a:ext cx="10698480" cy="365760"/>
          </a:xfrm>
          <a:prstGeom prst="rect">
            <a:avLst/>
          </a:prstGeom>
          <a:noFill/>
        </p:spPr>
        <p:txBody>
          <a:bodyPr wrap="none">
            <a:spAutoFit/>
          </a:bodyPr>
          <a:lstStyle/>
          <a:p>
            <a:pPr>
              <a:defRPr sz="1300" b="1">
                <a:solidFill>
                  <a:srgbClr val="42B8D5"/>
                </a:solidFill>
              </a:defRPr>
            </a:pPr>
            <a:r>
              <a:t>WORKED EXAMPLE &amp; INTERPRETATION</a:t>
            </a:r>
          </a:p>
        </p:txBody>
      </p:sp>
      <p:sp>
        <p:nvSpPr>
          <p:cNvPr id="6" name="Rounded Rectangle 5"/>
          <p:cNvSpPr/>
          <p:nvPr/>
        </p:nvSpPr>
        <p:spPr>
          <a:xfrm>
            <a:off x="594360" y="2148840"/>
            <a:ext cx="10972800" cy="3840480"/>
          </a:xfrm>
          <a:prstGeom prst="roundRect">
            <a:avLst/>
          </a:prstGeom>
          <a:solidFill>
            <a:srgbClr val="141E2B"/>
          </a:solidFill>
          <a:ln>
            <a:solidFill>
              <a:srgbClr val="2F3E4E"/>
            </a:solidFill>
          </a:ln>
        </p:spPr>
        <p:style>
          <a:lnRef idx="1">
            <a:schemeClr val="accent1"/>
          </a:lnRef>
          <a:fillRef idx="3">
            <a:schemeClr val="accent1"/>
          </a:fillRef>
          <a:effectRef idx="2">
            <a:schemeClr val="accent1"/>
          </a:effectRef>
          <a:fontRef idx="minor">
            <a:schemeClr val="lt1"/>
          </a:fontRef>
        </p:style>
        <p:txBody>
          <a:bodyPr rtlCol="0" anchor="ctr" lIns="320040" rIns="274320" tIns="228600"/>
          <a:lstStyle/>
          <a:p>
            <a:pPr algn="ctr">
              <a:spcAft>
                <a:spcPts val="1100"/>
              </a:spcAft>
              <a:defRPr sz="1900">
                <a:solidFill>
                  <a:srgbClr val="F2F5F8"/>
                </a:solidFill>
              </a:defRPr>
            </a:pPr>
            <a:r>
              <a:t>• A consumes 3 milliseconds of CPU but finishes after 8 milliseconds of wall time.</a:t>
            </a:r>
          </a:p>
          <a:p>
            <a:pPr>
              <a:spcAft>
                <a:spcPts val="1100"/>
              </a:spcAft>
              <a:defRPr sz="1900">
                <a:solidFill>
                  <a:srgbClr val="F2F5F8"/>
                </a:solidFill>
              </a:defRPr>
            </a:pPr>
            <a:r>
              <a:t>• B consumes 4 milliseconds and finishes at time 6.</a:t>
            </a:r>
          </a:p>
          <a:p>
            <a:pPr>
              <a:spcAft>
                <a:spcPts val="1100"/>
              </a:spcAft>
              <a:defRPr sz="1700">
                <a:solidFill>
                  <a:srgbClr val="F2F5F8"/>
                </a:solidFill>
              </a:defRPr>
            </a:pPr>
            <a:r>
              <a:t>• The CPU performs 7 milliseconds of useful work during an 8-millisecond observation interval, giving modeled utilization of 7 / 8 = 87.5% .</a:t>
            </a:r>
          </a:p>
          <a:p>
            <a:pPr>
              <a:spcAft>
                <a:spcPts val="1100"/>
              </a:spcAft>
              <a:defRPr sz="1900">
                <a:solidFill>
                  <a:srgbClr val="F2F5F8"/>
                </a:solidFill>
              </a:defRPr>
            </a:pPr>
            <a:r>
              <a:t>• This calculation assumes that the I/O wait completes at time 7 independently of B.</a:t>
            </a:r>
          </a:p>
        </p:txBody>
      </p:sp>
      <p:sp>
        <p:nvSpPr>
          <p:cNvPr id="7" name="TextBox 6"/>
          <p:cNvSpPr txBox="1"/>
          <p:nvPr/>
        </p:nvSpPr>
        <p:spPr>
          <a:xfrm>
            <a:off x="612648" y="6309360"/>
            <a:ext cx="10698480" cy="228600"/>
          </a:xfrm>
          <a:prstGeom prst="rect">
            <a:avLst/>
          </a:prstGeom>
          <a:noFill/>
        </p:spPr>
        <p:txBody>
          <a:bodyPr wrap="none">
            <a:spAutoFit/>
          </a:bodyPr>
          <a:lstStyle/>
          <a:p>
            <a:pPr>
              <a:defRPr sz="1000">
                <a:solidFill>
                  <a:srgbClr val="A5B2C1"/>
                </a:solidFill>
              </a:defRPr>
            </a:pPr>
            <a:r>
              <a:t>CHAPTER 21     |     19</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bg>
      <p:bgPr>
        <a:solidFill>
          <a:srgbClr val="0B121C"/>
        </a:solidFill>
        <a:effectLst/>
      </p:bgPr>
    </p:bg>
    <p:spTree>
      <p:nvGrpSpPr>
        <p:cNvPr id="1" name=""/>
        <p:cNvGrpSpPr/>
        <p:nvPr/>
      </p:nvGrpSpPr>
      <p:grpSpPr/>
      <p:sp>
        <p:nvSpPr>
          <p:cNvPr id="2" name="Rectangle 1"/>
          <p:cNvSpPr/>
          <p:nvPr/>
        </p:nvSpPr>
        <p:spPr>
          <a:xfrm>
            <a:off x="0" y="0"/>
            <a:ext cx="12191695" cy="73152"/>
          </a:xfrm>
          <a:prstGeom prst="rect">
            <a:avLst/>
          </a:prstGeom>
          <a:solidFill>
            <a:srgbClr val="42B8D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20040"/>
            <a:ext cx="10972800" cy="274320"/>
          </a:xfrm>
          <a:prstGeom prst="rect">
            <a:avLst/>
          </a:prstGeom>
          <a:noFill/>
        </p:spPr>
        <p:txBody>
          <a:bodyPr wrap="none">
            <a:spAutoFit/>
          </a:bodyPr>
          <a:lstStyle/>
          <a:p>
            <a:pPr>
              <a:defRPr sz="1100" b="1">
                <a:solidFill>
                  <a:srgbClr val="A5B2C1"/>
                </a:solidFill>
              </a:defRPr>
            </a:pPr>
            <a:r>
              <a:t>SYSTEMS PROGRAMMING AND MACHINE ORGANIZATION     ·     CHARLES DORNER</a:t>
            </a:r>
          </a:p>
        </p:txBody>
      </p:sp>
      <p:sp>
        <p:nvSpPr>
          <p:cNvPr id="4" name="TextBox 3"/>
          <p:cNvSpPr txBox="1"/>
          <p:nvPr/>
        </p:nvSpPr>
        <p:spPr>
          <a:xfrm>
            <a:off x="594360" y="822960"/>
            <a:ext cx="10972800" cy="914400"/>
          </a:xfrm>
          <a:prstGeom prst="rect">
            <a:avLst/>
          </a:prstGeom>
          <a:noFill/>
        </p:spPr>
        <p:txBody>
          <a:bodyPr wrap="none">
            <a:spAutoFit/>
          </a:bodyPr>
          <a:lstStyle/>
          <a:p>
            <a:pPr>
              <a:defRPr sz="3000" b="1">
                <a:solidFill>
                  <a:srgbClr val="F2F5F8"/>
                </a:solidFill>
              </a:defRPr>
            </a:pPr>
            <a:r>
              <a:t>Worked example — Context-switch contents</a:t>
            </a:r>
          </a:p>
        </p:txBody>
      </p:sp>
      <p:sp>
        <p:nvSpPr>
          <p:cNvPr id="5" name="TextBox 4"/>
          <p:cNvSpPr txBox="1"/>
          <p:nvPr/>
        </p:nvSpPr>
        <p:spPr>
          <a:xfrm>
            <a:off x="612648" y="1600200"/>
            <a:ext cx="10698480" cy="365760"/>
          </a:xfrm>
          <a:prstGeom prst="rect">
            <a:avLst/>
          </a:prstGeom>
          <a:noFill/>
        </p:spPr>
        <p:txBody>
          <a:bodyPr wrap="none">
            <a:spAutoFit/>
          </a:bodyPr>
          <a:lstStyle/>
          <a:p>
            <a:pPr>
              <a:defRPr sz="1300" b="1">
                <a:solidFill>
                  <a:srgbClr val="42B8D5"/>
                </a:solidFill>
              </a:defRPr>
            </a:pPr>
            <a:r>
              <a:t>SOURCE TOPIC</a:t>
            </a:r>
          </a:p>
        </p:txBody>
      </p:sp>
      <p:sp>
        <p:nvSpPr>
          <p:cNvPr id="6" name="Rounded Rectangle 5"/>
          <p:cNvSpPr/>
          <p:nvPr/>
        </p:nvSpPr>
        <p:spPr>
          <a:xfrm>
            <a:off x="594360" y="2148840"/>
            <a:ext cx="10972800" cy="3840480"/>
          </a:xfrm>
          <a:prstGeom prst="roundRect">
            <a:avLst/>
          </a:prstGeom>
          <a:solidFill>
            <a:srgbClr val="141E2B"/>
          </a:solidFill>
          <a:ln>
            <a:solidFill>
              <a:srgbClr val="2F3E4E"/>
            </a:solidFill>
          </a:ln>
        </p:spPr>
        <p:style>
          <a:lnRef idx="1">
            <a:schemeClr val="accent1"/>
          </a:lnRef>
          <a:fillRef idx="3">
            <a:schemeClr val="accent1"/>
          </a:fillRef>
          <a:effectRef idx="2">
            <a:schemeClr val="accent1"/>
          </a:effectRef>
          <a:fontRef idx="minor">
            <a:schemeClr val="lt1"/>
          </a:fontRef>
        </p:style>
        <p:txBody>
          <a:bodyPr rtlCol="0" anchor="ctr" lIns="320040" rIns="274320" tIns="228600"/>
          <a:lstStyle/>
          <a:p>
            <a:pPr algn="ctr">
              <a:spcAft>
                <a:spcPts val="1100"/>
              </a:spcAft>
              <a:defRPr sz="1700">
                <a:solidFill>
                  <a:srgbClr val="F2F5F8"/>
                </a:solidFill>
              </a:defRPr>
            </a:pPr>
            <a:r>
              <a:t>• If process A is preempted so process B can run, the kernel must preserve enough CPU state to resume A later: instruction location, stack state, general registers, and other...</a:t>
            </a:r>
          </a:p>
          <a:p>
            <a:pPr>
              <a:spcAft>
                <a:spcPts val="1100"/>
              </a:spcAft>
              <a:defRPr sz="1900">
                <a:solidFill>
                  <a:srgbClr val="F2F5F8"/>
                </a:solidFill>
              </a:defRPr>
            </a:pPr>
            <a:r>
              <a:t>• It also switches the active address-space context as required.</a:t>
            </a:r>
          </a:p>
          <a:p>
            <a:pPr>
              <a:spcAft>
                <a:spcPts val="1100"/>
              </a:spcAft>
              <a:defRPr sz="1900">
                <a:solidFill>
                  <a:srgbClr val="F2F5F8"/>
                </a:solidFill>
              </a:defRPr>
            </a:pPr>
            <a:r>
              <a:t>• The exact saved set is implementation dependent, but the abstraction requires each process to resume consistently.</a:t>
            </a:r>
          </a:p>
        </p:txBody>
      </p:sp>
      <p:sp>
        <p:nvSpPr>
          <p:cNvPr id="7" name="TextBox 6"/>
          <p:cNvSpPr txBox="1"/>
          <p:nvPr/>
        </p:nvSpPr>
        <p:spPr>
          <a:xfrm>
            <a:off x="612648" y="6309360"/>
            <a:ext cx="10698480" cy="228600"/>
          </a:xfrm>
          <a:prstGeom prst="rect">
            <a:avLst/>
          </a:prstGeom>
          <a:noFill/>
        </p:spPr>
        <p:txBody>
          <a:bodyPr wrap="none">
            <a:spAutoFit/>
          </a:bodyPr>
          <a:lstStyle/>
          <a:p>
            <a:pPr>
              <a:defRPr sz="1000">
                <a:solidFill>
                  <a:srgbClr val="A5B2C1"/>
                </a:solidFill>
              </a:defRPr>
            </a:pPr>
            <a:r>
              <a:t>CHAPTER 21     |     20</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bg>
      <p:bgPr>
        <a:solidFill>
          <a:srgbClr val="0B121C"/>
        </a:solidFill>
        <a:effectLst/>
      </p:bgPr>
    </p:bg>
    <p:spTree>
      <p:nvGrpSpPr>
        <p:cNvPr id="1" name=""/>
        <p:cNvGrpSpPr/>
        <p:nvPr/>
      </p:nvGrpSpPr>
      <p:grpSpPr/>
      <p:sp>
        <p:nvSpPr>
          <p:cNvPr id="2" name="Rectangle 1"/>
          <p:cNvSpPr/>
          <p:nvPr/>
        </p:nvSpPr>
        <p:spPr>
          <a:xfrm>
            <a:off x="0" y="0"/>
            <a:ext cx="12191695" cy="73152"/>
          </a:xfrm>
          <a:prstGeom prst="rect">
            <a:avLst/>
          </a:prstGeom>
          <a:solidFill>
            <a:srgbClr val="42B8D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20040"/>
            <a:ext cx="10972800" cy="274320"/>
          </a:xfrm>
          <a:prstGeom prst="rect">
            <a:avLst/>
          </a:prstGeom>
          <a:noFill/>
        </p:spPr>
        <p:txBody>
          <a:bodyPr wrap="none">
            <a:spAutoFit/>
          </a:bodyPr>
          <a:lstStyle/>
          <a:p>
            <a:pPr>
              <a:defRPr sz="1100" b="1">
                <a:solidFill>
                  <a:srgbClr val="A5B2C1"/>
                </a:solidFill>
              </a:defRPr>
            </a:pPr>
            <a:r>
              <a:t>SYSTEMS PROGRAMMING AND MACHINE ORGANIZATION     ·     CHARLES DORNER</a:t>
            </a:r>
          </a:p>
        </p:txBody>
      </p:sp>
      <p:sp>
        <p:nvSpPr>
          <p:cNvPr id="4" name="TextBox 3"/>
          <p:cNvSpPr txBox="1"/>
          <p:nvPr/>
        </p:nvSpPr>
        <p:spPr>
          <a:xfrm>
            <a:off x="594360" y="822960"/>
            <a:ext cx="10972800" cy="914400"/>
          </a:xfrm>
          <a:prstGeom prst="rect">
            <a:avLst/>
          </a:prstGeom>
          <a:noFill/>
        </p:spPr>
        <p:txBody>
          <a:bodyPr wrap="none">
            <a:spAutoFit/>
          </a:bodyPr>
          <a:lstStyle/>
          <a:p>
            <a:pPr>
              <a:defRPr sz="2500" b="1">
                <a:solidFill>
                  <a:srgbClr val="F2F5F8"/>
                </a:solidFill>
              </a:defRPr>
            </a:pPr>
            <a:r>
              <a:t>Worked example — Context-switch contents — Deep Dive</a:t>
            </a:r>
          </a:p>
        </p:txBody>
      </p:sp>
      <p:sp>
        <p:nvSpPr>
          <p:cNvPr id="5" name="TextBox 4"/>
          <p:cNvSpPr txBox="1"/>
          <p:nvPr/>
        </p:nvSpPr>
        <p:spPr>
          <a:xfrm>
            <a:off x="612648" y="1600200"/>
            <a:ext cx="10698480" cy="365760"/>
          </a:xfrm>
          <a:prstGeom prst="rect">
            <a:avLst/>
          </a:prstGeom>
          <a:noFill/>
        </p:spPr>
        <p:txBody>
          <a:bodyPr wrap="none">
            <a:spAutoFit/>
          </a:bodyPr>
          <a:lstStyle/>
          <a:p>
            <a:pPr>
              <a:defRPr sz="1300" b="1">
                <a:solidFill>
                  <a:srgbClr val="42B8D5"/>
                </a:solidFill>
              </a:defRPr>
            </a:pPr>
            <a:r>
              <a:t>WORKED EXAMPLE &amp; INTERPRETATION</a:t>
            </a:r>
          </a:p>
        </p:txBody>
      </p:sp>
      <p:sp>
        <p:nvSpPr>
          <p:cNvPr id="6" name="Rounded Rectangle 5"/>
          <p:cNvSpPr/>
          <p:nvPr/>
        </p:nvSpPr>
        <p:spPr>
          <a:xfrm>
            <a:off x="594360" y="2148840"/>
            <a:ext cx="10972800" cy="3840480"/>
          </a:xfrm>
          <a:prstGeom prst="roundRect">
            <a:avLst/>
          </a:prstGeom>
          <a:solidFill>
            <a:srgbClr val="141E2B"/>
          </a:solidFill>
          <a:ln>
            <a:solidFill>
              <a:srgbClr val="2F3E4E"/>
            </a:solidFill>
          </a:ln>
        </p:spPr>
        <p:style>
          <a:lnRef idx="1">
            <a:schemeClr val="accent1"/>
          </a:lnRef>
          <a:fillRef idx="3">
            <a:schemeClr val="accent1"/>
          </a:fillRef>
          <a:effectRef idx="2">
            <a:schemeClr val="accent1"/>
          </a:effectRef>
          <a:fontRef idx="minor">
            <a:schemeClr val="lt1"/>
          </a:fontRef>
        </p:style>
        <p:txBody>
          <a:bodyPr rtlCol="0" anchor="ctr" lIns="320040" rIns="274320" tIns="228600"/>
          <a:lstStyle/>
          <a:p>
            <a:pPr algn="ctr">
              <a:spcAft>
                <a:spcPts val="1100"/>
              </a:spcAft>
              <a:defRPr sz="1700">
                <a:solidFill>
                  <a:srgbClr val="F2F5F8"/>
                </a:solidFill>
              </a:defRPr>
            </a:pPr>
            <a:r>
              <a:t>• If process A is preempted so process B can run, the kernel must preserve enough CPU state to resume A later: instruction location, stack state, general registers, and...</a:t>
            </a:r>
          </a:p>
          <a:p>
            <a:pPr>
              <a:spcAft>
                <a:spcPts val="1100"/>
              </a:spcAft>
              <a:defRPr sz="1900">
                <a:solidFill>
                  <a:srgbClr val="F2F5F8"/>
                </a:solidFill>
              </a:defRPr>
            </a:pPr>
            <a:r>
              <a:t>• It also switches the active address-space context as required.</a:t>
            </a:r>
          </a:p>
          <a:p>
            <a:pPr>
              <a:spcAft>
                <a:spcPts val="1100"/>
              </a:spcAft>
              <a:defRPr sz="1900">
                <a:solidFill>
                  <a:srgbClr val="F2F5F8"/>
                </a:solidFill>
              </a:defRPr>
            </a:pPr>
            <a:r>
              <a:t>• The exact saved set is implementation dependent, but the abstraction requires each process to resume consistently.</a:t>
            </a:r>
          </a:p>
        </p:txBody>
      </p:sp>
      <p:sp>
        <p:nvSpPr>
          <p:cNvPr id="7" name="TextBox 6"/>
          <p:cNvSpPr txBox="1"/>
          <p:nvPr/>
        </p:nvSpPr>
        <p:spPr>
          <a:xfrm>
            <a:off x="612648" y="6309360"/>
            <a:ext cx="10698480" cy="228600"/>
          </a:xfrm>
          <a:prstGeom prst="rect">
            <a:avLst/>
          </a:prstGeom>
          <a:noFill/>
        </p:spPr>
        <p:txBody>
          <a:bodyPr wrap="none">
            <a:spAutoFit/>
          </a:bodyPr>
          <a:lstStyle/>
          <a:p>
            <a:pPr>
              <a:defRPr sz="1000">
                <a:solidFill>
                  <a:srgbClr val="A5B2C1"/>
                </a:solidFill>
              </a:defRPr>
            </a:pPr>
            <a:r>
              <a:t>CHAPTER 21     |     21</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bg>
      <p:bgPr>
        <a:solidFill>
          <a:srgbClr val="0B121C"/>
        </a:solidFill>
        <a:effectLst/>
      </p:bgPr>
    </p:bg>
    <p:spTree>
      <p:nvGrpSpPr>
        <p:cNvPr id="1" name=""/>
        <p:cNvGrpSpPr/>
        <p:nvPr/>
      </p:nvGrpSpPr>
      <p:grpSpPr/>
      <p:sp>
        <p:nvSpPr>
          <p:cNvPr id="2" name="Rectangle 1"/>
          <p:cNvSpPr/>
          <p:nvPr/>
        </p:nvSpPr>
        <p:spPr>
          <a:xfrm>
            <a:off x="0" y="0"/>
            <a:ext cx="12191695" cy="73152"/>
          </a:xfrm>
          <a:prstGeom prst="rect">
            <a:avLst/>
          </a:prstGeom>
          <a:solidFill>
            <a:srgbClr val="42B8D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20040"/>
            <a:ext cx="10972800" cy="274320"/>
          </a:xfrm>
          <a:prstGeom prst="rect">
            <a:avLst/>
          </a:prstGeom>
          <a:noFill/>
        </p:spPr>
        <p:txBody>
          <a:bodyPr wrap="none">
            <a:spAutoFit/>
          </a:bodyPr>
          <a:lstStyle/>
          <a:p>
            <a:pPr>
              <a:defRPr sz="1100" b="1">
                <a:solidFill>
                  <a:srgbClr val="A5B2C1"/>
                </a:solidFill>
              </a:defRPr>
            </a:pPr>
            <a:r>
              <a:t>SYSTEMS PROGRAMMING AND MACHINE ORGANIZATION     ·     CHARLES DORNER</a:t>
            </a:r>
          </a:p>
        </p:txBody>
      </p:sp>
      <p:sp>
        <p:nvSpPr>
          <p:cNvPr id="4" name="TextBox 3"/>
          <p:cNvSpPr txBox="1"/>
          <p:nvPr/>
        </p:nvSpPr>
        <p:spPr>
          <a:xfrm>
            <a:off x="594360" y="822960"/>
            <a:ext cx="10972800" cy="914400"/>
          </a:xfrm>
          <a:prstGeom prst="rect">
            <a:avLst/>
          </a:prstGeom>
          <a:noFill/>
        </p:spPr>
        <p:txBody>
          <a:bodyPr wrap="none">
            <a:spAutoFit/>
          </a:bodyPr>
          <a:lstStyle/>
          <a:p>
            <a:pPr>
              <a:defRPr sz="2500" b="1">
                <a:solidFill>
                  <a:srgbClr val="F2F5F8"/>
                </a:solidFill>
              </a:defRPr>
            </a:pPr>
            <a:r>
              <a:t>Worked example — Scheduling a CPU-bound and I/O-bound process</a:t>
            </a:r>
          </a:p>
        </p:txBody>
      </p:sp>
      <p:sp>
        <p:nvSpPr>
          <p:cNvPr id="5" name="TextBox 4"/>
          <p:cNvSpPr txBox="1"/>
          <p:nvPr/>
        </p:nvSpPr>
        <p:spPr>
          <a:xfrm>
            <a:off x="612648" y="1600200"/>
            <a:ext cx="10698480" cy="365760"/>
          </a:xfrm>
          <a:prstGeom prst="rect">
            <a:avLst/>
          </a:prstGeom>
          <a:noFill/>
        </p:spPr>
        <p:txBody>
          <a:bodyPr wrap="none">
            <a:spAutoFit/>
          </a:bodyPr>
          <a:lstStyle/>
          <a:p>
            <a:pPr>
              <a:defRPr sz="1300" b="1">
                <a:solidFill>
                  <a:srgbClr val="42B8D5"/>
                </a:solidFill>
              </a:defRPr>
            </a:pPr>
            <a:r>
              <a:t>SOURCE TOPIC</a:t>
            </a:r>
          </a:p>
        </p:txBody>
      </p:sp>
      <p:sp>
        <p:nvSpPr>
          <p:cNvPr id="6" name="Rounded Rectangle 5"/>
          <p:cNvSpPr/>
          <p:nvPr/>
        </p:nvSpPr>
        <p:spPr>
          <a:xfrm>
            <a:off x="594360" y="2148840"/>
            <a:ext cx="10972800" cy="3840480"/>
          </a:xfrm>
          <a:prstGeom prst="roundRect">
            <a:avLst/>
          </a:prstGeom>
          <a:solidFill>
            <a:srgbClr val="141E2B"/>
          </a:solidFill>
          <a:ln>
            <a:solidFill>
              <a:srgbClr val="2F3E4E"/>
            </a:solidFill>
          </a:ln>
        </p:spPr>
        <p:style>
          <a:lnRef idx="1">
            <a:schemeClr val="accent1"/>
          </a:lnRef>
          <a:fillRef idx="3">
            <a:schemeClr val="accent1"/>
          </a:fillRef>
          <a:effectRef idx="2">
            <a:schemeClr val="accent1"/>
          </a:effectRef>
          <a:fontRef idx="minor">
            <a:schemeClr val="lt1"/>
          </a:fontRef>
        </p:style>
        <p:txBody>
          <a:bodyPr rtlCol="0" anchor="ctr" lIns="320040" rIns="274320" tIns="228600"/>
          <a:lstStyle/>
          <a:p>
            <a:pPr algn="ctr">
              <a:spcAft>
                <a:spcPts val="1100"/>
              </a:spcAft>
              <a:defRPr sz="1700">
                <a:solidFill>
                  <a:srgbClr val="F2F5F8"/>
                </a:solidFill>
              </a:defRPr>
            </a:pPr>
            <a:r>
              <a:t>• If process A consumes full quanta while process B frequently blocks waiting for input, a scheduler can run A while B sleeps and wake B when its I/O completes.</a:t>
            </a:r>
          </a:p>
          <a:p>
            <a:pPr>
              <a:spcAft>
                <a:spcPts val="1100"/>
              </a:spcAft>
              <a:defRPr sz="1900">
                <a:solidFill>
                  <a:srgbClr val="F2F5F8"/>
                </a:solidFill>
              </a:defRPr>
            </a:pPr>
            <a:r>
              <a:t>• The CPU is therefore multiplexed among runnable processes, not divided equally among all processes regardless of state.</a:t>
            </a:r>
          </a:p>
        </p:txBody>
      </p:sp>
      <p:sp>
        <p:nvSpPr>
          <p:cNvPr id="7" name="TextBox 6"/>
          <p:cNvSpPr txBox="1"/>
          <p:nvPr/>
        </p:nvSpPr>
        <p:spPr>
          <a:xfrm>
            <a:off x="612648" y="6309360"/>
            <a:ext cx="10698480" cy="228600"/>
          </a:xfrm>
          <a:prstGeom prst="rect">
            <a:avLst/>
          </a:prstGeom>
          <a:noFill/>
        </p:spPr>
        <p:txBody>
          <a:bodyPr wrap="none">
            <a:spAutoFit/>
          </a:bodyPr>
          <a:lstStyle/>
          <a:p>
            <a:pPr>
              <a:defRPr sz="1000">
                <a:solidFill>
                  <a:srgbClr val="A5B2C1"/>
                </a:solidFill>
              </a:defRPr>
            </a:pPr>
            <a:r>
              <a:t>CHAPTER 21     |     22</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bg>
      <p:bgPr>
        <a:solidFill>
          <a:srgbClr val="0B121C"/>
        </a:solidFill>
        <a:effectLst/>
      </p:bgPr>
    </p:bg>
    <p:spTree>
      <p:nvGrpSpPr>
        <p:cNvPr id="1" name=""/>
        <p:cNvGrpSpPr/>
        <p:nvPr/>
      </p:nvGrpSpPr>
      <p:grpSpPr/>
      <p:sp>
        <p:nvSpPr>
          <p:cNvPr id="2" name="Rectangle 1"/>
          <p:cNvSpPr/>
          <p:nvPr/>
        </p:nvSpPr>
        <p:spPr>
          <a:xfrm>
            <a:off x="0" y="0"/>
            <a:ext cx="12191695" cy="73152"/>
          </a:xfrm>
          <a:prstGeom prst="rect">
            <a:avLst/>
          </a:prstGeom>
          <a:solidFill>
            <a:srgbClr val="42B8D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20040"/>
            <a:ext cx="10972800" cy="274320"/>
          </a:xfrm>
          <a:prstGeom prst="rect">
            <a:avLst/>
          </a:prstGeom>
          <a:noFill/>
        </p:spPr>
        <p:txBody>
          <a:bodyPr wrap="none">
            <a:spAutoFit/>
          </a:bodyPr>
          <a:lstStyle/>
          <a:p>
            <a:pPr>
              <a:defRPr sz="1100" b="1">
                <a:solidFill>
                  <a:srgbClr val="A5B2C1"/>
                </a:solidFill>
              </a:defRPr>
            </a:pPr>
            <a:r>
              <a:t>SYSTEMS PROGRAMMING AND MACHINE ORGANIZATION     ·     CHARLES DORNER</a:t>
            </a:r>
          </a:p>
        </p:txBody>
      </p:sp>
      <p:sp>
        <p:nvSpPr>
          <p:cNvPr id="4" name="TextBox 3"/>
          <p:cNvSpPr txBox="1"/>
          <p:nvPr/>
        </p:nvSpPr>
        <p:spPr>
          <a:xfrm>
            <a:off x="594360" y="822960"/>
            <a:ext cx="10972800" cy="914400"/>
          </a:xfrm>
          <a:prstGeom prst="rect">
            <a:avLst/>
          </a:prstGeom>
          <a:noFill/>
        </p:spPr>
        <p:txBody>
          <a:bodyPr wrap="none">
            <a:spAutoFit/>
          </a:bodyPr>
          <a:lstStyle/>
          <a:p>
            <a:pPr>
              <a:defRPr sz="2500" b="1">
                <a:solidFill>
                  <a:srgbClr val="F2F5F8"/>
                </a:solidFill>
              </a:defRPr>
            </a:pPr>
            <a:r>
              <a:t>Worked example — Scheduling a CPU-bound and I/O-bound process — Deep Dive</a:t>
            </a:r>
          </a:p>
        </p:txBody>
      </p:sp>
      <p:sp>
        <p:nvSpPr>
          <p:cNvPr id="5" name="TextBox 4"/>
          <p:cNvSpPr txBox="1"/>
          <p:nvPr/>
        </p:nvSpPr>
        <p:spPr>
          <a:xfrm>
            <a:off x="612648" y="1600200"/>
            <a:ext cx="10698480" cy="365760"/>
          </a:xfrm>
          <a:prstGeom prst="rect">
            <a:avLst/>
          </a:prstGeom>
          <a:noFill/>
        </p:spPr>
        <p:txBody>
          <a:bodyPr wrap="none">
            <a:spAutoFit/>
          </a:bodyPr>
          <a:lstStyle/>
          <a:p>
            <a:pPr>
              <a:defRPr sz="1300" b="1">
                <a:solidFill>
                  <a:srgbClr val="42B8D5"/>
                </a:solidFill>
              </a:defRPr>
            </a:pPr>
            <a:r>
              <a:t>WORKED EXAMPLE &amp; INTERPRETATION</a:t>
            </a:r>
          </a:p>
        </p:txBody>
      </p:sp>
      <p:sp>
        <p:nvSpPr>
          <p:cNvPr id="6" name="Rounded Rectangle 5"/>
          <p:cNvSpPr/>
          <p:nvPr/>
        </p:nvSpPr>
        <p:spPr>
          <a:xfrm>
            <a:off x="594360" y="2148840"/>
            <a:ext cx="10972800" cy="3840480"/>
          </a:xfrm>
          <a:prstGeom prst="roundRect">
            <a:avLst/>
          </a:prstGeom>
          <a:solidFill>
            <a:srgbClr val="141E2B"/>
          </a:solidFill>
          <a:ln>
            <a:solidFill>
              <a:srgbClr val="2F3E4E"/>
            </a:solidFill>
          </a:ln>
        </p:spPr>
        <p:style>
          <a:lnRef idx="1">
            <a:schemeClr val="accent1"/>
          </a:lnRef>
          <a:fillRef idx="3">
            <a:schemeClr val="accent1"/>
          </a:fillRef>
          <a:effectRef idx="2">
            <a:schemeClr val="accent1"/>
          </a:effectRef>
          <a:fontRef idx="minor">
            <a:schemeClr val="lt1"/>
          </a:fontRef>
        </p:style>
        <p:txBody>
          <a:bodyPr rtlCol="0" anchor="ctr" lIns="320040" rIns="274320" tIns="228600"/>
          <a:lstStyle/>
          <a:p>
            <a:pPr algn="ctr">
              <a:spcAft>
                <a:spcPts val="1100"/>
              </a:spcAft>
              <a:defRPr sz="1700">
                <a:solidFill>
                  <a:srgbClr val="F2F5F8"/>
                </a:solidFill>
              </a:defRPr>
            </a:pPr>
            <a:r>
              <a:t>• If process A consumes full quanta while process B frequently blocks waiting for input, a scheduler can run A while B sleeps and wake B when its I/O completes.</a:t>
            </a:r>
          </a:p>
          <a:p>
            <a:pPr>
              <a:spcAft>
                <a:spcPts val="1100"/>
              </a:spcAft>
              <a:defRPr sz="1900">
                <a:solidFill>
                  <a:srgbClr val="F2F5F8"/>
                </a:solidFill>
              </a:defRPr>
            </a:pPr>
            <a:r>
              <a:t>• The CPU is therefore multiplexed among runnable processes, not divided equally among all processes regardless of state.</a:t>
            </a:r>
          </a:p>
        </p:txBody>
      </p:sp>
      <p:sp>
        <p:nvSpPr>
          <p:cNvPr id="7" name="TextBox 6"/>
          <p:cNvSpPr txBox="1"/>
          <p:nvPr/>
        </p:nvSpPr>
        <p:spPr>
          <a:xfrm>
            <a:off x="612648" y="6309360"/>
            <a:ext cx="10698480" cy="228600"/>
          </a:xfrm>
          <a:prstGeom prst="rect">
            <a:avLst/>
          </a:prstGeom>
          <a:noFill/>
        </p:spPr>
        <p:txBody>
          <a:bodyPr wrap="none">
            <a:spAutoFit/>
          </a:bodyPr>
          <a:lstStyle/>
          <a:p>
            <a:pPr>
              <a:defRPr sz="1000">
                <a:solidFill>
                  <a:srgbClr val="A5B2C1"/>
                </a:solidFill>
              </a:defRPr>
            </a:pPr>
            <a:r>
              <a:t>CHAPTER 21     |     23</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bg>
      <p:bgPr>
        <a:solidFill>
          <a:srgbClr val="0B121C"/>
        </a:solidFill>
        <a:effectLst/>
      </p:bgPr>
    </p:bg>
    <p:spTree>
      <p:nvGrpSpPr>
        <p:cNvPr id="1" name=""/>
        <p:cNvGrpSpPr/>
        <p:nvPr/>
      </p:nvGrpSpPr>
      <p:grpSpPr/>
      <p:sp>
        <p:nvSpPr>
          <p:cNvPr id="2" name="Rectangle 1"/>
          <p:cNvSpPr/>
          <p:nvPr/>
        </p:nvSpPr>
        <p:spPr>
          <a:xfrm>
            <a:off x="0" y="0"/>
            <a:ext cx="12191695" cy="73152"/>
          </a:xfrm>
          <a:prstGeom prst="rect">
            <a:avLst/>
          </a:prstGeom>
          <a:solidFill>
            <a:srgbClr val="42B8D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20040"/>
            <a:ext cx="10972800" cy="274320"/>
          </a:xfrm>
          <a:prstGeom prst="rect">
            <a:avLst/>
          </a:prstGeom>
          <a:noFill/>
        </p:spPr>
        <p:txBody>
          <a:bodyPr wrap="none">
            <a:spAutoFit/>
          </a:bodyPr>
          <a:lstStyle/>
          <a:p>
            <a:pPr>
              <a:defRPr sz="1100" b="1">
                <a:solidFill>
                  <a:srgbClr val="A5B2C1"/>
                </a:solidFill>
              </a:defRPr>
            </a:pPr>
            <a:r>
              <a:t>SYSTEMS PROGRAMMING AND MACHINE ORGANIZATION     ·     CHARLES DORNER</a:t>
            </a:r>
          </a:p>
        </p:txBody>
      </p:sp>
      <p:sp>
        <p:nvSpPr>
          <p:cNvPr id="4" name="TextBox 3"/>
          <p:cNvSpPr txBox="1"/>
          <p:nvPr/>
        </p:nvSpPr>
        <p:spPr>
          <a:xfrm>
            <a:off x="594360" y="822960"/>
            <a:ext cx="10972800" cy="914400"/>
          </a:xfrm>
          <a:prstGeom prst="rect">
            <a:avLst/>
          </a:prstGeom>
          <a:noFill/>
        </p:spPr>
        <p:txBody>
          <a:bodyPr wrap="none">
            <a:spAutoFit/>
          </a:bodyPr>
          <a:lstStyle/>
          <a:p>
            <a:pPr>
              <a:defRPr sz="3000" b="1">
                <a:solidFill>
                  <a:srgbClr val="F2F5F8"/>
                </a:solidFill>
              </a:defRPr>
            </a:pPr>
            <a:r>
              <a:t>Guided lab and review</a:t>
            </a:r>
          </a:p>
        </p:txBody>
      </p:sp>
      <p:sp>
        <p:nvSpPr>
          <p:cNvPr id="5" name="TextBox 4"/>
          <p:cNvSpPr txBox="1"/>
          <p:nvPr/>
        </p:nvSpPr>
        <p:spPr>
          <a:xfrm>
            <a:off x="612648" y="1600200"/>
            <a:ext cx="10698480" cy="365760"/>
          </a:xfrm>
          <a:prstGeom prst="rect">
            <a:avLst/>
          </a:prstGeom>
          <a:noFill/>
        </p:spPr>
        <p:txBody>
          <a:bodyPr wrap="none">
            <a:spAutoFit/>
          </a:bodyPr>
          <a:lstStyle/>
          <a:p>
            <a:pPr>
              <a:defRPr sz="1300" b="1">
                <a:solidFill>
                  <a:srgbClr val="42B8D5"/>
                </a:solidFill>
              </a:defRPr>
            </a:pPr>
            <a:r>
              <a:t>SOURCE TOPIC</a:t>
            </a:r>
          </a:p>
        </p:txBody>
      </p:sp>
      <p:sp>
        <p:nvSpPr>
          <p:cNvPr id="6" name="Rounded Rectangle 5"/>
          <p:cNvSpPr/>
          <p:nvPr/>
        </p:nvSpPr>
        <p:spPr>
          <a:xfrm>
            <a:off x="594360" y="2148840"/>
            <a:ext cx="10972800" cy="3840480"/>
          </a:xfrm>
          <a:prstGeom prst="roundRect">
            <a:avLst/>
          </a:prstGeom>
          <a:solidFill>
            <a:srgbClr val="141E2B"/>
          </a:solidFill>
          <a:ln>
            <a:solidFill>
              <a:srgbClr val="2F3E4E"/>
            </a:solidFill>
          </a:ln>
        </p:spPr>
        <p:style>
          <a:lnRef idx="1">
            <a:schemeClr val="accent1"/>
          </a:lnRef>
          <a:fillRef idx="3">
            <a:schemeClr val="accent1"/>
          </a:fillRef>
          <a:effectRef idx="2">
            <a:schemeClr val="accent1"/>
          </a:effectRef>
          <a:fontRef idx="minor">
            <a:schemeClr val="lt1"/>
          </a:fontRef>
        </p:style>
        <p:txBody>
          <a:bodyPr rtlCol="0" anchor="ctr" lIns="320040" rIns="274320" tIns="228600"/>
          <a:lstStyle/>
          <a:p>
            <a:pPr algn="ctr">
              <a:spcAft>
                <a:spcPts val="1100"/>
              </a:spcAft>
              <a:defRPr sz="1900">
                <a:solidFill>
                  <a:srgbClr val="F2F5F8"/>
                </a:solidFill>
              </a:defRPr>
            </a:pPr>
            <a:r>
              <a:t>• Lab 21.</a:t>
            </a:r>
          </a:p>
          <a:p>
            <a:pPr>
              <a:spcAft>
                <a:spcPts val="1100"/>
              </a:spcAft>
              <a:defRPr sz="1900">
                <a:solidFill>
                  <a:srgbClr val="F2F5F8"/>
                </a:solidFill>
              </a:defRPr>
            </a:pPr>
            <a:r>
              <a:t>• Repeat the trace when B needs 8 milliseconds instead of 4 and A runs immediately when its I/O completes, preempting B.</a:t>
            </a:r>
          </a:p>
          <a:p>
            <a:pPr>
              <a:spcAft>
                <a:spcPts val="1100"/>
              </a:spcAft>
              <a:defRPr sz="1900">
                <a:solidFill>
                  <a:srgbClr val="F2F5F8"/>
                </a:solidFill>
              </a:defRPr>
            </a:pPr>
            <a:r>
              <a:t>• Calculate each completion time, CPU time, and total CPU utilization over the interval ending when both finish.</a:t>
            </a:r>
          </a:p>
          <a:p>
            <a:pPr>
              <a:spcAft>
                <a:spcPts val="1100"/>
              </a:spcAft>
              <a:defRPr sz="1900">
                <a:solidFill>
                  <a:srgbClr val="F2F5F8"/>
                </a:solidFill>
              </a:defRPr>
            </a:pPr>
            <a:r>
              <a:t>• Review 1.</a:t>
            </a:r>
          </a:p>
        </p:txBody>
      </p:sp>
      <p:sp>
        <p:nvSpPr>
          <p:cNvPr id="7" name="TextBox 6"/>
          <p:cNvSpPr txBox="1"/>
          <p:nvPr/>
        </p:nvSpPr>
        <p:spPr>
          <a:xfrm>
            <a:off x="612648" y="6309360"/>
            <a:ext cx="10698480" cy="228600"/>
          </a:xfrm>
          <a:prstGeom prst="rect">
            <a:avLst/>
          </a:prstGeom>
          <a:noFill/>
        </p:spPr>
        <p:txBody>
          <a:bodyPr wrap="none">
            <a:spAutoFit/>
          </a:bodyPr>
          <a:lstStyle/>
          <a:p>
            <a:pPr>
              <a:defRPr sz="1000">
                <a:solidFill>
                  <a:srgbClr val="A5B2C1"/>
                </a:solidFill>
              </a:defRPr>
            </a:pPr>
            <a:r>
              <a:t>CHAPTER 21     |     24</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bg>
      <p:bgPr>
        <a:solidFill>
          <a:srgbClr val="0B121C"/>
        </a:solidFill>
        <a:effectLst/>
      </p:bgPr>
    </p:bg>
    <p:spTree>
      <p:nvGrpSpPr>
        <p:cNvPr id="1" name=""/>
        <p:cNvGrpSpPr/>
        <p:nvPr/>
      </p:nvGrpSpPr>
      <p:grpSpPr/>
      <p:sp>
        <p:nvSpPr>
          <p:cNvPr id="2" name="Rectangle 1"/>
          <p:cNvSpPr/>
          <p:nvPr/>
        </p:nvSpPr>
        <p:spPr>
          <a:xfrm>
            <a:off x="0" y="0"/>
            <a:ext cx="12191695" cy="73152"/>
          </a:xfrm>
          <a:prstGeom prst="rect">
            <a:avLst/>
          </a:prstGeom>
          <a:solidFill>
            <a:srgbClr val="42B8D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20040"/>
            <a:ext cx="10972800" cy="274320"/>
          </a:xfrm>
          <a:prstGeom prst="rect">
            <a:avLst/>
          </a:prstGeom>
          <a:noFill/>
        </p:spPr>
        <p:txBody>
          <a:bodyPr wrap="none">
            <a:spAutoFit/>
          </a:bodyPr>
          <a:lstStyle/>
          <a:p>
            <a:pPr>
              <a:defRPr sz="1100" b="1">
                <a:solidFill>
                  <a:srgbClr val="A5B2C1"/>
                </a:solidFill>
              </a:defRPr>
            </a:pPr>
            <a:r>
              <a:t>SYSTEMS PROGRAMMING AND MACHINE ORGANIZATION     ·     CHARLES DORNER</a:t>
            </a:r>
          </a:p>
        </p:txBody>
      </p:sp>
      <p:sp>
        <p:nvSpPr>
          <p:cNvPr id="4" name="TextBox 3"/>
          <p:cNvSpPr txBox="1"/>
          <p:nvPr/>
        </p:nvSpPr>
        <p:spPr>
          <a:xfrm>
            <a:off x="594360" y="822960"/>
            <a:ext cx="10972800" cy="914400"/>
          </a:xfrm>
          <a:prstGeom prst="rect">
            <a:avLst/>
          </a:prstGeom>
          <a:noFill/>
        </p:spPr>
        <p:txBody>
          <a:bodyPr wrap="none">
            <a:spAutoFit/>
          </a:bodyPr>
          <a:lstStyle/>
          <a:p>
            <a:pPr>
              <a:defRPr sz="3000" b="1">
                <a:solidFill>
                  <a:srgbClr val="F2F5F8"/>
                </a:solidFill>
              </a:defRPr>
            </a:pPr>
            <a:r>
              <a:t>Guided lab and review — Deep Dive</a:t>
            </a:r>
          </a:p>
        </p:txBody>
      </p:sp>
      <p:sp>
        <p:nvSpPr>
          <p:cNvPr id="5" name="TextBox 4"/>
          <p:cNvSpPr txBox="1"/>
          <p:nvPr/>
        </p:nvSpPr>
        <p:spPr>
          <a:xfrm>
            <a:off x="612648" y="1600200"/>
            <a:ext cx="10698480" cy="365760"/>
          </a:xfrm>
          <a:prstGeom prst="rect">
            <a:avLst/>
          </a:prstGeom>
          <a:noFill/>
        </p:spPr>
        <p:txBody>
          <a:bodyPr wrap="none">
            <a:spAutoFit/>
          </a:bodyPr>
          <a:lstStyle/>
          <a:p>
            <a:pPr>
              <a:defRPr sz="1300" b="1">
                <a:solidFill>
                  <a:srgbClr val="42B8D5"/>
                </a:solidFill>
              </a:defRPr>
            </a:pPr>
            <a:r>
              <a:t>LAB, REVIEW &amp; ACCEPTANCE</a:t>
            </a:r>
          </a:p>
        </p:txBody>
      </p:sp>
      <p:sp>
        <p:nvSpPr>
          <p:cNvPr id="6" name="Rounded Rectangle 5"/>
          <p:cNvSpPr/>
          <p:nvPr/>
        </p:nvSpPr>
        <p:spPr>
          <a:xfrm>
            <a:off x="594360" y="2148840"/>
            <a:ext cx="10972800" cy="3840480"/>
          </a:xfrm>
          <a:prstGeom prst="roundRect">
            <a:avLst/>
          </a:prstGeom>
          <a:solidFill>
            <a:srgbClr val="141E2B"/>
          </a:solidFill>
          <a:ln>
            <a:solidFill>
              <a:srgbClr val="2F3E4E"/>
            </a:solidFill>
          </a:ln>
        </p:spPr>
        <p:style>
          <a:lnRef idx="1">
            <a:schemeClr val="accent1"/>
          </a:lnRef>
          <a:fillRef idx="3">
            <a:schemeClr val="accent1"/>
          </a:fillRef>
          <a:effectRef idx="2">
            <a:schemeClr val="accent1"/>
          </a:effectRef>
          <a:fontRef idx="minor">
            <a:schemeClr val="lt1"/>
          </a:fontRef>
        </p:style>
        <p:txBody>
          <a:bodyPr rtlCol="0" anchor="ctr" lIns="320040" rIns="274320" tIns="228600"/>
          <a:lstStyle/>
          <a:p>
            <a:pPr algn="ctr">
              <a:spcAft>
                <a:spcPts val="1100"/>
              </a:spcAft>
              <a:defRPr sz="1900">
                <a:solidFill>
                  <a:srgbClr val="F2F5F8"/>
                </a:solidFill>
              </a:defRPr>
            </a:pPr>
            <a:r>
              <a:t>• Review 1.</a:t>
            </a:r>
          </a:p>
          <a:p>
            <a:pPr>
              <a:spcAft>
                <a:spcPts val="1100"/>
              </a:spcAft>
              <a:defRPr sz="1900">
                <a:solidFill>
                  <a:srgbClr val="F2F5F8"/>
                </a:solidFill>
              </a:defRPr>
            </a:pPr>
            <a:r>
              <a:t>• Can two processes contain the same virtual address but different data?</a:t>
            </a:r>
          </a:p>
          <a:p>
            <a:pPr>
              <a:spcAft>
                <a:spcPts val="1100"/>
              </a:spcAft>
              <a:defRPr sz="1900">
                <a:solidFill>
                  <a:srgbClr val="F2F5F8"/>
                </a:solidFill>
              </a:defRPr>
            </a:pPr>
            <a:r>
              <a:t>• Review 2.</a:t>
            </a:r>
          </a:p>
          <a:p>
            <a:pPr>
              <a:spcAft>
                <a:spcPts val="1100"/>
              </a:spcAft>
              <a:defRPr sz="1900">
                <a:solidFill>
                  <a:srgbClr val="F2F5F8"/>
                </a:solidFill>
              </a:defRPr>
            </a:pPr>
            <a:r>
              <a:t>• Why is a waiting process not necessarily helped by a faster CPU?</a:t>
            </a:r>
          </a:p>
        </p:txBody>
      </p:sp>
      <p:sp>
        <p:nvSpPr>
          <p:cNvPr id="7" name="TextBox 6"/>
          <p:cNvSpPr txBox="1"/>
          <p:nvPr/>
        </p:nvSpPr>
        <p:spPr>
          <a:xfrm>
            <a:off x="612648" y="6309360"/>
            <a:ext cx="10698480" cy="228600"/>
          </a:xfrm>
          <a:prstGeom prst="rect">
            <a:avLst/>
          </a:prstGeom>
          <a:noFill/>
        </p:spPr>
        <p:txBody>
          <a:bodyPr wrap="none">
            <a:spAutoFit/>
          </a:bodyPr>
          <a:lstStyle/>
          <a:p>
            <a:pPr>
              <a:defRPr sz="1000">
                <a:solidFill>
                  <a:srgbClr val="A5B2C1"/>
                </a:solidFill>
              </a:defRPr>
            </a:pPr>
            <a:r>
              <a:t>CHAPTER 21     |     25</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bg>
      <p:bgPr>
        <a:solidFill>
          <a:srgbClr val="0B121C"/>
        </a:solidFill>
        <a:effectLst/>
      </p:bgPr>
    </p:bg>
    <p:spTree>
      <p:nvGrpSpPr>
        <p:cNvPr id="1" name=""/>
        <p:cNvGrpSpPr/>
        <p:nvPr/>
      </p:nvGrpSpPr>
      <p:grpSpPr/>
      <p:sp>
        <p:nvSpPr>
          <p:cNvPr id="2" name="Rectangle 1"/>
          <p:cNvSpPr/>
          <p:nvPr/>
        </p:nvSpPr>
        <p:spPr>
          <a:xfrm>
            <a:off x="0" y="0"/>
            <a:ext cx="12191695" cy="73152"/>
          </a:xfrm>
          <a:prstGeom prst="rect">
            <a:avLst/>
          </a:prstGeom>
          <a:solidFill>
            <a:srgbClr val="42B8D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20040"/>
            <a:ext cx="10972800" cy="274320"/>
          </a:xfrm>
          <a:prstGeom prst="rect">
            <a:avLst/>
          </a:prstGeom>
          <a:noFill/>
        </p:spPr>
        <p:txBody>
          <a:bodyPr wrap="none">
            <a:spAutoFit/>
          </a:bodyPr>
          <a:lstStyle/>
          <a:p>
            <a:pPr>
              <a:defRPr sz="1100" b="1">
                <a:solidFill>
                  <a:srgbClr val="A5B2C1"/>
                </a:solidFill>
              </a:defRPr>
            </a:pPr>
            <a:r>
              <a:t>SYSTEMS PROGRAMMING AND MACHINE ORGANIZATION     ·     CHARLES DORNER</a:t>
            </a:r>
          </a:p>
        </p:txBody>
      </p:sp>
      <p:sp>
        <p:nvSpPr>
          <p:cNvPr id="4" name="TextBox 3"/>
          <p:cNvSpPr txBox="1"/>
          <p:nvPr/>
        </p:nvSpPr>
        <p:spPr>
          <a:xfrm>
            <a:off x="594360" y="822960"/>
            <a:ext cx="10972800" cy="914400"/>
          </a:xfrm>
          <a:prstGeom prst="rect">
            <a:avLst/>
          </a:prstGeom>
          <a:noFill/>
        </p:spPr>
        <p:txBody>
          <a:bodyPr wrap="none">
            <a:spAutoFit/>
          </a:bodyPr>
          <a:lstStyle/>
          <a:p>
            <a:pPr>
              <a:defRPr sz="3000" b="1">
                <a:solidFill>
                  <a:srgbClr val="F2F5F8"/>
                </a:solidFill>
              </a:defRPr>
            </a:pPr>
            <a:r>
              <a:t>Chapter Synthesis</a:t>
            </a:r>
          </a:p>
        </p:txBody>
      </p:sp>
      <p:sp>
        <p:nvSpPr>
          <p:cNvPr id="5" name="TextBox 4"/>
          <p:cNvSpPr txBox="1"/>
          <p:nvPr/>
        </p:nvSpPr>
        <p:spPr>
          <a:xfrm>
            <a:off x="612648" y="1600200"/>
            <a:ext cx="10698480" cy="365760"/>
          </a:xfrm>
          <a:prstGeom prst="rect">
            <a:avLst/>
          </a:prstGeom>
          <a:noFill/>
        </p:spPr>
        <p:txBody>
          <a:bodyPr wrap="none">
            <a:spAutoFit/>
          </a:bodyPr>
          <a:lstStyle/>
          <a:p>
            <a:pPr>
              <a:defRPr sz="1300" b="1">
                <a:solidFill>
                  <a:srgbClr val="42B8D5"/>
                </a:solidFill>
              </a:defRPr>
            </a:pPr>
            <a:r>
              <a:t>KEY TAKEAWAYS</a:t>
            </a:r>
          </a:p>
        </p:txBody>
      </p:sp>
      <p:sp>
        <p:nvSpPr>
          <p:cNvPr id="6" name="Rounded Rectangle 5"/>
          <p:cNvSpPr/>
          <p:nvPr/>
        </p:nvSpPr>
        <p:spPr>
          <a:xfrm>
            <a:off x="594360" y="2148840"/>
            <a:ext cx="10972800" cy="3840480"/>
          </a:xfrm>
          <a:prstGeom prst="roundRect">
            <a:avLst/>
          </a:prstGeom>
          <a:solidFill>
            <a:srgbClr val="141E2B"/>
          </a:solidFill>
          <a:ln>
            <a:solidFill>
              <a:srgbClr val="2F3E4E"/>
            </a:solidFill>
          </a:ln>
        </p:spPr>
        <p:style>
          <a:lnRef idx="1">
            <a:schemeClr val="accent1"/>
          </a:lnRef>
          <a:fillRef idx="3">
            <a:schemeClr val="accent1"/>
          </a:fillRef>
          <a:effectRef idx="2">
            <a:schemeClr val="accent1"/>
          </a:effectRef>
          <a:fontRef idx="minor">
            <a:schemeClr val="lt1"/>
          </a:fontRef>
        </p:style>
        <p:txBody>
          <a:bodyPr rtlCol="0" anchor="ctr" lIns="320040" rIns="274320" tIns="228600"/>
          <a:lstStyle/>
          <a:p>
            <a:pPr algn="ctr">
              <a:spcAft>
                <a:spcPts val="1100"/>
              </a:spcAft>
              <a:defRPr sz="1900">
                <a:solidFill>
                  <a:srgbClr val="F2F5F8"/>
                </a:solidFill>
              </a:defRPr>
            </a:pPr>
            <a:r>
              <a:t>• The chapter's central subject is processes.</a:t>
            </a:r>
          </a:p>
          <a:p>
            <a:pPr>
              <a:spcAft>
                <a:spcPts val="1100"/>
              </a:spcAft>
              <a:defRPr sz="1900">
                <a:solidFill>
                  <a:srgbClr val="F2F5F8"/>
                </a:solidFill>
              </a:defRPr>
            </a:pPr>
            <a:r>
              <a:t>• Correct reasoning requires explicit assumptions, bounds, ownership, and interface contracts.</a:t>
            </a:r>
          </a:p>
          <a:p>
            <a:pPr>
              <a:spcAft>
                <a:spcPts val="1100"/>
              </a:spcAft>
              <a:defRPr sz="1900">
                <a:solidFill>
                  <a:srgbClr val="F2F5F8"/>
                </a:solidFill>
              </a:defRPr>
            </a:pPr>
            <a:r>
              <a:t>• Observed behavior is evidence about a run; it is not automatically a language or system guarantee.</a:t>
            </a:r>
          </a:p>
          <a:p>
            <a:pPr>
              <a:spcAft>
                <a:spcPts val="1100"/>
              </a:spcAft>
              <a:defRPr sz="1900">
                <a:solidFill>
                  <a:srgbClr val="F2F5F8"/>
                </a:solidFill>
              </a:defRPr>
            </a:pPr>
            <a:r>
              <a:t>• Use the worked examples and lab to test whether the model transfers to new cases.</a:t>
            </a:r>
          </a:p>
        </p:txBody>
      </p:sp>
      <p:sp>
        <p:nvSpPr>
          <p:cNvPr id="7" name="TextBox 6"/>
          <p:cNvSpPr txBox="1"/>
          <p:nvPr/>
        </p:nvSpPr>
        <p:spPr>
          <a:xfrm>
            <a:off x="612648" y="6309360"/>
            <a:ext cx="10698480" cy="228600"/>
          </a:xfrm>
          <a:prstGeom prst="rect">
            <a:avLst/>
          </a:prstGeom>
          <a:noFill/>
        </p:spPr>
        <p:txBody>
          <a:bodyPr wrap="none">
            <a:spAutoFit/>
          </a:bodyPr>
          <a:lstStyle/>
          <a:p>
            <a:pPr>
              <a:defRPr sz="1000">
                <a:solidFill>
                  <a:srgbClr val="A5B2C1"/>
                </a:solidFill>
              </a:defRPr>
            </a:pPr>
            <a:r>
              <a:t>CHAPTER 21     |     26</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bg>
      <p:bgPr>
        <a:solidFill>
          <a:srgbClr val="0B121C"/>
        </a:solidFill>
        <a:effectLst/>
      </p:bgPr>
    </p:bg>
    <p:spTree>
      <p:nvGrpSpPr>
        <p:cNvPr id="1" name=""/>
        <p:cNvGrpSpPr/>
        <p:nvPr/>
      </p:nvGrpSpPr>
      <p:grpSpPr/>
      <p:sp>
        <p:nvSpPr>
          <p:cNvPr id="2" name="Rectangle 1"/>
          <p:cNvSpPr/>
          <p:nvPr/>
        </p:nvSpPr>
        <p:spPr>
          <a:xfrm>
            <a:off x="0" y="0"/>
            <a:ext cx="12191695" cy="73152"/>
          </a:xfrm>
          <a:prstGeom prst="rect">
            <a:avLst/>
          </a:prstGeom>
          <a:solidFill>
            <a:srgbClr val="42B8D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20040"/>
            <a:ext cx="10972800" cy="274320"/>
          </a:xfrm>
          <a:prstGeom prst="rect">
            <a:avLst/>
          </a:prstGeom>
          <a:noFill/>
        </p:spPr>
        <p:txBody>
          <a:bodyPr wrap="none">
            <a:spAutoFit/>
          </a:bodyPr>
          <a:lstStyle/>
          <a:p>
            <a:pPr>
              <a:defRPr sz="1100" b="1">
                <a:solidFill>
                  <a:srgbClr val="A5B2C1"/>
                </a:solidFill>
              </a:defRPr>
            </a:pPr>
            <a:r>
              <a:t>SYSTEMS PROGRAMMING AND MACHINE ORGANIZATION     ·     CHARLES DORNER</a:t>
            </a:r>
          </a:p>
        </p:txBody>
      </p:sp>
      <p:sp>
        <p:nvSpPr>
          <p:cNvPr id="4" name="TextBox 3"/>
          <p:cNvSpPr txBox="1"/>
          <p:nvPr/>
        </p:nvSpPr>
        <p:spPr>
          <a:xfrm>
            <a:off x="594360" y="822960"/>
            <a:ext cx="10972800" cy="914400"/>
          </a:xfrm>
          <a:prstGeom prst="rect">
            <a:avLst/>
          </a:prstGeom>
          <a:noFill/>
        </p:spPr>
        <p:txBody>
          <a:bodyPr wrap="none">
            <a:spAutoFit/>
          </a:bodyPr>
          <a:lstStyle/>
          <a:p>
            <a:pPr>
              <a:defRPr sz="3000" b="1">
                <a:solidFill>
                  <a:srgbClr val="F2F5F8"/>
                </a:solidFill>
              </a:defRPr>
            </a:pPr>
            <a:r>
              <a:t>Review and Transition</a:t>
            </a:r>
          </a:p>
        </p:txBody>
      </p:sp>
      <p:sp>
        <p:nvSpPr>
          <p:cNvPr id="5" name="TextBox 4"/>
          <p:cNvSpPr txBox="1"/>
          <p:nvPr/>
        </p:nvSpPr>
        <p:spPr>
          <a:xfrm>
            <a:off x="612648" y="1600200"/>
            <a:ext cx="10698480" cy="365760"/>
          </a:xfrm>
          <a:prstGeom prst="rect">
            <a:avLst/>
          </a:prstGeom>
          <a:noFill/>
        </p:spPr>
        <p:txBody>
          <a:bodyPr wrap="none">
            <a:spAutoFit/>
          </a:bodyPr>
          <a:lstStyle/>
          <a:p>
            <a:pPr>
              <a:defRPr sz="1300" b="1">
                <a:solidFill>
                  <a:srgbClr val="42B8D5"/>
                </a:solidFill>
              </a:defRPr>
            </a:pPr>
            <a:r>
              <a:t>CHECK YOUR MODEL</a:t>
            </a:r>
          </a:p>
        </p:txBody>
      </p:sp>
      <p:sp>
        <p:nvSpPr>
          <p:cNvPr id="6" name="Rounded Rectangle 5"/>
          <p:cNvSpPr/>
          <p:nvPr/>
        </p:nvSpPr>
        <p:spPr>
          <a:xfrm>
            <a:off x="594360" y="2148840"/>
            <a:ext cx="10972800" cy="3840480"/>
          </a:xfrm>
          <a:prstGeom prst="roundRect">
            <a:avLst/>
          </a:prstGeom>
          <a:solidFill>
            <a:srgbClr val="141E2B"/>
          </a:solidFill>
          <a:ln>
            <a:solidFill>
              <a:srgbClr val="2F3E4E"/>
            </a:solidFill>
          </a:ln>
        </p:spPr>
        <p:style>
          <a:lnRef idx="1">
            <a:schemeClr val="accent1"/>
          </a:lnRef>
          <a:fillRef idx="3">
            <a:schemeClr val="accent1"/>
          </a:fillRef>
          <a:effectRef idx="2">
            <a:schemeClr val="accent1"/>
          </a:effectRef>
          <a:fontRef idx="minor">
            <a:schemeClr val="lt1"/>
          </a:fontRef>
        </p:style>
        <p:txBody>
          <a:bodyPr rtlCol="0" anchor="ctr" lIns="320040" rIns="274320" tIns="228600"/>
          <a:lstStyle/>
          <a:p>
            <a:pPr algn="ctr">
              <a:spcAft>
                <a:spcPts val="1100"/>
              </a:spcAft>
              <a:defRPr sz="1900">
                <a:solidFill>
                  <a:srgbClr val="F2F5F8"/>
                </a:solidFill>
              </a:defRPr>
            </a:pPr>
            <a:r>
              <a:t>• Explain one mechanism from the chapter without relying on vocabulary alone.</a:t>
            </a:r>
          </a:p>
          <a:p>
            <a:pPr>
              <a:spcAft>
                <a:spcPts val="1100"/>
              </a:spcAft>
              <a:defRPr sz="1900">
                <a:solidFill>
                  <a:srgbClr val="F2F5F8"/>
                </a:solidFill>
              </a:defRPr>
            </a:pPr>
            <a:r>
              <a:t>• Identify one failure mode and the violated contract or invariant.</a:t>
            </a:r>
          </a:p>
          <a:p>
            <a:pPr>
              <a:spcAft>
                <a:spcPts val="1100"/>
              </a:spcAft>
              <a:defRPr sz="1900">
                <a:solidFill>
                  <a:srgbClr val="F2F5F8"/>
                </a:solidFill>
              </a:defRPr>
            </a:pPr>
            <a:r>
              <a:t>• State what evidence would support your diagnosis and what it would not prove.</a:t>
            </a:r>
          </a:p>
          <a:p>
            <a:pPr>
              <a:spcAft>
                <a:spcPts val="1100"/>
              </a:spcAft>
              <a:defRPr sz="1900">
                <a:solidFill>
                  <a:srgbClr val="F2F5F8"/>
                </a:solidFill>
              </a:defRPr>
            </a:pPr>
            <a:r>
              <a:t>• Next: Virtual Address Spaces.</a:t>
            </a:r>
          </a:p>
        </p:txBody>
      </p:sp>
      <p:sp>
        <p:nvSpPr>
          <p:cNvPr id="7" name="TextBox 6"/>
          <p:cNvSpPr txBox="1"/>
          <p:nvPr/>
        </p:nvSpPr>
        <p:spPr>
          <a:xfrm>
            <a:off x="612648" y="6309360"/>
            <a:ext cx="10698480" cy="228600"/>
          </a:xfrm>
          <a:prstGeom prst="rect">
            <a:avLst/>
          </a:prstGeom>
          <a:noFill/>
        </p:spPr>
        <p:txBody>
          <a:bodyPr wrap="none">
            <a:spAutoFit/>
          </a:bodyPr>
          <a:lstStyle/>
          <a:p>
            <a:pPr>
              <a:defRPr sz="1000">
                <a:solidFill>
                  <a:srgbClr val="A5B2C1"/>
                </a:solidFill>
              </a:defRPr>
            </a:pPr>
            <a:r>
              <a:t>CHAPTER 21     |     27</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