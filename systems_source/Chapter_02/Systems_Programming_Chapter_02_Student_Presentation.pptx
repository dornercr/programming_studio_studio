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 — C and C++ for Systems Programming. The focus here is representation · types · pointers · lifetime. C and C++ expose representation and lifetime directly. Name ≠ storage  and  pointer ≠ ownership  and  scope ≠ lifetime. Language vocabulary for the systems work that follows.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Chapter 2 Builds. The focus here is systems contracts in the language. Choose types that represent every required state. Reason about arrays, structures, unions, enums, functions, pointers, and references. Separate naming, storage, ownership, borrowing, and object lifetime.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Core Distinctions. The focus here is mental model. A variable name is not its storage. A pointer is not ownership. An array parameter is not a copied array. A scope boundary is not every object’s lifetime boundary.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2.1 Fundamental Types. The focus here is section map. Integer  and  character  and  floating-point  and  Boolean. Type size and signedness affect representation and expression semantics. Choose a type for the problem’s value domain—not convenience alone.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2.1.1 Integer Types. The focus here is finite whole-number domains. short, int, long, long long and unsigned counterparts. Standards constrain ranges and relative sizes; widths are not universally fixed. Use size_t for object sizes; use signed types when negative states are meaningful.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ssize_t vs. size_t. The focus here is interface states must fit. A POSIX-style read can return a byte count or a negative error. ssize_t can represent both. Converting -1 to size_t too early creates a very large unsigned value. Validate first; convert successful counts second.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2.1.2 Character Types. The focus here is language byte ≠ human character. A C/C++ byte contains CHAR_BIT bits. char, signed char, and unsigned char are distinct types. Plain char signedness is implementation-defined. UTF-8 can use multiple bytes for one code point.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Text vs. Binary Buffers. The focus here is encoding is a contract. Null-terminated strings use a zero byte as an end marker. Binary data may contain zero bytes internally. Do not apply string-length operations unless the format promises string semantics.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2.1.3 Floating-Point Types. The focus here is finite approximations. float, double, and long double differ in precision and range. long double is not one universal format. Many decimal-looking values lack exact binary representations. Large integers can lose low-order bits when converted.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2.1.4 Boolean Types. The focus here is predicates, not multi-state status. C17: _Bool and &lt;stdbool.h&gt;; C++: built-in bool. Scalar conversion tests zero/null versus nonzero. Use bool for predicates such as ready or empty. Do not collapse success, EOF, and failure if all must remain distinguishable.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2.1.5 Type Sizes. The focus here is sizeof describes representation. sizeof(T) reports size in language bytes, including padding where applicable. sizeof an array gives the complete array size only while the array type remains. Inside typical array parameters, sizeof measures the adjusted pointer. C++ also provides alignof(T).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Array Extent Can Disappear. The focus here is retain bounds explicitly. An array retains extent before conversion. Function parameter adjustment commonly loses that extent. A robust interface passes an explicit extent or uses a range type that retains it.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2.1.6 Signedness. The focus here is conversions affect meaning. Unsigned arithmetic wraps modulo a power of two. Mixed signed/unsigned expressions may convert before comparison. A negative signed value can become a huge unsigned value. Check negativity before conversion.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2.2 Compound Types. The focus here is section map. Arrays: contiguous homogeneous storage. Structures: named heterogeneous state. Unions: overlapping alternatives. Enumerations: named integral states.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2.2.1 Arrays. The focus here is contiguous storage. If base address is A and element size is s, element i begins at A + i and s. Built-in subscripting does not automatically enforce bounds. An array often converts to a pointer, but it is not itself a pointer object. std::array and std::vector preserve stronger sequence abstractions.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2.2.2 Structures. The focus here is group related state. Members have their own types and lifetime rules. Relationships among members form invariants. Padding can make object size exceed the sum of member sizes. Raw structure bytes are not a portable serialization format.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Structures Are Not Wire Formats. The focus here is layout ≠ serialization. Pointers, padding, byte order, and version changes matter. Language assignment and external serialization solve different problems. Specify external formats explicitly.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2.2.3 Unions. The focus here is overlapping storage. Union members share storage. The program must know which alternative is valid. C++ active-member and lifetime rules matter. std::variant provides a tagged alternative; bit_cast/byte copying serve specific representation tasks.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2.2.4 Enumerations. The focus here is named states. enum class scopes names and avoids implicit integer conversion in C++. Untrusted numeric input still requires validation. A valid state value can still participate in an invalid state transition.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2.3 Functions. The focus here is section map. Declarations define callable interfaces; definitions provide bodies. Parameters govern access; returns transfer results. Scope organizes names; recursion creates nested active calls.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2.3.1 Function Declarations. The focus here is shared call contract. Declaration: name, result type, parameter types. Headers keep callers and implementations aligned. C17 int f(void) explicitly means no arguments. C++ treats an empty parameter list as no parameters.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2.3.2 Function Definitions. The focus here is separate compilation still requires agreement. Mismatched declarations can corrupt call-boundary interpretation. Compile the implementation with its public declaration visible. extern "C" requests C language linkage; it does not make arbitrary C++ layouts C-compatible.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2.3.3 Parameters. The focus here is value ≠ ownership. Passing an integer by value creates a parameter object. Passing a pointer by value copies the pointer, not the allocation. The callee can mutate reachable storage if allowed. Changing the local pointer does not change the caller’s pointer variable.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 References as Parameters. The focus here is borrowed access. References provide access without explicit dereference syntax. const reference commonly communicates observation. Raw pointers and references do not inherently communicate ownership. Document borrowed, consumed, retained, and nullable arguments.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2.3.4 Return Values. The focus here is return results, not dangling access. Return-by-value need not imply an expensive copy. Never return a pointer/reference to an automatic local object that is about to die. Fallible operations need result representations that keep errors distinct from valid data.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2.3.5 Scope. The focus here is where a name can be used. Scope is lexical visibility, not a hardware placement promise. Dynamic objects can outlive the scope of the pointer that first named them. Static local objects can outlive calls while their names remain local.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2.3.6 Recursion. The focus here is termination + resource bounds. Each active invocation needs logical state. A base case stops recursion; a progress measure explains termination. Deep input can exhaust stack resources. Do not depend on tail-call optimization for portable correctness.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2.4 Pointers and References. The focus here is section map. Addresses  and  dereferencing  and  pointer types  and  references. Null pointers  and  pointer arithmetic  and  function pointers. Validity depends on object, bounds, lifetime, alignment, type, and permissions.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2.4.1 Addresses. The focus here is virtual location ≠ valid object. User-process addresses are normally virtual. The same numeric virtual address can mean different storage in different processes. Converting an arbitrary integer to a pointer does not create an object or access permission.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2.4.2 Dereferencing. The focus here is non-null is not enough. The pointer must designate an appropriate live object. Access must be in bounds and suitably aligned. The type must permit the access. Null checks do not catch use-after-free, one-past access, corruption, or lifetime races.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2.4.3 Pointer Types. The focus here is type controls interpretation. int* + 1 advances by one int; unsigned char* + 1 advances by one byte. const int* restricts modification through the pointer. int* const restricts pointer reassignment. void* carries an object address but cannot be directly dereferenced.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Casts Do Not Create Validity. The focus here is syntax ≠ semantics. A cast can satisfy syntax without proving an appropriate object exists. Low-level casts need representation, bounds, and lifetime justification. Ask what object actually exists at the destination.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2.4.4 References. The focus here is aliases can dangle. A C++ reference is bound to an object or function. Ordinary assignment through a reference changes the referred-to object. A reference to a destroyed vector element is invalid even though references have no null state.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2.4.5 Null Pointers. The focus here is absence as a semantic state. C++ nullptr is a dedicated null pointer value; C commonly uses NULL. The abstract language does not require all-zero bytes to represent a null pointer. Semantic pointer initialization and raw byte filling are different operations.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2.4.6 Pointer Arithmetic. The focus here is stay within the array domain. Defined arithmetic remains within an array and its one-past position. One-past is a valid end marker but cannot be dereferenced. Validate indices or remaining lengths before forming derived pointers.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2.4.7 Function Pointers. The focus here is callback type + context lifetime. Function pointers support callbacks and dispatch tables. Calling through the wrong function-pointer type is not a portable adapter. A context pointer often supplies state. Its lifetime must cover every possible callback invocation.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2.5 Object Lifetime. The focus here is section map. Static: storage lasts for program duration. Automatic: usually tied to block execution. Dynamic: release controlled by an owner or explicit mechanism. Scope and lifetime answer different questions.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2.5.1 Static Lifetime. The focus here is long storage duration. File/namespace-scope objects commonly have static storage duration. Function-local static objects persist too. Storage duration does not imply global visibility. Cross-translation-unit initialization order can create fragile dependencies.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2.5.2 Automatic Lifetime. The focus here is deterministic destruction. Automatic objects usually begin/end with their enclosing block’s execution. C++ destructors run on normal scope exit and exception unwinding. This enables RAII. Automatic does not mean the compiler must allocate a physical stack slot.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2.5.3 Dynamic Lifetime. The focus here is allocation creates an obligation. C allocation manages raw storage; C++ new also initializes objects. Losing the final owner leaks. Releasing while borrowers remain creates dangling access. Ownership design matters more than allocation syntax.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2.5.4 Scope vs. Lifetime. The focus here is draw two timelines. A pointer name can remain in scope after its target is destroyed. An object can remain alive after the original pointer name leaves scope. Mark construction, borrows, transfers, and destruction separately.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Worked Example — Borrowed View. The focus here is std::vector owns · std::span borrows. A vector owns [3, 5, 7]. add_small(std::span&lt;int&gt;) borrows a bounded view and adds 2. Result: [5, 7, 9] without copying the sequence. The function must not retain the span.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Borrowed-View Invariant. The focus here is owner must remain alive and stable. Vector element storage must remain live throughout the borrow. Reallocation can invalidate views. span retains a size but does not keep the owner alive. A better interface contract is not automatic immunity to misuse.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Worked Example — Signedness. The focus here is preserve the interface domain. Keep a read result in ssize_t. Test whether it is negative. Only then convert a successful count to size_t. The chosen type must represent every possible interface state.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Worked Example — Lifetime vs. Scope. The focus here is braces are not the whole story. Dynamic storage may outlive the block that first referenced it. Automatic local objects usually die when their block ends. A pointer can remain visible after its target has been deleted. Reason about naming and existence independently.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Guided Lab. The focus here is read-only borrow. Replace the mutating function with a sum function taking std::span&lt;const int&gt;. Return a sufficiently wide integer for a documented input bound. Test an empty sequence and [3, 5, 7]. Acceptance: empty sum = 0 and no element changes.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Chapter 2 Review. The focus here is check the model. Why does copying a span not copy its elements? Why is returning a local vector by value different from returning a pointer to its first element? For each answer, identify ownership and lifetime.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Chapter 2 Takeaways. The focus here is c and c++ for systems programming. Types define value domains and participate in expression semantics. Pointers and references provide access—not automatic ownership or validity. Scope, storage duration, and object lifetime are distinct. Robust systems interfaces make bounds, ownership, status, and lifetime explicit. Next: bits, bytes, and binary data. The systems-programming point is to treat these statements as contracts rather than as syntax trivia. When you inspect real code, ask what values are representable, what object is actually alive, who owns it, what bounds apply, and which conversions occur before an operation is evaluated. Those questions let us distinguish code that merely compiles from code whose behavior is justified by the language and the interface.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600" b="1">
                <a:solidFill>
                  <a:srgbClr val="F2F5F8"/>
                </a:solidFill>
              </a:defRPr>
            </a:pPr>
            <a:r>
              <a:t>Chapter 2 — C and C++ for Systems Programming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REPRESENTATION · TYPES · POINTERS · LIFETIME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C and C++ expose representation and lifetime directly.</a:t>
            </a:r>
          </a:p>
          <a:p>
            <a:pPr>
              <a:spcAft>
                <a:spcPts val="1200"/>
              </a:spcAft>
              <a:defRPr sz="2000">
                <a:solidFill>
                  <a:srgbClr val="F2F5F8"/>
                </a:solidFill>
              </a:defRPr>
            </a:pPr>
            <a:r>
              <a:t>• Name ≠ storage · pointer ≠ ownership · scope ≠ lifetime.</a:t>
            </a:r>
          </a:p>
          <a:p>
            <a:pPr>
              <a:spcAft>
                <a:spcPts val="1200"/>
              </a:spcAft>
              <a:defRPr sz="2000">
                <a:solidFill>
                  <a:srgbClr val="F2F5F8"/>
                </a:solidFill>
              </a:defRPr>
            </a:pPr>
            <a:r>
              <a:t>• Language vocabulary for the systems work that follows.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 / 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Chapter 2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SYSTEMS CONTRACTS IN THE LANGUAGE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Choose types that represent every required state.</a:t>
            </a:r>
          </a:p>
          <a:p>
            <a:pPr>
              <a:spcAft>
                <a:spcPts val="1200"/>
              </a:spcAft>
              <a:defRPr sz="2000">
                <a:solidFill>
                  <a:srgbClr val="F2F5F8"/>
                </a:solidFill>
              </a:defRPr>
            </a:pPr>
            <a:r>
              <a:t>• Reason about arrays, structures, unions, enums, functions, pointers, and references.</a:t>
            </a:r>
          </a:p>
          <a:p>
            <a:pPr>
              <a:spcAft>
                <a:spcPts val="1200"/>
              </a:spcAft>
              <a:defRPr sz="2000">
                <a:solidFill>
                  <a:srgbClr val="F2F5F8"/>
                </a:solidFill>
              </a:defRPr>
            </a:pPr>
            <a:r>
              <a:t>• Separate naming, storage, ownership, borrowing, and object lifetime.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 /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Core Distinctions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MENTAL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 variable name is not its storage.</a:t>
            </a:r>
          </a:p>
          <a:p>
            <a:pPr>
              <a:spcAft>
                <a:spcPts val="1200"/>
              </a:spcAft>
              <a:defRPr sz="2000">
                <a:solidFill>
                  <a:srgbClr val="F2F5F8"/>
                </a:solidFill>
              </a:defRPr>
            </a:pPr>
            <a:r>
              <a:t>• A pointer is not ownership.</a:t>
            </a:r>
          </a:p>
          <a:p>
            <a:pPr>
              <a:spcAft>
                <a:spcPts val="1200"/>
              </a:spcAft>
              <a:defRPr sz="2000">
                <a:solidFill>
                  <a:srgbClr val="F2F5F8"/>
                </a:solidFill>
              </a:defRPr>
            </a:pPr>
            <a:r>
              <a:t>• An array parameter is not a copied array.</a:t>
            </a:r>
          </a:p>
          <a:p>
            <a:pPr>
              <a:spcAft>
                <a:spcPts val="1200"/>
              </a:spcAft>
              <a:defRPr sz="2000">
                <a:solidFill>
                  <a:srgbClr val="F2F5F8"/>
                </a:solidFill>
              </a:defRPr>
            </a:pPr>
            <a:r>
              <a:t>• A scope boundary is not every object’s lifetime boundary.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 /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 Fundamental Types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SECTION MAP</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Integer · character · floating-point · Boolean.</a:t>
            </a:r>
          </a:p>
          <a:p>
            <a:pPr>
              <a:spcAft>
                <a:spcPts val="1200"/>
              </a:spcAft>
              <a:defRPr sz="2000">
                <a:solidFill>
                  <a:srgbClr val="F2F5F8"/>
                </a:solidFill>
              </a:defRPr>
            </a:pPr>
            <a:r>
              <a:t>• Type size and signedness affect representation and expression semantics.</a:t>
            </a:r>
          </a:p>
          <a:p>
            <a:pPr>
              <a:spcAft>
                <a:spcPts val="1200"/>
              </a:spcAft>
              <a:defRPr sz="2000">
                <a:solidFill>
                  <a:srgbClr val="F2F5F8"/>
                </a:solidFill>
              </a:defRPr>
            </a:pPr>
            <a:r>
              <a:t>• Choose a type for the problem’s value domain—not convenience alone.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 /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2.1.1 Integer Types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FINITE WHOLE-NUMBER DOMAINS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short, int, long, long long and unsigned counterparts.</a:t>
            </a:r>
          </a:p>
          <a:p>
            <a:pPr>
              <a:spcAft>
                <a:spcPts val="1200"/>
              </a:spcAft>
              <a:defRPr sz="2000">
                <a:solidFill>
                  <a:srgbClr val="F2F5F8"/>
                </a:solidFill>
              </a:defRPr>
            </a:pPr>
            <a:r>
              <a:t>• Standards constrain ranges and relative sizes; widths are not universally fixed.</a:t>
            </a:r>
          </a:p>
          <a:p>
            <a:pPr>
              <a:spcAft>
                <a:spcPts val="1200"/>
              </a:spcAft>
              <a:defRPr sz="2000">
                <a:solidFill>
                  <a:srgbClr val="F2F5F8"/>
                </a:solidFill>
              </a:defRPr>
            </a:pPr>
            <a:r>
              <a:t>• Use size_t for object sizes; use signed types when negative states are meaningful.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5 / 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ssize_t vs. size_t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INTERFACE STATES MUST FIT</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 POSIX-style read can return a byte count or a negative error.</a:t>
            </a:r>
          </a:p>
          <a:p>
            <a:pPr>
              <a:spcAft>
                <a:spcPts val="1200"/>
              </a:spcAft>
              <a:defRPr sz="2000">
                <a:solidFill>
                  <a:srgbClr val="F2F5F8"/>
                </a:solidFill>
              </a:defRPr>
            </a:pPr>
            <a:r>
              <a:t>• ssize_t can represent both.</a:t>
            </a:r>
          </a:p>
          <a:p>
            <a:pPr>
              <a:spcAft>
                <a:spcPts val="1200"/>
              </a:spcAft>
              <a:defRPr sz="2000">
                <a:solidFill>
                  <a:srgbClr val="F2F5F8"/>
                </a:solidFill>
              </a:defRPr>
            </a:pPr>
            <a:r>
              <a:t>• Converting -1 to size_t too early creates a very large unsigned value.</a:t>
            </a:r>
          </a:p>
          <a:p>
            <a:pPr>
              <a:spcAft>
                <a:spcPts val="1200"/>
              </a:spcAft>
              <a:defRPr sz="2000">
                <a:solidFill>
                  <a:srgbClr val="F2F5F8"/>
                </a:solidFill>
              </a:defRPr>
            </a:pPr>
            <a:r>
              <a:t>• Validate first; convert successful counts second.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6 / 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2.1.2 Character Types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LANGUAGE BYTE ≠ HUMAN CHARACTER</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 C/C++ byte contains CHAR_BIT bits.</a:t>
            </a:r>
          </a:p>
          <a:p>
            <a:pPr>
              <a:spcAft>
                <a:spcPts val="1200"/>
              </a:spcAft>
              <a:defRPr sz="2000">
                <a:solidFill>
                  <a:srgbClr val="F2F5F8"/>
                </a:solidFill>
              </a:defRPr>
            </a:pPr>
            <a:r>
              <a:t>• char, signed char, and unsigned char are distinct types.</a:t>
            </a:r>
          </a:p>
          <a:p>
            <a:pPr>
              <a:spcAft>
                <a:spcPts val="1200"/>
              </a:spcAft>
              <a:defRPr sz="2000">
                <a:solidFill>
                  <a:srgbClr val="F2F5F8"/>
                </a:solidFill>
              </a:defRPr>
            </a:pPr>
            <a:r>
              <a:t>• Plain char signedness is implementation-defined.</a:t>
            </a:r>
          </a:p>
          <a:p>
            <a:pPr>
              <a:spcAft>
                <a:spcPts val="1200"/>
              </a:spcAft>
              <a:defRPr sz="2000">
                <a:solidFill>
                  <a:srgbClr val="F2F5F8"/>
                </a:solidFill>
              </a:defRPr>
            </a:pPr>
            <a:r>
              <a:t>• UTF-8 can use multiple bytes for one code point.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7 /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Text vs. Binary Buffers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ENCODING IS A CONTRACT</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Null-terminated strings use a zero byte as an end marker.</a:t>
            </a:r>
          </a:p>
          <a:p>
            <a:pPr>
              <a:spcAft>
                <a:spcPts val="1200"/>
              </a:spcAft>
              <a:defRPr sz="2000">
                <a:solidFill>
                  <a:srgbClr val="F2F5F8"/>
                </a:solidFill>
              </a:defRPr>
            </a:pPr>
            <a:r>
              <a:t>• Binary data may contain zero bytes internally.</a:t>
            </a:r>
          </a:p>
          <a:p>
            <a:pPr>
              <a:spcAft>
                <a:spcPts val="1200"/>
              </a:spcAft>
              <a:defRPr sz="2000">
                <a:solidFill>
                  <a:srgbClr val="F2F5F8"/>
                </a:solidFill>
              </a:defRPr>
            </a:pPr>
            <a:r>
              <a:t>• Do not apply string-length operations unless the format promises string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8 / 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2.1.3 Floating-Point Types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FINITE APPROXIMATIONS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float, double, and long double differ in precision and range.</a:t>
            </a:r>
          </a:p>
          <a:p>
            <a:pPr>
              <a:spcAft>
                <a:spcPts val="1200"/>
              </a:spcAft>
              <a:defRPr sz="2000">
                <a:solidFill>
                  <a:srgbClr val="F2F5F8"/>
                </a:solidFill>
              </a:defRPr>
            </a:pPr>
            <a:r>
              <a:t>• long double is not one universal format.</a:t>
            </a:r>
          </a:p>
          <a:p>
            <a:pPr>
              <a:spcAft>
                <a:spcPts val="1200"/>
              </a:spcAft>
              <a:defRPr sz="2000">
                <a:solidFill>
                  <a:srgbClr val="F2F5F8"/>
                </a:solidFill>
              </a:defRPr>
            </a:pPr>
            <a:r>
              <a:t>• Many decimal-looking values lack exact binary representations.</a:t>
            </a:r>
          </a:p>
          <a:p>
            <a:pPr>
              <a:spcAft>
                <a:spcPts val="1200"/>
              </a:spcAft>
              <a:defRPr sz="2000">
                <a:solidFill>
                  <a:srgbClr val="F2F5F8"/>
                </a:solidFill>
              </a:defRPr>
            </a:pPr>
            <a:r>
              <a:t>• Large integers can lose low-order bits when converted.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9 / 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2.1.4 Boolean Types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PREDICATES, NOT MULTI-STATE STATUS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C17: _Bool and &lt;stdbool.h&gt;; C++: built-in bool.</a:t>
            </a:r>
          </a:p>
          <a:p>
            <a:pPr>
              <a:spcAft>
                <a:spcPts val="1200"/>
              </a:spcAft>
              <a:defRPr sz="2000">
                <a:solidFill>
                  <a:srgbClr val="F2F5F8"/>
                </a:solidFill>
              </a:defRPr>
            </a:pPr>
            <a:r>
              <a:t>• Scalar conversion tests zero/null versus nonzero.</a:t>
            </a:r>
          </a:p>
          <a:p>
            <a:pPr>
              <a:spcAft>
                <a:spcPts val="1200"/>
              </a:spcAft>
              <a:defRPr sz="2000">
                <a:solidFill>
                  <a:srgbClr val="F2F5F8"/>
                </a:solidFill>
              </a:defRPr>
            </a:pPr>
            <a:r>
              <a:t>• Use bool for predicates such as ready or empty.</a:t>
            </a:r>
          </a:p>
          <a:p>
            <a:pPr>
              <a:spcAft>
                <a:spcPts val="1200"/>
              </a:spcAft>
              <a:defRPr sz="2000">
                <a:solidFill>
                  <a:srgbClr val="F2F5F8"/>
                </a:solidFill>
              </a:defRPr>
            </a:pPr>
            <a:r>
              <a:t>• Do not collapse success, EOF, and failure if all must remain distinguishable.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10 / 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2.1.5 Type Sizes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sizeof DESCRIBES REPRESENTATION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sizeof(T) reports size in language bytes, including padding where applicable.</a:t>
            </a:r>
          </a:p>
          <a:p>
            <a:pPr>
              <a:spcAft>
                <a:spcPts val="1200"/>
              </a:spcAft>
              <a:defRPr sz="2000">
                <a:solidFill>
                  <a:srgbClr val="F2F5F8"/>
                </a:solidFill>
              </a:defRPr>
            </a:pPr>
            <a:r>
              <a:t>• sizeof an array gives the complete array size only while the array type remains.</a:t>
            </a:r>
          </a:p>
          <a:p>
            <a:pPr>
              <a:spcAft>
                <a:spcPts val="1200"/>
              </a:spcAft>
              <a:defRPr sz="2000">
                <a:solidFill>
                  <a:srgbClr val="F2F5F8"/>
                </a:solidFill>
              </a:defRPr>
            </a:pPr>
            <a:r>
              <a:t>• Inside typical array parameters, sizeof measures the adjusted pointer.</a:t>
            </a:r>
          </a:p>
          <a:p>
            <a:pPr>
              <a:spcAft>
                <a:spcPts val="1200"/>
              </a:spcAft>
              <a:defRPr sz="2000">
                <a:solidFill>
                  <a:srgbClr val="F2F5F8"/>
                </a:solidFill>
              </a:defRPr>
            </a:pPr>
            <a:r>
              <a:t>• C++ also provides alignof(T).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11 / 48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Array Extent Can Disappear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RETAIN BOUNDS EXPLICITLY</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An array retains extent before conversion.</a:t>
            </a:r>
          </a:p>
          <a:p>
            <a:pPr>
              <a:spcAft>
                <a:spcPts val="1200"/>
              </a:spcAft>
              <a:defRPr sz="2000">
                <a:solidFill>
                  <a:srgbClr val="F2F5F8"/>
                </a:solidFill>
              </a:defRPr>
            </a:pPr>
            <a:r>
              <a:t>• Function parameter adjustment commonly loses that extent.</a:t>
            </a:r>
          </a:p>
          <a:p>
            <a:pPr>
              <a:spcAft>
                <a:spcPts val="1200"/>
              </a:spcAft>
              <a:defRPr sz="2000">
                <a:solidFill>
                  <a:srgbClr val="F2F5F8"/>
                </a:solidFill>
              </a:defRPr>
            </a:pPr>
            <a:r>
              <a:t>• A robust interface passes an explicit extent or uses a range type that retains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12 / 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2.1.6 Signedness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CONVERSIONS AFFECT MEANING</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Unsigned arithmetic wraps modulo a power of two.</a:t>
            </a:r>
          </a:p>
          <a:p>
            <a:pPr>
              <a:spcAft>
                <a:spcPts val="1200"/>
              </a:spcAft>
              <a:defRPr sz="2000">
                <a:solidFill>
                  <a:srgbClr val="F2F5F8"/>
                </a:solidFill>
              </a:defRPr>
            </a:pPr>
            <a:r>
              <a:t>• Mixed signed/unsigned expressions may convert before comparison.</a:t>
            </a:r>
          </a:p>
          <a:p>
            <a:pPr>
              <a:spcAft>
                <a:spcPts val="1200"/>
              </a:spcAft>
              <a:defRPr sz="2000">
                <a:solidFill>
                  <a:srgbClr val="F2F5F8"/>
                </a:solidFill>
              </a:defRPr>
            </a:pPr>
            <a:r>
              <a:t>• A negative signed value can become a huge unsigned value.</a:t>
            </a:r>
          </a:p>
          <a:p>
            <a:pPr>
              <a:spcAft>
                <a:spcPts val="1200"/>
              </a:spcAft>
              <a:defRPr sz="2000">
                <a:solidFill>
                  <a:srgbClr val="F2F5F8"/>
                </a:solidFill>
              </a:defRPr>
            </a:pPr>
            <a:r>
              <a:t>• Check negativity before conversion.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13 / 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 Compound Types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SECTION MAP</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Arrays: contiguous homogeneous storage.</a:t>
            </a:r>
          </a:p>
          <a:p>
            <a:pPr>
              <a:spcAft>
                <a:spcPts val="1200"/>
              </a:spcAft>
              <a:defRPr sz="2000">
                <a:solidFill>
                  <a:srgbClr val="F2F5F8"/>
                </a:solidFill>
              </a:defRPr>
            </a:pPr>
            <a:r>
              <a:t>• Structures: named heterogeneous state.</a:t>
            </a:r>
          </a:p>
          <a:p>
            <a:pPr>
              <a:spcAft>
                <a:spcPts val="1200"/>
              </a:spcAft>
              <a:defRPr sz="2000">
                <a:solidFill>
                  <a:srgbClr val="F2F5F8"/>
                </a:solidFill>
              </a:defRPr>
            </a:pPr>
            <a:r>
              <a:t>• Unions: overlapping alternatives.</a:t>
            </a:r>
          </a:p>
          <a:p>
            <a:pPr>
              <a:spcAft>
                <a:spcPts val="1200"/>
              </a:spcAft>
              <a:defRPr sz="2000">
                <a:solidFill>
                  <a:srgbClr val="F2F5F8"/>
                </a:solidFill>
              </a:defRPr>
            </a:pPr>
            <a:r>
              <a:t>• Enumerations: named integral states.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14 / 48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2.2.1 Arrays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CONTIGUOUS STORAGE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If base address is A and element size is s, element i begins at A + i·s.</a:t>
            </a:r>
          </a:p>
          <a:p>
            <a:pPr>
              <a:spcAft>
                <a:spcPts val="1200"/>
              </a:spcAft>
              <a:defRPr sz="2000">
                <a:solidFill>
                  <a:srgbClr val="F2F5F8"/>
                </a:solidFill>
              </a:defRPr>
            </a:pPr>
            <a:r>
              <a:t>• Built-in subscripting does not automatically enforce bounds.</a:t>
            </a:r>
          </a:p>
          <a:p>
            <a:pPr>
              <a:spcAft>
                <a:spcPts val="1200"/>
              </a:spcAft>
              <a:defRPr sz="2000">
                <a:solidFill>
                  <a:srgbClr val="F2F5F8"/>
                </a:solidFill>
              </a:defRPr>
            </a:pPr>
            <a:r>
              <a:t>• An array often converts to a pointer, but it is not itself a pointer object.</a:t>
            </a:r>
          </a:p>
          <a:p>
            <a:pPr>
              <a:spcAft>
                <a:spcPts val="1200"/>
              </a:spcAft>
              <a:defRPr sz="2000">
                <a:solidFill>
                  <a:srgbClr val="F2F5F8"/>
                </a:solidFill>
              </a:defRPr>
            </a:pPr>
            <a:r>
              <a:t>• std::array and std::vector preserve stronger sequence abstractions.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15 / 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2.2.2 Structures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GROUP RELATED STATE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Members have their own types and lifetime rules.</a:t>
            </a:r>
          </a:p>
          <a:p>
            <a:pPr>
              <a:spcAft>
                <a:spcPts val="1200"/>
              </a:spcAft>
              <a:defRPr sz="2000">
                <a:solidFill>
                  <a:srgbClr val="F2F5F8"/>
                </a:solidFill>
              </a:defRPr>
            </a:pPr>
            <a:r>
              <a:t>• Relationships among members form invariants.</a:t>
            </a:r>
          </a:p>
          <a:p>
            <a:pPr>
              <a:spcAft>
                <a:spcPts val="1200"/>
              </a:spcAft>
              <a:defRPr sz="2000">
                <a:solidFill>
                  <a:srgbClr val="F2F5F8"/>
                </a:solidFill>
              </a:defRPr>
            </a:pPr>
            <a:r>
              <a:t>• Padding can make object size exceed the sum of member sizes.</a:t>
            </a:r>
          </a:p>
          <a:p>
            <a:pPr>
              <a:spcAft>
                <a:spcPts val="1200"/>
              </a:spcAft>
              <a:defRPr sz="2000">
                <a:solidFill>
                  <a:srgbClr val="F2F5F8"/>
                </a:solidFill>
              </a:defRPr>
            </a:pPr>
            <a:r>
              <a:t>• Raw structure bytes are not a portable serialization format.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16 / 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Structures Are Not Wire Formats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LAYOUT ≠ SERIALIZATION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Pointers, padding, byte order, and version changes matter.</a:t>
            </a:r>
          </a:p>
          <a:p>
            <a:pPr>
              <a:spcAft>
                <a:spcPts val="1200"/>
              </a:spcAft>
              <a:defRPr sz="2000">
                <a:solidFill>
                  <a:srgbClr val="F2F5F8"/>
                </a:solidFill>
              </a:defRPr>
            </a:pPr>
            <a:r>
              <a:t>• Language assignment and external serialization solve different problems.</a:t>
            </a:r>
          </a:p>
          <a:p>
            <a:pPr>
              <a:spcAft>
                <a:spcPts val="1200"/>
              </a:spcAft>
              <a:defRPr sz="2000">
                <a:solidFill>
                  <a:srgbClr val="F2F5F8"/>
                </a:solidFill>
              </a:defRPr>
            </a:pPr>
            <a:r>
              <a:t>• Specify external formats explicitly.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17 / 48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2.2.3 Unions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OVERLAPPING STORAGE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Union members share storage.</a:t>
            </a:r>
          </a:p>
          <a:p>
            <a:pPr>
              <a:spcAft>
                <a:spcPts val="1200"/>
              </a:spcAft>
              <a:defRPr sz="2000">
                <a:solidFill>
                  <a:srgbClr val="F2F5F8"/>
                </a:solidFill>
              </a:defRPr>
            </a:pPr>
            <a:r>
              <a:t>• The program must know which alternative is valid.</a:t>
            </a:r>
          </a:p>
          <a:p>
            <a:pPr>
              <a:spcAft>
                <a:spcPts val="1200"/>
              </a:spcAft>
              <a:defRPr sz="2000">
                <a:solidFill>
                  <a:srgbClr val="F2F5F8"/>
                </a:solidFill>
              </a:defRPr>
            </a:pPr>
            <a:r>
              <a:t>• C++ active-member and lifetime rules matter.</a:t>
            </a:r>
          </a:p>
          <a:p>
            <a:pPr>
              <a:spcAft>
                <a:spcPts val="1200"/>
              </a:spcAft>
              <a:defRPr sz="1800">
                <a:solidFill>
                  <a:srgbClr val="F2F5F8"/>
                </a:solidFill>
              </a:defRPr>
            </a:pPr>
            <a:r>
              <a:t>• std::variant provides a tagged alternative; bit_cast/byte copying serve specific representation tasks.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18 /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2.2.4 Enumerations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NAMED STATES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enum class scopes names and avoids implicit integer conversion in C++.</a:t>
            </a:r>
          </a:p>
          <a:p>
            <a:pPr>
              <a:spcAft>
                <a:spcPts val="1200"/>
              </a:spcAft>
              <a:defRPr sz="2000">
                <a:solidFill>
                  <a:srgbClr val="F2F5F8"/>
                </a:solidFill>
              </a:defRPr>
            </a:pPr>
            <a:r>
              <a:t>• Untrusted numeric input still requires validation.</a:t>
            </a:r>
          </a:p>
          <a:p>
            <a:pPr>
              <a:spcAft>
                <a:spcPts val="1200"/>
              </a:spcAft>
              <a:defRPr sz="2000">
                <a:solidFill>
                  <a:srgbClr val="F2F5F8"/>
                </a:solidFill>
              </a:defRPr>
            </a:pPr>
            <a:r>
              <a:t>• A valid state value can still participate in an invalid state transition.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19 / 48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 Functions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SECTION MAP</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Declarations define callable interfaces; definitions provide bodies.</a:t>
            </a:r>
          </a:p>
          <a:p>
            <a:pPr>
              <a:spcAft>
                <a:spcPts val="1200"/>
              </a:spcAft>
              <a:defRPr sz="2000">
                <a:solidFill>
                  <a:srgbClr val="F2F5F8"/>
                </a:solidFill>
              </a:defRPr>
            </a:pPr>
            <a:r>
              <a:t>• Parameters govern access; returns transfer results.</a:t>
            </a:r>
          </a:p>
          <a:p>
            <a:pPr>
              <a:spcAft>
                <a:spcPts val="1200"/>
              </a:spcAft>
              <a:defRPr sz="2000">
                <a:solidFill>
                  <a:srgbClr val="F2F5F8"/>
                </a:solidFill>
              </a:defRPr>
            </a:pPr>
            <a:r>
              <a:t>• Scope organizes names; recursion creates nested active calls.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20 / 48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2.3.1 Function Declarations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SHARED CALL CONTRACT</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Declaration: name, result type, parameter types.</a:t>
            </a:r>
          </a:p>
          <a:p>
            <a:pPr>
              <a:spcAft>
                <a:spcPts val="1200"/>
              </a:spcAft>
              <a:defRPr sz="2000">
                <a:solidFill>
                  <a:srgbClr val="F2F5F8"/>
                </a:solidFill>
              </a:defRPr>
            </a:pPr>
            <a:r>
              <a:t>• Headers keep callers and implementations aligned.</a:t>
            </a:r>
          </a:p>
          <a:p>
            <a:pPr>
              <a:spcAft>
                <a:spcPts val="1200"/>
              </a:spcAft>
              <a:defRPr sz="2000">
                <a:solidFill>
                  <a:srgbClr val="F2F5F8"/>
                </a:solidFill>
              </a:defRPr>
            </a:pPr>
            <a:r>
              <a:t>• C17 int f(void) explicitly means no arguments.</a:t>
            </a:r>
          </a:p>
          <a:p>
            <a:pPr>
              <a:spcAft>
                <a:spcPts val="1200"/>
              </a:spcAft>
              <a:defRPr sz="2000">
                <a:solidFill>
                  <a:srgbClr val="F2F5F8"/>
                </a:solidFill>
              </a:defRPr>
            </a:pPr>
            <a:r>
              <a:t>• C++ treats an empty parameter list as no parameters.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21 / 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2.3.2 Function Definitions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SEPARATE COMPILATION STILL REQUIRES AGREEMENT</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Mismatched declarations can corrupt call-boundary interpretation.</a:t>
            </a:r>
          </a:p>
          <a:p>
            <a:pPr>
              <a:spcAft>
                <a:spcPts val="1200"/>
              </a:spcAft>
              <a:defRPr sz="2000">
                <a:solidFill>
                  <a:srgbClr val="F2F5F8"/>
                </a:solidFill>
              </a:defRPr>
            </a:pPr>
            <a:r>
              <a:t>• Compile the implementation with its public declaration visible.</a:t>
            </a:r>
          </a:p>
          <a:p>
            <a:pPr>
              <a:spcAft>
                <a:spcPts val="1200"/>
              </a:spcAft>
              <a:defRPr sz="1800">
                <a:solidFill>
                  <a:srgbClr val="F2F5F8"/>
                </a:solidFill>
              </a:defRPr>
            </a:pPr>
            <a:r>
              <a:t>• extern "C" requests C language linkage; it does not make arbitrary C++ layouts C-compatible.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22 / 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2.3.3 Parameters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VALUE ≠ OWNERSHIP</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Passing an integer by value creates a parameter object.</a:t>
            </a:r>
          </a:p>
          <a:p>
            <a:pPr>
              <a:spcAft>
                <a:spcPts val="1200"/>
              </a:spcAft>
              <a:defRPr sz="2000">
                <a:solidFill>
                  <a:srgbClr val="F2F5F8"/>
                </a:solidFill>
              </a:defRPr>
            </a:pPr>
            <a:r>
              <a:t>• Passing a pointer by value copies the pointer, not the allocation.</a:t>
            </a:r>
          </a:p>
          <a:p>
            <a:pPr>
              <a:spcAft>
                <a:spcPts val="1200"/>
              </a:spcAft>
              <a:defRPr sz="2000">
                <a:solidFill>
                  <a:srgbClr val="F2F5F8"/>
                </a:solidFill>
              </a:defRPr>
            </a:pPr>
            <a:r>
              <a:t>• The callee can mutate reachable storage if allowed.</a:t>
            </a:r>
          </a:p>
          <a:p>
            <a:pPr>
              <a:spcAft>
                <a:spcPts val="1200"/>
              </a:spcAft>
              <a:defRPr sz="2000">
                <a:solidFill>
                  <a:srgbClr val="F2F5F8"/>
                </a:solidFill>
              </a:defRPr>
            </a:pPr>
            <a:r>
              <a:t>• Changing the local pointer does not change the caller’s pointer variable.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23 / 48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 References as Parameters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BORROWED ACCESS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References provide access without explicit dereference syntax.</a:t>
            </a:r>
          </a:p>
          <a:p>
            <a:pPr>
              <a:spcAft>
                <a:spcPts val="1200"/>
              </a:spcAft>
              <a:defRPr sz="2000">
                <a:solidFill>
                  <a:srgbClr val="F2F5F8"/>
                </a:solidFill>
              </a:defRPr>
            </a:pPr>
            <a:r>
              <a:t>• const reference commonly communicates observation.</a:t>
            </a:r>
          </a:p>
          <a:p>
            <a:pPr>
              <a:spcAft>
                <a:spcPts val="1200"/>
              </a:spcAft>
              <a:defRPr sz="2000">
                <a:solidFill>
                  <a:srgbClr val="F2F5F8"/>
                </a:solidFill>
              </a:defRPr>
            </a:pPr>
            <a:r>
              <a:t>• Raw pointers and references do not inherently communicate ownership.</a:t>
            </a:r>
          </a:p>
          <a:p>
            <a:pPr>
              <a:spcAft>
                <a:spcPts val="1200"/>
              </a:spcAft>
              <a:defRPr sz="2000">
                <a:solidFill>
                  <a:srgbClr val="F2F5F8"/>
                </a:solidFill>
              </a:defRPr>
            </a:pPr>
            <a:r>
              <a:t>• Document borrowed, consumed, retained, and nullable arguments.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24 / 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2.3.4 Return Values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RETURN RESULTS, NOT DANGLING ACCESS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Return-by-value need not imply an expensive copy.</a:t>
            </a:r>
          </a:p>
          <a:p>
            <a:pPr>
              <a:spcAft>
                <a:spcPts val="1200"/>
              </a:spcAft>
              <a:defRPr sz="2000">
                <a:solidFill>
                  <a:srgbClr val="F2F5F8"/>
                </a:solidFill>
              </a:defRPr>
            </a:pPr>
            <a:r>
              <a:t>• Never return a pointer/reference to an automatic local object that is about to die.</a:t>
            </a:r>
          </a:p>
          <a:p>
            <a:pPr>
              <a:spcAft>
                <a:spcPts val="1200"/>
              </a:spcAft>
              <a:defRPr sz="1800">
                <a:solidFill>
                  <a:srgbClr val="F2F5F8"/>
                </a:solidFill>
              </a:defRPr>
            </a:pPr>
            <a:r>
              <a:t>• Fallible operations need result representations that keep errors distinct from valid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25 / 48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2.3.5 Scope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WHERE A NAME CAN BE USED</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Scope is lexical visibility, not a hardware placement promise.</a:t>
            </a:r>
          </a:p>
          <a:p>
            <a:pPr>
              <a:spcAft>
                <a:spcPts val="1200"/>
              </a:spcAft>
              <a:defRPr sz="2000">
                <a:solidFill>
                  <a:srgbClr val="F2F5F8"/>
                </a:solidFill>
              </a:defRPr>
            </a:pPr>
            <a:r>
              <a:t>• Dynamic objects can outlive the scope of the pointer that first named them.</a:t>
            </a:r>
          </a:p>
          <a:p>
            <a:pPr>
              <a:spcAft>
                <a:spcPts val="1200"/>
              </a:spcAft>
              <a:defRPr sz="2000">
                <a:solidFill>
                  <a:srgbClr val="F2F5F8"/>
                </a:solidFill>
              </a:defRPr>
            </a:pPr>
            <a:r>
              <a:t>• Static local objects can outlive calls while their names remain local.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26 / 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2.3.6 Recursion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TERMINATION + RESOURCE BOUNDS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Each active invocation needs logical state.</a:t>
            </a:r>
          </a:p>
          <a:p>
            <a:pPr>
              <a:spcAft>
                <a:spcPts val="1200"/>
              </a:spcAft>
              <a:defRPr sz="2000">
                <a:solidFill>
                  <a:srgbClr val="F2F5F8"/>
                </a:solidFill>
              </a:defRPr>
            </a:pPr>
            <a:r>
              <a:t>• A base case stops recursion; a progress measure explains termination.</a:t>
            </a:r>
          </a:p>
          <a:p>
            <a:pPr>
              <a:spcAft>
                <a:spcPts val="1200"/>
              </a:spcAft>
              <a:defRPr sz="2000">
                <a:solidFill>
                  <a:srgbClr val="F2F5F8"/>
                </a:solidFill>
              </a:defRPr>
            </a:pPr>
            <a:r>
              <a:t>• Deep input can exhaust stack resources.</a:t>
            </a:r>
          </a:p>
          <a:p>
            <a:pPr>
              <a:spcAft>
                <a:spcPts val="1200"/>
              </a:spcAft>
              <a:defRPr sz="2000">
                <a:solidFill>
                  <a:srgbClr val="F2F5F8"/>
                </a:solidFill>
              </a:defRPr>
            </a:pPr>
            <a:r>
              <a:t>• Do not depend on tail-call optimization for portable correctness.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27 / 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 Pointers and References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SECTION MAP</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Addresses · dereferencing · pointer types · references.</a:t>
            </a:r>
          </a:p>
          <a:p>
            <a:pPr>
              <a:spcAft>
                <a:spcPts val="1200"/>
              </a:spcAft>
              <a:defRPr sz="2000">
                <a:solidFill>
                  <a:srgbClr val="F2F5F8"/>
                </a:solidFill>
              </a:defRPr>
            </a:pPr>
            <a:r>
              <a:t>• Null pointers · pointer arithmetic · function pointers.</a:t>
            </a:r>
          </a:p>
          <a:p>
            <a:pPr>
              <a:spcAft>
                <a:spcPts val="1200"/>
              </a:spcAft>
              <a:defRPr sz="2000">
                <a:solidFill>
                  <a:srgbClr val="F2F5F8"/>
                </a:solidFill>
              </a:defRPr>
            </a:pPr>
            <a:r>
              <a:t>• Validity depends on object, bounds, lifetime, alignment, type, and permissions.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28 / 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2.4.1 Addresses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VIRTUAL LOCATION ≠ VALID OBJECT</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User-process addresses are normally virtual.</a:t>
            </a:r>
          </a:p>
          <a:p>
            <a:pPr>
              <a:spcAft>
                <a:spcPts val="1200"/>
              </a:spcAft>
              <a:defRPr sz="2000">
                <a:solidFill>
                  <a:srgbClr val="F2F5F8"/>
                </a:solidFill>
              </a:defRPr>
            </a:pPr>
            <a:r>
              <a:t>• The same numeric virtual address can mean different storage in different processes.</a:t>
            </a:r>
          </a:p>
          <a:p>
            <a:pPr>
              <a:spcAft>
                <a:spcPts val="1200"/>
              </a:spcAft>
              <a:defRPr sz="1800">
                <a:solidFill>
                  <a:srgbClr val="F2F5F8"/>
                </a:solidFill>
              </a:defRPr>
            </a:pPr>
            <a:r>
              <a:t>• Converting an arbitrary integer to a pointer does not create an object or access permission.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29 /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2.4.2 Dereferencing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NON-NULL IS NOT ENOUGH</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The pointer must designate an appropriate live object.</a:t>
            </a:r>
          </a:p>
          <a:p>
            <a:pPr>
              <a:spcAft>
                <a:spcPts val="1200"/>
              </a:spcAft>
              <a:defRPr sz="2000">
                <a:solidFill>
                  <a:srgbClr val="F2F5F8"/>
                </a:solidFill>
              </a:defRPr>
            </a:pPr>
            <a:r>
              <a:t>• Access must be in bounds and suitably aligned.</a:t>
            </a:r>
          </a:p>
          <a:p>
            <a:pPr>
              <a:spcAft>
                <a:spcPts val="1200"/>
              </a:spcAft>
              <a:defRPr sz="2000">
                <a:solidFill>
                  <a:srgbClr val="F2F5F8"/>
                </a:solidFill>
              </a:defRPr>
            </a:pPr>
            <a:r>
              <a:t>• The type must permit the access.</a:t>
            </a:r>
          </a:p>
          <a:p>
            <a:pPr>
              <a:spcAft>
                <a:spcPts val="1200"/>
              </a:spcAft>
              <a:defRPr sz="2000">
                <a:solidFill>
                  <a:srgbClr val="F2F5F8"/>
                </a:solidFill>
              </a:defRPr>
            </a:pPr>
            <a:r>
              <a:t>• Null checks do not catch use-after-free, one-past access, corruption, or lifetime races.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30 / 48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2.4.3 Pointer Types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TYPE CONTROLS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int* + 1 advances by one int; unsigned char* + 1 advances by one byte.</a:t>
            </a:r>
          </a:p>
          <a:p>
            <a:pPr>
              <a:spcAft>
                <a:spcPts val="1200"/>
              </a:spcAft>
              <a:defRPr sz="2000">
                <a:solidFill>
                  <a:srgbClr val="F2F5F8"/>
                </a:solidFill>
              </a:defRPr>
            </a:pPr>
            <a:r>
              <a:t>• const int* restricts modification through the pointer.</a:t>
            </a:r>
          </a:p>
          <a:p>
            <a:pPr>
              <a:spcAft>
                <a:spcPts val="1200"/>
              </a:spcAft>
              <a:defRPr sz="2000">
                <a:solidFill>
                  <a:srgbClr val="F2F5F8"/>
                </a:solidFill>
              </a:defRPr>
            </a:pPr>
            <a:r>
              <a:t>• int* const restricts pointer reassignment.</a:t>
            </a:r>
          </a:p>
          <a:p>
            <a:pPr>
              <a:spcAft>
                <a:spcPts val="1200"/>
              </a:spcAft>
              <a:defRPr sz="2000">
                <a:solidFill>
                  <a:srgbClr val="F2F5F8"/>
                </a:solidFill>
              </a:defRPr>
            </a:pPr>
            <a:r>
              <a:t>• void* carries an object address but cannot be directly dereferenced.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31 / 48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Casts Do Not Create Validity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SYNTAX ≠ SEMANTICS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 cast can satisfy syntax without proving an appropriate object exists.</a:t>
            </a:r>
          </a:p>
          <a:p>
            <a:pPr>
              <a:spcAft>
                <a:spcPts val="1200"/>
              </a:spcAft>
              <a:defRPr sz="2000">
                <a:solidFill>
                  <a:srgbClr val="F2F5F8"/>
                </a:solidFill>
              </a:defRPr>
            </a:pPr>
            <a:r>
              <a:t>• Low-level casts need representation, bounds, and lifetime justification.</a:t>
            </a:r>
          </a:p>
          <a:p>
            <a:pPr>
              <a:spcAft>
                <a:spcPts val="1200"/>
              </a:spcAft>
              <a:defRPr sz="2000">
                <a:solidFill>
                  <a:srgbClr val="F2F5F8"/>
                </a:solidFill>
              </a:defRPr>
            </a:pPr>
            <a:r>
              <a:t>• Ask what object actually exists at the destination.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32 / 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2.4.4 References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ALIASES CAN DANGLE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 C++ reference is bound to an object or function.</a:t>
            </a:r>
          </a:p>
          <a:p>
            <a:pPr>
              <a:spcAft>
                <a:spcPts val="1200"/>
              </a:spcAft>
              <a:defRPr sz="2000">
                <a:solidFill>
                  <a:srgbClr val="F2F5F8"/>
                </a:solidFill>
              </a:defRPr>
            </a:pPr>
            <a:r>
              <a:t>• Ordinary assignment through a reference changes the referred-to object.</a:t>
            </a:r>
          </a:p>
          <a:p>
            <a:pPr>
              <a:spcAft>
                <a:spcPts val="1200"/>
              </a:spcAft>
              <a:defRPr sz="1800">
                <a:solidFill>
                  <a:srgbClr val="F2F5F8"/>
                </a:solidFill>
              </a:defRPr>
            </a:pPr>
            <a:r>
              <a:t>• A reference to a destroyed vector element is invalid even though references have no null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33 / 48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2.4.5 Null Pointers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ABSENCE AS A SEMANTIC STATE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C++ nullptr is a dedicated null pointer value; C commonly uses NULL.</a:t>
            </a:r>
          </a:p>
          <a:p>
            <a:pPr>
              <a:spcAft>
                <a:spcPts val="1200"/>
              </a:spcAft>
              <a:defRPr sz="2000">
                <a:solidFill>
                  <a:srgbClr val="F2F5F8"/>
                </a:solidFill>
              </a:defRPr>
            </a:pPr>
            <a:r>
              <a:t>• The abstract language does not require all-zero bytes to represent a null pointer.</a:t>
            </a:r>
          </a:p>
          <a:p>
            <a:pPr>
              <a:spcAft>
                <a:spcPts val="1200"/>
              </a:spcAft>
              <a:defRPr sz="2000">
                <a:solidFill>
                  <a:srgbClr val="F2F5F8"/>
                </a:solidFill>
              </a:defRPr>
            </a:pPr>
            <a:r>
              <a:t>• Semantic pointer initialization and raw byte filling are different operations.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34 / 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2.4.6 Pointer Arithmetic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STAY WITHIN THE ARRAY DOMAIN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Defined arithmetic remains within an array and its one-past position.</a:t>
            </a:r>
          </a:p>
          <a:p>
            <a:pPr>
              <a:spcAft>
                <a:spcPts val="1200"/>
              </a:spcAft>
              <a:defRPr sz="2000">
                <a:solidFill>
                  <a:srgbClr val="F2F5F8"/>
                </a:solidFill>
              </a:defRPr>
            </a:pPr>
            <a:r>
              <a:t>• One-past is a valid end marker but cannot be dereferenced.</a:t>
            </a:r>
          </a:p>
          <a:p>
            <a:pPr>
              <a:spcAft>
                <a:spcPts val="1200"/>
              </a:spcAft>
              <a:defRPr sz="2000">
                <a:solidFill>
                  <a:srgbClr val="F2F5F8"/>
                </a:solidFill>
              </a:defRPr>
            </a:pPr>
            <a:r>
              <a:t>• Validate indices or remaining lengths before forming derived pointers.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35 / 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2.4.7 Function Pointers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CALLBACK TYPE + CONTEXT LIFETIME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Function pointers support callbacks and dispatch tables.</a:t>
            </a:r>
          </a:p>
          <a:p>
            <a:pPr>
              <a:spcAft>
                <a:spcPts val="1200"/>
              </a:spcAft>
              <a:defRPr sz="2000">
                <a:solidFill>
                  <a:srgbClr val="F2F5F8"/>
                </a:solidFill>
              </a:defRPr>
            </a:pPr>
            <a:r>
              <a:t>• Calling through the wrong function-pointer type is not a portable adapter.</a:t>
            </a:r>
          </a:p>
          <a:p>
            <a:pPr>
              <a:spcAft>
                <a:spcPts val="1200"/>
              </a:spcAft>
              <a:defRPr sz="2000">
                <a:solidFill>
                  <a:srgbClr val="F2F5F8"/>
                </a:solidFill>
              </a:defRPr>
            </a:pPr>
            <a:r>
              <a:t>• A context pointer often supplies state.</a:t>
            </a:r>
          </a:p>
          <a:p>
            <a:pPr>
              <a:spcAft>
                <a:spcPts val="1200"/>
              </a:spcAft>
              <a:defRPr sz="2000">
                <a:solidFill>
                  <a:srgbClr val="F2F5F8"/>
                </a:solidFill>
              </a:defRPr>
            </a:pPr>
            <a:r>
              <a:t>• Its lifetime must cover every possible callback invocation.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36 / 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 Object Lifetime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SECTION MAP</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Static: storage lasts for program duration.</a:t>
            </a:r>
          </a:p>
          <a:p>
            <a:pPr>
              <a:spcAft>
                <a:spcPts val="1200"/>
              </a:spcAft>
              <a:defRPr sz="2000">
                <a:solidFill>
                  <a:srgbClr val="F2F5F8"/>
                </a:solidFill>
              </a:defRPr>
            </a:pPr>
            <a:r>
              <a:t>• Automatic: usually tied to block execution.</a:t>
            </a:r>
          </a:p>
          <a:p>
            <a:pPr>
              <a:spcAft>
                <a:spcPts val="1200"/>
              </a:spcAft>
              <a:defRPr sz="2000">
                <a:solidFill>
                  <a:srgbClr val="F2F5F8"/>
                </a:solidFill>
              </a:defRPr>
            </a:pPr>
            <a:r>
              <a:t>• Dynamic: release controlled by an owner or explicit mechanism.</a:t>
            </a:r>
          </a:p>
          <a:p>
            <a:pPr>
              <a:spcAft>
                <a:spcPts val="1200"/>
              </a:spcAft>
              <a:defRPr sz="2000">
                <a:solidFill>
                  <a:srgbClr val="F2F5F8"/>
                </a:solidFill>
              </a:defRPr>
            </a:pPr>
            <a:r>
              <a:t>• Scope and lifetime answer different questions.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37 / 48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2.5.1 Static Lifetime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LONG STORAGE DURATION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File/namespace-scope objects commonly have static storage duration.</a:t>
            </a:r>
          </a:p>
          <a:p>
            <a:pPr>
              <a:spcAft>
                <a:spcPts val="1200"/>
              </a:spcAft>
              <a:defRPr sz="2000">
                <a:solidFill>
                  <a:srgbClr val="F2F5F8"/>
                </a:solidFill>
              </a:defRPr>
            </a:pPr>
            <a:r>
              <a:t>• Function-local static objects persist too.</a:t>
            </a:r>
          </a:p>
          <a:p>
            <a:pPr>
              <a:spcAft>
                <a:spcPts val="1200"/>
              </a:spcAft>
              <a:defRPr sz="2000">
                <a:solidFill>
                  <a:srgbClr val="F2F5F8"/>
                </a:solidFill>
              </a:defRPr>
            </a:pPr>
            <a:r>
              <a:t>• Storage duration does not imply global visibility.</a:t>
            </a:r>
          </a:p>
          <a:p>
            <a:pPr>
              <a:spcAft>
                <a:spcPts val="1200"/>
              </a:spcAft>
              <a:defRPr sz="2000">
                <a:solidFill>
                  <a:srgbClr val="F2F5F8"/>
                </a:solidFill>
              </a:defRPr>
            </a:pPr>
            <a:r>
              <a:t>• Cross-translation-unit initialization order can create fragile dependencies.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38 / 48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2.5.2 Automatic Lifetime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DETERMINISTIC DESTRUCTION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Automatic objects usually begin/end with their enclosing block’s execution.</a:t>
            </a:r>
          </a:p>
          <a:p>
            <a:pPr>
              <a:spcAft>
                <a:spcPts val="1200"/>
              </a:spcAft>
              <a:defRPr sz="2000">
                <a:solidFill>
                  <a:srgbClr val="F2F5F8"/>
                </a:solidFill>
              </a:defRPr>
            </a:pPr>
            <a:r>
              <a:t>• C++ destructors run on normal scope exit and exception unwinding.</a:t>
            </a:r>
          </a:p>
          <a:p>
            <a:pPr>
              <a:spcAft>
                <a:spcPts val="1200"/>
              </a:spcAft>
              <a:defRPr sz="2000">
                <a:solidFill>
                  <a:srgbClr val="F2F5F8"/>
                </a:solidFill>
              </a:defRPr>
            </a:pPr>
            <a:r>
              <a:t>• This enables RAII.</a:t>
            </a:r>
          </a:p>
          <a:p>
            <a:pPr>
              <a:spcAft>
                <a:spcPts val="1200"/>
              </a:spcAft>
              <a:defRPr sz="2000">
                <a:solidFill>
                  <a:srgbClr val="F2F5F8"/>
                </a:solidFill>
              </a:defRPr>
            </a:pPr>
            <a:r>
              <a:t>• Automatic does not mean the compiler must allocate a physical stack slot.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39 / 48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2.5.3 Dynamic Lifetime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ALLOCATION CREATES AN OBLIGATION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C allocation manages raw storage; C++ new also initializes objects.</a:t>
            </a:r>
          </a:p>
          <a:p>
            <a:pPr>
              <a:spcAft>
                <a:spcPts val="1200"/>
              </a:spcAft>
              <a:defRPr sz="2000">
                <a:solidFill>
                  <a:srgbClr val="F2F5F8"/>
                </a:solidFill>
              </a:defRPr>
            </a:pPr>
            <a:r>
              <a:t>• Losing the final owner leaks.</a:t>
            </a:r>
          </a:p>
          <a:p>
            <a:pPr>
              <a:spcAft>
                <a:spcPts val="1200"/>
              </a:spcAft>
              <a:defRPr sz="2000">
                <a:solidFill>
                  <a:srgbClr val="F2F5F8"/>
                </a:solidFill>
              </a:defRPr>
            </a:pPr>
            <a:r>
              <a:t>• Releasing while borrowers remain creates dangling access.</a:t>
            </a:r>
          </a:p>
          <a:p>
            <a:pPr>
              <a:spcAft>
                <a:spcPts val="1200"/>
              </a:spcAft>
              <a:defRPr sz="2000">
                <a:solidFill>
                  <a:srgbClr val="F2F5F8"/>
                </a:solidFill>
              </a:defRPr>
            </a:pPr>
            <a:r>
              <a:t>• Ownership design matters more than allocation syntax.</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40 / 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2.5.4 Scope vs. Lifetime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DRAW TWO TIMELINES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 pointer name can remain in scope after its target is destroyed.</a:t>
            </a:r>
          </a:p>
          <a:p>
            <a:pPr>
              <a:spcAft>
                <a:spcPts val="1200"/>
              </a:spcAft>
              <a:defRPr sz="2000">
                <a:solidFill>
                  <a:srgbClr val="F2F5F8"/>
                </a:solidFill>
              </a:defRPr>
            </a:pPr>
            <a:r>
              <a:t>• An object can remain alive after the original pointer name leaves scope.</a:t>
            </a:r>
          </a:p>
          <a:p>
            <a:pPr>
              <a:spcAft>
                <a:spcPts val="1200"/>
              </a:spcAft>
              <a:defRPr sz="2000">
                <a:solidFill>
                  <a:srgbClr val="F2F5F8"/>
                </a:solidFill>
              </a:defRPr>
            </a:pPr>
            <a:r>
              <a:t>• Mark construction, borrows, transfers, and destruction separately.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41 / 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Borrowed 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std::vector OWNS · std::span BORROWS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A vector owns [3, 5, 7].</a:t>
            </a:r>
          </a:p>
          <a:p>
            <a:pPr>
              <a:spcAft>
                <a:spcPts val="1200"/>
              </a:spcAft>
              <a:defRPr sz="2000">
                <a:solidFill>
                  <a:srgbClr val="F2F5F8"/>
                </a:solidFill>
              </a:defRPr>
            </a:pPr>
            <a:r>
              <a:t>• add_small(std::span&lt;int&gt;) borrows a bounded view and adds 2.</a:t>
            </a:r>
          </a:p>
          <a:p>
            <a:pPr>
              <a:spcAft>
                <a:spcPts val="1200"/>
              </a:spcAft>
              <a:defRPr sz="2000">
                <a:solidFill>
                  <a:srgbClr val="F2F5F8"/>
                </a:solidFill>
              </a:defRPr>
            </a:pPr>
            <a:r>
              <a:t>• Result: [5, 7, 9] without copying the sequence.</a:t>
            </a:r>
          </a:p>
          <a:p>
            <a:pPr>
              <a:spcAft>
                <a:spcPts val="1200"/>
              </a:spcAft>
              <a:defRPr sz="2000">
                <a:solidFill>
                  <a:srgbClr val="F2F5F8"/>
                </a:solidFill>
              </a:defRPr>
            </a:pPr>
            <a:r>
              <a:t>• The function must not retain the span.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42 / 48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Borrowed-View Invariant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OWNER MUST REMAIN ALIVE AND STABLE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Vector element storage must remain live throughout the borrow.</a:t>
            </a:r>
          </a:p>
          <a:p>
            <a:pPr>
              <a:spcAft>
                <a:spcPts val="1200"/>
              </a:spcAft>
              <a:defRPr sz="2000">
                <a:solidFill>
                  <a:srgbClr val="F2F5F8"/>
                </a:solidFill>
              </a:defRPr>
            </a:pPr>
            <a:r>
              <a:t>• Reallocation can invalidate views.</a:t>
            </a:r>
          </a:p>
          <a:p>
            <a:pPr>
              <a:spcAft>
                <a:spcPts val="1200"/>
              </a:spcAft>
              <a:defRPr sz="2000">
                <a:solidFill>
                  <a:srgbClr val="F2F5F8"/>
                </a:solidFill>
              </a:defRPr>
            </a:pPr>
            <a:r>
              <a:t>• span retains a size but does not keep the owner alive.</a:t>
            </a:r>
          </a:p>
          <a:p>
            <a:pPr>
              <a:spcAft>
                <a:spcPts val="1200"/>
              </a:spcAft>
              <a:defRPr sz="2000">
                <a:solidFill>
                  <a:srgbClr val="F2F5F8"/>
                </a:solidFill>
              </a:defRPr>
            </a:pPr>
            <a:r>
              <a:t>• A better interface contract is not automatic immunity to misuse.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43 / 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Signedness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PRESERVE THE INTERFACE DOMAIN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Keep a read result in ssize_t.</a:t>
            </a:r>
          </a:p>
          <a:p>
            <a:pPr>
              <a:spcAft>
                <a:spcPts val="1200"/>
              </a:spcAft>
              <a:defRPr sz="2000">
                <a:solidFill>
                  <a:srgbClr val="F2F5F8"/>
                </a:solidFill>
              </a:defRPr>
            </a:pPr>
            <a:r>
              <a:t>• Test whether it is negative.</a:t>
            </a:r>
          </a:p>
          <a:p>
            <a:pPr>
              <a:spcAft>
                <a:spcPts val="1200"/>
              </a:spcAft>
              <a:defRPr sz="2000">
                <a:solidFill>
                  <a:srgbClr val="F2F5F8"/>
                </a:solidFill>
              </a:defRPr>
            </a:pPr>
            <a:r>
              <a:t>• Only then convert a successful count to size_t.</a:t>
            </a:r>
          </a:p>
          <a:p>
            <a:pPr>
              <a:spcAft>
                <a:spcPts val="1200"/>
              </a:spcAft>
              <a:defRPr sz="2000">
                <a:solidFill>
                  <a:srgbClr val="F2F5F8"/>
                </a:solidFill>
              </a:defRPr>
            </a:pPr>
            <a:r>
              <a:t>• The chosen type must represent every possible interface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44 / 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Lifetime vs. Scope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BRACES ARE NOT THE WHOLE STORY</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Dynamic storage may outlive the block that first referenced it.</a:t>
            </a:r>
          </a:p>
          <a:p>
            <a:pPr>
              <a:spcAft>
                <a:spcPts val="1200"/>
              </a:spcAft>
              <a:defRPr sz="2000">
                <a:solidFill>
                  <a:srgbClr val="F2F5F8"/>
                </a:solidFill>
              </a:defRPr>
            </a:pPr>
            <a:r>
              <a:t>• Automatic local objects usually die when their block ends.</a:t>
            </a:r>
          </a:p>
          <a:p>
            <a:pPr>
              <a:spcAft>
                <a:spcPts val="1200"/>
              </a:spcAft>
              <a:defRPr sz="2000">
                <a:solidFill>
                  <a:srgbClr val="F2F5F8"/>
                </a:solidFill>
              </a:defRPr>
            </a:pPr>
            <a:r>
              <a:t>• A pointer can remain visible after its target has been deleted.</a:t>
            </a:r>
          </a:p>
          <a:p>
            <a:pPr>
              <a:spcAft>
                <a:spcPts val="1200"/>
              </a:spcAft>
              <a:defRPr sz="2000">
                <a:solidFill>
                  <a:srgbClr val="F2F5F8"/>
                </a:solidFill>
              </a:defRPr>
            </a:pPr>
            <a:r>
              <a:t>• Reason about naming and existence independently.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45 / 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READ-ONLY BORROW</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Replace the mutating function with a sum function taking std::span&lt;const int&gt;.</a:t>
            </a:r>
          </a:p>
          <a:p>
            <a:pPr>
              <a:spcAft>
                <a:spcPts val="1200"/>
              </a:spcAft>
              <a:defRPr sz="2000">
                <a:solidFill>
                  <a:srgbClr val="F2F5F8"/>
                </a:solidFill>
              </a:defRPr>
            </a:pPr>
            <a:r>
              <a:t>• Return a sufficiently wide integer for a documented input bound.</a:t>
            </a:r>
          </a:p>
          <a:p>
            <a:pPr>
              <a:spcAft>
                <a:spcPts val="1200"/>
              </a:spcAft>
              <a:defRPr sz="2000">
                <a:solidFill>
                  <a:srgbClr val="F2F5F8"/>
                </a:solidFill>
              </a:defRPr>
            </a:pPr>
            <a:r>
              <a:t>• Test an empty sequence and [3, 5, 7].</a:t>
            </a:r>
          </a:p>
          <a:p>
            <a:pPr>
              <a:spcAft>
                <a:spcPts val="1200"/>
              </a:spcAft>
              <a:defRPr sz="2000">
                <a:solidFill>
                  <a:srgbClr val="F2F5F8"/>
                </a:solidFill>
              </a:defRPr>
            </a:pPr>
            <a:r>
              <a:t>• Acceptance: empty sum = 0 and no element changes.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46 / 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THE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Why does copying a span not copy its elements?</a:t>
            </a:r>
          </a:p>
          <a:p>
            <a:pPr>
              <a:spcAft>
                <a:spcPts val="1200"/>
              </a:spcAft>
              <a:defRPr sz="1800">
                <a:solidFill>
                  <a:srgbClr val="F2F5F8"/>
                </a:solidFill>
              </a:defRPr>
            </a:pPr>
            <a:r>
              <a:t>• Why is returning a local vector by value different from returning a pointer to its first element?</a:t>
            </a:r>
          </a:p>
          <a:p>
            <a:pPr>
              <a:spcAft>
                <a:spcPts val="1200"/>
              </a:spcAft>
              <a:defRPr sz="2000">
                <a:solidFill>
                  <a:srgbClr val="F2F5F8"/>
                </a:solidFill>
              </a:defRPr>
            </a:pPr>
            <a:r>
              <a:t>• For each answer, identify ownership and lifetime.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47 / 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 Takeaways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 AND C++ FOR SYSTEMS PROGRAMMING</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200"/>
              </a:spcAft>
              <a:defRPr sz="2000">
                <a:solidFill>
                  <a:srgbClr val="F2F5F8"/>
                </a:solidFill>
              </a:defRPr>
            </a:pPr>
            <a:r>
              <a:t>• Types define value domains and participate in expression semantics.</a:t>
            </a:r>
          </a:p>
          <a:p>
            <a:pPr>
              <a:spcAft>
                <a:spcPts val="1200"/>
              </a:spcAft>
              <a:defRPr sz="2000">
                <a:solidFill>
                  <a:srgbClr val="F2F5F8"/>
                </a:solidFill>
              </a:defRPr>
            </a:pPr>
            <a:r>
              <a:t>• Pointers and references provide access—not automatic ownership or validity.</a:t>
            </a:r>
          </a:p>
          <a:p>
            <a:pPr>
              <a:spcAft>
                <a:spcPts val="1200"/>
              </a:spcAft>
              <a:defRPr sz="2000">
                <a:solidFill>
                  <a:srgbClr val="F2F5F8"/>
                </a:solidFill>
              </a:defRPr>
            </a:pPr>
            <a:r>
              <a:t>• Scope, storage duration, and object lifetime are distinct.</a:t>
            </a:r>
          </a:p>
          <a:p>
            <a:pPr>
              <a:spcAft>
                <a:spcPts val="1200"/>
              </a:spcAft>
              <a:defRPr sz="2000">
                <a:solidFill>
                  <a:srgbClr val="F2F5F8"/>
                </a:solidFill>
              </a:defRPr>
            </a:pPr>
            <a:r>
              <a:t>• Robust systems interfaces make bounds, ownership, status, and lifetime explicit.</a:t>
            </a:r>
          </a:p>
          <a:p>
            <a:pPr>
              <a:spcAft>
                <a:spcPts val="1200"/>
              </a:spcAft>
              <a:defRPr sz="2000">
                <a:solidFill>
                  <a:srgbClr val="F2F5F8"/>
                </a:solidFill>
              </a:defRPr>
            </a:pPr>
            <a:r>
              <a:t>• Next: bits, bytes, and binary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     |     48 / 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