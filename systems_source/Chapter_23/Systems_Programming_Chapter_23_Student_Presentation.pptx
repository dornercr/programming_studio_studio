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23 — Paging</a:t>
            </a:r>
          </a:p>
          <a:p/>
          <a:p>
            <a:r>
              <a:t>LECTURE NARRATION</a:t>
            </a:r>
          </a:p>
          <a:p>
            <a:r>
              <a:t>Paging divides virtual address spaces and physical storage into fixed-size units. This simplifies placement: a virtual page can be backed by any suitable physical frame of the corresponding size. It also makes translation arithmetic systematic. The system trades fine-grained flexibility against page-table overhead, internal waste, and translation-cache coverage. [ R10 ]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paging divides virtual address spaces and physical storage into fixed-size units.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Paging divides virtual address spaces and physical storage into fixed-size units. This simplifies placement: a virtual page can be backed by any suitable physical frame of the corresponding size. It also makes translation arithmetic systematic. The system trades fine-grained flexibility against page-table overhead, internal waste, and translation-cache coverage. [ R10 ]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paging divides virtual address spaces and physical storage into fixed-size units.</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23.1 Pages 23.2 Frames 23.3 Page size 23.4 Page offset ...plus 6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23.1 Pages 23.2 Frames 23.3 Page size 23.4 Page offset ...plus 6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23.1 Pages</a:t>
            </a:r>
          </a:p>
          <a:p/>
          <a:p>
            <a:r>
              <a:t>LECTURE NARRATION</a:t>
            </a:r>
          </a:p>
          <a:p>
            <a:r>
              <a:t>A page is a fixed-size unit in the virtual address space. A mapping associates a virtual page with backing storage and permissions. Pages should not be confused with C objects: a page can contain many objects, part of one object, or bytes that no live language object currently occupies. A large allocation can span many pages. Crossing its internal page boundaries is valid when the allocation and mappings permit it. Conversely, staying within one page does not prove an array index is valid. Object-level bounds and page-level mapping boundaries solve different problems.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uses a map of memory addresses. The operating system translates that map to where the data is actually stored.</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23.1 Pages — Deep Dive</a:t>
            </a:r>
          </a:p>
          <a:p/>
          <a:p>
            <a:r>
              <a:t>LECTURE NARRATION</a:t>
            </a:r>
          </a:p>
          <a:p>
            <a:r>
              <a:t>A page is a fixed-size unit in the virtual address space. A mapping associates a virtual page with backing storage and permissions. Pages should not be confused with C objects: a page can contain many objects, part of one object, or bytes that no live language object currently occupies. A large allocation can span many pages. Crossing its internal page boundaries is valid when the allocation and mappings permit it. Conversely, staying within one page does not prove an array index is valid. Object-level bounds and page-level mapping boundaries solve different problems.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uses a map of memory addresses. The operating system translates that map to where the data is actually stored.</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23.2 Frames</a:t>
            </a:r>
          </a:p>
          <a:p/>
          <a:p>
            <a:r>
              <a:t>LECTURE NARRATION</a:t>
            </a:r>
          </a:p>
          <a:p>
            <a:r>
              <a:t>A frame is a page-sized unit of physical storage. The kernel tracks which frames are free, in use, shared, or involved in other memory-management activity. A virtual page number and a physical frame number need not be equal. The distinction makes noncontiguous physical placement possible. Three adjacent virtual pages can be backed by frames 5, 200, and 9 while still appearing contiguous to the application. Device operations requiring particular physical arrangements need additional platform mechanisms; virtual contiguity alone is not a guarantee of physical contiguity.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frame is a page-sized unit of physical storage.</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23.2 Frames — Deep Dive</a:t>
            </a:r>
          </a:p>
          <a:p/>
          <a:p>
            <a:r>
              <a:t>LECTURE NARRATION</a:t>
            </a:r>
          </a:p>
          <a:p>
            <a:r>
              <a:t>A frame is a page-sized unit of physical storage. The kernel tracks which frames are free, in use, shared, or involved in other memory-management activity. A virtual page number and a physical frame number need not be equal. The distinction makes noncontiguous physical placement possible. Three adjacent virtual pages can be backed by frames 5, 200, and 9 while still appearing contiguous to the application. Device operations requiring particular physical arrangements need additional platform mechanisms; virtual contiguity alone is not a guarantee of physical contiguity.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frame is a page-sized unit of physical storage.</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23.3 Page size</a:t>
            </a:r>
          </a:p>
          <a:p/>
          <a:p>
            <a:r>
              <a:t>LECTURE NARRATION</a:t>
            </a:r>
          </a:p>
          <a:p>
            <a:r>
              <a:t>For the following calculations, the page size is 4 KiB, or 4096 bytes. This is a teaching assumption, not a claim that every mapping on every system uses that size. Systems can support multiple page sizes, and applications should query the relevant platform interface where a runtime page size matters. Larger pages increase the amount of memory covered by one translation entry and reduce some table overhead. They can also waste more space for small or sparsely touched regions and complicate allocation or migration. The best size depends on workload and system policy, not merely on choosing the largest supported number.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uses a map of memory addresses. The operating system translates that map to where the data is actually stored.</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23.3 Page size — Deep Dive</a:t>
            </a:r>
          </a:p>
          <a:p/>
          <a:p>
            <a:r>
              <a:t>LECTURE NARRATION</a:t>
            </a:r>
          </a:p>
          <a:p>
            <a:r>
              <a:t>For the following calculations, the page size is 4 KiB, or 4096 bytes. This is a teaching assumption, not a claim that every mapping on every system uses that size. Systems can support multiple page sizes, and applications should query the relevant platform interface where a runtime page size matters. Larger pages increase the amount of memory covered by one translation entry and reduce some table overhead. They can also waste more space for small or sparsely touched regions and complicate allocation or migration. The best size depends on workload and system policy, not merely on choosing the largest supported number.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uses a map of memory addresses. The operating system translates that map to where the data is actually stored.</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23.4 Page offset</a:t>
            </a:r>
          </a:p>
          <a:p/>
          <a:p>
            <a:r>
              <a:t>LECTURE NARRATION</a:t>
            </a:r>
          </a:p>
          <a:p>
            <a:r>
              <a:t>For a page size of 2^p bytes, the low p address bits form the page offset. With 4096-byte pages, p = 12 . The offset is address mod 4096 , or equivalently address &amp; 0xFFF for the nonnegative integer model. Translation preserves these low bits when mapping a page to an equal-sized frame. Only the page-number portion changes. This separation makes the final physical-address calculation straightforward and explains why correctly aligned page bases have zeroes in the offset positions.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uses a map of memory addresses. The operating system translates that map to where the data is actually stored.</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23.4 Page offset — Deep Dive</a:t>
            </a:r>
          </a:p>
          <a:p/>
          <a:p>
            <a:r>
              <a:t>LECTURE NARRATION</a:t>
            </a:r>
          </a:p>
          <a:p>
            <a:r>
              <a:t>For a page size of 2^p bytes, the low p address bits form the page offset. With 4096-byte pages, p = 12 . The offset is address mod 4096 , or equivalently address &amp; 0xFFF for the nonnegative integer model. Translation preserves these low bits when mapping a page to an equal-sized frame. Only the page-number portion changes. This separation makes the final physical-address calculation straightforward and explains why correctly aligned page bases have zeroes in the offset positions.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uses a map of memory addresses. The operating system translates that map to where the data is actually stored.</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23.5 Virtual page number</a:t>
            </a:r>
          </a:p>
          <a:p/>
          <a:p>
            <a:r>
              <a:t>LECTURE NARRATION</a:t>
            </a:r>
          </a:p>
          <a:p>
            <a:r>
              <a:t>The virtual page number is the address divided by page size, rounded down. In the bit model, it is address &gt;&gt; p . It identifies which page-table mapping applies, potentially through several levels of indexing. The number of bits available for the virtual page number depends on the virtual-address model. In a 32-bit model with 4-KiB pages, there are 20 virtual-page-number bits and 12 offset bits. Do not transfer those counts unchanged to a different address width or page size.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uses a map of memory addresses. The operating system translates that map to where the data is actually stored.</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23.5 Virtual page number — Deep Dive</a:t>
            </a:r>
          </a:p>
          <a:p/>
          <a:p>
            <a:r>
              <a:t>LECTURE NARRATION</a:t>
            </a:r>
          </a:p>
          <a:p>
            <a:r>
              <a:t>The virtual page number is the address divided by page size, rounded down. In the bit model, it is address &gt;&gt; p . It identifies which page-table mapping applies, potentially through several levels of indexing. The number of bits available for the virtual page number depends on the virtual-address model. In a 32-bit model with 4-KiB pages, there are 20 virtual-page-number bits and 12 offset bits. Do not transfer those counts unchanged to a different address width or page size.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uses a map of memory addresses. The operating system translates that map to where the data is actually stored.</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23.6 Physical page number</a:t>
            </a:r>
          </a:p>
          <a:p/>
          <a:p>
            <a:r>
              <a:t>LECTURE NARRATION</a:t>
            </a:r>
          </a:p>
          <a:p>
            <a:r>
              <a:t>The physical page number, also called a frame number in this discussion, identifies the selected frame. If the frame number is f , its base address is f * page_size . Add the original offset to obtain the final physical address. A page-table entry contains more than a frame number, so real software cannot treat every bit of an entry as an address. Flag bits and architecture-specific encodings must be interpreted correctly. The arithmetic below deliberately uses a dictionary of already-decoded frame numbers to isolate the translation concept.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uses a map of memory addresses. The operating system translates that map to where the data is actually stored.</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23.6 Physical page number — Deep Dive</a:t>
            </a:r>
          </a:p>
          <a:p/>
          <a:p>
            <a:r>
              <a:t>LECTURE NARRATION</a:t>
            </a:r>
          </a:p>
          <a:p>
            <a:r>
              <a:t>The physical page number, also called a frame number in this discussion, identifies the selected frame. If the frame number is f , its base address is f * page_size . Add the original offset to obtain the final physical address. A page-table entry contains more than a frame number, so real software cannot treat every bit of an entry as an address. Flag bits and architecture-specific encodings must be interpreted correctly. The arithmetic below deliberately uses a dictionary of already-decoded frame numbers to isolate the translation concept.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uses a map of memory addresses. The operating system translates that map to where the data is actually stored.</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Worked example — A checked translation model</a:t>
            </a:r>
          </a:p>
          <a:p/>
          <a:p>
            <a:r>
              <a:t>LECTURE NARRATION</a:t>
            </a:r>
          </a:p>
          <a:p>
            <a:r>
              <a:t>For virtual address 0x12345 , the virtual page number is 0x12 and the offset is 0x345 . If page 0x12 maps to frame 0x2A , the physical address is 0x2A345 . Companion listing: ch23/paging.py The model intentionally excludes permissions, multilevel tables, TLBs, and demand paging. A missing dictionary entry raises an exception in the model; it does not simulate the kernel’s full page-fault policy. Keeping that boundary explicit prevents a useful arithmetic exercise from being mistaken for a complete MMU implementation.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for virtual address 0x12345 , the virtual page number is 0x12 and the offset is 0x345 .</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Worked example — A checked translation model — Deep Dive</a:t>
            </a:r>
          </a:p>
          <a:p/>
          <a:p>
            <a:r>
              <a:t>LECTURE NARRATION</a:t>
            </a:r>
          </a:p>
          <a:p>
            <a:r>
              <a:t>For virtual address 0x12345 , the virtual page number is 0x12 and the offset is 0x345 . If page 0x12 maps to frame 0x2A , the physical address is 0x2A345 . Companion listing: ch23/paging.py The model intentionally excludes permissions, multilevel tables, TLBs, and demand paging. A missing dictionary entry raises an exception in the model; it does not simulate the kernel’s full page-fault policy. Keeping that boundary explicit prevents a useful arithmetic exercise from being mistaken for a complete MMU implementation.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for virtual address 0x12345 , the virtual page number is 0x12 and the offset is 0x345 .</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Worked example — Splitting a virtual address</a:t>
            </a:r>
          </a:p>
          <a:p/>
          <a:p>
            <a:r>
              <a:t>LECTURE NARRATION</a:t>
            </a:r>
          </a:p>
          <a:p>
            <a:r>
              <a:t>With 4 KiB pages, the page offset is 12 bits because 4096 = 2^12 . For virtual address 0x12345 , the offset is 0x345 and the virtual page number is 0x12 . Translation replaces the virtual page number with a physical frame number while preserving the offset.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Worked example — Splitting a virtual address — Deep Dive</a:t>
            </a:r>
          </a:p>
          <a:p/>
          <a:p>
            <a:r>
              <a:t>LECTURE NARRATION</a:t>
            </a:r>
          </a:p>
          <a:p>
            <a:r>
              <a:t>With 4 KiB pages, the page offset is 12 bits because 4096 = 2^12 . For virtual address 0x12345 , the offset is 0x345 and the virtual page number is 0x12 . Translation replaces the virtual page number with a physical frame number while preserving the offset.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Worked example — Counting pages</a:t>
            </a:r>
          </a:p>
          <a:p/>
          <a:p>
            <a:r>
              <a:t>LECTURE NARRATION</a:t>
            </a:r>
          </a:p>
          <a:p>
            <a:r>
              <a:t>A 10,000-byte region starting on a page boundary spans ceil(10000/4096)=3 pages. If the region begins 3,000 bytes into a page, it consumes the remaining 1,096 bytes of that page plus enough later pages for the rest, so alignment of the start address can increase the number of pages touched.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uses a map of memory addresses. The operating system translates that map to where the data is actually stored.</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Worked example — Counting pages — Deep Dive</a:t>
            </a:r>
          </a:p>
          <a:p/>
          <a:p>
            <a:r>
              <a:t>LECTURE NARRATION</a:t>
            </a:r>
          </a:p>
          <a:p>
            <a:r>
              <a:t>A 10,000-byte region starting on a page boundary spans ceil(10000/4096)=3 pages. If the region begins 3,000 bytes into a page, it consumes the remaining 1,096 bytes of that page plus enough later pages for the rest, so alignment of the start address can increase the number of pages touched.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uses a map of memory addresses. The operating system translates that map to where the data is actually stored.</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Guided lab and review</a:t>
            </a:r>
          </a:p>
          <a:p/>
          <a:p>
            <a:r>
              <a:t>LECTURE NARRATION</a:t>
            </a:r>
          </a:p>
          <a:p>
            <a:r>
              <a:t>Lab 23. Change the model to 8-KiB pages in a 32-bit virtual and physical space. Recalculate the number of offset bits and the frame-number bound. Translate 0x12345 when its virtual page maps to frame 0x2A . Review 1. Can adjacent virtual pages use nonadjacent frames? Review 2. How much unused space can the last page of a nonempty byte region contain?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23.</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Guided lab and review — Deep Dive</a:t>
            </a:r>
          </a:p>
          <a:p/>
          <a:p>
            <a:r>
              <a:t>LECTURE NARRATION</a:t>
            </a:r>
          </a:p>
          <a:p>
            <a:r>
              <a:t>Lab 23. Change the model to 8-KiB pages in a 32-bit virtual and physical space. Recalculate the number of offset bits and the frame-number bound. Translate 0x12345 when its virtual page maps to frame 0x2A . Review 1. Can adjacent virtual pages use nonadjacent frames? Review 2. How much unused space can the last page of a nonempty byte region contain?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23.</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Chapter Synthesis</a:t>
            </a:r>
          </a:p>
          <a:p/>
          <a:p>
            <a:r>
              <a:t>LECTURE NARRATION</a:t>
            </a:r>
          </a:p>
          <a:p>
            <a:r>
              <a:t>The chapter's central subject is paging.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paging.</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Page Tables.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23 — Paging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Paging divides virtual address spaces and physical storage into fixed-size units.</a:t>
            </a:r>
          </a:p>
          <a:p>
            <a:pPr>
              <a:spcAft>
                <a:spcPts val="1100"/>
              </a:spcAft>
              <a:defRPr sz="1900">
                <a:solidFill>
                  <a:srgbClr val="F2F5F8"/>
                </a:solidFill>
              </a:defRPr>
            </a:pPr>
            <a:r>
              <a:t>• This simplifies placement: a virtual page can be backed by any suitable physical frame of the corresponding size.</a:t>
            </a:r>
          </a:p>
          <a:p>
            <a:pPr>
              <a:spcAft>
                <a:spcPts val="1100"/>
              </a:spcAft>
              <a:defRPr sz="1900">
                <a:solidFill>
                  <a:srgbClr val="F2F5F8"/>
                </a:solidFill>
              </a:defRPr>
            </a:pPr>
            <a:r>
              <a:t>• It also makes translation arithmetic systematic.</a:t>
            </a:r>
          </a:p>
          <a:p>
            <a:pPr>
              <a:spcAft>
                <a:spcPts val="1100"/>
              </a:spcAft>
              <a:defRPr sz="1700">
                <a:solidFill>
                  <a:srgbClr val="F2F5F8"/>
                </a:solidFill>
              </a:defRPr>
            </a:pPr>
            <a:r>
              <a:t>• The system trades fine-grained flexibility against page-table overhead, internal waste, and translation-cache coverage. [ R10 ]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23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Paging.</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23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23.1 Pages</a:t>
            </a:r>
          </a:p>
          <a:p>
            <a:pPr>
              <a:spcAft>
                <a:spcPts val="1100"/>
              </a:spcAft>
              <a:defRPr sz="1900">
                <a:solidFill>
                  <a:srgbClr val="F2F5F8"/>
                </a:solidFill>
              </a:defRPr>
            </a:pPr>
            <a:r>
              <a:t>• 23.2 Frames</a:t>
            </a:r>
          </a:p>
          <a:p>
            <a:pPr>
              <a:spcAft>
                <a:spcPts val="1100"/>
              </a:spcAft>
              <a:defRPr sz="1900">
                <a:solidFill>
                  <a:srgbClr val="F2F5F8"/>
                </a:solidFill>
              </a:defRPr>
            </a:pPr>
            <a:r>
              <a:t>• 23.3 Page size</a:t>
            </a:r>
          </a:p>
          <a:p>
            <a:pPr>
              <a:spcAft>
                <a:spcPts val="1100"/>
              </a:spcAft>
              <a:defRPr sz="1900">
                <a:solidFill>
                  <a:srgbClr val="F2F5F8"/>
                </a:solidFill>
              </a:defRPr>
            </a:pPr>
            <a:r>
              <a:t>• 23.4 Page offset</a:t>
            </a:r>
          </a:p>
          <a:p>
            <a:pPr>
              <a:spcAft>
                <a:spcPts val="1100"/>
              </a:spcAft>
              <a:defRPr sz="1900">
                <a:solidFill>
                  <a:srgbClr val="F2F5F8"/>
                </a:solidFill>
              </a:defRPr>
            </a:pPr>
            <a:r>
              <a:t>• ...plus 6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23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23.1 Pages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page is a fixed-size unit in the virtual address space.</a:t>
            </a:r>
          </a:p>
          <a:p>
            <a:pPr>
              <a:spcAft>
                <a:spcPts val="1100"/>
              </a:spcAft>
              <a:defRPr sz="1900">
                <a:solidFill>
                  <a:srgbClr val="F2F5F8"/>
                </a:solidFill>
              </a:defRPr>
            </a:pPr>
            <a:r>
              <a:t>• A mapping associates a virtual page with backing storage and permissions.</a:t>
            </a:r>
          </a:p>
          <a:p>
            <a:pPr>
              <a:spcAft>
                <a:spcPts val="1100"/>
              </a:spcAft>
              <a:defRPr sz="1700">
                <a:solidFill>
                  <a:srgbClr val="F2F5F8"/>
                </a:solidFill>
              </a:defRPr>
            </a:pPr>
            <a:r>
              <a:t>• Pages should not be confused with C objects: a page can contain many objects, part of one object, or bytes that no live language object currently occupies.</a:t>
            </a:r>
          </a:p>
          <a:p>
            <a:pPr>
              <a:spcAft>
                <a:spcPts val="1100"/>
              </a:spcAft>
              <a:defRPr sz="1900">
                <a:solidFill>
                  <a:srgbClr val="F2F5F8"/>
                </a:solidFill>
              </a:defRPr>
            </a:pPr>
            <a:r>
              <a:t>• A large allocation can span many pages.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23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23.1 Pages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large allocation can span many pages.</a:t>
            </a:r>
          </a:p>
          <a:p>
            <a:pPr>
              <a:spcAft>
                <a:spcPts val="1100"/>
              </a:spcAft>
              <a:defRPr sz="1900">
                <a:solidFill>
                  <a:srgbClr val="F2F5F8"/>
                </a:solidFill>
              </a:defRPr>
            </a:pPr>
            <a:r>
              <a:t>• Crossing its internal page boundaries is valid when the allocation and mappings permit it.</a:t>
            </a:r>
          </a:p>
          <a:p>
            <a:pPr>
              <a:spcAft>
                <a:spcPts val="1100"/>
              </a:spcAft>
              <a:defRPr sz="1900">
                <a:solidFill>
                  <a:srgbClr val="F2F5F8"/>
                </a:solidFill>
              </a:defRPr>
            </a:pPr>
            <a:r>
              <a:t>• Conversely, staying within one page does not prove an array index is valid.</a:t>
            </a:r>
          </a:p>
          <a:p>
            <a:pPr>
              <a:spcAft>
                <a:spcPts val="1100"/>
              </a:spcAft>
              <a:defRPr sz="1900">
                <a:solidFill>
                  <a:srgbClr val="F2F5F8"/>
                </a:solidFill>
              </a:defRPr>
            </a:pPr>
            <a:r>
              <a:t>• Object-level bounds and page-level mapping boundaries solve different problems.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23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23.2 Frames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frame is a page-sized unit of physical storage.</a:t>
            </a:r>
          </a:p>
          <a:p>
            <a:pPr>
              <a:spcAft>
                <a:spcPts val="1100"/>
              </a:spcAft>
              <a:defRPr sz="1900">
                <a:solidFill>
                  <a:srgbClr val="F2F5F8"/>
                </a:solidFill>
              </a:defRPr>
            </a:pPr>
            <a:r>
              <a:t>• The kernel tracks which frames are free, in use, shared, or involved in other memory-management activity.</a:t>
            </a:r>
          </a:p>
          <a:p>
            <a:pPr>
              <a:spcAft>
                <a:spcPts val="1100"/>
              </a:spcAft>
              <a:defRPr sz="1900">
                <a:solidFill>
                  <a:srgbClr val="F2F5F8"/>
                </a:solidFill>
              </a:defRPr>
            </a:pPr>
            <a:r>
              <a:t>• A virtual page number and a physical frame number need not be equal.</a:t>
            </a:r>
          </a:p>
          <a:p>
            <a:pPr>
              <a:spcAft>
                <a:spcPts val="1100"/>
              </a:spcAft>
              <a:defRPr sz="1900">
                <a:solidFill>
                  <a:srgbClr val="F2F5F8"/>
                </a:solidFill>
              </a:defRPr>
            </a:pPr>
            <a:r>
              <a:t>• The distinction makes noncontiguous physical placement possible.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23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23.2 Frames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distinction makes noncontiguous physical placement possible.</a:t>
            </a:r>
          </a:p>
          <a:p>
            <a:pPr>
              <a:spcAft>
                <a:spcPts val="1100"/>
              </a:spcAft>
              <a:defRPr sz="1900">
                <a:solidFill>
                  <a:srgbClr val="F2F5F8"/>
                </a:solidFill>
              </a:defRPr>
            </a:pPr>
            <a:r>
              <a:t>• Three adjacent virtual pages can be backed by frames 5, 200, and 9 while still appearing contiguous to the application.</a:t>
            </a:r>
          </a:p>
          <a:p>
            <a:pPr>
              <a:spcAft>
                <a:spcPts val="1100"/>
              </a:spcAft>
              <a:defRPr sz="1700">
                <a:solidFill>
                  <a:srgbClr val="F2F5F8"/>
                </a:solidFill>
              </a:defRPr>
            </a:pPr>
            <a:r>
              <a:t>• Device operations requiring particular physical arrangements need additional platform mechanisms; virtual contiguity alone is not a guarantee of physical contiguity.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23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23.3 Page size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For the following calculations, the page size is 4 KiB, or 4096 bytes.</a:t>
            </a:r>
          </a:p>
          <a:p>
            <a:pPr>
              <a:spcAft>
                <a:spcPts val="1100"/>
              </a:spcAft>
              <a:defRPr sz="1900">
                <a:solidFill>
                  <a:srgbClr val="F2F5F8"/>
                </a:solidFill>
              </a:defRPr>
            </a:pPr>
            <a:r>
              <a:t>• This is a teaching assumption, not a claim that every mapping on every system uses that size.</a:t>
            </a:r>
          </a:p>
          <a:p>
            <a:pPr>
              <a:spcAft>
                <a:spcPts val="1100"/>
              </a:spcAft>
              <a:defRPr sz="1700">
                <a:solidFill>
                  <a:srgbClr val="F2F5F8"/>
                </a:solidFill>
              </a:defRPr>
            </a:pPr>
            <a:r>
              <a:t>• Systems can support multiple page sizes, and applications should query the relevant platform interface where a runtime page size matters.</a:t>
            </a:r>
          </a:p>
          <a:p>
            <a:pPr>
              <a:spcAft>
                <a:spcPts val="1100"/>
              </a:spcAft>
              <a:defRPr sz="1900">
                <a:solidFill>
                  <a:srgbClr val="F2F5F8"/>
                </a:solidFill>
              </a:defRPr>
            </a:pPr>
            <a:r>
              <a:t>• Larger pages increase the amount of memory covered by one translation entry and reduce some table overhead.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23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23.3 Page size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Larger pages increase the amount of memory covered by one translation entry and reduce some table overhead.</a:t>
            </a:r>
          </a:p>
          <a:p>
            <a:pPr>
              <a:spcAft>
                <a:spcPts val="1100"/>
              </a:spcAft>
              <a:defRPr sz="1900">
                <a:solidFill>
                  <a:srgbClr val="F2F5F8"/>
                </a:solidFill>
              </a:defRPr>
            </a:pPr>
            <a:r>
              <a:t>• They can also waste more space for small or sparsely touched regions and complicate allocation or migration.</a:t>
            </a:r>
          </a:p>
          <a:p>
            <a:pPr>
              <a:spcAft>
                <a:spcPts val="1100"/>
              </a:spcAft>
              <a:defRPr sz="1900">
                <a:solidFill>
                  <a:srgbClr val="F2F5F8"/>
                </a:solidFill>
              </a:defRPr>
            </a:pPr>
            <a:r>
              <a:t>• The best size depends on workload and system policy, not merely on choosing the largest supported number.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23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23.4 Page offset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For a page size of 2^p bytes, the low p address bits form the page offset.</a:t>
            </a:r>
          </a:p>
          <a:p>
            <a:pPr>
              <a:spcAft>
                <a:spcPts val="1100"/>
              </a:spcAft>
              <a:defRPr sz="1900">
                <a:solidFill>
                  <a:srgbClr val="F2F5F8"/>
                </a:solidFill>
              </a:defRPr>
            </a:pPr>
            <a:r>
              <a:t>• With 4096-byte pages, p = 12 .</a:t>
            </a:r>
          </a:p>
          <a:p>
            <a:pPr>
              <a:spcAft>
                <a:spcPts val="1100"/>
              </a:spcAft>
              <a:defRPr sz="1900">
                <a:solidFill>
                  <a:srgbClr val="F2F5F8"/>
                </a:solidFill>
              </a:defRPr>
            </a:pPr>
            <a:r>
              <a:t>• The offset is address mod 4096 , or equivalently address &amp; 0xFFF for the nonnegative integer model.</a:t>
            </a:r>
          </a:p>
          <a:p>
            <a:pPr>
              <a:spcAft>
                <a:spcPts val="1100"/>
              </a:spcAft>
              <a:defRPr sz="1900">
                <a:solidFill>
                  <a:srgbClr val="F2F5F8"/>
                </a:solidFill>
              </a:defRPr>
            </a:pPr>
            <a:r>
              <a:t>• Translation preserves these low bits when mapping a page to an equal-sized frame.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23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23.4 Page offset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Translation preserves these low bits when mapping a page to an equal-sized frame.</a:t>
            </a:r>
          </a:p>
          <a:p>
            <a:pPr>
              <a:spcAft>
                <a:spcPts val="1100"/>
              </a:spcAft>
              <a:defRPr sz="1900">
                <a:solidFill>
                  <a:srgbClr val="F2F5F8"/>
                </a:solidFill>
              </a:defRPr>
            </a:pPr>
            <a:r>
              <a:t>• Only the page-number portion changes.</a:t>
            </a:r>
          </a:p>
          <a:p>
            <a:pPr>
              <a:spcAft>
                <a:spcPts val="1100"/>
              </a:spcAft>
              <a:defRPr sz="1700">
                <a:solidFill>
                  <a:srgbClr val="F2F5F8"/>
                </a:solidFill>
              </a:defRPr>
            </a:pPr>
            <a:r>
              <a:t>• This separation makes the final physical-address calculation straightforward and explains why correctly aligned page bases have zeroes in the offset positions.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23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23.5 Virtual page number</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virtual page number is the address divided by page size, rounded down.</a:t>
            </a:r>
          </a:p>
          <a:p>
            <a:pPr>
              <a:spcAft>
                <a:spcPts val="1100"/>
              </a:spcAft>
              <a:defRPr sz="1900">
                <a:solidFill>
                  <a:srgbClr val="F2F5F8"/>
                </a:solidFill>
              </a:defRPr>
            </a:pPr>
            <a:r>
              <a:t>• In the bit model, it is address &gt;&gt; p .</a:t>
            </a:r>
          </a:p>
          <a:p>
            <a:pPr>
              <a:spcAft>
                <a:spcPts val="1100"/>
              </a:spcAft>
              <a:defRPr sz="1900">
                <a:solidFill>
                  <a:srgbClr val="F2F5F8"/>
                </a:solidFill>
              </a:defRPr>
            </a:pPr>
            <a:r>
              <a:t>• It identifies which page-table mapping applies, potentially through several levels of indexing.</a:t>
            </a:r>
          </a:p>
          <a:p>
            <a:pPr>
              <a:spcAft>
                <a:spcPts val="1100"/>
              </a:spcAft>
              <a:defRPr sz="1900">
                <a:solidFill>
                  <a:srgbClr val="F2F5F8"/>
                </a:solidFill>
              </a:defRPr>
            </a:pPr>
            <a:r>
              <a:t>• The number of bits available for the virtual page number depends on the virtual-address model.</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23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23.5 Virtual page number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number of bits available for the virtual page number depends on the virtual-address model.</a:t>
            </a:r>
          </a:p>
          <a:p>
            <a:pPr>
              <a:spcAft>
                <a:spcPts val="1100"/>
              </a:spcAft>
              <a:defRPr sz="1900">
                <a:solidFill>
                  <a:srgbClr val="F2F5F8"/>
                </a:solidFill>
              </a:defRPr>
            </a:pPr>
            <a:r>
              <a:t>• In a 32-bit model with 4-KiB pages, there are 20 virtual-page-number bits and 12 offset bits.</a:t>
            </a:r>
          </a:p>
          <a:p>
            <a:pPr>
              <a:spcAft>
                <a:spcPts val="1100"/>
              </a:spcAft>
              <a:defRPr sz="1900">
                <a:solidFill>
                  <a:srgbClr val="F2F5F8"/>
                </a:solidFill>
              </a:defRPr>
            </a:pPr>
            <a:r>
              <a:t>• Do not transfer those counts unchanged to a different address width or page size.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23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23.6 Physical page number</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physical page number, also called a frame number in this discussion, identifies the selected frame.</a:t>
            </a:r>
          </a:p>
          <a:p>
            <a:pPr>
              <a:spcAft>
                <a:spcPts val="1100"/>
              </a:spcAft>
              <a:defRPr sz="1900">
                <a:solidFill>
                  <a:srgbClr val="F2F5F8"/>
                </a:solidFill>
              </a:defRPr>
            </a:pPr>
            <a:r>
              <a:t>• If the frame number is f , its base address is f * page_size .</a:t>
            </a:r>
          </a:p>
          <a:p>
            <a:pPr>
              <a:spcAft>
                <a:spcPts val="1100"/>
              </a:spcAft>
              <a:defRPr sz="1900">
                <a:solidFill>
                  <a:srgbClr val="F2F5F8"/>
                </a:solidFill>
              </a:defRPr>
            </a:pPr>
            <a:r>
              <a:t>• Add the original offset to obtain the final physical address.</a:t>
            </a:r>
          </a:p>
          <a:p>
            <a:pPr>
              <a:spcAft>
                <a:spcPts val="1100"/>
              </a:spcAft>
              <a:defRPr sz="1700">
                <a:solidFill>
                  <a:srgbClr val="F2F5F8"/>
                </a:solidFill>
              </a:defRPr>
            </a:pPr>
            <a:r>
              <a:t>• A page-table entry contains more than a frame number, so real software cannot treat every bit of an entry as an address.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23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23.6 Physical page number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 page-table entry contains more than a frame number, so real software cannot treat every bit of an entry as an address.</a:t>
            </a:r>
          </a:p>
          <a:p>
            <a:pPr>
              <a:spcAft>
                <a:spcPts val="1100"/>
              </a:spcAft>
              <a:defRPr sz="1900">
                <a:solidFill>
                  <a:srgbClr val="F2F5F8"/>
                </a:solidFill>
              </a:defRPr>
            </a:pPr>
            <a:r>
              <a:t>• Flag bits and architecture-specific encodings must be interpreted correctly.</a:t>
            </a:r>
          </a:p>
          <a:p>
            <a:pPr>
              <a:spcAft>
                <a:spcPts val="1100"/>
              </a:spcAft>
              <a:defRPr sz="1700">
                <a:solidFill>
                  <a:srgbClr val="F2F5F8"/>
                </a:solidFill>
              </a:defRPr>
            </a:pPr>
            <a:r>
              <a:t>• The arithmetic below deliberately uses a dictionary of already-decoded frame numbers to isolate the translation concept.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23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A checked translation model</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For virtual address 0x12345 , the virtual page number is 0x12 and the offset is 0x345 .</a:t>
            </a:r>
          </a:p>
          <a:p>
            <a:pPr>
              <a:spcAft>
                <a:spcPts val="1100"/>
              </a:spcAft>
              <a:defRPr sz="1900">
                <a:solidFill>
                  <a:srgbClr val="F2F5F8"/>
                </a:solidFill>
              </a:defRPr>
            </a:pPr>
            <a:r>
              <a:t>• If page 0x12 maps to frame 0x2A , the physical address is 0x2A345 .</a:t>
            </a:r>
          </a:p>
          <a:p>
            <a:pPr>
              <a:spcAft>
                <a:spcPts val="1100"/>
              </a:spcAft>
              <a:defRPr sz="1900">
                <a:solidFill>
                  <a:srgbClr val="F2F5F8"/>
                </a:solidFill>
              </a:defRPr>
            </a:pPr>
            <a:r>
              <a:t>• Companion listing: ch23/paging.py</a:t>
            </a:r>
          </a:p>
          <a:p>
            <a:pPr>
              <a:spcAft>
                <a:spcPts val="1100"/>
              </a:spcAft>
              <a:defRPr sz="1900">
                <a:solidFill>
                  <a:srgbClr val="F2F5F8"/>
                </a:solidFill>
              </a:defRPr>
            </a:pPr>
            <a:r>
              <a:t>• The model intentionally excludes permissions, multilevel tables, TLBs, and demand paging.</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23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A checked translation model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ch23/paging.py</a:t>
            </a:r>
          </a:p>
          <a:p>
            <a:pPr>
              <a:spcAft>
                <a:spcPts val="1100"/>
              </a:spcAft>
              <a:defRPr sz="1900">
                <a:solidFill>
                  <a:srgbClr val="F2F5F8"/>
                </a:solidFill>
              </a:defRPr>
            </a:pPr>
            <a:r>
              <a:t>• The model intentionally excludes permissions, multilevel tables, TLBs, and demand paging.</a:t>
            </a:r>
          </a:p>
          <a:p>
            <a:pPr>
              <a:spcAft>
                <a:spcPts val="1100"/>
              </a:spcAft>
              <a:defRPr sz="1900">
                <a:solidFill>
                  <a:srgbClr val="F2F5F8"/>
                </a:solidFill>
              </a:defRPr>
            </a:pPr>
            <a:r>
              <a:t>• A missing dictionary entry raises an exception in the model; it does not simulate the kernel’s full page-fault policy.</a:t>
            </a:r>
          </a:p>
          <a:p>
            <a:pPr>
              <a:spcAft>
                <a:spcPts val="1100"/>
              </a:spcAft>
              <a:defRPr sz="1700">
                <a:solidFill>
                  <a:srgbClr val="F2F5F8"/>
                </a:solidFill>
              </a:defRPr>
            </a:pPr>
            <a:r>
              <a:t>• Keeping that boundary explicit prevents a useful arithmetic exercise from being mistaken for a complete MMU implementation.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23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Splitting a virtual address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With 4 KiB pages, the page offset is 12 bits because 4096 = 2^12 .</a:t>
            </a:r>
          </a:p>
          <a:p>
            <a:pPr>
              <a:spcAft>
                <a:spcPts val="1100"/>
              </a:spcAft>
              <a:defRPr sz="1900">
                <a:solidFill>
                  <a:srgbClr val="F2F5F8"/>
                </a:solidFill>
              </a:defRPr>
            </a:pPr>
            <a:r>
              <a:t>• For virtual address 0x12345 , the offset is 0x345 and the virtual page number is 0x12 .</a:t>
            </a:r>
          </a:p>
          <a:p>
            <a:pPr>
              <a:spcAft>
                <a:spcPts val="1100"/>
              </a:spcAft>
              <a:defRPr sz="1900">
                <a:solidFill>
                  <a:srgbClr val="F2F5F8"/>
                </a:solidFill>
              </a:defRPr>
            </a:pPr>
            <a:r>
              <a:t>• Translation replaces the virtual page number with a physical frame number while preserving the offset.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23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Splitting a virtual address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With 4 KiB pages, the page offset is 12 bits because 4096 = 2^12 .</a:t>
            </a:r>
          </a:p>
          <a:p>
            <a:pPr>
              <a:spcAft>
                <a:spcPts val="1100"/>
              </a:spcAft>
              <a:defRPr sz="1900">
                <a:solidFill>
                  <a:srgbClr val="F2F5F8"/>
                </a:solidFill>
              </a:defRPr>
            </a:pPr>
            <a:r>
              <a:t>• For virtual address 0x12345 , the offset is 0x345 and the virtual page number is 0x12 .</a:t>
            </a:r>
          </a:p>
          <a:p>
            <a:pPr>
              <a:spcAft>
                <a:spcPts val="1100"/>
              </a:spcAft>
              <a:defRPr sz="1900">
                <a:solidFill>
                  <a:srgbClr val="F2F5F8"/>
                </a:solidFill>
              </a:defRPr>
            </a:pPr>
            <a:r>
              <a:t>• Translation replaces the virtual page number with a physical frame number while preserving the offset.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23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Counting pages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10,000-byte region starting on a page boundary spans ceil(10000/4096)=3 pages.</a:t>
            </a:r>
          </a:p>
          <a:p>
            <a:pPr>
              <a:spcAft>
                <a:spcPts val="1100"/>
              </a:spcAft>
              <a:defRPr sz="1700">
                <a:solidFill>
                  <a:srgbClr val="F2F5F8"/>
                </a:solidFill>
              </a:defRPr>
            </a:pPr>
            <a:r>
              <a:t>• If the region begins 3,000 bytes into a page, it consumes the remaining 1,096 bytes of that page plus enough later pages for the rest, so alignment of the start address can...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23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Counting pages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10,000-byte region starting on a page boundary spans ceil(10000/4096)=3 pages.</a:t>
            </a:r>
          </a:p>
          <a:p>
            <a:pPr>
              <a:spcAft>
                <a:spcPts val="1100"/>
              </a:spcAft>
              <a:defRPr sz="1700">
                <a:solidFill>
                  <a:srgbClr val="F2F5F8"/>
                </a:solidFill>
              </a:defRPr>
            </a:pPr>
            <a:r>
              <a:t>• If the region begins 3,000 bytes into a page, it consumes the remaining 1,096 bytes of that page plus enough later pages for the rest, so alignment of the start address...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23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23.</a:t>
            </a:r>
          </a:p>
          <a:p>
            <a:pPr>
              <a:spcAft>
                <a:spcPts val="1100"/>
              </a:spcAft>
              <a:defRPr sz="1900">
                <a:solidFill>
                  <a:srgbClr val="F2F5F8"/>
                </a:solidFill>
              </a:defRPr>
            </a:pPr>
            <a:r>
              <a:t>• Change the model to 8-KiB pages in a 32-bit virtual and physical space.</a:t>
            </a:r>
          </a:p>
          <a:p>
            <a:pPr>
              <a:spcAft>
                <a:spcPts val="1100"/>
              </a:spcAft>
              <a:defRPr sz="1900">
                <a:solidFill>
                  <a:srgbClr val="F2F5F8"/>
                </a:solidFill>
              </a:defRPr>
            </a:pPr>
            <a:r>
              <a:t>• Recalculate the number of offset bits and the frame-number bound.</a:t>
            </a:r>
          </a:p>
          <a:p>
            <a:pPr>
              <a:spcAft>
                <a:spcPts val="1100"/>
              </a:spcAft>
              <a:defRPr sz="1900">
                <a:solidFill>
                  <a:srgbClr val="F2F5F8"/>
                </a:solidFill>
              </a:defRPr>
            </a:pPr>
            <a:r>
              <a:t>• Translate 0x12345 when its virtual page maps to frame 0x2A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23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Can adjacent virtual pages use nonadjacent frames?</a:t>
            </a:r>
          </a:p>
          <a:p>
            <a:pPr>
              <a:spcAft>
                <a:spcPts val="1100"/>
              </a:spcAft>
              <a:defRPr sz="1900">
                <a:solidFill>
                  <a:srgbClr val="F2F5F8"/>
                </a:solidFill>
              </a:defRPr>
            </a:pPr>
            <a:r>
              <a:t>• Review 2.</a:t>
            </a:r>
          </a:p>
          <a:p>
            <a:pPr>
              <a:spcAft>
                <a:spcPts val="1100"/>
              </a:spcAft>
              <a:defRPr sz="1900">
                <a:solidFill>
                  <a:srgbClr val="F2F5F8"/>
                </a:solidFill>
              </a:defRPr>
            </a:pPr>
            <a:r>
              <a:t>• How much unused space can the last page of a nonempty byte region contain?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23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paging.</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23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Page Tables.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23     |     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