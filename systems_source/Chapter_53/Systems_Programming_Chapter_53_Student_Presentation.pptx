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Chapter 53 — Event-Driven I/O</a:t>
            </a:r>
          </a:p>
          <a:p/>
          <a:p>
            <a:r>
              <a:t>LECTURE NARRATION</a:t>
            </a:r>
          </a:p>
          <a:p>
            <a:r>
              <a:t>An event-driven server keeps many connection state machines in a smaller number of execution threads. Instead of blocking one thread per idle connection, it waits for readiness and advances the corresponding state only as far as current I/O permits. This trades simple sequential control flow for explicit state, buffers, and scheduling policy. Readiness is not completion. A readable socket may provide only part of a frame, and a writable socket may accept only part of a response. A correct event loop records partial progress and resumes later without losing ownership or duplicating bytes. [ R28 , R29 ]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event-driven server keeps many connection state machines in a smaller number of execution threads.</a:t>
            </a:r>
          </a:p>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What This Chapter Builds</a:t>
            </a:r>
          </a:p>
          <a:p/>
          <a:p>
            <a:r>
              <a:t>LECTURE NARRATION</a:t>
            </a:r>
          </a:p>
          <a:p>
            <a:r>
              <a:t>An event-driven server keeps many connection state machines in a smaller number of execution threads. Instead of blocking one thread per idle connection, it waits for readiness and advances the corresponding state only as far as current I/O permits. This trades simple sequential control flow for explicit state, buffers, and scheduling policy. Readiness is not completion. A readable socket may provide only part of a frame, and a writable socket may accept only part of a response. A correct event loop records partial progress and resumes later without losing ownership or duplicating bytes. [ R28 , R29 ]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event-driven server keeps many connection state machines in a smaller number of execution threads.</a:t>
            </a:r>
          </a:p>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Chapter Roadmap</a:t>
            </a:r>
          </a:p>
          <a:p/>
          <a:p>
            <a:r>
              <a:t>LECTURE NARRATION</a:t>
            </a:r>
          </a:p>
          <a:p>
            <a:r>
              <a:t>53.1 Blocking 53.2 Polling 53.3 select 53.4 poll ...plus 8 additional source topics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53.1 Blocking 53.2 Polling 53.3 select 53.4 poll ...plus 8 additional source topics</a:t>
            </a:r>
          </a:p>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53.1 Blocking</a:t>
            </a:r>
          </a:p>
          <a:p/>
          <a:p>
            <a:r>
              <a:t>LECTURE NARRATION</a:t>
            </a:r>
          </a:p>
          <a:p>
            <a:r>
              <a:t>A blocking operation can suspend the calling thread until progress or failure occurs. In a one-thread event loop, an unexpected blocking call can stall every connection managed by that loop. Set nonblocking mode on all endpoints whose operations must never stall the reactor. On Linux, accepted sockets need their flags established explicitly; inheriting the listener’s intended behavior is not a portable assumption. Potentially blocking computation and filesystem operations also require architectural attention.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blocking operation can suspend the calling thread until progress or failure occurs.</a:t>
            </a:r>
          </a:p>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53.1 Blocking — Deep Dive</a:t>
            </a:r>
          </a:p>
          <a:p/>
          <a:p>
            <a:r>
              <a:t>LECTURE NARRATION</a:t>
            </a:r>
          </a:p>
          <a:p>
            <a:r>
              <a:t>A blocking operation can suspend the calling thread until progress or failure occurs. In a one-thread event loop, an unexpected blocking call can stall every connection managed by that loop. Set nonblocking mode on all endpoints whose operations must never stall the reactor. On Linux, accepted sockets need their flags established explicitly; inheriting the listener’s intended behavior is not a portable assumption. Potentially blocking computation and filesystem operations also require architectural attention.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 blocking operation can suspend the calling thread until progress or failure occurs.</a:t>
            </a:r>
          </a:p>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53.2 Polling</a:t>
            </a:r>
          </a:p>
          <a:p/>
          <a:p>
            <a:r>
              <a:t>LECTURE NARRATION</a:t>
            </a:r>
          </a:p>
          <a:p>
            <a:r>
              <a:t>Polling can mean repeatedly checking state without sleeping, or using an interface named poll that waits for readiness. Distinguish the two. A tight loop around EAGAIN is busy polling; it consumes CPU without creating data or capacity. A readiness wait lets the kernel block the event-loop thread until an event or timeout is relevant. Some low-latency systems deliberately busy-poll under controlled budgets, but that is a specialized tradeoff, not a default error-handling loop.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polling can mean repeatedly checking state without sleeping, or using an interface named poll that waits for readiness.</a:t>
            </a:r>
          </a:p>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53.2 Polling — Deep Dive</a:t>
            </a:r>
          </a:p>
          <a:p/>
          <a:p>
            <a:r>
              <a:t>LECTURE NARRATION</a:t>
            </a:r>
          </a:p>
          <a:p>
            <a:r>
              <a:t>Polling can mean repeatedly checking state without sleeping, or using an interface named poll that waits for readiness. Distinguish the two. A tight loop around EAGAIN is busy polling; it consumes CPU without creating data or capacity. A readiness wait lets the kernel block the event-loop thread until an event or timeout is relevant. Some low-latency systems deliberately busy-poll under controlled budgets, but that is a specialized tradeoff, not a default error-handling loop.</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polling can mean repeatedly checking state without sleeping, or using an interface named poll that waits for readiness.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53.3 select</a:t>
            </a:r>
          </a:p>
          <a:p/>
          <a:p>
            <a:r>
              <a:t>LECTURE NARRATION</a:t>
            </a:r>
          </a:p>
          <a:p>
            <a:r>
              <a:t>select monitors descriptor sets for readiness. The caller prepares sets and a descriptor-range bound, then inspects the modified sets after return. The interface’s set representation imposes limits, including the fixed FD_SETSIZE constraint in common libc implementations. Do not place an arbitrary large descriptor into a fixed-size set. The highest descriptor number, not merely the count of active descriptors, matters. For larger or more dynamic sets, other interfaces often provide a more suitable representation. [ R41 ]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select monitors descriptor sets for readiness.</a:t>
            </a:r>
          </a:p>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53.3 select — Deep Dive</a:t>
            </a:r>
          </a:p>
          <a:p/>
          <a:p>
            <a:r>
              <a:t>LECTURE NARRATION</a:t>
            </a:r>
          </a:p>
          <a:p>
            <a:r>
              <a:t>select monitors descriptor sets for readiness. The caller prepares sets and a descriptor-range bound, then inspects the modified sets after return. The interface’s set representation imposes limits, including the fixed FD_SETSIZE constraint in common libc implementations. Do not place an arbitrary large descriptor into a fixed-size set. The highest descriptor number, not merely the count of active descriptors, matters. For larger or more dynamic sets, other interfaces often provide a more suitable representation. [ R41 ]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select monitors descriptor sets for readiness.</a:t>
            </a:r>
          </a:p>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53.4 poll</a:t>
            </a:r>
          </a:p>
          <a:p/>
          <a:p>
            <a:r>
              <a:t>LECTURE NARRATION</a:t>
            </a:r>
          </a:p>
          <a:p>
            <a:r>
              <a:t>poll uses an array of descriptor-event entries rather than fixed descriptor bit sets. It reports readiness and error conditions per entry. The array must still be scanned and maintained by the application. A readiness event can coexist with hangup or error indicators. Read buffered data before treating a hangup as proof that no data remains. The operation’s return value remains authoritative when attempted after readiness. [ R28 ]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poll uses an array of descriptor-event entries rather than fixed descriptor bit sets.</a:t>
            </a:r>
          </a:p>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53.4 poll — Deep Dive</a:t>
            </a:r>
          </a:p>
          <a:p/>
          <a:p>
            <a:r>
              <a:t>LECTURE NARRATION</a:t>
            </a:r>
          </a:p>
          <a:p>
            <a:r>
              <a:t>poll uses an array of descriptor-event entries rather than fixed descriptor bit sets. It reports readiness and error conditions per entry. The array must still be scanned and maintained by the application. A readiness event can coexist with hangup or error indicators. Read buffered data before treating a hangup as proof that no data remains. The operation’s return value remains authoritative when attempted after readiness. [ R28 ]</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poll uses an array of descriptor-event entries rather than fixed descriptor bit sets.</a:t>
            </a:r>
          </a:p>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53.5 epoll</a:t>
            </a:r>
          </a:p>
          <a:p/>
          <a:p>
            <a:r>
              <a:t>LECTURE NARRATION</a:t>
            </a:r>
          </a:p>
          <a:p>
            <a:r>
              <a:t>Linux epoll maintains an interest set and returns ready events. It supports level-triggered and edge-triggered modes. Level-triggered behavior continues to report readiness while the condition remains; edge-triggered use requires carefully draining nonblocking operations until they would block. [ R29 ] Do not describe epoll as making every network operation universally constant-time. Registration changes, event delivery, application state lookup, and actual I/O still cost work. Its usefulness comes from avoiding repeated handling of large inactive descriptor sets in suitable workloads.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linux epoll maintains an interest set and returns ready events.</a:t>
            </a:r>
          </a:p>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53.5 epoll — Deep Dive</a:t>
            </a:r>
          </a:p>
          <a:p/>
          <a:p>
            <a:r>
              <a:t>LECTURE NARRATION</a:t>
            </a:r>
          </a:p>
          <a:p>
            <a:r>
              <a:t>Linux epoll maintains an interest set and returns ready events. It supports level-triggered and edge-triggered modes. Level-triggered behavior continues to report readiness while the condition remains; edge-triggered use requires carefully draining nonblocking operations until they would block. [ R29 ] Do not describe epoll as making every network operation universally constant-time. Registration changes, event delivery, application state lookup, and actual I/O still cost work. Its usefulness comes from avoiding repeated handling of large inactive descriptor sets in suitable workloads.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linux epoll maintains an interest set and returns ready events.</a:t>
            </a:r>
          </a:p>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53.6 Event loops</a:t>
            </a:r>
          </a:p>
          <a:p/>
          <a:p>
            <a:r>
              <a:t>LECTURE NARRATION</a:t>
            </a:r>
          </a:p>
          <a:p>
            <a:r>
              <a:t>An event loop waits, dispatches ready connections, performs bounded work, updates interest masks, and handles timers and shutdown. Each connection retains input progress, output progress, and protocol state between dispatches. Register write readiness only when output remains pending; an idle socket is often writable and can otherwise wake the loop continuously. For edge-triggered operation, stopping before EAGAIN for fairness requires an explicit rescheduling strategy so that remaining work is not forgotten while waiting for a new edge.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event loop waits, dispatches ready connections, performs bounded work, updates interest masks, and handles timers and shutdown.</a:t>
            </a:r>
          </a:p>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53.6 Event loops — Deep Dive</a:t>
            </a:r>
          </a:p>
          <a:p/>
          <a:p>
            <a:r>
              <a:t>LECTURE NARRATION</a:t>
            </a:r>
          </a:p>
          <a:p>
            <a:r>
              <a:t>An event loop waits, dispatches ready connections, performs bounded work, updates interest masks, and handles timers and shutdown. Each connection retains input progress, output progress, and protocol state between dispatches. Register write readiness only when output remains pending; an idle socket is often writable and can otherwise wake the loop continuously. For edge-triggered operation, stopping before EAGAIN for fairness requires an explicit rescheduling strategy so that remaining work is not forgotten while waiting for a new edge.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an event loop waits, dispatches ready connections, performs bounded work, updates interest masks, and handles timers and shutdown.</a:t>
            </a:r>
          </a:p>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53.7 Active connections</a:t>
            </a:r>
          </a:p>
          <a:p/>
          <a:p>
            <a:r>
              <a:t>LECTURE NARRATION</a:t>
            </a:r>
          </a:p>
          <a:p>
            <a:r>
              <a:t>Connection lifetime must outlast every queued event and task that refers to it. Descriptor numbers can be reused, so identifying a connection solely by an old integer in delayed work can target a new connection accidentally. Use ownership-aware objects, generation identifiers, or another strategy that validates event identity. Closing and deleting a connection is a state transition coordinated with the reactor, not an arbitrary action another thread should perform while callbacks still hold raw pointers.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connection lifetime must outlast every queued event and task that refers to it.</a:t>
            </a:r>
          </a:p>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17: 53.7 Active connections — Deep Dive</a:t>
            </a:r>
          </a:p>
          <a:p/>
          <a:p>
            <a:r>
              <a:t>LECTURE NARRATION</a:t>
            </a:r>
          </a:p>
          <a:p>
            <a:r>
              <a:t>Connection lifetime must outlast every queued event and task that refers to it. Descriptor numbers can be reused, so identifying a connection solely by an old integer in delayed work can target a new connection accidentally. Use ownership-aware objects, generation identifiers, or another strategy that validates event identity. Closing and deleting a connection is a state transition coordinated with the reactor, not an arbitrary action another thread should perform while callbacks still hold raw pointers.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connection lifetime must outlast every queued event and task that refers to it.</a:t>
            </a:r>
          </a:p>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18: 53.8 Scaling large numbers of connections</a:t>
            </a:r>
          </a:p>
          <a:p/>
          <a:p>
            <a:r>
              <a:t>LECTURE NARRATION</a:t>
            </a:r>
          </a:p>
          <a:p>
            <a:r>
              <a:t>Event-driven designs reduce thread-per-idle-connection overhead, but active work still consumes CPU, memory, and bandwidth. Bound input, output, queued tasks, and per-dispatch work. Backpressure is as important in an event loop as in a threaded server. A common architecture combines a small set of I/O reactors with a bounded worker pool for heavier computation. The handoff must preserve connection lifetime and return results through a safe queue. More architectural layers create more ownership transitions to test.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event-driven designs reduce thread-per-idle-connection overhead, but active work still consumes CPU, memory, and bandwidth.</a:t>
            </a:r>
          </a:p>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19: 53.8 Scaling large numbers of connections — Deep Dive</a:t>
            </a:r>
          </a:p>
          <a:p/>
          <a:p>
            <a:r>
              <a:t>LECTURE NARRATION</a:t>
            </a:r>
          </a:p>
          <a:p>
            <a:r>
              <a:t>Event-driven designs reduce thread-per-idle-connection overhead, but active work still consumes CPU, memory, and bandwidth. Bound input, output, queued tasks, and per-dispatch work. Backpressure is as important in an event loop as in a threaded server. A common architecture combines a small set of I/O reactors with a bounded worker pool for heavier computation. The handoff must preserve connection lifetime and return results through a safe queue. More architectural layers create more ownership transitions to test.</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event-driven designs reduce thread-per-idle-connection overhead, but active work still consumes CPU, memory, and bandwidth.</a:t>
            </a:r>
          </a:p>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20: Worked example — Drain an edge-triggered stream through EOF</a:t>
            </a:r>
          </a:p>
          <a:p/>
          <a:p>
            <a:r>
              <a:t>LECTURE NARRATION</a:t>
            </a:r>
          </a:p>
          <a:p>
            <a:r>
              <a:t>This Linux-only test uses a local nonblocking socket pair rather than a public listener. One endpoint sends ping and half-closes its write direction. The epoll-managed endpoint drains two-byte chunks until EOF, demonstrating that the final data must be read even when closure is also observable. Companion listing: ch53/epoll_read.cpp The expected output is epoll received: ping . The tiny fixed send is performed on an empty local socket buffer; the shared send_all helper treats EAGAIN as failure rather than implementing an output reactor. This test therefore demonstrates the receive-side edge-triggered state machine, not a complete nonblocking server.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Linux-only test uses a local nonblocking socket pair rather than a public listener.</a:t>
            </a:r>
          </a:p>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21: Worked example — Drain an edge-triggered stream through EOF — Deep Dive</a:t>
            </a:r>
          </a:p>
          <a:p/>
          <a:p>
            <a:r>
              <a:t>LECTURE NARRATION</a:t>
            </a:r>
          </a:p>
          <a:p>
            <a:r>
              <a:t>This Linux-only test uses a local nonblocking socket pair rather than a public listener. One endpoint sends ping and half-closes its write direction. The epoll-managed endpoint drains two-byte chunks until EOF, demonstrating that the final data must be read even when closure is also observable. Companion listing: ch53/epoll_read.cpp The expected output is epoll received: ping . The tiny fixed send is performed on an empty local socket buffer; the shared send_all helper treats EAGAIN as failure rather than implementing an output reactor. This test therefore demonstrates the receive-side edge-triggered state machine, not a complete nonblocking server.</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this Linux-only test uses a local nonblocking socket pair rather than a public listener.</a:t>
            </a:r>
          </a:p>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22: Worked example — Readiness loop with epoll</a:t>
            </a:r>
          </a:p>
          <a:p/>
          <a:p>
            <a:r>
              <a:t>LECTURE NARRATION</a:t>
            </a:r>
          </a:p>
          <a:p>
            <a:r>
              <a:t>Register nonblocking client descriptors with an epoll instance. The event loop waits for readiness, then services whichever descriptors are reported. In edge-triggered mode, a read handler typically continues until EAGAIN so all currently available bytes are drained; otherwise no new edge may arrive for already-buffered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 nonblocking client descriptors with an epoll instance.</a:t>
            </a:r>
          </a:p>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23: Worked example — Readiness loop with epoll — Deep Dive</a:t>
            </a:r>
          </a:p>
          <a:p/>
          <a:p>
            <a:r>
              <a:t>LECTURE NARRATION</a:t>
            </a:r>
          </a:p>
          <a:p>
            <a:r>
              <a:t>Register nonblocking client descriptors with an epoll instance. The event loop waits for readiness, then services whichever descriptors are reported. In edge-triggered mode, a read handler typically continues until EAGAIN so all currently available bytes are drained; otherwise no new edge may arrive for already-buffered data.</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register nonblocking client descriptors with an epoll instance.</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24: Worked example — Why nonblocking matters</a:t>
            </a:r>
          </a:p>
          <a:p/>
          <a:p>
            <a:r>
              <a:t>LECTURE NARRATION</a:t>
            </a:r>
          </a:p>
          <a:p>
            <a:r>
              <a:t>If an event-loop thread performs a blocking read on one client that has no complete request, the entire loop can stall and stop servicing other ready clients. Nonblocking descriptors let the loop attempt work, detect that an operation would block, and return to multiplexing other connections.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an event-loop thread performs a blocking read on one client that has no complete request, the entire loop can stall and stop servicing other ready clients.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25: Worked example — Why nonblocking matters — Deep Dive</a:t>
            </a:r>
          </a:p>
          <a:p/>
          <a:p>
            <a:r>
              <a:t>LECTURE NARRATION</a:t>
            </a:r>
          </a:p>
          <a:p>
            <a:r>
              <a:t>If an event-loop thread performs a blocking read on one client that has no complete request, the entire loop can stall and stop servicing other ready clients. Nonblocking descriptors let the loop attempt work, detect that an operation would block, and return to multiplexing other connections.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if an event-loop thread performs a blocking read on one client that has no complete request, the entire loop can stall and stop servicing other ready clients.</a:t>
            </a:r>
          </a:p>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26: Guided lab and review</a:t>
            </a:r>
          </a:p>
          <a:p/>
          <a:p>
            <a:r>
              <a:t>LECTURE NARRATION</a:t>
            </a:r>
          </a:p>
          <a:p>
            <a:r>
              <a:t>Lab 53. Extend the fixture to feed a length-prefixed frame in several chunks and retain prefix/body progress across readiness events. Add an output buffer with an offset and enable write interest only while unsent bytes remain. Keep all fixtures local and impose a bounded test deadline. Review 1. Why must edge-triggered reads continue to EAGAIN or EOF? Review 2. Why can a stale descriptor number identify the wrong connection?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53.</a:t>
            </a:r>
          </a:p>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27: Guided lab and review — Deep Dive</a:t>
            </a:r>
          </a:p>
          <a:p/>
          <a:p>
            <a:r>
              <a:t>LECTURE NARRATION</a:t>
            </a:r>
          </a:p>
          <a:p>
            <a:r>
              <a:t>Lab 53. Extend the fixture to feed a length-prefixed frame in several chunks and retain prefix/body progress across readiness events. Add an output buffer with an offset and enable write interest only while unsent bytes remain. Keep all fixtures local and impose a bounded test deadline. Review 1. Why must edge-triggered reads continue to EAGAIN or EOF? Review 2. Why can a stale descriptor number identify the wrong connection?</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lab 53.</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28: Chapter Synthesis</a:t>
            </a:r>
          </a:p>
          <a:p/>
          <a:p>
            <a:r>
              <a:t>LECTURE NARRATION</a:t>
            </a:r>
          </a:p>
          <a:p>
            <a:r>
              <a:t>The chapter's central subject is event-driven i/o. Correct reasoning requires explicit assumptions, bounds, ownership, and interface contracts. Observed behavior is evidence about a run; it is not automatically a language or system guarantee. Use the worked examples and lab to test whether the model transfers to new cases.</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the chapter's central subject is event-driven i/o.</a:t>
            </a:r>
          </a:p>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29: Review and Transition</a:t>
            </a:r>
          </a:p>
          <a:p/>
          <a:p>
            <a:r>
              <a:t>LECTURE NARRATION</a:t>
            </a:r>
          </a:p>
          <a:p>
            <a:r>
              <a:t>Explain one mechanism from the chapter without relying on vocabulary alone. Identify one failure mode and the violated contract or invariant. State what evidence would support your diagnosis and what it would not prove. Next: Measuring Performance.</a:t>
            </a:r>
          </a:p>
          <a:p/>
          <a:p>
            <a:r>
              <a:t>At graduate level, do not treat this as a term to memorize. Identify the contract being described, the state or representation it constrains, and the assumptions that must remain true. When this topic appears in real systems code, separate what the language guarantees from what a compiler, operating system, ABI, ISA, or particular machine happens to do. Then identify the evidence you would inspect to test the claim without overgeneralizing from a single successful run.</a:t>
            </a:r>
          </a:p>
          <a:p/>
          <a:p>
            <a:r>
              <a:t>SIXTH-GRADE EXPLANATION</a:t>
            </a:r>
          </a:p>
          <a:p>
            <a:r>
              <a:t>In simpler terms, explain one mechanism from the chapter without relying on vocabulary alone.</a:t>
            </a:r>
          </a:p>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53 — Event-Driven I/O</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GRADUATE LECTURE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An event-driven server keeps many connection state machines in a smaller number of execution threads.</a:t>
            </a:r>
          </a:p>
          <a:p>
            <a:pPr>
              <a:spcAft>
                <a:spcPts val="1100"/>
              </a:spcAft>
              <a:defRPr sz="1700">
                <a:solidFill>
                  <a:srgbClr val="F2F5F8"/>
                </a:solidFill>
              </a:defRPr>
            </a:pPr>
            <a:r>
              <a:t>• Instead of blocking one thread per idle connection, it waits for readiness and advances the corresponding state only as far as current I/O permits.</a:t>
            </a:r>
          </a:p>
          <a:p>
            <a:pPr>
              <a:spcAft>
                <a:spcPts val="1100"/>
              </a:spcAft>
              <a:defRPr sz="1900">
                <a:solidFill>
                  <a:srgbClr val="F2F5F8"/>
                </a:solidFill>
              </a:defRPr>
            </a:pPr>
            <a:r>
              <a:t>• This trades simple sequential control flow for explicit state, buffers, and scheduling policy.</a:t>
            </a:r>
          </a:p>
          <a:p>
            <a:pPr>
              <a:spcAft>
                <a:spcPts val="1100"/>
              </a:spcAft>
              <a:defRPr sz="1900">
                <a:solidFill>
                  <a:srgbClr val="F2F5F8"/>
                </a:solidFill>
              </a:defRPr>
            </a:pPr>
            <a:r>
              <a:t>• Readiness is not completion.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What This Chapter Builds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LEARNING OBJECTIVES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the mechanisms and contracts in Event-Driven I/O.</a:t>
            </a:r>
          </a:p>
          <a:p>
            <a:pPr>
              <a:spcAft>
                <a:spcPts val="1100"/>
              </a:spcAft>
              <a:defRPr sz="1900">
                <a:solidFill>
                  <a:srgbClr val="F2F5F8"/>
                </a:solidFill>
              </a:defRPr>
            </a:pPr>
            <a:r>
              <a:t>• Trace the chapter's important state, representation, and resource transitions.</a:t>
            </a:r>
          </a:p>
          <a:p>
            <a:pPr>
              <a:spcAft>
                <a:spcPts val="1100"/>
              </a:spcAft>
              <a:defRPr sz="1900">
                <a:solidFill>
                  <a:srgbClr val="F2F5F8"/>
                </a:solidFill>
              </a:defRPr>
            </a:pPr>
            <a:r>
              <a:t>• Identify failure modes, assumptions, and evidence required for correctness.</a:t>
            </a:r>
          </a:p>
          <a:p>
            <a:pPr>
              <a:spcAft>
                <a:spcPts val="1100"/>
              </a:spcAft>
              <a:defRPr sz="1900">
                <a:solidFill>
                  <a:srgbClr val="F2F5F8"/>
                </a:solidFill>
              </a:defRPr>
            </a:pPr>
            <a:r>
              <a:t>• Apply the chapter model to the worked examples and guided lab.</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Roadmap</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SOURCE-ALIGNED COVERAGE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53.1 Blocking</a:t>
            </a:r>
          </a:p>
          <a:p>
            <a:pPr>
              <a:spcAft>
                <a:spcPts val="1100"/>
              </a:spcAft>
              <a:defRPr sz="1900">
                <a:solidFill>
                  <a:srgbClr val="F2F5F8"/>
                </a:solidFill>
              </a:defRPr>
            </a:pPr>
            <a:r>
              <a:t>• 53.2 Polling</a:t>
            </a:r>
          </a:p>
          <a:p>
            <a:pPr>
              <a:spcAft>
                <a:spcPts val="1100"/>
              </a:spcAft>
              <a:defRPr sz="1900">
                <a:solidFill>
                  <a:srgbClr val="F2F5F8"/>
                </a:solidFill>
              </a:defRPr>
            </a:pPr>
            <a:r>
              <a:t>• 53.3 select</a:t>
            </a:r>
          </a:p>
          <a:p>
            <a:pPr>
              <a:spcAft>
                <a:spcPts val="1100"/>
              </a:spcAft>
              <a:defRPr sz="1900">
                <a:solidFill>
                  <a:srgbClr val="F2F5F8"/>
                </a:solidFill>
              </a:defRPr>
            </a:pPr>
            <a:r>
              <a:t>• 53.4 poll</a:t>
            </a:r>
          </a:p>
          <a:p>
            <a:pPr>
              <a:spcAft>
                <a:spcPts val="1100"/>
              </a:spcAft>
              <a:defRPr sz="1900">
                <a:solidFill>
                  <a:srgbClr val="F2F5F8"/>
                </a:solidFill>
              </a:defRPr>
            </a:pPr>
            <a:r>
              <a:t>• ...plus 8 additional source topics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53.1 Blocking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blocking operation can suspend the calling thread until progress or failure occurs.</a:t>
            </a:r>
          </a:p>
          <a:p>
            <a:pPr>
              <a:spcAft>
                <a:spcPts val="1100"/>
              </a:spcAft>
              <a:defRPr sz="1900">
                <a:solidFill>
                  <a:srgbClr val="F2F5F8"/>
                </a:solidFill>
              </a:defRPr>
            </a:pPr>
            <a:r>
              <a:t>• In a one-thread event loop, an unexpected blocking call can stall every connection managed by that loop.</a:t>
            </a:r>
          </a:p>
          <a:p>
            <a:pPr>
              <a:spcAft>
                <a:spcPts val="1100"/>
              </a:spcAft>
              <a:defRPr sz="1900">
                <a:solidFill>
                  <a:srgbClr val="F2F5F8"/>
                </a:solidFill>
              </a:defRPr>
            </a:pPr>
            <a:r>
              <a:t>• Set nonblocking mode on all endpoints whose operations must never stall the reactor.</a:t>
            </a:r>
          </a:p>
          <a:p>
            <a:pPr>
              <a:spcAft>
                <a:spcPts val="1100"/>
              </a:spcAft>
              <a:defRPr sz="1700">
                <a:solidFill>
                  <a:srgbClr val="F2F5F8"/>
                </a:solidFill>
              </a:defRPr>
            </a:pPr>
            <a:r>
              <a:t>• On Linux, accepted sockets need their flags established explicitly; inheriting the listener’s intended behavior is not a portable assumption.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53.1 Blocking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Set nonblocking mode on all endpoints whose operations must never stall the reactor.</a:t>
            </a:r>
          </a:p>
          <a:p>
            <a:pPr>
              <a:spcAft>
                <a:spcPts val="1100"/>
              </a:spcAft>
              <a:defRPr sz="1700">
                <a:solidFill>
                  <a:srgbClr val="F2F5F8"/>
                </a:solidFill>
              </a:defRPr>
            </a:pPr>
            <a:r>
              <a:t>• On Linux, accepted sockets need their flags established explicitly; inheriting the listener’s intended behavior is not a portable assumption.</a:t>
            </a:r>
          </a:p>
          <a:p>
            <a:pPr>
              <a:spcAft>
                <a:spcPts val="1100"/>
              </a:spcAft>
              <a:defRPr sz="1900">
                <a:solidFill>
                  <a:srgbClr val="F2F5F8"/>
                </a:solidFill>
              </a:defRPr>
            </a:pPr>
            <a:r>
              <a:t>• Potentially blocking computation and filesystem operations also require architectural attention.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53.2 Polling</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Polling can mean repeatedly checking state without sleeping, or using an interface named poll that waits for readiness.</a:t>
            </a:r>
          </a:p>
          <a:p>
            <a:pPr>
              <a:spcAft>
                <a:spcPts val="1100"/>
              </a:spcAft>
              <a:defRPr sz="1900">
                <a:solidFill>
                  <a:srgbClr val="F2F5F8"/>
                </a:solidFill>
              </a:defRPr>
            </a:pPr>
            <a:r>
              <a:t>• Distinguish the two.</a:t>
            </a:r>
          </a:p>
          <a:p>
            <a:pPr>
              <a:spcAft>
                <a:spcPts val="1100"/>
              </a:spcAft>
              <a:defRPr sz="1900">
                <a:solidFill>
                  <a:srgbClr val="F2F5F8"/>
                </a:solidFill>
              </a:defRPr>
            </a:pPr>
            <a:r>
              <a:t>• A tight loop around EAGAIN is busy polling; it consumes CPU without creating data or capacity.</a:t>
            </a:r>
          </a:p>
          <a:p>
            <a:pPr>
              <a:spcAft>
                <a:spcPts val="1100"/>
              </a:spcAft>
              <a:defRPr sz="1900">
                <a:solidFill>
                  <a:srgbClr val="F2F5F8"/>
                </a:solidFill>
              </a:defRPr>
            </a:pPr>
            <a:r>
              <a:t>• A readiness wait lets the kernel block the event-loop thread until an event or timeout is relevant.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53.2 Polling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readiness wait lets the kernel block the event-loop thread until an event or timeout is relevant.</a:t>
            </a:r>
          </a:p>
          <a:p>
            <a:pPr>
              <a:spcAft>
                <a:spcPts val="1100"/>
              </a:spcAft>
              <a:defRPr sz="1700">
                <a:solidFill>
                  <a:srgbClr val="F2F5F8"/>
                </a:solidFill>
              </a:defRPr>
            </a:pPr>
            <a:r>
              <a:t>• Some low-latency systems deliberately busy-poll under controlled budgets, but that is a specialized tradeoff, not a default error-handling loop.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53.3 select</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select monitors descriptor sets for readiness.</a:t>
            </a:r>
          </a:p>
          <a:p>
            <a:pPr>
              <a:spcAft>
                <a:spcPts val="1100"/>
              </a:spcAft>
              <a:defRPr sz="1900">
                <a:solidFill>
                  <a:srgbClr val="F2F5F8"/>
                </a:solidFill>
              </a:defRPr>
            </a:pPr>
            <a:r>
              <a:t>• The caller prepares sets and a descriptor-range bound, then inspects the modified sets after return.</a:t>
            </a:r>
          </a:p>
          <a:p>
            <a:pPr>
              <a:spcAft>
                <a:spcPts val="1100"/>
              </a:spcAft>
              <a:defRPr sz="1700">
                <a:solidFill>
                  <a:srgbClr val="F2F5F8"/>
                </a:solidFill>
              </a:defRPr>
            </a:pPr>
            <a:r>
              <a:t>• The interface’s set representation imposes limits, including the fixed FD_SETSIZE constraint in common libc implementations.</a:t>
            </a:r>
          </a:p>
          <a:p>
            <a:pPr>
              <a:spcAft>
                <a:spcPts val="1100"/>
              </a:spcAft>
              <a:defRPr sz="1900">
                <a:solidFill>
                  <a:srgbClr val="F2F5F8"/>
                </a:solidFill>
              </a:defRPr>
            </a:pPr>
            <a:r>
              <a:t>• Do not place an arbitrary large descriptor into a fixed-size set.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53.3 select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place an arbitrary large descriptor into a fixed-size set.</a:t>
            </a:r>
          </a:p>
          <a:p>
            <a:pPr>
              <a:spcAft>
                <a:spcPts val="1100"/>
              </a:spcAft>
              <a:defRPr sz="1900">
                <a:solidFill>
                  <a:srgbClr val="F2F5F8"/>
                </a:solidFill>
              </a:defRPr>
            </a:pPr>
            <a:r>
              <a:t>• The highest descriptor number, not merely the count of active descriptors, matters.</a:t>
            </a:r>
          </a:p>
          <a:p>
            <a:pPr>
              <a:spcAft>
                <a:spcPts val="1100"/>
              </a:spcAft>
              <a:defRPr sz="1900">
                <a:solidFill>
                  <a:srgbClr val="F2F5F8"/>
                </a:solidFill>
              </a:defRPr>
            </a:pPr>
            <a:r>
              <a:t>• For larger or more dynamic sets, other interfaces often provide a more suitable representation. [ R41 ]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53.4 poll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poll uses an array of descriptor-event entries rather than fixed descriptor bit sets.</a:t>
            </a:r>
          </a:p>
          <a:p>
            <a:pPr>
              <a:spcAft>
                <a:spcPts val="1100"/>
              </a:spcAft>
              <a:defRPr sz="1900">
                <a:solidFill>
                  <a:srgbClr val="F2F5F8"/>
                </a:solidFill>
              </a:defRPr>
            </a:pPr>
            <a:r>
              <a:t>• It reports readiness and error conditions per entry.</a:t>
            </a:r>
          </a:p>
          <a:p>
            <a:pPr>
              <a:spcAft>
                <a:spcPts val="1100"/>
              </a:spcAft>
              <a:defRPr sz="1900">
                <a:solidFill>
                  <a:srgbClr val="F2F5F8"/>
                </a:solidFill>
              </a:defRPr>
            </a:pPr>
            <a:r>
              <a:t>• The array must still be scanned and maintained by the application.</a:t>
            </a:r>
          </a:p>
          <a:p>
            <a:pPr>
              <a:spcAft>
                <a:spcPts val="1100"/>
              </a:spcAft>
              <a:defRPr sz="1900">
                <a:solidFill>
                  <a:srgbClr val="F2F5F8"/>
                </a:solidFill>
              </a:defRPr>
            </a:pPr>
            <a:r>
              <a:t>• A readiness event can coexist with hangup or error indicators.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53.4 poll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readiness event can coexist with hangup or error indicators.</a:t>
            </a:r>
          </a:p>
          <a:p>
            <a:pPr>
              <a:spcAft>
                <a:spcPts val="1100"/>
              </a:spcAft>
              <a:defRPr sz="1900">
                <a:solidFill>
                  <a:srgbClr val="F2F5F8"/>
                </a:solidFill>
              </a:defRPr>
            </a:pPr>
            <a:r>
              <a:t>• Read buffered data before treating a hangup as proof that no data remains.</a:t>
            </a:r>
          </a:p>
          <a:p>
            <a:pPr>
              <a:spcAft>
                <a:spcPts val="1100"/>
              </a:spcAft>
              <a:defRPr sz="1900">
                <a:solidFill>
                  <a:srgbClr val="F2F5F8"/>
                </a:solidFill>
              </a:defRPr>
            </a:pPr>
            <a:r>
              <a:t>• The operation’s return value remains authoritative when attempted after readiness. [ R28 ]</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53.5 epoll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Linux epoll maintains an interest set and returns ready events.</a:t>
            </a:r>
          </a:p>
          <a:p>
            <a:pPr>
              <a:spcAft>
                <a:spcPts val="1100"/>
              </a:spcAft>
              <a:defRPr sz="1900">
                <a:solidFill>
                  <a:srgbClr val="F2F5F8"/>
                </a:solidFill>
              </a:defRPr>
            </a:pPr>
            <a:r>
              <a:t>• It supports level-triggered and edge-triggered modes.</a:t>
            </a:r>
          </a:p>
          <a:p>
            <a:pPr>
              <a:spcAft>
                <a:spcPts val="1100"/>
              </a:spcAft>
              <a:defRPr sz="1700">
                <a:solidFill>
                  <a:srgbClr val="F2F5F8"/>
                </a:solidFill>
              </a:defRPr>
            </a:pPr>
            <a:r>
              <a:t>• Level-triggered behavior continues to report readiness while the condition remains; edge-triggered use requires carefully draining nonblocking operations until they would...</a:t>
            </a:r>
          </a:p>
          <a:p>
            <a:pPr>
              <a:spcAft>
                <a:spcPts val="1100"/>
              </a:spcAft>
              <a:defRPr sz="1900">
                <a:solidFill>
                  <a:srgbClr val="F2F5F8"/>
                </a:solidFill>
              </a:defRPr>
            </a:pPr>
            <a:r>
              <a:t>• Do not describe epoll as making every network operation universally constant-time.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53.5 epoll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Do not describe epoll as making every network operation universally constant-time.</a:t>
            </a:r>
          </a:p>
          <a:p>
            <a:pPr>
              <a:spcAft>
                <a:spcPts val="1100"/>
              </a:spcAft>
              <a:defRPr sz="1900">
                <a:solidFill>
                  <a:srgbClr val="F2F5F8"/>
                </a:solidFill>
              </a:defRPr>
            </a:pPr>
            <a:r>
              <a:t>• Registration changes, event delivery, application state lookup, and actual I/O still cost work.</a:t>
            </a:r>
          </a:p>
          <a:p>
            <a:pPr>
              <a:spcAft>
                <a:spcPts val="1100"/>
              </a:spcAft>
              <a:defRPr sz="1900">
                <a:solidFill>
                  <a:srgbClr val="F2F5F8"/>
                </a:solidFill>
              </a:defRPr>
            </a:pPr>
            <a:r>
              <a:t>• Its usefulness comes from avoiding repeated handling of large inactive descriptor sets in suitable workloads.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53.6 Event loops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An event loop waits, dispatches ready connections, performs bounded work, updates interest masks, and handles timers and shutdown.</a:t>
            </a:r>
          </a:p>
          <a:p>
            <a:pPr>
              <a:spcAft>
                <a:spcPts val="1100"/>
              </a:spcAft>
              <a:defRPr sz="1900">
                <a:solidFill>
                  <a:srgbClr val="F2F5F8"/>
                </a:solidFill>
              </a:defRPr>
            </a:pPr>
            <a:r>
              <a:t>• Each connection retains input progress, output progress, and protocol state between dispatches.</a:t>
            </a:r>
          </a:p>
          <a:p>
            <a:pPr>
              <a:spcAft>
                <a:spcPts val="1100"/>
              </a:spcAft>
              <a:defRPr sz="1700">
                <a:solidFill>
                  <a:srgbClr val="F2F5F8"/>
                </a:solidFill>
              </a:defRPr>
            </a:pPr>
            <a:r>
              <a:t>• Register write readiness only when output remains pending; an idle socket is often writable and can otherwise wake the loop continuously.</a:t>
            </a:r>
          </a:p>
          <a:p>
            <a:pPr>
              <a:spcAft>
                <a:spcPts val="1100"/>
              </a:spcAft>
              <a:defRPr sz="1700">
                <a:solidFill>
                  <a:srgbClr val="F2F5F8"/>
                </a:solidFill>
              </a:defRPr>
            </a:pPr>
            <a:r>
              <a:t>• For edge-triggered operation, stopping before EAGAIN for fairness requires an explicit rescheduling strategy so that remaining work is not forgotten while waiting for a new edge.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53.6 Event loops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Register write readiness only when output remains pending; an idle socket is often writable and can otherwise wake the loop continuously.</a:t>
            </a:r>
          </a:p>
          <a:p>
            <a:pPr>
              <a:spcAft>
                <a:spcPts val="1100"/>
              </a:spcAft>
              <a:defRPr sz="1700">
                <a:solidFill>
                  <a:srgbClr val="F2F5F8"/>
                </a:solidFill>
              </a:defRPr>
            </a:pPr>
            <a:r>
              <a:t>• For edge-triggered operation, stopping before EAGAIN for fairness requires an explicit rescheduling strategy so that remaining work is not forgotten while waiting for 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53.7 Active connections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Connection lifetime must outlast every queued event and task that refers to it.</a:t>
            </a:r>
          </a:p>
          <a:p>
            <a:pPr>
              <a:spcAft>
                <a:spcPts val="1100"/>
              </a:spcAft>
              <a:defRPr sz="1700">
                <a:solidFill>
                  <a:srgbClr val="F2F5F8"/>
                </a:solidFill>
              </a:defRPr>
            </a:pPr>
            <a:r>
              <a:t>• Descriptor numbers can be reused, so identifying a connection solely by an old integer in delayed work can target a new connection accidentally.</a:t>
            </a:r>
          </a:p>
          <a:p>
            <a:pPr>
              <a:spcAft>
                <a:spcPts val="1100"/>
              </a:spcAft>
              <a:defRPr sz="1900">
                <a:solidFill>
                  <a:srgbClr val="F2F5F8"/>
                </a:solidFill>
              </a:defRPr>
            </a:pPr>
            <a:r>
              <a:t>• Use ownership-aware objects, generation identifiers, or another strategy that validates event identity.</a:t>
            </a:r>
          </a:p>
          <a:p>
            <a:pPr>
              <a:spcAft>
                <a:spcPts val="1100"/>
              </a:spcAft>
              <a:defRPr sz="1700">
                <a:solidFill>
                  <a:srgbClr val="F2F5F8"/>
                </a:solidFill>
              </a:defRPr>
            </a:pPr>
            <a:r>
              <a:t>• Closing and deleting a connection is a state transition coordinated with the reactor, not an arbitrary action another thread should perform while callbacks still hold raw pointers.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53.7 Active connections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Use ownership-aware objects, generation identifiers, or another strategy that validates event identity.</a:t>
            </a:r>
          </a:p>
          <a:p>
            <a:pPr>
              <a:spcAft>
                <a:spcPts val="1100"/>
              </a:spcAft>
              <a:defRPr sz="1700">
                <a:solidFill>
                  <a:srgbClr val="F2F5F8"/>
                </a:solidFill>
              </a:defRPr>
            </a:pPr>
            <a:r>
              <a:t>• Closing and deleting a connection is a state transition coordinated with the reactor, not an arbitrary action another thread should perform while callbacks still hold raw...</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53.8 Scaling large numbers of connections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Event-driven designs reduce thread-per-idle-connection overhead, but active work still consumes CPU, memory, and bandwidth.</a:t>
            </a:r>
          </a:p>
          <a:p>
            <a:pPr>
              <a:spcAft>
                <a:spcPts val="1100"/>
              </a:spcAft>
              <a:defRPr sz="1900">
                <a:solidFill>
                  <a:srgbClr val="F2F5F8"/>
                </a:solidFill>
              </a:defRPr>
            </a:pPr>
            <a:r>
              <a:t>• Bound input, output, queued tasks, and per-dispatch work.</a:t>
            </a:r>
          </a:p>
          <a:p>
            <a:pPr>
              <a:spcAft>
                <a:spcPts val="1100"/>
              </a:spcAft>
              <a:defRPr sz="1900">
                <a:solidFill>
                  <a:srgbClr val="F2F5F8"/>
                </a:solidFill>
              </a:defRPr>
            </a:pPr>
            <a:r>
              <a:t>• Backpressure is as important in an event loop as in a threaded server.</a:t>
            </a:r>
          </a:p>
          <a:p>
            <a:pPr>
              <a:spcAft>
                <a:spcPts val="1100"/>
              </a:spcAft>
              <a:defRPr sz="1900">
                <a:solidFill>
                  <a:srgbClr val="F2F5F8"/>
                </a:solidFill>
              </a:defRPr>
            </a:pPr>
            <a:r>
              <a:t>• A common architecture combines a small set of I/O reactors with a bounded worker pool for heavier computation.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53.8 Scaling large numbers of connections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ENGINEERING IMPLICATIONS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A common architecture combines a small set of I/O reactors with a bounded worker pool for heavier computation.</a:t>
            </a:r>
          </a:p>
          <a:p>
            <a:pPr>
              <a:spcAft>
                <a:spcPts val="1100"/>
              </a:spcAft>
              <a:defRPr sz="1900">
                <a:solidFill>
                  <a:srgbClr val="F2F5F8"/>
                </a:solidFill>
              </a:defRPr>
            </a:pPr>
            <a:r>
              <a:t>• The handoff must preserve connection lifetime and return results through a safe queue.</a:t>
            </a:r>
          </a:p>
          <a:p>
            <a:pPr>
              <a:spcAft>
                <a:spcPts val="1100"/>
              </a:spcAft>
              <a:defRPr sz="1900">
                <a:solidFill>
                  <a:srgbClr val="F2F5F8"/>
                </a:solidFill>
              </a:defRPr>
            </a:pPr>
            <a:r>
              <a:t>• More architectural layers create more ownership transitions to test.</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19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Drain an edge-triggered stream through EOF</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This Linux-only test uses a local nonblocking socket pair rather than a public listener.</a:t>
            </a:r>
          </a:p>
          <a:p>
            <a:pPr>
              <a:spcAft>
                <a:spcPts val="1100"/>
              </a:spcAft>
              <a:defRPr sz="1900">
                <a:solidFill>
                  <a:srgbClr val="F2F5F8"/>
                </a:solidFill>
              </a:defRPr>
            </a:pPr>
            <a:r>
              <a:t>• One endpoint sends ping and half-closes its write direction.</a:t>
            </a:r>
          </a:p>
          <a:p>
            <a:pPr>
              <a:spcAft>
                <a:spcPts val="1100"/>
              </a:spcAft>
              <a:defRPr sz="1700">
                <a:solidFill>
                  <a:srgbClr val="F2F5F8"/>
                </a:solidFill>
              </a:defRPr>
            </a:pPr>
            <a:r>
              <a:t>• The epoll-managed endpoint drains two-byte chunks until EOF, demonstrating that the final data must be read even when closure is also observable.</a:t>
            </a:r>
          </a:p>
          <a:p>
            <a:pPr>
              <a:spcAft>
                <a:spcPts val="1100"/>
              </a:spcAft>
              <a:defRPr sz="1900">
                <a:solidFill>
                  <a:srgbClr val="F2F5F8"/>
                </a:solidFill>
              </a:defRPr>
            </a:pPr>
            <a:r>
              <a:t>• Companion listing: ch53/epoll_read.cpp</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Drain an edge-triggered stream through EOF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Companion listing: ch53/epoll_read.cpp</a:t>
            </a:r>
          </a:p>
          <a:p>
            <a:pPr>
              <a:spcAft>
                <a:spcPts val="1100"/>
              </a:spcAft>
              <a:defRPr sz="1900">
                <a:solidFill>
                  <a:srgbClr val="F2F5F8"/>
                </a:solidFill>
              </a:defRPr>
            </a:pPr>
            <a:r>
              <a:t>• The expected output is epoll received: ping .</a:t>
            </a:r>
          </a:p>
          <a:p>
            <a:pPr>
              <a:spcAft>
                <a:spcPts val="1100"/>
              </a:spcAft>
              <a:defRPr sz="1700">
                <a:solidFill>
                  <a:srgbClr val="F2F5F8"/>
                </a:solidFill>
              </a:defRPr>
            </a:pPr>
            <a:r>
              <a:t>• The tiny fixed send is performed on an empty local socket buffer; the shared send_all helper treats EAGAIN as failure rather than implementing an output reactor.</a:t>
            </a:r>
          </a:p>
          <a:p>
            <a:pPr>
              <a:spcAft>
                <a:spcPts val="1100"/>
              </a:spcAft>
              <a:defRPr sz="1900">
                <a:solidFill>
                  <a:srgbClr val="F2F5F8"/>
                </a:solidFill>
              </a:defRPr>
            </a:pPr>
            <a:r>
              <a:t>• This test therefore demonstrates the receive-side edge-triggered state machine, not a complete nonblocking server.</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Readiness loop with epoll</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Register nonblocking client descriptors with an epoll instance.</a:t>
            </a:r>
          </a:p>
          <a:p>
            <a:pPr>
              <a:spcAft>
                <a:spcPts val="1100"/>
              </a:spcAft>
              <a:defRPr sz="1900">
                <a:solidFill>
                  <a:srgbClr val="F2F5F8"/>
                </a:solidFill>
              </a:defRPr>
            </a:pPr>
            <a:r>
              <a:t>• The event loop waits for readiness, then services whichever descriptors are reported.</a:t>
            </a:r>
          </a:p>
          <a:p>
            <a:pPr>
              <a:spcAft>
                <a:spcPts val="1100"/>
              </a:spcAft>
              <a:defRPr sz="1700">
                <a:solidFill>
                  <a:srgbClr val="F2F5F8"/>
                </a:solidFill>
              </a:defRPr>
            </a:pPr>
            <a:r>
              <a:t>• In edge-triggered mode, a read handler typically continues until EAGAIN so all currently available bytes are drained; otherwise no new edge may arrive for already-buffered data.</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Readiness loop with epoll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Register nonblocking client descriptors with an epoll instance.</a:t>
            </a:r>
          </a:p>
          <a:p>
            <a:pPr>
              <a:spcAft>
                <a:spcPts val="1100"/>
              </a:spcAft>
              <a:defRPr sz="1900">
                <a:solidFill>
                  <a:srgbClr val="F2F5F8"/>
                </a:solidFill>
              </a:defRPr>
            </a:pPr>
            <a:r>
              <a:t>• The event loop waits for readiness, then services whichever descriptors are reported.</a:t>
            </a:r>
          </a:p>
          <a:p>
            <a:pPr>
              <a:spcAft>
                <a:spcPts val="1100"/>
              </a:spcAft>
              <a:defRPr sz="1700">
                <a:solidFill>
                  <a:srgbClr val="F2F5F8"/>
                </a:solidFill>
              </a:defRPr>
            </a:pPr>
            <a:r>
              <a:t>• In edge-triggered mode, a read handler typically continues until EAGAIN so all currently available bytes are drained; otherwise no new edge may arrive for already-buffered...</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Worked example — Why nonblocking matters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an event-loop thread performs a blocking read on one client that has no complete request, the entire loop can stall and stop servicing other ready clients.</a:t>
            </a:r>
          </a:p>
          <a:p>
            <a:pPr>
              <a:spcAft>
                <a:spcPts val="1100"/>
              </a:spcAft>
              <a:defRPr sz="1700">
                <a:solidFill>
                  <a:srgbClr val="F2F5F8"/>
                </a:solidFill>
              </a:defRPr>
            </a:pPr>
            <a:r>
              <a:t>• Nonblocking descriptors let the loop attempt work, detect that an operation would block, and return to multiplexing other connections.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24</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2500" b="1">
                <a:solidFill>
                  <a:srgbClr val="F2F5F8"/>
                </a:solidFill>
              </a:defRPr>
            </a:pPr>
            <a:r>
              <a:t>Worked example — Why nonblocking matters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WORKED EXAMPLE &amp; INTERPRETATION</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700">
                <a:solidFill>
                  <a:srgbClr val="F2F5F8"/>
                </a:solidFill>
              </a:defRPr>
            </a:pPr>
            <a:r>
              <a:t>• If an event-loop thread performs a blocking read on one client that has no complete request, the entire loop can stall and stop servicing other ready clients.</a:t>
            </a:r>
          </a:p>
          <a:p>
            <a:pPr>
              <a:spcAft>
                <a:spcPts val="1100"/>
              </a:spcAft>
              <a:defRPr sz="1700">
                <a:solidFill>
                  <a:srgbClr val="F2F5F8"/>
                </a:solidFill>
              </a:defRPr>
            </a:pPr>
            <a:r>
              <a:t>• Nonblocking descriptors let the loop attempt work, detect that an operation would block, and return to multiplexing other connections.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25</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SOURCE TOPIC</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Lab 53.</a:t>
            </a:r>
          </a:p>
          <a:p>
            <a:pPr>
              <a:spcAft>
                <a:spcPts val="1100"/>
              </a:spcAft>
              <a:defRPr sz="1700">
                <a:solidFill>
                  <a:srgbClr val="F2F5F8"/>
                </a:solidFill>
              </a:defRPr>
            </a:pPr>
            <a:r>
              <a:t>• Extend the fixture to feed a length-prefixed frame in several chunks and retain prefix/body progress across readiness events.</a:t>
            </a:r>
          </a:p>
          <a:p>
            <a:pPr>
              <a:spcAft>
                <a:spcPts val="1100"/>
              </a:spcAft>
              <a:defRPr sz="1900">
                <a:solidFill>
                  <a:srgbClr val="F2F5F8"/>
                </a:solidFill>
              </a:defRPr>
            </a:pPr>
            <a:r>
              <a:t>• Add an output buffer with an offset and enable write interest only while unsent bytes remain.</a:t>
            </a:r>
          </a:p>
          <a:p>
            <a:pPr>
              <a:spcAft>
                <a:spcPts val="1100"/>
              </a:spcAft>
              <a:defRPr sz="1900">
                <a:solidFill>
                  <a:srgbClr val="F2F5F8"/>
                </a:solidFill>
              </a:defRPr>
            </a:pPr>
            <a:r>
              <a:t>• Keep all fixtures local and impose a bounded test deadline.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Guided lab and review — Deep Dive</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LAB, REVIEW &amp; ACCEPTANCE</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Review 1.</a:t>
            </a:r>
          </a:p>
          <a:p>
            <a:pPr>
              <a:spcAft>
                <a:spcPts val="1100"/>
              </a:spcAft>
              <a:defRPr sz="1900">
                <a:solidFill>
                  <a:srgbClr val="F2F5F8"/>
                </a:solidFill>
              </a:defRPr>
            </a:pPr>
            <a:r>
              <a:t>• Why must edge-triggered reads continue to EAGAIN or EOF?</a:t>
            </a:r>
          </a:p>
          <a:p>
            <a:pPr>
              <a:spcAft>
                <a:spcPts val="1100"/>
              </a:spcAft>
              <a:defRPr sz="1900">
                <a:solidFill>
                  <a:srgbClr val="F2F5F8"/>
                </a:solidFill>
              </a:defRPr>
            </a:pPr>
            <a:r>
              <a:t>• Review 2.</a:t>
            </a:r>
          </a:p>
          <a:p>
            <a:pPr>
              <a:spcAft>
                <a:spcPts val="1100"/>
              </a:spcAft>
              <a:defRPr sz="1900">
                <a:solidFill>
                  <a:srgbClr val="F2F5F8"/>
                </a:solidFill>
              </a:defRPr>
            </a:pPr>
            <a:r>
              <a:t>• Why can a stale descriptor number identify the wrong connection?</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27</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Chapter Synthesis</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KEY TAKEAWAYS</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The chapter's central subject is event-driven i/o.</a:t>
            </a:r>
          </a:p>
          <a:p>
            <a:pPr>
              <a:spcAft>
                <a:spcPts val="1100"/>
              </a:spcAft>
              <a:defRPr sz="1900">
                <a:solidFill>
                  <a:srgbClr val="F2F5F8"/>
                </a:solidFill>
              </a:defRPr>
            </a:pPr>
            <a:r>
              <a:t>• Correct reasoning requires explicit assumptions, bounds, ownership, and interface contracts.</a:t>
            </a:r>
          </a:p>
          <a:p>
            <a:pPr>
              <a:spcAft>
                <a:spcPts val="1100"/>
              </a:spcAft>
              <a:defRPr sz="1900">
                <a:solidFill>
                  <a:srgbClr val="F2F5F8"/>
                </a:solidFill>
              </a:defRPr>
            </a:pPr>
            <a:r>
              <a:t>• Observed behavior is evidence about a run; it is not automatically a language or system guarantee.</a:t>
            </a:r>
          </a:p>
          <a:p>
            <a:pPr>
              <a:spcAft>
                <a:spcPts val="1100"/>
              </a:spcAft>
              <a:defRPr sz="1900">
                <a:solidFill>
                  <a:srgbClr val="F2F5F8"/>
                </a:solidFill>
              </a:defRPr>
            </a:pPr>
            <a:r>
              <a:t>• Use the worked examples and lab to test whether the model transfers to new cases.</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0B121C"/>
        </a:solidFill>
        <a:effectLst/>
      </p:bgPr>
    </p:bg>
    <p:spTree>
      <p:nvGrpSpPr>
        <p:cNvPr id="1" name=""/>
        <p:cNvGrpSpPr/>
        <p:nvPr/>
      </p:nvGrpSpPr>
      <p:grpSpPr/>
      <p:sp>
        <p:nvSpPr>
          <p:cNvPr id="2" name="Rectangle 1"/>
          <p:cNvSpPr/>
          <p:nvPr/>
        </p:nvSpPr>
        <p:spPr>
          <a:xfrm>
            <a:off x="0" y="0"/>
            <a:ext cx="12191695" cy="73152"/>
          </a:xfrm>
          <a:prstGeom prst="rect">
            <a:avLst/>
          </a:prstGeom>
          <a:solidFill>
            <a:srgbClr val="42B8D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94360" y="320040"/>
            <a:ext cx="10972800" cy="274320"/>
          </a:xfrm>
          <a:prstGeom prst="rect">
            <a:avLst/>
          </a:prstGeom>
          <a:noFill/>
        </p:spPr>
        <p:txBody>
          <a:bodyPr wrap="none">
            <a:spAutoFit/>
          </a:bodyPr>
          <a:lstStyle/>
          <a:p>
            <a:pPr>
              <a:defRPr sz="1100" b="1">
                <a:solidFill>
                  <a:srgbClr val="A5B2C1"/>
                </a:solidFill>
              </a:defRPr>
            </a:pPr>
            <a:r>
              <a:t>SYSTEMS PROGRAMMING AND MACHINE ORGANIZATION     ·     CHARLES DORNER</a:t>
            </a:r>
          </a:p>
        </p:txBody>
      </p:sp>
      <p:sp>
        <p:nvSpPr>
          <p:cNvPr id="4" name="TextBox 3"/>
          <p:cNvSpPr txBox="1"/>
          <p:nvPr/>
        </p:nvSpPr>
        <p:spPr>
          <a:xfrm>
            <a:off x="594360" y="822960"/>
            <a:ext cx="10972800" cy="914400"/>
          </a:xfrm>
          <a:prstGeom prst="rect">
            <a:avLst/>
          </a:prstGeom>
          <a:noFill/>
        </p:spPr>
        <p:txBody>
          <a:bodyPr wrap="none">
            <a:spAutoFit/>
          </a:bodyPr>
          <a:lstStyle/>
          <a:p>
            <a:pPr>
              <a:defRPr sz="3000" b="1">
                <a:solidFill>
                  <a:srgbClr val="F2F5F8"/>
                </a:solidFill>
              </a:defRPr>
            </a:pPr>
            <a:r>
              <a:t>Review and Transition</a:t>
            </a:r>
          </a:p>
        </p:txBody>
      </p:sp>
      <p:sp>
        <p:nvSpPr>
          <p:cNvPr id="5" name="TextBox 4"/>
          <p:cNvSpPr txBox="1"/>
          <p:nvPr/>
        </p:nvSpPr>
        <p:spPr>
          <a:xfrm>
            <a:off x="612648" y="1600200"/>
            <a:ext cx="10698480" cy="365760"/>
          </a:xfrm>
          <a:prstGeom prst="rect">
            <a:avLst/>
          </a:prstGeom>
          <a:noFill/>
        </p:spPr>
        <p:txBody>
          <a:bodyPr wrap="none">
            <a:spAutoFit/>
          </a:bodyPr>
          <a:lstStyle/>
          <a:p>
            <a:pPr>
              <a:defRPr sz="1300" b="1">
                <a:solidFill>
                  <a:srgbClr val="42B8D5"/>
                </a:solidFill>
              </a:defRPr>
            </a:pPr>
            <a:r>
              <a:t>CHECK YOUR MODEL</a:t>
            </a:r>
          </a:p>
        </p:txBody>
      </p:sp>
      <p:sp>
        <p:nvSpPr>
          <p:cNvPr id="6" name="Rounded Rectangle 5"/>
          <p:cNvSpPr/>
          <p:nvPr/>
        </p:nvSpPr>
        <p:spPr>
          <a:xfrm>
            <a:off x="594360" y="2148840"/>
            <a:ext cx="10972800" cy="3840480"/>
          </a:xfrm>
          <a:prstGeom prst="roundRect">
            <a:avLst/>
          </a:prstGeom>
          <a:solidFill>
            <a:srgbClr val="141E2B"/>
          </a:solidFill>
          <a:ln>
            <a:solidFill>
              <a:srgbClr val="2F3E4E"/>
            </a:solidFill>
          </a:ln>
        </p:spPr>
        <p:style>
          <a:lnRef idx="1">
            <a:schemeClr val="accent1"/>
          </a:lnRef>
          <a:fillRef idx="3">
            <a:schemeClr val="accent1"/>
          </a:fillRef>
          <a:effectRef idx="2">
            <a:schemeClr val="accent1"/>
          </a:effectRef>
          <a:fontRef idx="minor">
            <a:schemeClr val="lt1"/>
          </a:fontRef>
        </p:style>
        <p:txBody>
          <a:bodyPr rtlCol="0" anchor="ctr" lIns="320040" rIns="274320" tIns="228600"/>
          <a:lstStyle/>
          <a:p>
            <a:pPr algn="ctr">
              <a:spcAft>
                <a:spcPts val="1100"/>
              </a:spcAft>
              <a:defRPr sz="1900">
                <a:solidFill>
                  <a:srgbClr val="F2F5F8"/>
                </a:solidFill>
              </a:defRPr>
            </a:pPr>
            <a:r>
              <a:t>• Explain one mechanism from the chapter without relying on vocabulary alone.</a:t>
            </a:r>
          </a:p>
          <a:p>
            <a:pPr>
              <a:spcAft>
                <a:spcPts val="1100"/>
              </a:spcAft>
              <a:defRPr sz="1900">
                <a:solidFill>
                  <a:srgbClr val="F2F5F8"/>
                </a:solidFill>
              </a:defRPr>
            </a:pPr>
            <a:r>
              <a:t>• Identify one failure mode and the violated contract or invariant.</a:t>
            </a:r>
          </a:p>
          <a:p>
            <a:pPr>
              <a:spcAft>
                <a:spcPts val="1100"/>
              </a:spcAft>
              <a:defRPr sz="1900">
                <a:solidFill>
                  <a:srgbClr val="F2F5F8"/>
                </a:solidFill>
              </a:defRPr>
            </a:pPr>
            <a:r>
              <a:t>• State what evidence would support your diagnosis and what it would not prove.</a:t>
            </a:r>
          </a:p>
          <a:p>
            <a:pPr>
              <a:spcAft>
                <a:spcPts val="1100"/>
              </a:spcAft>
              <a:defRPr sz="1900">
                <a:solidFill>
                  <a:srgbClr val="F2F5F8"/>
                </a:solidFill>
              </a:defRPr>
            </a:pPr>
            <a:r>
              <a:t>• Next: Measuring Performance.</a:t>
            </a:r>
          </a:p>
        </p:txBody>
      </p:sp>
      <p:sp>
        <p:nvSpPr>
          <p:cNvPr id="7" name="TextBox 6"/>
          <p:cNvSpPr txBox="1"/>
          <p:nvPr/>
        </p:nvSpPr>
        <p:spPr>
          <a:xfrm>
            <a:off x="612648" y="6309360"/>
            <a:ext cx="10698480" cy="228600"/>
          </a:xfrm>
          <a:prstGeom prst="rect">
            <a:avLst/>
          </a:prstGeom>
          <a:noFill/>
        </p:spPr>
        <p:txBody>
          <a:bodyPr wrap="none">
            <a:spAutoFit/>
          </a:bodyPr>
          <a:lstStyle/>
          <a:p>
            <a:pPr>
              <a:defRPr sz="1000">
                <a:solidFill>
                  <a:srgbClr val="A5B2C1"/>
                </a:solidFill>
              </a:defRPr>
            </a:pPr>
            <a:r>
              <a:t>CHAPTER 53     |     29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