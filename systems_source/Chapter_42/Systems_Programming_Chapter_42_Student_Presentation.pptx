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42 — Shell Architecture</a:t>
            </a:r>
          </a:p>
          <a:p/>
          <a:p>
            <a:r>
              <a:t>LECTURE NARRATION</a:t>
            </a:r>
          </a:p>
          <a:p>
            <a:r>
              <a:t>A shell is a process-control program with a language front end. It turns command syntax into a plan for programs, arguments, descriptors, process groups, and waiting. A small shell can demonstrate systems concepts, but a complete interactive shell also needs careful syntax, signal, terminal, and lifecycle handling. Separate parsing from execution. Parsing should produce a structured description without opening files or launching programs. Execution should consume that structure according to a documented policy. This separation makes malformed input testable without causing side effects.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shell is a process-control program with a language front end.</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A shell is a process-control program with a language front end. It turns command syntax into a plan for programs, arguments, descriptors, process groups, and waiting. A small shell can demonstrate systems concepts, but a complete interactive shell also needs careful syntax, signal, terminal, and lifecycle handling. Separate parsing from execution. Parsing should produce a structured description without opening files or launching programs. Execution should consume that structure according to a documented policy. This separation makes malformed input testable without causing side effects.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shell is a process-control program with a language front end.</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42.1 Parsing commands 42.2 Creating processes 42.3 Executing programs 42.4 Redirection ...plus 9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42.1 Parsing commands 42.2 Creating processes 42.3 Executing programs 42.4 Redirection ...plus 9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42.1 Parsing commands</a:t>
            </a:r>
          </a:p>
          <a:p/>
          <a:p>
            <a:r>
              <a:t>LECTURE NARRATION</a:t>
            </a:r>
          </a:p>
          <a:p>
            <a:r>
              <a:t>Parsing begins with lexical rules for words, quoting, escapes, and operators. A space inside quotes is data, while an unquoted pipe character may be syntax. A quoted "|" must not become a pipeline operator merely because its final text is a vertical bar. Represent token kind separately from token text. Then build an abstract command structure containing argument vectors, ordered redirections, pipeline stages, and background status. Reject incomplete constructs before launch, including unterminated quotes and a redirection without a destination.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parsing begins with lexical rules for words, quoting, escapes, and operators.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42.1 Parsing commands — Deep Dive</a:t>
            </a:r>
          </a:p>
          <a:p/>
          <a:p>
            <a:r>
              <a:t>LECTURE NARRATION</a:t>
            </a:r>
          </a:p>
          <a:p>
            <a:r>
              <a:t>Parsing begins with lexical rules for words, quoting, escapes, and operators. A space inside quotes is data, while an unquoted pipe character may be syntax. A quoted "|" must not become a pipeline operator merely because its final text is a vertical bar. Represent token kind separately from token text. Then build an abstract command structure containing argument vectors, ordered redirections, pipeline stages, and background status. Reject incomplete constructs before launch, including unterminated quotes and a redirection without a destination.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parsing begins with lexical rules for words, quoting, escapes, and operators.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42.2 Creating processes</a:t>
            </a:r>
          </a:p>
          <a:p/>
          <a:p>
            <a:r>
              <a:t>LECTURE NARRATION</a:t>
            </a:r>
          </a:p>
          <a:p>
            <a:r>
              <a:t>The executor creates the required children and tracks each successful creation. Failure halfway through a pipeline requires cleanup of descriptors and already-created children. The plan must define what happens to partially started work. Built-in commands complicate the model. A command such as changing the shell’s current directory must affect the shell process itself in the appropriate context; executing it only in a child would leave the parent unchanged. Decide which operations are built-ins before applying a blanket fork-everything rule.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executor creates the required children and tracks each successful creation.</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42.2 Creating processes — Deep Dive</a:t>
            </a:r>
          </a:p>
          <a:p/>
          <a:p>
            <a:r>
              <a:t>LECTURE NARRATION</a:t>
            </a:r>
          </a:p>
          <a:p>
            <a:r>
              <a:t>The executor creates the required children and tracks each successful creation. Failure halfway through a pipeline requires cleanup of descriptors and already-created children. The plan must define what happens to partially started work. Built-in commands complicate the model. A command such as changing the shell’s current directory must affect the shell process itself in the appropriate context; executing it only in a child would leave the parent unchanged. Decide which operations are built-ins before applying a blanket fork-everything rule.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executor creates the required children and tracks each successful creation.</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42.3 Executing programs</a:t>
            </a:r>
          </a:p>
          <a:p/>
          <a:p>
            <a:r>
              <a:t>LECTURE NARRATION</a:t>
            </a:r>
          </a:p>
          <a:p>
            <a:r>
              <a:t>Each child prepares descriptors, signal state, process-group membership, and other required context before exec. The argument vector should preserve parsed word boundaries. Exec failure must end the child branch with an appropriate status rather than return to the interactive shell loop. A secure launcher also defines executable lookup and environment handling. A general shell intentionally supports broad user-controlled behavior; an application that merely needs to run one helper should prefer direct argument-vector execution instead of implementing or invoking unnecessary shell syntax.</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each child prepares descriptors, signal state, process-group membership, and other required context before exec.</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42.3 Executing programs — Deep Dive</a:t>
            </a:r>
          </a:p>
          <a:p/>
          <a:p>
            <a:r>
              <a:t>LECTURE NARRATION</a:t>
            </a:r>
          </a:p>
          <a:p>
            <a:r>
              <a:t>Each child prepares descriptors, signal state, process-group membership, and other required context before exec. The argument vector should preserve parsed word boundaries. Exec failure must end the child branch with an appropriate status rather than return to the interactive shell loop. A secure launcher also defines executable lookup and environment handling. A general shell intentionally supports broad user-controlled behavior; an application that merely needs to run one helper should prefer direct argument-vector execution instead of implementing or invoking unnecessary shell syntax.</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each child prepares descriptors, signal state, process-group membership, and other required context before exec.</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42.4 Redirection</a:t>
            </a:r>
          </a:p>
          <a:p/>
          <a:p>
            <a:r>
              <a:t>LECTURE NARRATION</a:t>
            </a:r>
          </a:p>
          <a:p>
            <a:r>
              <a:t>Redirection modifies a command’s descriptor relationships in the order specified by the language. Input files, output truncation, append mode, and descriptor duplication require distinct operations. Do not postpone error checking until after exec. If opening a required input fails, the command cannot run as requested. The shell should report the setup error and avoid silently falling back to its own input stream.</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redirection modifies a command’s descriptor relationships in the order specified by the language.</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42.4 Redirection — Deep Dive</a:t>
            </a:r>
          </a:p>
          <a:p/>
          <a:p>
            <a:r>
              <a:t>LECTURE NARRATION</a:t>
            </a:r>
          </a:p>
          <a:p>
            <a:r>
              <a:t>Redirection modifies a command’s descriptor relationships in the order specified by the language. Input files, output truncation, append mode, and descriptor duplication require distinct operations. Do not postpone error checking until after exec. If opening a required input fails, the command cannot run as requested. The shell should report the setup error and avoid silently falling back to its own input stream.</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redirection modifies a command’s descriptor relationships in the order specified by the language.</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42.5 Pipelines</a:t>
            </a:r>
          </a:p>
          <a:p/>
          <a:p>
            <a:r>
              <a:t>LECTURE NARRATION</a:t>
            </a:r>
          </a:p>
          <a:p>
            <a:r>
              <a:t>A pipeline is a group of connected stages, not a sequence of complete programs run one after another. Its data flow requires overlap when bounded pipes connect producers and consumers. Track pipe-end ownership explicitly. For an N-stage pipeline, there are N−1 connecting pipes, but each child needs only its relevant input and output roles. Extra inherited ends must be closed so that EOF and broken-pipe behavior reflect the intended graph.</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pipeline is a group of connected stages, not a sequence of complete programs run one after another.</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42.5 Pipelines — Deep Dive</a:t>
            </a:r>
          </a:p>
          <a:p/>
          <a:p>
            <a:r>
              <a:t>LECTURE NARRATION</a:t>
            </a:r>
          </a:p>
          <a:p>
            <a:r>
              <a:t>A pipeline is a group of connected stages, not a sequence of complete programs run one after another. Its data flow requires overlap when bounded pipes connect producers and consumers. Track pipe-end ownership explicitly. For an N-stage pipeline, there are N−1 connecting pipes, but each child needs only its relevant input and output roles. Extra inherited ends must be closed so that EOF and broken-pipe behavior reflect the intended graph.</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pipeline is a group of connected stages, not a sequence of complete programs run one after another.</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42.6 Foreground jobs</a:t>
            </a:r>
          </a:p>
          <a:p/>
          <a:p>
            <a:r>
              <a:t>LECTURE NARRATION</a:t>
            </a:r>
          </a:p>
          <a:p>
            <a:r>
              <a:t>A foreground job receives the terminal relationship intended for interactive input and terminal-generated signals. The shell normally waits for the job’s completion or stop state before resuming its prompt. Waiting for one PID is insufficient for a pipeline treated as one job. The shell must track all member processes and determine when the job as a whole is complete or stopped. Status reporting is therefore a job-level state machine.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foreground job receives the terminal relationship intended for interactive input and terminal-generated signals.</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42.6 Foreground jobs — Deep Dive</a:t>
            </a:r>
          </a:p>
          <a:p/>
          <a:p>
            <a:r>
              <a:t>LECTURE NARRATION</a:t>
            </a:r>
          </a:p>
          <a:p>
            <a:r>
              <a:t>A foreground job receives the terminal relationship intended for interactive input and terminal-generated signals. The shell normally waits for the job’s completion or stop state before resuming its prompt. Waiting for one PID is insufficient for a pipeline treated as one job. The shell must track all member processes and determine when the job as a whole is complete or stopped. Status reporting is therefore a job-level state machine.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foreground job receives the terminal relationship intended for interactive input and terminal-generated signals.</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42.7 Background jobs</a:t>
            </a:r>
          </a:p>
          <a:p/>
          <a:p>
            <a:r>
              <a:t>LECTURE NARRATION</a:t>
            </a:r>
          </a:p>
          <a:p>
            <a:r>
              <a:t>A background job allows the shell to continue accepting commands while the job runs. The shell still owns bookkeeping and must reap child statuses. “Do not wait immediately” is not the same as “forget the child forever.” Background terminal access has special behavior under job-control rules. A robust interactive shell must manage notifications, stopped jobs, and later foregrounding rather than assume every background process can freely read from the terminal.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background job allows the shell to continue accepting commands while the job runs.</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42.7 Background jobs — Deep Dive</a:t>
            </a:r>
          </a:p>
          <a:p/>
          <a:p>
            <a:r>
              <a:t>LECTURE NARRATION</a:t>
            </a:r>
          </a:p>
          <a:p>
            <a:r>
              <a:t>A background job allows the shell to continue accepting commands while the job runs. The shell still owns bookkeeping and must reap child statuses. “Do not wait immediately” is not the same as “forget the child forever.” Background terminal access has special behavior under job-control rules. A robust interactive shell must manage notifications, stopped jobs, and later foregrounding rather than assume every background process can freely read from the terminal.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background job allows the shell to continue accepting commands while the job runs.</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42.8 Process groups</a:t>
            </a:r>
          </a:p>
          <a:p/>
          <a:p>
            <a:r>
              <a:t>LECTURE NARRATION</a:t>
            </a:r>
          </a:p>
          <a:p>
            <a:r>
              <a:t>A process group collects related processes, such as all stages of one pipeline, under a group identifier. It lets the shell and terminal mechanisms direct signals to the job as a unit. Group setup has races between parent and child execution. A carefully designed shell establishes membership on both relevant sides as appropriate and checks the documented errors. The exact implementation deserves dedicated testing; it is not replaced by storing several PIDs in a vector.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process group collects related processes, such as all stages of one pipeline, under a group identifier.</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42.8 Process groups — Deep Dive</a:t>
            </a:r>
          </a:p>
          <a:p/>
          <a:p>
            <a:r>
              <a:t>LECTURE NARRATION</a:t>
            </a:r>
          </a:p>
          <a:p>
            <a:r>
              <a:t>A process group collects related processes, such as all stages of one pipeline, under a group identifier. It lets the shell and terminal mechanisms direct signals to the job as a unit. Group setup has races between parent and child execution. A carefully designed shell establishes membership on both relevant sides as appropriate and checks the documented errors. The exact implementation deserves dedicated testing; it is not replaced by storing several PIDs in a vector.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process group collects related processes, such as all stages of one pipeline, under a group identifier.</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42.9 Job control</a:t>
            </a:r>
          </a:p>
          <a:p/>
          <a:p>
            <a:r>
              <a:t>LECTURE NARRATION</a:t>
            </a:r>
          </a:p>
          <a:p>
            <a:r>
              <a:t>Job control combines process groups, terminal foreground ownership, signal dispositions, and wait-status tracking. Interfaces such as setpgid and tcsetpgrp participate in the POSIX model. The shell must regain the terminal after a foreground job stops or finishes and restore the appropriate state. [ R51 , R52 ] The fixed pipeline from Chapter 40 is not a job-control shell. It has no interactive terminal handoff, stopped-job management, expansion language, or background-job table. Those omissions are intentional so that its descriptor and process behavior remain inspectable. [ R17 , R21 ]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job control combines process groups, terminal foreground ownership, signal dispositions, and wait-status tracking.</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42.9 Job control — Deep Dive</a:t>
            </a:r>
          </a:p>
          <a:p/>
          <a:p>
            <a:r>
              <a:t>LECTURE NARRATION</a:t>
            </a:r>
          </a:p>
          <a:p>
            <a:r>
              <a:t>Job control combines process groups, terminal foreground ownership, signal dispositions, and wait-status tracking. Interfaces such as setpgid and tcsetpgrp participate in the POSIX model. The shell must regain the terminal after a foreground job stops or finishes and restore the appropriate state. [ R51 , R52 ] The fixed pipeline from Chapter 40 is not a job-control shell. It has no interactive terminal handoff, stopped-job management, expansion language, or background-job table. Those omissions are intentional so that its descriptor and process behavior remain inspectable. [ R17 , R21 ]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job control combines process groups, terminal foreground ownership, signal dispositions, and wait-status tracking.</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A typed lexer for a small command language</a:t>
            </a:r>
          </a:p>
          <a:p/>
          <a:p>
            <a:r>
              <a:t>LECTURE NARRATION</a:t>
            </a:r>
          </a:p>
          <a:p>
            <a:r>
              <a:t>This lexer supports spaces, single and double quotes, simple backslash escaping, and the operators | , &lt; , &gt; , and &amp; . Its double-quote escape rules are deliberately simpler than a full POSIX shell. It performs no expansion, substitution, execution, or redirection. Companion listing: ch42/lexer.py The explicit active flag preserves an empty quoted argument. Without it, echo "" could be reduced incorrectly to a one-word command. Typed tokens likewise preserve the difference between a quoted vertical bar and an actual pipeline operator. The next stage would validate token sequences and produce a command tree. Only after that validation should an executor allocate pipes or create children. This is an example of a broader systems principle: make invalid plans fail before acquiring external resources whenever practical.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this lexer supports spaces, single and double quotes, simple backslash escaping, and the operators | , &lt; , &gt; , and &amp; .</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A typed lexer for a small command language — Deep Dive</a:t>
            </a:r>
          </a:p>
          <a:p/>
          <a:p>
            <a:r>
              <a:t>LECTURE NARRATION</a:t>
            </a:r>
          </a:p>
          <a:p>
            <a:r>
              <a:t>This lexer supports spaces, single and double quotes, simple backslash escaping, and the operators | , &lt; , &gt; , and &amp; . Its double-quote escape rules are deliberately simpler than a full POSIX shell. It performs no expansion, substitution, execution, or redirection. Companion listing: ch42/lexer.py The explicit active flag preserves an empty quoted argument. Without it, echo "" could be reduced incorrectly to a one-word command. Typed tokens likewise preserve the difference between a quoted vertical bar and an actual pipeline operator. The next stage would validate token sequences and produce a command tree. Only after that validation should an executor allocate pipes or create children. This is an example of a broader systems principle: make invalid plans fail before acquiring external resources whenever practical.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this lexer supports spaces, single and double quotes, simple backslash escaping, and the operators | , &lt; , &gt; , and &amp; .</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Worked example — Parsing before executing</a:t>
            </a:r>
          </a:p>
          <a:p/>
          <a:p>
            <a:r>
              <a:t>LECTURE NARRATION</a:t>
            </a:r>
          </a:p>
          <a:p>
            <a:r>
              <a:t>For cat input.txt | grep error &gt; out.txt , the shell must identify two pipeline commands, one input argument, and one output redirection before spawning processes. Redirection operators are syntax for the shell; they are not passed as ordinary arguments to grep . Parsing establishes the execution graph that process creation later realizes.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cat input.txt | grep error &gt; out.txt , the shell must identify two pipeline commands, one input argument, and one output redirection before spawning processes.</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Worked example — Parsing before executing — Deep Dive</a:t>
            </a:r>
          </a:p>
          <a:p/>
          <a:p>
            <a:r>
              <a:t>LECTURE NARRATION</a:t>
            </a:r>
          </a:p>
          <a:p>
            <a:r>
              <a:t>For cat input.txt | grep error &gt; out.txt , the shell must identify two pipeline commands, one input argument, and one output redirection before spawning processes. Redirection operators are syntax for the shell; they are not passed as ordinary arguments to grep . Parsing establishes the execution graph that process creation later realizes.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cat input.txt | grep error &gt; out.txt , the shell must identify two pipeline commands, one input argument, and one output redirection before spawning processes.</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Worked example — Foreground process group</a:t>
            </a:r>
          </a:p>
          <a:p/>
          <a:p>
            <a:r>
              <a:t>LECTURE NARRATION</a:t>
            </a:r>
          </a:p>
          <a:p>
            <a:r>
              <a:t>A pipeline can place all of its child processes into one process group and make that group the terminal’s foreground group. Terminal-generated signals such as an interactive interrupt can then target the whole job. The shell waits for or monitors the group rather than treating each pipeline process as an unrelated command.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pipeline can place all of its child processes into one process group and make that group the terminal’s foreground group.</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Worked example — Foreground process group — Deep Dive</a:t>
            </a:r>
          </a:p>
          <a:p/>
          <a:p>
            <a:r>
              <a:t>LECTURE NARRATION</a:t>
            </a:r>
          </a:p>
          <a:p>
            <a:r>
              <a:t>A pipeline can place all of its child processes into one process group and make that group the terminal’s foreground group. Terminal-generated signals such as an interactive interrupt can then target the whole job. The shell waits for or monitors the group rather than treating each pipeline process as an unrelated command.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pipeline can place all of its child processes into one process group and make that group the terminal’s foreground group.</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Guided lab and review</a:t>
            </a:r>
          </a:p>
          <a:p/>
          <a:p>
            <a:r>
              <a:t>LECTURE NARRATION</a:t>
            </a:r>
          </a:p>
          <a:p>
            <a:r>
              <a:t>Lab 42. Add parser tests for a leading pipe, trailing pipe, missing redirection target, and background marker in the middle of a pipeline. Specify which constructs your small language accepts before implementing execution. Keep the lexer tests independent of process creation. Review 1. Why must token kind survive quote removal? Review 2. Why does an interactive pipeline need a job abstraction rather than only one child PID?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42.</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Guided lab and review — Deep Dive</a:t>
            </a:r>
          </a:p>
          <a:p/>
          <a:p>
            <a:r>
              <a:t>LECTURE NARRATION</a:t>
            </a:r>
          </a:p>
          <a:p>
            <a:r>
              <a:t>Lab 42. Add parser tests for a leading pipe, trailing pipe, missing redirection target, and background marker in the middle of a pipeline. Specify which constructs your small language accepts before implementing execution. Keep the lexer tests independent of process creation. Review 1. Why must token kind survive quote removal? Review 2. Why does an interactive pipeline need a job abstraction rather than only one child PID?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42.</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Chapter Synthesis</a:t>
            </a:r>
          </a:p>
          <a:p/>
          <a:p>
            <a:r>
              <a:t>LECTURE NARRATION</a:t>
            </a:r>
          </a:p>
          <a:p>
            <a:r>
              <a:t>The chapter's central subject is shell architecture.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shell architecture.</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Concurrent Execution.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42 — Shell Architecture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shell is a process-control program with a language front end.</a:t>
            </a:r>
          </a:p>
          <a:p>
            <a:pPr>
              <a:spcAft>
                <a:spcPts val="1100"/>
              </a:spcAft>
              <a:defRPr sz="1900">
                <a:solidFill>
                  <a:srgbClr val="F2F5F8"/>
                </a:solidFill>
              </a:defRPr>
            </a:pPr>
            <a:r>
              <a:t>• It turns command syntax into a plan for programs, arguments, descriptors, process groups, and waiting.</a:t>
            </a:r>
          </a:p>
          <a:p>
            <a:pPr>
              <a:spcAft>
                <a:spcPts val="1100"/>
              </a:spcAft>
              <a:defRPr sz="1700">
                <a:solidFill>
                  <a:srgbClr val="F2F5F8"/>
                </a:solidFill>
              </a:defRPr>
            </a:pPr>
            <a:r>
              <a:t>• A small shell can demonstrate systems concepts, but a complete interactive shell also needs careful syntax, signal, terminal, and lifecycle handling.</a:t>
            </a:r>
          </a:p>
          <a:p>
            <a:pPr>
              <a:spcAft>
                <a:spcPts val="1100"/>
              </a:spcAft>
              <a:defRPr sz="1900">
                <a:solidFill>
                  <a:srgbClr val="F2F5F8"/>
                </a:solidFill>
              </a:defRPr>
            </a:pPr>
            <a:r>
              <a:t>• Separate parsing from execution.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Shell Architecture.</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42.1 Parsing commands</a:t>
            </a:r>
          </a:p>
          <a:p>
            <a:pPr>
              <a:spcAft>
                <a:spcPts val="1100"/>
              </a:spcAft>
              <a:defRPr sz="1900">
                <a:solidFill>
                  <a:srgbClr val="F2F5F8"/>
                </a:solidFill>
              </a:defRPr>
            </a:pPr>
            <a:r>
              <a:t>• 42.2 Creating processes</a:t>
            </a:r>
          </a:p>
          <a:p>
            <a:pPr>
              <a:spcAft>
                <a:spcPts val="1100"/>
              </a:spcAft>
              <a:defRPr sz="1900">
                <a:solidFill>
                  <a:srgbClr val="F2F5F8"/>
                </a:solidFill>
              </a:defRPr>
            </a:pPr>
            <a:r>
              <a:t>• 42.3 Executing programs</a:t>
            </a:r>
          </a:p>
          <a:p>
            <a:pPr>
              <a:spcAft>
                <a:spcPts val="1100"/>
              </a:spcAft>
              <a:defRPr sz="1900">
                <a:solidFill>
                  <a:srgbClr val="F2F5F8"/>
                </a:solidFill>
              </a:defRPr>
            </a:pPr>
            <a:r>
              <a:t>• 42.4 Redirection</a:t>
            </a:r>
          </a:p>
          <a:p>
            <a:pPr>
              <a:spcAft>
                <a:spcPts val="1100"/>
              </a:spcAft>
              <a:defRPr sz="1900">
                <a:solidFill>
                  <a:srgbClr val="F2F5F8"/>
                </a:solidFill>
              </a:defRPr>
            </a:pPr>
            <a:r>
              <a:t>• ...plus 9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42.1 Parsing commands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Parsing begins with lexical rules for words, quoting, escapes, and operators.</a:t>
            </a:r>
          </a:p>
          <a:p>
            <a:pPr>
              <a:spcAft>
                <a:spcPts val="1100"/>
              </a:spcAft>
              <a:defRPr sz="1900">
                <a:solidFill>
                  <a:srgbClr val="F2F5F8"/>
                </a:solidFill>
              </a:defRPr>
            </a:pPr>
            <a:r>
              <a:t>• A space inside quotes is data, while an unquoted pipe character may be syntax.</a:t>
            </a:r>
          </a:p>
          <a:p>
            <a:pPr>
              <a:spcAft>
                <a:spcPts val="1100"/>
              </a:spcAft>
              <a:defRPr sz="1900">
                <a:solidFill>
                  <a:srgbClr val="F2F5F8"/>
                </a:solidFill>
              </a:defRPr>
            </a:pPr>
            <a:r>
              <a:t>• A quoted "|" must not become a pipeline operator merely because its final text is a vertical bar.</a:t>
            </a:r>
          </a:p>
          <a:p>
            <a:pPr>
              <a:spcAft>
                <a:spcPts val="1100"/>
              </a:spcAft>
              <a:defRPr sz="1900">
                <a:solidFill>
                  <a:srgbClr val="F2F5F8"/>
                </a:solidFill>
              </a:defRPr>
            </a:pPr>
            <a:r>
              <a:t>• Represent token kind separately from token text.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42.1 Parsing commands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Represent token kind separately from token text.</a:t>
            </a:r>
          </a:p>
          <a:p>
            <a:pPr>
              <a:spcAft>
                <a:spcPts val="1100"/>
              </a:spcAft>
              <a:defRPr sz="1700">
                <a:solidFill>
                  <a:srgbClr val="F2F5F8"/>
                </a:solidFill>
              </a:defRPr>
            </a:pPr>
            <a:r>
              <a:t>• Then build an abstract command structure containing argument vectors, ordered redirections, pipeline stages, and background status.</a:t>
            </a:r>
          </a:p>
          <a:p>
            <a:pPr>
              <a:spcAft>
                <a:spcPts val="1100"/>
              </a:spcAft>
              <a:defRPr sz="1900">
                <a:solidFill>
                  <a:srgbClr val="F2F5F8"/>
                </a:solidFill>
              </a:defRPr>
            </a:pPr>
            <a:r>
              <a:t>• Reject incomplete constructs before launch, including unterminated quotes and a redirection without a destination.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42.2 Creating processes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executor creates the required children and tracks each successful creation.</a:t>
            </a:r>
          </a:p>
          <a:p>
            <a:pPr>
              <a:spcAft>
                <a:spcPts val="1100"/>
              </a:spcAft>
              <a:defRPr sz="1900">
                <a:solidFill>
                  <a:srgbClr val="F2F5F8"/>
                </a:solidFill>
              </a:defRPr>
            </a:pPr>
            <a:r>
              <a:t>• Failure halfway through a pipeline requires cleanup of descriptors and already-created children.</a:t>
            </a:r>
          </a:p>
          <a:p>
            <a:pPr>
              <a:spcAft>
                <a:spcPts val="1100"/>
              </a:spcAft>
              <a:defRPr sz="1900">
                <a:solidFill>
                  <a:srgbClr val="F2F5F8"/>
                </a:solidFill>
              </a:defRPr>
            </a:pPr>
            <a:r>
              <a:t>• The plan must define what happens to partially started work.</a:t>
            </a:r>
          </a:p>
          <a:p>
            <a:pPr>
              <a:spcAft>
                <a:spcPts val="1100"/>
              </a:spcAft>
              <a:defRPr sz="1900">
                <a:solidFill>
                  <a:srgbClr val="F2F5F8"/>
                </a:solidFill>
              </a:defRPr>
            </a:pPr>
            <a:r>
              <a:t>• Built-in commands complicate the model.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42.2 Creating processes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Built-in commands complicate the model.</a:t>
            </a:r>
          </a:p>
          <a:p>
            <a:pPr>
              <a:spcAft>
                <a:spcPts val="1100"/>
              </a:spcAft>
              <a:defRPr sz="1700">
                <a:solidFill>
                  <a:srgbClr val="F2F5F8"/>
                </a:solidFill>
              </a:defRPr>
            </a:pPr>
            <a:r>
              <a:t>• A command such as changing the shell’s current directory must affect the shell process itself in the appropriate context; executing it only in a child would leave the...</a:t>
            </a:r>
          </a:p>
          <a:p>
            <a:pPr>
              <a:spcAft>
                <a:spcPts val="1100"/>
              </a:spcAft>
              <a:defRPr sz="1900">
                <a:solidFill>
                  <a:srgbClr val="F2F5F8"/>
                </a:solidFill>
              </a:defRPr>
            </a:pPr>
            <a:r>
              <a:t>• Decide which operations are built-ins before applying a blanket fork-everything rule.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42.3 Executing programs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Each child prepares descriptors, signal state, process-group membership, and other required context before exec.</a:t>
            </a:r>
          </a:p>
          <a:p>
            <a:pPr>
              <a:spcAft>
                <a:spcPts val="1100"/>
              </a:spcAft>
              <a:defRPr sz="1900">
                <a:solidFill>
                  <a:srgbClr val="F2F5F8"/>
                </a:solidFill>
              </a:defRPr>
            </a:pPr>
            <a:r>
              <a:t>• The argument vector should preserve parsed word boundaries.</a:t>
            </a:r>
          </a:p>
          <a:p>
            <a:pPr>
              <a:spcAft>
                <a:spcPts val="1100"/>
              </a:spcAft>
              <a:defRPr sz="1900">
                <a:solidFill>
                  <a:srgbClr val="F2F5F8"/>
                </a:solidFill>
              </a:defRPr>
            </a:pPr>
            <a:r>
              <a:t>• Exec failure must end the child branch with an appropriate status rather than return to the interactive shell loop.</a:t>
            </a:r>
          </a:p>
          <a:p>
            <a:pPr>
              <a:spcAft>
                <a:spcPts val="1100"/>
              </a:spcAft>
              <a:defRPr sz="1900">
                <a:solidFill>
                  <a:srgbClr val="F2F5F8"/>
                </a:solidFill>
              </a:defRPr>
            </a:pPr>
            <a:r>
              <a:t>• A secure launcher also defines executable lookup and environment handling.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42.3 Executing programs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secure launcher also defines executable lookup and environment handling.</a:t>
            </a:r>
          </a:p>
          <a:p>
            <a:pPr>
              <a:spcAft>
                <a:spcPts val="1100"/>
              </a:spcAft>
              <a:defRPr sz="1700">
                <a:solidFill>
                  <a:srgbClr val="F2F5F8"/>
                </a:solidFill>
              </a:defRPr>
            </a:pPr>
            <a:r>
              <a:t>• A general shell intentionally supports broad user-controlled behavior; an application that merely needs to run one helper should prefer direct argument-vector execution...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42.4 Redirection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Redirection modifies a command’s descriptor relationships in the order specified by the language.</a:t>
            </a:r>
          </a:p>
          <a:p>
            <a:pPr>
              <a:spcAft>
                <a:spcPts val="1100"/>
              </a:spcAft>
              <a:defRPr sz="1900">
                <a:solidFill>
                  <a:srgbClr val="F2F5F8"/>
                </a:solidFill>
              </a:defRPr>
            </a:pPr>
            <a:r>
              <a:t>• Input files, output truncation, append mode, and descriptor duplication require distinct operations.</a:t>
            </a:r>
          </a:p>
          <a:p>
            <a:pPr>
              <a:spcAft>
                <a:spcPts val="1100"/>
              </a:spcAft>
              <a:defRPr sz="1900">
                <a:solidFill>
                  <a:srgbClr val="F2F5F8"/>
                </a:solidFill>
              </a:defRPr>
            </a:pPr>
            <a:r>
              <a:t>• Do not postpone error checking until after exec.</a:t>
            </a:r>
          </a:p>
          <a:p>
            <a:pPr>
              <a:spcAft>
                <a:spcPts val="1100"/>
              </a:spcAft>
              <a:defRPr sz="1900">
                <a:solidFill>
                  <a:srgbClr val="F2F5F8"/>
                </a:solidFill>
              </a:defRPr>
            </a:pPr>
            <a:r>
              <a:t>• If opening a required input fails, the command cannot run as requested.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42.4 Redirection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Do not postpone error checking until after exec.</a:t>
            </a:r>
          </a:p>
          <a:p>
            <a:pPr>
              <a:spcAft>
                <a:spcPts val="1100"/>
              </a:spcAft>
              <a:defRPr sz="1900">
                <a:solidFill>
                  <a:srgbClr val="F2F5F8"/>
                </a:solidFill>
              </a:defRPr>
            </a:pPr>
            <a:r>
              <a:t>• If opening a required input fails, the command cannot run as requested.</a:t>
            </a:r>
          </a:p>
          <a:p>
            <a:pPr>
              <a:spcAft>
                <a:spcPts val="1100"/>
              </a:spcAft>
              <a:defRPr sz="1900">
                <a:solidFill>
                  <a:srgbClr val="F2F5F8"/>
                </a:solidFill>
              </a:defRPr>
            </a:pPr>
            <a:r>
              <a:t>• The shell should report the setup error and avoid silently falling back to its own input stream.</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42.5 Pipelines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pipeline is a group of connected stages, not a sequence of complete programs run one after another.</a:t>
            </a:r>
          </a:p>
          <a:p>
            <a:pPr>
              <a:spcAft>
                <a:spcPts val="1100"/>
              </a:spcAft>
              <a:defRPr sz="1900">
                <a:solidFill>
                  <a:srgbClr val="F2F5F8"/>
                </a:solidFill>
              </a:defRPr>
            </a:pPr>
            <a:r>
              <a:t>• Its data flow requires overlap when bounded pipes connect producers and consumers.</a:t>
            </a:r>
          </a:p>
          <a:p>
            <a:pPr>
              <a:spcAft>
                <a:spcPts val="1100"/>
              </a:spcAft>
              <a:defRPr sz="1900">
                <a:solidFill>
                  <a:srgbClr val="F2F5F8"/>
                </a:solidFill>
              </a:defRPr>
            </a:pPr>
            <a:r>
              <a:t>• Track pipe-end ownership explicitly.</a:t>
            </a:r>
          </a:p>
          <a:p>
            <a:pPr>
              <a:spcAft>
                <a:spcPts val="1100"/>
              </a:spcAft>
              <a:defRPr sz="1900">
                <a:solidFill>
                  <a:srgbClr val="F2F5F8"/>
                </a:solidFill>
              </a:defRPr>
            </a:pPr>
            <a:r>
              <a:t>• For an N-stage pipeline, there are N−1 connecting pipes, but each child needs only its relevant input and output roles.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42.5 Pipelines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Track pipe-end ownership explicitly.</a:t>
            </a:r>
          </a:p>
          <a:p>
            <a:pPr>
              <a:spcAft>
                <a:spcPts val="1100"/>
              </a:spcAft>
              <a:defRPr sz="1900">
                <a:solidFill>
                  <a:srgbClr val="F2F5F8"/>
                </a:solidFill>
              </a:defRPr>
            </a:pPr>
            <a:r>
              <a:t>• For an N-stage pipeline, there are N−1 connecting pipes, but each child needs only its relevant input and output roles.</a:t>
            </a:r>
          </a:p>
          <a:p>
            <a:pPr>
              <a:spcAft>
                <a:spcPts val="1100"/>
              </a:spcAft>
              <a:defRPr sz="1900">
                <a:solidFill>
                  <a:srgbClr val="F2F5F8"/>
                </a:solidFill>
              </a:defRPr>
            </a:pPr>
            <a:r>
              <a:t>• Extra inherited ends must be closed so that EOF and broken-pipe behavior reflect the intended graph.</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42.6 Foreground jobs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foreground job receives the terminal relationship intended for interactive input and terminal-generated signals.</a:t>
            </a:r>
          </a:p>
          <a:p>
            <a:pPr>
              <a:spcAft>
                <a:spcPts val="1100"/>
              </a:spcAft>
              <a:defRPr sz="1900">
                <a:solidFill>
                  <a:srgbClr val="F2F5F8"/>
                </a:solidFill>
              </a:defRPr>
            </a:pPr>
            <a:r>
              <a:t>• The shell normally waits for the job’s completion or stop state before resuming its prompt.</a:t>
            </a:r>
          </a:p>
          <a:p>
            <a:pPr>
              <a:spcAft>
                <a:spcPts val="1100"/>
              </a:spcAft>
              <a:defRPr sz="1900">
                <a:solidFill>
                  <a:srgbClr val="F2F5F8"/>
                </a:solidFill>
              </a:defRPr>
            </a:pPr>
            <a:r>
              <a:t>• Waiting for one PID is insufficient for a pipeline treated as one job.</a:t>
            </a:r>
          </a:p>
          <a:p>
            <a:pPr>
              <a:spcAft>
                <a:spcPts val="1100"/>
              </a:spcAft>
              <a:defRPr sz="1900">
                <a:solidFill>
                  <a:srgbClr val="F2F5F8"/>
                </a:solidFill>
              </a:defRPr>
            </a:pPr>
            <a:r>
              <a:t>• The shell must track all member processes and determine when the job as a whole is complete or stopped.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42.6 Foreground jobs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Waiting for one PID is insufficient for a pipeline treated as one job.</a:t>
            </a:r>
          </a:p>
          <a:p>
            <a:pPr>
              <a:spcAft>
                <a:spcPts val="1100"/>
              </a:spcAft>
              <a:defRPr sz="1900">
                <a:solidFill>
                  <a:srgbClr val="F2F5F8"/>
                </a:solidFill>
              </a:defRPr>
            </a:pPr>
            <a:r>
              <a:t>• The shell must track all member processes and determine when the job as a whole is complete or stopped.</a:t>
            </a:r>
          </a:p>
          <a:p>
            <a:pPr>
              <a:spcAft>
                <a:spcPts val="1100"/>
              </a:spcAft>
              <a:defRPr sz="1900">
                <a:solidFill>
                  <a:srgbClr val="F2F5F8"/>
                </a:solidFill>
              </a:defRPr>
            </a:pPr>
            <a:r>
              <a:t>• Status reporting is therefore a job-level state machine.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42.7 Background jobs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background job allows the shell to continue accepting commands while the job runs.</a:t>
            </a:r>
          </a:p>
          <a:p>
            <a:pPr>
              <a:spcAft>
                <a:spcPts val="1100"/>
              </a:spcAft>
              <a:defRPr sz="1700">
                <a:solidFill>
                  <a:srgbClr val="F2F5F8"/>
                </a:solidFill>
              </a:defRPr>
            </a:pPr>
            <a:r>
              <a:t>• The shell still owns bookkeeping and must reap child statuses. “Do not wait immediately” is not the same as “forget the child forever.”</a:t>
            </a:r>
          </a:p>
          <a:p>
            <a:pPr>
              <a:spcAft>
                <a:spcPts val="1100"/>
              </a:spcAft>
              <a:defRPr sz="1900">
                <a:solidFill>
                  <a:srgbClr val="F2F5F8"/>
                </a:solidFill>
              </a:defRPr>
            </a:pPr>
            <a:r>
              <a:t>• Background terminal access has special behavior under job-control rules.</a:t>
            </a:r>
          </a:p>
          <a:p>
            <a:pPr>
              <a:spcAft>
                <a:spcPts val="1100"/>
              </a:spcAft>
              <a:defRPr sz="1700">
                <a:solidFill>
                  <a:srgbClr val="F2F5F8"/>
                </a:solidFill>
              </a:defRPr>
            </a:pPr>
            <a:r>
              <a:t>• A robust interactive shell must manage notifications, stopped jobs, and later foregrounding rather than assume every background process can freely read from the terminal.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42.7 Background jobs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Background terminal access has special behavior under job-control rules.</a:t>
            </a:r>
          </a:p>
          <a:p>
            <a:pPr>
              <a:spcAft>
                <a:spcPts val="1100"/>
              </a:spcAft>
              <a:defRPr sz="1700">
                <a:solidFill>
                  <a:srgbClr val="F2F5F8"/>
                </a:solidFill>
              </a:defRPr>
            </a:pPr>
            <a:r>
              <a:t>• A robust interactive shell must manage notifications, stopped jobs, and later foregrounding rather than assume every background process can freely read from the terminal.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42.8 Process groups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process group collects related processes, such as all stages of one pipeline, under a group identifier.</a:t>
            </a:r>
          </a:p>
          <a:p>
            <a:pPr>
              <a:spcAft>
                <a:spcPts val="1100"/>
              </a:spcAft>
              <a:defRPr sz="1900">
                <a:solidFill>
                  <a:srgbClr val="F2F5F8"/>
                </a:solidFill>
              </a:defRPr>
            </a:pPr>
            <a:r>
              <a:t>• It lets the shell and terminal mechanisms direct signals to the job as a unit.</a:t>
            </a:r>
          </a:p>
          <a:p>
            <a:pPr>
              <a:spcAft>
                <a:spcPts val="1100"/>
              </a:spcAft>
              <a:defRPr sz="1900">
                <a:solidFill>
                  <a:srgbClr val="F2F5F8"/>
                </a:solidFill>
              </a:defRPr>
            </a:pPr>
            <a:r>
              <a:t>• Group setup has races between parent and child execution.</a:t>
            </a:r>
          </a:p>
          <a:p>
            <a:pPr>
              <a:spcAft>
                <a:spcPts val="1100"/>
              </a:spcAft>
              <a:defRPr sz="1700">
                <a:solidFill>
                  <a:srgbClr val="F2F5F8"/>
                </a:solidFill>
              </a:defRPr>
            </a:pPr>
            <a:r>
              <a:t>• A carefully designed shell establishes membership on both relevant sides as appropriate and checks the documented errors.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42.8 Process groups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Group setup has races between parent and child execution.</a:t>
            </a:r>
          </a:p>
          <a:p>
            <a:pPr>
              <a:spcAft>
                <a:spcPts val="1100"/>
              </a:spcAft>
              <a:defRPr sz="1700">
                <a:solidFill>
                  <a:srgbClr val="F2F5F8"/>
                </a:solidFill>
              </a:defRPr>
            </a:pPr>
            <a:r>
              <a:t>• A carefully designed shell establishes membership on both relevant sides as appropriate and checks the documented errors.</a:t>
            </a:r>
          </a:p>
          <a:p>
            <a:pPr>
              <a:spcAft>
                <a:spcPts val="1100"/>
              </a:spcAft>
              <a:defRPr sz="1900">
                <a:solidFill>
                  <a:srgbClr val="F2F5F8"/>
                </a:solidFill>
              </a:defRPr>
            </a:pPr>
            <a:r>
              <a:t>• The exact implementation deserves dedicated testing; it is not replaced by storing several PIDs in a vector.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42.9 Job control</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Job control combines process groups, terminal foreground ownership, signal dispositions, and wait-status tracking.</a:t>
            </a:r>
          </a:p>
          <a:p>
            <a:pPr>
              <a:spcAft>
                <a:spcPts val="1100"/>
              </a:spcAft>
              <a:defRPr sz="1900">
                <a:solidFill>
                  <a:srgbClr val="F2F5F8"/>
                </a:solidFill>
              </a:defRPr>
            </a:pPr>
            <a:r>
              <a:t>• Interfaces such as setpgid and tcsetpgrp participate in the POSIX model.</a:t>
            </a:r>
          </a:p>
          <a:p>
            <a:pPr>
              <a:spcAft>
                <a:spcPts val="1100"/>
              </a:spcAft>
              <a:defRPr sz="1700">
                <a:solidFill>
                  <a:srgbClr val="F2F5F8"/>
                </a:solidFill>
              </a:defRPr>
            </a:pPr>
            <a:r>
              <a:t>• The shell must regain the terminal after a foreground job stops or finishes and restore the appropriate state. [ R51 , R52 ]</a:t>
            </a:r>
          </a:p>
          <a:p>
            <a:pPr>
              <a:spcAft>
                <a:spcPts val="1100"/>
              </a:spcAft>
              <a:defRPr sz="1900">
                <a:solidFill>
                  <a:srgbClr val="F2F5F8"/>
                </a:solidFill>
              </a:defRPr>
            </a:pPr>
            <a:r>
              <a:t>• The fixed pipeline from Chapter 40 is not a job-control shell.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42.9 Job control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fixed pipeline from Chapter 40 is not a job-control shell.</a:t>
            </a:r>
          </a:p>
          <a:p>
            <a:pPr>
              <a:spcAft>
                <a:spcPts val="1100"/>
              </a:spcAft>
              <a:defRPr sz="1900">
                <a:solidFill>
                  <a:srgbClr val="F2F5F8"/>
                </a:solidFill>
              </a:defRPr>
            </a:pPr>
            <a:r>
              <a:t>• It has no interactive terminal handoff, stopped-job management, expansion language, or background-job table.</a:t>
            </a:r>
          </a:p>
          <a:p>
            <a:pPr>
              <a:spcAft>
                <a:spcPts val="1100"/>
              </a:spcAft>
              <a:defRPr sz="1900">
                <a:solidFill>
                  <a:srgbClr val="F2F5F8"/>
                </a:solidFill>
              </a:defRPr>
            </a:pPr>
            <a:r>
              <a:t>• Those omissions are intentional so that its descriptor and process behavior remain inspectable. [ R17 , R21 ]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typed lexer for a small command language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This lexer supports spaces, single and double quotes, simple backslash escaping, and the operators | , &lt; , &gt; , and &amp; .</a:t>
            </a:r>
          </a:p>
          <a:p>
            <a:pPr>
              <a:spcAft>
                <a:spcPts val="1100"/>
              </a:spcAft>
              <a:defRPr sz="1900">
                <a:solidFill>
                  <a:srgbClr val="F2F5F8"/>
                </a:solidFill>
              </a:defRPr>
            </a:pPr>
            <a:r>
              <a:t>• Its double-quote escape rules are deliberately simpler than a full POSIX shell.</a:t>
            </a:r>
          </a:p>
          <a:p>
            <a:pPr>
              <a:spcAft>
                <a:spcPts val="1100"/>
              </a:spcAft>
              <a:defRPr sz="1900">
                <a:solidFill>
                  <a:srgbClr val="F2F5F8"/>
                </a:solidFill>
              </a:defRPr>
            </a:pPr>
            <a:r>
              <a:t>• It performs no expansion, substitution, execution, or redirection.</a:t>
            </a:r>
          </a:p>
          <a:p>
            <a:pPr>
              <a:spcAft>
                <a:spcPts val="1100"/>
              </a:spcAft>
              <a:defRPr sz="1900">
                <a:solidFill>
                  <a:srgbClr val="F2F5F8"/>
                </a:solidFill>
              </a:defRPr>
            </a:pPr>
            <a:r>
              <a:t>• Companion listing: ch42/lexer.py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typed lexer for a small command language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ch42/lexer.py</a:t>
            </a:r>
          </a:p>
          <a:p>
            <a:pPr>
              <a:spcAft>
                <a:spcPts val="1100"/>
              </a:spcAft>
              <a:defRPr sz="1900">
                <a:solidFill>
                  <a:srgbClr val="F2F5F8"/>
                </a:solidFill>
              </a:defRPr>
            </a:pPr>
            <a:r>
              <a:t>• The explicit active flag preserves an empty quoted argument.</a:t>
            </a:r>
          </a:p>
          <a:p>
            <a:pPr>
              <a:spcAft>
                <a:spcPts val="1100"/>
              </a:spcAft>
              <a:defRPr sz="1900">
                <a:solidFill>
                  <a:srgbClr val="F2F5F8"/>
                </a:solidFill>
              </a:defRPr>
            </a:pPr>
            <a:r>
              <a:t>• Without it, echo "" could be reduced incorrectly to a one-word command.</a:t>
            </a:r>
          </a:p>
          <a:p>
            <a:pPr>
              <a:spcAft>
                <a:spcPts val="1100"/>
              </a:spcAft>
              <a:defRPr sz="1900">
                <a:solidFill>
                  <a:srgbClr val="F2F5F8"/>
                </a:solidFill>
              </a:defRPr>
            </a:pPr>
            <a:r>
              <a:t>• Typed tokens likewise preserve the difference between a quoted vertical bar and an actual pipeline operator.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Parsing before executing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For cat input.txt | grep error &gt; out.txt , the shell must identify two pipeline commands, one input argument, and one output redirection before spawning processes.</a:t>
            </a:r>
          </a:p>
          <a:p>
            <a:pPr>
              <a:spcAft>
                <a:spcPts val="1100"/>
              </a:spcAft>
              <a:defRPr sz="1900">
                <a:solidFill>
                  <a:srgbClr val="F2F5F8"/>
                </a:solidFill>
              </a:defRPr>
            </a:pPr>
            <a:r>
              <a:t>• Redirection operators are syntax for the shell; they are not passed as ordinary arguments to grep .</a:t>
            </a:r>
          </a:p>
          <a:p>
            <a:pPr>
              <a:spcAft>
                <a:spcPts val="1100"/>
              </a:spcAft>
              <a:defRPr sz="1900">
                <a:solidFill>
                  <a:srgbClr val="F2F5F8"/>
                </a:solidFill>
              </a:defRPr>
            </a:pPr>
            <a:r>
              <a:t>• Parsing establishes the execution graph that process creation later realizes.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Parsing before executing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For cat input.txt | grep error &gt; out.txt , the shell must identify two pipeline commands, one input argument, and one output redirection before spawning processes.</a:t>
            </a:r>
          </a:p>
          <a:p>
            <a:pPr>
              <a:spcAft>
                <a:spcPts val="1100"/>
              </a:spcAft>
              <a:defRPr sz="1900">
                <a:solidFill>
                  <a:srgbClr val="F2F5F8"/>
                </a:solidFill>
              </a:defRPr>
            </a:pPr>
            <a:r>
              <a:t>• Redirection operators are syntax for the shell; they are not passed as ordinary arguments to grep .</a:t>
            </a:r>
          </a:p>
          <a:p>
            <a:pPr>
              <a:spcAft>
                <a:spcPts val="1100"/>
              </a:spcAft>
              <a:defRPr sz="1900">
                <a:solidFill>
                  <a:srgbClr val="F2F5F8"/>
                </a:solidFill>
              </a:defRPr>
            </a:pPr>
            <a:r>
              <a:t>• Parsing establishes the execution graph that process creation later realizes.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Foreground process group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pipeline can place all of its child processes into one process group and make that group the terminal’s foreground group.</a:t>
            </a:r>
          </a:p>
          <a:p>
            <a:pPr>
              <a:spcAft>
                <a:spcPts val="1100"/>
              </a:spcAft>
              <a:defRPr sz="1900">
                <a:solidFill>
                  <a:srgbClr val="F2F5F8"/>
                </a:solidFill>
              </a:defRPr>
            </a:pPr>
            <a:r>
              <a:t>• Terminal-generated signals such as an interactive interrupt can then target the whole job.</a:t>
            </a:r>
          </a:p>
          <a:p>
            <a:pPr>
              <a:spcAft>
                <a:spcPts val="1100"/>
              </a:spcAft>
              <a:defRPr sz="1900">
                <a:solidFill>
                  <a:srgbClr val="F2F5F8"/>
                </a:solidFill>
              </a:defRPr>
            </a:pPr>
            <a:r>
              <a:t>• The shell waits for or monitors the group rather than treating each pipeline process as an unrelated command.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Foreground process group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pipeline can place all of its child processes into one process group and make that group the terminal’s foreground group.</a:t>
            </a:r>
          </a:p>
          <a:p>
            <a:pPr>
              <a:spcAft>
                <a:spcPts val="1100"/>
              </a:spcAft>
              <a:defRPr sz="1900">
                <a:solidFill>
                  <a:srgbClr val="F2F5F8"/>
                </a:solidFill>
              </a:defRPr>
            </a:pPr>
            <a:r>
              <a:t>• Terminal-generated signals such as an interactive interrupt can then target the whole job.</a:t>
            </a:r>
          </a:p>
          <a:p>
            <a:pPr>
              <a:spcAft>
                <a:spcPts val="1100"/>
              </a:spcAft>
              <a:defRPr sz="1900">
                <a:solidFill>
                  <a:srgbClr val="F2F5F8"/>
                </a:solidFill>
              </a:defRPr>
            </a:pPr>
            <a:r>
              <a:t>• The shell waits for or monitors the group rather than treating each pipeline process as an unrelated command.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42.</a:t>
            </a:r>
          </a:p>
          <a:p>
            <a:pPr>
              <a:spcAft>
                <a:spcPts val="1100"/>
              </a:spcAft>
              <a:defRPr sz="1700">
                <a:solidFill>
                  <a:srgbClr val="F2F5F8"/>
                </a:solidFill>
              </a:defRPr>
            </a:pPr>
            <a:r>
              <a:t>• Add parser tests for a leading pipe, trailing pipe, missing redirection target, and background marker in the middle of a pipeline.</a:t>
            </a:r>
          </a:p>
          <a:p>
            <a:pPr>
              <a:spcAft>
                <a:spcPts val="1100"/>
              </a:spcAft>
              <a:defRPr sz="1900">
                <a:solidFill>
                  <a:srgbClr val="F2F5F8"/>
                </a:solidFill>
              </a:defRPr>
            </a:pPr>
            <a:r>
              <a:t>• Specify which constructs your small language accepts before implementing execution.</a:t>
            </a:r>
          </a:p>
          <a:p>
            <a:pPr>
              <a:spcAft>
                <a:spcPts val="1100"/>
              </a:spcAft>
              <a:defRPr sz="1900">
                <a:solidFill>
                  <a:srgbClr val="F2F5F8"/>
                </a:solidFill>
              </a:defRPr>
            </a:pPr>
            <a:r>
              <a:t>• Keep the lexer tests independent of process creation.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must token kind survive quote removal?</a:t>
            </a:r>
          </a:p>
          <a:p>
            <a:pPr>
              <a:spcAft>
                <a:spcPts val="1100"/>
              </a:spcAft>
              <a:defRPr sz="1900">
                <a:solidFill>
                  <a:srgbClr val="F2F5F8"/>
                </a:solidFill>
              </a:defRPr>
            </a:pPr>
            <a:r>
              <a:t>• Review 2.</a:t>
            </a:r>
          </a:p>
          <a:p>
            <a:pPr>
              <a:spcAft>
                <a:spcPts val="1100"/>
              </a:spcAft>
              <a:defRPr sz="1900">
                <a:solidFill>
                  <a:srgbClr val="F2F5F8"/>
                </a:solidFill>
              </a:defRPr>
            </a:pPr>
            <a:r>
              <a:t>• Why does an interactive pipeline need a job abstraction rather than only one child PID?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shell architecture.</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Concurrent Execution.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42     |     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