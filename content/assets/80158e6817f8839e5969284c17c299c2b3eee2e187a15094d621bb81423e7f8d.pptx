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25 — Translation Hardware</a:t>
            </a:r>
          </a:p>
          <a:p/>
          <a:p>
            <a:r>
              <a:t>LECTURE NARRATION</a:t>
            </a:r>
          </a:p>
          <a:p>
            <a:r>
              <a:t>Virtual memory would be unnecessarily expensive if every load required a full uncached traversal of page tables. Translation hardware therefore caches recently useful mappings. This cache is related to, but distinct from, the caches that hold instruction and data bytes. A program can have excellent data-cache behavior and still suffer from poor translation locality.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virtual memory would be unnecessarily expensive if every load required a full uncached traversal of page tables.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Virtual memory would be unnecessarily expensive if every load required a full uncached traversal of page tables. Translation hardware therefore caches recently useful mappings. This cache is related to, but distinct from, the caches that hold instruction and data bytes. A program can have excellent data-cache behavior and still suffer from poor translation locality.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virtual memory would be unnecessarily expensive if every load required a full uncached traversal of page tables.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25.1 MMU 25.2 TLB 25.3 TLB hits 25.4 TLB misses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25.1 MMU 25.2 TLB 25.3 TLB hits 25.4 TLB misses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25.1 MMU</a:t>
            </a:r>
          </a:p>
          <a:p/>
          <a:p>
            <a:r>
              <a:t>LECTURE NARRATION</a:t>
            </a:r>
          </a:p>
          <a:p>
            <a:r>
              <a:t>The memory-management unit, or MMU, is the processor machinery involved in translation and access checking. It interprets the configured address-space structures according to architectural rules. Its implementation can include several translation caches and page-walk optimizations. The MMU does not understand a source-level vector or ownership model. It knows translation and permission information at the architecture’s supported granularity. This explains why a legal machine address can still produce undefined behavior in C or C++: the language may forbid an access that hardware page checks permit.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memory-management unit, or MMU, is the processor machinery involved in translation and access checking.</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25.1 MMU — Deep Dive</a:t>
            </a:r>
          </a:p>
          <a:p/>
          <a:p>
            <a:r>
              <a:t>LECTURE NARRATION</a:t>
            </a:r>
          </a:p>
          <a:p>
            <a:r>
              <a:t>The memory-management unit, or MMU, is the processor machinery involved in translation and access checking. It interprets the configured address-space structures according to architectural rules. Its implementation can include several translation caches and page-walk optimizations. The MMU does not understand a source-level vector or ownership model. It knows translation and permission information at the architecture’s supported granularity. This explains why a legal machine address can still produce undefined behavior in C or C++: the language may forbid an access that hardware page checks permit.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memory-management unit, or MMU, is the processor machinery involved in translation and access checking.</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25.2 TLB</a:t>
            </a:r>
          </a:p>
          <a:p/>
          <a:p>
            <a:r>
              <a:t>LECTURE NARRATION</a:t>
            </a:r>
          </a:p>
          <a:p>
            <a:r>
              <a:t>A translation lookaside buffer, or TLB, caches translations and associated permission information. A matching entry can supply the physical-frame relationship without a complete new walk. Real processors may have distinct instruction and data TLBs, multiple levels, and different handling for page sizes. TLB entries must be interpreted in the correct address-space context. Hardware and kernels can use address-space identifiers and other mechanisms to retain useful entries across switches without confusing one process’s mapping with another’s. Do not assume either that every switch flushes every translation or that retaining entries requires no context tagging.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translation lookaside buffer, or TLB, caches translations and associated permission information.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25.2 TLB — Deep Dive</a:t>
            </a:r>
          </a:p>
          <a:p/>
          <a:p>
            <a:r>
              <a:t>LECTURE NARRATION</a:t>
            </a:r>
          </a:p>
          <a:p>
            <a:r>
              <a:t>A translation lookaside buffer, or TLB, caches translations and associated permission information. A matching entry can supply the physical-frame relationship without a complete new walk. Real processors may have distinct instruction and data TLBs, multiple levels, and different handling for page sizes. TLB entries must be interpreted in the correct address-space context. Hardware and kernels can use address-space identifiers and other mechanisms to retain useful entries across switches without confusing one process’s mapping with another’s. Do not assume either that every switch flushes every translation or that retaining entries requires no context tagging.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translation lookaside buffer, or TLB, caches translations and associated permission information.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25.3 TLB hits</a:t>
            </a:r>
          </a:p>
          <a:p/>
          <a:p>
            <a:r>
              <a:t>LECTURE NARRATION</a:t>
            </a:r>
          </a:p>
          <a:p>
            <a:r>
              <a:t>A TLB hit occurs when a usable cached translation matches the access. The processor can then proceed with the relevant permission checks and physical-address use. This is a translation hit, not necessarily a data-cache hit. The translated data may still be absent from L1, L2, or the last-level cache. Conversely, the bytes may already exist in a data cache while translation requires additional work. A complete access model therefore tracks translation and data access as related but separate paths.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TLB hit occurs when a usable cached translation matches the access.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25.3 TLB hits — Deep Dive</a:t>
            </a:r>
          </a:p>
          <a:p/>
          <a:p>
            <a:r>
              <a:t>LECTURE NARRATION</a:t>
            </a:r>
          </a:p>
          <a:p>
            <a:r>
              <a:t>A TLB hit occurs when a usable cached translation matches the access. The processor can then proceed with the relevant permission checks and physical-address use. This is a translation hit, not necessarily a data-cache hit. The translated data may still be absent from L1, L2, or the last-level cache. Conversely, the bytes may already exist in a data cache while translation requires additional work. A complete access model therefore tracks translation and data access as related but separate paths.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TLB hit occurs when a usable cached translation matches the access.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25.4 TLB misses</a:t>
            </a:r>
          </a:p>
          <a:p/>
          <a:p>
            <a:r>
              <a:t>LECTURE NARRATION</a:t>
            </a:r>
          </a:p>
          <a:p>
            <a:r>
              <a:t>A TLB miss means that the required translation is not available in the consulted translation cache. The processor can search another translation level or perform a page-table walk. If the tables describe a valid permitted mapping, the translation can be installed and the access can continue without a page fault. A page fault occurs when translation or protection rules cannot complete the access as requested. It requires software handling on the reference system. The distinction is essential: TLB miss does not imply page fault , and neither event is synonymous with a data-cache miss.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TLB miss means that the required translation is not available in the consulted translation cache.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25.4 TLB misses — Deep Dive</a:t>
            </a:r>
          </a:p>
          <a:p/>
          <a:p>
            <a:r>
              <a:t>LECTURE NARRATION</a:t>
            </a:r>
          </a:p>
          <a:p>
            <a:r>
              <a:t>A TLB miss means that the required translation is not available in the consulted translation cache. The processor can search another translation level or perform a page-table walk. If the tables describe a valid permitted mapping, the translation can be installed and the access can continue without a page fault. A page fault occurs when translation or protection rules cannot complete the access as requested. It requires software handling on the reference system. The distinction is essential: TLB miss does not imply page fault , and neither event is synonymous with a data-cache miss.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TLB miss means that the required translation is not available in the consulted translation cache.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25.5 Translation caching</a:t>
            </a:r>
          </a:p>
          <a:p/>
          <a:p>
            <a:r>
              <a:t>LECTURE NARRATION</a:t>
            </a:r>
          </a:p>
          <a:p>
            <a:r>
              <a:t>Translation caching rewards locality in the set of pages accessed. A rough measure called TLB reach multiplies the number of usable entries by the page size, but associativity, separate structures, mixed page sizes, and access patterns can reduce the usefulness of that simple estimate. For a teaching cache with 64 entries and 4-KiB pages, nominal reach is 256 KiB. A loop touching one byte in each of 1024 different pages can have a small useful-byte working set but a large translation working set. Packing those bytes into fewer pages can improve translation locality without changing the number of logical items.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translation caching rewards locality in the set of pages accessed.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25.5 Translation caching — Deep Dive</a:t>
            </a:r>
          </a:p>
          <a:p/>
          <a:p>
            <a:r>
              <a:t>LECTURE NARRATION</a:t>
            </a:r>
          </a:p>
          <a:p>
            <a:r>
              <a:t>Translation caching rewards locality in the set of pages accessed. A rough measure called TLB reach multiplies the number of usable entries by the page size, but associativity, separate structures, mixed page sizes, and access patterns can reduce the usefulness of that simple estimate. For a teaching cache with 64 entries and 4-KiB pages, nominal reach is 256 KiB. A loop touching one byte in each of 1024 different pages can have a small useful-byte working set but a large translation working set. Packing those bytes into fewer pages can improve translation locality without changing the number of logical items.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translation caching rewards locality in the set of pages accessed.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Translation and data are separate events</a:t>
            </a:r>
          </a:p>
          <a:p/>
          <a:p>
            <a:r>
              <a:t>LECTURE NARRATION</a:t>
            </a:r>
          </a:p>
          <a:p>
            <a:r>
              <a:t>Assume a fully associative, four-entry LRU TLB and a repeating virtual-page trace: The first four accesses miss and install translations. The next four hit, giving 4 hits in 8 accesses, or 50% over the entire cold trace. Repeating the four-page cycle afterward yields hits while no other activity evicts entries. Now use five pages: Every access misses under this particular capacity and replacement model. By the time a page is reused, the other four pages have displaced it. This trace does not establish anything about whether the data bytes are in L1 or DRAM, and it does not require any page fault when all mappings remain valid. An experiment that touches one byte per page should distinguish cold page allocation, first-touch faults, TLB behavior, and data-cache behavior. Timing the first traversal alone mixes several effects. A useful design initializes the mapping, records the access pattern, repeats controlled passes, and uses available counters only when their meaning and permissions are understood.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fully associative, four-entry LRU TLB and a repeating virtual-page trace: The first four accesses miss and install translations.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Translation and data are separate events — Deep Dive</a:t>
            </a:r>
          </a:p>
          <a:p/>
          <a:p>
            <a:r>
              <a:t>LECTURE NARRATION</a:t>
            </a:r>
          </a:p>
          <a:p>
            <a:r>
              <a:t>Assume a fully associative, four-entry LRU TLB and a repeating virtual-page trace: The first four accesses miss and install translations. The next four hit, giving 4 hits in 8 accesses, or 50% over the entire cold trace. Repeating the four-page cycle afterward yields hits while no other activity evicts entries. Now use five pages: Every access misses under this particular capacity and replacement model. By the time a page is reused, the other four pages have displaced it. This trace does not establish anything about whether the data bytes are in L1 or DRAM, and it does not require any page fault when all mappings remain valid. An experiment that touches one byte per page should distinguish cold page allocation, first-touch faults, TLB behavior, and data-cache behavior. Timing the first traversal alone mixes several effects. A useful design initializes the mapping, records the access pattern, repeats controlled passes, and uses available counters only when their meaning and permissions are understood.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fully associative, four-entry LRU TLB and a repeating virtual-page trace: The first four accesses miss and install translations.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TLB speedup intuition</a:t>
            </a:r>
          </a:p>
          <a:p/>
          <a:p>
            <a:r>
              <a:t>LECTURE NARRATION</a:t>
            </a:r>
          </a:p>
          <a:p>
            <a:r>
              <a:t>Without a TLB, a multilevel page-table walk can require several memory references before the actual data access. On a TLB hit, the cached translation supplies the frame mapping immediately, avoiding those walk references. The data cache lookup is still a separate concern; a TLB hit does not imply the requested data is in L1.</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without a TLB, a multilevel page-table walk can require several memory references before the actual data access.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TLB speedup intuition — Deep Dive</a:t>
            </a:r>
          </a:p>
          <a:p/>
          <a:p>
            <a:r>
              <a:t>LECTURE NARRATION</a:t>
            </a:r>
          </a:p>
          <a:p>
            <a:r>
              <a:t>Without a TLB, a multilevel page-table walk can require several memory references before the actual data access. On a TLB hit, the cached translation supplies the frame mapping immediately, avoiding those walk references. The data cache lookup is still a separate concern; a TLB hit does not imply the requested data is in L1.</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without a TLB, a multilevel page-table walk can require several memory references before the actual data access.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Handling a TLB miss</a:t>
            </a:r>
          </a:p>
          <a:p/>
          <a:p>
            <a:r>
              <a:t>LECTURE NARRATION</a:t>
            </a:r>
          </a:p>
          <a:p>
            <a:r>
              <a:t>On a hardware-managed design, a TLB miss triggers a page-table walk. If the required PTEs are valid, the translation is inserted into the TLB and the memory access proceeds. If the walk discovers an absent or disallowed mapping, the result becomes a page fault rather than a successful TLB fill.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 a hardware-managed design, a TLB miss triggers a page-table walk.</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Handling a TLB miss — Deep Dive</a:t>
            </a:r>
          </a:p>
          <a:p/>
          <a:p>
            <a:r>
              <a:t>LECTURE NARRATION</a:t>
            </a:r>
          </a:p>
          <a:p>
            <a:r>
              <a:t>On a hardware-managed design, a TLB miss triggers a page-table walk. If the required PTEs are valid, the translation is inserted into the TLB and the memory access proceeds. If the walk discovers an absent or disallowed mapping, the result becomes a page fault rather than a successful TLB fill.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 a hardware-managed design, a TLB miss triggers a page-table walk.</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25. Simulate the two traces using a list ordered from least recently used to most recently used. Add hit and miss counters. Repeat with five entries and explain which results change. Review 1. Can a TLB hit be followed by a data-cache miss? Review 2. Why can large strides increase translation pressure?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25.</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25. Simulate the two traces using a list ordered from least recently used to most recently used. Add hit and miss counters. Repeat with five entries and explain which results change. Review 1. Can a TLB hit be followed by a data-cache miss? Review 2. Why can large strides increase translation pressure?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25.</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translation hardware.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translation hardware.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Page Faults.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25 — Translation Hardware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Virtual memory would be unnecessarily expensive if every load required a full uncached traversal of page tables.</a:t>
            </a:r>
          </a:p>
          <a:p>
            <a:pPr>
              <a:spcAft>
                <a:spcPts val="1100"/>
              </a:spcAft>
              <a:defRPr sz="1900">
                <a:solidFill>
                  <a:srgbClr val="F2F5F8"/>
                </a:solidFill>
              </a:defRPr>
            </a:pPr>
            <a:r>
              <a:t>• Translation hardware therefore caches recently useful mappings.</a:t>
            </a:r>
          </a:p>
          <a:p>
            <a:pPr>
              <a:spcAft>
                <a:spcPts val="1100"/>
              </a:spcAft>
              <a:defRPr sz="1900">
                <a:solidFill>
                  <a:srgbClr val="F2F5F8"/>
                </a:solidFill>
              </a:defRPr>
            </a:pPr>
            <a:r>
              <a:t>• This cache is related to, but distinct from, the caches that hold instruction and data bytes.</a:t>
            </a:r>
          </a:p>
          <a:p>
            <a:pPr>
              <a:spcAft>
                <a:spcPts val="1100"/>
              </a:spcAft>
              <a:defRPr sz="1900">
                <a:solidFill>
                  <a:srgbClr val="F2F5F8"/>
                </a:solidFill>
              </a:defRPr>
            </a:pPr>
            <a:r>
              <a:t>• A program can have excellent data-cache behavior and still suffer from poor translation locality. [ R3 , R10 ]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Translation Hardware.</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25.1 MMU</a:t>
            </a:r>
          </a:p>
          <a:p>
            <a:pPr>
              <a:spcAft>
                <a:spcPts val="1100"/>
              </a:spcAft>
              <a:defRPr sz="1900">
                <a:solidFill>
                  <a:srgbClr val="F2F5F8"/>
                </a:solidFill>
              </a:defRPr>
            </a:pPr>
            <a:r>
              <a:t>• 25.2 TLB</a:t>
            </a:r>
          </a:p>
          <a:p>
            <a:pPr>
              <a:spcAft>
                <a:spcPts val="1100"/>
              </a:spcAft>
              <a:defRPr sz="1900">
                <a:solidFill>
                  <a:srgbClr val="F2F5F8"/>
                </a:solidFill>
              </a:defRPr>
            </a:pPr>
            <a:r>
              <a:t>• 25.3 TLB hits</a:t>
            </a:r>
          </a:p>
          <a:p>
            <a:pPr>
              <a:spcAft>
                <a:spcPts val="1100"/>
              </a:spcAft>
              <a:defRPr sz="1900">
                <a:solidFill>
                  <a:srgbClr val="F2F5F8"/>
                </a:solidFill>
              </a:defRPr>
            </a:pPr>
            <a:r>
              <a:t>• 25.4 TLB misses</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25.1 MMU</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memory-management unit, or MMU, is the processor machinery involved in translation and access checking.</a:t>
            </a:r>
          </a:p>
          <a:p>
            <a:pPr>
              <a:spcAft>
                <a:spcPts val="1100"/>
              </a:spcAft>
              <a:defRPr sz="1900">
                <a:solidFill>
                  <a:srgbClr val="F2F5F8"/>
                </a:solidFill>
              </a:defRPr>
            </a:pPr>
            <a:r>
              <a:t>• It interprets the configured address-space structures according to architectural rules.</a:t>
            </a:r>
          </a:p>
          <a:p>
            <a:pPr>
              <a:spcAft>
                <a:spcPts val="1100"/>
              </a:spcAft>
              <a:defRPr sz="1900">
                <a:solidFill>
                  <a:srgbClr val="F2F5F8"/>
                </a:solidFill>
              </a:defRPr>
            </a:pPr>
            <a:r>
              <a:t>• Its implementation can include several translation caches and page-walk optimizations.</a:t>
            </a:r>
          </a:p>
          <a:p>
            <a:pPr>
              <a:spcAft>
                <a:spcPts val="1100"/>
              </a:spcAft>
              <a:defRPr sz="1900">
                <a:solidFill>
                  <a:srgbClr val="F2F5F8"/>
                </a:solidFill>
              </a:defRPr>
            </a:pPr>
            <a:r>
              <a:t>• The MMU does not understand a source-level vector or ownership model.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25.1 MMU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MMU does not understand a source-level vector or ownership model.</a:t>
            </a:r>
          </a:p>
          <a:p>
            <a:pPr>
              <a:spcAft>
                <a:spcPts val="1100"/>
              </a:spcAft>
              <a:defRPr sz="1900">
                <a:solidFill>
                  <a:srgbClr val="F2F5F8"/>
                </a:solidFill>
              </a:defRPr>
            </a:pPr>
            <a:r>
              <a:t>• It knows translation and permission information at the architecture’s supported granularity.</a:t>
            </a:r>
          </a:p>
          <a:p>
            <a:pPr>
              <a:spcAft>
                <a:spcPts val="1100"/>
              </a:spcAft>
              <a:defRPr sz="1700">
                <a:solidFill>
                  <a:srgbClr val="F2F5F8"/>
                </a:solidFill>
              </a:defRPr>
            </a:pPr>
            <a:r>
              <a:t>• This explains why a legal machine address can still produce undefined behavior in C or C++: the language may forbid an access that hardware page checks permit.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25.2 TLB</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translation lookaside buffer, or TLB, caches translations and associated permission information.</a:t>
            </a:r>
          </a:p>
          <a:p>
            <a:pPr>
              <a:spcAft>
                <a:spcPts val="1100"/>
              </a:spcAft>
              <a:defRPr sz="1900">
                <a:solidFill>
                  <a:srgbClr val="F2F5F8"/>
                </a:solidFill>
              </a:defRPr>
            </a:pPr>
            <a:r>
              <a:t>• A matching entry can supply the physical-frame relationship without a complete new walk.</a:t>
            </a:r>
          </a:p>
          <a:p>
            <a:pPr>
              <a:spcAft>
                <a:spcPts val="1100"/>
              </a:spcAft>
              <a:defRPr sz="1900">
                <a:solidFill>
                  <a:srgbClr val="F2F5F8"/>
                </a:solidFill>
              </a:defRPr>
            </a:pPr>
            <a:r>
              <a:t>• Real processors may have distinct instruction and data TLBs, multiple levels, and different handling for page sizes.</a:t>
            </a:r>
          </a:p>
          <a:p>
            <a:pPr>
              <a:spcAft>
                <a:spcPts val="1100"/>
              </a:spcAft>
              <a:defRPr sz="1900">
                <a:solidFill>
                  <a:srgbClr val="F2F5F8"/>
                </a:solidFill>
              </a:defRPr>
            </a:pPr>
            <a:r>
              <a:t>• TLB entries must be interpreted in the correct address-space context.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25.2 TLB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TLB entries must be interpreted in the correct address-space context.</a:t>
            </a:r>
          </a:p>
          <a:p>
            <a:pPr>
              <a:spcAft>
                <a:spcPts val="1100"/>
              </a:spcAft>
              <a:defRPr sz="1700">
                <a:solidFill>
                  <a:srgbClr val="F2F5F8"/>
                </a:solidFill>
              </a:defRPr>
            </a:pPr>
            <a:r>
              <a:t>• Hardware and kernels can use address-space identifiers and other mechanisms to retain useful entries across switches without confusing one process’s mapping with another’s.</a:t>
            </a:r>
          </a:p>
          <a:p>
            <a:pPr>
              <a:spcAft>
                <a:spcPts val="1100"/>
              </a:spcAft>
              <a:defRPr sz="1900">
                <a:solidFill>
                  <a:srgbClr val="F2F5F8"/>
                </a:solidFill>
              </a:defRPr>
            </a:pPr>
            <a:r>
              <a:t>• Do not assume either that every switch flushes every translation or that retaining entries requires no context tagging.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25.3 TLB hits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TLB hit occurs when a usable cached translation matches the access.</a:t>
            </a:r>
          </a:p>
          <a:p>
            <a:pPr>
              <a:spcAft>
                <a:spcPts val="1100"/>
              </a:spcAft>
              <a:defRPr sz="1900">
                <a:solidFill>
                  <a:srgbClr val="F2F5F8"/>
                </a:solidFill>
              </a:defRPr>
            </a:pPr>
            <a:r>
              <a:t>• The processor can then proceed with the relevant permission checks and physical-address use.</a:t>
            </a:r>
          </a:p>
          <a:p>
            <a:pPr>
              <a:spcAft>
                <a:spcPts val="1100"/>
              </a:spcAft>
              <a:defRPr sz="1900">
                <a:solidFill>
                  <a:srgbClr val="F2F5F8"/>
                </a:solidFill>
              </a:defRPr>
            </a:pPr>
            <a:r>
              <a:t>• This is a translation hit, not necessarily a data-cache hit.</a:t>
            </a:r>
          </a:p>
          <a:p>
            <a:pPr>
              <a:spcAft>
                <a:spcPts val="1100"/>
              </a:spcAft>
              <a:defRPr sz="1900">
                <a:solidFill>
                  <a:srgbClr val="F2F5F8"/>
                </a:solidFill>
              </a:defRPr>
            </a:pPr>
            <a:r>
              <a:t>• The translated data may still be absent from L1, L2, or the last-level cache.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25.3 TLB hits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translated data may still be absent from L1, L2, or the last-level cache.</a:t>
            </a:r>
          </a:p>
          <a:p>
            <a:pPr>
              <a:spcAft>
                <a:spcPts val="1100"/>
              </a:spcAft>
              <a:defRPr sz="1900">
                <a:solidFill>
                  <a:srgbClr val="F2F5F8"/>
                </a:solidFill>
              </a:defRPr>
            </a:pPr>
            <a:r>
              <a:t>• Conversely, the bytes may already exist in a data cache while translation requires additional work.</a:t>
            </a:r>
          </a:p>
          <a:p>
            <a:pPr>
              <a:spcAft>
                <a:spcPts val="1100"/>
              </a:spcAft>
              <a:defRPr sz="1900">
                <a:solidFill>
                  <a:srgbClr val="F2F5F8"/>
                </a:solidFill>
              </a:defRPr>
            </a:pPr>
            <a:r>
              <a:t>• A complete access model therefore tracks translation and data access as related but separate paths.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25.4 TLB misses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TLB miss means that the required translation is not available in the consulted translation cache.</a:t>
            </a:r>
          </a:p>
          <a:p>
            <a:pPr>
              <a:spcAft>
                <a:spcPts val="1100"/>
              </a:spcAft>
              <a:defRPr sz="1900">
                <a:solidFill>
                  <a:srgbClr val="F2F5F8"/>
                </a:solidFill>
              </a:defRPr>
            </a:pPr>
            <a:r>
              <a:t>• The processor can search another translation level or perform a page-table walk.</a:t>
            </a:r>
          </a:p>
          <a:p>
            <a:pPr>
              <a:spcAft>
                <a:spcPts val="1100"/>
              </a:spcAft>
              <a:defRPr sz="1700">
                <a:solidFill>
                  <a:srgbClr val="F2F5F8"/>
                </a:solidFill>
              </a:defRPr>
            </a:pPr>
            <a:r>
              <a:t>• If the tables describe a valid permitted mapping, the translation can be installed and the access can continue without a page fault.</a:t>
            </a:r>
          </a:p>
          <a:p>
            <a:pPr>
              <a:spcAft>
                <a:spcPts val="1100"/>
              </a:spcAft>
              <a:defRPr sz="1900">
                <a:solidFill>
                  <a:srgbClr val="F2F5F8"/>
                </a:solidFill>
              </a:defRPr>
            </a:pPr>
            <a:r>
              <a:t>• A page fault occurs when translation or protection rules cannot complete the access as requested.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25.4 TLB misses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page fault occurs when translation or protection rules cannot complete the access as requested.</a:t>
            </a:r>
          </a:p>
          <a:p>
            <a:pPr>
              <a:spcAft>
                <a:spcPts val="1100"/>
              </a:spcAft>
              <a:defRPr sz="1900">
                <a:solidFill>
                  <a:srgbClr val="F2F5F8"/>
                </a:solidFill>
              </a:defRPr>
            </a:pPr>
            <a:r>
              <a:t>• It requires software handling on the reference system.</a:t>
            </a:r>
          </a:p>
          <a:p>
            <a:pPr>
              <a:spcAft>
                <a:spcPts val="1100"/>
              </a:spcAft>
              <a:defRPr sz="1700">
                <a:solidFill>
                  <a:srgbClr val="F2F5F8"/>
                </a:solidFill>
              </a:defRPr>
            </a:pPr>
            <a:r>
              <a:t>• The distinction is essential: TLB miss does not imply page fault , and neither event is synonymous with a data-cache miss.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25.5 Translation caching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Translation caching rewards locality in the set of pages accessed.</a:t>
            </a:r>
          </a:p>
          <a:p>
            <a:pPr>
              <a:spcAft>
                <a:spcPts val="1100"/>
              </a:spcAft>
              <a:defRPr sz="1700">
                <a:solidFill>
                  <a:srgbClr val="F2F5F8"/>
                </a:solidFill>
              </a:defRPr>
            </a:pPr>
            <a:r>
              <a:t>• A rough measure called TLB reach multiplies the number of usable entries by the page size, but associativity, separate structures, mixed page sizes, and access patterns can...</a:t>
            </a:r>
          </a:p>
          <a:p>
            <a:pPr>
              <a:spcAft>
                <a:spcPts val="1100"/>
              </a:spcAft>
              <a:defRPr sz="1900">
                <a:solidFill>
                  <a:srgbClr val="F2F5F8"/>
                </a:solidFill>
              </a:defRPr>
            </a:pPr>
            <a:r>
              <a:t>• For a teaching cache with 64 entries and 4-KiB pages, nominal reach is 256 KiB.</a:t>
            </a:r>
          </a:p>
          <a:p>
            <a:pPr>
              <a:spcAft>
                <a:spcPts val="1100"/>
              </a:spcAft>
              <a:defRPr sz="1700">
                <a:solidFill>
                  <a:srgbClr val="F2F5F8"/>
                </a:solidFill>
              </a:defRPr>
            </a:pPr>
            <a:r>
              <a:t>• A loop touching one byte in each of 1024 different pages can have a small useful-byte working set but a large translation working 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25.5 Translation caching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teaching cache with 64 entries and 4-KiB pages, nominal reach is 256 KiB.</a:t>
            </a:r>
          </a:p>
          <a:p>
            <a:pPr>
              <a:spcAft>
                <a:spcPts val="1100"/>
              </a:spcAft>
              <a:defRPr sz="1700">
                <a:solidFill>
                  <a:srgbClr val="F2F5F8"/>
                </a:solidFill>
              </a:defRPr>
            </a:pPr>
            <a:r>
              <a:t>• A loop touching one byte in each of 1024 different pages can have a small useful-byte working set but a large translation working set.</a:t>
            </a:r>
          </a:p>
          <a:p>
            <a:pPr>
              <a:spcAft>
                <a:spcPts val="1100"/>
              </a:spcAft>
              <a:defRPr sz="1900">
                <a:solidFill>
                  <a:srgbClr val="F2F5F8"/>
                </a:solidFill>
              </a:defRPr>
            </a:pPr>
            <a:r>
              <a:t>• Packing those bytes into fewer pages can improve translation locality without changing the number of logical items.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Translation and data are separate events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a fully associative, four-entry LRU TLB and a repeating virtual-page trace:</a:t>
            </a:r>
          </a:p>
          <a:p>
            <a:pPr>
              <a:spcAft>
                <a:spcPts val="1100"/>
              </a:spcAft>
              <a:defRPr sz="1900">
                <a:solidFill>
                  <a:srgbClr val="F2F5F8"/>
                </a:solidFill>
              </a:defRPr>
            </a:pPr>
            <a:r>
              <a:t>• The first four accesses miss and install translations.</a:t>
            </a:r>
          </a:p>
          <a:p>
            <a:pPr>
              <a:spcAft>
                <a:spcPts val="1100"/>
              </a:spcAft>
              <a:defRPr sz="1900">
                <a:solidFill>
                  <a:srgbClr val="F2F5F8"/>
                </a:solidFill>
              </a:defRPr>
            </a:pPr>
            <a:r>
              <a:t>• The next four hit, giving 4 hits in 8 accesses, or 50% over the entire cold trace.</a:t>
            </a:r>
          </a:p>
          <a:p>
            <a:pPr>
              <a:spcAft>
                <a:spcPts val="1100"/>
              </a:spcAft>
              <a:defRPr sz="1900">
                <a:solidFill>
                  <a:srgbClr val="F2F5F8"/>
                </a:solidFill>
              </a:defRPr>
            </a:pPr>
            <a:r>
              <a:t>• Repeating the four-page cycle afterward yields hits while no other activity evicts entries.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Translation and data are separate events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first four accesses miss and install translations.</a:t>
            </a:r>
          </a:p>
          <a:p>
            <a:pPr>
              <a:spcAft>
                <a:spcPts val="1100"/>
              </a:spcAft>
              <a:defRPr sz="1900">
                <a:solidFill>
                  <a:srgbClr val="F2F5F8"/>
                </a:solidFill>
              </a:defRPr>
            </a:pPr>
            <a:r>
              <a:t>• The next four hit, giving 4 hits in 8 accesses, or 50% over the entire cold trace.</a:t>
            </a:r>
          </a:p>
          <a:p>
            <a:pPr>
              <a:spcAft>
                <a:spcPts val="1100"/>
              </a:spcAft>
              <a:defRPr sz="1900">
                <a:solidFill>
                  <a:srgbClr val="F2F5F8"/>
                </a:solidFill>
              </a:defRPr>
            </a:pPr>
            <a:r>
              <a:t>• Repeating the four-page cycle afterward yields hits while no other activity evicts entries.</a:t>
            </a:r>
          </a:p>
          <a:p>
            <a:pPr>
              <a:spcAft>
                <a:spcPts val="1100"/>
              </a:spcAft>
              <a:defRPr sz="1900">
                <a:solidFill>
                  <a:srgbClr val="F2F5F8"/>
                </a:solidFill>
              </a:defRPr>
            </a:pPr>
            <a:r>
              <a:t>• Now use five pages: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TLB speedup intuition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Without a TLB, a multilevel page-table walk can require several memory references before the actual data access.</a:t>
            </a:r>
          </a:p>
          <a:p>
            <a:pPr>
              <a:spcAft>
                <a:spcPts val="1100"/>
              </a:spcAft>
              <a:defRPr sz="1900">
                <a:solidFill>
                  <a:srgbClr val="F2F5F8"/>
                </a:solidFill>
              </a:defRPr>
            </a:pPr>
            <a:r>
              <a:t>• On a TLB hit, the cached translation supplies the frame mapping immediately, avoiding those walk references.</a:t>
            </a:r>
          </a:p>
          <a:p>
            <a:pPr>
              <a:spcAft>
                <a:spcPts val="1100"/>
              </a:spcAft>
              <a:defRPr sz="1900">
                <a:solidFill>
                  <a:srgbClr val="F2F5F8"/>
                </a:solidFill>
              </a:defRPr>
            </a:pPr>
            <a:r>
              <a:t>• The data cache lookup is still a separate concern; a TLB hit does not imply the requested data is in L1.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TLB speedup intuition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Without a TLB, a multilevel page-table walk can require several memory references before the actual data access.</a:t>
            </a:r>
          </a:p>
          <a:p>
            <a:pPr>
              <a:spcAft>
                <a:spcPts val="1100"/>
              </a:spcAft>
              <a:defRPr sz="1900">
                <a:solidFill>
                  <a:srgbClr val="F2F5F8"/>
                </a:solidFill>
              </a:defRPr>
            </a:pPr>
            <a:r>
              <a:t>• On a TLB hit, the cached translation supplies the frame mapping immediately, avoiding those walk references.</a:t>
            </a:r>
          </a:p>
          <a:p>
            <a:pPr>
              <a:spcAft>
                <a:spcPts val="1100"/>
              </a:spcAft>
              <a:defRPr sz="1900">
                <a:solidFill>
                  <a:srgbClr val="F2F5F8"/>
                </a:solidFill>
              </a:defRPr>
            </a:pPr>
            <a:r>
              <a:t>• The data cache lookup is still a separate concern; a TLB hit does not imply the requested data is in L1.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Handling a TLB miss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a hardware-managed design, a TLB miss triggers a page-table walk.</a:t>
            </a:r>
          </a:p>
          <a:p>
            <a:pPr>
              <a:spcAft>
                <a:spcPts val="1100"/>
              </a:spcAft>
              <a:defRPr sz="1900">
                <a:solidFill>
                  <a:srgbClr val="F2F5F8"/>
                </a:solidFill>
              </a:defRPr>
            </a:pPr>
            <a:r>
              <a:t>• If the required PTEs are valid, the translation is inserted into the TLB and the memory access proceeds.</a:t>
            </a:r>
          </a:p>
          <a:p>
            <a:pPr>
              <a:spcAft>
                <a:spcPts val="1100"/>
              </a:spcAft>
              <a:defRPr sz="1700">
                <a:solidFill>
                  <a:srgbClr val="F2F5F8"/>
                </a:solidFill>
              </a:defRPr>
            </a:pPr>
            <a:r>
              <a:t>• If the walk discovers an absent or disallowed mapping, the result becomes a page fault rather than a successful TLB fill.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Handling a TLB miss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a hardware-managed design, a TLB miss triggers a page-table walk.</a:t>
            </a:r>
          </a:p>
          <a:p>
            <a:pPr>
              <a:spcAft>
                <a:spcPts val="1100"/>
              </a:spcAft>
              <a:defRPr sz="1900">
                <a:solidFill>
                  <a:srgbClr val="F2F5F8"/>
                </a:solidFill>
              </a:defRPr>
            </a:pPr>
            <a:r>
              <a:t>• If the required PTEs are valid, the translation is inserted into the TLB and the memory access proceeds.</a:t>
            </a:r>
          </a:p>
          <a:p>
            <a:pPr>
              <a:spcAft>
                <a:spcPts val="1100"/>
              </a:spcAft>
              <a:defRPr sz="1700">
                <a:solidFill>
                  <a:srgbClr val="F2F5F8"/>
                </a:solidFill>
              </a:defRPr>
            </a:pPr>
            <a:r>
              <a:t>• If the walk discovers an absent or disallowed mapping, the result becomes a page fault rather than a successful TLB fill.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25.</a:t>
            </a:r>
          </a:p>
          <a:p>
            <a:pPr>
              <a:spcAft>
                <a:spcPts val="1100"/>
              </a:spcAft>
              <a:defRPr sz="1900">
                <a:solidFill>
                  <a:srgbClr val="F2F5F8"/>
                </a:solidFill>
              </a:defRPr>
            </a:pPr>
            <a:r>
              <a:t>• Simulate the two traces using a list ordered from least recently used to most recently used.</a:t>
            </a:r>
          </a:p>
          <a:p>
            <a:pPr>
              <a:spcAft>
                <a:spcPts val="1100"/>
              </a:spcAft>
              <a:defRPr sz="1900">
                <a:solidFill>
                  <a:srgbClr val="F2F5F8"/>
                </a:solidFill>
              </a:defRPr>
            </a:pPr>
            <a:r>
              <a:t>• Add hit and miss counters.</a:t>
            </a:r>
          </a:p>
          <a:p>
            <a:pPr>
              <a:spcAft>
                <a:spcPts val="1100"/>
              </a:spcAft>
              <a:defRPr sz="1900">
                <a:solidFill>
                  <a:srgbClr val="F2F5F8"/>
                </a:solidFill>
              </a:defRPr>
            </a:pPr>
            <a:r>
              <a:t>• Repeat with five entries and explain which results change.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Can a TLB hit be followed by a data-cache miss?</a:t>
            </a:r>
          </a:p>
          <a:p>
            <a:pPr>
              <a:spcAft>
                <a:spcPts val="1100"/>
              </a:spcAft>
              <a:defRPr sz="1900">
                <a:solidFill>
                  <a:srgbClr val="F2F5F8"/>
                </a:solidFill>
              </a:defRPr>
            </a:pPr>
            <a:r>
              <a:t>• Review 2.</a:t>
            </a:r>
          </a:p>
          <a:p>
            <a:pPr>
              <a:spcAft>
                <a:spcPts val="1100"/>
              </a:spcAft>
              <a:defRPr sz="1900">
                <a:solidFill>
                  <a:srgbClr val="F2F5F8"/>
                </a:solidFill>
              </a:defRPr>
            </a:pPr>
            <a:r>
              <a:t>• Why can large strides increase translation pressure?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translation hardware.</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Page Faults.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25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