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48 — Condition Variables</a:t>
            </a:r>
          </a:p>
          <a:p/>
          <a:p>
            <a:r>
              <a:t>LECTURE NARRATION</a:t>
            </a:r>
          </a:p>
          <a:p>
            <a:r>
              <a:t>A condition variable lets a thread wait until protected state satisfies a predicate. The condition variable is not the state itself and does not retain one durable token for each notification. Correctness comes from the predicate, its mutex, and the coordinated release-and-wait operation. [ R24 ]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condition variable lets a thread wait until protected state satisfies a predicate.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condition variable lets a thread wait until protected state satisfies a predicate. The condition variable is not the state itself and does not retain one durable token for each notification. Correctness comes from the predicate, its mutex, and the coordinated release-and-wait operation. [ R24 ]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condition variable lets a thread wait until protected state satisfies a predicate.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48.1 Waiting 48.2 Notification 48.3 wait 48.4 notify_one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48.1 Waiting 48.2 Notification 48.3 wait 48.4 notify_one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48.1 Waiting</a:t>
            </a:r>
          </a:p>
          <a:p/>
          <a:p>
            <a:r>
              <a:t>LECTURE NARRATION</a:t>
            </a:r>
          </a:p>
          <a:p>
            <a:r>
              <a:t>Waiting should mean “sleep until it is worth checking the predicate again,” not “assume the event must have happened because I woke up.” A waiter holds the mutex while inspecting state and uses the condition variable to release ownership while blocked. This avoids wasting CPU in a polling loop and allows the producer of the condition to acquire the mutex. Waiting while continuing to hold the needed mutex would prevent the state change that could satisfy the predicate.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waiting should mean “sleep until it is worth checking the predicate again,” not “assume the event must have happened because I woke up.” A waiter holds the mutex while inspecting state and uses the condition variable to release ownership while blocked.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48.1 Waiting — Deep Dive</a:t>
            </a:r>
          </a:p>
          <a:p/>
          <a:p>
            <a:r>
              <a:t>LECTURE NARRATION</a:t>
            </a:r>
          </a:p>
          <a:p>
            <a:r>
              <a:t>Waiting should mean “sleep until it is worth checking the predicate again,” not “assume the event must have happened because I woke up.” A waiter holds the mutex while inspecting state and uses the condition variable to release ownership while blocked. This avoids wasting CPU in a polling loop and allows the producer of the condition to acquire the mutex. Waiting while continuing to hold the needed mutex would prevent the state change that could satisfy the predicate.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waiting should mean “sleep until it is worth checking the predicate again,” not “assume the event must have happened because I woke up.” A waiter holds the mutex while inspecting state and uses the condition variable to release ownership while blocked.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48.2 Notification</a:t>
            </a:r>
          </a:p>
          <a:p/>
          <a:p>
            <a:r>
              <a:t>LECTURE NARRATION</a:t>
            </a:r>
          </a:p>
          <a:p>
            <a:r>
              <a:t>Notification makes one or more waiters eligible to reconsider their predicates. It does not transfer the mutex directly into a guarantee that the predicate remains true until the awakened thread runs. Another thread may acquire the mutex first and consume the resource. The waiter must therefore recheck under the lock. Notification is a scheduling hint within a state protocol, not the protocol’s authoritative record.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notification makes one or more waiters eligible to reconsider their predicates.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48.2 Notification — Deep Dive</a:t>
            </a:r>
          </a:p>
          <a:p/>
          <a:p>
            <a:r>
              <a:t>LECTURE NARRATION</a:t>
            </a:r>
          </a:p>
          <a:p>
            <a:r>
              <a:t>Notification makes one or more waiters eligible to reconsider their predicates. It does not transfer the mutex directly into a guarantee that the predicate remains true until the awakened thread runs. Another thread may acquire the mutex first and consume the resource. The waiter must therefore recheck under the lock. Notification is a scheduling hint within a state protocol, not the protocol’s authoritative record.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notification makes one or more waiters eligible to reconsider their predicates.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48.3 wait</a:t>
            </a:r>
          </a:p>
          <a:p/>
          <a:p>
            <a:r>
              <a:t>LECTURE NARRATION</a:t>
            </a:r>
          </a:p>
          <a:p>
            <a:r>
              <a:t>wait atomically releases the associated lock and enters the waiting operation, then reacquires the lock before returning to the caller. The predicate overload expresses the required loop directly. Use the same mutex discipline for the predicate’s shared state. Updating the predicate without its required protection can introduce a data race or lose the relationship between state change and sleeping. The mutex and condition variable must remain alive while waiters can use them.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 atomically releases the associated lock and enters the waiting operation, then reacquires the lock before returning to the caller.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48.3 wait — Deep Dive</a:t>
            </a:r>
          </a:p>
          <a:p/>
          <a:p>
            <a:r>
              <a:t>LECTURE NARRATION</a:t>
            </a:r>
          </a:p>
          <a:p>
            <a:r>
              <a:t>wait atomically releases the associated lock and enters the waiting operation, then reacquires the lock before returning to the caller. The predicate overload expresses the required loop directly. Use the same mutex discipline for the predicate’s shared state. Updating the predicate without its required protection can introduce a data race or lose the relationship between state change and sleeping. The mutex and condition variable must remain alive while waiters can use them.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wait atomically releases the associated lock and enters the waiting operation, then reacquires the lock before returning to the caller.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48.4 notify_one</a:t>
            </a:r>
          </a:p>
          <a:p/>
          <a:p>
            <a:r>
              <a:t>LECTURE NARRATION</a:t>
            </a:r>
          </a:p>
          <a:p>
            <a:r>
              <a:t>notify_one wakes one eligible waiter. It is appropriate when one newly available unit of work can satisfy one interchangeable consumer. The awakened thread still competes for the mutex and checks the predicate. When different waiter classes use different predicates, waking an arbitrary one may not produce progress. Separate condition variables or broader notification may be needed. Choose based on the state machine, not solely on a desire to minimize wakeups.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notify_one wakes one eligible waiter.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48.4 notify_one — Deep Dive</a:t>
            </a:r>
          </a:p>
          <a:p/>
          <a:p>
            <a:r>
              <a:t>LECTURE NARRATION</a:t>
            </a:r>
          </a:p>
          <a:p>
            <a:r>
              <a:t>notify_one wakes one eligible waiter. It is appropriate when one newly available unit of work can satisfy one interchangeable consumer. The awakened thread still competes for the mutex and checks the predicate. When different waiter classes use different predicates, waking an arbitrary one may not produce progress. Separate condition variables or broader notification may be needed. Choose based on the state machine, not solely on a desire to minimize wakeups.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notify_one wakes one eligible waiter.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48.5 notify_all</a:t>
            </a:r>
          </a:p>
          <a:p/>
          <a:p>
            <a:r>
              <a:t>LECTURE NARRATION</a:t>
            </a:r>
          </a:p>
          <a:p>
            <a:r>
              <a:t>notify_all wakes all current waiters so that each can check its condition. It is useful for closure, shutdown, or state changes that may satisfy several different predicates. Waking many threads can create contention, sometimes called a thundering herd. That cost does not justify omitting required wakeups. First ensure all affected waiters can make progress or terminate; then refine the notification policy if measurement shows a problem.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notify_all wakes all current waiters so that each can check its condition.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48.5 notify_all — Deep Dive</a:t>
            </a:r>
          </a:p>
          <a:p/>
          <a:p>
            <a:r>
              <a:t>LECTURE NARRATION</a:t>
            </a:r>
          </a:p>
          <a:p>
            <a:r>
              <a:t>notify_all wakes all current waiters so that each can check its condition. It is useful for closure, shutdown, or state changes that may satisfy several different predicates. Waking many threads can create contention, sometimes called a thundering herd. That cost does not justify omitting required wakeups. First ensure all affected waiters can make progress or terminate; then refine the notification policy if measurement shows a problem.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notify_all wakes all current waiters so that each can check its condition.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48.6 Predicate loops</a:t>
            </a:r>
          </a:p>
          <a:p/>
          <a:p>
            <a:r>
              <a:t>LECTURE NARRATION</a:t>
            </a:r>
          </a:p>
          <a:p>
            <a:r>
              <a:t>A predicate loop handles spurious wakeups and state changes consumed by another participant. The canonical form is condition.wait(lock, [&amp;]{ return predicate; }); . After it returns, the predicate is true while the caller still owns the mutex. Do not move the predicate check outside the lock to save a few instructions. The check and decision to wait must be coordinated with the state updates. An atomic flag alone does not automatically repair a poorly designed condition-variable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predicate loop handles spurious wakeups and state changes consumed by another participant.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48.6 Predicate loops — Deep Dive</a:t>
            </a:r>
          </a:p>
          <a:p/>
          <a:p>
            <a:r>
              <a:t>LECTURE NARRATION</a:t>
            </a:r>
          </a:p>
          <a:p>
            <a:r>
              <a:t>A predicate loop handles spurious wakeups and state changes consumed by another participant. The canonical form is condition.wait(lock, [&amp;]{ return predicate; }); . After it returns, the predicate is true while the caller still owns the mutex. Do not move the predicate check outside the lock to save a few instructions. The check and decision to wait must be coordinated with the state updates. An atomic flag alone does not automatically repair a poorly designed condition-variable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predicate loop handles spurious wakeups and state changes consumed by another participant.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48.7 Sleep/wakeup races</a:t>
            </a:r>
          </a:p>
          <a:p/>
          <a:p>
            <a:r>
              <a:t>LECTURE NARRATION</a:t>
            </a:r>
          </a:p>
          <a:p>
            <a:r>
              <a:t>A sleep/wakeup race occurs when a thread checks state, another thread changes it and notifies, and the first thread then sleeps without seeing a future notification. The condition-variable wait operation closes this gap when used with the shared mutex and predicate discipline. The structure resembles the signal-mask solution in Chapter 41, although the mechanisms differ. In both cases, the program needs an atomic relationship between checking whether to sleep and making itself eligible for notification.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48.7 Sleep/wakeup races — Deep Dive</a:t>
            </a:r>
          </a:p>
          <a:p/>
          <a:p>
            <a:r>
              <a:t>LECTURE NARRATION</a:t>
            </a:r>
          </a:p>
          <a:p>
            <a:r>
              <a:t>A sleep/wakeup race occurs when a thread checks state, another thread changes it and notifies, and the first thread then sleeps without seeing a future notification. The condition-variable wait operation closes this gap when used with the shared mutex and predicate discipline. The structure resembles the signal-mask solution in Chapter 41, although the mechanisms differ. In both cases, the program needs an atomic relationship between checking whether to sleep and making itself eligible for notification.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48.8 Lost wakeups</a:t>
            </a:r>
          </a:p>
          <a:p/>
          <a:p>
            <a:r>
              <a:t>LECTURE NARRATION</a:t>
            </a:r>
          </a:p>
          <a:p>
            <a:r>
              <a:t>A notification sent when no thread is waiting is not retained as a future wakeup token. This is harmless when the state predicate remains true: a later waiter sees it and does not sleep. It is a bug only when the design incorrectly relies on notification history instead of persistent state. For example, set ready = true under the mutex, then notify. A worker that starts after the notification still observes ready and proceeds. Omitting the state variable and waiting for an imagined remembered notification is the broken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notification sent when no thread is waiting is not retained as a future wakeup token.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48.8 Lost wakeups — Deep Dive</a:t>
            </a:r>
          </a:p>
          <a:p/>
          <a:p>
            <a:r>
              <a:t>LECTURE NARRATION</a:t>
            </a:r>
          </a:p>
          <a:p>
            <a:r>
              <a:t>A notification sent when no thread is waiting is not retained as a future wakeup token. This is harmless when the state predicate remains true: a later waiter sees it and does not sleep. It is a bug only when the design incorrectly relies on notification history instead of persistent state. For example, set ready = true under the mutex, then notify. A worker that starts after the notification still observes ready and proceeds. Omitting the state variable and waiting for an imagined remembered notification is the broken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notification sent when no thread is waiting is not retained as a future wakeup token.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Notification before waiting is safe with a predicate</a:t>
            </a:r>
          </a:p>
          <a:p/>
          <a:p>
            <a:r>
              <a:t>LECTURE NARRATION</a:t>
            </a:r>
          </a:p>
          <a:p>
            <a:r>
              <a:t>The main thread publishes value 42 and marks it ready. The worker may begin waiting before or after publication; either schedule is correct because it tests the protected predicate. Companion listing: ch48/gate.cpp The result is 42 without any sleep-based timing assumption. Notification occurs after unlocking, which is valid for this protocol and can avoid waking a thread only to make it immediately wait for the same mutex. The correctness argument depends on the protected state, not on that performance-oriented placement.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main thread publishes value 42 and marks it ready.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Notification before waiting is safe with a predicate — Deep Dive</a:t>
            </a:r>
          </a:p>
          <a:p/>
          <a:p>
            <a:r>
              <a:t>LECTURE NARRATION</a:t>
            </a:r>
          </a:p>
          <a:p>
            <a:r>
              <a:t>The main thread publishes value 42 and marks it ready. The worker may begin waiting before or after publication; either schedule is correct because it tests the protected predicate. Companion listing: ch48/gate.cpp The result is 42 without any sleep-based timing assumption. Notification occurs after unlocking, which is valid for this protocol and can avoid waking a thread only to make it immediately wait for the same mutex. The correctness argument depends on the protected state, not on that performance-oriented placement.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main thread publishes value 42 and marks it ready.</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Correct wait loop</a:t>
            </a:r>
          </a:p>
          <a:p/>
          <a:p>
            <a:r>
              <a:t>LECTURE NARRATION</a:t>
            </a:r>
          </a:p>
          <a:p>
            <a:r>
              <a:t>A consumer locks the mutex and evaluates while (queue.empty()) cv.wait(lock); . The wait operation atomically releases the mutex and sleeps, then reacquires the mutex before returning. The loop rechecks the predicate because wakeups can be spurious or another consumer may consume the item first. Notification is a hint to reevaluate shared state, not a transfer of ownership.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consumer locks the mutex and evaluates while (queue.empty()) cv.wait(lock); .</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Correct wait loop — Deep Dive</a:t>
            </a:r>
          </a:p>
          <a:p/>
          <a:p>
            <a:r>
              <a:t>LECTURE NARRATION</a:t>
            </a:r>
          </a:p>
          <a:p>
            <a:r>
              <a:t>A consumer locks the mutex and evaluates while (queue.empty()) cv.wait(lock); . The wait operation atomically releases the mutex and sleeps, then reacquires the mutex before returning. The loop rechecks the predicate because wakeups can be spurious or another consumer may consume the item first. Notification is a hint to reevaluate shared state, not a transfer of ownership.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consumer locks the mutex and evaluates while (queue.empty()) cv.wait(lock); .</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notify_one versus notify_all</a:t>
            </a:r>
          </a:p>
          <a:p/>
          <a:p>
            <a:r>
              <a:t>LECTURE NARRATION</a:t>
            </a:r>
          </a:p>
          <a:p>
            <a:r>
              <a:t>If adding one queue item can satisfy at most one waiting consumer, notify_one often avoids waking threads that cannot make progress. If a state change can enable many waiters, notify_all may be appropriate. The choice follows the predicate and resource semantics, not a blanket rule.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adding one queue item can satisfy at most one waiting consumer, notify_one often avoids waking threads that cannot make progress.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notify_one versus notify_all — Deep Dive</a:t>
            </a:r>
          </a:p>
          <a:p/>
          <a:p>
            <a:r>
              <a:t>LECTURE NARRATION</a:t>
            </a:r>
          </a:p>
          <a:p>
            <a:r>
              <a:t>If adding one queue item can satisfy at most one waiting consumer, notify_one often avoids waking threads that cannot make progress. If a state change can enable many waiters, notify_all may be appropriate. The choice follows the predicate and resource semantics, not a blanket rule.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adding one queue item can satisfy at most one waiting consumer, notify_one often avoids waking threads that cannot make progress.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48. Move worker creation after the publication and notification while keeping the objects alive. Verify that the predicate overload returns immediately rather than waiting for another notification. Then trace two consumers competing for one available item. Review 1. Does a condition variable remember every notification? Review 2. Why must a woken consumer recheck whether an item remains?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48.</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48. Move worker creation after the publication and notification while keeping the objects alive. Verify that the predicate overload returns immediately rather than waiting for another notification. Then trace two consumers competing for one available item. Review 1. Does a condition variable remember every notification? Review 2. Why must a woken consumer recheck whether an item remains?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48.</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condition variables.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condition variables.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Producer–Consumer Systems.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48 — Condition Variables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condition variable lets a thread wait until protected state satisfies a predicate.</a:t>
            </a:r>
          </a:p>
          <a:p>
            <a:pPr>
              <a:spcAft>
                <a:spcPts val="1100"/>
              </a:spcAft>
              <a:defRPr sz="1900">
                <a:solidFill>
                  <a:srgbClr val="F2F5F8"/>
                </a:solidFill>
              </a:defRPr>
            </a:pPr>
            <a:r>
              <a:t>• The condition variable is not the state itself and does not retain one durable token for each notification.</a:t>
            </a:r>
          </a:p>
          <a:p>
            <a:pPr>
              <a:spcAft>
                <a:spcPts val="1100"/>
              </a:spcAft>
              <a:defRPr sz="1900">
                <a:solidFill>
                  <a:srgbClr val="F2F5F8"/>
                </a:solidFill>
              </a:defRPr>
            </a:pPr>
            <a:r>
              <a:t>• Correctness comes from the predicate, its mutex, and the coordinated release-and-wait operation. [ R24 ]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Condition Variables.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48.1 Waiting</a:t>
            </a:r>
          </a:p>
          <a:p>
            <a:pPr>
              <a:spcAft>
                <a:spcPts val="1100"/>
              </a:spcAft>
              <a:defRPr sz="1900">
                <a:solidFill>
                  <a:srgbClr val="F2F5F8"/>
                </a:solidFill>
              </a:defRPr>
            </a:pPr>
            <a:r>
              <a:t>• 48.2 Notification</a:t>
            </a:r>
          </a:p>
          <a:p>
            <a:pPr>
              <a:spcAft>
                <a:spcPts val="1100"/>
              </a:spcAft>
              <a:defRPr sz="1900">
                <a:solidFill>
                  <a:srgbClr val="F2F5F8"/>
                </a:solidFill>
              </a:defRPr>
            </a:pPr>
            <a:r>
              <a:t>• 48.3 wait</a:t>
            </a:r>
          </a:p>
          <a:p>
            <a:pPr>
              <a:spcAft>
                <a:spcPts val="1100"/>
              </a:spcAft>
              <a:defRPr sz="1900">
                <a:solidFill>
                  <a:srgbClr val="F2F5F8"/>
                </a:solidFill>
              </a:defRPr>
            </a:pPr>
            <a:r>
              <a:t>• 48.4 notify_one</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48.1 Waiting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Waiting should mean “sleep until it is worth checking the predicate again,” not “assume the event must have happened because I woke up.” A waiter holds the mutex while...</a:t>
            </a:r>
          </a:p>
          <a:p>
            <a:pPr>
              <a:spcAft>
                <a:spcPts val="1100"/>
              </a:spcAft>
              <a:defRPr sz="1900">
                <a:solidFill>
                  <a:srgbClr val="F2F5F8"/>
                </a:solidFill>
              </a:defRPr>
            </a:pPr>
            <a:r>
              <a:t>• This avoids wasting CPU in a polling loop and allows the producer of the condition to acquire the mutex.</a:t>
            </a:r>
          </a:p>
          <a:p>
            <a:pPr>
              <a:spcAft>
                <a:spcPts val="1100"/>
              </a:spcAft>
              <a:defRPr sz="1900">
                <a:solidFill>
                  <a:srgbClr val="F2F5F8"/>
                </a:solidFill>
              </a:defRPr>
            </a:pPr>
            <a:r>
              <a:t>• Waiting while continuing to hold the needed mutex would prevent the state change that could satisfy the predicate.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48.1 Waiting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avoids wasting CPU in a polling loop and allows the producer of the condition to acquire the mutex.</a:t>
            </a:r>
          </a:p>
          <a:p>
            <a:pPr>
              <a:spcAft>
                <a:spcPts val="1100"/>
              </a:spcAft>
              <a:defRPr sz="1900">
                <a:solidFill>
                  <a:srgbClr val="F2F5F8"/>
                </a:solidFill>
              </a:defRPr>
            </a:pPr>
            <a:r>
              <a:t>• Waiting while continuing to hold the needed mutex would prevent the state change that could satisfy the predicate.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48.2 Notification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Notification makes one or more waiters eligible to reconsider their predicates.</a:t>
            </a:r>
          </a:p>
          <a:p>
            <a:pPr>
              <a:spcAft>
                <a:spcPts val="1100"/>
              </a:spcAft>
              <a:defRPr sz="1700">
                <a:solidFill>
                  <a:srgbClr val="F2F5F8"/>
                </a:solidFill>
              </a:defRPr>
            </a:pPr>
            <a:r>
              <a:t>• It does not transfer the mutex directly into a guarantee that the predicate remains true until the awakened thread runs.</a:t>
            </a:r>
          </a:p>
          <a:p>
            <a:pPr>
              <a:spcAft>
                <a:spcPts val="1100"/>
              </a:spcAft>
              <a:defRPr sz="1900">
                <a:solidFill>
                  <a:srgbClr val="F2F5F8"/>
                </a:solidFill>
              </a:defRPr>
            </a:pPr>
            <a:r>
              <a:t>• Another thread may acquire the mutex first and consume the resource.</a:t>
            </a:r>
          </a:p>
          <a:p>
            <a:pPr>
              <a:spcAft>
                <a:spcPts val="1100"/>
              </a:spcAft>
              <a:defRPr sz="1900">
                <a:solidFill>
                  <a:srgbClr val="F2F5F8"/>
                </a:solidFill>
              </a:defRPr>
            </a:pPr>
            <a:r>
              <a:t>• The waiter must therefore recheck under the lock.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48.2 Notification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Another thread may acquire the mutex first and consume the resource.</a:t>
            </a:r>
          </a:p>
          <a:p>
            <a:pPr>
              <a:spcAft>
                <a:spcPts val="1100"/>
              </a:spcAft>
              <a:defRPr sz="1900">
                <a:solidFill>
                  <a:srgbClr val="F2F5F8"/>
                </a:solidFill>
              </a:defRPr>
            </a:pPr>
            <a:r>
              <a:t>• The waiter must therefore recheck under the lock.</a:t>
            </a:r>
          </a:p>
          <a:p>
            <a:pPr>
              <a:spcAft>
                <a:spcPts val="1100"/>
              </a:spcAft>
              <a:defRPr sz="1900">
                <a:solidFill>
                  <a:srgbClr val="F2F5F8"/>
                </a:solidFill>
              </a:defRPr>
            </a:pPr>
            <a:r>
              <a:t>• Notification is a scheduling hint within a state protocol, not the protocol’s authoritative record.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48.3 wait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wait atomically releases the associated lock and enters the waiting operation, then reacquires the lock before returning to the caller.</a:t>
            </a:r>
          </a:p>
          <a:p>
            <a:pPr>
              <a:spcAft>
                <a:spcPts val="1100"/>
              </a:spcAft>
              <a:defRPr sz="1900">
                <a:solidFill>
                  <a:srgbClr val="F2F5F8"/>
                </a:solidFill>
              </a:defRPr>
            </a:pPr>
            <a:r>
              <a:t>• The predicate overload expresses the required loop directly.</a:t>
            </a:r>
          </a:p>
          <a:p>
            <a:pPr>
              <a:spcAft>
                <a:spcPts val="1100"/>
              </a:spcAft>
              <a:defRPr sz="1900">
                <a:solidFill>
                  <a:srgbClr val="F2F5F8"/>
                </a:solidFill>
              </a:defRPr>
            </a:pPr>
            <a:r>
              <a:t>• Use the same mutex discipline for the predicate’s shared state.</a:t>
            </a:r>
          </a:p>
          <a:p>
            <a:pPr>
              <a:spcAft>
                <a:spcPts val="1100"/>
              </a:spcAft>
              <a:defRPr sz="1700">
                <a:solidFill>
                  <a:srgbClr val="F2F5F8"/>
                </a:solidFill>
              </a:defRPr>
            </a:pPr>
            <a:r>
              <a:t>• Updating the predicate without its required protection can introduce a data race or lose the relationship between state change and sleeping.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48.3 wait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the same mutex discipline for the predicate’s shared state.</a:t>
            </a:r>
          </a:p>
          <a:p>
            <a:pPr>
              <a:spcAft>
                <a:spcPts val="1100"/>
              </a:spcAft>
              <a:defRPr sz="1700">
                <a:solidFill>
                  <a:srgbClr val="F2F5F8"/>
                </a:solidFill>
              </a:defRPr>
            </a:pPr>
            <a:r>
              <a:t>• Updating the predicate without its required protection can introduce a data race or lose the relationship between state change and sleeping.</a:t>
            </a:r>
          </a:p>
          <a:p>
            <a:pPr>
              <a:spcAft>
                <a:spcPts val="1100"/>
              </a:spcAft>
              <a:defRPr sz="1900">
                <a:solidFill>
                  <a:srgbClr val="F2F5F8"/>
                </a:solidFill>
              </a:defRPr>
            </a:pPr>
            <a:r>
              <a:t>• The mutex and condition variable must remain alive while waiters can use them.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48.4 notify_one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notify_one wakes one eligible waiter.</a:t>
            </a:r>
          </a:p>
          <a:p>
            <a:pPr>
              <a:spcAft>
                <a:spcPts val="1100"/>
              </a:spcAft>
              <a:defRPr sz="1900">
                <a:solidFill>
                  <a:srgbClr val="F2F5F8"/>
                </a:solidFill>
              </a:defRPr>
            </a:pPr>
            <a:r>
              <a:t>• It is appropriate when one newly available unit of work can satisfy one interchangeable consumer.</a:t>
            </a:r>
          </a:p>
          <a:p>
            <a:pPr>
              <a:spcAft>
                <a:spcPts val="1100"/>
              </a:spcAft>
              <a:defRPr sz="1900">
                <a:solidFill>
                  <a:srgbClr val="F2F5F8"/>
                </a:solidFill>
              </a:defRPr>
            </a:pPr>
            <a:r>
              <a:t>• The awakened thread still competes for the mutex and checks the predicate.</a:t>
            </a:r>
          </a:p>
          <a:p>
            <a:pPr>
              <a:spcAft>
                <a:spcPts val="1100"/>
              </a:spcAft>
              <a:defRPr sz="1900">
                <a:solidFill>
                  <a:srgbClr val="F2F5F8"/>
                </a:solidFill>
              </a:defRPr>
            </a:pPr>
            <a:r>
              <a:t>• When different waiter classes use different predicates, waking an arbitrary one may not produce progress.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48.4 notify_one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different waiter classes use different predicates, waking an arbitrary one may not produce progress.</a:t>
            </a:r>
          </a:p>
          <a:p>
            <a:pPr>
              <a:spcAft>
                <a:spcPts val="1100"/>
              </a:spcAft>
              <a:defRPr sz="1900">
                <a:solidFill>
                  <a:srgbClr val="F2F5F8"/>
                </a:solidFill>
              </a:defRPr>
            </a:pPr>
            <a:r>
              <a:t>• Separate condition variables or broader notification may be needed.</a:t>
            </a:r>
          </a:p>
          <a:p>
            <a:pPr>
              <a:spcAft>
                <a:spcPts val="1100"/>
              </a:spcAft>
              <a:defRPr sz="1900">
                <a:solidFill>
                  <a:srgbClr val="F2F5F8"/>
                </a:solidFill>
              </a:defRPr>
            </a:pPr>
            <a:r>
              <a:t>• Choose based on the state machine, not solely on a desire to minimize wakeups.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48.5 notify_all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notify_all wakes all current waiters so that each can check its condition.</a:t>
            </a:r>
          </a:p>
          <a:p>
            <a:pPr>
              <a:spcAft>
                <a:spcPts val="1100"/>
              </a:spcAft>
              <a:defRPr sz="1900">
                <a:solidFill>
                  <a:srgbClr val="F2F5F8"/>
                </a:solidFill>
              </a:defRPr>
            </a:pPr>
            <a:r>
              <a:t>• It is useful for closure, shutdown, or state changes that may satisfy several different predicates.</a:t>
            </a:r>
          </a:p>
          <a:p>
            <a:pPr>
              <a:spcAft>
                <a:spcPts val="1100"/>
              </a:spcAft>
              <a:defRPr sz="1900">
                <a:solidFill>
                  <a:srgbClr val="F2F5F8"/>
                </a:solidFill>
              </a:defRPr>
            </a:pPr>
            <a:r>
              <a:t>• Waking many threads can create contention, sometimes called a thundering herd.</a:t>
            </a:r>
          </a:p>
          <a:p>
            <a:pPr>
              <a:spcAft>
                <a:spcPts val="1100"/>
              </a:spcAft>
              <a:defRPr sz="1900">
                <a:solidFill>
                  <a:srgbClr val="F2F5F8"/>
                </a:solidFill>
              </a:defRPr>
            </a:pPr>
            <a:r>
              <a:t>• That cost does not justify omitting required wakeups.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48.5 notify_all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Waking many threads can create contention, sometimes called a thundering herd.</a:t>
            </a:r>
          </a:p>
          <a:p>
            <a:pPr>
              <a:spcAft>
                <a:spcPts val="1100"/>
              </a:spcAft>
              <a:defRPr sz="1900">
                <a:solidFill>
                  <a:srgbClr val="F2F5F8"/>
                </a:solidFill>
              </a:defRPr>
            </a:pPr>
            <a:r>
              <a:t>• That cost does not justify omitting required wakeups.</a:t>
            </a:r>
          </a:p>
          <a:p>
            <a:pPr>
              <a:spcAft>
                <a:spcPts val="1100"/>
              </a:spcAft>
              <a:defRPr sz="1700">
                <a:solidFill>
                  <a:srgbClr val="F2F5F8"/>
                </a:solidFill>
              </a:defRPr>
            </a:pPr>
            <a:r>
              <a:t>• First ensure all affected waiters can make progress or terminate; then refine the notification policy if measurement shows a problem.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48.6 Predicate loops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predicate loop handles spurious wakeups and state changes consumed by another participant.</a:t>
            </a:r>
          </a:p>
          <a:p>
            <a:pPr>
              <a:spcAft>
                <a:spcPts val="1100"/>
              </a:spcAft>
              <a:defRPr sz="1900">
                <a:solidFill>
                  <a:srgbClr val="F2F5F8"/>
                </a:solidFill>
              </a:defRPr>
            </a:pPr>
            <a:r>
              <a:t>• The canonical form is condition.wait(lock, [&amp;]{ return predicate; }); .</a:t>
            </a:r>
          </a:p>
          <a:p>
            <a:pPr>
              <a:spcAft>
                <a:spcPts val="1100"/>
              </a:spcAft>
              <a:defRPr sz="1900">
                <a:solidFill>
                  <a:srgbClr val="F2F5F8"/>
                </a:solidFill>
              </a:defRPr>
            </a:pPr>
            <a:r>
              <a:t>• After it returns, the predicate is true while the caller still owns the mutex.</a:t>
            </a:r>
          </a:p>
          <a:p>
            <a:pPr>
              <a:spcAft>
                <a:spcPts val="1100"/>
              </a:spcAft>
              <a:defRPr sz="1900">
                <a:solidFill>
                  <a:srgbClr val="F2F5F8"/>
                </a:solidFill>
              </a:defRPr>
            </a:pPr>
            <a:r>
              <a:t>• Do not move the predicate check outside the lock to save a few instructions.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48.6 Predicate loops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move the predicate check outside the lock to save a few instructions.</a:t>
            </a:r>
          </a:p>
          <a:p>
            <a:pPr>
              <a:spcAft>
                <a:spcPts val="1100"/>
              </a:spcAft>
              <a:defRPr sz="1900">
                <a:solidFill>
                  <a:srgbClr val="F2F5F8"/>
                </a:solidFill>
              </a:defRPr>
            </a:pPr>
            <a:r>
              <a:t>• The check and decision to wait must be coordinated with the state updates.</a:t>
            </a:r>
          </a:p>
          <a:p>
            <a:pPr>
              <a:spcAft>
                <a:spcPts val="1100"/>
              </a:spcAft>
              <a:defRPr sz="1900">
                <a:solidFill>
                  <a:srgbClr val="F2F5F8"/>
                </a:solidFill>
              </a:defRPr>
            </a:pPr>
            <a:r>
              <a:t>• An atomic flag alone does not automatically repair a poorly designed condition-variable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48.7 Sleep/wakeup races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sleep/wakeup race occurs when a thread checks state, another thread changes it and notifies, and the first thread then sleeps without seeing a future notification.</a:t>
            </a:r>
          </a:p>
          <a:p>
            <a:pPr>
              <a:spcAft>
                <a:spcPts val="1100"/>
              </a:spcAft>
              <a:defRPr sz="1900">
                <a:solidFill>
                  <a:srgbClr val="F2F5F8"/>
                </a:solidFill>
              </a:defRPr>
            </a:pPr>
            <a:r>
              <a:t>• The condition-variable wait operation closes this gap when used with the shared mutex and predicate discipline.</a:t>
            </a:r>
          </a:p>
          <a:p>
            <a:pPr>
              <a:spcAft>
                <a:spcPts val="1100"/>
              </a:spcAft>
              <a:defRPr sz="1900">
                <a:solidFill>
                  <a:srgbClr val="F2F5F8"/>
                </a:solidFill>
              </a:defRPr>
            </a:pPr>
            <a:r>
              <a:t>• The structure resembles the signal-mask solution in Chapter 41, although the mechanisms differ.</a:t>
            </a:r>
          </a:p>
          <a:p>
            <a:pPr>
              <a:spcAft>
                <a:spcPts val="1100"/>
              </a:spcAft>
              <a:defRPr sz="1700">
                <a:solidFill>
                  <a:srgbClr val="F2F5F8"/>
                </a:solidFill>
              </a:defRPr>
            </a:pPr>
            <a:r>
              <a:t>• In both cases, the program needs an atomic relationship between checking whether to sleep and making itself eligible for notification.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48.7 Sleep/wakeup races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structure resembles the signal-mask solution in Chapter 41, although the mechanisms differ.</a:t>
            </a:r>
          </a:p>
          <a:p>
            <a:pPr>
              <a:spcAft>
                <a:spcPts val="1100"/>
              </a:spcAft>
              <a:defRPr sz="1700">
                <a:solidFill>
                  <a:srgbClr val="F2F5F8"/>
                </a:solidFill>
              </a:defRPr>
            </a:pPr>
            <a:r>
              <a:t>• In both cases, the program needs an atomic relationship between checking whether to sleep and making itself eligible for notification.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48.8 Lost wakeups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notification sent when no thread is waiting is not retained as a future wakeup token.</a:t>
            </a:r>
          </a:p>
          <a:p>
            <a:pPr>
              <a:spcAft>
                <a:spcPts val="1100"/>
              </a:spcAft>
              <a:defRPr sz="1900">
                <a:solidFill>
                  <a:srgbClr val="F2F5F8"/>
                </a:solidFill>
              </a:defRPr>
            </a:pPr>
            <a:r>
              <a:t>• This is harmless when the state predicate remains true: a later waiter sees it and does not sleep.</a:t>
            </a:r>
          </a:p>
          <a:p>
            <a:pPr>
              <a:spcAft>
                <a:spcPts val="1100"/>
              </a:spcAft>
              <a:defRPr sz="1900">
                <a:solidFill>
                  <a:srgbClr val="F2F5F8"/>
                </a:solidFill>
              </a:defRPr>
            </a:pPr>
            <a:r>
              <a:t>• It is a bug only when the design incorrectly relies on notification history instead of persistent state.</a:t>
            </a:r>
          </a:p>
          <a:p>
            <a:pPr>
              <a:spcAft>
                <a:spcPts val="1100"/>
              </a:spcAft>
              <a:defRPr sz="1900">
                <a:solidFill>
                  <a:srgbClr val="F2F5F8"/>
                </a:solidFill>
              </a:defRPr>
            </a:pPr>
            <a:r>
              <a:t>• For example, set ready = true under the mutex, then notify.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48.8 Lost wakeups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example, set ready = true under the mutex, then notify.</a:t>
            </a:r>
          </a:p>
          <a:p>
            <a:pPr>
              <a:spcAft>
                <a:spcPts val="1100"/>
              </a:spcAft>
              <a:defRPr sz="1900">
                <a:solidFill>
                  <a:srgbClr val="F2F5F8"/>
                </a:solidFill>
              </a:defRPr>
            </a:pPr>
            <a:r>
              <a:t>• A worker that starts after the notification still observes ready and proceeds.</a:t>
            </a:r>
          </a:p>
          <a:p>
            <a:pPr>
              <a:spcAft>
                <a:spcPts val="1100"/>
              </a:spcAft>
              <a:defRPr sz="1900">
                <a:solidFill>
                  <a:srgbClr val="F2F5F8"/>
                </a:solidFill>
              </a:defRPr>
            </a:pPr>
            <a:r>
              <a:t>• Omitting the state variable and waiting for an imagined remembered notification is the broken design.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Notification before waiting is safe with a predicate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main thread publishes value 42 and marks it ready.</a:t>
            </a:r>
          </a:p>
          <a:p>
            <a:pPr>
              <a:spcAft>
                <a:spcPts val="1100"/>
              </a:spcAft>
              <a:defRPr sz="1700">
                <a:solidFill>
                  <a:srgbClr val="F2F5F8"/>
                </a:solidFill>
              </a:defRPr>
            </a:pPr>
            <a:r>
              <a:t>• The worker may begin waiting before or after publication; either schedule is correct because it tests the protected predicate.</a:t>
            </a:r>
          </a:p>
          <a:p>
            <a:pPr>
              <a:spcAft>
                <a:spcPts val="1100"/>
              </a:spcAft>
              <a:defRPr sz="1900">
                <a:solidFill>
                  <a:srgbClr val="F2F5F8"/>
                </a:solidFill>
              </a:defRPr>
            </a:pPr>
            <a:r>
              <a:t>• Companion listing: ch48/gate.cpp</a:t>
            </a:r>
          </a:p>
          <a:p>
            <a:pPr>
              <a:spcAft>
                <a:spcPts val="1100"/>
              </a:spcAft>
              <a:defRPr sz="1900">
                <a:solidFill>
                  <a:srgbClr val="F2F5F8"/>
                </a:solidFill>
              </a:defRPr>
            </a:pPr>
            <a:r>
              <a:t>• The result is 42 without any sleep-based timing assumption.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Notification before waiting is safe with a predicate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ch48/gate.cpp</a:t>
            </a:r>
          </a:p>
          <a:p>
            <a:pPr>
              <a:spcAft>
                <a:spcPts val="1100"/>
              </a:spcAft>
              <a:defRPr sz="1900">
                <a:solidFill>
                  <a:srgbClr val="F2F5F8"/>
                </a:solidFill>
              </a:defRPr>
            </a:pPr>
            <a:r>
              <a:t>• The result is 42 without any sleep-based timing assumption.</a:t>
            </a:r>
          </a:p>
          <a:p>
            <a:pPr>
              <a:spcAft>
                <a:spcPts val="1100"/>
              </a:spcAft>
              <a:defRPr sz="1700">
                <a:solidFill>
                  <a:srgbClr val="F2F5F8"/>
                </a:solidFill>
              </a:defRPr>
            </a:pPr>
            <a:r>
              <a:t>• Notification occurs after unlocking, which is valid for this protocol and can avoid waking a thread only to make it immediately wait for the same mutex.</a:t>
            </a:r>
          </a:p>
          <a:p>
            <a:pPr>
              <a:spcAft>
                <a:spcPts val="1100"/>
              </a:spcAft>
              <a:defRPr sz="1900">
                <a:solidFill>
                  <a:srgbClr val="F2F5F8"/>
                </a:solidFill>
              </a:defRPr>
            </a:pPr>
            <a:r>
              <a:t>• The correctness argument depends on the protected state, not on that performance-oriented placement.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Correct wait loop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consumer locks the mutex and evaluates while (queue.empty()) cv.wait(lock); .</a:t>
            </a:r>
          </a:p>
          <a:p>
            <a:pPr>
              <a:spcAft>
                <a:spcPts val="1100"/>
              </a:spcAft>
              <a:defRPr sz="1900">
                <a:solidFill>
                  <a:srgbClr val="F2F5F8"/>
                </a:solidFill>
              </a:defRPr>
            </a:pPr>
            <a:r>
              <a:t>• The wait operation atomically releases the mutex and sleeps, then reacquires the mutex before returning.</a:t>
            </a:r>
          </a:p>
          <a:p>
            <a:pPr>
              <a:spcAft>
                <a:spcPts val="1100"/>
              </a:spcAft>
              <a:defRPr sz="1900">
                <a:solidFill>
                  <a:srgbClr val="F2F5F8"/>
                </a:solidFill>
              </a:defRPr>
            </a:pPr>
            <a:r>
              <a:t>• The loop rechecks the predicate because wakeups can be spurious or another consumer may consume the item first.</a:t>
            </a:r>
          </a:p>
          <a:p>
            <a:pPr>
              <a:spcAft>
                <a:spcPts val="1100"/>
              </a:spcAft>
              <a:defRPr sz="1900">
                <a:solidFill>
                  <a:srgbClr val="F2F5F8"/>
                </a:solidFill>
              </a:defRPr>
            </a:pPr>
            <a:r>
              <a:t>• Notification is a hint to reevaluate shared state, not a transfer of ownership.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Correct wait loop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consumer locks the mutex and evaluates while (queue.empty()) cv.wait(lock); .</a:t>
            </a:r>
          </a:p>
          <a:p>
            <a:pPr>
              <a:spcAft>
                <a:spcPts val="1100"/>
              </a:spcAft>
              <a:defRPr sz="1900">
                <a:solidFill>
                  <a:srgbClr val="F2F5F8"/>
                </a:solidFill>
              </a:defRPr>
            </a:pPr>
            <a:r>
              <a:t>• The wait operation atomically releases the mutex and sleeps, then reacquires the mutex before returning.</a:t>
            </a:r>
          </a:p>
          <a:p>
            <a:pPr>
              <a:spcAft>
                <a:spcPts val="1100"/>
              </a:spcAft>
              <a:defRPr sz="1900">
                <a:solidFill>
                  <a:srgbClr val="F2F5F8"/>
                </a:solidFill>
              </a:defRPr>
            </a:pPr>
            <a:r>
              <a:t>• The loop rechecks the predicate because wakeups can be spurious or another consumer may consume the item first.</a:t>
            </a:r>
          </a:p>
          <a:p>
            <a:pPr>
              <a:spcAft>
                <a:spcPts val="1100"/>
              </a:spcAft>
              <a:defRPr sz="1900">
                <a:solidFill>
                  <a:srgbClr val="F2F5F8"/>
                </a:solidFill>
              </a:defRPr>
            </a:pPr>
            <a:r>
              <a:t>• Notification is a hint to reevaluate shared state, not a transfer of ownership.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notify_one versus notify_all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adding one queue item can satisfy at most one waiting consumer, notify_one often avoids waking threads that cannot make progress.</a:t>
            </a:r>
          </a:p>
          <a:p>
            <a:pPr>
              <a:spcAft>
                <a:spcPts val="1100"/>
              </a:spcAft>
              <a:defRPr sz="1900">
                <a:solidFill>
                  <a:srgbClr val="F2F5F8"/>
                </a:solidFill>
              </a:defRPr>
            </a:pPr>
            <a:r>
              <a:t>• If a state change can enable many waiters, notify_all may be appropriate.</a:t>
            </a:r>
          </a:p>
          <a:p>
            <a:pPr>
              <a:spcAft>
                <a:spcPts val="1100"/>
              </a:spcAft>
              <a:defRPr sz="1900">
                <a:solidFill>
                  <a:srgbClr val="F2F5F8"/>
                </a:solidFill>
              </a:defRPr>
            </a:pPr>
            <a:r>
              <a:t>• The choice follows the predicate and resource semantics, not a blanket rule.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notify_one versus notify_all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adding one queue item can satisfy at most one waiting consumer, notify_one often avoids waking threads that cannot make progress.</a:t>
            </a:r>
          </a:p>
          <a:p>
            <a:pPr>
              <a:spcAft>
                <a:spcPts val="1100"/>
              </a:spcAft>
              <a:defRPr sz="1900">
                <a:solidFill>
                  <a:srgbClr val="F2F5F8"/>
                </a:solidFill>
              </a:defRPr>
            </a:pPr>
            <a:r>
              <a:t>• If a state change can enable many waiters, notify_all may be appropriate.</a:t>
            </a:r>
          </a:p>
          <a:p>
            <a:pPr>
              <a:spcAft>
                <a:spcPts val="1100"/>
              </a:spcAft>
              <a:defRPr sz="1900">
                <a:solidFill>
                  <a:srgbClr val="F2F5F8"/>
                </a:solidFill>
              </a:defRPr>
            </a:pPr>
            <a:r>
              <a:t>• The choice follows the predicate and resource semantics, not a blanket rule.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48.</a:t>
            </a:r>
          </a:p>
          <a:p>
            <a:pPr>
              <a:spcAft>
                <a:spcPts val="1100"/>
              </a:spcAft>
              <a:defRPr sz="1900">
                <a:solidFill>
                  <a:srgbClr val="F2F5F8"/>
                </a:solidFill>
              </a:defRPr>
            </a:pPr>
            <a:r>
              <a:t>• Move worker creation after the publication and notification while keeping the objects alive.</a:t>
            </a:r>
          </a:p>
          <a:p>
            <a:pPr>
              <a:spcAft>
                <a:spcPts val="1100"/>
              </a:spcAft>
              <a:defRPr sz="1900">
                <a:solidFill>
                  <a:srgbClr val="F2F5F8"/>
                </a:solidFill>
              </a:defRPr>
            </a:pPr>
            <a:r>
              <a:t>• Verify that the predicate overload returns immediately rather than waiting for another notification.</a:t>
            </a:r>
          </a:p>
          <a:p>
            <a:pPr>
              <a:spcAft>
                <a:spcPts val="1100"/>
              </a:spcAft>
              <a:defRPr sz="1900">
                <a:solidFill>
                  <a:srgbClr val="F2F5F8"/>
                </a:solidFill>
              </a:defRPr>
            </a:pPr>
            <a:r>
              <a:t>• Then trace two consumers competing for one available item.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a condition variable remember every notification?</a:t>
            </a:r>
          </a:p>
          <a:p>
            <a:pPr>
              <a:spcAft>
                <a:spcPts val="1100"/>
              </a:spcAft>
              <a:defRPr sz="1900">
                <a:solidFill>
                  <a:srgbClr val="F2F5F8"/>
                </a:solidFill>
              </a:defRPr>
            </a:pPr>
            <a:r>
              <a:t>• Review 2.</a:t>
            </a:r>
          </a:p>
          <a:p>
            <a:pPr>
              <a:spcAft>
                <a:spcPts val="1100"/>
              </a:spcAft>
              <a:defRPr sz="1900">
                <a:solidFill>
                  <a:srgbClr val="F2F5F8"/>
                </a:solidFill>
              </a:defRPr>
            </a:pPr>
            <a:r>
              <a:t>• Why must a woken consumer recheck whether an item remains?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condition variables.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Producer–Consumer Systems.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48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