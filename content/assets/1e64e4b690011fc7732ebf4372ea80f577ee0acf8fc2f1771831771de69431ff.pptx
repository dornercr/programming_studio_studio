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49 — Producer–Consumer Systems</a:t>
            </a:r>
          </a:p>
          <a:p/>
          <a:p>
            <a:r>
              <a:t>LECTURE NARRATION</a:t>
            </a:r>
          </a:p>
          <a:p>
            <a:r>
              <a:t>A producer–consumer system separates creation of work from processing of work. A bounded queue connects the two rates and applies backpressure when producers get ahead. Its correctness requires more than a mutex around a container: it needs predicates, closure semantics, ownership rules, and a way for every waiter to terminate. The queue in this chapter stores integers in preallocated slots. That keeps allocation and throwing element moves out of push and pop , making the synchronization argument visible. A generic production queue must additionally define exception guarantees for its element type.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producer–consumer system separates creation of work from processing of work.</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producer–consumer system separates creation of work from processing of work. A bounded queue connects the two rates and applies backpressure when producers get ahead. Its correctness requires more than a mutex around a container: it needs predicates, closure semantics, ownership rules, and a way for every waiter to terminate. The queue in this chapter stores integers in preallocated slots. That keeps allocation and throwing element moves out of push and pop , making the synchronization argument visible. A generic production queue must additionally define exception guarantees for its element type.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producer–consumer system separates creation of work from processing of work.</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49.1 Producers 49.2 Consumers 49.3 Shared buffers 49.4 Bounded buffers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49.1 Producers 49.2 Consumers 49.3 Shared buffers 49.4 Bounded buffers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49.1 Producers</a:t>
            </a:r>
          </a:p>
          <a:p/>
          <a:p>
            <a:r>
              <a:t>LECTURE NARRATION</a:t>
            </a:r>
          </a:p>
          <a:p>
            <a:r>
              <a:t>Producers create items and attempt to transfer them into the queue. A successful push transfers responsibility to the queue. A rejected push after closure leaves the caller responsible for whatever resource the item represents. Production rate should not be assumed lower than consumption rate. Bursts, slow downstream services, and failures can make the queue fill. Bounded capacity converts that condition into an explicit wait or rejection instead of unbounded memory growth.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producers create items and attempt to transfer them into the queue.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49.1 Producers — Deep Dive</a:t>
            </a:r>
          </a:p>
          <a:p/>
          <a:p>
            <a:r>
              <a:t>LECTURE NARRATION</a:t>
            </a:r>
          </a:p>
          <a:p>
            <a:r>
              <a:t>Producers create items and attempt to transfer them into the queue. A successful push transfers responsibility to the queue. A rejected push after closure leaves the caller responsible for whatever resource the item represents. Production rate should not be assumed lower than consumption rate. Bursts, slow downstream services, and failures can make the queue fill. Bounded capacity converts that condition into an explicit wait or rejection instead of unbounded memory growth.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producers create items and attempt to transfer them into the queue.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49.2 Consumers</a:t>
            </a:r>
          </a:p>
          <a:p/>
          <a:p>
            <a:r>
              <a:t>LECTURE NARRATION</a:t>
            </a:r>
          </a:p>
          <a:p>
            <a:r>
              <a:t>Consumers wait for an available item, remove it under the queue’s protection, and process it outside the queue lock. Processing outside the lock lets other participants enqueue and dequeue while the current item is being handled. A consumer must distinguish temporarily empty from permanently closed-and-drained. Returning an empty result merely because no item is available at one instant would incorrectly terminate a worker while producers are still active.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consumers wait for an available item, remove it under the queue’s protection, and process it outside the queue lock.</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49.2 Consumers — Deep Dive</a:t>
            </a:r>
          </a:p>
          <a:p/>
          <a:p>
            <a:r>
              <a:t>LECTURE NARRATION</a:t>
            </a:r>
          </a:p>
          <a:p>
            <a:r>
              <a:t>Consumers wait for an available item, remove it under the queue’s protection, and process it outside the queue lock. Processing outside the lock lets other participants enqueue and dequeue while the current item is being handled. A consumer must distinguish temporarily empty from permanently closed-and-drained. Returning an empty result merely because no item is available at one instant would incorrectly terminate a worker while producers are still active.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consumers wait for an available item, remove it under the queue’s protection, and process it outside the queue lock.</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49.3 Shared buffers</a:t>
            </a:r>
          </a:p>
          <a:p/>
          <a:p>
            <a:r>
              <a:t>LECTURE NARRATION</a:t>
            </a:r>
          </a:p>
          <a:p>
            <a:r>
              <a:t>The shared buffer stores items not yet transferred to consumers. A ring buffer uses a fixed array with head and tail indexes. Count distinguishes empty from full when indexes alone are ambiguous. The invariant includes 0 &lt;= count &lt;= capacity , valid head and tail indexes, and a relationship between occupied slots and logical order. All fields that participate in that invariant use the same mutex in this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shared buffer stores items not yet transferred to consumers.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49.3 Shared buffers — Deep Dive</a:t>
            </a:r>
          </a:p>
          <a:p/>
          <a:p>
            <a:r>
              <a:t>LECTURE NARRATION</a:t>
            </a:r>
          </a:p>
          <a:p>
            <a:r>
              <a:t>The shared buffer stores items not yet transferred to consumers. A ring buffer uses a fixed array with head and tail indexes. Count distinguishes empty from full when indexes alone are ambiguous. The invariant includes 0 &lt;= count &lt;= capacity , valid head and tail indexes, and a relationship between occupied slots and logical order. All fields that participate in that invariant use the same mutex in this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shared buffer stores items not yet transferred to consumers.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49.4 Bounded buffers</a:t>
            </a:r>
          </a:p>
          <a:p/>
          <a:p>
            <a:r>
              <a:t>LECTURE NARRATION</a:t>
            </a:r>
          </a:p>
          <a:p>
            <a:r>
              <a:t>A bounded buffer has a fixed maximum number of queued items. It limits queue storage and provides a natural point for backpressure. It does not by itself limit all system resources: producers may hold items before pushing, and consumers may hold items while processing. Budget the complete pipeline. If each of 100 workers can retain a large item, a small queue does not imply a small total memory footprint. Capacity controls one ownership stage, not every live object in the process.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bounded buffer has a fixed maximum number of queued items.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49.4 Bounded buffers — Deep Dive</a:t>
            </a:r>
          </a:p>
          <a:p/>
          <a:p>
            <a:r>
              <a:t>LECTURE NARRATION</a:t>
            </a:r>
          </a:p>
          <a:p>
            <a:r>
              <a:t>A bounded buffer has a fixed maximum number of queued items. It limits queue storage and provides a natural point for backpressure. It does not by itself limit all system resources: producers may hold items before pushing, and consumers may hold items while processing. Budget the complete pipeline. If each of 100 workers can retain a large item, a small queue does not imply a small total memory footprint. Capacity controls one ownership stage, not every live object in the process.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bounded buffer has a fixed maximum number of queued items.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49.5 Buffer-full condition</a:t>
            </a:r>
          </a:p>
          <a:p/>
          <a:p>
            <a:r>
              <a:t>LECTURE NARRATION</a:t>
            </a:r>
          </a:p>
          <a:p>
            <a:r>
              <a:t>A producer waits while the queue is full and still open. Its predicate is closed || count &lt; capacity . Including closure ensures that shutdown can release producers that would otherwise wait forever for capacity. After waking, the producer checks closure before inserting. A notification does not reserve a slot for a particular producer; another producer may acquire the mutex first. The predicate loop handles that competition.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49.5 Buffer-full condition — Deep Dive</a:t>
            </a:r>
          </a:p>
          <a:p/>
          <a:p>
            <a:r>
              <a:t>LECTURE NARRATION</a:t>
            </a:r>
          </a:p>
          <a:p>
            <a:r>
              <a:t>A producer waits while the queue is full and still open. Its predicate is closed || count &lt; capacity . Including closure ensures that shutdown can release producers that would otherwise wait forever for capacity. After waking, the producer checks closure before inserting. A notification does not reserve a slot for a particular producer; another producer may acquire the mutex first. The predicate loop handles that competition.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49.6 Buffer-empty condition</a:t>
            </a:r>
          </a:p>
          <a:p/>
          <a:p>
            <a:r>
              <a:t>LECTURE NARRATION</a:t>
            </a:r>
          </a:p>
          <a:p>
            <a:r>
              <a:t>A consumer waits while the queue is empty and open. Its predicate is closed || count &gt; 0 . If the queue is closed but still contains items, the consumer drains them under the policy used here. When closed and empty, pop returns no item, signaling normal completion. This is drain-on-close , not immediate cancellation. An aborting queue would need a different contract for queued and in-flight items.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49.6 Buffer-empty condition — Deep Dive</a:t>
            </a:r>
          </a:p>
          <a:p/>
          <a:p>
            <a:r>
              <a:t>LECTURE NARRATION</a:t>
            </a:r>
          </a:p>
          <a:p>
            <a:r>
              <a:t>A consumer waits while the queue is empty and open. Its predicate is closed || count &gt; 0 . If the queue is closed but still contains items, the consumer drains them under the policy used here. When closed and empty, pop returns no item, signaling normal completion. This is drain-on-close , not immediate cancellation. An aborting queue would need a different contract for queued and in-flight items.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49.7 Mutex synchronization</a:t>
            </a:r>
          </a:p>
          <a:p/>
          <a:p>
            <a:r>
              <a:t>LECTURE NARRATION</a:t>
            </a:r>
          </a:p>
          <a:p>
            <a:r>
              <a:t>One mutex protects slots, indexes, count, and closure. The queue does not expose references to occupied slots after unlocking. Instead it copies an integer out while protected, then returns ownership of that value. The mutex also supplies visibility between the producer’s slot write and the consumer’s slot read. No extra atomic count is needed in this locked implementation. Adding atomics to already-protected fields can complicate the design without improving correctness.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49.7 Mutex synchronization — Deep Dive</a:t>
            </a:r>
          </a:p>
          <a:p/>
          <a:p>
            <a:r>
              <a:t>LECTURE NARRATION</a:t>
            </a:r>
          </a:p>
          <a:p>
            <a:r>
              <a:t>One mutex protects slots, indexes, count, and closure. The queue does not expose references to occupied slots after unlocking. Instead it copies an integer out while protected, then returns ownership of that value. The mutex also supplies visibility between the producer’s slot write and the consumer’s slot read. No extra atomic count is needed in this locked implementation. Adding atomics to already-protected fields can complicate the design without improving correctness.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49.8 Condition-variable synchronization</a:t>
            </a:r>
          </a:p>
          <a:p/>
          <a:p>
            <a:r>
              <a:t>LECTURE NARRATION</a:t>
            </a:r>
          </a:p>
          <a:p>
            <a:r>
              <a:t>One condition variable represents the possibility of items becoming available; another represents capacity becoming available. Push notifies a consumer after insertion, and pop notifies a producer after removal. Closure notifies both groups. The predicates remain authoritative. Notifications happen after unlocking in this implementation, but state changes occur under the mutex. Queue destruction is permitted only after all producers and consumers have stopped using it; close is not an automatic join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49.8 Condition-variable synchronization — Deep Dive</a:t>
            </a:r>
          </a:p>
          <a:p/>
          <a:p>
            <a:r>
              <a:t>LECTURE NARRATION</a:t>
            </a:r>
          </a:p>
          <a:p>
            <a:r>
              <a:t>One condition variable represents the possibility of items becoming available; another represents capacity becoming available. Push notifies a consumer after insertion, and pop notifies a producer after removal. Closure notifies both groups. The predicates remain authoritative. Notifications happen after unlocking in this implementation, but state changes occur under the mutex. Queue destruction is permitted only after all producers and consumers have stopped using it; close is not an automatic join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A bounded, drainable integer queue</a:t>
            </a:r>
          </a:p>
          <a:p/>
          <a:p>
            <a:r>
              <a:t>LECTURE NARRATION</a:t>
            </a:r>
          </a:p>
          <a:p>
            <a:r>
              <a:t>Companion listing: ch49/bounded_queue.hpp Companion listing: ch49/main.cpp The expected sum is 5050. Capacity eight forces the implementation to support reuse of ring slots during the 100-item transfer. Scheduling determines exactly when participants wait; the correctness result does not depend on a particular waiting count. For arbitrary capacity values near size_t limits, even index increment needs range analysis. Here a successfully allocated vector&lt;int&gt; has a practical and implementation-constrained maximum well below a wrapping index increment. A more general storage abstraction should state and enforce its own maximum capacity explicitly.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companion listing: ch49/bounded_queue.hpp Companion listing: ch49/main.cpp The expected sum is 5050.</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A bounded, drainable integer queue — Deep Dive</a:t>
            </a:r>
          </a:p>
          <a:p/>
          <a:p>
            <a:r>
              <a:t>LECTURE NARRATION</a:t>
            </a:r>
          </a:p>
          <a:p>
            <a:r>
              <a:t>Companion listing: ch49/bounded_queue.hpp Companion listing: ch49/main.cpp The expected sum is 5050. Capacity eight forces the implementation to support reuse of ring slots during the 100-item transfer. Scheduling determines exactly when participants wait; the correctness result does not depend on a particular waiting count. For arbitrary capacity values near size_t limits, even index increment needs range analysis. Here a successfully allocated vector&lt;int&gt; has a practical and implementation-constrained maximum well below a wrapping index increment. A more general storage abstraction should state and enforce its own maximum capacity explicitly.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companion listing: ch49/bounded_queue.hpp Companion listing: ch49/main.cpp The expected sum is 5050.</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Bounded buffer state transitions</a:t>
            </a:r>
          </a:p>
          <a:p/>
          <a:p>
            <a:r>
              <a:t>LECTURE NARRATION</a:t>
            </a:r>
          </a:p>
          <a:p>
            <a:r>
              <a:t>For capacity 3, a producer must wait when the queue already contains three items. After a consumer removes one, size becomes two and a waiting producer may proceed. Conversely, a consumer waits when size is zero and can be notified after a producer inserts an item. One mutex protects the queue and its size predicate.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capacity 3, a producer must wait when the queue already contains three items.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Bounded buffer state transitions — Deep Dive</a:t>
            </a:r>
          </a:p>
          <a:p/>
          <a:p>
            <a:r>
              <a:t>LECTURE NARRATION</a:t>
            </a:r>
          </a:p>
          <a:p>
            <a:r>
              <a:t>For capacity 3, a producer must wait when the queue already contains three items. After a consumer removes one, size becomes two and a waiting producer may proceed. Conversely, a consumer waits when size is zero and can be notified after a producer inserts an item. One mutex protects the queue and its size predicate.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capacity 3, a producer must wait when the queue already contains three items.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Why two predicates matter</a:t>
            </a:r>
          </a:p>
          <a:p/>
          <a:p>
            <a:r>
              <a:t>LECTURE NARRATION</a:t>
            </a:r>
          </a:p>
          <a:p>
            <a:r>
              <a:t>A bounded queue has at least two logically distinct conditions: not-empty for consumers and not-full for producers. Using the same mutex is fine, but each side waits for the predicate that enables its operation. Notifications should be issued after state changes that can make the opposite predicate true.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bounded queue has at least two logically distinct conditions: not-empty for consumers and not-full for producers.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Why two predicates matter — Deep Dive</a:t>
            </a:r>
          </a:p>
          <a:p/>
          <a:p>
            <a:r>
              <a:t>LECTURE NARRATION</a:t>
            </a:r>
          </a:p>
          <a:p>
            <a:r>
              <a:t>A bounded queue has at least two logically distinct conditions: not-empty for consumers and not-full for producers. Using the same mutex is fine, but each side waits for the predicate that enables its operation. Notifications should be issued after state changes that can make the opposite predicate true.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bounded queue has at least two logically distinct conditions: not-empty for consumers and not-full for producers.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49. Test capacity one, immediate closure, closure with queued items, push after closure, and several consumers with per-consumer sums. Then extend the same queue to multiple producers and consumers. Force shutdown while a producer is blocked on a full queue and while a consumer is blocked on an empty queue. Give every attempted item a unique identity and track attempted, accepted, consumed, and rejected-after-close counts. Under the chapter’s drain-on-close contract, verify at quiescence that accepted = consumed and that each accepted identity appears exactly once. All workers must finish before queue destruction. Review 1. Why notify both producer and consumer waiters on close? Review 2. Does bounded queue capacity bound all in-flight memory?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49.</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49. Test capacity one, immediate closure, closure with queued items, push after closure, and several consumers with per-consumer sums. Then extend the same queue to multiple producers and consumers. Force shutdown while a producer is blocked on a full queue and while a consumer is blocked on an empty queue. Give every attempted item a unique identity and track attempted, accepted, consumed, and rejected-after-close counts. Under the chapter’s drain-on-close contract, verify at quiescence that accepted = consumed and that each accepted identity appears exactly once. All workers must finish before queue destruction. Review 1. Why notify both producer and consumer waiters on close? Review 2. Does bounded queue capacity bound all in-flight memory?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49.</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producer–consumer systems.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producer–consumer systems.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Deadlock.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49 — Producer–Consumer Systems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producer–consumer system separates creation of work from processing of work.</a:t>
            </a:r>
          </a:p>
          <a:p>
            <a:pPr>
              <a:spcAft>
                <a:spcPts val="1100"/>
              </a:spcAft>
              <a:defRPr sz="1900">
                <a:solidFill>
                  <a:srgbClr val="F2F5F8"/>
                </a:solidFill>
              </a:defRPr>
            </a:pPr>
            <a:r>
              <a:t>• A bounded queue connects the two rates and applies backpressure when producers get ahead.</a:t>
            </a:r>
          </a:p>
          <a:p>
            <a:pPr>
              <a:spcAft>
                <a:spcPts val="1100"/>
              </a:spcAft>
              <a:defRPr sz="1700">
                <a:solidFill>
                  <a:srgbClr val="F2F5F8"/>
                </a:solidFill>
              </a:defRPr>
            </a:pPr>
            <a:r>
              <a:t>• Its correctness requires more than a mutex around a container: it needs predicates, closure semantics, ownership rules, and a way for every waiter to terminate.</a:t>
            </a:r>
          </a:p>
          <a:p>
            <a:pPr>
              <a:spcAft>
                <a:spcPts val="1100"/>
              </a:spcAft>
              <a:defRPr sz="1900">
                <a:solidFill>
                  <a:srgbClr val="F2F5F8"/>
                </a:solidFill>
              </a:defRPr>
            </a:pPr>
            <a:r>
              <a:t>• The queue in this chapter stores integers in preallocated slots.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Producer–Consumer Systems.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49.1 Producers</a:t>
            </a:r>
          </a:p>
          <a:p>
            <a:pPr>
              <a:spcAft>
                <a:spcPts val="1100"/>
              </a:spcAft>
              <a:defRPr sz="1900">
                <a:solidFill>
                  <a:srgbClr val="F2F5F8"/>
                </a:solidFill>
              </a:defRPr>
            </a:pPr>
            <a:r>
              <a:t>• 49.2 Consumers</a:t>
            </a:r>
          </a:p>
          <a:p>
            <a:pPr>
              <a:spcAft>
                <a:spcPts val="1100"/>
              </a:spcAft>
              <a:defRPr sz="1900">
                <a:solidFill>
                  <a:srgbClr val="F2F5F8"/>
                </a:solidFill>
              </a:defRPr>
            </a:pPr>
            <a:r>
              <a:t>• 49.3 Shared buffers</a:t>
            </a:r>
          </a:p>
          <a:p>
            <a:pPr>
              <a:spcAft>
                <a:spcPts val="1100"/>
              </a:spcAft>
              <a:defRPr sz="1900">
                <a:solidFill>
                  <a:srgbClr val="F2F5F8"/>
                </a:solidFill>
              </a:defRPr>
            </a:pPr>
            <a:r>
              <a:t>• 49.4 Bounded buffers</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49.1 Producers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Producers create items and attempt to transfer them into the queue.</a:t>
            </a:r>
          </a:p>
          <a:p>
            <a:pPr>
              <a:spcAft>
                <a:spcPts val="1100"/>
              </a:spcAft>
              <a:defRPr sz="1900">
                <a:solidFill>
                  <a:srgbClr val="F2F5F8"/>
                </a:solidFill>
              </a:defRPr>
            </a:pPr>
            <a:r>
              <a:t>• A successful push transfers responsibility to the queue.</a:t>
            </a:r>
          </a:p>
          <a:p>
            <a:pPr>
              <a:spcAft>
                <a:spcPts val="1100"/>
              </a:spcAft>
              <a:defRPr sz="1900">
                <a:solidFill>
                  <a:srgbClr val="F2F5F8"/>
                </a:solidFill>
              </a:defRPr>
            </a:pPr>
            <a:r>
              <a:t>• A rejected push after closure leaves the caller responsible for whatever resource the item represents.</a:t>
            </a:r>
          </a:p>
          <a:p>
            <a:pPr>
              <a:spcAft>
                <a:spcPts val="1100"/>
              </a:spcAft>
              <a:defRPr sz="1900">
                <a:solidFill>
                  <a:srgbClr val="F2F5F8"/>
                </a:solidFill>
              </a:defRPr>
            </a:pPr>
            <a:r>
              <a:t>• Production rate should not be assumed lower than consumption rate.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49.1 Producers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Production rate should not be assumed lower than consumption rate.</a:t>
            </a:r>
          </a:p>
          <a:p>
            <a:pPr>
              <a:spcAft>
                <a:spcPts val="1100"/>
              </a:spcAft>
              <a:defRPr sz="1900">
                <a:solidFill>
                  <a:srgbClr val="F2F5F8"/>
                </a:solidFill>
              </a:defRPr>
            </a:pPr>
            <a:r>
              <a:t>• Bursts, slow downstream services, and failures can make the queue fill.</a:t>
            </a:r>
          </a:p>
          <a:p>
            <a:pPr>
              <a:spcAft>
                <a:spcPts val="1100"/>
              </a:spcAft>
              <a:defRPr sz="1900">
                <a:solidFill>
                  <a:srgbClr val="F2F5F8"/>
                </a:solidFill>
              </a:defRPr>
            </a:pPr>
            <a:r>
              <a:t>• Bounded capacity converts that condition into an explicit wait or rejection instead of unbounded memory growth.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49.2 Consumers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Consumers wait for an available item, remove it under the queue’s protection, and process it outside the queue lock.</a:t>
            </a:r>
          </a:p>
          <a:p>
            <a:pPr>
              <a:spcAft>
                <a:spcPts val="1100"/>
              </a:spcAft>
              <a:defRPr sz="1900">
                <a:solidFill>
                  <a:srgbClr val="F2F5F8"/>
                </a:solidFill>
              </a:defRPr>
            </a:pPr>
            <a:r>
              <a:t>• Processing outside the lock lets other participants enqueue and dequeue while the current item is being handled.</a:t>
            </a:r>
          </a:p>
          <a:p>
            <a:pPr>
              <a:spcAft>
                <a:spcPts val="1100"/>
              </a:spcAft>
              <a:defRPr sz="1900">
                <a:solidFill>
                  <a:srgbClr val="F2F5F8"/>
                </a:solidFill>
              </a:defRPr>
            </a:pPr>
            <a:r>
              <a:t>• A consumer must distinguish temporarily empty from permanently closed-and-drained.</a:t>
            </a:r>
          </a:p>
          <a:p>
            <a:pPr>
              <a:spcAft>
                <a:spcPts val="1100"/>
              </a:spcAft>
              <a:defRPr sz="1700">
                <a:solidFill>
                  <a:srgbClr val="F2F5F8"/>
                </a:solidFill>
              </a:defRPr>
            </a:pPr>
            <a:r>
              <a:t>• Returning an empty result merely because no item is available at one instant would incorrectly terminate a worker while producers are still active.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49.2 Consumers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consumer must distinguish temporarily empty from permanently closed-and-drained.</a:t>
            </a:r>
          </a:p>
          <a:p>
            <a:pPr>
              <a:spcAft>
                <a:spcPts val="1100"/>
              </a:spcAft>
              <a:defRPr sz="1700">
                <a:solidFill>
                  <a:srgbClr val="F2F5F8"/>
                </a:solidFill>
              </a:defRPr>
            </a:pPr>
            <a:r>
              <a:t>• Returning an empty result merely because no item is available at one instant would incorrectly terminate a worker while producers are still active.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49.3 Shared buffers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shared buffer stores items not yet transferred to consumers.</a:t>
            </a:r>
          </a:p>
          <a:p>
            <a:pPr>
              <a:spcAft>
                <a:spcPts val="1100"/>
              </a:spcAft>
              <a:defRPr sz="1900">
                <a:solidFill>
                  <a:srgbClr val="F2F5F8"/>
                </a:solidFill>
              </a:defRPr>
            </a:pPr>
            <a:r>
              <a:t>• A ring buffer uses a fixed array with head and tail indexes.</a:t>
            </a:r>
          </a:p>
          <a:p>
            <a:pPr>
              <a:spcAft>
                <a:spcPts val="1100"/>
              </a:spcAft>
              <a:defRPr sz="1900">
                <a:solidFill>
                  <a:srgbClr val="F2F5F8"/>
                </a:solidFill>
              </a:defRPr>
            </a:pPr>
            <a:r>
              <a:t>• Count distinguishes empty from full when indexes alone are ambiguous.</a:t>
            </a:r>
          </a:p>
          <a:p>
            <a:pPr>
              <a:spcAft>
                <a:spcPts val="1100"/>
              </a:spcAft>
              <a:defRPr sz="1700">
                <a:solidFill>
                  <a:srgbClr val="F2F5F8"/>
                </a:solidFill>
              </a:defRPr>
            </a:pPr>
            <a:r>
              <a:t>• The invariant includes 0 &lt;= count &lt;= capacity , valid head and tail indexes, and a relationship between occupied slots and logical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49.3 Shared buffers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invariant includes 0 &lt;= count &lt;= capacity , valid head and tail indexes, and a relationship between occupied slots and logical order.</a:t>
            </a:r>
          </a:p>
          <a:p>
            <a:pPr>
              <a:spcAft>
                <a:spcPts val="1100"/>
              </a:spcAft>
              <a:defRPr sz="1900">
                <a:solidFill>
                  <a:srgbClr val="F2F5F8"/>
                </a:solidFill>
              </a:defRPr>
            </a:pPr>
            <a:r>
              <a:t>• All fields that participate in that invariant use the same mutex in this implementation.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49.4 Bounded buffers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bounded buffer has a fixed maximum number of queued items.</a:t>
            </a:r>
          </a:p>
          <a:p>
            <a:pPr>
              <a:spcAft>
                <a:spcPts val="1100"/>
              </a:spcAft>
              <a:defRPr sz="1900">
                <a:solidFill>
                  <a:srgbClr val="F2F5F8"/>
                </a:solidFill>
              </a:defRPr>
            </a:pPr>
            <a:r>
              <a:t>• It limits queue storage and provides a natural point for backpressure.</a:t>
            </a:r>
          </a:p>
          <a:p>
            <a:pPr>
              <a:spcAft>
                <a:spcPts val="1100"/>
              </a:spcAft>
              <a:defRPr sz="1700">
                <a:solidFill>
                  <a:srgbClr val="F2F5F8"/>
                </a:solidFill>
              </a:defRPr>
            </a:pPr>
            <a:r>
              <a:t>• It does not by itself limit all system resources: producers may hold items before pushing, and consumers may hold items while processing.</a:t>
            </a:r>
          </a:p>
          <a:p>
            <a:pPr>
              <a:spcAft>
                <a:spcPts val="1100"/>
              </a:spcAft>
              <a:defRPr sz="1900">
                <a:solidFill>
                  <a:srgbClr val="F2F5F8"/>
                </a:solidFill>
              </a:defRPr>
            </a:pPr>
            <a:r>
              <a:t>• Budget the complete pipeline.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49.4 Bounded buffers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Budget the complete pipeline.</a:t>
            </a:r>
          </a:p>
          <a:p>
            <a:pPr>
              <a:spcAft>
                <a:spcPts val="1100"/>
              </a:spcAft>
              <a:defRPr sz="1900">
                <a:solidFill>
                  <a:srgbClr val="F2F5F8"/>
                </a:solidFill>
              </a:defRPr>
            </a:pPr>
            <a:r>
              <a:t>• If each of 100 workers can retain a large item, a small queue does not imply a small total memory footprint.</a:t>
            </a:r>
          </a:p>
          <a:p>
            <a:pPr>
              <a:spcAft>
                <a:spcPts val="1100"/>
              </a:spcAft>
              <a:defRPr sz="1900">
                <a:solidFill>
                  <a:srgbClr val="F2F5F8"/>
                </a:solidFill>
              </a:defRPr>
            </a:pPr>
            <a:r>
              <a:t>• Capacity controls one ownership stage, not every live object in the process.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49.5 Buffer-full condition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producer waits while the queue is full and still open.</a:t>
            </a:r>
          </a:p>
          <a:p>
            <a:pPr>
              <a:spcAft>
                <a:spcPts val="1100"/>
              </a:spcAft>
              <a:defRPr sz="1900">
                <a:solidFill>
                  <a:srgbClr val="F2F5F8"/>
                </a:solidFill>
              </a:defRPr>
            </a:pPr>
            <a:r>
              <a:t>• Its predicate is closed || count &lt; capacity .</a:t>
            </a:r>
          </a:p>
          <a:p>
            <a:pPr>
              <a:spcAft>
                <a:spcPts val="1100"/>
              </a:spcAft>
              <a:defRPr sz="1900">
                <a:solidFill>
                  <a:srgbClr val="F2F5F8"/>
                </a:solidFill>
              </a:defRPr>
            </a:pPr>
            <a:r>
              <a:t>• Including closure ensures that shutdown can release producers that would otherwise wait forever for capacity.</a:t>
            </a:r>
          </a:p>
          <a:p>
            <a:pPr>
              <a:spcAft>
                <a:spcPts val="1100"/>
              </a:spcAft>
              <a:defRPr sz="1900">
                <a:solidFill>
                  <a:srgbClr val="F2F5F8"/>
                </a:solidFill>
              </a:defRPr>
            </a:pPr>
            <a:r>
              <a:t>• After waking, the producer checks closure before inserting.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49.5 Buffer-full condition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waking, the producer checks closure before inserting.</a:t>
            </a:r>
          </a:p>
          <a:p>
            <a:pPr>
              <a:spcAft>
                <a:spcPts val="1100"/>
              </a:spcAft>
              <a:defRPr sz="1900">
                <a:solidFill>
                  <a:srgbClr val="F2F5F8"/>
                </a:solidFill>
              </a:defRPr>
            </a:pPr>
            <a:r>
              <a:t>• A notification does not reserve a slot for a particular producer; another producer may acquire the mutex first.</a:t>
            </a:r>
          </a:p>
          <a:p>
            <a:pPr>
              <a:spcAft>
                <a:spcPts val="1100"/>
              </a:spcAft>
              <a:defRPr sz="1900">
                <a:solidFill>
                  <a:srgbClr val="F2F5F8"/>
                </a:solidFill>
              </a:defRPr>
            </a:pPr>
            <a:r>
              <a:t>• The predicate loop handles that competition.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49.6 Buffer-empty condition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consumer waits while the queue is empty and open.</a:t>
            </a:r>
          </a:p>
          <a:p>
            <a:pPr>
              <a:spcAft>
                <a:spcPts val="1100"/>
              </a:spcAft>
              <a:defRPr sz="1900">
                <a:solidFill>
                  <a:srgbClr val="F2F5F8"/>
                </a:solidFill>
              </a:defRPr>
            </a:pPr>
            <a:r>
              <a:t>• Its predicate is closed || count &gt; 0 .</a:t>
            </a:r>
          </a:p>
          <a:p>
            <a:pPr>
              <a:spcAft>
                <a:spcPts val="1100"/>
              </a:spcAft>
              <a:defRPr sz="1900">
                <a:solidFill>
                  <a:srgbClr val="F2F5F8"/>
                </a:solidFill>
              </a:defRPr>
            </a:pPr>
            <a:r>
              <a:t>• If the queue is closed but still contains items, the consumer drains them under the policy used here.</a:t>
            </a:r>
          </a:p>
          <a:p>
            <a:pPr>
              <a:spcAft>
                <a:spcPts val="1100"/>
              </a:spcAft>
              <a:defRPr sz="1900">
                <a:solidFill>
                  <a:srgbClr val="F2F5F8"/>
                </a:solidFill>
              </a:defRPr>
            </a:pPr>
            <a:r>
              <a:t>• When closed and empty, pop returns no item, signaling normal completion.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49.6 Buffer-empty condition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closed and empty, pop returns no item, signaling normal completion.</a:t>
            </a:r>
          </a:p>
          <a:p>
            <a:pPr>
              <a:spcAft>
                <a:spcPts val="1100"/>
              </a:spcAft>
              <a:defRPr sz="1900">
                <a:solidFill>
                  <a:srgbClr val="F2F5F8"/>
                </a:solidFill>
              </a:defRPr>
            </a:pPr>
            <a:r>
              <a:t>• This is drain-on-close , not immediate cancellation.</a:t>
            </a:r>
          </a:p>
          <a:p>
            <a:pPr>
              <a:spcAft>
                <a:spcPts val="1100"/>
              </a:spcAft>
              <a:defRPr sz="1900">
                <a:solidFill>
                  <a:srgbClr val="F2F5F8"/>
                </a:solidFill>
              </a:defRPr>
            </a:pPr>
            <a:r>
              <a:t>• An aborting queue would need a different contract for queued and in-flight items.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49.7 Mutex synchronization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One mutex protects slots, indexes, count, and closure.</a:t>
            </a:r>
          </a:p>
          <a:p>
            <a:pPr>
              <a:spcAft>
                <a:spcPts val="1100"/>
              </a:spcAft>
              <a:defRPr sz="1900">
                <a:solidFill>
                  <a:srgbClr val="F2F5F8"/>
                </a:solidFill>
              </a:defRPr>
            </a:pPr>
            <a:r>
              <a:t>• The queue does not expose references to occupied slots after unlocking.</a:t>
            </a:r>
          </a:p>
          <a:p>
            <a:pPr>
              <a:spcAft>
                <a:spcPts val="1100"/>
              </a:spcAft>
              <a:defRPr sz="1900">
                <a:solidFill>
                  <a:srgbClr val="F2F5F8"/>
                </a:solidFill>
              </a:defRPr>
            </a:pPr>
            <a:r>
              <a:t>• Instead it copies an integer out while protected, then returns ownership of that value.</a:t>
            </a:r>
          </a:p>
          <a:p>
            <a:pPr>
              <a:spcAft>
                <a:spcPts val="1100"/>
              </a:spcAft>
              <a:defRPr sz="1900">
                <a:solidFill>
                  <a:srgbClr val="F2F5F8"/>
                </a:solidFill>
              </a:defRPr>
            </a:pPr>
            <a:r>
              <a:t>• The mutex also supplies visibility between the producer’s slot write and the consumer’s slot read.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49.7 Mutex synchronization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mutex also supplies visibility between the producer’s slot write and the consumer’s slot read.</a:t>
            </a:r>
          </a:p>
          <a:p>
            <a:pPr>
              <a:spcAft>
                <a:spcPts val="1100"/>
              </a:spcAft>
              <a:defRPr sz="1900">
                <a:solidFill>
                  <a:srgbClr val="F2F5F8"/>
                </a:solidFill>
              </a:defRPr>
            </a:pPr>
            <a:r>
              <a:t>• No extra atomic count is needed in this locked implementation.</a:t>
            </a:r>
          </a:p>
          <a:p>
            <a:pPr>
              <a:spcAft>
                <a:spcPts val="1100"/>
              </a:spcAft>
              <a:defRPr sz="1900">
                <a:solidFill>
                  <a:srgbClr val="F2F5F8"/>
                </a:solidFill>
              </a:defRPr>
            </a:pPr>
            <a:r>
              <a:t>• Adding atomics to already-protected fields can complicate the design without improving correctness.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49.8 Condition-variable synchronization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One condition variable represents the possibility of items becoming available; another represents capacity becoming available.</a:t>
            </a:r>
          </a:p>
          <a:p>
            <a:pPr>
              <a:spcAft>
                <a:spcPts val="1100"/>
              </a:spcAft>
              <a:defRPr sz="1900">
                <a:solidFill>
                  <a:srgbClr val="F2F5F8"/>
                </a:solidFill>
              </a:defRPr>
            </a:pPr>
            <a:r>
              <a:t>• Push notifies a consumer after insertion, and pop notifies a producer after removal.</a:t>
            </a:r>
          </a:p>
          <a:p>
            <a:pPr>
              <a:spcAft>
                <a:spcPts val="1100"/>
              </a:spcAft>
              <a:defRPr sz="1900">
                <a:solidFill>
                  <a:srgbClr val="F2F5F8"/>
                </a:solidFill>
              </a:defRPr>
            </a:pPr>
            <a:r>
              <a:t>• Closure notifies both groups.</a:t>
            </a:r>
          </a:p>
          <a:p>
            <a:pPr>
              <a:spcAft>
                <a:spcPts val="1100"/>
              </a:spcAft>
              <a:defRPr sz="1900">
                <a:solidFill>
                  <a:srgbClr val="F2F5F8"/>
                </a:solidFill>
              </a:defRPr>
            </a:pPr>
            <a:r>
              <a:t>• The predicates remain authoritative.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49.8 Condition-variable synchronization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predicates remain authoritative.</a:t>
            </a:r>
          </a:p>
          <a:p>
            <a:pPr>
              <a:spcAft>
                <a:spcPts val="1100"/>
              </a:spcAft>
              <a:defRPr sz="1900">
                <a:solidFill>
                  <a:srgbClr val="F2F5F8"/>
                </a:solidFill>
              </a:defRPr>
            </a:pPr>
            <a:r>
              <a:t>• Notifications happen after unlocking in this implementation, but state changes occur under the mutex.</a:t>
            </a:r>
          </a:p>
          <a:p>
            <a:pPr>
              <a:spcAft>
                <a:spcPts val="1100"/>
              </a:spcAft>
              <a:defRPr sz="1700">
                <a:solidFill>
                  <a:srgbClr val="F2F5F8"/>
                </a:solidFill>
              </a:defRPr>
            </a:pPr>
            <a:r>
              <a:t>• Queue destruction is permitted only after all producers and consumers have stopped using it; close is not an automatic join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bounded, drainable integer queue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ch49/bounded_queue.hpp</a:t>
            </a:r>
          </a:p>
          <a:p>
            <a:pPr>
              <a:spcAft>
                <a:spcPts val="1100"/>
              </a:spcAft>
              <a:defRPr sz="1900">
                <a:solidFill>
                  <a:srgbClr val="F2F5F8"/>
                </a:solidFill>
              </a:defRPr>
            </a:pPr>
            <a:r>
              <a:t>• Companion listing: ch49/main.cpp</a:t>
            </a:r>
          </a:p>
          <a:p>
            <a:pPr>
              <a:spcAft>
                <a:spcPts val="1100"/>
              </a:spcAft>
              <a:defRPr sz="1900">
                <a:solidFill>
                  <a:srgbClr val="F2F5F8"/>
                </a:solidFill>
              </a:defRPr>
            </a:pPr>
            <a:r>
              <a:t>• The expected sum is 5050.</a:t>
            </a:r>
          </a:p>
          <a:p>
            <a:pPr>
              <a:spcAft>
                <a:spcPts val="1100"/>
              </a:spcAft>
              <a:defRPr sz="1900">
                <a:solidFill>
                  <a:srgbClr val="F2F5F8"/>
                </a:solidFill>
              </a:defRPr>
            </a:pPr>
            <a:r>
              <a:t>• Capacity eight forces the implementation to support reuse of ring slots during the 100-item transfer.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bounded, drainable integer queue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ch49/main.cpp</a:t>
            </a:r>
          </a:p>
          <a:p>
            <a:pPr>
              <a:spcAft>
                <a:spcPts val="1100"/>
              </a:spcAft>
              <a:defRPr sz="1900">
                <a:solidFill>
                  <a:srgbClr val="F2F5F8"/>
                </a:solidFill>
              </a:defRPr>
            </a:pPr>
            <a:r>
              <a:t>• The expected sum is 5050.</a:t>
            </a:r>
          </a:p>
          <a:p>
            <a:pPr>
              <a:spcAft>
                <a:spcPts val="1100"/>
              </a:spcAft>
              <a:defRPr sz="1900">
                <a:solidFill>
                  <a:srgbClr val="F2F5F8"/>
                </a:solidFill>
              </a:defRPr>
            </a:pPr>
            <a:r>
              <a:t>• Capacity eight forces the implementation to support reuse of ring slots during the 100-item transfer.</a:t>
            </a:r>
          </a:p>
          <a:p>
            <a:pPr>
              <a:spcAft>
                <a:spcPts val="1100"/>
              </a:spcAft>
              <a:defRPr sz="1700">
                <a:solidFill>
                  <a:srgbClr val="F2F5F8"/>
                </a:solidFill>
              </a:defRPr>
            </a:pPr>
            <a:r>
              <a:t>• Scheduling determines exactly when participants wait; the correctness result does not depend on a particular waiting count.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Bounded buffer state transitions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capacity 3, a producer must wait when the queue already contains three items.</a:t>
            </a:r>
          </a:p>
          <a:p>
            <a:pPr>
              <a:spcAft>
                <a:spcPts val="1100"/>
              </a:spcAft>
              <a:defRPr sz="1900">
                <a:solidFill>
                  <a:srgbClr val="F2F5F8"/>
                </a:solidFill>
              </a:defRPr>
            </a:pPr>
            <a:r>
              <a:t>• After a consumer removes one, size becomes two and a waiting producer may proceed.</a:t>
            </a:r>
          </a:p>
          <a:p>
            <a:pPr>
              <a:spcAft>
                <a:spcPts val="1100"/>
              </a:spcAft>
              <a:defRPr sz="1900">
                <a:solidFill>
                  <a:srgbClr val="F2F5F8"/>
                </a:solidFill>
              </a:defRPr>
            </a:pPr>
            <a:r>
              <a:t>• Conversely, a consumer waits when size is zero and can be notified after a producer inserts an item.</a:t>
            </a:r>
          </a:p>
          <a:p>
            <a:pPr>
              <a:spcAft>
                <a:spcPts val="1100"/>
              </a:spcAft>
              <a:defRPr sz="1900">
                <a:solidFill>
                  <a:srgbClr val="F2F5F8"/>
                </a:solidFill>
              </a:defRPr>
            </a:pPr>
            <a:r>
              <a:t>• One mutex protects the queue and its size predicate.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Bounded buffer state transitions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capacity 3, a producer must wait when the queue already contains three items.</a:t>
            </a:r>
          </a:p>
          <a:p>
            <a:pPr>
              <a:spcAft>
                <a:spcPts val="1100"/>
              </a:spcAft>
              <a:defRPr sz="1900">
                <a:solidFill>
                  <a:srgbClr val="F2F5F8"/>
                </a:solidFill>
              </a:defRPr>
            </a:pPr>
            <a:r>
              <a:t>• After a consumer removes one, size becomes two and a waiting producer may proceed.</a:t>
            </a:r>
          </a:p>
          <a:p>
            <a:pPr>
              <a:spcAft>
                <a:spcPts val="1100"/>
              </a:spcAft>
              <a:defRPr sz="1900">
                <a:solidFill>
                  <a:srgbClr val="F2F5F8"/>
                </a:solidFill>
              </a:defRPr>
            </a:pPr>
            <a:r>
              <a:t>• Conversely, a consumer waits when size is zero and can be notified after a producer inserts an item.</a:t>
            </a:r>
          </a:p>
          <a:p>
            <a:pPr>
              <a:spcAft>
                <a:spcPts val="1100"/>
              </a:spcAft>
              <a:defRPr sz="1900">
                <a:solidFill>
                  <a:srgbClr val="F2F5F8"/>
                </a:solidFill>
              </a:defRPr>
            </a:pPr>
            <a:r>
              <a:t>• One mutex protects the queue and its size predicate.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Why two predicates matter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bounded queue has at least two logically distinct conditions: not-empty for consumers and not-full for producers.</a:t>
            </a:r>
          </a:p>
          <a:p>
            <a:pPr>
              <a:spcAft>
                <a:spcPts val="1100"/>
              </a:spcAft>
              <a:defRPr sz="1900">
                <a:solidFill>
                  <a:srgbClr val="F2F5F8"/>
                </a:solidFill>
              </a:defRPr>
            </a:pPr>
            <a:r>
              <a:t>• Using the same mutex is fine, but each side waits for the predicate that enables its operation.</a:t>
            </a:r>
          </a:p>
          <a:p>
            <a:pPr>
              <a:spcAft>
                <a:spcPts val="1100"/>
              </a:spcAft>
              <a:defRPr sz="1900">
                <a:solidFill>
                  <a:srgbClr val="F2F5F8"/>
                </a:solidFill>
              </a:defRPr>
            </a:pPr>
            <a:r>
              <a:t>• Notifications should be issued after state changes that can make the opposite predicate true.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two predicates matter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bounded queue has at least two logically distinct conditions: not-empty for consumers and not-full for producers.</a:t>
            </a:r>
          </a:p>
          <a:p>
            <a:pPr>
              <a:spcAft>
                <a:spcPts val="1100"/>
              </a:spcAft>
              <a:defRPr sz="1900">
                <a:solidFill>
                  <a:srgbClr val="F2F5F8"/>
                </a:solidFill>
              </a:defRPr>
            </a:pPr>
            <a:r>
              <a:t>• Using the same mutex is fine, but each side waits for the predicate that enables its operation.</a:t>
            </a:r>
          </a:p>
          <a:p>
            <a:pPr>
              <a:spcAft>
                <a:spcPts val="1100"/>
              </a:spcAft>
              <a:defRPr sz="1900">
                <a:solidFill>
                  <a:srgbClr val="F2F5F8"/>
                </a:solidFill>
              </a:defRPr>
            </a:pPr>
            <a:r>
              <a:t>• Notifications should be issued after state changes that can make the opposite predicate true.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49.</a:t>
            </a:r>
          </a:p>
          <a:p>
            <a:pPr>
              <a:spcAft>
                <a:spcPts val="1100"/>
              </a:spcAft>
              <a:defRPr sz="1700">
                <a:solidFill>
                  <a:srgbClr val="F2F5F8"/>
                </a:solidFill>
              </a:defRPr>
            </a:pPr>
            <a:r>
              <a:t>• Test capacity one, immediate closure, closure with queued items, push after closure, and several consumers with per-consumer sums.</a:t>
            </a:r>
          </a:p>
          <a:p>
            <a:pPr>
              <a:spcAft>
                <a:spcPts val="1100"/>
              </a:spcAft>
              <a:defRPr sz="1900">
                <a:solidFill>
                  <a:srgbClr val="F2F5F8"/>
                </a:solidFill>
              </a:defRPr>
            </a:pPr>
            <a:r>
              <a:t>• Then extend the same queue to multiple producers and consumers.</a:t>
            </a:r>
          </a:p>
          <a:p>
            <a:pPr>
              <a:spcAft>
                <a:spcPts val="1100"/>
              </a:spcAft>
              <a:defRPr sz="1900">
                <a:solidFill>
                  <a:srgbClr val="F2F5F8"/>
                </a:solidFill>
              </a:defRPr>
            </a:pPr>
            <a:r>
              <a:t>• Force shutdown while a producer is blocked on a full queue and while a consumer is blocked on an empty queue.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notify both producer and consumer waiters on close?</a:t>
            </a:r>
          </a:p>
          <a:p>
            <a:pPr>
              <a:spcAft>
                <a:spcPts val="1100"/>
              </a:spcAft>
              <a:defRPr sz="1900">
                <a:solidFill>
                  <a:srgbClr val="F2F5F8"/>
                </a:solidFill>
              </a:defRPr>
            </a:pPr>
            <a:r>
              <a:t>• Review 2.</a:t>
            </a:r>
          </a:p>
          <a:p>
            <a:pPr>
              <a:spcAft>
                <a:spcPts val="1100"/>
              </a:spcAft>
              <a:defRPr sz="1900">
                <a:solidFill>
                  <a:srgbClr val="F2F5F8"/>
                </a:solidFill>
              </a:defRPr>
            </a:pPr>
            <a:r>
              <a:t>• Does bounded queue capacity bound all in-flight memory?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producer–consumer systems.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Deadlock.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49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