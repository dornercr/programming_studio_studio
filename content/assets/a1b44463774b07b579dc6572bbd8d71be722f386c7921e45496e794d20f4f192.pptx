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24 — Page Tables</a:t>
            </a:r>
          </a:p>
          <a:p/>
          <a:p>
            <a:r>
              <a:t>LECTURE NARRATION</a:t>
            </a:r>
          </a:p>
          <a:p>
            <a:r>
              <a:t>A page table describes mappings and their permissions. Large address spaces make a single fully populated flat table expensive, so many architectures use a hierarchy in which intermediate entries point to lower-level tables. Unused regions can then avoid allocating all possible lower-level structures. [ R3 , R10 ]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page table describes mappings and their permissions.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A page table describes mappings and their permissions. Large address spaces make a single fully populated flat table expensive, so many architectures use a hierarchy in which intermediate entries point to lower-level tables. Unused regions can then avoid allocating all possible lower-level structures. [ R3 , R10 ]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page table describes mappings and their permissions.</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24.1 Page-table entries 24.2 Present bit 24.3 Writable bit 24.4 User-accessible bit ...plus 7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24.1 Page-table entries 24.2 Present bit 24.3 Writable bit 24.4 User-accessible bit ...plus 7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24.1 Page-table entries</a:t>
            </a:r>
          </a:p>
          <a:p/>
          <a:p>
            <a:r>
              <a:t>LECTURE NARRATION</a:t>
            </a:r>
          </a:p>
          <a:p>
            <a:r>
              <a:t>A page-table entry encodes mapping information and control bits. Depending on its level and configuration, it can point to another table or describe a mapped page. It may include a physical address, presence information, access permissions, and status used by memory-management policy. An entry is not a portable C structure whose bit layout can be guessed from a diagram for another architecture. Kernel code must follow the architecture’s encoding and required update procedures. Ordinary user programs should reason about the behavior exposed by mapping APIs instead of attempting to manipulate active page tables.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uses a map of memory addresses. The operating system translates that map to where the data is actually stored.</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24.1 Page-table entries — Deep Dive</a:t>
            </a:r>
          </a:p>
          <a:p/>
          <a:p>
            <a:r>
              <a:t>LECTURE NARRATION</a:t>
            </a:r>
          </a:p>
          <a:p>
            <a:r>
              <a:t>A page-table entry encodes mapping information and control bits. Depending on its level and configuration, it can point to another table or describe a mapped page. It may include a physical address, presence information, access permissions, and status used by memory-management policy. An entry is not a portable C structure whose bit layout can be guessed from a diagram for another architecture. Kernel code must follow the architecture’s encoding and required update procedures. Ordinary user programs should reason about the behavior exposed by mapping APIs instead of attempting to manipulate active page tables.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uses a map of memory addresses. The operating system translates that map to where the data is actually stored.</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24.2 Present bit</a:t>
            </a:r>
          </a:p>
          <a:p/>
          <a:p>
            <a:r>
              <a:t>LECTURE NARRATION</a:t>
            </a:r>
          </a:p>
          <a:p>
            <a:r>
              <a:t>A present indicator tells hardware whether an entry is valid for the corresponding translation step. An absent entry can cause a page fault. The kernel may use nonpresent encodings and its own metadata to remember whether the region is demand-paged, swapped, invalid, or associated with another policy. Therefore, “not present” does not automatically mean “read this page from disk.” The handler must first establish that the access is legitimate. A zero-filled anonymous page may require no file read at all. A completely invalid address must not be repaired by granting access merely because a fault occurred.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present indicator tells hardware whether an entry is valid for the corresponding translation step.</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24.2 Present bit — Deep Dive</a:t>
            </a:r>
          </a:p>
          <a:p/>
          <a:p>
            <a:r>
              <a:t>LECTURE NARRATION</a:t>
            </a:r>
          </a:p>
          <a:p>
            <a:r>
              <a:t>A present indicator tells hardware whether an entry is valid for the corresponding translation step. An absent entry can cause a page fault. The kernel may use nonpresent encodings and its own metadata to remember whether the region is demand-paged, swapped, invalid, or associated with another policy. Therefore, “not present” does not automatically mean “read this page from disk.” The handler must first establish that the access is legitimate. A zero-filled anonymous page may require no file read at all. A completely invalid address must not be repaired by granting access merely because a fault occurred.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present indicator tells hardware whether an entry is valid for the corresponding translation step.</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24.3 Writable bit</a:t>
            </a:r>
          </a:p>
          <a:p/>
          <a:p>
            <a:r>
              <a:t>LECTURE NARRATION</a:t>
            </a:r>
          </a:p>
          <a:p>
            <a:r>
              <a:t>A writable permission controls whether stores are allowed under the architecture’s access rules. A mapping can be readable without being writable. Copy-on-write commonly uses a temporarily nonwritable hardware mapping for a region that is logically permitted to become privately writable after a fault. Permission interpretation can involve multiple levels and processor controls. It is unsafe to inspect only one leaf bit and conclude that an access must succeed. The complete translation and protection state determines the result. This chapter’s exercises state a simplified combined-permission rule explicitly.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writable permission controls whether stores are allowed under the architecture’s access rules.</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24.3 Writable bit — Deep Dive</a:t>
            </a:r>
          </a:p>
          <a:p/>
          <a:p>
            <a:r>
              <a:t>LECTURE NARRATION</a:t>
            </a:r>
          </a:p>
          <a:p>
            <a:r>
              <a:t>A writable permission controls whether stores are allowed under the architecture’s access rules. A mapping can be readable without being writable. Copy-on-write commonly uses a temporarily nonwritable hardware mapping for a region that is logically permitted to become privately writable after a fault. Permission interpretation can involve multiple levels and processor controls. It is unsafe to inspect only one leaf bit and conclude that an access must succeed. The complete translation and protection state determines the result. This chapter’s exercises state a simplified combined-permission rule explicitly.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writable permission controls whether stores are allowed under the architecture’s access rules.</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24.4 User-accessible bit</a:t>
            </a:r>
          </a:p>
          <a:p/>
          <a:p>
            <a:r>
              <a:t>LECTURE NARRATION</a:t>
            </a:r>
          </a:p>
          <a:p>
            <a:r>
              <a:t>A user/supervisor permission distinguishes mappings accessible to user-mode code from mappings reserved for privileged access. It helps prevent an application from treating kernel data as ordinary user memory even when some related address range exists in the broader translation structure. This hardware distinction does not replace file permissions, process credentials, or application authorization. A user-accessible buffer may still contain data that an application should not disclose to a particular network client. Memory-access enforcement and application-level information policy operate at different layers.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user/supervisor permission distinguishes mappings accessible to user-mode code from mappings reserved for privileged access.</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24.4 User-accessible bit — Deep Dive</a:t>
            </a:r>
          </a:p>
          <a:p/>
          <a:p>
            <a:r>
              <a:t>LECTURE NARRATION</a:t>
            </a:r>
          </a:p>
          <a:p>
            <a:r>
              <a:t>A user/supervisor permission distinguishes mappings accessible to user-mode code from mappings reserved for privileged access. It helps prevent an application from treating kernel data as ordinary user memory even when some related address range exists in the broader translation structure. This hardware distinction does not replace file permissions, process credentials, or application authorization. A user-accessible buffer may still contain data that an application should not disclose to a particular network client. Memory-access enforcement and application-level information policy operate at different layers.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user/supervisor permission distinguishes mappings accessible to user-mode code from mappings reserved for privileged access.</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24.5 Multilevel page tables</a:t>
            </a:r>
          </a:p>
          <a:p/>
          <a:p>
            <a:r>
              <a:t>LECTURE NARRATION</a:t>
            </a:r>
          </a:p>
          <a:p>
            <a:r>
              <a:t>A multilevel design divides the virtual page number into several indexes. Each index selects an entry in the current table; that entry leads to the next level until a mapping is found. Large-page entries can terminate a walk earlier when the architecture supports them. A familiar x86-64 example uses four levels with 9 index bits per level and a 12-bit offset, describing a 48-bit virtual-address organization subject to canonical-address rules. Other configurations can add a fifth level and expand the address width. The exact layout is a platform fact, not a consequence of the C++ pointer type alone. [ R3 , R10 ]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uses a map of memory addresses. The operating system translates that map to where the data is actually stored.</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24.5 Multilevel page tables — Deep Dive</a:t>
            </a:r>
          </a:p>
          <a:p/>
          <a:p>
            <a:r>
              <a:t>LECTURE NARRATION</a:t>
            </a:r>
          </a:p>
          <a:p>
            <a:r>
              <a:t>A multilevel design divides the virtual page number into several indexes. Each index selects an entry in the current table; that entry leads to the next level until a mapping is found. Large-page entries can terminate a walk earlier when the architecture supports them. A familiar x86-64 example uses four levels with 9 index bits per level and a 12-bit offset, describing a 48-bit virtual-address organization subject to canonical-address rules. Other configurations can add a fifth level and expand the address width. The exact layout is a platform fact, not a consequence of the C++ pointer type alone. [ R3 , R10 ]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uses a map of memory addresses. The operating system translates that map to where the data is actually stored.</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24.6 Page-table walks</a:t>
            </a:r>
          </a:p>
          <a:p/>
          <a:p>
            <a:r>
              <a:t>LECTURE NARRATION</a:t>
            </a:r>
          </a:p>
          <a:p>
            <a:r>
              <a:t>A page-table walk follows the hierarchy to resolve a translation. Hardware performs walks on the reference architecture, potentially using internal caches for table information. The naive count of one ordinary memory access per level is a useful upper-level teaching model but not a complete performance prediction. A walk can stop because it finds a valid leaf mapping, encounters an absent entry, or detects a protection problem. Once a translation is cached in a TLB, later accesses can avoid repeating the full walk until the entry is evicted or invalidated. The next chapter separates translation caching from data caching.</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uses a map of memory addresses. The operating system translates that map to where the data is actually stored.</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24.6 Page-table walks — Deep Dive</a:t>
            </a:r>
          </a:p>
          <a:p/>
          <a:p>
            <a:r>
              <a:t>LECTURE NARRATION</a:t>
            </a:r>
          </a:p>
          <a:p>
            <a:r>
              <a:t>A page-table walk follows the hierarchy to resolve a translation. Hardware performs walks on the reference architecture, potentially using internal caches for table information. The naive count of one ordinary memory access per level is a useful upper-level teaching model but not a complete performance prediction. A walk can stop because it finds a valid leaf mapping, encounters an absent entry, or detects a protection problem. Once a translation is cached in a TLB, later accesses can avoid repeating the full walk until the entry is evicted or invalidated. The next chapter separates translation caching from data caching.</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uses a map of memory addresses. The operating system translates that map to where the data is actually stored.</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24.7 Memory protection</a:t>
            </a:r>
          </a:p>
          <a:p/>
          <a:p>
            <a:r>
              <a:t>LECTURE NARRATION</a:t>
            </a:r>
          </a:p>
          <a:p>
            <a:r>
              <a:t>Protection checks combine the requested operation with the applicable mapping permissions and architectural state. Reading data, writing data, and fetching instructions are not necessarily governed by identical permissions. Non-executable mappings help separate data storage from executable code. Changing a page-table entry is not enough when processors retain cached translations based on the old state. The system must perform the required invalidation and coordination. On a multicore system, other cores may also hold relevant translations; this is the reason for translation invalidation mechanisms often discussed as TLB shootdowns.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protection checks combine the requested operation with the applicable mapping permissions and architectural state.</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24.7 Memory protection — Deep Dive</a:t>
            </a:r>
          </a:p>
          <a:p/>
          <a:p>
            <a:r>
              <a:t>LECTURE NARRATION</a:t>
            </a:r>
          </a:p>
          <a:p>
            <a:r>
              <a:t>Protection checks combine the requested operation with the applicable mapping permissions and architectural state. Reading data, writing data, and fetching instructions are not necessarily governed by identical permissions. Non-executable mappings help separate data storage from executable code. Changing a page-table entry is not enough when processors retain cached translations based on the old state. The system must perform the required invalidation and coordination. On a multicore system, other cores may also hold relevant translations; this is the reason for translation invalidation mechanisms often discussed as TLB shootdowns.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protection checks combine the requested operation with the applicable mapping permissions and architectural state.</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Worked example — A two-level address decomposition</a:t>
            </a:r>
          </a:p>
          <a:p/>
          <a:p>
            <a:r>
              <a:t>LECTURE NARRATION</a:t>
            </a:r>
          </a:p>
          <a:p>
            <a:r>
              <a:t>Use a 16-bit teaching address space with 256-byte pages and two levels of 16-entry tables. The address fields are: Address 0xABCD yields outer index 0xA , inner index 0xB , and offset 0xCD . Suppose outer entry A points to a valid inner table and inner entry B maps frame 0x34 . The translated address is 0x34CD in a physical model that supports that frame number. Now add permissions. The outer entry allows user reads and writes, but the inner entry allows only user reads. A user load succeeds; a user store fails. For this model, effective permissions are the intersection of the permissions along the path. Giving the outer entry more authority cannot override a restrictive leaf entry. A flat table for all 256 virtual pages needs 256 entries. The two-level arrangement needs one 16-entry outer table plus 16 entries for each allocated inner table. With only one populated inner table, it uses 32 entries; with all 16 inner tables allocated, it uses 272 entries. Hierarchy saves space for sparse mappings but is not automatically smaller for a fully populated tiny address space.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Worked example — A two-level address decomposition — Deep Dive</a:t>
            </a:r>
          </a:p>
          <a:p/>
          <a:p>
            <a:r>
              <a:t>LECTURE NARRATION</a:t>
            </a:r>
          </a:p>
          <a:p>
            <a:r>
              <a:t>Use a 16-bit teaching address space with 256-byte pages and two levels of 16-entry tables. The address fields are: Address 0xABCD yields outer index 0xA , inner index 0xB , and offset 0xCD . Suppose outer entry A points to a valid inner table and inner entry B maps frame 0x34 . The translated address is 0x34CD in a physical model that supports that frame number. Now add permissions. The outer entry allows user reads and writes, but the inner entry allows only user reads. A user load succeeds; a user store fails. For this model, effective permissions are the intersection of the permissions along the path. Giving the outer entry more authority cannot override a restrictive leaf entry. A flat table for all 256 virtual pages needs 256 entries. The two-level arrangement needs one 16-entry outer table plus 16 entries for each allocated inner table. With only one populated inner table, it uses 32 entries; with all 16 inner tables allocated, it uses 272 entries. Hierarchy saves space for sparse mappings but is not automatically smaller for a fully populated tiny address space.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Worked example — Walking a two-level table</a:t>
            </a:r>
          </a:p>
          <a:p/>
          <a:p>
            <a:r>
              <a:t>LECTURE NARRATION</a:t>
            </a:r>
          </a:p>
          <a:p>
            <a:r>
              <a:t>Suppose a simplified address uses 10 bits for level-1 index, 10 for level-2 index, and 12 offset bits. The hardware extracts the top index to locate a level-2 table, then uses the second index to locate the final PTE. If the present and permission bits allow the access, the physical frame number from the PTE is concatenated with the original 12-bit offset.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suppose a simplified address uses 10 bits for level-1 index, 10 for level-2 index, and 12 offset bits.</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Worked example — Walking a two-level table — Deep Dive</a:t>
            </a:r>
          </a:p>
          <a:p/>
          <a:p>
            <a:r>
              <a:t>LECTURE NARRATION</a:t>
            </a:r>
          </a:p>
          <a:p>
            <a:r>
              <a:t>Suppose a simplified address uses 10 bits for level-1 index, 10 for level-2 index, and 12 offset bits. The hardware extracts the top index to locate a level-2 table, then uses the second index to locate the final PTE. If the present and permission bits allow the access, the physical frame number from the PTE is concatenated with the original 12-bit offset.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suppose a simplified address uses 10 bits for level-1 index, 10 for level-2 index, and 12 offset bits.</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Worked example — Permission check on a write</a:t>
            </a:r>
          </a:p>
          <a:p/>
          <a:p>
            <a:r>
              <a:t>LECTURE NARRATION</a:t>
            </a:r>
          </a:p>
          <a:p>
            <a:r>
              <a:t>A valid PTE can still reject an access. If the page is present and user-accessible but its writable bit is clear, a user-mode store raises a protection fault. A load from the same page may succeed. Presence and permission are separate dimensions of the mapping.</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valid PTE can still reject an access.</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Worked example — Permission check on a write — Deep Dive</a:t>
            </a:r>
          </a:p>
          <a:p/>
          <a:p>
            <a:r>
              <a:t>LECTURE NARRATION</a:t>
            </a:r>
          </a:p>
          <a:p>
            <a:r>
              <a:t>A valid PTE can still reject an access. If the page is present and user-accessible but its writable bit is clear, a user-mode store raises a protection fault. A load from the same page may succeed. Presence and permission are separate dimensions of the mapping.</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valid PTE can still reject an access.</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Guided lab and review</a:t>
            </a:r>
          </a:p>
          <a:p/>
          <a:p>
            <a:r>
              <a:t>LECTURE NARRATION</a:t>
            </a:r>
          </a:p>
          <a:p>
            <a:r>
              <a:t>Lab 24. Translate 0x27F0 in the teaching model when outer entry 2 selects a table whose entry 7 maps frame 0x19 . Calculate table-entry storage for three allocated inner tables. Review 1. Why can a permission change require work on other cores? Review 2. Does an absent entry identify the backing-storage policy by itself?</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24.</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Guided lab and review — Deep Dive</a:t>
            </a:r>
          </a:p>
          <a:p/>
          <a:p>
            <a:r>
              <a:t>LECTURE NARRATION</a:t>
            </a:r>
          </a:p>
          <a:p>
            <a:r>
              <a:t>Lab 24. Translate 0x27F0 in the teaching model when outer entry 2 selects a table whose entry 7 maps frame 0x19 . Calculate table-entry storage for three allocated inner tables. Review 1. Why can a permission change require work on other cores? Review 2. Does an absent entry identify the backing-storage policy by itself?</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24.</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Chapter Synthesis</a:t>
            </a:r>
          </a:p>
          <a:p/>
          <a:p>
            <a:r>
              <a:t>LECTURE NARRATION</a:t>
            </a:r>
          </a:p>
          <a:p>
            <a:r>
              <a:t>The chapter's central subject is page tables.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page tables.</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Translation Hardware.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24 — Page Tables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page table describes mappings and their permissions.</a:t>
            </a:r>
          </a:p>
          <a:p>
            <a:pPr>
              <a:spcAft>
                <a:spcPts val="1100"/>
              </a:spcAft>
              <a:defRPr sz="1700">
                <a:solidFill>
                  <a:srgbClr val="F2F5F8"/>
                </a:solidFill>
              </a:defRPr>
            </a:pPr>
            <a:r>
              <a:t>• Large address spaces make a single fully populated flat table expensive, so many architectures use a hierarchy in which intermediate entries point to lower-level tables.</a:t>
            </a:r>
          </a:p>
          <a:p>
            <a:pPr>
              <a:spcAft>
                <a:spcPts val="1100"/>
              </a:spcAft>
              <a:defRPr sz="1900">
                <a:solidFill>
                  <a:srgbClr val="F2F5F8"/>
                </a:solidFill>
              </a:defRPr>
            </a:pPr>
            <a:r>
              <a:t>• Unused regions can then avoid allocating all possible lower-level structures. [ R3 , R10 ]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24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Page Tables.</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24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24.1 Page-table entries</a:t>
            </a:r>
          </a:p>
          <a:p>
            <a:pPr>
              <a:spcAft>
                <a:spcPts val="1100"/>
              </a:spcAft>
              <a:defRPr sz="1900">
                <a:solidFill>
                  <a:srgbClr val="F2F5F8"/>
                </a:solidFill>
              </a:defRPr>
            </a:pPr>
            <a:r>
              <a:t>• 24.2 Present bit</a:t>
            </a:r>
          </a:p>
          <a:p>
            <a:pPr>
              <a:spcAft>
                <a:spcPts val="1100"/>
              </a:spcAft>
              <a:defRPr sz="1900">
                <a:solidFill>
                  <a:srgbClr val="F2F5F8"/>
                </a:solidFill>
              </a:defRPr>
            </a:pPr>
            <a:r>
              <a:t>• 24.3 Writable bit</a:t>
            </a:r>
          </a:p>
          <a:p>
            <a:pPr>
              <a:spcAft>
                <a:spcPts val="1100"/>
              </a:spcAft>
              <a:defRPr sz="1900">
                <a:solidFill>
                  <a:srgbClr val="F2F5F8"/>
                </a:solidFill>
              </a:defRPr>
            </a:pPr>
            <a:r>
              <a:t>• 24.4 User-accessible bit</a:t>
            </a:r>
          </a:p>
          <a:p>
            <a:pPr>
              <a:spcAft>
                <a:spcPts val="1100"/>
              </a:spcAft>
              <a:defRPr sz="1900">
                <a:solidFill>
                  <a:srgbClr val="F2F5F8"/>
                </a:solidFill>
              </a:defRPr>
            </a:pPr>
            <a:r>
              <a:t>• ...plus 7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24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24.1 Page-table entries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page-table entry encodes mapping information and control bits.</a:t>
            </a:r>
          </a:p>
          <a:p>
            <a:pPr>
              <a:spcAft>
                <a:spcPts val="1100"/>
              </a:spcAft>
              <a:defRPr sz="1900">
                <a:solidFill>
                  <a:srgbClr val="F2F5F8"/>
                </a:solidFill>
              </a:defRPr>
            </a:pPr>
            <a:r>
              <a:t>• Depending on its level and configuration, it can point to another table or describe a mapped page.</a:t>
            </a:r>
          </a:p>
          <a:p>
            <a:pPr>
              <a:spcAft>
                <a:spcPts val="1100"/>
              </a:spcAft>
              <a:defRPr sz="1700">
                <a:solidFill>
                  <a:srgbClr val="F2F5F8"/>
                </a:solidFill>
              </a:defRPr>
            </a:pPr>
            <a:r>
              <a:t>• It may include a physical address, presence information, access permissions, and status used by memory-management policy.</a:t>
            </a:r>
          </a:p>
          <a:p>
            <a:pPr>
              <a:spcAft>
                <a:spcPts val="1100"/>
              </a:spcAft>
              <a:defRPr sz="1900">
                <a:solidFill>
                  <a:srgbClr val="F2F5F8"/>
                </a:solidFill>
              </a:defRPr>
            </a:pPr>
            <a:r>
              <a:t>• An entry is not a portable C structure whose bit layout can be guessed from a diagram for another architecture.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24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24.1 Page-table entries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An entry is not a portable C structure whose bit layout can be guessed from a diagram for another architecture.</a:t>
            </a:r>
          </a:p>
          <a:p>
            <a:pPr>
              <a:spcAft>
                <a:spcPts val="1100"/>
              </a:spcAft>
              <a:defRPr sz="1900">
                <a:solidFill>
                  <a:srgbClr val="F2F5F8"/>
                </a:solidFill>
              </a:defRPr>
            </a:pPr>
            <a:r>
              <a:t>• Kernel code must follow the architecture’s encoding and required update procedures.</a:t>
            </a:r>
          </a:p>
          <a:p>
            <a:pPr>
              <a:spcAft>
                <a:spcPts val="1100"/>
              </a:spcAft>
              <a:defRPr sz="1700">
                <a:solidFill>
                  <a:srgbClr val="F2F5F8"/>
                </a:solidFill>
              </a:defRPr>
            </a:pPr>
            <a:r>
              <a:t>• Ordinary user programs should reason about the behavior exposed by mapping APIs instead of attempting to manipulate active page tables.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24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24.2 Present bit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present indicator tells hardware whether an entry is valid for the corresponding translation step.</a:t>
            </a:r>
          </a:p>
          <a:p>
            <a:pPr>
              <a:spcAft>
                <a:spcPts val="1100"/>
              </a:spcAft>
              <a:defRPr sz="1900">
                <a:solidFill>
                  <a:srgbClr val="F2F5F8"/>
                </a:solidFill>
              </a:defRPr>
            </a:pPr>
            <a:r>
              <a:t>• An absent entry can cause a page fault.</a:t>
            </a:r>
          </a:p>
          <a:p>
            <a:pPr>
              <a:spcAft>
                <a:spcPts val="1100"/>
              </a:spcAft>
              <a:defRPr sz="1700">
                <a:solidFill>
                  <a:srgbClr val="F2F5F8"/>
                </a:solidFill>
              </a:defRPr>
            </a:pPr>
            <a:r>
              <a:t>• The kernel may use nonpresent encodings and its own metadata to remember whether the region is demand-paged, swapped, invalid, or associated with another policy.</a:t>
            </a:r>
          </a:p>
          <a:p>
            <a:pPr>
              <a:spcAft>
                <a:spcPts val="1100"/>
              </a:spcAft>
              <a:defRPr sz="1700">
                <a:solidFill>
                  <a:srgbClr val="F2F5F8"/>
                </a:solidFill>
              </a:defRPr>
            </a:pPr>
            <a:r>
              <a:t>• Therefore, “not present” does not automatically mean “read this page from disk.” The handler must first establish that the access is legitimate.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24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24.2 Present bit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Therefore, “not present” does not automatically mean “read this page from disk.” The handler must first establish that the access is legitimate.</a:t>
            </a:r>
          </a:p>
          <a:p>
            <a:pPr>
              <a:spcAft>
                <a:spcPts val="1100"/>
              </a:spcAft>
              <a:defRPr sz="1900">
                <a:solidFill>
                  <a:srgbClr val="F2F5F8"/>
                </a:solidFill>
              </a:defRPr>
            </a:pPr>
            <a:r>
              <a:t>• A zero-filled anonymous page may require no file read at all.</a:t>
            </a:r>
          </a:p>
          <a:p>
            <a:pPr>
              <a:spcAft>
                <a:spcPts val="1100"/>
              </a:spcAft>
              <a:defRPr sz="1900">
                <a:solidFill>
                  <a:srgbClr val="F2F5F8"/>
                </a:solidFill>
              </a:defRPr>
            </a:pPr>
            <a:r>
              <a:t>• A completely invalid address must not be repaired by granting access merely because a fault occurred.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24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24.3 Writable bit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writable permission controls whether stores are allowed under the architecture’s access rules.</a:t>
            </a:r>
          </a:p>
          <a:p>
            <a:pPr>
              <a:spcAft>
                <a:spcPts val="1100"/>
              </a:spcAft>
              <a:defRPr sz="1900">
                <a:solidFill>
                  <a:srgbClr val="F2F5F8"/>
                </a:solidFill>
              </a:defRPr>
            </a:pPr>
            <a:r>
              <a:t>• A mapping can be readable without being writable.</a:t>
            </a:r>
          </a:p>
          <a:p>
            <a:pPr>
              <a:spcAft>
                <a:spcPts val="1100"/>
              </a:spcAft>
              <a:defRPr sz="1700">
                <a:solidFill>
                  <a:srgbClr val="F2F5F8"/>
                </a:solidFill>
              </a:defRPr>
            </a:pPr>
            <a:r>
              <a:t>• Copy-on-write commonly uses a temporarily nonwritable hardware mapping for a region that is logically permitted to become privately writable after a fault.</a:t>
            </a:r>
          </a:p>
          <a:p>
            <a:pPr>
              <a:spcAft>
                <a:spcPts val="1100"/>
              </a:spcAft>
              <a:defRPr sz="1900">
                <a:solidFill>
                  <a:srgbClr val="F2F5F8"/>
                </a:solidFill>
              </a:defRPr>
            </a:pPr>
            <a:r>
              <a:t>• Permission interpretation can involve multiple levels and processor controls.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24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24.3 Writable bit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Permission interpretation can involve multiple levels and processor controls.</a:t>
            </a:r>
          </a:p>
          <a:p>
            <a:pPr>
              <a:spcAft>
                <a:spcPts val="1100"/>
              </a:spcAft>
              <a:defRPr sz="1900">
                <a:solidFill>
                  <a:srgbClr val="F2F5F8"/>
                </a:solidFill>
              </a:defRPr>
            </a:pPr>
            <a:r>
              <a:t>• It is unsafe to inspect only one leaf bit and conclude that an access must succeed.</a:t>
            </a:r>
          </a:p>
          <a:p>
            <a:pPr>
              <a:spcAft>
                <a:spcPts val="1100"/>
              </a:spcAft>
              <a:defRPr sz="1900">
                <a:solidFill>
                  <a:srgbClr val="F2F5F8"/>
                </a:solidFill>
              </a:defRPr>
            </a:pPr>
            <a:r>
              <a:t>• The complete translation and protection state determines the result.</a:t>
            </a:r>
          </a:p>
          <a:p>
            <a:pPr>
              <a:spcAft>
                <a:spcPts val="1100"/>
              </a:spcAft>
              <a:defRPr sz="1900">
                <a:solidFill>
                  <a:srgbClr val="F2F5F8"/>
                </a:solidFill>
              </a:defRPr>
            </a:pPr>
            <a:r>
              <a:t>• This chapter’s exercises state a simplified combined-permission rule explicitly.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24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24.4 User-accessible bit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user/supervisor permission distinguishes mappings accessible to user-mode code from mappings reserved for privileged access.</a:t>
            </a:r>
          </a:p>
          <a:p>
            <a:pPr>
              <a:spcAft>
                <a:spcPts val="1100"/>
              </a:spcAft>
              <a:defRPr sz="1700">
                <a:solidFill>
                  <a:srgbClr val="F2F5F8"/>
                </a:solidFill>
              </a:defRPr>
            </a:pPr>
            <a:r>
              <a:t>• It helps prevent an application from treating kernel data as ordinary user memory even when some related address range exists in the broader translation structure.</a:t>
            </a:r>
          </a:p>
          <a:p>
            <a:pPr>
              <a:spcAft>
                <a:spcPts val="1100"/>
              </a:spcAft>
              <a:defRPr sz="1900">
                <a:solidFill>
                  <a:srgbClr val="F2F5F8"/>
                </a:solidFill>
              </a:defRPr>
            </a:pPr>
            <a:r>
              <a:t>• This hardware distinction does not replace file permissions, process credentials, or application authorization.</a:t>
            </a:r>
          </a:p>
          <a:p>
            <a:pPr>
              <a:spcAft>
                <a:spcPts val="1100"/>
              </a:spcAft>
              <a:defRPr sz="1900">
                <a:solidFill>
                  <a:srgbClr val="F2F5F8"/>
                </a:solidFill>
              </a:defRPr>
            </a:pPr>
            <a:r>
              <a:t>• A user-accessible buffer may still contain data that an application should not disclose to a particular network client.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24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24.4 User-accessible bit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This hardware distinction does not replace file permissions, process credentials, or application authorization.</a:t>
            </a:r>
          </a:p>
          <a:p>
            <a:pPr>
              <a:spcAft>
                <a:spcPts val="1100"/>
              </a:spcAft>
              <a:defRPr sz="1900">
                <a:solidFill>
                  <a:srgbClr val="F2F5F8"/>
                </a:solidFill>
              </a:defRPr>
            </a:pPr>
            <a:r>
              <a:t>• A user-accessible buffer may still contain data that an application should not disclose to a particular network client.</a:t>
            </a:r>
          </a:p>
          <a:p>
            <a:pPr>
              <a:spcAft>
                <a:spcPts val="1100"/>
              </a:spcAft>
              <a:defRPr sz="1900">
                <a:solidFill>
                  <a:srgbClr val="F2F5F8"/>
                </a:solidFill>
              </a:defRPr>
            </a:pPr>
            <a:r>
              <a:t>• Memory-access enforcement and application-level information policy operate at different layers.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24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24.5 Multilevel page tables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multilevel design divides the virtual page number into several indexes.</a:t>
            </a:r>
          </a:p>
          <a:p>
            <a:pPr>
              <a:spcAft>
                <a:spcPts val="1100"/>
              </a:spcAft>
              <a:defRPr sz="1900">
                <a:solidFill>
                  <a:srgbClr val="F2F5F8"/>
                </a:solidFill>
              </a:defRPr>
            </a:pPr>
            <a:r>
              <a:t>• Each index selects an entry in the current table; that entry leads to the next level until a mapping is found.</a:t>
            </a:r>
          </a:p>
          <a:p>
            <a:pPr>
              <a:spcAft>
                <a:spcPts val="1100"/>
              </a:spcAft>
              <a:defRPr sz="1900">
                <a:solidFill>
                  <a:srgbClr val="F2F5F8"/>
                </a:solidFill>
              </a:defRPr>
            </a:pPr>
            <a:r>
              <a:t>• Large-page entries can terminate a walk earlier when the architecture supports them.</a:t>
            </a:r>
          </a:p>
          <a:p>
            <a:pPr>
              <a:spcAft>
                <a:spcPts val="1100"/>
              </a:spcAft>
              <a:defRPr sz="1700">
                <a:solidFill>
                  <a:srgbClr val="F2F5F8"/>
                </a:solidFill>
              </a:defRPr>
            </a:pPr>
            <a:r>
              <a:t>• A familiar x86-64 example uses four levels with 9 index bits per level and a 12-bit offset, describing a 48-bit virtual-address organization subject to canonical-address rules.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24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24.5 Multilevel page tables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familiar x86-64 example uses four levels with 9 index bits per level and a 12-bit offset, describing a 48-bit virtual-address organization subject to canonical-address...</a:t>
            </a:r>
          </a:p>
          <a:p>
            <a:pPr>
              <a:spcAft>
                <a:spcPts val="1100"/>
              </a:spcAft>
              <a:defRPr sz="1900">
                <a:solidFill>
                  <a:srgbClr val="F2F5F8"/>
                </a:solidFill>
              </a:defRPr>
            </a:pPr>
            <a:r>
              <a:t>• Other configurations can add a fifth level and expand the address width.</a:t>
            </a:r>
          </a:p>
          <a:p>
            <a:pPr>
              <a:spcAft>
                <a:spcPts val="1100"/>
              </a:spcAft>
              <a:defRPr sz="1900">
                <a:solidFill>
                  <a:srgbClr val="F2F5F8"/>
                </a:solidFill>
              </a:defRPr>
            </a:pPr>
            <a:r>
              <a:t>• The exact layout is a platform fact, not a consequence of the C++ pointer type alone. [ R3 , R10 ]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24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24.6 Page-table walks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page-table walk follows the hierarchy to resolve a translation.</a:t>
            </a:r>
          </a:p>
          <a:p>
            <a:pPr>
              <a:spcAft>
                <a:spcPts val="1100"/>
              </a:spcAft>
              <a:defRPr sz="1900">
                <a:solidFill>
                  <a:srgbClr val="F2F5F8"/>
                </a:solidFill>
              </a:defRPr>
            </a:pPr>
            <a:r>
              <a:t>• Hardware performs walks on the reference architecture, potentially using internal caches for table information.</a:t>
            </a:r>
          </a:p>
          <a:p>
            <a:pPr>
              <a:spcAft>
                <a:spcPts val="1100"/>
              </a:spcAft>
              <a:defRPr sz="1700">
                <a:solidFill>
                  <a:srgbClr val="F2F5F8"/>
                </a:solidFill>
              </a:defRPr>
            </a:pPr>
            <a:r>
              <a:t>• The naive count of one ordinary memory access per level is a useful upper-level teaching model but not a complete performance prediction.</a:t>
            </a:r>
          </a:p>
          <a:p>
            <a:pPr>
              <a:spcAft>
                <a:spcPts val="1100"/>
              </a:spcAft>
              <a:defRPr sz="1900">
                <a:solidFill>
                  <a:srgbClr val="F2F5F8"/>
                </a:solidFill>
              </a:defRPr>
            </a:pPr>
            <a:r>
              <a:t>• A walk can stop because it finds a valid leaf mapping, encounters an absent entry, or detects a protection problem.</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24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24.6 Page-table walks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walk can stop because it finds a valid leaf mapping, encounters an absent entry, or detects a protection problem.</a:t>
            </a:r>
          </a:p>
          <a:p>
            <a:pPr>
              <a:spcAft>
                <a:spcPts val="1100"/>
              </a:spcAft>
              <a:defRPr sz="1700">
                <a:solidFill>
                  <a:srgbClr val="F2F5F8"/>
                </a:solidFill>
              </a:defRPr>
            </a:pPr>
            <a:r>
              <a:t>• Once a translation is cached in a TLB, later accesses can avoid repeating the full walk until the entry is evicted or invalidated.</a:t>
            </a:r>
          </a:p>
          <a:p>
            <a:pPr>
              <a:spcAft>
                <a:spcPts val="1100"/>
              </a:spcAft>
              <a:defRPr sz="1900">
                <a:solidFill>
                  <a:srgbClr val="F2F5F8"/>
                </a:solidFill>
              </a:defRPr>
            </a:pPr>
            <a:r>
              <a:t>• The next chapter separates translation caching from data caching.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24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24.7 Memory protection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Protection checks combine the requested operation with the applicable mapping permissions and architectural state.</a:t>
            </a:r>
          </a:p>
          <a:p>
            <a:pPr>
              <a:spcAft>
                <a:spcPts val="1100"/>
              </a:spcAft>
              <a:defRPr sz="1900">
                <a:solidFill>
                  <a:srgbClr val="F2F5F8"/>
                </a:solidFill>
              </a:defRPr>
            </a:pPr>
            <a:r>
              <a:t>• Reading data, writing data, and fetching instructions are not necessarily governed by identical permissions.</a:t>
            </a:r>
          </a:p>
          <a:p>
            <a:pPr>
              <a:spcAft>
                <a:spcPts val="1100"/>
              </a:spcAft>
              <a:defRPr sz="1900">
                <a:solidFill>
                  <a:srgbClr val="F2F5F8"/>
                </a:solidFill>
              </a:defRPr>
            </a:pPr>
            <a:r>
              <a:t>• Non-executable mappings help separate data storage from executable code.</a:t>
            </a:r>
          </a:p>
          <a:p>
            <a:pPr>
              <a:spcAft>
                <a:spcPts val="1100"/>
              </a:spcAft>
              <a:defRPr sz="1900">
                <a:solidFill>
                  <a:srgbClr val="F2F5F8"/>
                </a:solidFill>
              </a:defRPr>
            </a:pPr>
            <a:r>
              <a:t>• Changing a page-table entry is not enough when processors retain cached translations based on the old state.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24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24.7 Memory protection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Changing a page-table entry is not enough when processors retain cached translations based on the old state.</a:t>
            </a:r>
          </a:p>
          <a:p>
            <a:pPr>
              <a:spcAft>
                <a:spcPts val="1100"/>
              </a:spcAft>
              <a:defRPr sz="1900">
                <a:solidFill>
                  <a:srgbClr val="F2F5F8"/>
                </a:solidFill>
              </a:defRPr>
            </a:pPr>
            <a:r>
              <a:t>• The system must perform the required invalidation and coordination.</a:t>
            </a:r>
          </a:p>
          <a:p>
            <a:pPr>
              <a:spcAft>
                <a:spcPts val="1100"/>
              </a:spcAft>
              <a:defRPr sz="1700">
                <a:solidFill>
                  <a:srgbClr val="F2F5F8"/>
                </a:solidFill>
              </a:defRPr>
            </a:pPr>
            <a:r>
              <a:t>• On a multicore system, other cores may also hold relevant translations; this is the reason for translation invalidation mechanisms often discussed as TLB shootdowns.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24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A two-level address decomposition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Use a 16-bit teaching address space with 256-byte pages and two levels of 16-entry tables.</a:t>
            </a:r>
          </a:p>
          <a:p>
            <a:pPr>
              <a:spcAft>
                <a:spcPts val="1100"/>
              </a:spcAft>
              <a:defRPr sz="1900">
                <a:solidFill>
                  <a:srgbClr val="F2F5F8"/>
                </a:solidFill>
              </a:defRPr>
            </a:pPr>
            <a:r>
              <a:t>• The address fields are:</a:t>
            </a:r>
          </a:p>
          <a:p>
            <a:pPr>
              <a:spcAft>
                <a:spcPts val="1100"/>
              </a:spcAft>
              <a:defRPr sz="1900">
                <a:solidFill>
                  <a:srgbClr val="F2F5F8"/>
                </a:solidFill>
              </a:defRPr>
            </a:pPr>
            <a:r>
              <a:t>• Address 0xABCD yields outer index 0xA , inner index 0xB , and offset 0xCD .</a:t>
            </a:r>
          </a:p>
          <a:p>
            <a:pPr>
              <a:spcAft>
                <a:spcPts val="1100"/>
              </a:spcAft>
              <a:defRPr sz="1900">
                <a:solidFill>
                  <a:srgbClr val="F2F5F8"/>
                </a:solidFill>
              </a:defRPr>
            </a:pPr>
            <a:r>
              <a:t>• Suppose outer entry A points to a valid inner table and inner entry B maps frame 0x34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24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A two-level address decomposition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Address 0xABCD yields outer index 0xA , inner index 0xB , and offset 0xCD .</a:t>
            </a:r>
          </a:p>
          <a:p>
            <a:pPr>
              <a:spcAft>
                <a:spcPts val="1100"/>
              </a:spcAft>
              <a:defRPr sz="1900">
                <a:solidFill>
                  <a:srgbClr val="F2F5F8"/>
                </a:solidFill>
              </a:defRPr>
            </a:pPr>
            <a:r>
              <a:t>• Suppose outer entry A points to a valid inner table and inner entry B maps frame 0x34 .</a:t>
            </a:r>
          </a:p>
          <a:p>
            <a:pPr>
              <a:spcAft>
                <a:spcPts val="1100"/>
              </a:spcAft>
              <a:defRPr sz="1900">
                <a:solidFill>
                  <a:srgbClr val="F2F5F8"/>
                </a:solidFill>
              </a:defRPr>
            </a:pPr>
            <a:r>
              <a:t>• The translated address is 0x34CD in a physical model that supports that frame number.</a:t>
            </a:r>
          </a:p>
          <a:p>
            <a:pPr>
              <a:spcAft>
                <a:spcPts val="1100"/>
              </a:spcAft>
              <a:defRPr sz="1900">
                <a:solidFill>
                  <a:srgbClr val="F2F5F8"/>
                </a:solidFill>
              </a:defRPr>
            </a:pPr>
            <a:r>
              <a:t>• Now add permissions.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24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Walking a two-level table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Suppose a simplified address uses 10 bits for level-1 index, 10 for level-2 index, and 12 offset bits.</a:t>
            </a:r>
          </a:p>
          <a:p>
            <a:pPr>
              <a:spcAft>
                <a:spcPts val="1100"/>
              </a:spcAft>
              <a:defRPr sz="1900">
                <a:solidFill>
                  <a:srgbClr val="F2F5F8"/>
                </a:solidFill>
              </a:defRPr>
            </a:pPr>
            <a:r>
              <a:t>• The hardware extracts the top index to locate a level-2 table, then uses the second index to locate the final PTE.</a:t>
            </a:r>
          </a:p>
          <a:p>
            <a:pPr>
              <a:spcAft>
                <a:spcPts val="1100"/>
              </a:spcAft>
              <a:defRPr sz="1700">
                <a:solidFill>
                  <a:srgbClr val="F2F5F8"/>
                </a:solidFill>
              </a:defRPr>
            </a:pPr>
            <a:r>
              <a:t>• If the present and permission bits allow the access, the physical frame number from the PTE is concatenated with the original 12-bit offset.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24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Walking a two-level table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Suppose a simplified address uses 10 bits for level-1 index, 10 for level-2 index, and 12 offset bits.</a:t>
            </a:r>
          </a:p>
          <a:p>
            <a:pPr>
              <a:spcAft>
                <a:spcPts val="1100"/>
              </a:spcAft>
              <a:defRPr sz="1900">
                <a:solidFill>
                  <a:srgbClr val="F2F5F8"/>
                </a:solidFill>
              </a:defRPr>
            </a:pPr>
            <a:r>
              <a:t>• The hardware extracts the top index to locate a level-2 table, then uses the second index to locate the final PTE.</a:t>
            </a:r>
          </a:p>
          <a:p>
            <a:pPr>
              <a:spcAft>
                <a:spcPts val="1100"/>
              </a:spcAft>
              <a:defRPr sz="1700">
                <a:solidFill>
                  <a:srgbClr val="F2F5F8"/>
                </a:solidFill>
              </a:defRPr>
            </a:pPr>
            <a:r>
              <a:t>• If the present and permission bits allow the access, the physical frame number from the PTE is concatenated with the original 12-bit offset.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24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Permission check on a write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valid PTE can still reject an access.</a:t>
            </a:r>
          </a:p>
          <a:p>
            <a:pPr>
              <a:spcAft>
                <a:spcPts val="1100"/>
              </a:spcAft>
              <a:defRPr sz="1900">
                <a:solidFill>
                  <a:srgbClr val="F2F5F8"/>
                </a:solidFill>
              </a:defRPr>
            </a:pPr>
            <a:r>
              <a:t>• If the page is present and user-accessible but its writable bit is clear, a user-mode store raises a protection fault.</a:t>
            </a:r>
          </a:p>
          <a:p>
            <a:pPr>
              <a:spcAft>
                <a:spcPts val="1100"/>
              </a:spcAft>
              <a:defRPr sz="1900">
                <a:solidFill>
                  <a:srgbClr val="F2F5F8"/>
                </a:solidFill>
              </a:defRPr>
            </a:pPr>
            <a:r>
              <a:t>• A load from the same page may succeed.</a:t>
            </a:r>
          </a:p>
          <a:p>
            <a:pPr>
              <a:spcAft>
                <a:spcPts val="1100"/>
              </a:spcAft>
              <a:defRPr sz="1900">
                <a:solidFill>
                  <a:srgbClr val="F2F5F8"/>
                </a:solidFill>
              </a:defRPr>
            </a:pPr>
            <a:r>
              <a:t>• Presence and permission are separate dimensions of the mapping.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24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Permission check on a write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valid PTE can still reject an access.</a:t>
            </a:r>
          </a:p>
          <a:p>
            <a:pPr>
              <a:spcAft>
                <a:spcPts val="1100"/>
              </a:spcAft>
              <a:defRPr sz="1900">
                <a:solidFill>
                  <a:srgbClr val="F2F5F8"/>
                </a:solidFill>
              </a:defRPr>
            </a:pPr>
            <a:r>
              <a:t>• If the page is present and user-accessible but its writable bit is clear, a user-mode store raises a protection fault.</a:t>
            </a:r>
          </a:p>
          <a:p>
            <a:pPr>
              <a:spcAft>
                <a:spcPts val="1100"/>
              </a:spcAft>
              <a:defRPr sz="1900">
                <a:solidFill>
                  <a:srgbClr val="F2F5F8"/>
                </a:solidFill>
              </a:defRPr>
            </a:pPr>
            <a:r>
              <a:t>• A load from the same page may succeed.</a:t>
            </a:r>
          </a:p>
          <a:p>
            <a:pPr>
              <a:spcAft>
                <a:spcPts val="1100"/>
              </a:spcAft>
              <a:defRPr sz="1900">
                <a:solidFill>
                  <a:srgbClr val="F2F5F8"/>
                </a:solidFill>
              </a:defRPr>
            </a:pPr>
            <a:r>
              <a:t>• Presence and permission are separate dimensions of the mapping.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24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24.</a:t>
            </a:r>
          </a:p>
          <a:p>
            <a:pPr>
              <a:spcAft>
                <a:spcPts val="1100"/>
              </a:spcAft>
              <a:defRPr sz="1900">
                <a:solidFill>
                  <a:srgbClr val="F2F5F8"/>
                </a:solidFill>
              </a:defRPr>
            </a:pPr>
            <a:r>
              <a:t>• Translate 0x27F0 in the teaching model when outer entry 2 selects a table whose entry 7 maps frame 0x19 .</a:t>
            </a:r>
          </a:p>
          <a:p>
            <a:pPr>
              <a:spcAft>
                <a:spcPts val="1100"/>
              </a:spcAft>
              <a:defRPr sz="1900">
                <a:solidFill>
                  <a:srgbClr val="F2F5F8"/>
                </a:solidFill>
              </a:defRPr>
            </a:pPr>
            <a:r>
              <a:t>• Calculate table-entry storage for three allocated inner tables.</a:t>
            </a:r>
          </a:p>
          <a:p>
            <a:pPr>
              <a:spcAft>
                <a:spcPts val="1100"/>
              </a:spcAft>
              <a:defRPr sz="1900">
                <a:solidFill>
                  <a:srgbClr val="F2F5F8"/>
                </a:solidFill>
              </a:defRPr>
            </a:pPr>
            <a:r>
              <a:t>• Review 1.</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24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Why can a permission change require work on other cores?</a:t>
            </a:r>
          </a:p>
          <a:p>
            <a:pPr>
              <a:spcAft>
                <a:spcPts val="1100"/>
              </a:spcAft>
              <a:defRPr sz="1900">
                <a:solidFill>
                  <a:srgbClr val="F2F5F8"/>
                </a:solidFill>
              </a:defRPr>
            </a:pPr>
            <a:r>
              <a:t>• Review 2.</a:t>
            </a:r>
          </a:p>
          <a:p>
            <a:pPr>
              <a:spcAft>
                <a:spcPts val="1100"/>
              </a:spcAft>
              <a:defRPr sz="1900">
                <a:solidFill>
                  <a:srgbClr val="F2F5F8"/>
                </a:solidFill>
              </a:defRPr>
            </a:pPr>
            <a:r>
              <a:t>• Does an absent entry identify the backing-storage policy by itself?</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24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page tables.</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24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Translation Hardware.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24     |     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