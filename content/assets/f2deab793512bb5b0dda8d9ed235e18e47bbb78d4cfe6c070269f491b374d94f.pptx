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36 — Memory-Mapped Files</a:t>
            </a:r>
          </a:p>
          <a:p/>
          <a:p>
            <a:r>
              <a:t>LECTURE NARRATION</a:t>
            </a:r>
          </a:p>
          <a:p>
            <a:r>
              <a:t>A memory mapping exposes a file region through virtual addresses. The program accesses bytes with ordinary loads and stores, while the kernel supplies backing pages and enforces mapping permissions. This can simplify random access, but it does not remove I/O, faults, concurrency, or lifetime concerns. [ R14 ]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memory mapping exposes a file region through virtual addresses.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memory mapping exposes a file region through virtual addresses. The program accesses bytes with ordinary loads and stores, while the kernel supplies backing pages and enforces mapping permissions. This can simplify random access, but it does not remove I/O, faults, concurrency, or lifetime concerns. [ R14 ]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memory mapping exposes a file region through virtual addresses.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36.1 mmap 36.2 Address mappings 36.3 File-backed pages 36.4 Page faults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36.1 mmap 36.2 Address mappings 36.3 File-backed pages 36.4 Page faults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36.1 mmap</a:t>
            </a:r>
          </a:p>
          <a:p/>
          <a:p>
            <a:r>
              <a:t>LECTURE NARRATION</a:t>
            </a:r>
          </a:p>
          <a:p>
            <a:r>
              <a:t>mmap requests a mapping with a length, protection flags, sharing mode, descriptor, and offset. Failure is reported as MAP_FAILED , not as a null pointer. A zero-length mapping is not a valid substitute for handling an empty file. The offset must satisfy the platform’s alignment requirements, normally a multiple of the relevant page size. Mapping an arbitrary record offset often requires rounding the mapping base down to a page boundary and retaining an internal displacement, with overflow checks on the total mapped length.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mmap requests a mapping with a length, protection flags, sharing mode, descriptor, and offset.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36.1 mmap — Deep Dive</a:t>
            </a:r>
          </a:p>
          <a:p/>
          <a:p>
            <a:r>
              <a:t>LECTURE NARRATION</a:t>
            </a:r>
          </a:p>
          <a:p>
            <a:r>
              <a:t>mmap requests a mapping with a length, protection flags, sharing mode, descriptor, and offset. Failure is reported as MAP_FAILED , not as a null pointer. A zero-length mapping is not a valid substitute for handling an empty file. The offset must satisfy the platform’s alignment requirements, normally a multiple of the relevant page size. Mapping an arbitrary record offset often requires rounding the mapping base down to a page boundary and retaining an internal displacement, with overflow checks on the total mapped length.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mmap requests a mapping with a length, protection flags, sharing mode, descriptor, and offset.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36.2 Address mappings</a:t>
            </a:r>
          </a:p>
          <a:p/>
          <a:p>
            <a:r>
              <a:t>LECTURE NARRATION</a:t>
            </a:r>
          </a:p>
          <a:p>
            <a:r>
              <a:t>The returned address identifies the beginning of the mapping in the process’s virtual space. Its validity lasts until the mapping is removed or otherwise changed. Closing the original descriptor does not by itself remove an established mapping on Linux. Pointers into the region become invalid after munmap . A function borrowing the mapping must not retain those pointers beyond the owner’s lifetime. Mapping ownership deserves the same discipline as allocation ownership: one clear owner, explicit extent, and structured cleanup.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36.2 Address mappings — Deep Dive</a:t>
            </a:r>
          </a:p>
          <a:p/>
          <a:p>
            <a:r>
              <a:t>LECTURE NARRATION</a:t>
            </a:r>
          </a:p>
          <a:p>
            <a:r>
              <a:t>The returned address identifies the beginning of the mapping in the process’s virtual space. Its validity lasts until the mapping is removed or otherwise changed. Closing the original descriptor does not by itself remove an established mapping on Linux. Pointers into the region become invalid after munmap . A function borrowing the mapping must not retain those pointers beyond the owner’s lifetime. Mapping ownership deserves the same discipline as allocation ownership: one clear owner, explicit extent, and structured cleanup.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36.3 File-backed pages</a:t>
            </a:r>
          </a:p>
          <a:p/>
          <a:p>
            <a:r>
              <a:t>LECTURE NARRATION</a:t>
            </a:r>
          </a:p>
          <a:p>
            <a:r>
              <a:t>File-backed pages associate virtual regions with file contents. A shared writable mapping can propagate modifications to the underlying file according to synchronization and filesystem rules. A private mapping provides private modification semantics instead of updating the file with those writes. Mapping flags are not a complete interprocess synchronization protocol. Multiple writers need an agreed layout and synchronization mechanism. Data-race rules still apply to threads in one process, and process-shared synchronization requires facilities designed for that purpose.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36.3 File-backed pages — Deep Dive</a:t>
            </a:r>
          </a:p>
          <a:p/>
          <a:p>
            <a:r>
              <a:t>LECTURE NARRATION</a:t>
            </a:r>
          </a:p>
          <a:p>
            <a:r>
              <a:t>File-backed pages associate virtual regions with file contents. A shared writable mapping can propagate modifications to the underlying file according to synchronization and filesystem rules. A private mapping provides private modification semantics instead of updating the file with those writes. Mapping flags are not a complete interprocess synchronization protocol. Multiple writers need an agreed layout and synchronization mechanism. Data-race rules still apply to threads in one process, and process-shared synchronization requires facilities designed for that purpose.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36.4 Page faults</a:t>
            </a:r>
          </a:p>
          <a:p/>
          <a:p>
            <a:r>
              <a:t>LECTURE NARRATION</a:t>
            </a:r>
          </a:p>
          <a:p>
            <a:r>
              <a:t>The first access to a mapped page may fault so that the kernel can establish backing. Later accesses can still fault under memory-management activity. A mapping therefore does not promise that every load has register-like or even DRAM-like cost. Concurrent file truncation is a serious hazard. Accessing a mapped region whose backing has been removed can generate SIGBUS on Linux. Checking file size before mapping is not enough when another actor can shrink the file afterward. The example below requires a stable regular file throughout the mapping’s lifetime.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36.4 Page faults — Deep Dive</a:t>
            </a:r>
          </a:p>
          <a:p/>
          <a:p>
            <a:r>
              <a:t>LECTURE NARRATION</a:t>
            </a:r>
          </a:p>
          <a:p>
            <a:r>
              <a:t>The first access to a mapped page may fault so that the kernel can establish backing. Later accesses can still fault under memory-management activity. A mapping therefore does not promise that every load has register-like or even DRAM-like cost. Concurrent file truncation is a serious hazard. Accessing a mapped region whose backing has been removed can generate SIGBUS on Linux. Checking file size before mapping is not enough when another actor can shrink the file afterward. The example below requires a stable regular file throughout the mapping’s lifetime.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36.5 Mapping permissions</a:t>
            </a:r>
          </a:p>
          <a:p/>
          <a:p>
            <a:r>
              <a:t>LECTURE NARRATION</a:t>
            </a:r>
          </a:p>
          <a:p>
            <a:r>
              <a:t>Protection flags specify permitted reads, writes, and instruction execution. They must be compatible with the mapping and descriptor’s access rights. A read-only mapping is appropriate for a checksum or parser that does not need to modify the file. Use the least authority required. Do not request writable executable memory merely because it seems convenient. For writable shared file mappings, msync can request synchronization under its documented semantics, while a complete durable-update protocol may require additional filesystem operations. [ R31 , R32 , R33 ]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protection flags specify permitted reads, writes, and instruction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36.5 Mapping permissions — Deep Dive</a:t>
            </a:r>
          </a:p>
          <a:p/>
          <a:p>
            <a:r>
              <a:t>LECTURE NARRATION</a:t>
            </a:r>
          </a:p>
          <a:p>
            <a:r>
              <a:t>Protection flags specify permitted reads, writes, and instruction execution. They must be compatible with the mapping and descriptor’s access rights. A read-only mapping is appropriate for a checksum or parser that does not need to modify the file. Use the least authority required. Do not request writable executable memory merely because it seems convenient. For writable shared file mappings, msync can request synchronization under its documented semantics, while a complete durable-update protocol may require additional filesystem operations. [ R31 , R32 , R33 ]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protection flags specify permitted reads, writes, and instruction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36.6 Memory-mapped I/O</a:t>
            </a:r>
          </a:p>
          <a:p/>
          <a:p>
            <a:r>
              <a:t>LECTURE NARRATION</a:t>
            </a:r>
          </a:p>
          <a:p>
            <a:r>
              <a:t>The phrase memory-mapped I/O also describes device registers placed in an address map. Device mappings are not ordinary file-data mappings: accesses can have side effects, supported widths, ordering requirements, and cacheability constraints. A volatile pointer alone does not provide every device-ordering or synchronization guarantee. Device access must follow the operating system’s driver interfaces and architecture-specific requirements. This book’s user-space file-mapping labs do not access physical device registers.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36.6 Memory-mapped I/O — Deep Dive</a:t>
            </a:r>
          </a:p>
          <a:p/>
          <a:p>
            <a:r>
              <a:t>LECTURE NARRATION</a:t>
            </a:r>
          </a:p>
          <a:p>
            <a:r>
              <a:t>The phrase memory-mapped I/O also describes device registers placed in an address map. Device mappings are not ordinary file-data mappings: accesses can have side effects, supported widths, ordering requirements, and cacheability constraints. A volatile pointer alone does not provide every device-ordering or synchronization guarantee. Device access must follow the operating system’s driver interfaces and architecture-specific requirements. This book’s user-space file-mapping labs do not access physical device registers.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A read-only mapped byte sum</a:t>
            </a:r>
          </a:p>
          <a:p/>
          <a:p>
            <a:r>
              <a:t>LECTURE NARRATION</a:t>
            </a:r>
          </a:p>
          <a:p>
            <a:r>
              <a:t>This Linux/POSIX utility accepts a regular-file path, handles the empty-file case, checks that the length fits size_t , maps read-only, and computes an unsigned 64-bit byte sum. The sum is a teaching checksum, not a cryptographic integrity mechanism. Companion listing: ch36/mapped_sum.c A file containing exactly ABC produces 198 because 65 + 66 + 67 = 198 on the stated ASCII-compatible reference environment. A binary fixture containing bytes 0, 1, 127, 128, and 255 produces 511. The test suite supplies controlled temporary files; it does not mutate an existing user document.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Linux/POSIX utility accepts a regular-file path, handles the empty-file case, checks that the length fits size_t , maps read-only, and computes an unsigned 64-bit byte sum.</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A read-only mapped byte sum — Deep Dive</a:t>
            </a:r>
          </a:p>
          <a:p/>
          <a:p>
            <a:r>
              <a:t>LECTURE NARRATION</a:t>
            </a:r>
          </a:p>
          <a:p>
            <a:r>
              <a:t>This Linux/POSIX utility accepts a regular-file path, handles the empty-file case, checks that the length fits size_t , maps read-only, and computes an unsigned 64-bit byte sum. The sum is a teaching checksum, not a cryptographic integrity mechanism. Companion listing: ch36/mapped_sum.c A file containing exactly ABC produces 198 because 65 + 66 + 67 = 198 on the stated ASCII-compatible reference environment. A binary fixture containing bytes 0, 1, 127, 128, and 255 produces 511. The test suite supplies controlled temporary files; it does not mutate an existing user document.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Linux/POSIX utility accepts a regular-file path, handles the empty-file case, checks that the length fits size_t , maps read-only, and computes an unsigned 64-bit byte sum.</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Summing a mapped file</a:t>
            </a:r>
          </a:p>
          <a:p/>
          <a:p>
            <a:r>
              <a:t>LECTURE NARRATION</a:t>
            </a:r>
          </a:p>
          <a:p>
            <a:r>
              <a:t>Map a read-only file region with mmap , then treat the mapped bytes as memory within the valid range. The first access to a page may fault so the kernel can establish a page backed by file data. Subsequent accesses can proceed through ordinary load instructions. Unmapping ends the virtual mapping, not the file’s existence.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Summing a mapped file — Deep Dive</a:t>
            </a:r>
          </a:p>
          <a:p/>
          <a:p>
            <a:r>
              <a:t>LECTURE NARRATION</a:t>
            </a:r>
          </a:p>
          <a:p>
            <a:r>
              <a:t>Map a read-only file region with mmap , then treat the mapped bytes as memory within the valid range. The first access to a page may fault so the kernel can establish a page backed by file data. Subsequent accesses can proceed through ordinary load instructions. Unmapping ends the virtual mapping, not the file’s existence.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Private versus shared mapping</a:t>
            </a:r>
          </a:p>
          <a:p/>
          <a:p>
            <a:r>
              <a:t>LECTURE NARRATION</a:t>
            </a:r>
          </a:p>
          <a:p>
            <a:r>
              <a:t>With a private writable file mapping, a process can modify its page without necessarily updating the underlying file; copy-on-write supplies private pages. With a shared mapping, permitted writes can propagate to the file-backed shared state. The mapping flags therefore define visibility semantics, not merely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with a private writable file mapping, a process can modify its page without necessarily updating the underlying file; copy-on-write supplies private pages.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Private versus shared mapping — Deep Dive</a:t>
            </a:r>
          </a:p>
          <a:p/>
          <a:p>
            <a:r>
              <a:t>LECTURE NARRATION</a:t>
            </a:r>
          </a:p>
          <a:p>
            <a:r>
              <a:t>With a private writable file mapping, a process can modify its page without necessarily updating the underlying file; copy-on-write supplies private pages. With a shared mapping, permitted writes can propagate to the file-backed shared state. The mapping flags therefore define visibility semantics, not merely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with a private writable file mapping, a process can modify its page without necessarily updating the underlying file; copy-on-write supplies private pages.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36. Run the utility on the empty fixture, ABC , and the five-byte binary fixture. Compare with the Chapter 34 copy path followed by an independent byte-sum calculation. Do not truncate a live mapping as an ordinary test; analyze that failure contract instead. Review 1. Why is mapping == NULL the wrong failure test? Review 2. Why does a stable-file assumption matter even after a successful fstat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36.</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36. Run the utility on the empty fixture, ABC , and the five-byte binary fixture. Compare with the Chapter 34 copy path followed by an independent byte-sum calculation. Do not truncate a live mapping as an ordinary test; analyze that failure contract instead. Review 1. Why is mapping == NULL the wrong failure test? Review 2. Why does a stable-file assumption matter even after a successful fstat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36.</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memory-mapped files.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memory-mapped files.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Process Creation.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36 — Memory-Mapped Files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memory mapping exposes a file region through virtual addresses.</a:t>
            </a:r>
          </a:p>
          <a:p>
            <a:pPr>
              <a:spcAft>
                <a:spcPts val="1100"/>
              </a:spcAft>
              <a:defRPr sz="1700">
                <a:solidFill>
                  <a:srgbClr val="F2F5F8"/>
                </a:solidFill>
              </a:defRPr>
            </a:pPr>
            <a:r>
              <a:t>• The program accesses bytes with ordinary loads and stores, while the kernel supplies backing pages and enforces mapping permissions.</a:t>
            </a:r>
          </a:p>
          <a:p>
            <a:pPr>
              <a:spcAft>
                <a:spcPts val="1100"/>
              </a:spcAft>
              <a:defRPr sz="1900">
                <a:solidFill>
                  <a:srgbClr val="F2F5F8"/>
                </a:solidFill>
              </a:defRPr>
            </a:pPr>
            <a:r>
              <a:t>• This can simplify random access, but it does not remove I/O, faults, concurrency, or lifetime concerns. [ R14 ]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Memory-Mapped Files.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36.1 mmap</a:t>
            </a:r>
          </a:p>
          <a:p>
            <a:pPr>
              <a:spcAft>
                <a:spcPts val="1100"/>
              </a:spcAft>
              <a:defRPr sz="1900">
                <a:solidFill>
                  <a:srgbClr val="F2F5F8"/>
                </a:solidFill>
              </a:defRPr>
            </a:pPr>
            <a:r>
              <a:t>• 36.2 Address mappings</a:t>
            </a:r>
          </a:p>
          <a:p>
            <a:pPr>
              <a:spcAft>
                <a:spcPts val="1100"/>
              </a:spcAft>
              <a:defRPr sz="1900">
                <a:solidFill>
                  <a:srgbClr val="F2F5F8"/>
                </a:solidFill>
              </a:defRPr>
            </a:pPr>
            <a:r>
              <a:t>• 36.3 File-backed pages</a:t>
            </a:r>
          </a:p>
          <a:p>
            <a:pPr>
              <a:spcAft>
                <a:spcPts val="1100"/>
              </a:spcAft>
              <a:defRPr sz="1900">
                <a:solidFill>
                  <a:srgbClr val="F2F5F8"/>
                </a:solidFill>
              </a:defRPr>
            </a:pPr>
            <a:r>
              <a:t>• 36.4 Page faults</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36.1 mmap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mmap requests a mapping with a length, protection flags, sharing mode, descriptor, and offset.</a:t>
            </a:r>
          </a:p>
          <a:p>
            <a:pPr>
              <a:spcAft>
                <a:spcPts val="1100"/>
              </a:spcAft>
              <a:defRPr sz="1900">
                <a:solidFill>
                  <a:srgbClr val="F2F5F8"/>
                </a:solidFill>
              </a:defRPr>
            </a:pPr>
            <a:r>
              <a:t>• Failure is reported as MAP_FAILED , not as a null pointer.</a:t>
            </a:r>
          </a:p>
          <a:p>
            <a:pPr>
              <a:spcAft>
                <a:spcPts val="1100"/>
              </a:spcAft>
              <a:defRPr sz="1900">
                <a:solidFill>
                  <a:srgbClr val="F2F5F8"/>
                </a:solidFill>
              </a:defRPr>
            </a:pPr>
            <a:r>
              <a:t>• A zero-length mapping is not a valid substitute for handling an empty file.</a:t>
            </a:r>
          </a:p>
          <a:p>
            <a:pPr>
              <a:spcAft>
                <a:spcPts val="1100"/>
              </a:spcAft>
              <a:defRPr sz="1900">
                <a:solidFill>
                  <a:srgbClr val="F2F5F8"/>
                </a:solidFill>
              </a:defRPr>
            </a:pPr>
            <a:r>
              <a:t>• The offset must satisfy the platform’s alignment requirements, normally a multiple of the relevant page size.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36.1 mmap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offset must satisfy the platform’s alignment requirements, normally a multiple of the relevant page size.</a:t>
            </a:r>
          </a:p>
          <a:p>
            <a:pPr>
              <a:spcAft>
                <a:spcPts val="1100"/>
              </a:spcAft>
              <a:defRPr sz="1700">
                <a:solidFill>
                  <a:srgbClr val="F2F5F8"/>
                </a:solidFill>
              </a:defRPr>
            </a:pPr>
            <a:r>
              <a:t>• Mapping an arbitrary record offset often requires rounding the mapping base down to a page boundary and retaining an internal displacement, with overflow checks on the...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36.2 Address mappings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returned address identifies the beginning of the mapping in the process’s virtual space.</a:t>
            </a:r>
          </a:p>
          <a:p>
            <a:pPr>
              <a:spcAft>
                <a:spcPts val="1100"/>
              </a:spcAft>
              <a:defRPr sz="1900">
                <a:solidFill>
                  <a:srgbClr val="F2F5F8"/>
                </a:solidFill>
              </a:defRPr>
            </a:pPr>
            <a:r>
              <a:t>• Its validity lasts until the mapping is removed or otherwise changed.</a:t>
            </a:r>
          </a:p>
          <a:p>
            <a:pPr>
              <a:spcAft>
                <a:spcPts val="1100"/>
              </a:spcAft>
              <a:defRPr sz="1900">
                <a:solidFill>
                  <a:srgbClr val="F2F5F8"/>
                </a:solidFill>
              </a:defRPr>
            </a:pPr>
            <a:r>
              <a:t>• Closing the original descriptor does not by itself remove an established mapping on Linux.</a:t>
            </a:r>
          </a:p>
          <a:p>
            <a:pPr>
              <a:spcAft>
                <a:spcPts val="1100"/>
              </a:spcAft>
              <a:defRPr sz="1900">
                <a:solidFill>
                  <a:srgbClr val="F2F5F8"/>
                </a:solidFill>
              </a:defRPr>
            </a:pPr>
            <a:r>
              <a:t>• Pointers into the region become invalid after munmap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36.2 Address mappings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Pointers into the region become invalid after munmap .</a:t>
            </a:r>
          </a:p>
          <a:p>
            <a:pPr>
              <a:spcAft>
                <a:spcPts val="1100"/>
              </a:spcAft>
              <a:defRPr sz="1900">
                <a:solidFill>
                  <a:srgbClr val="F2F5F8"/>
                </a:solidFill>
              </a:defRPr>
            </a:pPr>
            <a:r>
              <a:t>• A function borrowing the mapping must not retain those pointers beyond the owner’s lifetime.</a:t>
            </a:r>
          </a:p>
          <a:p>
            <a:pPr>
              <a:spcAft>
                <a:spcPts val="1100"/>
              </a:spcAft>
              <a:defRPr sz="1700">
                <a:solidFill>
                  <a:srgbClr val="F2F5F8"/>
                </a:solidFill>
              </a:defRPr>
            </a:pPr>
            <a:r>
              <a:t>• Mapping ownership deserves the same discipline as allocation ownership: one clear owner, explicit extent, and structured cleanup.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36.3 File-backed pages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File-backed pages associate virtual regions with file contents.</a:t>
            </a:r>
          </a:p>
          <a:p>
            <a:pPr>
              <a:spcAft>
                <a:spcPts val="1100"/>
              </a:spcAft>
              <a:defRPr sz="1700">
                <a:solidFill>
                  <a:srgbClr val="F2F5F8"/>
                </a:solidFill>
              </a:defRPr>
            </a:pPr>
            <a:r>
              <a:t>• A shared writable mapping can propagate modifications to the underlying file according to synchronization and filesystem rules.</a:t>
            </a:r>
          </a:p>
          <a:p>
            <a:pPr>
              <a:spcAft>
                <a:spcPts val="1100"/>
              </a:spcAft>
              <a:defRPr sz="1900">
                <a:solidFill>
                  <a:srgbClr val="F2F5F8"/>
                </a:solidFill>
              </a:defRPr>
            </a:pPr>
            <a:r>
              <a:t>• A private mapping provides private modification semantics instead of updating the file with those writes.</a:t>
            </a:r>
          </a:p>
          <a:p>
            <a:pPr>
              <a:spcAft>
                <a:spcPts val="1100"/>
              </a:spcAft>
              <a:defRPr sz="1900">
                <a:solidFill>
                  <a:srgbClr val="F2F5F8"/>
                </a:solidFill>
              </a:defRPr>
            </a:pPr>
            <a:r>
              <a:t>• Mapping flags are not a complete interprocess synchronization protocol.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36.3 File-backed pages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Mapping flags are not a complete interprocess synchronization protocol.</a:t>
            </a:r>
          </a:p>
          <a:p>
            <a:pPr>
              <a:spcAft>
                <a:spcPts val="1100"/>
              </a:spcAft>
              <a:defRPr sz="1900">
                <a:solidFill>
                  <a:srgbClr val="F2F5F8"/>
                </a:solidFill>
              </a:defRPr>
            </a:pPr>
            <a:r>
              <a:t>• Multiple writers need an agreed layout and synchronization mechanism.</a:t>
            </a:r>
          </a:p>
          <a:p>
            <a:pPr>
              <a:spcAft>
                <a:spcPts val="1100"/>
              </a:spcAft>
              <a:defRPr sz="1700">
                <a:solidFill>
                  <a:srgbClr val="F2F5F8"/>
                </a:solidFill>
              </a:defRPr>
            </a:pPr>
            <a:r>
              <a:t>• Data-race rules still apply to threads in one process, and process-shared synchronization requires facilities designed for that purpose.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36.4 Page faults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first access to a mapped page may fault so that the kernel can establish backing.</a:t>
            </a:r>
          </a:p>
          <a:p>
            <a:pPr>
              <a:spcAft>
                <a:spcPts val="1100"/>
              </a:spcAft>
              <a:defRPr sz="1900">
                <a:solidFill>
                  <a:srgbClr val="F2F5F8"/>
                </a:solidFill>
              </a:defRPr>
            </a:pPr>
            <a:r>
              <a:t>• Later accesses can still fault under memory-management activity.</a:t>
            </a:r>
          </a:p>
          <a:p>
            <a:pPr>
              <a:spcAft>
                <a:spcPts val="1100"/>
              </a:spcAft>
              <a:defRPr sz="1900">
                <a:solidFill>
                  <a:srgbClr val="F2F5F8"/>
                </a:solidFill>
              </a:defRPr>
            </a:pPr>
            <a:r>
              <a:t>• A mapping therefore does not promise that every load has register-like or even DRAM-like cost.</a:t>
            </a:r>
          </a:p>
          <a:p>
            <a:pPr>
              <a:spcAft>
                <a:spcPts val="1100"/>
              </a:spcAft>
              <a:defRPr sz="1900">
                <a:solidFill>
                  <a:srgbClr val="F2F5F8"/>
                </a:solidFill>
              </a:defRPr>
            </a:pPr>
            <a:r>
              <a:t>• Concurrent file truncation is a serious hazard.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36.4 Page faults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Concurrent file truncation is a serious hazard.</a:t>
            </a:r>
          </a:p>
          <a:p>
            <a:pPr>
              <a:spcAft>
                <a:spcPts val="1100"/>
              </a:spcAft>
              <a:defRPr sz="1900">
                <a:solidFill>
                  <a:srgbClr val="F2F5F8"/>
                </a:solidFill>
              </a:defRPr>
            </a:pPr>
            <a:r>
              <a:t>• Accessing a mapped region whose backing has been removed can generate SIGBUS on Linux.</a:t>
            </a:r>
          </a:p>
          <a:p>
            <a:pPr>
              <a:spcAft>
                <a:spcPts val="1100"/>
              </a:spcAft>
              <a:defRPr sz="1900">
                <a:solidFill>
                  <a:srgbClr val="F2F5F8"/>
                </a:solidFill>
              </a:defRPr>
            </a:pPr>
            <a:r>
              <a:t>• Checking file size before mapping is not enough when another actor can shrink the file afterward.</a:t>
            </a:r>
          </a:p>
          <a:p>
            <a:pPr>
              <a:spcAft>
                <a:spcPts val="1100"/>
              </a:spcAft>
              <a:defRPr sz="1900">
                <a:solidFill>
                  <a:srgbClr val="F2F5F8"/>
                </a:solidFill>
              </a:defRPr>
            </a:pPr>
            <a:r>
              <a:t>• The example below requires a stable regular file throughout the mapping’s lifetime.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36.5 Mapping permissions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Protection flags specify permitted reads, writes, and instruction execution.</a:t>
            </a:r>
          </a:p>
          <a:p>
            <a:pPr>
              <a:spcAft>
                <a:spcPts val="1100"/>
              </a:spcAft>
              <a:defRPr sz="1900">
                <a:solidFill>
                  <a:srgbClr val="F2F5F8"/>
                </a:solidFill>
              </a:defRPr>
            </a:pPr>
            <a:r>
              <a:t>• They must be compatible with the mapping and descriptor’s access rights.</a:t>
            </a:r>
          </a:p>
          <a:p>
            <a:pPr>
              <a:spcAft>
                <a:spcPts val="1100"/>
              </a:spcAft>
              <a:defRPr sz="1900">
                <a:solidFill>
                  <a:srgbClr val="F2F5F8"/>
                </a:solidFill>
              </a:defRPr>
            </a:pPr>
            <a:r>
              <a:t>• A read-only mapping is appropriate for a checksum or parser that does not need to modify the file.</a:t>
            </a:r>
          </a:p>
          <a:p>
            <a:pPr>
              <a:spcAft>
                <a:spcPts val="1100"/>
              </a:spcAft>
              <a:defRPr sz="1900">
                <a:solidFill>
                  <a:srgbClr val="F2F5F8"/>
                </a:solidFill>
              </a:defRPr>
            </a:pPr>
            <a:r>
              <a:t>• Use the least authority required.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36.5 Mapping permissions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the least authority required.</a:t>
            </a:r>
          </a:p>
          <a:p>
            <a:pPr>
              <a:spcAft>
                <a:spcPts val="1100"/>
              </a:spcAft>
              <a:defRPr sz="1900">
                <a:solidFill>
                  <a:srgbClr val="F2F5F8"/>
                </a:solidFill>
              </a:defRPr>
            </a:pPr>
            <a:r>
              <a:t>• Do not request writable executable memory merely because it seems convenient.</a:t>
            </a:r>
          </a:p>
          <a:p>
            <a:pPr>
              <a:spcAft>
                <a:spcPts val="1100"/>
              </a:spcAft>
              <a:defRPr sz="1700">
                <a:solidFill>
                  <a:srgbClr val="F2F5F8"/>
                </a:solidFill>
              </a:defRPr>
            </a:pPr>
            <a:r>
              <a:t>• For writable shared file mappings, msync can request synchronization under its documented semantics, while a complete durable-update protocol may require additional...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36.6 Memory-mapped I/O</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phrase memory-mapped I/O also describes device registers placed in an address map.</a:t>
            </a:r>
          </a:p>
          <a:p>
            <a:pPr>
              <a:spcAft>
                <a:spcPts val="1100"/>
              </a:spcAft>
              <a:defRPr sz="1700">
                <a:solidFill>
                  <a:srgbClr val="F2F5F8"/>
                </a:solidFill>
              </a:defRPr>
            </a:pPr>
            <a:r>
              <a:t>• Device mappings are not ordinary file-data mappings: accesses can have side effects, supported widths, ordering requirements, and cacheability constraints.</a:t>
            </a:r>
          </a:p>
          <a:p>
            <a:pPr>
              <a:spcAft>
                <a:spcPts val="1100"/>
              </a:spcAft>
              <a:defRPr sz="1900">
                <a:solidFill>
                  <a:srgbClr val="F2F5F8"/>
                </a:solidFill>
              </a:defRPr>
            </a:pPr>
            <a:r>
              <a:t>• A volatile pointer alone does not provide every device-ordering or synchronization guarantee.</a:t>
            </a:r>
          </a:p>
          <a:p>
            <a:pPr>
              <a:spcAft>
                <a:spcPts val="1100"/>
              </a:spcAft>
              <a:defRPr sz="1900">
                <a:solidFill>
                  <a:srgbClr val="F2F5F8"/>
                </a:solidFill>
              </a:defRPr>
            </a:pPr>
            <a:r>
              <a:t>• Device access must follow the operating system’s driver interfaces and architecture-specific requirements.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36.6 Memory-mapped I/O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volatile pointer alone does not provide every device-ordering or synchronization guarantee.</a:t>
            </a:r>
          </a:p>
          <a:p>
            <a:pPr>
              <a:spcAft>
                <a:spcPts val="1100"/>
              </a:spcAft>
              <a:defRPr sz="1900">
                <a:solidFill>
                  <a:srgbClr val="F2F5F8"/>
                </a:solidFill>
              </a:defRPr>
            </a:pPr>
            <a:r>
              <a:t>• Device access must follow the operating system’s driver interfaces and architecture-specific requirements.</a:t>
            </a:r>
          </a:p>
          <a:p>
            <a:pPr>
              <a:spcAft>
                <a:spcPts val="1100"/>
              </a:spcAft>
              <a:defRPr sz="1900">
                <a:solidFill>
                  <a:srgbClr val="F2F5F8"/>
                </a:solidFill>
              </a:defRPr>
            </a:pPr>
            <a:r>
              <a:t>• This book’s user-space file-mapping labs do not access physical device registers.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read-only mapped byte sum</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This Linux/POSIX utility accepts a regular-file path, handles the empty-file case, checks that the length fits size_t , maps read-only, and computes an unsigned 64-bit byte sum.</a:t>
            </a:r>
          </a:p>
          <a:p>
            <a:pPr>
              <a:spcAft>
                <a:spcPts val="1100"/>
              </a:spcAft>
              <a:defRPr sz="1900">
                <a:solidFill>
                  <a:srgbClr val="F2F5F8"/>
                </a:solidFill>
              </a:defRPr>
            </a:pPr>
            <a:r>
              <a:t>• The sum is a teaching checksum, not a cryptographic integrity mechanism.</a:t>
            </a:r>
          </a:p>
          <a:p>
            <a:pPr>
              <a:spcAft>
                <a:spcPts val="1100"/>
              </a:spcAft>
              <a:defRPr sz="1900">
                <a:solidFill>
                  <a:srgbClr val="F2F5F8"/>
                </a:solidFill>
              </a:defRPr>
            </a:pPr>
            <a:r>
              <a:t>• Companion listing: ch36/mapped_sum.c</a:t>
            </a:r>
          </a:p>
          <a:p>
            <a:pPr>
              <a:spcAft>
                <a:spcPts val="1100"/>
              </a:spcAft>
              <a:defRPr sz="1700">
                <a:solidFill>
                  <a:srgbClr val="F2F5F8"/>
                </a:solidFill>
              </a:defRPr>
            </a:pPr>
            <a:r>
              <a:t>• A file containing exactly ABC produces 198 because 65 + 66 + 67 = 198 on the stated ASCII-compatible reference environment.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read-only mapped byte sum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ch36/mapped_sum.c</a:t>
            </a:r>
          </a:p>
          <a:p>
            <a:pPr>
              <a:spcAft>
                <a:spcPts val="1100"/>
              </a:spcAft>
              <a:defRPr sz="1700">
                <a:solidFill>
                  <a:srgbClr val="F2F5F8"/>
                </a:solidFill>
              </a:defRPr>
            </a:pPr>
            <a:r>
              <a:t>• A file containing exactly ABC produces 198 because 65 + 66 + 67 = 198 on the stated ASCII-compatible reference environment.</a:t>
            </a:r>
          </a:p>
          <a:p>
            <a:pPr>
              <a:spcAft>
                <a:spcPts val="1100"/>
              </a:spcAft>
              <a:defRPr sz="1900">
                <a:solidFill>
                  <a:srgbClr val="F2F5F8"/>
                </a:solidFill>
              </a:defRPr>
            </a:pPr>
            <a:r>
              <a:t>• A binary fixture containing bytes 0, 1, 127, 128, and 255 produces 511.</a:t>
            </a:r>
          </a:p>
          <a:p>
            <a:pPr>
              <a:spcAft>
                <a:spcPts val="1100"/>
              </a:spcAft>
              <a:defRPr sz="1900">
                <a:solidFill>
                  <a:srgbClr val="F2F5F8"/>
                </a:solidFill>
              </a:defRPr>
            </a:pPr>
            <a:r>
              <a:t>• The test suite supplies controlled temporary files; it does not mutate an existing user document.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Summing a mapped file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Map a read-only file region with mmap , then treat the mapped bytes as memory within the valid range.</a:t>
            </a:r>
          </a:p>
          <a:p>
            <a:pPr>
              <a:spcAft>
                <a:spcPts val="1100"/>
              </a:spcAft>
              <a:defRPr sz="1900">
                <a:solidFill>
                  <a:srgbClr val="F2F5F8"/>
                </a:solidFill>
              </a:defRPr>
            </a:pPr>
            <a:r>
              <a:t>• The first access to a page may fault so the kernel can establish a page backed by file data.</a:t>
            </a:r>
          </a:p>
          <a:p>
            <a:pPr>
              <a:spcAft>
                <a:spcPts val="1100"/>
              </a:spcAft>
              <a:defRPr sz="1900">
                <a:solidFill>
                  <a:srgbClr val="F2F5F8"/>
                </a:solidFill>
              </a:defRPr>
            </a:pPr>
            <a:r>
              <a:t>• Subsequent accesses can proceed through ordinary load instructions.</a:t>
            </a:r>
          </a:p>
          <a:p>
            <a:pPr>
              <a:spcAft>
                <a:spcPts val="1100"/>
              </a:spcAft>
              <a:defRPr sz="1900">
                <a:solidFill>
                  <a:srgbClr val="F2F5F8"/>
                </a:solidFill>
              </a:defRPr>
            </a:pPr>
            <a:r>
              <a:t>• Unmapping ends the virtual mapping, not the file’s existence.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Summing a mapped file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Map a read-only file region with mmap , then treat the mapped bytes as memory within the valid range.</a:t>
            </a:r>
          </a:p>
          <a:p>
            <a:pPr>
              <a:spcAft>
                <a:spcPts val="1100"/>
              </a:spcAft>
              <a:defRPr sz="1900">
                <a:solidFill>
                  <a:srgbClr val="F2F5F8"/>
                </a:solidFill>
              </a:defRPr>
            </a:pPr>
            <a:r>
              <a:t>• The first access to a page may fault so the kernel can establish a page backed by file data.</a:t>
            </a:r>
          </a:p>
          <a:p>
            <a:pPr>
              <a:spcAft>
                <a:spcPts val="1100"/>
              </a:spcAft>
              <a:defRPr sz="1900">
                <a:solidFill>
                  <a:srgbClr val="F2F5F8"/>
                </a:solidFill>
              </a:defRPr>
            </a:pPr>
            <a:r>
              <a:t>• Subsequent accesses can proceed through ordinary load instructions.</a:t>
            </a:r>
          </a:p>
          <a:p>
            <a:pPr>
              <a:spcAft>
                <a:spcPts val="1100"/>
              </a:spcAft>
              <a:defRPr sz="1900">
                <a:solidFill>
                  <a:srgbClr val="F2F5F8"/>
                </a:solidFill>
              </a:defRPr>
            </a:pPr>
            <a:r>
              <a:t>• Unmapping ends the virtual mapping, not the file’s existence.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Private versus shared mapping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With a private writable file mapping, a process can modify its page without necessarily updating the underlying file; copy-on-write supplies private pages.</a:t>
            </a:r>
          </a:p>
          <a:p>
            <a:pPr>
              <a:spcAft>
                <a:spcPts val="1100"/>
              </a:spcAft>
              <a:defRPr sz="1900">
                <a:solidFill>
                  <a:srgbClr val="F2F5F8"/>
                </a:solidFill>
              </a:defRPr>
            </a:pPr>
            <a:r>
              <a:t>• With a shared mapping, permitted writes can propagate to the file-backed shared state.</a:t>
            </a:r>
          </a:p>
          <a:p>
            <a:pPr>
              <a:spcAft>
                <a:spcPts val="1100"/>
              </a:spcAft>
              <a:defRPr sz="1900">
                <a:solidFill>
                  <a:srgbClr val="F2F5F8"/>
                </a:solidFill>
              </a:defRPr>
            </a:pPr>
            <a:r>
              <a:t>• The mapping flags therefore define visibility semantics, not merely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Private versus shared mapping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With a private writable file mapping, a process can modify its page without necessarily updating the underlying file; copy-on-write supplies private pages.</a:t>
            </a:r>
          </a:p>
          <a:p>
            <a:pPr>
              <a:spcAft>
                <a:spcPts val="1100"/>
              </a:spcAft>
              <a:defRPr sz="1900">
                <a:solidFill>
                  <a:srgbClr val="F2F5F8"/>
                </a:solidFill>
              </a:defRPr>
            </a:pPr>
            <a:r>
              <a:t>• With a shared mapping, permitted writes can propagate to the file-backed shared state.</a:t>
            </a:r>
          </a:p>
          <a:p>
            <a:pPr>
              <a:spcAft>
                <a:spcPts val="1100"/>
              </a:spcAft>
              <a:defRPr sz="1900">
                <a:solidFill>
                  <a:srgbClr val="F2F5F8"/>
                </a:solidFill>
              </a:defRPr>
            </a:pPr>
            <a:r>
              <a:t>• The mapping flags therefore define visibility semantics, not merely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36.</a:t>
            </a:r>
          </a:p>
          <a:p>
            <a:pPr>
              <a:spcAft>
                <a:spcPts val="1100"/>
              </a:spcAft>
              <a:defRPr sz="1900">
                <a:solidFill>
                  <a:srgbClr val="F2F5F8"/>
                </a:solidFill>
              </a:defRPr>
            </a:pPr>
            <a:r>
              <a:t>• Run the utility on the empty fixture, ABC , and the five-byte binary fixture.</a:t>
            </a:r>
          </a:p>
          <a:p>
            <a:pPr>
              <a:spcAft>
                <a:spcPts val="1100"/>
              </a:spcAft>
              <a:defRPr sz="1900">
                <a:solidFill>
                  <a:srgbClr val="F2F5F8"/>
                </a:solidFill>
              </a:defRPr>
            </a:pPr>
            <a:r>
              <a:t>• Compare with the Chapter 34 copy path followed by an independent byte-sum calculation.</a:t>
            </a:r>
          </a:p>
          <a:p>
            <a:pPr>
              <a:spcAft>
                <a:spcPts val="1100"/>
              </a:spcAft>
              <a:defRPr sz="1900">
                <a:solidFill>
                  <a:srgbClr val="F2F5F8"/>
                </a:solidFill>
              </a:defRPr>
            </a:pPr>
            <a:r>
              <a:t>• Do not truncate a live mapping as an ordinary test; analyze that failure contract instead.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is mapping == NULL the wrong failure test?</a:t>
            </a:r>
          </a:p>
          <a:p>
            <a:pPr>
              <a:spcAft>
                <a:spcPts val="1100"/>
              </a:spcAft>
              <a:defRPr sz="1900">
                <a:solidFill>
                  <a:srgbClr val="F2F5F8"/>
                </a:solidFill>
              </a:defRPr>
            </a:pPr>
            <a:r>
              <a:t>• Review 2.</a:t>
            </a:r>
          </a:p>
          <a:p>
            <a:pPr>
              <a:spcAft>
                <a:spcPts val="1100"/>
              </a:spcAft>
              <a:defRPr sz="1900">
                <a:solidFill>
                  <a:srgbClr val="F2F5F8"/>
                </a:solidFill>
              </a:defRPr>
            </a:pPr>
            <a:r>
              <a:t>• Why does a stable-file assumption matter even after a successful fstat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memory-mapped files.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Process Creation.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36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