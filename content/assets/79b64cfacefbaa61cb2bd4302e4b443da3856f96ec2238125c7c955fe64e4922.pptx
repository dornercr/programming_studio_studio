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20 — Protected Control Transfer</a:t>
            </a:r>
          </a:p>
          <a:p/>
          <a:p>
            <a:r>
              <a:t>LECTURE NARRATION</a:t>
            </a:r>
          </a:p>
          <a:p>
            <a:r>
              <a:t>Control flow can leave a program for reasons beyond a source-level function call. A device may need attention, an instruction may encounter an invalid condition, or the program may explicitly request an operating-system service. The processor and kernel cooperate to save enough state, select an appropriate handler, and eventually continue or terminate the interrupted activity. Terminology depends on context. In this chapter, fault and trap use the architectural distinction when discussing x86 exceptions. They are not C++ exceptions, and the informal phrase “trap into the kernel” does not imply that every system call is an x86 trap-class exception.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control flow can leave a program for reasons beyond a source-level function call.</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Control flow can leave a program for reasons beyond a source-level function call. A device may need attention, an instruction may encounter an invalid condition, or the program may explicitly request an operating-system service. The processor and kernel cooperate to save enough state, select an appropriate handler, and eventually continue or terminate the interrupted activity. Terminology depends on context. In this chapter, fault and trap use the architectural distinction when discussing x86 exceptions. They are not C++ exceptions, and the informal phrase “trap into the kernel” does not imply that every system call is an x86 trap-class exception.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control flow can leave a program for reasons beyond a source-level function call.</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20.1 Exceptions 20.2 Interrupts 20.3 Traps 20.4 Faults ...plus 8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20.1 Exceptions 20.2 Interrupts 20.3 Traps 20.4 Faults ...plus 8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20.1 Exceptions</a:t>
            </a:r>
          </a:p>
          <a:p/>
          <a:p>
            <a:r>
              <a:t>LECTURE NARRATION</a:t>
            </a:r>
          </a:p>
          <a:p>
            <a:r>
              <a:t>An architectural exception arises in relation to instruction execution. Examples include a page fault, an invalid instruction, or a divide error. The processor identifies the condition and transfers control through a configured mechanism. The saved state allows the handler to determine what happened and decide whether execution can continue. A language exception such as throw std::runtime_error(...) belongs to a different abstraction. Its implementation may unwind call frames entirely in user space. Although both mechanisms redirect control, their causes, handlers, and guarantees differ. Do not infer operating-system privilege changes from the presence of a C++ try statement.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architectural exception arises in relation to instruction execution.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20.1 Exceptions — Deep Dive</a:t>
            </a:r>
          </a:p>
          <a:p/>
          <a:p>
            <a:r>
              <a:t>LECTURE NARRATION</a:t>
            </a:r>
          </a:p>
          <a:p>
            <a:r>
              <a:t>An architectural exception arises in relation to instruction execution. Examples include a page fault, an invalid instruction, or a divide error. The processor identifies the condition and transfers control through a configured mechanism. The saved state allows the handler to determine what happened and decide whether execution can continue. A language exception such as throw std::runtime_error(...) belongs to a different abstraction. Its implementation may unwind call frames entirely in user space. Although both mechanisms redirect control, their causes, handlers, and guarantees differ. Do not infer operating-system privilege changes from the presence of a C++ try statement.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architectural exception arises in relation to instruction execution.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20.2 Interrupts</a:t>
            </a:r>
          </a:p>
          <a:p/>
          <a:p>
            <a:r>
              <a:t>LECTURE NARRATION</a:t>
            </a:r>
          </a:p>
          <a:p>
            <a:r>
              <a:t>An interrupt is commonly an externally generated event delivered to a processor, such as a timer or device notification. Its timing is asynchronous with respect to the program’s intended instruction sequence. The interrupted program did not necessarily request the event and may have no direct relationship to the device that generated it. Interrupt handling must preserve the context required by the architecture and kernel. A handler may acknowledge an event, make work runnable, and defer lengthy processing. Interrupts are one reason that elapsed wall time can exceed a program’s own CPU execution time. They are also one reason that a single-core system can exhibit interleavings even without simultaneous application execution.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interrupt is commonly an externally generated event delivered to a processor, such as a timer or device notification.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20.2 Interrupts — Deep Dive</a:t>
            </a:r>
          </a:p>
          <a:p/>
          <a:p>
            <a:r>
              <a:t>LECTURE NARRATION</a:t>
            </a:r>
          </a:p>
          <a:p>
            <a:r>
              <a:t>An interrupt is commonly an externally generated event delivered to a processor, such as a timer or device notification. Its timing is asynchronous with respect to the program’s intended instruction sequence. The interrupted program did not necessarily request the event and may have no direct relationship to the device that generated it. Interrupt handling must preserve the context required by the architecture and kernel. A handler may acknowledge an event, make work runnable, and defer lengthy processing. Interrupts are one reason that elapsed wall time can exceed a program’s own CPU execution time. They are also one reason that a single-core system can exhibit interleavings even without simultaneous application execution.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interrupt is commonly an externally generated event delivered to a processor, such as a timer or device notification.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20.3 Traps</a:t>
            </a:r>
          </a:p>
          <a:p/>
          <a:p>
            <a:r>
              <a:t>LECTURE NARRATION</a:t>
            </a:r>
          </a:p>
          <a:p>
            <a:r>
              <a:t>In the x86 exception classification, a trap is reported after the instruction associated with it has completed. The saved instruction location generally supports continuation after that instruction. Debugging facilities use trap-like mechanisms to regain control at intentional observation points. The word is also used more broadly in operating-systems discussions for a deliberate transfer into privileged handling. When reading documentation, identify which meaning applies. A precise trace should state whether the current instruction will be retried, whether the next instruction will run, or whether execution will end. Those distinctions matter more than an ambiguous label.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 the x86 exception classification, a trap is reported after the instruction associated with it has completed.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20.3 Traps — Deep Dive</a:t>
            </a:r>
          </a:p>
          <a:p/>
          <a:p>
            <a:r>
              <a:t>LECTURE NARRATION</a:t>
            </a:r>
          </a:p>
          <a:p>
            <a:r>
              <a:t>In the x86 exception classification, a trap is reported after the instruction associated with it has completed. The saved instruction location generally supports continuation after that instruction. Debugging facilities use trap-like mechanisms to regain control at intentional observation points. The word is also used more broadly in operating-systems discussions for a deliberate transfer into privileged handling. When reading documentation, identify which meaning applies. A precise trace should state whether the current instruction will be retried, whether the next instruction will run, or whether execution will end. Those distinctions matter more than an ambiguous label.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 the x86 exception classification, a trap is reported after the instruction associated with it has completed.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20.4 Faults</a:t>
            </a:r>
          </a:p>
          <a:p/>
          <a:p>
            <a:r>
              <a:t>LECTURE NARRATION</a:t>
            </a:r>
          </a:p>
          <a:p>
            <a:r>
              <a:t>A fault is reported in a way that can support restarting the faulting instruction after the underlying condition is corrected. A page fault is the central example: the instruction attempts a memory access, translation or protection checks fail, and the kernel decides whether the access is legitimate and recoverable. Recoverable does not mean automatically recovered. A legitimate demand-paged access may cause the kernel to install a mapping and retry the instruction. An access to an invalid address may instead lead to a signal and process termination. The same architectural entry mechanism can therefore serve both routine resource management and error reporting.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fault is reported in a way that can support restarting the faulting instruction after the underlying condition is corrected.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20.4 Faults — Deep Dive</a:t>
            </a:r>
          </a:p>
          <a:p/>
          <a:p>
            <a:r>
              <a:t>LECTURE NARRATION</a:t>
            </a:r>
          </a:p>
          <a:p>
            <a:r>
              <a:t>A fault is reported in a way that can support restarting the faulting instruction after the underlying condition is corrected. A page fault is the central example: the instruction attempts a memory access, translation or protection checks fail, and the kernel decides whether the access is legitimate and recoverable. Recoverable does not mean automatically recovered. A legitimate demand-paged access may cause the kernel to install a mapping and retry the instruction. An access to an invalid address may instead lead to a signal and process termination. The same architectural entry mechanism can therefore serve both routine resource management and error reporting.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fault is reported in a way that can support restarting the faulting instruction after the underlying condition is corrected.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20.5 System calls</a:t>
            </a:r>
          </a:p>
          <a:p/>
          <a:p>
            <a:r>
              <a:t>LECTURE NARRATION</a:t>
            </a:r>
          </a:p>
          <a:p>
            <a:r>
              <a:t>A system call is an explicit request for a kernel service through an operating-system ABI. A C library wrapper translates a source-level interface into that ABI and translates the result back into the library’s conventions. Some library operations require several system calls; others require none for a particular invocation. The Linux x86-64 system-call register convention is not identical to the System V function-call convention from Chapter 17. In particular, the fourth integer system-call argument uses %r10 , not %rcx , and syscall has specific effects on %rcx and %r11 . Handwritten wrappers must respect the correct ABI. This book normally uses documented C interfaces instead of embedding raw system-call assembly. [ R46 ]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system call is an explicit request for a kernel service through an operating-system ABI.</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20.5 System calls — Deep Dive</a:t>
            </a:r>
          </a:p>
          <a:p/>
          <a:p>
            <a:r>
              <a:t>LECTURE NARRATION</a:t>
            </a:r>
          </a:p>
          <a:p>
            <a:r>
              <a:t>A system call is an explicit request for a kernel service through an operating-system ABI. A C library wrapper translates a source-level interface into that ABI and translates the result back into the library’s conventions. Some library operations require several system calls; others require none for a particular invocation. The Linux x86-64 system-call register convention is not identical to the System V function-call convention from Chapter 17. In particular, the fourth integer system-call argument uses %r10 , not %rcx , and syscall has specific effects on %rcx and %r11 . Handwritten wrappers must respect the correct ABI. This book normally uses documented C interfaces instead of embedding raw system-call assembly. [ R46 ]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system call is an explicit request for a kernel service through an operating-system ABI.</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20.6 User-to-kernel transition</a:t>
            </a:r>
          </a:p>
          <a:p/>
          <a:p>
            <a:r>
              <a:t>LECTURE NARRATION</a:t>
            </a:r>
          </a:p>
          <a:p>
            <a:r>
              <a:t>A protected entry transfers control to a destination configured by privileged software. The entry path establishes the kernel’s execution environment and records state needed for a return. Do not picture every entry as an ordinary call instruction that simply pushes a return address on the application’s stack. For example, x86-64 syscall does not itself perform a conventional push of the entire user context onto a kernel stack. The processor provides specified register and control-state changes, and kernel entry code performs additional work, including establishing suitable stack state. The exact entry sequence is architecture- and kernel-dependent. The stable lesson is that user-supplied state must not be trusted merely because execution is now privileged.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protected entry transfers control to a destination configured by privileged software.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20.6 User-to-kernel transition — Deep Dive</a:t>
            </a:r>
          </a:p>
          <a:p/>
          <a:p>
            <a:r>
              <a:t>LECTURE NARRATION</a:t>
            </a:r>
          </a:p>
          <a:p>
            <a:r>
              <a:t>A protected entry transfers control to a destination configured by privileged software. The entry path establishes the kernel’s execution environment and records state needed for a return. Do not picture every entry as an ordinary call instruction that simply pushes a return address on the application’s stack. For example, x86-64 syscall does not itself perform a conventional push of the entire user context onto a kernel stack. The processor provides specified register and control-state changes, and kernel entry code performs additional work, including establishing suitable stack state. The exact entry sequence is architecture- and kernel-dependent. The stable lesson is that user-supplied state must not be trusted merely because execution is now privileged.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protected entry transfers control to a destination configured by privileged software.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20.7 Kernel-to-user return</a:t>
            </a:r>
          </a:p>
          <a:p/>
          <a:p>
            <a:r>
              <a:t>LECTURE NARRATION</a:t>
            </a:r>
          </a:p>
          <a:p>
            <a:r>
              <a:t>Before returning, the kernel prepares a valid user execution context and a result. The return may resume the original user instruction stream, deliver a signal through an arranged user-space path, or select another runnable task before the original one eventually continues. A system call that blocks is not completed by busy-waiting in user code. The kernel can place the caller in a waiting state and schedule other work. When the relevant event occurs, the caller becomes eligible to run again. Becoming runnable and actually receiving CPU time are distinct events; scheduling determines the latter.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before returning, the kernel prepares a valid user execution context and a result.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20.7 Kernel-to-user return — Deep Dive</a:t>
            </a:r>
          </a:p>
          <a:p/>
          <a:p>
            <a:r>
              <a:t>LECTURE NARRATION</a:t>
            </a:r>
          </a:p>
          <a:p>
            <a:r>
              <a:t>Before returning, the kernel prepares a valid user execution context and a result. The return may resume the original user instruction stream, deliver a signal through an arranged user-space path, or select another runnable task before the original one eventually continues. A system call that blocks is not completed by busy-waiting in user code. The kernel can place the caller in a waiting state and schedule other work. When the relevant event occurs, the caller becomes eligible to run again. Becoming runnable and actually receiving CPU time are distinct events; scheduling determines the latter.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before returning, the kernel prepares a valid user execution context and a result.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20.8 Timer interrupts</a:t>
            </a:r>
          </a:p>
          <a:p/>
          <a:p>
            <a:r>
              <a:t>LECTURE NARRATION</a:t>
            </a:r>
          </a:p>
          <a:p>
            <a:r>
              <a:t>Timer facilities let the kernel regain control and account for or schedule work. A runnable process cannot assume that avoiding voluntary system calls grants it indefinite uninterrupted use of a CPU. The hardware timer and scheduling mechanisms provide opportunities to reconsider execution. Modern systems need not use a simplistic fixed periodic tick for every purpose. Exact timing and scheduling policy vary. For reasoning about an application, the important fact is that preemption can occur between operations that appear adjacent in source code. A sequence is not atomic merely because it is short or usually finishes within one timer interval. [ R38 ]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timer facilities let the kernel regain control and account for or schedule work.</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20.8 Timer interrupts — Deep Dive</a:t>
            </a:r>
          </a:p>
          <a:p/>
          <a:p>
            <a:r>
              <a:t>LECTURE NARRATION</a:t>
            </a:r>
          </a:p>
          <a:p>
            <a:r>
              <a:t>Timer facilities let the kernel regain control and account for or schedule work. A runnable process cannot assume that avoiding voluntary system calls grants it indefinite uninterrupted use of a CPU. The hardware timer and scheduling mechanisms provide opportunities to reconsider execution. Modern systems need not use a simplistic fixed periodic tick for every purpose. Exact timing and scheduling policy vary. For reasoning about an application, the important fact is that preemption can occur between operations that appear adjacent in source code. A sequence is not atomic merely because it is short or usually finishes within one timer interval. [ R38 ]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timer facilities let the kernel regain control and account for or schedule work.</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A recoverable load</a:t>
            </a:r>
          </a:p>
          <a:p/>
          <a:p>
            <a:r>
              <a:t>LECTURE NARRATION</a:t>
            </a:r>
          </a:p>
          <a:p>
            <a:r>
              <a:t>Consider a valid private mapping whose page is not currently installed in the process’s page tables. A load instruction targets that page. The following sequence is a conceptual model, not a promise about every kernel implementation: The load may ultimately produce the same value it would have produced had the page already been resident. Nevertheless, its latency is very different. This is an early example of why a source-level operation does not imply a fixed machine-level cost. A page fault is also not the same event as a TLB miss; Chapter 25 separates them explicitly.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consider a valid private mapping whose page is not currently installed in the process’s page tables.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A recoverable load — Deep Dive</a:t>
            </a:r>
          </a:p>
          <a:p/>
          <a:p>
            <a:r>
              <a:t>LECTURE NARRATION</a:t>
            </a:r>
          </a:p>
          <a:p>
            <a:r>
              <a:t>Consider a valid private mapping whose page is not currently installed in the process’s page tables. A load instruction targets that page. The following sequence is a conceptual model, not a promise about every kernel implementation: The load may ultimately produce the same value it would have produced had the page already been resident. Nevertheless, its latency is very different. This is an early example of why a source-level operation does not imply a fixed machine-level cost. A page fault is also not the same event as a TLB miss; Chapter 25 separates them explicitly.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consider a valid private mapping whose page is not currently installed in the process’s page tables.</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System-call round trip</a:t>
            </a:r>
          </a:p>
          <a:p/>
          <a:p>
            <a:r>
              <a:t>LECTURE NARRATION</a:t>
            </a:r>
          </a:p>
          <a:p>
            <a:r>
              <a:t>A user program calling read eventually enters the kernel through the platform’s system-call mechanism. Hardware changes privilege context and transfers to a registered kernel entry path. The kernel validates the descriptor and user buffer, performs or schedules the operation, places a result in the calling convention’s return location, and returns to user mode. The library wrapper then exposes the result to C code.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user program calling read eventually enters the kernel through the platform’s system-call mechanism.</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System-call round trip — Deep Dive</a:t>
            </a:r>
          </a:p>
          <a:p/>
          <a:p>
            <a:r>
              <a:t>LECTURE NARRATION</a:t>
            </a:r>
          </a:p>
          <a:p>
            <a:r>
              <a:t>A user program calling read eventually enters the kernel through the platform’s system-call mechanism. Hardware changes privilege context and transfers to a registered kernel entry path. The kernel validates the descriptor and user buffer, performs or schedules the operation, places a result in the calling convention’s return location, and returns to user mode. The library wrapper then exposes the result to C code.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user program calling read eventually enters the kernel through the platform’s system-call mechanism.</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Fault versus interrupt</a:t>
            </a:r>
          </a:p>
          <a:p/>
          <a:p>
            <a:r>
              <a:t>LECTURE NARRATION</a:t>
            </a:r>
          </a:p>
          <a:p>
            <a:r>
              <a:t>A page fault is synchronous with the instruction that attempted the access: retrying that instruction may succeed after the mapping is fixed. A timer interrupt is asynchronous with respect to the current instruction stream and is generated by hardware timing. Both transfer control to privileged handlers, but their causes and restart semantics differ.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page fault is synchronous with the instruction that attempted the access: retrying that instruction may succeed after the mapping is fixed.</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Fault versus interrupt — Deep Dive</a:t>
            </a:r>
          </a:p>
          <a:p/>
          <a:p>
            <a:r>
              <a:t>LECTURE NARRATION</a:t>
            </a:r>
          </a:p>
          <a:p>
            <a:r>
              <a:t>A page fault is synchronous with the instruction that attempted the access: retrying that instruction may succeed after the mapping is fixed. A timer interrupt is asynchronous with respect to the current instruction stream and is generated by hardware timing. Both transfer control to privileged handlers, but their causes and restart semantics differ.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page fault is synchronous with the instruction that attempted the access: retrying that instruction may succeed after the mapping is fixed.</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Guided lab and review</a:t>
            </a:r>
          </a:p>
          <a:p/>
          <a:p>
            <a:r>
              <a:t>LECTURE NARRATION</a:t>
            </a:r>
          </a:p>
          <a:p>
            <a:r>
              <a:t>Lab 20. Write two traces for a memory access: one to a legitimate demand-paged address and one to an address outside all allowed mappings. Mark the point at which the architectural mechanism is the same and the point at which kernel policy produces different outcomes. Review 1. Does every system call require a process context switch? Review 2. Why must a concurrent program remain correct even when a thread is preempted between two adjacent statements?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20.</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Guided lab and review — Deep Dive</a:t>
            </a:r>
          </a:p>
          <a:p/>
          <a:p>
            <a:r>
              <a:t>LECTURE NARRATION</a:t>
            </a:r>
          </a:p>
          <a:p>
            <a:r>
              <a:t>Lab 20. Write two traces for a memory access: one to a legitimate demand-paged address and one to an address outside all allowed mappings. Mark the point at which the architectural mechanism is the same and the point at which kernel policy produces different outcomes. Review 1. Does every system call require a process context switch? Review 2. Why must a concurrent program remain correct even when a thread is preempted between two adjacent statements?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20.</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Chapter Synthesis</a:t>
            </a:r>
          </a:p>
          <a:p/>
          <a:p>
            <a:r>
              <a:t>LECTURE NARRATION</a:t>
            </a:r>
          </a:p>
          <a:p>
            <a:r>
              <a:t>The chapter's central subject is protected control transfer.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protected control transfer.</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Processes.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20 — Protected Control Transfer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Control flow can leave a program for reasons beyond a source-level function call.</a:t>
            </a:r>
          </a:p>
          <a:p>
            <a:pPr>
              <a:spcAft>
                <a:spcPts val="1100"/>
              </a:spcAft>
              <a:defRPr sz="1700">
                <a:solidFill>
                  <a:srgbClr val="F2F5F8"/>
                </a:solidFill>
              </a:defRPr>
            </a:pPr>
            <a:r>
              <a:t>• A device may need attention, an instruction may encounter an invalid condition, or the program may explicitly request an operating-system service.</a:t>
            </a:r>
          </a:p>
          <a:p>
            <a:pPr>
              <a:spcAft>
                <a:spcPts val="1100"/>
              </a:spcAft>
              <a:defRPr sz="1700">
                <a:solidFill>
                  <a:srgbClr val="F2F5F8"/>
                </a:solidFill>
              </a:defRPr>
            </a:pPr>
            <a:r>
              <a:t>• The processor and kernel cooperate to save enough state, select an appropriate handler, and eventually continue or terminate the interrupted activity.</a:t>
            </a:r>
          </a:p>
          <a:p>
            <a:pPr>
              <a:spcAft>
                <a:spcPts val="1100"/>
              </a:spcAft>
              <a:defRPr sz="1900">
                <a:solidFill>
                  <a:srgbClr val="F2F5F8"/>
                </a:solidFill>
              </a:defRPr>
            </a:pPr>
            <a:r>
              <a:t>• Terminology depends on context.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Protected Control Transfer.</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20.1 Exceptions</a:t>
            </a:r>
          </a:p>
          <a:p>
            <a:pPr>
              <a:spcAft>
                <a:spcPts val="1100"/>
              </a:spcAft>
              <a:defRPr sz="1900">
                <a:solidFill>
                  <a:srgbClr val="F2F5F8"/>
                </a:solidFill>
              </a:defRPr>
            </a:pPr>
            <a:r>
              <a:t>• 20.2 Interrupts</a:t>
            </a:r>
          </a:p>
          <a:p>
            <a:pPr>
              <a:spcAft>
                <a:spcPts val="1100"/>
              </a:spcAft>
              <a:defRPr sz="1900">
                <a:solidFill>
                  <a:srgbClr val="F2F5F8"/>
                </a:solidFill>
              </a:defRPr>
            </a:pPr>
            <a:r>
              <a:t>• 20.3 Traps</a:t>
            </a:r>
          </a:p>
          <a:p>
            <a:pPr>
              <a:spcAft>
                <a:spcPts val="1100"/>
              </a:spcAft>
              <a:defRPr sz="1900">
                <a:solidFill>
                  <a:srgbClr val="F2F5F8"/>
                </a:solidFill>
              </a:defRPr>
            </a:pPr>
            <a:r>
              <a:t>• 20.4 Faults</a:t>
            </a:r>
          </a:p>
          <a:p>
            <a:pPr>
              <a:spcAft>
                <a:spcPts val="1100"/>
              </a:spcAft>
              <a:defRPr sz="1900">
                <a:solidFill>
                  <a:srgbClr val="F2F5F8"/>
                </a:solidFill>
              </a:defRPr>
            </a:pPr>
            <a:r>
              <a:t>• ...plus 8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20.1 Exceptions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architectural exception arises in relation to instruction execution.</a:t>
            </a:r>
          </a:p>
          <a:p>
            <a:pPr>
              <a:spcAft>
                <a:spcPts val="1100"/>
              </a:spcAft>
              <a:defRPr sz="1900">
                <a:solidFill>
                  <a:srgbClr val="F2F5F8"/>
                </a:solidFill>
              </a:defRPr>
            </a:pPr>
            <a:r>
              <a:t>• Examples include a page fault, an invalid instruction, or a divide error.</a:t>
            </a:r>
          </a:p>
          <a:p>
            <a:pPr>
              <a:spcAft>
                <a:spcPts val="1100"/>
              </a:spcAft>
              <a:defRPr sz="1900">
                <a:solidFill>
                  <a:srgbClr val="F2F5F8"/>
                </a:solidFill>
              </a:defRPr>
            </a:pPr>
            <a:r>
              <a:t>• The processor identifies the condition and transfers control through a configured mechanism.</a:t>
            </a:r>
          </a:p>
          <a:p>
            <a:pPr>
              <a:spcAft>
                <a:spcPts val="1100"/>
              </a:spcAft>
              <a:defRPr sz="1900">
                <a:solidFill>
                  <a:srgbClr val="F2F5F8"/>
                </a:solidFill>
              </a:defRPr>
            </a:pPr>
            <a:r>
              <a:t>• The saved state allows the handler to determine what happened and decide whether execution can continue.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20.1 Exceptions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language exception such as throw std::runtime_error(...) belongs to a different abstraction.</a:t>
            </a:r>
          </a:p>
          <a:p>
            <a:pPr>
              <a:spcAft>
                <a:spcPts val="1100"/>
              </a:spcAft>
              <a:defRPr sz="1900">
                <a:solidFill>
                  <a:srgbClr val="F2F5F8"/>
                </a:solidFill>
              </a:defRPr>
            </a:pPr>
            <a:r>
              <a:t>• Its implementation may unwind call frames entirely in user space.</a:t>
            </a:r>
          </a:p>
          <a:p>
            <a:pPr>
              <a:spcAft>
                <a:spcPts val="1100"/>
              </a:spcAft>
              <a:defRPr sz="1900">
                <a:solidFill>
                  <a:srgbClr val="F2F5F8"/>
                </a:solidFill>
              </a:defRPr>
            </a:pPr>
            <a:r>
              <a:t>• Although both mechanisms redirect control, their causes, handlers, and guarantees differ.</a:t>
            </a:r>
          </a:p>
          <a:p>
            <a:pPr>
              <a:spcAft>
                <a:spcPts val="1100"/>
              </a:spcAft>
              <a:defRPr sz="1900">
                <a:solidFill>
                  <a:srgbClr val="F2F5F8"/>
                </a:solidFill>
              </a:defRPr>
            </a:pPr>
            <a:r>
              <a:t>• Do not infer operating-system privilege changes from the presence of a C++ try statement.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20.2 Interrupts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 interrupt is commonly an externally generated event delivered to a processor, such as a timer or device notification.</a:t>
            </a:r>
          </a:p>
          <a:p>
            <a:pPr>
              <a:spcAft>
                <a:spcPts val="1100"/>
              </a:spcAft>
              <a:defRPr sz="1900">
                <a:solidFill>
                  <a:srgbClr val="F2F5F8"/>
                </a:solidFill>
              </a:defRPr>
            </a:pPr>
            <a:r>
              <a:t>• Its timing is asynchronous with respect to the program’s intended instruction sequence.</a:t>
            </a:r>
          </a:p>
          <a:p>
            <a:pPr>
              <a:spcAft>
                <a:spcPts val="1100"/>
              </a:spcAft>
              <a:defRPr sz="1700">
                <a:solidFill>
                  <a:srgbClr val="F2F5F8"/>
                </a:solidFill>
              </a:defRPr>
            </a:pPr>
            <a:r>
              <a:t>• The interrupted program did not necessarily request the event and may have no direct relationship to the device that generated it.</a:t>
            </a:r>
          </a:p>
          <a:p>
            <a:pPr>
              <a:spcAft>
                <a:spcPts val="1100"/>
              </a:spcAft>
              <a:defRPr sz="1900">
                <a:solidFill>
                  <a:srgbClr val="F2F5F8"/>
                </a:solidFill>
              </a:defRPr>
            </a:pPr>
            <a:r>
              <a:t>• Interrupt handling must preserve the context required by the architecture and kernel.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20.2 Interrupts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Interrupt handling must preserve the context required by the architecture and kernel.</a:t>
            </a:r>
          </a:p>
          <a:p>
            <a:pPr>
              <a:spcAft>
                <a:spcPts val="1100"/>
              </a:spcAft>
              <a:defRPr sz="1900">
                <a:solidFill>
                  <a:srgbClr val="F2F5F8"/>
                </a:solidFill>
              </a:defRPr>
            </a:pPr>
            <a:r>
              <a:t>• A handler may acknowledge an event, make work runnable, and defer lengthy processing.</a:t>
            </a:r>
          </a:p>
          <a:p>
            <a:pPr>
              <a:spcAft>
                <a:spcPts val="1100"/>
              </a:spcAft>
              <a:defRPr sz="1900">
                <a:solidFill>
                  <a:srgbClr val="F2F5F8"/>
                </a:solidFill>
              </a:defRPr>
            </a:pPr>
            <a:r>
              <a:t>• Interrupts are one reason that elapsed wall time can exceed a program’s own CPU execution time.</a:t>
            </a:r>
          </a:p>
          <a:p>
            <a:pPr>
              <a:spcAft>
                <a:spcPts val="1100"/>
              </a:spcAft>
              <a:defRPr sz="1700">
                <a:solidFill>
                  <a:srgbClr val="F2F5F8"/>
                </a:solidFill>
              </a:defRPr>
            </a:pPr>
            <a:r>
              <a:t>• They are also one reason that a single-core system can exhibit interleavings even without simultaneous application execution.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20.3 Traps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 the x86 exception classification, a trap is reported after the instruction associated with it has completed.</a:t>
            </a:r>
          </a:p>
          <a:p>
            <a:pPr>
              <a:spcAft>
                <a:spcPts val="1100"/>
              </a:spcAft>
              <a:defRPr sz="1900">
                <a:solidFill>
                  <a:srgbClr val="F2F5F8"/>
                </a:solidFill>
              </a:defRPr>
            </a:pPr>
            <a:r>
              <a:t>• The saved instruction location generally supports continuation after that instruction.</a:t>
            </a:r>
          </a:p>
          <a:p>
            <a:pPr>
              <a:spcAft>
                <a:spcPts val="1100"/>
              </a:spcAft>
              <a:defRPr sz="1900">
                <a:solidFill>
                  <a:srgbClr val="F2F5F8"/>
                </a:solidFill>
              </a:defRPr>
            </a:pPr>
            <a:r>
              <a:t>• Debugging facilities use trap-like mechanisms to regain control at intentional observation points.</a:t>
            </a:r>
          </a:p>
          <a:p>
            <a:pPr>
              <a:spcAft>
                <a:spcPts val="1100"/>
              </a:spcAft>
              <a:defRPr sz="1900">
                <a:solidFill>
                  <a:srgbClr val="F2F5F8"/>
                </a:solidFill>
              </a:defRPr>
            </a:pPr>
            <a:r>
              <a:t>• The word is also used more broadly in operating-systems discussions for a deliberate transfer into privileged handling.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20.3 Traps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word is also used more broadly in operating-systems discussions for a deliberate transfer into privileged handling.</a:t>
            </a:r>
          </a:p>
          <a:p>
            <a:pPr>
              <a:spcAft>
                <a:spcPts val="1100"/>
              </a:spcAft>
              <a:defRPr sz="1900">
                <a:solidFill>
                  <a:srgbClr val="F2F5F8"/>
                </a:solidFill>
              </a:defRPr>
            </a:pPr>
            <a:r>
              <a:t>• When reading documentation, identify which meaning applies.</a:t>
            </a:r>
          </a:p>
          <a:p>
            <a:pPr>
              <a:spcAft>
                <a:spcPts val="1100"/>
              </a:spcAft>
              <a:defRPr sz="1700">
                <a:solidFill>
                  <a:srgbClr val="F2F5F8"/>
                </a:solidFill>
              </a:defRPr>
            </a:pPr>
            <a:r>
              <a:t>• A precise trace should state whether the current instruction will be retried, whether the next instruction will run, or whether execution will end.</a:t>
            </a:r>
          </a:p>
          <a:p>
            <a:pPr>
              <a:spcAft>
                <a:spcPts val="1100"/>
              </a:spcAft>
              <a:defRPr sz="1900">
                <a:solidFill>
                  <a:srgbClr val="F2F5F8"/>
                </a:solidFill>
              </a:defRPr>
            </a:pPr>
            <a:r>
              <a:t>• Those distinctions matter more than an ambiguous label.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20.4 Faults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fault is reported in a way that can support restarting the faulting instruction after the underlying condition is corrected.</a:t>
            </a:r>
          </a:p>
          <a:p>
            <a:pPr>
              <a:spcAft>
                <a:spcPts val="1100"/>
              </a:spcAft>
              <a:defRPr sz="1700">
                <a:solidFill>
                  <a:srgbClr val="F2F5F8"/>
                </a:solidFill>
              </a:defRPr>
            </a:pPr>
            <a:r>
              <a:t>• A page fault is the central example: the instruction attempts a memory access, translation or protection checks fail, and the kernel decides whether the access is legitimate...</a:t>
            </a:r>
          </a:p>
          <a:p>
            <a:pPr>
              <a:spcAft>
                <a:spcPts val="1100"/>
              </a:spcAft>
              <a:defRPr sz="1900">
                <a:solidFill>
                  <a:srgbClr val="F2F5F8"/>
                </a:solidFill>
              </a:defRPr>
            </a:pPr>
            <a:r>
              <a:t>• Recoverable does not mean automatically recovered.</a:t>
            </a:r>
          </a:p>
          <a:p>
            <a:pPr>
              <a:spcAft>
                <a:spcPts val="1100"/>
              </a:spcAft>
              <a:defRPr sz="1900">
                <a:solidFill>
                  <a:srgbClr val="F2F5F8"/>
                </a:solidFill>
              </a:defRPr>
            </a:pPr>
            <a:r>
              <a:t>• A legitimate demand-paged access may cause the kernel to install a mapping and retry the instruction.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20.4 Faults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Recoverable does not mean automatically recovered.</a:t>
            </a:r>
          </a:p>
          <a:p>
            <a:pPr>
              <a:spcAft>
                <a:spcPts val="1100"/>
              </a:spcAft>
              <a:defRPr sz="1900">
                <a:solidFill>
                  <a:srgbClr val="F2F5F8"/>
                </a:solidFill>
              </a:defRPr>
            </a:pPr>
            <a:r>
              <a:t>• A legitimate demand-paged access may cause the kernel to install a mapping and retry the instruction.</a:t>
            </a:r>
          </a:p>
          <a:p>
            <a:pPr>
              <a:spcAft>
                <a:spcPts val="1100"/>
              </a:spcAft>
              <a:defRPr sz="1900">
                <a:solidFill>
                  <a:srgbClr val="F2F5F8"/>
                </a:solidFill>
              </a:defRPr>
            </a:pPr>
            <a:r>
              <a:t>• An access to an invalid address may instead lead to a signal and process termination.</a:t>
            </a:r>
          </a:p>
          <a:p>
            <a:pPr>
              <a:spcAft>
                <a:spcPts val="1100"/>
              </a:spcAft>
              <a:defRPr sz="1900">
                <a:solidFill>
                  <a:srgbClr val="F2F5F8"/>
                </a:solidFill>
              </a:defRPr>
            </a:pPr>
            <a:r>
              <a:t>• The same architectural entry mechanism can therefore serve both routine resource management and error reporting.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20.5 System calls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system call is an explicit request for a kernel service through an operating-system ABI.</a:t>
            </a:r>
          </a:p>
          <a:p>
            <a:pPr>
              <a:spcAft>
                <a:spcPts val="1100"/>
              </a:spcAft>
              <a:defRPr sz="1700">
                <a:solidFill>
                  <a:srgbClr val="F2F5F8"/>
                </a:solidFill>
              </a:defRPr>
            </a:pPr>
            <a:r>
              <a:t>• A C library wrapper translates a source-level interface into that ABI and translates the result back into the library’s conventions.</a:t>
            </a:r>
          </a:p>
          <a:p>
            <a:pPr>
              <a:spcAft>
                <a:spcPts val="1100"/>
              </a:spcAft>
              <a:defRPr sz="1900">
                <a:solidFill>
                  <a:srgbClr val="F2F5F8"/>
                </a:solidFill>
              </a:defRPr>
            </a:pPr>
            <a:r>
              <a:t>• Some library operations require several system calls; others require none for a particular invocation.</a:t>
            </a:r>
          </a:p>
          <a:p>
            <a:pPr>
              <a:spcAft>
                <a:spcPts val="1100"/>
              </a:spcAft>
              <a:defRPr sz="1700">
                <a:solidFill>
                  <a:srgbClr val="F2F5F8"/>
                </a:solidFill>
              </a:defRPr>
            </a:pPr>
            <a:r>
              <a:t>• The Linux x86-64 system-call register convention is not identical to the System V function-call convention from Chapter 17.</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20.5 System calls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Linux x86-64 system-call register convention is not identical to the System V function-call convention from Chapter 17.</a:t>
            </a:r>
          </a:p>
          <a:p>
            <a:pPr>
              <a:spcAft>
                <a:spcPts val="1100"/>
              </a:spcAft>
              <a:defRPr sz="1700">
                <a:solidFill>
                  <a:srgbClr val="F2F5F8"/>
                </a:solidFill>
              </a:defRPr>
            </a:pPr>
            <a:r>
              <a:t>• In particular, the fourth integer system-call argument uses %r10 , not %rcx , and syscall has specific effects on %rcx and %r11 .</a:t>
            </a:r>
          </a:p>
          <a:p>
            <a:pPr>
              <a:spcAft>
                <a:spcPts val="1100"/>
              </a:spcAft>
              <a:defRPr sz="1900">
                <a:solidFill>
                  <a:srgbClr val="F2F5F8"/>
                </a:solidFill>
              </a:defRPr>
            </a:pPr>
            <a:r>
              <a:t>• Handwritten wrappers must respect the correct ABI.</a:t>
            </a:r>
          </a:p>
          <a:p>
            <a:pPr>
              <a:spcAft>
                <a:spcPts val="1100"/>
              </a:spcAft>
              <a:defRPr sz="1900">
                <a:solidFill>
                  <a:srgbClr val="F2F5F8"/>
                </a:solidFill>
              </a:defRPr>
            </a:pPr>
            <a:r>
              <a:t>• This book normally uses documented C interfaces instead of embedding raw system-call assembly. [ R46 ]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20.6 User-to-kernel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protected entry transfers control to a destination configured by privileged software.</a:t>
            </a:r>
          </a:p>
          <a:p>
            <a:pPr>
              <a:spcAft>
                <a:spcPts val="1100"/>
              </a:spcAft>
              <a:defRPr sz="1900">
                <a:solidFill>
                  <a:srgbClr val="F2F5F8"/>
                </a:solidFill>
              </a:defRPr>
            </a:pPr>
            <a:r>
              <a:t>• The entry path establishes the kernel’s execution environment and records state needed for a return.</a:t>
            </a:r>
          </a:p>
          <a:p>
            <a:pPr>
              <a:spcAft>
                <a:spcPts val="1100"/>
              </a:spcAft>
              <a:defRPr sz="1700">
                <a:solidFill>
                  <a:srgbClr val="F2F5F8"/>
                </a:solidFill>
              </a:defRPr>
            </a:pPr>
            <a:r>
              <a:t>• Do not picture every entry as an ordinary call instruction that simply pushes a return address on the application’s stack.</a:t>
            </a:r>
          </a:p>
          <a:p>
            <a:pPr>
              <a:spcAft>
                <a:spcPts val="1100"/>
              </a:spcAft>
              <a:defRPr sz="1900">
                <a:solidFill>
                  <a:srgbClr val="F2F5F8"/>
                </a:solidFill>
              </a:defRPr>
            </a:pPr>
            <a:r>
              <a:t>• For example, x86-64 syscall does not itself perform a conventional push of the entire user context onto a kernel stack.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20.6 User-to-kernel transition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example, x86-64 syscall does not itself perform a conventional push of the entire user context onto a kernel stack.</a:t>
            </a:r>
          </a:p>
          <a:p>
            <a:pPr>
              <a:spcAft>
                <a:spcPts val="1100"/>
              </a:spcAft>
              <a:defRPr sz="1700">
                <a:solidFill>
                  <a:srgbClr val="F2F5F8"/>
                </a:solidFill>
              </a:defRPr>
            </a:pPr>
            <a:r>
              <a:t>• The processor provides specified register and control-state changes, and kernel entry code performs additional work, including establishing suitable stack state.</a:t>
            </a:r>
          </a:p>
          <a:p>
            <a:pPr>
              <a:spcAft>
                <a:spcPts val="1100"/>
              </a:spcAft>
              <a:defRPr sz="1900">
                <a:solidFill>
                  <a:srgbClr val="F2F5F8"/>
                </a:solidFill>
              </a:defRPr>
            </a:pPr>
            <a:r>
              <a:t>• The exact entry sequence is architecture- and kernel-dependent.</a:t>
            </a:r>
          </a:p>
          <a:p>
            <a:pPr>
              <a:spcAft>
                <a:spcPts val="1100"/>
              </a:spcAft>
              <a:defRPr sz="1900">
                <a:solidFill>
                  <a:srgbClr val="F2F5F8"/>
                </a:solidFill>
              </a:defRPr>
            </a:pPr>
            <a:r>
              <a:t>• The stable lesson is that user-supplied state must not be trusted merely because execution is now privileged. [ R3 ]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20.7 Kernel-to-user return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Before returning, the kernel prepares a valid user execution context and a result.</a:t>
            </a:r>
          </a:p>
          <a:p>
            <a:pPr>
              <a:spcAft>
                <a:spcPts val="1100"/>
              </a:spcAft>
              <a:defRPr sz="1700">
                <a:solidFill>
                  <a:srgbClr val="F2F5F8"/>
                </a:solidFill>
              </a:defRPr>
            </a:pPr>
            <a:r>
              <a:t>• The return may resume the original user instruction stream, deliver a signal through an arranged user-space path, or select another runnable task before the original one...</a:t>
            </a:r>
          </a:p>
          <a:p>
            <a:pPr>
              <a:spcAft>
                <a:spcPts val="1100"/>
              </a:spcAft>
              <a:defRPr sz="1900">
                <a:solidFill>
                  <a:srgbClr val="F2F5F8"/>
                </a:solidFill>
              </a:defRPr>
            </a:pPr>
            <a:r>
              <a:t>• A system call that blocks is not completed by busy-waiting in user code.</a:t>
            </a:r>
          </a:p>
          <a:p>
            <a:pPr>
              <a:spcAft>
                <a:spcPts val="1100"/>
              </a:spcAft>
              <a:defRPr sz="1900">
                <a:solidFill>
                  <a:srgbClr val="F2F5F8"/>
                </a:solidFill>
              </a:defRPr>
            </a:pPr>
            <a:r>
              <a:t>• The kernel can place the caller in a waiting state and schedule other work.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20.7 Kernel-to-user return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system call that blocks is not completed by busy-waiting in user code.</a:t>
            </a:r>
          </a:p>
          <a:p>
            <a:pPr>
              <a:spcAft>
                <a:spcPts val="1100"/>
              </a:spcAft>
              <a:defRPr sz="1900">
                <a:solidFill>
                  <a:srgbClr val="F2F5F8"/>
                </a:solidFill>
              </a:defRPr>
            </a:pPr>
            <a:r>
              <a:t>• The kernel can place the caller in a waiting state and schedule other work.</a:t>
            </a:r>
          </a:p>
          <a:p>
            <a:pPr>
              <a:spcAft>
                <a:spcPts val="1100"/>
              </a:spcAft>
              <a:defRPr sz="1900">
                <a:solidFill>
                  <a:srgbClr val="F2F5F8"/>
                </a:solidFill>
              </a:defRPr>
            </a:pPr>
            <a:r>
              <a:t>• When the relevant event occurs, the caller becomes eligible to run again.</a:t>
            </a:r>
          </a:p>
          <a:p>
            <a:pPr>
              <a:spcAft>
                <a:spcPts val="1100"/>
              </a:spcAft>
              <a:defRPr sz="1900">
                <a:solidFill>
                  <a:srgbClr val="F2F5F8"/>
                </a:solidFill>
              </a:defRPr>
            </a:pPr>
            <a:r>
              <a:t>• Becoming runnable and actually receiving CPU time are distinct events; scheduling determines the latter.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20.8 Timer interrupts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Timer facilities let the kernel regain control and account for or schedule work.</a:t>
            </a:r>
          </a:p>
          <a:p>
            <a:pPr>
              <a:spcAft>
                <a:spcPts val="1100"/>
              </a:spcAft>
              <a:defRPr sz="1900">
                <a:solidFill>
                  <a:srgbClr val="F2F5F8"/>
                </a:solidFill>
              </a:defRPr>
            </a:pPr>
            <a:r>
              <a:t>• A runnable process cannot assume that avoiding voluntary system calls grants it indefinite uninterrupted use of a CPU.</a:t>
            </a:r>
          </a:p>
          <a:p>
            <a:pPr>
              <a:spcAft>
                <a:spcPts val="1100"/>
              </a:spcAft>
              <a:defRPr sz="1900">
                <a:solidFill>
                  <a:srgbClr val="F2F5F8"/>
                </a:solidFill>
              </a:defRPr>
            </a:pPr>
            <a:r>
              <a:t>• The hardware timer and scheduling mechanisms provide opportunities to reconsider execution.</a:t>
            </a:r>
          </a:p>
          <a:p>
            <a:pPr>
              <a:spcAft>
                <a:spcPts val="1100"/>
              </a:spcAft>
              <a:defRPr sz="1900">
                <a:solidFill>
                  <a:srgbClr val="F2F5F8"/>
                </a:solidFill>
              </a:defRPr>
            </a:pPr>
            <a:r>
              <a:t>• Modern systems need not use a simplistic fixed periodic tick for every purpose.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20.8 Timer interrupts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Modern systems need not use a simplistic fixed periodic tick for every purpose.</a:t>
            </a:r>
          </a:p>
          <a:p>
            <a:pPr>
              <a:spcAft>
                <a:spcPts val="1100"/>
              </a:spcAft>
              <a:defRPr sz="1900">
                <a:solidFill>
                  <a:srgbClr val="F2F5F8"/>
                </a:solidFill>
              </a:defRPr>
            </a:pPr>
            <a:r>
              <a:t>• Exact timing and scheduling policy vary.</a:t>
            </a:r>
          </a:p>
          <a:p>
            <a:pPr>
              <a:spcAft>
                <a:spcPts val="1100"/>
              </a:spcAft>
              <a:defRPr sz="1700">
                <a:solidFill>
                  <a:srgbClr val="F2F5F8"/>
                </a:solidFill>
              </a:defRPr>
            </a:pPr>
            <a:r>
              <a:t>• For reasoning about an application, the important fact is that preemption can occur between operations that appear adjacent in source code.</a:t>
            </a:r>
          </a:p>
          <a:p>
            <a:pPr>
              <a:spcAft>
                <a:spcPts val="1100"/>
              </a:spcAft>
              <a:defRPr sz="1900">
                <a:solidFill>
                  <a:srgbClr val="F2F5F8"/>
                </a:solidFill>
              </a:defRPr>
            </a:pPr>
            <a:r>
              <a:t>• A sequence is not atomic merely because it is short or usually finishes within one timer interval. [ R38 ]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 recoverable load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Consider a valid private mapping whose page is not currently installed in the process’s page tables.</a:t>
            </a:r>
          </a:p>
          <a:p>
            <a:pPr>
              <a:spcAft>
                <a:spcPts val="1100"/>
              </a:spcAft>
              <a:defRPr sz="1900">
                <a:solidFill>
                  <a:srgbClr val="F2F5F8"/>
                </a:solidFill>
              </a:defRPr>
            </a:pPr>
            <a:r>
              <a:t>• A load instruction targets that page.</a:t>
            </a:r>
          </a:p>
          <a:p>
            <a:pPr>
              <a:spcAft>
                <a:spcPts val="1100"/>
              </a:spcAft>
              <a:defRPr sz="1900">
                <a:solidFill>
                  <a:srgbClr val="F2F5F8"/>
                </a:solidFill>
              </a:defRPr>
            </a:pPr>
            <a:r>
              <a:t>• The following sequence is a conceptual model, not a promise about every kernel implementation:</a:t>
            </a:r>
          </a:p>
          <a:p>
            <a:pPr>
              <a:spcAft>
                <a:spcPts val="1100"/>
              </a:spcAft>
              <a:defRPr sz="1900">
                <a:solidFill>
                  <a:srgbClr val="F2F5F8"/>
                </a:solidFill>
              </a:defRPr>
            </a:pPr>
            <a:r>
              <a:t>• The load may ultimately produce the same value it would have produced had the page already been resident.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recoverable load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load may ultimately produce the same value it would have produced had the page already been resident.</a:t>
            </a:r>
          </a:p>
          <a:p>
            <a:pPr>
              <a:spcAft>
                <a:spcPts val="1100"/>
              </a:spcAft>
              <a:defRPr sz="1900">
                <a:solidFill>
                  <a:srgbClr val="F2F5F8"/>
                </a:solidFill>
              </a:defRPr>
            </a:pPr>
            <a:r>
              <a:t>• Nevertheless, its latency is very different.</a:t>
            </a:r>
          </a:p>
          <a:p>
            <a:pPr>
              <a:spcAft>
                <a:spcPts val="1100"/>
              </a:spcAft>
              <a:defRPr sz="1900">
                <a:solidFill>
                  <a:srgbClr val="F2F5F8"/>
                </a:solidFill>
              </a:defRPr>
            </a:pPr>
            <a:r>
              <a:t>• This is an early example of why a source-level operation does not imply a fixed machine-level cost.</a:t>
            </a:r>
          </a:p>
          <a:p>
            <a:pPr>
              <a:spcAft>
                <a:spcPts val="1100"/>
              </a:spcAft>
              <a:defRPr sz="1900">
                <a:solidFill>
                  <a:srgbClr val="F2F5F8"/>
                </a:solidFill>
              </a:defRPr>
            </a:pPr>
            <a:r>
              <a:t>• A page fault is also not the same event as a TLB miss; Chapter 25 separates them explicitly. [ R10 ]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System-call round trip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user program calling read eventually enters the kernel through the platform’s system-call mechanism.</a:t>
            </a:r>
          </a:p>
          <a:p>
            <a:pPr>
              <a:spcAft>
                <a:spcPts val="1100"/>
              </a:spcAft>
              <a:defRPr sz="1900">
                <a:solidFill>
                  <a:srgbClr val="F2F5F8"/>
                </a:solidFill>
              </a:defRPr>
            </a:pPr>
            <a:r>
              <a:t>• Hardware changes privilege context and transfers to a registered kernel entry path.</a:t>
            </a:r>
          </a:p>
          <a:p>
            <a:pPr>
              <a:spcAft>
                <a:spcPts val="1100"/>
              </a:spcAft>
              <a:defRPr sz="1700">
                <a:solidFill>
                  <a:srgbClr val="F2F5F8"/>
                </a:solidFill>
              </a:defRPr>
            </a:pPr>
            <a:r>
              <a:t>• The kernel validates the descriptor and user buffer, performs or schedules the operation, places a result in the calling convention’s return location, and returns to user mode.</a:t>
            </a:r>
          </a:p>
          <a:p>
            <a:pPr>
              <a:spcAft>
                <a:spcPts val="1100"/>
              </a:spcAft>
              <a:defRPr sz="1900">
                <a:solidFill>
                  <a:srgbClr val="F2F5F8"/>
                </a:solidFill>
              </a:defRPr>
            </a:pPr>
            <a:r>
              <a:t>• The library wrapper then exposes the result to C code.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System-call round trip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user program calling read eventually enters the kernel through the platform’s system-call mechanism.</a:t>
            </a:r>
          </a:p>
          <a:p>
            <a:pPr>
              <a:spcAft>
                <a:spcPts val="1100"/>
              </a:spcAft>
              <a:defRPr sz="1900">
                <a:solidFill>
                  <a:srgbClr val="F2F5F8"/>
                </a:solidFill>
              </a:defRPr>
            </a:pPr>
            <a:r>
              <a:t>• Hardware changes privilege context and transfers to a registered kernel entry path.</a:t>
            </a:r>
          </a:p>
          <a:p>
            <a:pPr>
              <a:spcAft>
                <a:spcPts val="1100"/>
              </a:spcAft>
              <a:defRPr sz="1700">
                <a:solidFill>
                  <a:srgbClr val="F2F5F8"/>
                </a:solidFill>
              </a:defRPr>
            </a:pPr>
            <a:r>
              <a:t>• The kernel validates the descriptor and user buffer, performs or schedules the operation, places a result in the calling convention’s return location, and returns to user...</a:t>
            </a:r>
          </a:p>
          <a:p>
            <a:pPr>
              <a:spcAft>
                <a:spcPts val="1100"/>
              </a:spcAft>
              <a:defRPr sz="1900">
                <a:solidFill>
                  <a:srgbClr val="F2F5F8"/>
                </a:solidFill>
              </a:defRPr>
            </a:pPr>
            <a:r>
              <a:t>• The library wrapper then exposes the result to C code.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Fault versus interrupt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page fault is synchronous with the instruction that attempted the access: retrying that instruction may succeed after the mapping is fixed.</a:t>
            </a:r>
          </a:p>
          <a:p>
            <a:pPr>
              <a:spcAft>
                <a:spcPts val="1100"/>
              </a:spcAft>
              <a:defRPr sz="1900">
                <a:solidFill>
                  <a:srgbClr val="F2F5F8"/>
                </a:solidFill>
              </a:defRPr>
            </a:pPr>
            <a:r>
              <a:t>• A timer interrupt is asynchronous with respect to the current instruction stream and is generated by hardware timing.</a:t>
            </a:r>
          </a:p>
          <a:p>
            <a:pPr>
              <a:spcAft>
                <a:spcPts val="1100"/>
              </a:spcAft>
              <a:defRPr sz="1900">
                <a:solidFill>
                  <a:srgbClr val="F2F5F8"/>
                </a:solidFill>
              </a:defRPr>
            </a:pPr>
            <a:r>
              <a:t>• Both transfer control to privileged handlers, but their causes and restart semantics differ.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Fault versus interrupt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page fault is synchronous with the instruction that attempted the access: retrying that instruction may succeed after the mapping is fixed.</a:t>
            </a:r>
          </a:p>
          <a:p>
            <a:pPr>
              <a:spcAft>
                <a:spcPts val="1100"/>
              </a:spcAft>
              <a:defRPr sz="1900">
                <a:solidFill>
                  <a:srgbClr val="F2F5F8"/>
                </a:solidFill>
              </a:defRPr>
            </a:pPr>
            <a:r>
              <a:t>• A timer interrupt is asynchronous with respect to the current instruction stream and is generated by hardware timing.</a:t>
            </a:r>
          </a:p>
          <a:p>
            <a:pPr>
              <a:spcAft>
                <a:spcPts val="1100"/>
              </a:spcAft>
              <a:defRPr sz="1900">
                <a:solidFill>
                  <a:srgbClr val="F2F5F8"/>
                </a:solidFill>
              </a:defRPr>
            </a:pPr>
            <a:r>
              <a:t>• Both transfer control to privileged handlers, but their causes and restart semantics differ.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20.</a:t>
            </a:r>
          </a:p>
          <a:p>
            <a:pPr>
              <a:spcAft>
                <a:spcPts val="1100"/>
              </a:spcAft>
              <a:defRPr sz="1700">
                <a:solidFill>
                  <a:srgbClr val="F2F5F8"/>
                </a:solidFill>
              </a:defRPr>
            </a:pPr>
            <a:r>
              <a:t>• Write two traces for a memory access: one to a legitimate demand-paged address and one to an address outside all allowed mappings.</a:t>
            </a:r>
          </a:p>
          <a:p>
            <a:pPr>
              <a:spcAft>
                <a:spcPts val="1100"/>
              </a:spcAft>
              <a:defRPr sz="1700">
                <a:solidFill>
                  <a:srgbClr val="F2F5F8"/>
                </a:solidFill>
              </a:defRPr>
            </a:pPr>
            <a:r>
              <a:t>• Mark the point at which the architectural mechanism is the same and the point at which kernel policy produces different outcomes.</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Does every system call require a process context switch?</a:t>
            </a:r>
          </a:p>
          <a:p>
            <a:pPr>
              <a:spcAft>
                <a:spcPts val="1100"/>
              </a:spcAft>
              <a:defRPr sz="1900">
                <a:solidFill>
                  <a:srgbClr val="F2F5F8"/>
                </a:solidFill>
              </a:defRPr>
            </a:pPr>
            <a:r>
              <a:t>• Review 2.</a:t>
            </a:r>
          </a:p>
          <a:p>
            <a:pPr>
              <a:spcAft>
                <a:spcPts val="1100"/>
              </a:spcAft>
              <a:defRPr sz="1900">
                <a:solidFill>
                  <a:srgbClr val="F2F5F8"/>
                </a:solidFill>
              </a:defRPr>
            </a:pPr>
            <a:r>
              <a:t>• Why must a concurrent program remain correct even when a thread is preempted between two adjacent statements?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protected control transfer.</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Processes.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20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