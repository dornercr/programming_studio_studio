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57 — Memory-Safety Vulnerabilities</a:t>
            </a:r>
          </a:p>
          <a:p/>
          <a:p>
            <a:r>
              <a:t>LECTURE NARRATION</a:t>
            </a:r>
          </a:p>
          <a:p>
            <a:r>
              <a:t>A memory-safety vulnerability arises when a program permits access outside the intended bounds, lifetime, type, or ownership of an object in a way that can affect security. The underlying mistake may begin as an ordinary correctness bug, but untrusted input can make its consequences repeatable and externally controllable. The defensive objective is to prevent invalid operations before they occur. Page permissions and hardening features are valuable secondary barriers, but they do not replace length validation, checked arithmetic, lifetime management, and synchronization. This chapter uses safe rejection tests rather than exploitation exercises. [ R5 , R8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memory-safety vulnerability arises when a program permits access outside the intended bounds, lifetime, type, or ownership of an object in a way that can affect security.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memory-safety vulnerability arises when a program permits access outside the intended bounds, lifetime, type, or ownership of an object in a way that can affect security. The underlying mistake may begin as an ordinary correctness bug, but untrusted input can make its consequences repeatable and externally controllable. The defensive objective is to prevent invalid operations before they occur. Page permissions and hardening features are valuable secondary barriers, but they do not replace length validation, checked arithmetic, lifetime management, and synchronization. This chapter uses safe rejection tests rather than exploitation exercises. [ R5 , R8 , R34 ]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memory-safety vulnerability arises when a program permits access outside the intended bounds, lifetime, type, or ownership of an object in a way that can affect security.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57.1 Buffer overflows 57.2 Stack corruption 57.3 Heap corruption 57.4 Use-after-free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57.1 Buffer overflows 57.2 Stack corruption 57.3 Heap corruption 57.4 Use-after-free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57.1 Buffer overflows</a:t>
            </a:r>
          </a:p>
          <a:p/>
          <a:p>
            <a:r>
              <a:t>LECTURE NARRATION</a:t>
            </a:r>
          </a:p>
          <a:p>
            <a:r>
              <a:t>A buffer overflow writes beyond a buffer’s valid extent. The immediate cause can be an unchecked length, a missing terminator allowance, a wrong element-size calculation, or a parser that trusts a field before validating it. Tie every byte operation to an explicit extent. For a destination of capacity c and requested copy length n , prove n &lt;= c before copying. For a string requiring a terminator, include that byte in the contract without computing an overflowing n + 1 . A length-aware interface helps, but its supplied lengths must still be correct.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 overflow writes beyond a buffer’s valid extent.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57.1 Buffer overflows — Deep Dive</a:t>
            </a:r>
          </a:p>
          <a:p/>
          <a:p>
            <a:r>
              <a:t>LECTURE NARRATION</a:t>
            </a:r>
          </a:p>
          <a:p>
            <a:r>
              <a:t>A buffer overflow writes beyond a buffer’s valid extent. The immediate cause can be an unchecked length, a missing terminator allowance, a wrong element-size calculation, or a parser that trusts a field before validating it. Tie every byte operation to an explicit extent. For a destination of capacity c and requested copy length n , prove n &lt;= c before copying. For a string requiring a terminator, include that byte in the contract without computing an overflowing n + 1 . A length-aware interface helps, but its supplied lengths must still be correct.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 overflow writes beyond a buffer’s valid extent.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57.2 Stack corruption</a:t>
            </a:r>
          </a:p>
          <a:p/>
          <a:p>
            <a:r>
              <a:t>LECTURE NARRATION</a:t>
            </a:r>
          </a:p>
          <a:p>
            <a:r>
              <a:t>Stack corruption damages automatic storage or implementation-managed call state. A write beyond a local array can affect nearby objects, saved registers, or other control information depending on layout and optimization. Do not rely on a particular stack arrangement to decide whether an overflow is harmless. Compilers can reorder, eliminate, or place objects differently. Prevent the out-of-bounds write itself; a test that happens to modify only padding on one build does not establish safety.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stack corruption damages automatic storage or implementation-managed call state.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57.2 Stack corruption — Deep Dive</a:t>
            </a:r>
          </a:p>
          <a:p/>
          <a:p>
            <a:r>
              <a:t>LECTURE NARRATION</a:t>
            </a:r>
          </a:p>
          <a:p>
            <a:r>
              <a:t>Stack corruption damages automatic storage or implementation-managed call state. A write beyond a local array can affect nearby objects, saved registers, or other control information depending on layout and optimization. Do not rely on a particular stack arrangement to decide whether an overflow is harmless. Compilers can reorder, eliminate, or place objects differently. Prevent the out-of-bounds write itself; a test that happens to modify only padding on one build does not establish safety.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stack corruption damages automatic storage or implementation-managed call state.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57.3 Heap corruption</a:t>
            </a:r>
          </a:p>
          <a:p/>
          <a:p>
            <a:r>
              <a:t>LECTURE NARRATION</a:t>
            </a:r>
          </a:p>
          <a:p>
            <a:r>
              <a:t>Heap corruption damages dynamically allocated objects or allocator bookkeeping. A write can remain inside a mapped writable page and still cross an allocation boundary. The operating system’s page checks may therefore permit the machine access while the language program has already violated its contract. Allocator crashes often occur later than the original bad write. A failure during allocation or deallocation may be a symptom of earlier corruption, not proof that the allocator is the root cause. Instrumented testing and minimizing the first invalid operation are more useful than patching the eventual crash site blindly.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heap corruption damages dynamically allocated objects or allocator bookkeeping.</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57.3 Heap corruption — Deep Dive</a:t>
            </a:r>
          </a:p>
          <a:p/>
          <a:p>
            <a:r>
              <a:t>LECTURE NARRATION</a:t>
            </a:r>
          </a:p>
          <a:p>
            <a:r>
              <a:t>Heap corruption damages dynamically allocated objects or allocator bookkeeping. A write can remain inside a mapped writable page and still cross an allocation boundary. The operating system’s page checks may therefore permit the machine access while the language program has already violated its contract. Allocator crashes often occur later than the original bad write. A failure during allocation or deallocation may be a symptom of earlier corruption, not proof that the allocator is the root cause. Instrumented testing and minimizing the first invalid operation are more useful than patching the eventual crash site blindly.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heap corruption damages dynamically allocated objects or allocator bookkeeping.</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57.4 Use-after-free</a:t>
            </a:r>
          </a:p>
          <a:p/>
          <a:p>
            <a:r>
              <a:t>LECTURE NARRATION</a:t>
            </a:r>
          </a:p>
          <a:p>
            <a:r>
              <a:t>Use-after-free accesses an object after its lifetime and ownership have ended. The address may still be mapped and may even contain plausible data. Reuse by another allocation can turn the stale access into corruption of an unrelated object. Ownership abstractions reduce the risk, but raw observers still need lifetime rules. A unique_ptr prevents duplicate ownership but does not make every raw pointer derived from it safe after reset. Shared ownership can extend lifetime, but it does not automatically synchronize mutable contents.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use-after-free accesses an object after its lifetime and ownership have ended.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57.4 Use-after-free — Deep Dive</a:t>
            </a:r>
          </a:p>
          <a:p/>
          <a:p>
            <a:r>
              <a:t>LECTURE NARRATION</a:t>
            </a:r>
          </a:p>
          <a:p>
            <a:r>
              <a:t>Use-after-free accesses an object after its lifetime and ownership have ended. The address may still be mapped and may even contain plausible data. Reuse by another allocation can turn the stale access into corruption of an unrelated object. Ownership abstractions reduce the risk, but raw observers still need lifetime rules. A unique_ptr prevents duplicate ownership but does not make every raw pointer derived from it safe after reset. Shared ownership can extend lifetime, but it does not automatically synchronize mutable contents.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use-after-free accesses an object after its lifetime and ownership have ended.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57.5 Integer errors</a:t>
            </a:r>
          </a:p>
          <a:p/>
          <a:p>
            <a:r>
              <a:t>LECTURE NARRATION</a:t>
            </a:r>
          </a:p>
          <a:p>
            <a:r>
              <a:t>Integer errors can create memory vulnerabilities indirectly. A negative length converted to an unsigned size can become very large. A wrapped multiplication can allocate too little storage for a later copy. A truncating conversion can make validation inspect a different value from the one subsequently used. Validate in a representation that can express the required range, then convert. For allocation size count * element_size , require count &lt;= maximum / element_size when the element size is nonzero. Use the same validated value for the actual operation; re-parsing or recomputing with different types can reintroduce the defect.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integer errors can create memory vulnerabilities indirectly.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57.5 Integer errors — Deep Dive</a:t>
            </a:r>
          </a:p>
          <a:p/>
          <a:p>
            <a:r>
              <a:t>LECTURE NARRATION</a:t>
            </a:r>
          </a:p>
          <a:p>
            <a:r>
              <a:t>Integer errors can create memory vulnerabilities indirectly. A negative length converted to an unsigned size can become very large. A wrapped multiplication can allocate too little storage for a later copy. A truncating conversion can make validation inspect a different value from the one subsequently used. Validate in a representation that can express the required range, then convert. For allocation size count * element_size , require count &lt;= maximum / element_size when the element size is nonzero. Use the same validated value for the actual operation; re-parsing or recomputing with different types can reintroduce the defect.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integer errors can create memory vulnerabilities indirectly.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Validate one complete bounded frame</a:t>
            </a:r>
          </a:p>
          <a:p/>
          <a:p>
            <a:r>
              <a:t>LECTURE NARRATION</a:t>
            </a:r>
          </a:p>
          <a:p>
            <a:r>
              <a:t>This parser accepts a two-byte big-endian length followed by exactly that many payload bytes, with a maximum payload of 16 bytes. It returns a borrowed view, so the input owner must remain alive while the result is used. No allocation depends on the untrusted length. Companion listing: ch57/parse_frame.cpp The validation order is deliberate. First prove that the prefix bytes exist. Then decode into a type wide enough for the field. Next enforce the application maximum. Finally compare the remaining input length without an unchecked addition. Only after all checks does the parser create the payload view. The strict equality rejects trailing bytes because this function parses exactly one complete frame. A streaming parser would instead retain unconsumed bytes and return a consumed-length result. Changing that contract requires a deliberate interface change, not silently ignoring extra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parser accepts a two-byte big-endian length followed by exactly that many payload bytes, with a maximum payload of 16 bytes.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Validate one complete bounded frame — Deep Dive</a:t>
            </a:r>
          </a:p>
          <a:p/>
          <a:p>
            <a:r>
              <a:t>LECTURE NARRATION</a:t>
            </a:r>
          </a:p>
          <a:p>
            <a:r>
              <a:t>This parser accepts a two-byte big-endian length followed by exactly that many payload bytes, with a maximum payload of 16 bytes. It returns a borrowed view, so the input owner must remain alive while the result is used. No allocation depends on the untrusted length. Companion listing: ch57/parse_frame.cpp The validation order is deliberate. First prove that the prefix bytes exist. Then decode into a type wide enough for the field. Next enforce the application maximum. Finally compare the remaining input length without an unchecked addition. Only after all checks does the parser create the payload view. The strict equality rejects trailing bytes because this function parses exactly one complete frame. A streaming parser would instead retain unconsumed bytes and return a consumed-length result. Changing that contract requires a deliberate interface change, not silently ignoring extra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parser accepts a two-byte big-endian length followed by exactly that many payload bytes, with a maximum payload of 16 bytes.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Length-field integer bug</a:t>
            </a:r>
          </a:p>
          <a:p/>
          <a:p>
            <a:r>
              <a:t>LECTURE NARRATION</a:t>
            </a:r>
          </a:p>
          <a:p>
            <a:r>
              <a:t>A protocol contains a 32-bit length. Code computes length + 4 in 32 bits before allocating. If length is near UINT32_MAX , the addition wraps to a small number, the allocation succeeds, and a later copy uses the large logical length. Validate the bound before addition or promote to a wider checked type so allocation and copy use the same safe size.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protocol contains a 32-bit length.</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Length-field integer bug — Deep Dive</a:t>
            </a:r>
          </a:p>
          <a:p/>
          <a:p>
            <a:r>
              <a:t>LECTURE NARRATION</a:t>
            </a:r>
          </a:p>
          <a:p>
            <a:r>
              <a:t>A protocol contains a 32-bit length. Code computes length + 4 in 32 bits before allocating. If length is near UINT32_MAX , the addition wraps to a small number, the allocation succeeds, and a later copy uses the large logical length. Validate the bound before addition or promote to a wider checked type so allocation and copy use the same safe size.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protocol contains a 32-bit length.</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Stack overwrite boundary</a:t>
            </a:r>
          </a:p>
          <a:p/>
          <a:p>
            <a:r>
              <a:t>LECTURE NARRATION</a:t>
            </a:r>
          </a:p>
          <a:p>
            <a:r>
              <a:t>A local buffer of 32 bytes cannot safely receive 40 unchecked input bytes. The extra writes can corrupt adjacent stack data such as saved state or other locals. Mitigations may detect or complicate exploitation, but the primary fix is enforcing a correct length contract before writing.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local buffer of 32 bytes cannot safely receive 40 unchecked input bytes.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Stack overwrite boundary — Deep Dive</a:t>
            </a:r>
          </a:p>
          <a:p/>
          <a:p>
            <a:r>
              <a:t>LECTURE NARRATION</a:t>
            </a:r>
          </a:p>
          <a:p>
            <a:r>
              <a:t>A local buffer of 32 bytes cannot safely receive 40 unchecked input bytes. The extra writes can corrupt adjacent stack data such as saved state or other locals. Mitigations may detect or complicate exploitation, but the primary fix is enforcing a correct length contract before writing.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local buffer of 32 bytes cannot safely receive 40 unchecked input bytes.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57. Test payload lengths 0, 1, 15, 16, and 17, including exact, truncated, and extra-byte inputs. Verify that rejection does not mutate the input or produce a usable payload view. Keep the backing arrays alive through every accepted-view access. Review 1. Why can page-level protection miss a heap overflow? Review 2. Why is checking a truncated length different from checking the original input value?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57.</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57. Test payload lengths 0, 1, 15, 16, and 17, including exact, truncated, and extra-byte inputs. Verify that rejection does not mutate the input or produce a usable payload view. Keep the backing arrays alive through every accepted-view access. Review 1. Why can page-level protection miss a heap overflow? Review 2. Why is checking a truncated length different from checking the original input value?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57.</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memory-safety vulnerabilities.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memory-safety vulnerabilities.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Exploit Mitigations.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57 — Memory-Safety Vulnerabilities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memory-safety vulnerability arises when a program permits access outside the intended bounds, lifetime, type, or ownership of an object in a way that can affect security.</a:t>
            </a:r>
          </a:p>
          <a:p>
            <a:pPr>
              <a:spcAft>
                <a:spcPts val="1100"/>
              </a:spcAft>
              <a:defRPr sz="1700">
                <a:solidFill>
                  <a:srgbClr val="F2F5F8"/>
                </a:solidFill>
              </a:defRPr>
            </a:pPr>
            <a:r>
              <a:t>• The underlying mistake may begin as an ordinary correctness bug, but untrusted input can make its consequences repeatable and externally controllable.</a:t>
            </a:r>
          </a:p>
          <a:p>
            <a:pPr>
              <a:spcAft>
                <a:spcPts val="1100"/>
              </a:spcAft>
              <a:defRPr sz="1900">
                <a:solidFill>
                  <a:srgbClr val="F2F5F8"/>
                </a:solidFill>
              </a:defRPr>
            </a:pPr>
            <a:r>
              <a:t>• The defensive objective is to prevent invalid operations before they occur.</a:t>
            </a:r>
          </a:p>
          <a:p>
            <a:pPr>
              <a:spcAft>
                <a:spcPts val="1100"/>
              </a:spcAft>
              <a:defRPr sz="1700">
                <a:solidFill>
                  <a:srgbClr val="F2F5F8"/>
                </a:solidFill>
              </a:defRPr>
            </a:pPr>
            <a:r>
              <a:t>• Page permissions and hardening features are valuable secondary barriers, but they do not replace length validation, checked arithmetic, lifetime management, and synchronization.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Memory-Safety Vulnerabilities.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57.1 Buffer overflows</a:t>
            </a:r>
          </a:p>
          <a:p>
            <a:pPr>
              <a:spcAft>
                <a:spcPts val="1100"/>
              </a:spcAft>
              <a:defRPr sz="1900">
                <a:solidFill>
                  <a:srgbClr val="F2F5F8"/>
                </a:solidFill>
              </a:defRPr>
            </a:pPr>
            <a:r>
              <a:t>• 57.2 Stack corruption</a:t>
            </a:r>
          </a:p>
          <a:p>
            <a:pPr>
              <a:spcAft>
                <a:spcPts val="1100"/>
              </a:spcAft>
              <a:defRPr sz="1900">
                <a:solidFill>
                  <a:srgbClr val="F2F5F8"/>
                </a:solidFill>
              </a:defRPr>
            </a:pPr>
            <a:r>
              <a:t>• 57.3 Heap corruption</a:t>
            </a:r>
          </a:p>
          <a:p>
            <a:pPr>
              <a:spcAft>
                <a:spcPts val="1100"/>
              </a:spcAft>
              <a:defRPr sz="1900">
                <a:solidFill>
                  <a:srgbClr val="F2F5F8"/>
                </a:solidFill>
              </a:defRPr>
            </a:pPr>
            <a:r>
              <a:t>• 57.4 Use-after-free</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57.1 Buffer overflows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buffer overflow writes beyond a buffer’s valid extent.</a:t>
            </a:r>
          </a:p>
          <a:p>
            <a:pPr>
              <a:spcAft>
                <a:spcPts val="1100"/>
              </a:spcAft>
              <a:defRPr sz="1700">
                <a:solidFill>
                  <a:srgbClr val="F2F5F8"/>
                </a:solidFill>
              </a:defRPr>
            </a:pPr>
            <a:r>
              <a:t>• The immediate cause can be an unchecked length, a missing terminator allowance, a wrong element-size calculation, or a parser that trusts a field before validating it.</a:t>
            </a:r>
          </a:p>
          <a:p>
            <a:pPr>
              <a:spcAft>
                <a:spcPts val="1100"/>
              </a:spcAft>
              <a:defRPr sz="1900">
                <a:solidFill>
                  <a:srgbClr val="F2F5F8"/>
                </a:solidFill>
              </a:defRPr>
            </a:pPr>
            <a:r>
              <a:t>• Tie every byte operation to an explicit extent.</a:t>
            </a:r>
          </a:p>
          <a:p>
            <a:pPr>
              <a:spcAft>
                <a:spcPts val="1100"/>
              </a:spcAft>
              <a:defRPr sz="1900">
                <a:solidFill>
                  <a:srgbClr val="F2F5F8"/>
                </a:solidFill>
              </a:defRPr>
            </a:pPr>
            <a:r>
              <a:t>• For a destination of capacity c and requested copy length n , prove n &lt;= c before copying.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57.1 Buffer overflows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Tie every byte operation to an explicit extent.</a:t>
            </a:r>
          </a:p>
          <a:p>
            <a:pPr>
              <a:spcAft>
                <a:spcPts val="1100"/>
              </a:spcAft>
              <a:defRPr sz="1900">
                <a:solidFill>
                  <a:srgbClr val="F2F5F8"/>
                </a:solidFill>
              </a:defRPr>
            </a:pPr>
            <a:r>
              <a:t>• For a destination of capacity c and requested copy length n , prove n &lt;= c before copying.</a:t>
            </a:r>
          </a:p>
          <a:p>
            <a:pPr>
              <a:spcAft>
                <a:spcPts val="1100"/>
              </a:spcAft>
              <a:defRPr sz="1900">
                <a:solidFill>
                  <a:srgbClr val="F2F5F8"/>
                </a:solidFill>
              </a:defRPr>
            </a:pPr>
            <a:r>
              <a:t>• For a string requiring a terminator, include that byte in the contract without computing an overflowing n + 1 .</a:t>
            </a:r>
          </a:p>
          <a:p>
            <a:pPr>
              <a:spcAft>
                <a:spcPts val="1100"/>
              </a:spcAft>
              <a:defRPr sz="1900">
                <a:solidFill>
                  <a:srgbClr val="F2F5F8"/>
                </a:solidFill>
              </a:defRPr>
            </a:pPr>
            <a:r>
              <a:t>• A length-aware interface helps, but its supplied lengths must still be correct.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57.2 Stack corruption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Stack corruption damages automatic storage or implementation-managed call state.</a:t>
            </a:r>
          </a:p>
          <a:p>
            <a:pPr>
              <a:spcAft>
                <a:spcPts val="1100"/>
              </a:spcAft>
              <a:defRPr sz="1700">
                <a:solidFill>
                  <a:srgbClr val="F2F5F8"/>
                </a:solidFill>
              </a:defRPr>
            </a:pPr>
            <a:r>
              <a:t>• A write beyond a local array can affect nearby objects, saved registers, or other control information depending on layout and optimization.</a:t>
            </a:r>
          </a:p>
          <a:p>
            <a:pPr>
              <a:spcAft>
                <a:spcPts val="1100"/>
              </a:spcAft>
              <a:defRPr sz="1900">
                <a:solidFill>
                  <a:srgbClr val="F2F5F8"/>
                </a:solidFill>
              </a:defRPr>
            </a:pPr>
            <a:r>
              <a:t>• Do not rely on a particular stack arrangement to decide whether an overflow is harmless.</a:t>
            </a:r>
          </a:p>
          <a:p>
            <a:pPr>
              <a:spcAft>
                <a:spcPts val="1100"/>
              </a:spcAft>
              <a:defRPr sz="1900">
                <a:solidFill>
                  <a:srgbClr val="F2F5F8"/>
                </a:solidFill>
              </a:defRPr>
            </a:pPr>
            <a:r>
              <a:t>• Compilers can reorder, eliminate, or place objects differently.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57.2 Stack corruption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rely on a particular stack arrangement to decide whether an overflow is harmless.</a:t>
            </a:r>
          </a:p>
          <a:p>
            <a:pPr>
              <a:spcAft>
                <a:spcPts val="1100"/>
              </a:spcAft>
              <a:defRPr sz="1900">
                <a:solidFill>
                  <a:srgbClr val="F2F5F8"/>
                </a:solidFill>
              </a:defRPr>
            </a:pPr>
            <a:r>
              <a:t>• Compilers can reorder, eliminate, or place objects differently.</a:t>
            </a:r>
          </a:p>
          <a:p>
            <a:pPr>
              <a:spcAft>
                <a:spcPts val="1100"/>
              </a:spcAft>
              <a:defRPr sz="1700">
                <a:solidFill>
                  <a:srgbClr val="F2F5F8"/>
                </a:solidFill>
              </a:defRPr>
            </a:pPr>
            <a:r>
              <a:t>• Prevent the out-of-bounds write itself; a test that happens to modify only padding on one build does not establish safety.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57.3 Heap corruption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Heap corruption damages dynamically allocated objects or allocator bookkeeping.</a:t>
            </a:r>
          </a:p>
          <a:p>
            <a:pPr>
              <a:spcAft>
                <a:spcPts val="1100"/>
              </a:spcAft>
              <a:defRPr sz="1900">
                <a:solidFill>
                  <a:srgbClr val="F2F5F8"/>
                </a:solidFill>
              </a:defRPr>
            </a:pPr>
            <a:r>
              <a:t>• A write can remain inside a mapped writable page and still cross an allocation boundary.</a:t>
            </a:r>
          </a:p>
          <a:p>
            <a:pPr>
              <a:spcAft>
                <a:spcPts val="1100"/>
              </a:spcAft>
              <a:defRPr sz="1700">
                <a:solidFill>
                  <a:srgbClr val="F2F5F8"/>
                </a:solidFill>
              </a:defRPr>
            </a:pPr>
            <a:r>
              <a:t>• The operating system’s page checks may therefore permit the machine access while the language program has already violated its contract.</a:t>
            </a:r>
          </a:p>
          <a:p>
            <a:pPr>
              <a:spcAft>
                <a:spcPts val="1100"/>
              </a:spcAft>
              <a:defRPr sz="1900">
                <a:solidFill>
                  <a:srgbClr val="F2F5F8"/>
                </a:solidFill>
              </a:defRPr>
            </a:pPr>
            <a:r>
              <a:t>• Allocator crashes often occur later than the original bad write.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57.3 Heap corruption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Allocator crashes often occur later than the original bad write.</a:t>
            </a:r>
          </a:p>
          <a:p>
            <a:pPr>
              <a:spcAft>
                <a:spcPts val="1100"/>
              </a:spcAft>
              <a:defRPr sz="1700">
                <a:solidFill>
                  <a:srgbClr val="F2F5F8"/>
                </a:solidFill>
              </a:defRPr>
            </a:pPr>
            <a:r>
              <a:t>• A failure during allocation or deallocation may be a symptom of earlier corruption, not proof that the allocator is the root cause.</a:t>
            </a:r>
          </a:p>
          <a:p>
            <a:pPr>
              <a:spcAft>
                <a:spcPts val="1100"/>
              </a:spcAft>
              <a:defRPr sz="1700">
                <a:solidFill>
                  <a:srgbClr val="F2F5F8"/>
                </a:solidFill>
              </a:defRPr>
            </a:pPr>
            <a:r>
              <a:t>• Instrumented testing and minimizing the first invalid operation are more useful than patching the eventual crash site blindly.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57.4 Use-after-free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Use-after-free accesses an object after its lifetime and ownership have ended.</a:t>
            </a:r>
          </a:p>
          <a:p>
            <a:pPr>
              <a:spcAft>
                <a:spcPts val="1100"/>
              </a:spcAft>
              <a:defRPr sz="1900">
                <a:solidFill>
                  <a:srgbClr val="F2F5F8"/>
                </a:solidFill>
              </a:defRPr>
            </a:pPr>
            <a:r>
              <a:t>• The address may still be mapped and may even contain plausible data.</a:t>
            </a:r>
          </a:p>
          <a:p>
            <a:pPr>
              <a:spcAft>
                <a:spcPts val="1100"/>
              </a:spcAft>
              <a:defRPr sz="1900">
                <a:solidFill>
                  <a:srgbClr val="F2F5F8"/>
                </a:solidFill>
              </a:defRPr>
            </a:pPr>
            <a:r>
              <a:t>• Reuse by another allocation can turn the stale access into corruption of an unrelated object.</a:t>
            </a:r>
          </a:p>
          <a:p>
            <a:pPr>
              <a:spcAft>
                <a:spcPts val="1100"/>
              </a:spcAft>
              <a:defRPr sz="1900">
                <a:solidFill>
                  <a:srgbClr val="F2F5F8"/>
                </a:solidFill>
              </a:defRPr>
            </a:pPr>
            <a:r>
              <a:t>• Ownership abstractions reduce the risk, but raw observers still need lifetime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57.4 Use-after-free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Ownership abstractions reduce the risk, but raw observers still need lifetime rules.</a:t>
            </a:r>
          </a:p>
          <a:p>
            <a:pPr>
              <a:spcAft>
                <a:spcPts val="1100"/>
              </a:spcAft>
              <a:defRPr sz="1900">
                <a:solidFill>
                  <a:srgbClr val="F2F5F8"/>
                </a:solidFill>
              </a:defRPr>
            </a:pPr>
            <a:r>
              <a:t>• A unique_ptr prevents duplicate ownership but does not make every raw pointer derived from it safe after reset.</a:t>
            </a:r>
          </a:p>
          <a:p>
            <a:pPr>
              <a:spcAft>
                <a:spcPts val="1100"/>
              </a:spcAft>
              <a:defRPr sz="1900">
                <a:solidFill>
                  <a:srgbClr val="F2F5F8"/>
                </a:solidFill>
              </a:defRPr>
            </a:pPr>
            <a:r>
              <a:t>• Shared ownership can extend lifetime, but it does not automatically synchronize mutable contents.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57.5 Integer errors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Integer errors can create memory vulnerabilities indirectly.</a:t>
            </a:r>
          </a:p>
          <a:p>
            <a:pPr>
              <a:spcAft>
                <a:spcPts val="1100"/>
              </a:spcAft>
              <a:defRPr sz="1900">
                <a:solidFill>
                  <a:srgbClr val="F2F5F8"/>
                </a:solidFill>
              </a:defRPr>
            </a:pPr>
            <a:r>
              <a:t>• A negative length converted to an unsigned size can become very large.</a:t>
            </a:r>
          </a:p>
          <a:p>
            <a:pPr>
              <a:spcAft>
                <a:spcPts val="1100"/>
              </a:spcAft>
              <a:defRPr sz="1900">
                <a:solidFill>
                  <a:srgbClr val="F2F5F8"/>
                </a:solidFill>
              </a:defRPr>
            </a:pPr>
            <a:r>
              <a:t>• A wrapped multiplication can allocate too little storage for a later copy.</a:t>
            </a:r>
          </a:p>
          <a:p>
            <a:pPr>
              <a:spcAft>
                <a:spcPts val="1100"/>
              </a:spcAft>
              <a:defRPr sz="1900">
                <a:solidFill>
                  <a:srgbClr val="F2F5F8"/>
                </a:solidFill>
              </a:defRPr>
            </a:pPr>
            <a:r>
              <a:t>• A truncating conversion can make validation inspect a different value from the one subsequently used.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57.5 Integer errors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Validate in a representation that can express the required range, then convert.</a:t>
            </a:r>
          </a:p>
          <a:p>
            <a:pPr>
              <a:spcAft>
                <a:spcPts val="1100"/>
              </a:spcAft>
              <a:defRPr sz="1900">
                <a:solidFill>
                  <a:srgbClr val="F2F5F8"/>
                </a:solidFill>
              </a:defRPr>
            </a:pPr>
            <a:r>
              <a:t>• For allocation size count * element_size , require count &lt;= maximum / element_size when the element size is nonzero.</a:t>
            </a:r>
          </a:p>
          <a:p>
            <a:pPr>
              <a:spcAft>
                <a:spcPts val="1100"/>
              </a:spcAft>
              <a:defRPr sz="1700">
                <a:solidFill>
                  <a:srgbClr val="F2F5F8"/>
                </a:solidFill>
              </a:defRPr>
            </a:pPr>
            <a:r>
              <a:t>• Use the same validated value for the actual operation; re-parsing or recomputing with different types can reintroduce the defect.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Validate one complete bounded frame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This parser accepts a two-byte big-endian length followed by exactly that many payload bytes, with a maximum payload of 16 bytes.</a:t>
            </a:r>
          </a:p>
          <a:p>
            <a:pPr>
              <a:spcAft>
                <a:spcPts val="1100"/>
              </a:spcAft>
              <a:defRPr sz="1900">
                <a:solidFill>
                  <a:srgbClr val="F2F5F8"/>
                </a:solidFill>
              </a:defRPr>
            </a:pPr>
            <a:r>
              <a:t>• It returns a borrowed view, so the input owner must remain alive while the result is used.</a:t>
            </a:r>
          </a:p>
          <a:p>
            <a:pPr>
              <a:spcAft>
                <a:spcPts val="1100"/>
              </a:spcAft>
              <a:defRPr sz="1900">
                <a:solidFill>
                  <a:srgbClr val="F2F5F8"/>
                </a:solidFill>
              </a:defRPr>
            </a:pPr>
            <a:r>
              <a:t>• No allocation depends on the untrusted length.</a:t>
            </a:r>
          </a:p>
          <a:p>
            <a:pPr>
              <a:spcAft>
                <a:spcPts val="1100"/>
              </a:spcAft>
              <a:defRPr sz="1900">
                <a:solidFill>
                  <a:srgbClr val="F2F5F8"/>
                </a:solidFill>
              </a:defRPr>
            </a:pPr>
            <a:r>
              <a:t>• Companion listing: ch57/parse_frame.cpp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Validate one complete bounded frame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ch57/parse_frame.cpp</a:t>
            </a:r>
          </a:p>
          <a:p>
            <a:pPr>
              <a:spcAft>
                <a:spcPts val="1100"/>
              </a:spcAft>
              <a:defRPr sz="1900">
                <a:solidFill>
                  <a:srgbClr val="F2F5F8"/>
                </a:solidFill>
              </a:defRPr>
            </a:pPr>
            <a:r>
              <a:t>• The validation order is deliberate.</a:t>
            </a:r>
          </a:p>
          <a:p>
            <a:pPr>
              <a:spcAft>
                <a:spcPts val="1100"/>
              </a:spcAft>
              <a:defRPr sz="1900">
                <a:solidFill>
                  <a:srgbClr val="F2F5F8"/>
                </a:solidFill>
              </a:defRPr>
            </a:pPr>
            <a:r>
              <a:t>• First prove that the prefix bytes exist.</a:t>
            </a:r>
          </a:p>
          <a:p>
            <a:pPr>
              <a:spcAft>
                <a:spcPts val="1100"/>
              </a:spcAft>
              <a:defRPr sz="1900">
                <a:solidFill>
                  <a:srgbClr val="F2F5F8"/>
                </a:solidFill>
              </a:defRPr>
            </a:pPr>
            <a:r>
              <a:t>• Then decode into a type wide enough for the field.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Length-field integer bug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protocol contains a 32-bit length.</a:t>
            </a:r>
          </a:p>
          <a:p>
            <a:pPr>
              <a:spcAft>
                <a:spcPts val="1100"/>
              </a:spcAft>
              <a:defRPr sz="1900">
                <a:solidFill>
                  <a:srgbClr val="F2F5F8"/>
                </a:solidFill>
              </a:defRPr>
            </a:pPr>
            <a:r>
              <a:t>• Code computes length + 4 in 32 bits before allocating.</a:t>
            </a:r>
          </a:p>
          <a:p>
            <a:pPr>
              <a:spcAft>
                <a:spcPts val="1100"/>
              </a:spcAft>
              <a:defRPr sz="1700">
                <a:solidFill>
                  <a:srgbClr val="F2F5F8"/>
                </a:solidFill>
              </a:defRPr>
            </a:pPr>
            <a:r>
              <a:t>• If length is near UINT32_MAX , the addition wraps to a small number, the allocation succeeds, and a later copy uses the large logical length.</a:t>
            </a:r>
          </a:p>
          <a:p>
            <a:pPr>
              <a:spcAft>
                <a:spcPts val="1100"/>
              </a:spcAft>
              <a:defRPr sz="1900">
                <a:solidFill>
                  <a:srgbClr val="F2F5F8"/>
                </a:solidFill>
              </a:defRPr>
            </a:pPr>
            <a:r>
              <a:t>• Validate the bound before addition or promote to a wider checked type so allocation and copy use the same safe size.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Length-field integer bug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protocol contains a 32-bit length.</a:t>
            </a:r>
          </a:p>
          <a:p>
            <a:pPr>
              <a:spcAft>
                <a:spcPts val="1100"/>
              </a:spcAft>
              <a:defRPr sz="1900">
                <a:solidFill>
                  <a:srgbClr val="F2F5F8"/>
                </a:solidFill>
              </a:defRPr>
            </a:pPr>
            <a:r>
              <a:t>• Code computes length + 4 in 32 bits before allocating.</a:t>
            </a:r>
          </a:p>
          <a:p>
            <a:pPr>
              <a:spcAft>
                <a:spcPts val="1100"/>
              </a:spcAft>
              <a:defRPr sz="1700">
                <a:solidFill>
                  <a:srgbClr val="F2F5F8"/>
                </a:solidFill>
              </a:defRPr>
            </a:pPr>
            <a:r>
              <a:t>• If length is near UINT32_MAX , the addition wraps to a small number, the allocation succeeds, and a later copy uses the large logical length.</a:t>
            </a:r>
          </a:p>
          <a:p>
            <a:pPr>
              <a:spcAft>
                <a:spcPts val="1100"/>
              </a:spcAft>
              <a:defRPr sz="1900">
                <a:solidFill>
                  <a:srgbClr val="F2F5F8"/>
                </a:solidFill>
              </a:defRPr>
            </a:pPr>
            <a:r>
              <a:t>• Validate the bound before addition or promote to a wider checked type so allocation and copy use the same safe size.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Stack overwrite boundary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local buffer of 32 bytes cannot safely receive 40 unchecked input bytes.</a:t>
            </a:r>
          </a:p>
          <a:p>
            <a:pPr>
              <a:spcAft>
                <a:spcPts val="1100"/>
              </a:spcAft>
              <a:defRPr sz="1900">
                <a:solidFill>
                  <a:srgbClr val="F2F5F8"/>
                </a:solidFill>
              </a:defRPr>
            </a:pPr>
            <a:r>
              <a:t>• The extra writes can corrupt adjacent stack data such as saved state or other locals.</a:t>
            </a:r>
          </a:p>
          <a:p>
            <a:pPr>
              <a:spcAft>
                <a:spcPts val="1100"/>
              </a:spcAft>
              <a:defRPr sz="1700">
                <a:solidFill>
                  <a:srgbClr val="F2F5F8"/>
                </a:solidFill>
              </a:defRPr>
            </a:pPr>
            <a:r>
              <a:t>• Mitigations may detect or complicate exploitation, but the primary fix is enforcing a correct length contract before writing.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Stack overwrite boundary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local buffer of 32 bytes cannot safely receive 40 unchecked input bytes.</a:t>
            </a:r>
          </a:p>
          <a:p>
            <a:pPr>
              <a:spcAft>
                <a:spcPts val="1100"/>
              </a:spcAft>
              <a:defRPr sz="1900">
                <a:solidFill>
                  <a:srgbClr val="F2F5F8"/>
                </a:solidFill>
              </a:defRPr>
            </a:pPr>
            <a:r>
              <a:t>• The extra writes can corrupt adjacent stack data such as saved state or other locals.</a:t>
            </a:r>
          </a:p>
          <a:p>
            <a:pPr>
              <a:spcAft>
                <a:spcPts val="1100"/>
              </a:spcAft>
              <a:defRPr sz="1700">
                <a:solidFill>
                  <a:srgbClr val="F2F5F8"/>
                </a:solidFill>
              </a:defRPr>
            </a:pPr>
            <a:r>
              <a:t>• Mitigations may detect or complicate exploitation, but the primary fix is enforcing a correct length contract before writing.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57.</a:t>
            </a:r>
          </a:p>
          <a:p>
            <a:pPr>
              <a:spcAft>
                <a:spcPts val="1100"/>
              </a:spcAft>
              <a:defRPr sz="1900">
                <a:solidFill>
                  <a:srgbClr val="F2F5F8"/>
                </a:solidFill>
              </a:defRPr>
            </a:pPr>
            <a:r>
              <a:t>• Test payload lengths 0, 1, 15, 16, and 17, including exact, truncated, and extra-byte inputs.</a:t>
            </a:r>
          </a:p>
          <a:p>
            <a:pPr>
              <a:spcAft>
                <a:spcPts val="1100"/>
              </a:spcAft>
              <a:defRPr sz="1900">
                <a:solidFill>
                  <a:srgbClr val="F2F5F8"/>
                </a:solidFill>
              </a:defRPr>
            </a:pPr>
            <a:r>
              <a:t>• Verify that rejection does not mutate the input or produce a usable payload view.</a:t>
            </a:r>
          </a:p>
          <a:p>
            <a:pPr>
              <a:spcAft>
                <a:spcPts val="1100"/>
              </a:spcAft>
              <a:defRPr sz="1900">
                <a:solidFill>
                  <a:srgbClr val="F2F5F8"/>
                </a:solidFill>
              </a:defRPr>
            </a:pPr>
            <a:r>
              <a:t>• Keep the backing arrays alive through every accepted-view access.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page-level protection miss a heap overflow?</a:t>
            </a:r>
          </a:p>
          <a:p>
            <a:pPr>
              <a:spcAft>
                <a:spcPts val="1100"/>
              </a:spcAft>
              <a:defRPr sz="1900">
                <a:solidFill>
                  <a:srgbClr val="F2F5F8"/>
                </a:solidFill>
              </a:defRPr>
            </a:pPr>
            <a:r>
              <a:t>• Review 2.</a:t>
            </a:r>
          </a:p>
          <a:p>
            <a:pPr>
              <a:spcAft>
                <a:spcPts val="1100"/>
              </a:spcAft>
              <a:defRPr sz="1900">
                <a:solidFill>
                  <a:srgbClr val="F2F5F8"/>
                </a:solidFill>
              </a:defRPr>
            </a:pPr>
            <a:r>
              <a:t>• Why is checking a truncated length different from checking the original input value?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memory-safety vulnerabilities.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Exploit Mitigations.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57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