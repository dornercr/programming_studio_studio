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30 — Cache Behavior</a:t>
            </a:r>
          </a:p>
          <a:p/>
          <a:p>
            <a:r>
              <a:t>LECTURE NARRATION</a:t>
            </a:r>
          </a:p>
          <a:p>
            <a:r>
              <a:t>Cache behavior is a sequence-dependent property. A cache starts in some state, each access either finds a usable resident block or requires additional work, and each insertion or update changes the state seen by later accesses. A hit rate without the access trace and initial conditions can be misleading.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cache behavior is a sequence-dependent property.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Cache behavior is a sequence-dependent property. A cache starts in some state, each access either finds a usable resident block or requires additional work, and each insertion or update changes the state seen by later accesses. A hit rate without the access trace and initial conditions can be misleading.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cache behavior is a sequence-dependent property.</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30.1 Cache hit 30.2 Cache miss 30.3 Hit rate 30.4 Miss rate ...plus 7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30.1 Cache hit 30.2 Cache miss 30.3 Hit rate 30.4 Miss rate ...plus 7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30.1 Cache hit</a:t>
            </a:r>
          </a:p>
          <a:p/>
          <a:p>
            <a:r>
              <a:t>LECTURE NARRATION</a:t>
            </a:r>
          </a:p>
          <a:p>
            <a:r>
              <a:t>A hit occurs when the requested block is present in a usable cache entry. The model can satisfy the access at that level. A hit does not imply zero cost; lookup, data delivery, dependencies, and other execution constraints remain. For writes in a coherent machine, a resident line may still require permission acquisition or coordination. The simple examples in this chapter use reads so that tag residency is sufficient to classify a hit.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30.1 Cache hit — Deep Dive</a:t>
            </a:r>
          </a:p>
          <a:p/>
          <a:p>
            <a:r>
              <a:t>LECTURE NARRATION</a:t>
            </a:r>
          </a:p>
          <a:p>
            <a:r>
              <a:t>A hit occurs when the requested block is present in a usable cache entry. The model can satisfy the access at that level. A hit does not imply zero cost; lookup, data delivery, dependencies, and other execution constraints remain. For writes in a coherent machine, a resident line may still require permission acquisition or coordination. The simple examples in this chapter use reads so that tag residency is sufficient to classify a hit.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30.2 Cache miss</a:t>
            </a:r>
          </a:p>
          <a:p/>
          <a:p>
            <a:r>
              <a:t>LECTURE NARRATION</a:t>
            </a:r>
          </a:p>
          <a:p>
            <a:r>
              <a:t>A miss occurs when the consulted cache cannot satisfy the request from a usable resident entry. The system obtains the block from another source, potentially another cache, another core, or memory, depending on the hierarchy and coherence state. The cost is not necessarily a full trip to DRAM. An L1 miss that hits in L2 differs from a last-level miss. State which cache level is being discussed and whether a miss rate is local to that level or relative to all original accesses.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30.2 Cache miss — Deep Dive</a:t>
            </a:r>
          </a:p>
          <a:p/>
          <a:p>
            <a:r>
              <a:t>LECTURE NARRATION</a:t>
            </a:r>
          </a:p>
          <a:p>
            <a:r>
              <a:t>A miss occurs when the consulted cache cannot satisfy the request from a usable resident entry. The system obtains the block from another source, potentially another cache, another core, or memory, depending on the hierarchy and coherence state. The cost is not necessarily a full trip to DRAM. An L1 miss that hits in L2 differs from a last-level miss. State which cache level is being discussed and whether a miss rate is local to that level or relative to all original accesses.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30.3 Hit rate</a:t>
            </a:r>
          </a:p>
          <a:p/>
          <a:p>
            <a:r>
              <a:t>LECTURE NARRATION</a:t>
            </a:r>
          </a:p>
          <a:p>
            <a:r>
              <a:t>Hit rate is hits divided by accesses for the stated cache and interval. If 90 of 100 accesses hit, the rate is 90%. A cold-start interval can have a lower rate than steady state even when the repeated workload is unchanged. Aggregate hit rate can conceal expensive phases or uneven requests. A large number of cheap hits does not necessarily compensate for a small number of extremely costly misses on a critical dependency chain.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hit rate is hits divided by accesses for the stated cache and interval.</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30.3 Hit rate — Deep Dive</a:t>
            </a:r>
          </a:p>
          <a:p/>
          <a:p>
            <a:r>
              <a:t>LECTURE NARRATION</a:t>
            </a:r>
          </a:p>
          <a:p>
            <a:r>
              <a:t>Hit rate is hits divided by accesses for the stated cache and interval. If 90 of 100 accesses hit, the rate is 90%. A cold-start interval can have a lower rate than steady state even when the repeated workload is unchanged. Aggregate hit rate can conceal expensive phases or uneven requests. A large number of cheap hits does not necessarily compensate for a small number of extremely costly misses on a critical dependency chain.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hit rate is hits divided by accesses for the stated cache and interval.</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30.4 Miss rate</a:t>
            </a:r>
          </a:p>
          <a:p/>
          <a:p>
            <a:r>
              <a:t>LECTURE NARRATION</a:t>
            </a:r>
          </a:p>
          <a:p>
            <a:r>
              <a:t>Miss rate is misses divided by accesses. In the simple model where each access is exactly one hit or miss, it equals 1 - hit_rate . Multilevel rates require careful denominators: an L2 local miss rate counts misses among requests that reached L2. If L1 misses on 10% of original accesses and L2 misses on 20% of those, then 2% of original accesses miss both levels. Adding 10% and 20% would be the wrong calculation.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miss rate is misses divided by accesses.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30.4 Miss rate — Deep Dive</a:t>
            </a:r>
          </a:p>
          <a:p/>
          <a:p>
            <a:r>
              <a:t>LECTURE NARRATION</a:t>
            </a:r>
          </a:p>
          <a:p>
            <a:r>
              <a:t>Miss rate is misses divided by accesses. In the simple model where each access is exactly one hit or miss, it equals 1 - hit_rate . Multilevel rates require careful denominators: an L2 local miss rate counts misses among requests that reached L2. If L1 misses on 10% of original accesses and L2 misses on 20% of those, then 2% of original accesses miss both levels. Adding 10% and 20% would be the wrong calculation.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miss rate is misses divided by accesses.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30.5 Compulsory misses</a:t>
            </a:r>
          </a:p>
          <a:p/>
          <a:p>
            <a:r>
              <a:t>LECTURE NARRATION</a:t>
            </a:r>
          </a:p>
          <a:p>
            <a:r>
              <a:t>A compulsory miss is the first access to a block in a cold-cache reference model. The block has not yet been brought into the cache by a prior access in that model. Larger lines can reduce the number of distinct blocks for a sequential region but can also fetch unused bytes. Prefetching changes when a block is brought in and how demand misses are observed. It does not make data transfer disappear. When classifying misses, state whether the model includes prefetching and what initial cache state is assumed.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compulsory miss is the first access to a block in a cold-cache reference model.</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30.5 Compulsory misses — Deep Dive</a:t>
            </a:r>
          </a:p>
          <a:p/>
          <a:p>
            <a:r>
              <a:t>LECTURE NARRATION</a:t>
            </a:r>
          </a:p>
          <a:p>
            <a:r>
              <a:t>A compulsory miss is the first access to a block in a cold-cache reference model. The block has not yet been brought into the cache by a prior access in that model. Larger lines can reduce the number of distinct blocks for a sequential region but can also fetch unused bytes. Prefetching changes when a block is brought in and how demand misses are observed. It does not make data transfer disappear. When classifying misses, state whether the model includes prefetching and what initial cache state is assumed.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compulsory miss is the first access to a block in a cold-cache reference model.</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30.6 Capacity misses</a:t>
            </a:r>
          </a:p>
          <a:p/>
          <a:p>
            <a:r>
              <a:t>LECTURE NARRATION</a:t>
            </a:r>
          </a:p>
          <a:p>
            <a:r>
              <a:t>A capacity miss occurs because the useful working set exceeds the cache’s available storage under the chosen reference model. Even a fully associative cache of the same capacity cannot retain everything needed across the reuse interval. The common three-category classification compares behavior against a fully associative reference cache with a specified replacement policy, often LRU. Classification depends on that reference. It is not a universal label attached permanently to an address.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capacity miss occurs because the useful working set exceeds the cache’s available storage under the chosen reference model.</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30.6 Capacity misses — Deep Dive</a:t>
            </a:r>
          </a:p>
          <a:p/>
          <a:p>
            <a:r>
              <a:t>LECTURE NARRATION</a:t>
            </a:r>
          </a:p>
          <a:p>
            <a:r>
              <a:t>A capacity miss occurs because the useful working set exceeds the cache’s available storage under the chosen reference model. Even a fully associative cache of the same capacity cannot retain everything needed across the reuse interval. The common three-category classification compares behavior against a fully associative reference cache with a specified replacement policy, often LRU. Classification depends on that reference. It is not a universal label attached permanently to an address.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capacity miss occurs because the useful working set exceeds the cache’s available storage under the chosen reference model.</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30.7 Conflict misses</a:t>
            </a:r>
          </a:p>
          <a:p/>
          <a:p>
            <a:r>
              <a:t>LECTURE NARRATION</a:t>
            </a:r>
          </a:p>
          <a:p>
            <a:r>
              <a:t>A conflict miss arises from restricted placement in sets when a fully associative reference cache of the same capacity would have retained the block. Repeated collisions can cause misses even when the total active block count is no greater than cache capacity. The compulsory/capacity/conflict model is useful but incomplete for coherent multiprocessors. Invalidations, sharing, prefetch interactions, and other effects can introduce additional causes. Do not force every hardware event into a three-category model that deliberately excludes those mechanisms.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conflict miss arises from restricted placement in sets when a fully associative reference cache of the same capacity would have retained the block.</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30.7 Conflict misses — Deep Dive</a:t>
            </a:r>
          </a:p>
          <a:p/>
          <a:p>
            <a:r>
              <a:t>LECTURE NARRATION</a:t>
            </a:r>
          </a:p>
          <a:p>
            <a:r>
              <a:t>A conflict miss arises from restricted placement in sets when a fully associative reference cache of the same capacity would have retained the block. Repeated collisions can cause misses even when the total active block count is no greater than cache capacity. The compulsory/capacity/conflict model is useful but incomplete for coherent multiprocessors. Invalidations, sharing, prefetch interactions, and other effects can introduce additional causes. Do not force every hardware event into a three-category model that deliberately excludes those mechanisms.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conflict miss arises from restricted placement in sets when a fully associative reference cache of the same capacity would have retained the block.</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A small executable cache model</a:t>
            </a:r>
          </a:p>
          <a:p/>
          <a:p>
            <a:r>
              <a:t>LECTURE NARRATION</a:t>
            </a:r>
          </a:p>
          <a:p>
            <a:r>
              <a:t>The following direct-mapped model has four lines of 16 bytes each. The trace accesses byte addresses 0, 16, 0, 64, 0, 16 . Blocks 0 and 4 both map to slot 0, while block 1 maps to slot 1. Companion listing: ch30/cache.py The output is M M H M M H , followed by hits=2 misses=4 . First references to blocks 0, 1, and 4 are compulsory misses. The later miss on block 0 is a conflict miss relative to a four-line fully associative LRU cache, which could retain all three blocks. The overall hit rate is 2/6 , approximately 33.3%. No cycle count follows from that percentage alone. A cost model is needed to translate the event sequence into a time estimate.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A small executable cache model — Deep Dive</a:t>
            </a:r>
          </a:p>
          <a:p/>
          <a:p>
            <a:r>
              <a:t>LECTURE NARRATION</a:t>
            </a:r>
          </a:p>
          <a:p>
            <a:r>
              <a:t>The following direct-mapped model has four lines of 16 bytes each. The trace accesses byte addresses 0, 16, 0, 64, 0, 16 . Blocks 0 and 4 both map to slot 0, while block 1 maps to slot 1. Companion listing: ch30/cache.py The output is M M H M M H , followed by hits=2 misses=4 . First references to blocks 0, 1, and 4 are compulsory misses. The later miss on block 0 is a conflict miss relative to a four-line fully associative LRU cache, which could retain all three blocks. The overall hit rate is 2/6 , approximately 33.3%. No cycle count follows from that percentage alone. A cost model is needed to translate the event sequence into a time estimate.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Classifying first and repeated misses</a:t>
            </a:r>
          </a:p>
          <a:p/>
          <a:p>
            <a:r>
              <a:t>LECTURE NARRATION</a:t>
            </a:r>
          </a:p>
          <a:p>
            <a:r>
              <a:t>The first access to a never-seen cache block is compulsory. If the working set exceeds total cache capacity and a block is evicted because too much distinct data is active, the later miss can be capacity-related. If two blocks collide in the same limited-associativity set despite enough total capacity, the misses are conflicts.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first access to a never-seen cache block is compulsory.</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Classifying first and repeated misses — Deep Dive</a:t>
            </a:r>
          </a:p>
          <a:p/>
          <a:p>
            <a:r>
              <a:t>LECTURE NARRATION</a:t>
            </a:r>
          </a:p>
          <a:p>
            <a:r>
              <a:t>The first access to a never-seen cache block is compulsory. If the working set exceeds total cache capacity and a block is evicted because too much distinct data is active, the later miss can be capacity-related. If two blocks collide in the same limited-associativity set despite enough total capacity, the misses are conflicts.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first access to a never-seen cache block is compulsory.</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Computing hit rate</a:t>
            </a:r>
          </a:p>
          <a:p/>
          <a:p>
            <a:r>
              <a:t>LECTURE NARRATION</a:t>
            </a:r>
          </a:p>
          <a:p>
            <a:r>
              <a:t>If 9,600 of 10,000 accesses hit, the hit rate is 9600/10000 = 96% and miss rate is 4%. This aggregate alone does not explain performance: where misses go, whether they overlap, and whether they are instruction or data misses also matter.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9,600 of 10,000 accesses hit, the hit rate is 9600/10000 = 96% and miss rate is 4%.</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Computing hit rate — Deep Dive</a:t>
            </a:r>
          </a:p>
          <a:p/>
          <a:p>
            <a:r>
              <a:t>LECTURE NARRATION</a:t>
            </a:r>
          </a:p>
          <a:p>
            <a:r>
              <a:t>If 9,600 of 10,000 accesses hit, the hit rate is 9600/10000 = 96% and miss rate is 4%. This aggregate alone does not explain performance: where misses go, whether they overlap, and whether they are instruction or data misses also matter.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9,600 of 10,000 accesses hit, the hit rate is 9600/10000 = 96% and miss rate is 4%.</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Guided lab and review</a:t>
            </a:r>
          </a:p>
          <a:p/>
          <a:p>
            <a:r>
              <a:t>LECTURE NARRATION</a:t>
            </a:r>
          </a:p>
          <a:p>
            <a:r>
              <a:t>Lab 30. Add a reset method that invalidates every line. Compare the original trace with a second immediate repetition without resetting. Explain why the first event of the repeated trace changes. Review 1. What is the global miss rate when L1’s local miss rate is 5% and L2’s local miss rate is 10%? Review 2. Why is a first-ever access not automatically a demand miss when prefetching is included?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30.</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Guided lab and review — Deep Dive</a:t>
            </a:r>
          </a:p>
          <a:p/>
          <a:p>
            <a:r>
              <a:t>LECTURE NARRATION</a:t>
            </a:r>
          </a:p>
          <a:p>
            <a:r>
              <a:t>Lab 30. Add a reset method that invalidates every line. Compare the original trace with a second immediate repetition without resetting. Explain why the first event of the repeated trace changes. Review 1. What is the global miss rate when L1’s local miss rate is 5% and L2’s local miss rate is 10%? Review 2. Why is a first-ever access not automatically a demand miss when prefetching is included?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30.</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Chapter Synthesis</a:t>
            </a:r>
          </a:p>
          <a:p/>
          <a:p>
            <a:r>
              <a:t>LECTURE NARRATION</a:t>
            </a:r>
          </a:p>
          <a:p>
            <a:r>
              <a:t>The chapter's central subject is cache behavior.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cache behavior.</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Cache Replacement.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30 — Cache Behavior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Cache behavior is a sequence-dependent property.</a:t>
            </a:r>
          </a:p>
          <a:p>
            <a:pPr>
              <a:spcAft>
                <a:spcPts val="1100"/>
              </a:spcAft>
              <a:defRPr sz="1700">
                <a:solidFill>
                  <a:srgbClr val="F2F5F8"/>
                </a:solidFill>
              </a:defRPr>
            </a:pPr>
            <a:r>
              <a:t>• A cache starts in some state, each access either finds a usable resident block or requires additional work, and each insertion or update changes the state seen by later accesses.</a:t>
            </a:r>
          </a:p>
          <a:p>
            <a:pPr>
              <a:spcAft>
                <a:spcPts val="1100"/>
              </a:spcAft>
              <a:defRPr sz="1900">
                <a:solidFill>
                  <a:srgbClr val="F2F5F8"/>
                </a:solidFill>
              </a:defRPr>
            </a:pPr>
            <a:r>
              <a:t>• A hit rate without the access trace and initial conditions can be misleading.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Cache Behavior.</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30.1 Cache hit</a:t>
            </a:r>
          </a:p>
          <a:p>
            <a:pPr>
              <a:spcAft>
                <a:spcPts val="1100"/>
              </a:spcAft>
              <a:defRPr sz="1900">
                <a:solidFill>
                  <a:srgbClr val="F2F5F8"/>
                </a:solidFill>
              </a:defRPr>
            </a:pPr>
            <a:r>
              <a:t>• 30.2 Cache miss</a:t>
            </a:r>
          </a:p>
          <a:p>
            <a:pPr>
              <a:spcAft>
                <a:spcPts val="1100"/>
              </a:spcAft>
              <a:defRPr sz="1900">
                <a:solidFill>
                  <a:srgbClr val="F2F5F8"/>
                </a:solidFill>
              </a:defRPr>
            </a:pPr>
            <a:r>
              <a:t>• 30.3 Hit rate</a:t>
            </a:r>
          </a:p>
          <a:p>
            <a:pPr>
              <a:spcAft>
                <a:spcPts val="1100"/>
              </a:spcAft>
              <a:defRPr sz="1900">
                <a:solidFill>
                  <a:srgbClr val="F2F5F8"/>
                </a:solidFill>
              </a:defRPr>
            </a:pPr>
            <a:r>
              <a:t>• 30.4 Miss rate</a:t>
            </a:r>
          </a:p>
          <a:p>
            <a:pPr>
              <a:spcAft>
                <a:spcPts val="1100"/>
              </a:spcAft>
              <a:defRPr sz="1900">
                <a:solidFill>
                  <a:srgbClr val="F2F5F8"/>
                </a:solidFill>
              </a:defRPr>
            </a:pPr>
            <a:r>
              <a:t>• ...plus 7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30.1 Cache hit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hit occurs when the requested block is present in a usable cache entry.</a:t>
            </a:r>
          </a:p>
          <a:p>
            <a:pPr>
              <a:spcAft>
                <a:spcPts val="1100"/>
              </a:spcAft>
              <a:defRPr sz="1900">
                <a:solidFill>
                  <a:srgbClr val="F2F5F8"/>
                </a:solidFill>
              </a:defRPr>
            </a:pPr>
            <a:r>
              <a:t>• The model can satisfy the access at that level.</a:t>
            </a:r>
          </a:p>
          <a:p>
            <a:pPr>
              <a:spcAft>
                <a:spcPts val="1100"/>
              </a:spcAft>
              <a:defRPr sz="1900">
                <a:solidFill>
                  <a:srgbClr val="F2F5F8"/>
                </a:solidFill>
              </a:defRPr>
            </a:pPr>
            <a:r>
              <a:t>• A hit does not imply zero cost; lookup, data delivery, dependencies, and other execution constraints remain.</a:t>
            </a:r>
          </a:p>
          <a:p>
            <a:pPr>
              <a:spcAft>
                <a:spcPts val="1100"/>
              </a:spcAft>
              <a:defRPr sz="1900">
                <a:solidFill>
                  <a:srgbClr val="F2F5F8"/>
                </a:solidFill>
              </a:defRPr>
            </a:pPr>
            <a:r>
              <a:t>• For writes in a coherent machine, a resident line may still require permission acquisition or coordination.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30.1 Cache hit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writes in a coherent machine, a resident line may still require permission acquisition or coordination.</a:t>
            </a:r>
          </a:p>
          <a:p>
            <a:pPr>
              <a:spcAft>
                <a:spcPts val="1100"/>
              </a:spcAft>
              <a:defRPr sz="1900">
                <a:solidFill>
                  <a:srgbClr val="F2F5F8"/>
                </a:solidFill>
              </a:defRPr>
            </a:pPr>
            <a:r>
              <a:t>• The simple examples in this chapter use reads so that tag residency is sufficient to classify a hit.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30.2 Cache miss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miss occurs when the consulted cache cannot satisfy the request from a usable resident entry.</a:t>
            </a:r>
          </a:p>
          <a:p>
            <a:pPr>
              <a:spcAft>
                <a:spcPts val="1100"/>
              </a:spcAft>
              <a:defRPr sz="1700">
                <a:solidFill>
                  <a:srgbClr val="F2F5F8"/>
                </a:solidFill>
              </a:defRPr>
            </a:pPr>
            <a:r>
              <a:t>• The system obtains the block from another source, potentially another cache, another core, or memory, depending on the hierarchy and coherence state.</a:t>
            </a:r>
          </a:p>
          <a:p>
            <a:pPr>
              <a:spcAft>
                <a:spcPts val="1100"/>
              </a:spcAft>
              <a:defRPr sz="1900">
                <a:solidFill>
                  <a:srgbClr val="F2F5F8"/>
                </a:solidFill>
              </a:defRPr>
            </a:pPr>
            <a:r>
              <a:t>• The cost is not necessarily a full trip to DRAM.</a:t>
            </a:r>
          </a:p>
          <a:p>
            <a:pPr>
              <a:spcAft>
                <a:spcPts val="1100"/>
              </a:spcAft>
              <a:defRPr sz="1900">
                <a:solidFill>
                  <a:srgbClr val="F2F5F8"/>
                </a:solidFill>
              </a:defRPr>
            </a:pPr>
            <a:r>
              <a:t>• An L1 miss that hits in L2 differs from a last-level miss.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30.2 Cache miss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cost is not necessarily a full trip to DRAM.</a:t>
            </a:r>
          </a:p>
          <a:p>
            <a:pPr>
              <a:spcAft>
                <a:spcPts val="1100"/>
              </a:spcAft>
              <a:defRPr sz="1900">
                <a:solidFill>
                  <a:srgbClr val="F2F5F8"/>
                </a:solidFill>
              </a:defRPr>
            </a:pPr>
            <a:r>
              <a:t>• An L1 miss that hits in L2 differs from a last-level miss.</a:t>
            </a:r>
          </a:p>
          <a:p>
            <a:pPr>
              <a:spcAft>
                <a:spcPts val="1100"/>
              </a:spcAft>
              <a:defRPr sz="1700">
                <a:solidFill>
                  <a:srgbClr val="F2F5F8"/>
                </a:solidFill>
              </a:defRPr>
            </a:pPr>
            <a:r>
              <a:t>• State which cache level is being discussed and whether a miss rate is local to that level or relative to all original accesses.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30.3 Hit rate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Hit rate is hits divided by accesses for the stated cache and interval.</a:t>
            </a:r>
          </a:p>
          <a:p>
            <a:pPr>
              <a:spcAft>
                <a:spcPts val="1100"/>
              </a:spcAft>
              <a:defRPr sz="1900">
                <a:solidFill>
                  <a:srgbClr val="F2F5F8"/>
                </a:solidFill>
              </a:defRPr>
            </a:pPr>
            <a:r>
              <a:t>• If 90 of 100 accesses hit, the rate is 90%.</a:t>
            </a:r>
          </a:p>
          <a:p>
            <a:pPr>
              <a:spcAft>
                <a:spcPts val="1100"/>
              </a:spcAft>
              <a:defRPr sz="1900">
                <a:solidFill>
                  <a:srgbClr val="F2F5F8"/>
                </a:solidFill>
              </a:defRPr>
            </a:pPr>
            <a:r>
              <a:t>• A cold-start interval can have a lower rate than steady state even when the repeated workload is unchanged.</a:t>
            </a:r>
          </a:p>
          <a:p>
            <a:pPr>
              <a:spcAft>
                <a:spcPts val="1100"/>
              </a:spcAft>
              <a:defRPr sz="1900">
                <a:solidFill>
                  <a:srgbClr val="F2F5F8"/>
                </a:solidFill>
              </a:defRPr>
            </a:pPr>
            <a:r>
              <a:t>• Aggregate hit rate can conceal expensive phases or uneven requests.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30.3 Hit rate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Aggregate hit rate can conceal expensive phases or uneven requests.</a:t>
            </a:r>
          </a:p>
          <a:p>
            <a:pPr>
              <a:spcAft>
                <a:spcPts val="1100"/>
              </a:spcAft>
              <a:defRPr sz="1700">
                <a:solidFill>
                  <a:srgbClr val="F2F5F8"/>
                </a:solidFill>
              </a:defRPr>
            </a:pPr>
            <a:r>
              <a:t>• A large number of cheap hits does not necessarily compensate for a small number of extremely costly misses on a critical dependency chain.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30.4 Miss rate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Miss rate is misses divided by accesses.</a:t>
            </a:r>
          </a:p>
          <a:p>
            <a:pPr>
              <a:spcAft>
                <a:spcPts val="1100"/>
              </a:spcAft>
              <a:defRPr sz="1900">
                <a:solidFill>
                  <a:srgbClr val="F2F5F8"/>
                </a:solidFill>
              </a:defRPr>
            </a:pPr>
            <a:r>
              <a:t>• In the simple model where each access is exactly one hit or miss, it equals 1 - hit_rate .</a:t>
            </a:r>
          </a:p>
          <a:p>
            <a:pPr>
              <a:spcAft>
                <a:spcPts val="1100"/>
              </a:spcAft>
              <a:defRPr sz="1900">
                <a:solidFill>
                  <a:srgbClr val="F2F5F8"/>
                </a:solidFill>
              </a:defRPr>
            </a:pPr>
            <a:r>
              <a:t>• Multilevel rates require careful denominators: an L2 local miss rate counts misses among requests that reached L2.</a:t>
            </a:r>
          </a:p>
          <a:p>
            <a:pPr>
              <a:spcAft>
                <a:spcPts val="1100"/>
              </a:spcAft>
              <a:defRPr sz="1900">
                <a:solidFill>
                  <a:srgbClr val="F2F5F8"/>
                </a:solidFill>
              </a:defRPr>
            </a:pPr>
            <a:r>
              <a:t>• If L1 misses on 10% of original accesses and L2 misses on 20% of those, then 2% of original accesses miss both levels.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30.4 Miss rate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If L1 misses on 10% of original accesses and L2 misses on 20% of those, then 2% of original accesses miss both levels.</a:t>
            </a:r>
          </a:p>
          <a:p>
            <a:pPr>
              <a:spcAft>
                <a:spcPts val="1100"/>
              </a:spcAft>
              <a:defRPr sz="1900">
                <a:solidFill>
                  <a:srgbClr val="F2F5F8"/>
                </a:solidFill>
              </a:defRPr>
            </a:pPr>
            <a:r>
              <a:t>• Adding 10% and 20% would be the wrong calculation.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30.5 Compulsory misses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compulsory miss is the first access to a block in a cold-cache reference model.</a:t>
            </a:r>
          </a:p>
          <a:p>
            <a:pPr>
              <a:spcAft>
                <a:spcPts val="1100"/>
              </a:spcAft>
              <a:defRPr sz="1900">
                <a:solidFill>
                  <a:srgbClr val="F2F5F8"/>
                </a:solidFill>
              </a:defRPr>
            </a:pPr>
            <a:r>
              <a:t>• The block has not yet been brought into the cache by a prior access in that model.</a:t>
            </a:r>
          </a:p>
          <a:p>
            <a:pPr>
              <a:spcAft>
                <a:spcPts val="1100"/>
              </a:spcAft>
              <a:defRPr sz="1900">
                <a:solidFill>
                  <a:srgbClr val="F2F5F8"/>
                </a:solidFill>
              </a:defRPr>
            </a:pPr>
            <a:r>
              <a:t>• Larger lines can reduce the number of distinct blocks for a sequential region but can also fetch unused bytes.</a:t>
            </a:r>
          </a:p>
          <a:p>
            <a:pPr>
              <a:spcAft>
                <a:spcPts val="1100"/>
              </a:spcAft>
              <a:defRPr sz="1900">
                <a:solidFill>
                  <a:srgbClr val="F2F5F8"/>
                </a:solidFill>
              </a:defRPr>
            </a:pPr>
            <a:r>
              <a:t>• Prefetching changes when a block is brought in and how demand misses are observed.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30.5 Compulsory misses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Prefetching changes when a block is brought in and how demand misses are observed.</a:t>
            </a:r>
          </a:p>
          <a:p>
            <a:pPr>
              <a:spcAft>
                <a:spcPts val="1100"/>
              </a:spcAft>
              <a:defRPr sz="1900">
                <a:solidFill>
                  <a:srgbClr val="F2F5F8"/>
                </a:solidFill>
              </a:defRPr>
            </a:pPr>
            <a:r>
              <a:t>• It does not make data transfer disappear.</a:t>
            </a:r>
          </a:p>
          <a:p>
            <a:pPr>
              <a:spcAft>
                <a:spcPts val="1100"/>
              </a:spcAft>
              <a:defRPr sz="1900">
                <a:solidFill>
                  <a:srgbClr val="F2F5F8"/>
                </a:solidFill>
              </a:defRPr>
            </a:pPr>
            <a:r>
              <a:t>• When classifying misses, state whether the model includes prefetching and what initial cache state is assumed.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30.6 Capacity misses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capacity miss occurs because the useful working set exceeds the cache’s available storage under the chosen reference model.</a:t>
            </a:r>
          </a:p>
          <a:p>
            <a:pPr>
              <a:spcAft>
                <a:spcPts val="1100"/>
              </a:spcAft>
              <a:defRPr sz="1900">
                <a:solidFill>
                  <a:srgbClr val="F2F5F8"/>
                </a:solidFill>
              </a:defRPr>
            </a:pPr>
            <a:r>
              <a:t>• Even a fully associative cache of the same capacity cannot retain everything needed across the reuse interval.</a:t>
            </a:r>
          </a:p>
          <a:p>
            <a:pPr>
              <a:spcAft>
                <a:spcPts val="1100"/>
              </a:spcAft>
              <a:defRPr sz="1700">
                <a:solidFill>
                  <a:srgbClr val="F2F5F8"/>
                </a:solidFill>
              </a:defRPr>
            </a:pPr>
            <a:r>
              <a:t>• The common three-category classification compares behavior against a fully associative reference cache with a specified replacement policy, often LRU.</a:t>
            </a:r>
          </a:p>
          <a:p>
            <a:pPr>
              <a:spcAft>
                <a:spcPts val="1100"/>
              </a:spcAft>
              <a:defRPr sz="1900">
                <a:solidFill>
                  <a:srgbClr val="F2F5F8"/>
                </a:solidFill>
              </a:defRPr>
            </a:pPr>
            <a:r>
              <a:t>• Classification depends on that reference.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30.6 Capacity misses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common three-category classification compares behavior against a fully associative reference cache with a specified replacement policy, often LRU.</a:t>
            </a:r>
          </a:p>
          <a:p>
            <a:pPr>
              <a:spcAft>
                <a:spcPts val="1100"/>
              </a:spcAft>
              <a:defRPr sz="1900">
                <a:solidFill>
                  <a:srgbClr val="F2F5F8"/>
                </a:solidFill>
              </a:defRPr>
            </a:pPr>
            <a:r>
              <a:t>• Classification depends on that reference.</a:t>
            </a:r>
          </a:p>
          <a:p>
            <a:pPr>
              <a:spcAft>
                <a:spcPts val="1100"/>
              </a:spcAft>
              <a:defRPr sz="1900">
                <a:solidFill>
                  <a:srgbClr val="F2F5F8"/>
                </a:solidFill>
              </a:defRPr>
            </a:pPr>
            <a:r>
              <a:t>• It is not a universal label attached permanently to an address.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30.7 Conflict misses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conflict miss arises from restricted placement in sets when a fully associative reference cache of the same capacity would have retained the block.</a:t>
            </a:r>
          </a:p>
          <a:p>
            <a:pPr>
              <a:spcAft>
                <a:spcPts val="1100"/>
              </a:spcAft>
              <a:defRPr sz="1900">
                <a:solidFill>
                  <a:srgbClr val="F2F5F8"/>
                </a:solidFill>
              </a:defRPr>
            </a:pPr>
            <a:r>
              <a:t>• Repeated collisions can cause misses even when the total active block count is no greater than cache capacity.</a:t>
            </a:r>
          </a:p>
          <a:p>
            <a:pPr>
              <a:spcAft>
                <a:spcPts val="1100"/>
              </a:spcAft>
              <a:defRPr sz="1900">
                <a:solidFill>
                  <a:srgbClr val="F2F5F8"/>
                </a:solidFill>
              </a:defRPr>
            </a:pPr>
            <a:r>
              <a:t>• The compulsory/capacity/conflict model is useful but incomplete for coherent multiprocessors.</a:t>
            </a:r>
          </a:p>
          <a:p>
            <a:pPr>
              <a:spcAft>
                <a:spcPts val="1100"/>
              </a:spcAft>
              <a:defRPr sz="1900">
                <a:solidFill>
                  <a:srgbClr val="F2F5F8"/>
                </a:solidFill>
              </a:defRPr>
            </a:pPr>
            <a:r>
              <a:t>• Invalidations, sharing, prefetch interactions, and other effects can introduce additional causes.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30.7 Conflict misses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compulsory/capacity/conflict model is useful but incomplete for coherent multiprocessors.</a:t>
            </a:r>
          </a:p>
          <a:p>
            <a:pPr>
              <a:spcAft>
                <a:spcPts val="1100"/>
              </a:spcAft>
              <a:defRPr sz="1900">
                <a:solidFill>
                  <a:srgbClr val="F2F5F8"/>
                </a:solidFill>
              </a:defRPr>
            </a:pPr>
            <a:r>
              <a:t>• Invalidations, sharing, prefetch interactions, and other effects can introduce additional causes.</a:t>
            </a:r>
          </a:p>
          <a:p>
            <a:pPr>
              <a:spcAft>
                <a:spcPts val="1100"/>
              </a:spcAft>
              <a:defRPr sz="1900">
                <a:solidFill>
                  <a:srgbClr val="F2F5F8"/>
                </a:solidFill>
              </a:defRPr>
            </a:pPr>
            <a:r>
              <a:t>• Do not force every hardware event into a three-category model that deliberately excludes those mechanisms.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small executable cache model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following direct-mapped model has four lines of 16 bytes each.</a:t>
            </a:r>
          </a:p>
          <a:p>
            <a:pPr>
              <a:spcAft>
                <a:spcPts val="1100"/>
              </a:spcAft>
              <a:defRPr sz="1900">
                <a:solidFill>
                  <a:srgbClr val="F2F5F8"/>
                </a:solidFill>
              </a:defRPr>
            </a:pPr>
            <a:r>
              <a:t>• The trace accesses byte addresses 0, 16, 0, 64, 0, 16 .</a:t>
            </a:r>
          </a:p>
          <a:p>
            <a:pPr>
              <a:spcAft>
                <a:spcPts val="1100"/>
              </a:spcAft>
              <a:defRPr sz="1900">
                <a:solidFill>
                  <a:srgbClr val="F2F5F8"/>
                </a:solidFill>
              </a:defRPr>
            </a:pPr>
            <a:r>
              <a:t>• Blocks 0 and 4 both map to slot 0, while block 1 maps to slot 1.</a:t>
            </a:r>
          </a:p>
          <a:p>
            <a:pPr>
              <a:spcAft>
                <a:spcPts val="1100"/>
              </a:spcAft>
              <a:defRPr sz="1900">
                <a:solidFill>
                  <a:srgbClr val="F2F5F8"/>
                </a:solidFill>
              </a:defRPr>
            </a:pPr>
            <a:r>
              <a:t>• Companion listing: ch30/cache.py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small executable cache model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ch30/cache.py</a:t>
            </a:r>
          </a:p>
          <a:p>
            <a:pPr>
              <a:spcAft>
                <a:spcPts val="1100"/>
              </a:spcAft>
              <a:defRPr sz="1900">
                <a:solidFill>
                  <a:srgbClr val="F2F5F8"/>
                </a:solidFill>
              </a:defRPr>
            </a:pPr>
            <a:r>
              <a:t>• The output is M M H M M H , followed by hits=2 misses=4 .</a:t>
            </a:r>
          </a:p>
          <a:p>
            <a:pPr>
              <a:spcAft>
                <a:spcPts val="1100"/>
              </a:spcAft>
              <a:defRPr sz="1900">
                <a:solidFill>
                  <a:srgbClr val="F2F5F8"/>
                </a:solidFill>
              </a:defRPr>
            </a:pPr>
            <a:r>
              <a:t>• First references to blocks 0, 1, and 4 are compulsory misses.</a:t>
            </a:r>
          </a:p>
          <a:p>
            <a:pPr>
              <a:spcAft>
                <a:spcPts val="1100"/>
              </a:spcAft>
              <a:defRPr sz="1700">
                <a:solidFill>
                  <a:srgbClr val="F2F5F8"/>
                </a:solidFill>
              </a:defRPr>
            </a:pPr>
            <a:r>
              <a:t>• The later miss on block 0 is a conflict miss relative to a four-line fully associative LRU cache, which could retain all three blocks.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Classifying first and repeated misses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first access to a never-seen cache block is compulsory.</a:t>
            </a:r>
          </a:p>
          <a:p>
            <a:pPr>
              <a:spcAft>
                <a:spcPts val="1100"/>
              </a:spcAft>
              <a:defRPr sz="1700">
                <a:solidFill>
                  <a:srgbClr val="F2F5F8"/>
                </a:solidFill>
              </a:defRPr>
            </a:pPr>
            <a:r>
              <a:t>• If the working set exceeds total cache capacity and a block is evicted because too much distinct data is active, the later miss can be capacity-related.</a:t>
            </a:r>
          </a:p>
          <a:p>
            <a:pPr>
              <a:spcAft>
                <a:spcPts val="1100"/>
              </a:spcAft>
              <a:defRPr sz="1900">
                <a:solidFill>
                  <a:srgbClr val="F2F5F8"/>
                </a:solidFill>
              </a:defRPr>
            </a:pPr>
            <a:r>
              <a:t>• If two blocks collide in the same limited-associativity set despite enough total capacity, the misses are conflicts.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Classifying first and repeated misses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first access to a never-seen cache block is compulsory.</a:t>
            </a:r>
          </a:p>
          <a:p>
            <a:pPr>
              <a:spcAft>
                <a:spcPts val="1100"/>
              </a:spcAft>
              <a:defRPr sz="1700">
                <a:solidFill>
                  <a:srgbClr val="F2F5F8"/>
                </a:solidFill>
              </a:defRPr>
            </a:pPr>
            <a:r>
              <a:t>• If the working set exceeds total cache capacity and a block is evicted because too much distinct data is active, the later miss can be capacity-related.</a:t>
            </a:r>
          </a:p>
          <a:p>
            <a:pPr>
              <a:spcAft>
                <a:spcPts val="1100"/>
              </a:spcAft>
              <a:defRPr sz="1900">
                <a:solidFill>
                  <a:srgbClr val="F2F5F8"/>
                </a:solidFill>
              </a:defRPr>
            </a:pPr>
            <a:r>
              <a:t>• If two blocks collide in the same limited-associativity set despite enough total capacity, the misses are conflicts.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Computing hit rate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If 9,600 of 10,000 accesses hit, the hit rate is 9600/10000 = 96% and miss rate is 4%.</a:t>
            </a:r>
          </a:p>
          <a:p>
            <a:pPr>
              <a:spcAft>
                <a:spcPts val="1100"/>
              </a:spcAft>
              <a:defRPr sz="1700">
                <a:solidFill>
                  <a:srgbClr val="F2F5F8"/>
                </a:solidFill>
              </a:defRPr>
            </a:pPr>
            <a:r>
              <a:t>• This aggregate alone does not explain performance: where misses go, whether they overlap, and whether they are instruction or data misses also matter.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Computing hit rate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If 9,600 of 10,000 accesses hit, the hit rate is 9600/10000 = 96% and miss rate is 4%.</a:t>
            </a:r>
          </a:p>
          <a:p>
            <a:pPr>
              <a:spcAft>
                <a:spcPts val="1100"/>
              </a:spcAft>
              <a:defRPr sz="1700">
                <a:solidFill>
                  <a:srgbClr val="F2F5F8"/>
                </a:solidFill>
              </a:defRPr>
            </a:pPr>
            <a:r>
              <a:t>• This aggregate alone does not explain performance: where misses go, whether they overlap, and whether they are instruction or data misses also matter.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30.</a:t>
            </a:r>
          </a:p>
          <a:p>
            <a:pPr>
              <a:spcAft>
                <a:spcPts val="1100"/>
              </a:spcAft>
              <a:defRPr sz="1900">
                <a:solidFill>
                  <a:srgbClr val="F2F5F8"/>
                </a:solidFill>
              </a:defRPr>
            </a:pPr>
            <a:r>
              <a:t>• Add a reset method that invalidates every line.</a:t>
            </a:r>
          </a:p>
          <a:p>
            <a:pPr>
              <a:spcAft>
                <a:spcPts val="1100"/>
              </a:spcAft>
              <a:defRPr sz="1900">
                <a:solidFill>
                  <a:srgbClr val="F2F5F8"/>
                </a:solidFill>
              </a:defRPr>
            </a:pPr>
            <a:r>
              <a:t>• Compare the original trace with a second immediate repetition without resetting.</a:t>
            </a:r>
          </a:p>
          <a:p>
            <a:pPr>
              <a:spcAft>
                <a:spcPts val="1100"/>
              </a:spcAft>
              <a:defRPr sz="1900">
                <a:solidFill>
                  <a:srgbClr val="F2F5F8"/>
                </a:solidFill>
              </a:defRPr>
            </a:pPr>
            <a:r>
              <a:t>• Explain why the first event of the repeated trace changes.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What is the global miss rate when L1’s local miss rate is 5% and L2’s local miss rate is 10%?</a:t>
            </a:r>
          </a:p>
          <a:p>
            <a:pPr>
              <a:spcAft>
                <a:spcPts val="1100"/>
              </a:spcAft>
              <a:defRPr sz="1900">
                <a:solidFill>
                  <a:srgbClr val="F2F5F8"/>
                </a:solidFill>
              </a:defRPr>
            </a:pPr>
            <a:r>
              <a:t>• Review 2.</a:t>
            </a:r>
          </a:p>
          <a:p>
            <a:pPr>
              <a:spcAft>
                <a:spcPts val="1100"/>
              </a:spcAft>
              <a:defRPr sz="1900">
                <a:solidFill>
                  <a:srgbClr val="F2F5F8"/>
                </a:solidFill>
              </a:defRPr>
            </a:pPr>
            <a:r>
              <a:t>• Why is a first-ever access not automatically a demand miss when prefetching is included?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cache behavior.</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Cache Replacement.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30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