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9 — Dynamic Memory</a:t>
            </a:r>
          </a:p>
          <a:p/>
          <a:p>
            <a:r>
              <a:t>LECTURE NARRATION</a:t>
            </a:r>
          </a:p>
          <a:p>
            <a:r>
              <a:t>Dynamic storage is useful when size or lifetime cannot be fixed at a local scope boundary. It also introduces an explicit responsibility: somebody must keep the storage alive while it is used and release it exactly once afterward. The allocation function is only the beginning of that responsibility.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dynamic storage is useful when size or lifetime cannot be fixed at a local scope boundary.</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Dynamic storage is useful when size or lifetime cannot be fixed at a local scope boundary. It also introduces an explicit responsibility: somebody must keep the storage alive while it is used and release it exactly once afterward. The allocation function is only the beginning of that responsibility.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dynamic storage is useful when size or lifetime cannot be fixed at a local scope boundary.</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9.1 Heap allocation 9.2 malloc 9.3 calloc 9.4 realloc ...plus 9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9.1 Heap allocation 9.2 malloc 9.3 calloc 9.4 realloc ...plus 9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9.1 Heap allocation</a:t>
            </a:r>
          </a:p>
          <a:p/>
          <a:p>
            <a:r>
              <a:t>LECTURE NARRATION</a:t>
            </a:r>
          </a:p>
          <a:p>
            <a:r>
              <a:t>A heap allocation requests a region large enough and suitably aligned for a purpose. The allocator may satisfy the request from existing free space or obtain more backing storage. Allocation can fail because of size limits, fragmentation, policy, or resource exhaustion. A successful request for raw storage does not necessarily mean every page has already been physically committed or touched. Nor does it initialize arbitrary C++ objects by itself. Separate storage acquisition, object initialization, use, destruction, and storage release. This sequence helps explain both raw allocation APIs and higher-level containers.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heap allocation requests a region large enough and suitably aligned for a purpose.</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9.1 Heap allocation — Deep Dive</a:t>
            </a:r>
          </a:p>
          <a:p/>
          <a:p>
            <a:r>
              <a:t>LECTURE NARRATION</a:t>
            </a:r>
          </a:p>
          <a:p>
            <a:r>
              <a:t>A heap allocation requests a region large enough and suitably aligned for a purpose. The allocator may satisfy the request from existing free space or obtain more backing storage. Allocation can fail because of size limits, fragmentation, policy, or resource exhaustion. A successful request for raw storage does not necessarily mean every page has already been physically committed or touched. Nor does it initialize arbitrary C++ objects by itself. Separate storage acquisition, object initialization, use, destruction, and storage release. This sequence helps explain both raw allocation APIs and higher-level containers.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heap allocation requests a region large enough and suitably aligned for a purpose.</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9.2 malloc</a:t>
            </a:r>
          </a:p>
          <a:p/>
          <a:p>
            <a:r>
              <a:t>LECTURE NARRATION</a:t>
            </a:r>
          </a:p>
          <a:p>
            <a:r>
              <a:t>malloc(n) requests at least n bytes of storage and returns a suitably aligned pointer for the supported ordinary object alignments, or a null pointer on failure. The returned bytes are not initialized. In C, assignment through an appropriately typed pointer can establish the intended object use within the language’s effective-type rules. Compute n safely before calling. Use sizeof *pointer rather than repeating a type name when it reduces maintenance risk. A zero-size request has special behavior that should not be used as an application control signal. Handle an empty collection explicitly so the ownership rules do not depend on a zero-size allocation convention. [ R39 ]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malloc(n) requests at least n bytes of storage and returns a suitably aligned pointer for the supported ordinary object alignments, or a null pointer on failure.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9.2 malloc — Deep Dive</a:t>
            </a:r>
          </a:p>
          <a:p/>
          <a:p>
            <a:r>
              <a:t>LECTURE NARRATION</a:t>
            </a:r>
          </a:p>
          <a:p>
            <a:r>
              <a:t>malloc(n) requests at least n bytes of storage and returns a suitably aligned pointer for the supported ordinary object alignments, or a null pointer on failure. The returned bytes are not initialized. In C, assignment through an appropriately typed pointer can establish the intended object use within the language’s effective-type rules. Compute n safely before calling. Use sizeof *pointer rather than repeating a type name when it reduces maintenance risk. A zero-size request has special behavior that should not be used as an application control signal. Handle an empty collection explicitly so the ownership rules do not depend on a zero-size allocation convention. [ R39 ]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malloc(n) requests at least n bytes of storage and returns a suitably aligned pointer for the supported ordinary object alignments, or a null pointer on failure.</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9.3 calloc</a:t>
            </a:r>
          </a:p>
          <a:p/>
          <a:p>
            <a:r>
              <a:t>LECTURE NARRATION</a:t>
            </a:r>
          </a:p>
          <a:p>
            <a:r>
              <a:t>calloc(count, size) requests storage for an array and zeroes the allocated bytes. Its separate count and size arguments allow the implementation to detect multiplication overflow. The application still needs semantic bounds, because a representable request may be far larger than policy permits. All-zero bytes are not a universal initializer for every possible object representation. On the reference platform they represent zero for ordinary integer storage, but portable C does not equate zero bytes with every null pointer or floating-point zero representation. In C++, use constructors and value initialization for objects rather than treating calloc as a replacement for object semantics.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calloc(count, size) requests storage for an array and zeroes the allocated bytes.</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9.3 calloc — Deep Dive</a:t>
            </a:r>
          </a:p>
          <a:p/>
          <a:p>
            <a:r>
              <a:t>LECTURE NARRATION</a:t>
            </a:r>
          </a:p>
          <a:p>
            <a:r>
              <a:t>calloc(count, size) requests storage for an array and zeroes the allocated bytes. Its separate count and size arguments allow the implementation to detect multiplication overflow. The application still needs semantic bounds, because a representable request may be far larger than policy permits. All-zero bytes are not a universal initializer for every possible object representation. On the reference platform they represent zero for ordinary integer storage, but portable C does not equate zero bytes with every null pointer or floating-point zero representation. In C++, use constructors and value initialization for objects rather than treating calloc as a replacement for object semantics.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calloc(count, size) requests storage for an array and zeroes the allocated bytes.</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9.4 realloc</a:t>
            </a:r>
          </a:p>
          <a:p/>
          <a:p>
            <a:r>
              <a:t>LECTURE NARRATION</a:t>
            </a:r>
          </a:p>
          <a:p>
            <a:r>
              <a:t>realloc changes the size of a previously allocated block while preserving the common prefix of the old and new sizes. It may move the block. For a nonzero requested size, failure leaves the original allocation available. Success ends the old allocation’s role and returns the pointer to use afterward. Store the result in a temporary pointer. Assigning directly to the only owning pointer can lose the original allocation on failure. After success, old aliases must not be used, even if the returned numeric address happens to match. Avoid realloc(p, 0) in portable application logic because its historical and language-version semantics are troublesome; use an explicit free-and-empty path instead.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realloc changes the size of a previously allocated block while preserving the common prefix of the old and new sizes.</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9.4 realloc — Deep Dive</a:t>
            </a:r>
          </a:p>
          <a:p/>
          <a:p>
            <a:r>
              <a:t>LECTURE NARRATION</a:t>
            </a:r>
          </a:p>
          <a:p>
            <a:r>
              <a:t>realloc changes the size of a previously allocated block while preserving the common prefix of the old and new sizes. It may move the block. For a nonzero requested size, failure leaves the original allocation available. Success ends the old allocation’s role and returns the pointer to use afterward. Store the result in a temporary pointer. Assigning directly to the only owning pointer can lose the original allocation on failure. After success, old aliases must not be used, even if the returned numeric address happens to match. Avoid realloc(p, 0) in portable application logic because its historical and language-version semantics are troublesome; use an explicit free-and-empty path instead.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realloc changes the size of a previously allocated block while preserving the common prefix of the old and new sizes.</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9.5 free</a:t>
            </a:r>
          </a:p>
          <a:p/>
          <a:p>
            <a:r>
              <a:t>LECTURE NARRATION</a:t>
            </a:r>
          </a:p>
          <a:p>
            <a:r>
              <a:t>free releases a block obtained through the matching allocation family. Passing a null pointer has no effect. Passing an interior pointer, a pointer to automatic storage, or an already freed pointer violates the contract. The allocator needs the original allocation identity, not merely an address somewhere inside its payload. Freeing storage does not guarantee that its bytes are erased or that the operating system immediately reclaims its pages. Do not use free as a data-sanitization operation. More importantly, do not read the bytes after release merely because a debugger still shows the old contents. The lifetime boundary is semantic, not a visible overwrite event.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free releases a block obtained through the matching allocation family.</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9.5 free — Deep Dive</a:t>
            </a:r>
          </a:p>
          <a:p/>
          <a:p>
            <a:r>
              <a:t>LECTURE NARRATION</a:t>
            </a:r>
          </a:p>
          <a:p>
            <a:r>
              <a:t>free releases a block obtained through the matching allocation family. Passing a null pointer has no effect. Passing an interior pointer, a pointer to automatic storage, or an already freed pointer violates the contract. The allocator needs the original allocation identity, not merely an address somewhere inside its payload. Freeing storage does not guarantee that its bytes are erased or that the operating system immediately reclaims its pages. Do not use free as a data-sanitization operation. More importantly, do not read the bytes after release merely because a debugger still shows the old contents. The lifetime boundary is semantic, not a visible overwrite event.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free releases a block obtained through the matching allocation family.</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9.6 new</a:t>
            </a:r>
          </a:p>
          <a:p/>
          <a:p>
            <a:r>
              <a:t>LECTURE NARRATION</a:t>
            </a:r>
          </a:p>
          <a:p>
            <a:r>
              <a:t>A C++ new expression obtains storage and initializes an object. Ordinary allocation failure throws std::bad_alloc ; a nothrow form can return null. If construction throws after storage acquisition, the language arranges the matching cleanup for that failed construction path. Prefer std::make_unique for unique dynamic ownership and containers for collections. A raw new is sometimes needed inside a low-level abstraction, but it should not force every caller to reason about cleanup. The distinction between an allocation function named operator new and a complete new expression also matters: the former obtains storage, while the latter includes object initialization.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 new expression obtains storage and initializes an object.</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9.6 new — Deep Dive</a:t>
            </a:r>
          </a:p>
          <a:p/>
          <a:p>
            <a:r>
              <a:t>LECTURE NARRATION</a:t>
            </a:r>
          </a:p>
          <a:p>
            <a:r>
              <a:t>A C++ new expression obtains storage and initializes an object. Ordinary allocation failure throws std::bad_alloc ; a nothrow form can return null. If construction throws after storage acquisition, the language arranges the matching cleanup for that failed construction path. Prefer std::make_unique for unique dynamic ownership and containers for collections. A raw new is sometimes needed inside a low-level abstraction, but it should not force every caller to reason about cleanup. The distinction between an allocation function named operator new and a complete new expression also matters: the former obtains storage, while the latter includes object initialization.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 new expression obtains storage and initializes an object.</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9.7 delete</a:t>
            </a:r>
          </a:p>
          <a:p/>
          <a:p>
            <a:r>
              <a:t>LECTURE NARRATION</a:t>
            </a:r>
          </a:p>
          <a:p>
            <a:r>
              <a:t>A delete expression destroys the object and releases its storage through the matching mechanism. Scalar new matches scalar delete ; array new[] matches delete[] . Mixing allocation families, such as malloc with delete , is invalid. Deleting through a base-class pointer requires appropriate polymorphic destruction when the dynamic object is derived. A base intended for such ownership generally needs a virtual destructor. Resource ownership through a pointer is therefore a type-design issue as well as an allocator issue. A correct address with the wrong destruction interface is still unsafe.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delete expression destroys the object and releases its storage through the matching mechanism.</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9.7 delete — Deep Dive</a:t>
            </a:r>
          </a:p>
          <a:p/>
          <a:p>
            <a:r>
              <a:t>LECTURE NARRATION</a:t>
            </a:r>
          </a:p>
          <a:p>
            <a:r>
              <a:t>A delete expression destroys the object and releases its storage through the matching mechanism. Scalar new matches scalar delete ; array new[] matches delete[] . Mixing allocation families, such as malloc with delete , is invalid. Deleting through a base-class pointer requires appropriate polymorphic destruction when the dynamic object is derived. A base intended for such ownership generally needs a virtual destructor. Resource ownership through a pointer is therefore a type-design issue as well as an allocator issue. A correct address with the wrong destruction interface is still unsafe.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delete expression destroys the object and releases its storage through the matching mechanism.</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9.8 Allocation lifetime</a:t>
            </a:r>
          </a:p>
          <a:p/>
          <a:p>
            <a:r>
              <a:t>LECTURE NARRATION</a:t>
            </a:r>
          </a:p>
          <a:p>
            <a:r>
              <a:t>An allocation’s lifetime must cover every use of its storage. Borrowed pointers into a resizable allocation have especially fragile lifetimes because growth can move the block. A function that returns an interior pointer should document which operations invalidate it. Group objects with the same lifetime when that simplifies ownership. A request-scoped arena can release many short-lived allocations together. A vector can own a sequence whose elements move as one resource. Avoid creating a separate ownership obligation for every small object unless independent lifetimes are actually needed.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an allocation’s lifetime must cover every use of its storage.</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9.8 Allocation lifetime — Deep Dive</a:t>
            </a:r>
          </a:p>
          <a:p/>
          <a:p>
            <a:r>
              <a:t>LECTURE NARRATION</a:t>
            </a:r>
          </a:p>
          <a:p>
            <a:r>
              <a:t>An allocation’s lifetime must cover every use of its storage. Borrowed pointers into a resizable allocation have especially fragile lifetimes because growth can move the block. A function that returns an interior pointer should document which operations invalidate it. Group objects with the same lifetime when that simplifies ownership. A request-scoped arena can release many short-lived allocations together. A vector can own a sequence whose elements move as one resource. Avoid creating a separate ownership obligation for every small object unless independent lifetimes are actually needed.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an allocation’s lifetime must cover every use of its storage.</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9.9 Ownership</a:t>
            </a:r>
          </a:p>
          <a:p/>
          <a:p>
            <a:r>
              <a:t>LECTURE NARRATION</a:t>
            </a:r>
          </a:p>
          <a:p>
            <a:r>
              <a:t>Ownership identifies the component responsible for destruction and release. Unique ownership has one responsible owner. Shared ownership coordinates several owners, commonly with reference counting. Borrowing grants access without release responsibility. Shared ownership is not free and does not automatically make the object thread-safe. A reference count protects lifetime, not arbitrary member updates. Cycles can also prevent reclamation unless broken by weak references or another policy. Choose the simplest ownership model that matches the required lifetime graph; do not use shared ownership merely to avoid deciding who owns a resource.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ownership identifies the component responsible for destruction and release.</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9.9 Ownership — Deep Dive</a:t>
            </a:r>
          </a:p>
          <a:p/>
          <a:p>
            <a:r>
              <a:t>LECTURE NARRATION</a:t>
            </a:r>
          </a:p>
          <a:p>
            <a:r>
              <a:t>Ownership identifies the component responsible for destruction and release. Unique ownership has one responsible owner. Shared ownership coordinates several owners, commonly with reference counting. Borrowing grants access without release responsibility. Shared ownership is not free and does not automatically make the object thread-safe. A reference count protects lifetime, not arbitrary member updates. Cycles can also prevent reclamation unless broken by weak references or another policy. Choose the simplest ownership model that matches the required lifetime graph; do not use shared ownership merely to avoid deciding who owns a resource.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ownership identifies the component responsible for destruction and release.</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Worked example — Growing a C buffer without losing ownership</a:t>
            </a:r>
          </a:p>
          <a:p/>
          <a:p>
            <a:r>
              <a:t>LECTURE NARRATION</a:t>
            </a:r>
          </a:p>
          <a:p>
            <a:r>
              <a:t>The requirement is to grow a four-integer allocation to eight integers. If growth fails, the original allocation must remain releasable. The program uses fixed small sizes so the example can focus on ownership rather than input parsing. Companion listing: ch09/grow.c Before growth, four initialized elements exist. On success, the first four values are preserved, but the new suffix is not initialized by realloc ; the program initializes it before reading. Only after that does it update the logical count. The sum is 1+2+3+4+5+6+7+8 = 36 . The failure branch releases the original pointer. The success branch adopts the returned pointer and never compares or uses stale aliases. A production growable buffer would also check multiplication, enforce a capacity limit, and avoid updating its public state until all required initialization succeeds.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requirement is to grow a four-integer allocation to eight integers.</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Worked example — Growing a C buffer without losing ownership — Deep Dive</a:t>
            </a:r>
          </a:p>
          <a:p/>
          <a:p>
            <a:r>
              <a:t>LECTURE NARRATION</a:t>
            </a:r>
          </a:p>
          <a:p>
            <a:r>
              <a:t>The requirement is to grow a four-integer allocation to eight integers. If growth fails, the original allocation must remain releasable. The program uses fixed small sizes so the example can focus on ownership rather than input parsing. Companion listing: ch09/grow.c Before growth, four initialized elements exist. On success, the first four values are preserved, but the new suffix is not initialized by realloc ; the program initializes it before reading. Only after that does it update the logical count. The sum is 1+2+3+4+5+6+7+8 = 36 . The failure branch releases the original pointer. The success branch adopts the returned pointer and never compares or uses stale aliases. A production growable buffer would also check multiplication, enforce a capacity limit, and avoid updating its public state until all required initialization succeeds.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requirement is to grow a four-integer allocation to eight integers.</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Worked example — Growing a dynamic array safely</a:t>
            </a:r>
          </a:p>
          <a:p/>
          <a:p>
            <a:r>
              <a:t>LECTURE NARRATION</a:t>
            </a:r>
          </a:p>
          <a:p>
            <a:r>
              <a:t>If p owns a malloc allocation, do not write p = realloc(p,new_size) unless losing the old block on failure is acceptable. Use tmp = realloc(p,new_size) . If tmp is non-null, assign p=tmp ; otherwise p still owns the original allocation. The temporary preserves ownership across the failure path.</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if p owns a malloc allocation, do not write p = realloc(p,new_size) unless losing the old block on failure is acceptable.</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Worked example — Growing a dynamic array safely — Deep Dive</a:t>
            </a:r>
          </a:p>
          <a:p/>
          <a:p>
            <a:r>
              <a:t>LECTURE NARRATION</a:t>
            </a:r>
          </a:p>
          <a:p>
            <a:r>
              <a:t>If p owns a malloc allocation, do not write p = realloc(p,new_size) unless losing the old block on failure is acceptable. Use tmp = realloc(p,new_size) . If tmp is non-null, assign p=tmp ; otherwise p still owns the original allocation. The temporary preserves ownership across the failure path.</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if p owns a malloc allocation, do not write p = realloc(p,new_size) unless losing the old block on failure is acceptable.</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Worked example — Matching allocation families</a:t>
            </a:r>
          </a:p>
          <a:p/>
          <a:p>
            <a:r>
              <a:t>LECTURE NARRATION</a:t>
            </a:r>
          </a:p>
          <a:p>
            <a:r>
              <a:t>Memory obtained with malloc must be released with free ; an object created with new T must be released with delete ; an array created with new T[n] requires delete[] . Mixing families bypasses the assumptions each runtime uses for metadata and object destruction. In modern C++, prefer RAII containers and smart pointers so matching happens structurally.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memory obtained with malloc must be released with free ; an object created with new T must be released with delete ; an array created with new T[n] requires delete[] .</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Worked example — Matching allocation families — Deep Dive</a:t>
            </a:r>
          </a:p>
          <a:p/>
          <a:p>
            <a:r>
              <a:t>LECTURE NARRATION</a:t>
            </a:r>
          </a:p>
          <a:p>
            <a:r>
              <a:t>Memory obtained with malloc must be released with free ; an object created with new T must be released with delete ; an array created with new T[n] requires delete[] . Mixing families bypasses the assumptions each runtime uses for metadata and object destruction. In modern C++, prefer RAII containers and smart pointers so matching happens structurally.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memory obtained with malloc must be released with free ; an object created with new T must be released with delete ; an array created with new T[n] requires delete[] .</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Guided lab and review</a:t>
            </a:r>
          </a:p>
          <a:p/>
          <a:p>
            <a:r>
              <a:t>LECTURE NARRATION</a:t>
            </a:r>
          </a:p>
          <a:p>
            <a:r>
              <a:t>Lab 9. Wrap the C allocation operations behind a small test interface that can deliberately fail the next allocation request. Verify that a failed growth leaves the old contents and owner intact. Do not attempt to trigger failure by exhausting the machine’s memory. Review 1. Why does realloc require a temporary result pointer? Review 2. Why does a shared pointer not remove the need for a mutex around mutable shared data?</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9.</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Guided lab and review — Deep Dive</a:t>
            </a:r>
          </a:p>
          <a:p/>
          <a:p>
            <a:r>
              <a:t>LECTURE NARRATION</a:t>
            </a:r>
          </a:p>
          <a:p>
            <a:r>
              <a:t>Lab 9. Wrap the C allocation operations behind a small test interface that can deliberately fail the next allocation request. Verify that a failed growth leaves the old contents and owner intact. Do not attempt to trigger failure by exhausting the machine’s memory. Review 1. Why does realloc require a temporary result pointer? Review 2. Why does a shared pointer not remove the need for a mutex around mutable shared data?</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9.</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Chapter Synthesis</a:t>
            </a:r>
          </a:p>
          <a:p/>
          <a:p>
            <a:r>
              <a:t>LECTURE NARRATION</a:t>
            </a:r>
          </a:p>
          <a:p>
            <a:r>
              <a:t>The chapter's central subject is dynamic memory.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dynamic memory.</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Memory Allocators.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9 — Dynamic Memory</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Dynamic storage is useful when size or lifetime cannot be fixed at a local scope boundary.</a:t>
            </a:r>
          </a:p>
          <a:p>
            <a:pPr>
              <a:spcAft>
                <a:spcPts val="1100"/>
              </a:spcAft>
              <a:defRPr sz="1700">
                <a:solidFill>
                  <a:srgbClr val="F2F5F8"/>
                </a:solidFill>
              </a:defRPr>
            </a:pPr>
            <a:r>
              <a:t>• It also introduces an explicit responsibility: somebody must keep the storage alive while it is used and release it exactly once afterward.</a:t>
            </a:r>
          </a:p>
          <a:p>
            <a:pPr>
              <a:spcAft>
                <a:spcPts val="1100"/>
              </a:spcAft>
              <a:defRPr sz="1900">
                <a:solidFill>
                  <a:srgbClr val="F2F5F8"/>
                </a:solidFill>
              </a:defRPr>
            </a:pPr>
            <a:r>
              <a:t>• The allocation function is only the beginning of that responsibility.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9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Dynamic Memory.</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9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9.1 Heap allocation</a:t>
            </a:r>
          </a:p>
          <a:p>
            <a:pPr>
              <a:spcAft>
                <a:spcPts val="1100"/>
              </a:spcAft>
              <a:defRPr sz="1900">
                <a:solidFill>
                  <a:srgbClr val="F2F5F8"/>
                </a:solidFill>
              </a:defRPr>
            </a:pPr>
            <a:r>
              <a:t>• 9.2 malloc</a:t>
            </a:r>
          </a:p>
          <a:p>
            <a:pPr>
              <a:spcAft>
                <a:spcPts val="1100"/>
              </a:spcAft>
              <a:defRPr sz="1900">
                <a:solidFill>
                  <a:srgbClr val="F2F5F8"/>
                </a:solidFill>
              </a:defRPr>
            </a:pPr>
            <a:r>
              <a:t>• 9.3 calloc</a:t>
            </a:r>
          </a:p>
          <a:p>
            <a:pPr>
              <a:spcAft>
                <a:spcPts val="1100"/>
              </a:spcAft>
              <a:defRPr sz="1900">
                <a:solidFill>
                  <a:srgbClr val="F2F5F8"/>
                </a:solidFill>
              </a:defRPr>
            </a:pPr>
            <a:r>
              <a:t>• 9.4 realloc</a:t>
            </a:r>
          </a:p>
          <a:p>
            <a:pPr>
              <a:spcAft>
                <a:spcPts val="1100"/>
              </a:spcAft>
              <a:defRPr sz="1900">
                <a:solidFill>
                  <a:srgbClr val="F2F5F8"/>
                </a:solidFill>
              </a:defRPr>
            </a:pPr>
            <a:r>
              <a:t>• ...plus 9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9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9.1 Heap allocation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heap allocation requests a region large enough and suitably aligned for a purpose.</a:t>
            </a:r>
          </a:p>
          <a:p>
            <a:pPr>
              <a:spcAft>
                <a:spcPts val="1100"/>
              </a:spcAft>
              <a:defRPr sz="1900">
                <a:solidFill>
                  <a:srgbClr val="F2F5F8"/>
                </a:solidFill>
              </a:defRPr>
            </a:pPr>
            <a:r>
              <a:t>• The allocator may satisfy the request from existing free space or obtain more backing storage.</a:t>
            </a:r>
          </a:p>
          <a:p>
            <a:pPr>
              <a:spcAft>
                <a:spcPts val="1100"/>
              </a:spcAft>
              <a:defRPr sz="1900">
                <a:solidFill>
                  <a:srgbClr val="F2F5F8"/>
                </a:solidFill>
              </a:defRPr>
            </a:pPr>
            <a:r>
              <a:t>• Allocation can fail because of size limits, fragmentation, policy, or resource exhaustion.</a:t>
            </a:r>
          </a:p>
          <a:p>
            <a:pPr>
              <a:spcAft>
                <a:spcPts val="1100"/>
              </a:spcAft>
              <a:defRPr sz="1700">
                <a:solidFill>
                  <a:srgbClr val="F2F5F8"/>
                </a:solidFill>
              </a:defRPr>
            </a:pPr>
            <a:r>
              <a:t>• A successful request for raw storage does not necessarily mean every page has already been physically committed or touched.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9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9.1 Heap allocation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successful request for raw storage does not necessarily mean every page has already been physically committed or touched.</a:t>
            </a:r>
          </a:p>
          <a:p>
            <a:pPr>
              <a:spcAft>
                <a:spcPts val="1100"/>
              </a:spcAft>
              <a:defRPr sz="1900">
                <a:solidFill>
                  <a:srgbClr val="F2F5F8"/>
                </a:solidFill>
              </a:defRPr>
            </a:pPr>
            <a:r>
              <a:t>• Nor does it initialize arbitrary C++ objects by itself.</a:t>
            </a:r>
          </a:p>
          <a:p>
            <a:pPr>
              <a:spcAft>
                <a:spcPts val="1100"/>
              </a:spcAft>
              <a:defRPr sz="1900">
                <a:solidFill>
                  <a:srgbClr val="F2F5F8"/>
                </a:solidFill>
              </a:defRPr>
            </a:pPr>
            <a:r>
              <a:t>• Separate storage acquisition, object initialization, use, destruction, and storage release.</a:t>
            </a:r>
          </a:p>
          <a:p>
            <a:pPr>
              <a:spcAft>
                <a:spcPts val="1100"/>
              </a:spcAft>
              <a:defRPr sz="1900">
                <a:solidFill>
                  <a:srgbClr val="F2F5F8"/>
                </a:solidFill>
              </a:defRPr>
            </a:pPr>
            <a:r>
              <a:t>• This sequence helps explain both raw allocation APIs and higher-level containers.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9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9.2 malloc</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malloc(n) requests at least n bytes of storage and returns a suitably aligned pointer for the supported ordinary object alignments, or a null pointer on failure.</a:t>
            </a:r>
          </a:p>
          <a:p>
            <a:pPr>
              <a:spcAft>
                <a:spcPts val="1100"/>
              </a:spcAft>
              <a:defRPr sz="1900">
                <a:solidFill>
                  <a:srgbClr val="F2F5F8"/>
                </a:solidFill>
              </a:defRPr>
            </a:pPr>
            <a:r>
              <a:t>• The returned bytes are not initialized.</a:t>
            </a:r>
          </a:p>
          <a:p>
            <a:pPr>
              <a:spcAft>
                <a:spcPts val="1100"/>
              </a:spcAft>
              <a:defRPr sz="1700">
                <a:solidFill>
                  <a:srgbClr val="F2F5F8"/>
                </a:solidFill>
              </a:defRPr>
            </a:pPr>
            <a:r>
              <a:t>• In C, assignment through an appropriately typed pointer can establish the intended object use within the language’s effective-type rules.</a:t>
            </a:r>
          </a:p>
          <a:p>
            <a:pPr>
              <a:spcAft>
                <a:spcPts val="1100"/>
              </a:spcAft>
              <a:defRPr sz="1900">
                <a:solidFill>
                  <a:srgbClr val="F2F5F8"/>
                </a:solidFill>
              </a:defRPr>
            </a:pPr>
            <a:r>
              <a:t>• Compute n safely before calling.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9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9.2 malloc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Compute n safely before calling.</a:t>
            </a:r>
          </a:p>
          <a:p>
            <a:pPr>
              <a:spcAft>
                <a:spcPts val="1100"/>
              </a:spcAft>
              <a:defRPr sz="1900">
                <a:solidFill>
                  <a:srgbClr val="F2F5F8"/>
                </a:solidFill>
              </a:defRPr>
            </a:pPr>
            <a:r>
              <a:t>• Use sizeof *pointer rather than repeating a type name when it reduces maintenance risk.</a:t>
            </a:r>
          </a:p>
          <a:p>
            <a:pPr>
              <a:spcAft>
                <a:spcPts val="1100"/>
              </a:spcAft>
              <a:defRPr sz="1900">
                <a:solidFill>
                  <a:srgbClr val="F2F5F8"/>
                </a:solidFill>
              </a:defRPr>
            </a:pPr>
            <a:r>
              <a:t>• A zero-size request has special behavior that should not be used as an application control signal.</a:t>
            </a:r>
          </a:p>
          <a:p>
            <a:pPr>
              <a:spcAft>
                <a:spcPts val="1100"/>
              </a:spcAft>
              <a:defRPr sz="1700">
                <a:solidFill>
                  <a:srgbClr val="F2F5F8"/>
                </a:solidFill>
              </a:defRPr>
            </a:pPr>
            <a:r>
              <a:t>• Handle an empty collection explicitly so the ownership rules do not depend on a zero-size allocation convention. [ R39 ]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9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9.3 calloc</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calloc(count, size) requests storage for an array and zeroes the allocated bytes.</a:t>
            </a:r>
          </a:p>
          <a:p>
            <a:pPr>
              <a:spcAft>
                <a:spcPts val="1100"/>
              </a:spcAft>
              <a:defRPr sz="1900">
                <a:solidFill>
                  <a:srgbClr val="F2F5F8"/>
                </a:solidFill>
              </a:defRPr>
            </a:pPr>
            <a:r>
              <a:t>• Its separate count and size arguments allow the implementation to detect multiplication overflow.</a:t>
            </a:r>
          </a:p>
          <a:p>
            <a:pPr>
              <a:spcAft>
                <a:spcPts val="1100"/>
              </a:spcAft>
              <a:defRPr sz="1900">
                <a:solidFill>
                  <a:srgbClr val="F2F5F8"/>
                </a:solidFill>
              </a:defRPr>
            </a:pPr>
            <a:r>
              <a:t>• The application still needs semantic bounds, because a representable request may be far larger than policy permits.</a:t>
            </a:r>
          </a:p>
          <a:p>
            <a:pPr>
              <a:spcAft>
                <a:spcPts val="1100"/>
              </a:spcAft>
              <a:defRPr sz="1900">
                <a:solidFill>
                  <a:srgbClr val="F2F5F8"/>
                </a:solidFill>
              </a:defRPr>
            </a:pPr>
            <a:r>
              <a:t>• All-zero bytes are not a universal initializer for every possible object representation.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9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9.3 calloc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All-zero bytes are not a universal initializer for every possible object representation.</a:t>
            </a:r>
          </a:p>
          <a:p>
            <a:pPr>
              <a:spcAft>
                <a:spcPts val="1100"/>
              </a:spcAft>
              <a:defRPr sz="1700">
                <a:solidFill>
                  <a:srgbClr val="F2F5F8"/>
                </a:solidFill>
              </a:defRPr>
            </a:pPr>
            <a:r>
              <a:t>• On the reference platform they represent zero for ordinary integer storage, but portable C does not equate zero bytes with every null pointer or floating-point zero...</a:t>
            </a:r>
          </a:p>
          <a:p>
            <a:pPr>
              <a:spcAft>
                <a:spcPts val="1100"/>
              </a:spcAft>
              <a:defRPr sz="1700">
                <a:solidFill>
                  <a:srgbClr val="F2F5F8"/>
                </a:solidFill>
              </a:defRPr>
            </a:pPr>
            <a:r>
              <a:t>• In C++, use constructors and value initialization for objects rather than treating calloc as a replacement for object semantics.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9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9.4 realloc</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realloc changes the size of a previously allocated block while preserving the common prefix of the old and new sizes.</a:t>
            </a:r>
          </a:p>
          <a:p>
            <a:pPr>
              <a:spcAft>
                <a:spcPts val="1100"/>
              </a:spcAft>
              <a:defRPr sz="1900">
                <a:solidFill>
                  <a:srgbClr val="F2F5F8"/>
                </a:solidFill>
              </a:defRPr>
            </a:pPr>
            <a:r>
              <a:t>• It may move the block.</a:t>
            </a:r>
          </a:p>
          <a:p>
            <a:pPr>
              <a:spcAft>
                <a:spcPts val="1100"/>
              </a:spcAft>
              <a:defRPr sz="1900">
                <a:solidFill>
                  <a:srgbClr val="F2F5F8"/>
                </a:solidFill>
              </a:defRPr>
            </a:pPr>
            <a:r>
              <a:t>• For a nonzero requested size, failure leaves the original allocation available.</a:t>
            </a:r>
          </a:p>
          <a:p>
            <a:pPr>
              <a:spcAft>
                <a:spcPts val="1100"/>
              </a:spcAft>
              <a:defRPr sz="1900">
                <a:solidFill>
                  <a:srgbClr val="F2F5F8"/>
                </a:solidFill>
              </a:defRPr>
            </a:pPr>
            <a:r>
              <a:t>• Success ends the old allocation’s role and returns the pointer to use afterward.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9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9.4 realloc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Store the result in a temporary pointer.</a:t>
            </a:r>
          </a:p>
          <a:p>
            <a:pPr>
              <a:spcAft>
                <a:spcPts val="1100"/>
              </a:spcAft>
              <a:defRPr sz="1900">
                <a:solidFill>
                  <a:srgbClr val="F2F5F8"/>
                </a:solidFill>
              </a:defRPr>
            </a:pPr>
            <a:r>
              <a:t>• Assigning directly to the only owning pointer can lose the original allocation on failure.</a:t>
            </a:r>
          </a:p>
          <a:p>
            <a:pPr>
              <a:spcAft>
                <a:spcPts val="1100"/>
              </a:spcAft>
              <a:defRPr sz="1900">
                <a:solidFill>
                  <a:srgbClr val="F2F5F8"/>
                </a:solidFill>
              </a:defRPr>
            </a:pPr>
            <a:r>
              <a:t>• After success, old aliases must not be used, even if the returned numeric address happens to match.</a:t>
            </a:r>
          </a:p>
          <a:p>
            <a:pPr>
              <a:spcAft>
                <a:spcPts val="1100"/>
              </a:spcAft>
              <a:defRPr sz="1700">
                <a:solidFill>
                  <a:srgbClr val="F2F5F8"/>
                </a:solidFill>
              </a:defRPr>
            </a:pPr>
            <a:r>
              <a:t>• Avoid realloc(p, 0) in portable application logic because its historical and language-version semantics are troublesome; use an explicit free-and-empty path instead.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9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9.5 free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free releases a block obtained through the matching allocation family.</a:t>
            </a:r>
          </a:p>
          <a:p>
            <a:pPr>
              <a:spcAft>
                <a:spcPts val="1100"/>
              </a:spcAft>
              <a:defRPr sz="1900">
                <a:solidFill>
                  <a:srgbClr val="F2F5F8"/>
                </a:solidFill>
              </a:defRPr>
            </a:pPr>
            <a:r>
              <a:t>• Passing a null pointer has no effect.</a:t>
            </a:r>
          </a:p>
          <a:p>
            <a:pPr>
              <a:spcAft>
                <a:spcPts val="1100"/>
              </a:spcAft>
              <a:defRPr sz="1900">
                <a:solidFill>
                  <a:srgbClr val="F2F5F8"/>
                </a:solidFill>
              </a:defRPr>
            </a:pPr>
            <a:r>
              <a:t>• Passing an interior pointer, a pointer to automatic storage, or an already freed pointer violates the contract.</a:t>
            </a:r>
          </a:p>
          <a:p>
            <a:pPr>
              <a:spcAft>
                <a:spcPts val="1100"/>
              </a:spcAft>
              <a:defRPr sz="1900">
                <a:solidFill>
                  <a:srgbClr val="F2F5F8"/>
                </a:solidFill>
              </a:defRPr>
            </a:pPr>
            <a:r>
              <a:t>• The allocator needs the original allocation identity, not merely an address somewhere inside its payload.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9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9.5 free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Freeing storage does not guarantee that its bytes are erased or that the operating system immediately reclaims its pages.</a:t>
            </a:r>
          </a:p>
          <a:p>
            <a:pPr>
              <a:spcAft>
                <a:spcPts val="1100"/>
              </a:spcAft>
              <a:defRPr sz="1900">
                <a:solidFill>
                  <a:srgbClr val="F2F5F8"/>
                </a:solidFill>
              </a:defRPr>
            </a:pPr>
            <a:r>
              <a:t>• Do not use free as a data-sanitization operation.</a:t>
            </a:r>
          </a:p>
          <a:p>
            <a:pPr>
              <a:spcAft>
                <a:spcPts val="1100"/>
              </a:spcAft>
              <a:defRPr sz="1900">
                <a:solidFill>
                  <a:srgbClr val="F2F5F8"/>
                </a:solidFill>
              </a:defRPr>
            </a:pPr>
            <a:r>
              <a:t>• More importantly, do not read the bytes after release merely because a debugger still shows the old contents.</a:t>
            </a:r>
          </a:p>
          <a:p>
            <a:pPr>
              <a:spcAft>
                <a:spcPts val="1100"/>
              </a:spcAft>
              <a:defRPr sz="1900">
                <a:solidFill>
                  <a:srgbClr val="F2F5F8"/>
                </a:solidFill>
              </a:defRPr>
            </a:pPr>
            <a:r>
              <a:t>• The lifetime boundary is semantic, not a visible overwrite event.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9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9.6 new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 new expression obtains storage and initializes an object.</a:t>
            </a:r>
          </a:p>
          <a:p>
            <a:pPr>
              <a:spcAft>
                <a:spcPts val="1100"/>
              </a:spcAft>
              <a:defRPr sz="1900">
                <a:solidFill>
                  <a:srgbClr val="F2F5F8"/>
                </a:solidFill>
              </a:defRPr>
            </a:pPr>
            <a:r>
              <a:t>• Ordinary allocation failure throws std::bad_alloc ; a nothrow form can return null.</a:t>
            </a:r>
          </a:p>
          <a:p>
            <a:pPr>
              <a:spcAft>
                <a:spcPts val="1100"/>
              </a:spcAft>
              <a:defRPr sz="1700">
                <a:solidFill>
                  <a:srgbClr val="F2F5F8"/>
                </a:solidFill>
              </a:defRPr>
            </a:pPr>
            <a:r>
              <a:t>• If construction throws after storage acquisition, the language arranges the matching cleanup for that failed construction path.</a:t>
            </a:r>
          </a:p>
          <a:p>
            <a:pPr>
              <a:spcAft>
                <a:spcPts val="1100"/>
              </a:spcAft>
              <a:defRPr sz="1900">
                <a:solidFill>
                  <a:srgbClr val="F2F5F8"/>
                </a:solidFill>
              </a:defRPr>
            </a:pPr>
            <a:r>
              <a:t>• Prefer std::make_unique for unique dynamic ownership and containers for collections.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9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9.6 new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Prefer std::make_unique for unique dynamic ownership and containers for collections.</a:t>
            </a:r>
          </a:p>
          <a:p>
            <a:pPr>
              <a:spcAft>
                <a:spcPts val="1100"/>
              </a:spcAft>
              <a:defRPr sz="1700">
                <a:solidFill>
                  <a:srgbClr val="F2F5F8"/>
                </a:solidFill>
              </a:defRPr>
            </a:pPr>
            <a:r>
              <a:t>• A raw new is sometimes needed inside a low-level abstraction, but it should not force every caller to reason about cleanup.</a:t>
            </a:r>
          </a:p>
          <a:p>
            <a:pPr>
              <a:spcAft>
                <a:spcPts val="1100"/>
              </a:spcAft>
              <a:defRPr sz="1700">
                <a:solidFill>
                  <a:srgbClr val="F2F5F8"/>
                </a:solidFill>
              </a:defRPr>
            </a:pPr>
            <a:r>
              <a:t>• The distinction between an allocation function named operator new and a complete new expression also matters: the former obtains storage, while the latter includes object...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9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9.7 delete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delete expression destroys the object and releases its storage through the matching mechanism.</a:t>
            </a:r>
          </a:p>
          <a:p>
            <a:pPr>
              <a:spcAft>
                <a:spcPts val="1100"/>
              </a:spcAft>
              <a:defRPr sz="1900">
                <a:solidFill>
                  <a:srgbClr val="F2F5F8"/>
                </a:solidFill>
              </a:defRPr>
            </a:pPr>
            <a:r>
              <a:t>• Scalar new matches scalar delete ; array new[] matches delete[] .</a:t>
            </a:r>
          </a:p>
          <a:p>
            <a:pPr>
              <a:spcAft>
                <a:spcPts val="1100"/>
              </a:spcAft>
              <a:defRPr sz="1900">
                <a:solidFill>
                  <a:srgbClr val="F2F5F8"/>
                </a:solidFill>
              </a:defRPr>
            </a:pPr>
            <a:r>
              <a:t>• Mixing allocation families, such as malloc with delete , is invalid.</a:t>
            </a:r>
          </a:p>
          <a:p>
            <a:pPr>
              <a:spcAft>
                <a:spcPts val="1100"/>
              </a:spcAft>
              <a:defRPr sz="1900">
                <a:solidFill>
                  <a:srgbClr val="F2F5F8"/>
                </a:solidFill>
              </a:defRPr>
            </a:pPr>
            <a:r>
              <a:t>• Deleting through a base-class pointer requires appropriate polymorphic destruction when the dynamic object is derived.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9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9.7 delete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Deleting through a base-class pointer requires appropriate polymorphic destruction when the dynamic object is derived.</a:t>
            </a:r>
          </a:p>
          <a:p>
            <a:pPr>
              <a:spcAft>
                <a:spcPts val="1100"/>
              </a:spcAft>
              <a:defRPr sz="1900">
                <a:solidFill>
                  <a:srgbClr val="F2F5F8"/>
                </a:solidFill>
              </a:defRPr>
            </a:pPr>
            <a:r>
              <a:t>• A base intended for such ownership generally needs a virtual destructor.</a:t>
            </a:r>
          </a:p>
          <a:p>
            <a:pPr>
              <a:spcAft>
                <a:spcPts val="1100"/>
              </a:spcAft>
              <a:defRPr sz="1900">
                <a:solidFill>
                  <a:srgbClr val="F2F5F8"/>
                </a:solidFill>
              </a:defRPr>
            </a:pPr>
            <a:r>
              <a:t>• Resource ownership through a pointer is therefore a type-design issue as well as an allocator issue.</a:t>
            </a:r>
          </a:p>
          <a:p>
            <a:pPr>
              <a:spcAft>
                <a:spcPts val="1100"/>
              </a:spcAft>
              <a:defRPr sz="1900">
                <a:solidFill>
                  <a:srgbClr val="F2F5F8"/>
                </a:solidFill>
              </a:defRPr>
            </a:pPr>
            <a:r>
              <a:t>• A correct address with the wrong destruction interface is still unsafe.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9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9.8 Allocation lifetime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An allocation’s lifetime must cover every use of its storage.</a:t>
            </a:r>
          </a:p>
          <a:p>
            <a:pPr>
              <a:spcAft>
                <a:spcPts val="1100"/>
              </a:spcAft>
              <a:defRPr sz="1900">
                <a:solidFill>
                  <a:srgbClr val="F2F5F8"/>
                </a:solidFill>
              </a:defRPr>
            </a:pPr>
            <a:r>
              <a:t>• Borrowed pointers into a resizable allocation have especially fragile lifetimes because growth can move the block.</a:t>
            </a:r>
          </a:p>
          <a:p>
            <a:pPr>
              <a:spcAft>
                <a:spcPts val="1100"/>
              </a:spcAft>
              <a:defRPr sz="1900">
                <a:solidFill>
                  <a:srgbClr val="F2F5F8"/>
                </a:solidFill>
              </a:defRPr>
            </a:pPr>
            <a:r>
              <a:t>• A function that returns an interior pointer should document which operations invalidate it.</a:t>
            </a:r>
          </a:p>
          <a:p>
            <a:pPr>
              <a:spcAft>
                <a:spcPts val="1100"/>
              </a:spcAft>
              <a:defRPr sz="1900">
                <a:solidFill>
                  <a:srgbClr val="F2F5F8"/>
                </a:solidFill>
              </a:defRPr>
            </a:pPr>
            <a:r>
              <a:t>• Group objects with the same lifetime when that simplifies ownership.</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9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9.8 Allocation lifetime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Group objects with the same lifetime when that simplifies ownership.</a:t>
            </a:r>
          </a:p>
          <a:p>
            <a:pPr>
              <a:spcAft>
                <a:spcPts val="1100"/>
              </a:spcAft>
              <a:defRPr sz="1900">
                <a:solidFill>
                  <a:srgbClr val="F2F5F8"/>
                </a:solidFill>
              </a:defRPr>
            </a:pPr>
            <a:r>
              <a:t>• A request-scoped arena can release many short-lived allocations together.</a:t>
            </a:r>
          </a:p>
          <a:p>
            <a:pPr>
              <a:spcAft>
                <a:spcPts val="1100"/>
              </a:spcAft>
              <a:defRPr sz="1900">
                <a:solidFill>
                  <a:srgbClr val="F2F5F8"/>
                </a:solidFill>
              </a:defRPr>
            </a:pPr>
            <a:r>
              <a:t>• A vector can own a sequence whose elements move as one resource.</a:t>
            </a:r>
          </a:p>
          <a:p>
            <a:pPr>
              <a:spcAft>
                <a:spcPts val="1100"/>
              </a:spcAft>
              <a:defRPr sz="1900">
                <a:solidFill>
                  <a:srgbClr val="F2F5F8"/>
                </a:solidFill>
              </a:defRPr>
            </a:pPr>
            <a:r>
              <a:t>• Avoid creating a separate ownership obligation for every small object unless independent lifetimes are actually needed.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9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9.9 Ownership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Ownership identifies the component responsible for destruction and release.</a:t>
            </a:r>
          </a:p>
          <a:p>
            <a:pPr>
              <a:spcAft>
                <a:spcPts val="1100"/>
              </a:spcAft>
              <a:defRPr sz="1900">
                <a:solidFill>
                  <a:srgbClr val="F2F5F8"/>
                </a:solidFill>
              </a:defRPr>
            </a:pPr>
            <a:r>
              <a:t>• Unique ownership has one responsible owner.</a:t>
            </a:r>
          </a:p>
          <a:p>
            <a:pPr>
              <a:spcAft>
                <a:spcPts val="1100"/>
              </a:spcAft>
              <a:defRPr sz="1900">
                <a:solidFill>
                  <a:srgbClr val="F2F5F8"/>
                </a:solidFill>
              </a:defRPr>
            </a:pPr>
            <a:r>
              <a:t>• Shared ownership coordinates several owners, commonly with reference counting.</a:t>
            </a:r>
          </a:p>
          <a:p>
            <a:pPr>
              <a:spcAft>
                <a:spcPts val="1100"/>
              </a:spcAft>
              <a:defRPr sz="1900">
                <a:solidFill>
                  <a:srgbClr val="F2F5F8"/>
                </a:solidFill>
              </a:defRPr>
            </a:pPr>
            <a:r>
              <a:t>• Borrowing grants access without release responsibility.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9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9.9 Ownership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Shared ownership is not free and does not automatically make the object thread-safe.</a:t>
            </a:r>
          </a:p>
          <a:p>
            <a:pPr>
              <a:spcAft>
                <a:spcPts val="1100"/>
              </a:spcAft>
              <a:defRPr sz="1900">
                <a:solidFill>
                  <a:srgbClr val="F2F5F8"/>
                </a:solidFill>
              </a:defRPr>
            </a:pPr>
            <a:r>
              <a:t>• A reference count protects lifetime, not arbitrary member updates.</a:t>
            </a:r>
          </a:p>
          <a:p>
            <a:pPr>
              <a:spcAft>
                <a:spcPts val="1100"/>
              </a:spcAft>
              <a:defRPr sz="1900">
                <a:solidFill>
                  <a:srgbClr val="F2F5F8"/>
                </a:solidFill>
              </a:defRPr>
            </a:pPr>
            <a:r>
              <a:t>• Cycles can also prevent reclamation unless broken by weak references or another policy.</a:t>
            </a:r>
          </a:p>
          <a:p>
            <a:pPr>
              <a:spcAft>
                <a:spcPts val="1100"/>
              </a:spcAft>
              <a:defRPr sz="1700">
                <a:solidFill>
                  <a:srgbClr val="F2F5F8"/>
                </a:solidFill>
              </a:defRPr>
            </a:pPr>
            <a:r>
              <a:t>• Choose the simplest ownership model that matches the required lifetime graph; do not use shared ownership merely to avoid deciding who owns a resource.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9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Growing a C buffer without losing ownership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requirement is to grow a four-integer allocation to eight integers.</a:t>
            </a:r>
          </a:p>
          <a:p>
            <a:pPr>
              <a:spcAft>
                <a:spcPts val="1100"/>
              </a:spcAft>
              <a:defRPr sz="1900">
                <a:solidFill>
                  <a:srgbClr val="F2F5F8"/>
                </a:solidFill>
              </a:defRPr>
            </a:pPr>
            <a:r>
              <a:t>• If growth fails, the original allocation must remain releasable.</a:t>
            </a:r>
          </a:p>
          <a:p>
            <a:pPr>
              <a:spcAft>
                <a:spcPts val="1100"/>
              </a:spcAft>
              <a:defRPr sz="1900">
                <a:solidFill>
                  <a:srgbClr val="F2F5F8"/>
                </a:solidFill>
              </a:defRPr>
            </a:pPr>
            <a:r>
              <a:t>• The program uses fixed small sizes so the example can focus on ownership rather than input parsing.</a:t>
            </a:r>
          </a:p>
          <a:p>
            <a:pPr>
              <a:spcAft>
                <a:spcPts val="1100"/>
              </a:spcAft>
              <a:defRPr sz="1900">
                <a:solidFill>
                  <a:srgbClr val="F2F5F8"/>
                </a:solidFill>
              </a:defRPr>
            </a:pPr>
            <a:r>
              <a:t>• Companion listing: ch09/grow.c</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9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Growing a C buffer without losing ownership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ch09/grow.c</a:t>
            </a:r>
          </a:p>
          <a:p>
            <a:pPr>
              <a:spcAft>
                <a:spcPts val="1100"/>
              </a:spcAft>
              <a:defRPr sz="1900">
                <a:solidFill>
                  <a:srgbClr val="F2F5F8"/>
                </a:solidFill>
              </a:defRPr>
            </a:pPr>
            <a:r>
              <a:t>• Before growth, four initialized elements exist.</a:t>
            </a:r>
          </a:p>
          <a:p>
            <a:pPr>
              <a:spcAft>
                <a:spcPts val="1100"/>
              </a:spcAft>
              <a:defRPr sz="1700">
                <a:solidFill>
                  <a:srgbClr val="F2F5F8"/>
                </a:solidFill>
              </a:defRPr>
            </a:pPr>
            <a:r>
              <a:t>• On success, the first four values are preserved, but the new suffix is not initialized by realloc ; the program initializes it before reading.</a:t>
            </a:r>
          </a:p>
          <a:p>
            <a:pPr>
              <a:spcAft>
                <a:spcPts val="1100"/>
              </a:spcAft>
              <a:defRPr sz="1900">
                <a:solidFill>
                  <a:srgbClr val="F2F5F8"/>
                </a:solidFill>
              </a:defRPr>
            </a:pPr>
            <a:r>
              <a:t>• Only after that does it update the logical count.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9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Growing a dynamic array safely</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If p owns a malloc allocation, do not write p = realloc(p,new_size) unless losing the old block on failure is acceptable.</a:t>
            </a:r>
          </a:p>
          <a:p>
            <a:pPr>
              <a:spcAft>
                <a:spcPts val="1100"/>
              </a:spcAft>
              <a:defRPr sz="1900">
                <a:solidFill>
                  <a:srgbClr val="F2F5F8"/>
                </a:solidFill>
              </a:defRPr>
            </a:pPr>
            <a:r>
              <a:t>• Use tmp = realloc(p,new_size) .</a:t>
            </a:r>
          </a:p>
          <a:p>
            <a:pPr>
              <a:spcAft>
                <a:spcPts val="1100"/>
              </a:spcAft>
              <a:defRPr sz="1900">
                <a:solidFill>
                  <a:srgbClr val="F2F5F8"/>
                </a:solidFill>
              </a:defRPr>
            </a:pPr>
            <a:r>
              <a:t>• If tmp is non-null, assign p=tmp ; otherwise p still owns the original allocation.</a:t>
            </a:r>
          </a:p>
          <a:p>
            <a:pPr>
              <a:spcAft>
                <a:spcPts val="1100"/>
              </a:spcAft>
              <a:defRPr sz="1900">
                <a:solidFill>
                  <a:srgbClr val="F2F5F8"/>
                </a:solidFill>
              </a:defRPr>
            </a:pPr>
            <a:r>
              <a:t>• The temporary preserves ownership across the failure path.</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9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Growing a dynamic array safely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If p owns a malloc allocation, do not write p = realloc(p,new_size) unless losing the old block on failure is acceptable.</a:t>
            </a:r>
          </a:p>
          <a:p>
            <a:pPr>
              <a:spcAft>
                <a:spcPts val="1100"/>
              </a:spcAft>
              <a:defRPr sz="1900">
                <a:solidFill>
                  <a:srgbClr val="F2F5F8"/>
                </a:solidFill>
              </a:defRPr>
            </a:pPr>
            <a:r>
              <a:t>• Use tmp = realloc(p,new_size) .</a:t>
            </a:r>
          </a:p>
          <a:p>
            <a:pPr>
              <a:spcAft>
                <a:spcPts val="1100"/>
              </a:spcAft>
              <a:defRPr sz="1900">
                <a:solidFill>
                  <a:srgbClr val="F2F5F8"/>
                </a:solidFill>
              </a:defRPr>
            </a:pPr>
            <a:r>
              <a:t>• If tmp is non-null, assign p=tmp ; otherwise p still owns the original allocation.</a:t>
            </a:r>
          </a:p>
          <a:p>
            <a:pPr>
              <a:spcAft>
                <a:spcPts val="1100"/>
              </a:spcAft>
              <a:defRPr sz="1900">
                <a:solidFill>
                  <a:srgbClr val="F2F5F8"/>
                </a:solidFill>
              </a:defRPr>
            </a:pPr>
            <a:r>
              <a:t>• The temporary preserves ownership across the failure path.</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9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Matching allocation families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Memory obtained with malloc must be released with free ; an object created with new T must be released with delete ; an array created with new T[n] requires delete[] .</a:t>
            </a:r>
          </a:p>
          <a:p>
            <a:pPr>
              <a:spcAft>
                <a:spcPts val="1100"/>
              </a:spcAft>
              <a:defRPr sz="1900">
                <a:solidFill>
                  <a:srgbClr val="F2F5F8"/>
                </a:solidFill>
              </a:defRPr>
            </a:pPr>
            <a:r>
              <a:t>• Mixing families bypasses the assumptions each runtime uses for metadata and object destruction.</a:t>
            </a:r>
          </a:p>
          <a:p>
            <a:pPr>
              <a:spcAft>
                <a:spcPts val="1100"/>
              </a:spcAft>
              <a:defRPr sz="1900">
                <a:solidFill>
                  <a:srgbClr val="F2F5F8"/>
                </a:solidFill>
              </a:defRPr>
            </a:pPr>
            <a:r>
              <a:t>• In modern C++, prefer RAII containers and smart pointers so matching happens structurally.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9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Matching allocation families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Memory obtained with malloc must be released with free ; an object created with new T must be released with delete ; an array created with new T[n] requires delete[] .</a:t>
            </a:r>
          </a:p>
          <a:p>
            <a:pPr>
              <a:spcAft>
                <a:spcPts val="1100"/>
              </a:spcAft>
              <a:defRPr sz="1900">
                <a:solidFill>
                  <a:srgbClr val="F2F5F8"/>
                </a:solidFill>
              </a:defRPr>
            </a:pPr>
            <a:r>
              <a:t>• Mixing families bypasses the assumptions each runtime uses for metadata and object destruction.</a:t>
            </a:r>
          </a:p>
          <a:p>
            <a:pPr>
              <a:spcAft>
                <a:spcPts val="1100"/>
              </a:spcAft>
              <a:defRPr sz="1900">
                <a:solidFill>
                  <a:srgbClr val="F2F5F8"/>
                </a:solidFill>
              </a:defRPr>
            </a:pPr>
            <a:r>
              <a:t>• In modern C++, prefer RAII containers and smart pointers so matching happens structurally.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9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9.</a:t>
            </a:r>
          </a:p>
          <a:p>
            <a:pPr>
              <a:spcAft>
                <a:spcPts val="1100"/>
              </a:spcAft>
              <a:defRPr sz="1900">
                <a:solidFill>
                  <a:srgbClr val="F2F5F8"/>
                </a:solidFill>
              </a:defRPr>
            </a:pPr>
            <a:r>
              <a:t>• Wrap the C allocation operations behind a small test interface that can deliberately fail the next allocation request.</a:t>
            </a:r>
          </a:p>
          <a:p>
            <a:pPr>
              <a:spcAft>
                <a:spcPts val="1100"/>
              </a:spcAft>
              <a:defRPr sz="1900">
                <a:solidFill>
                  <a:srgbClr val="F2F5F8"/>
                </a:solidFill>
              </a:defRPr>
            </a:pPr>
            <a:r>
              <a:t>• Verify that a failed growth leaves the old contents and owner intact.</a:t>
            </a:r>
          </a:p>
          <a:p>
            <a:pPr>
              <a:spcAft>
                <a:spcPts val="1100"/>
              </a:spcAft>
              <a:defRPr sz="1900">
                <a:solidFill>
                  <a:srgbClr val="F2F5F8"/>
                </a:solidFill>
              </a:defRPr>
            </a:pPr>
            <a:r>
              <a:t>• Do not attempt to trigger failure by exhausting the machine’s memory.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9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Why does realloc require a temporary result pointer?</a:t>
            </a:r>
          </a:p>
          <a:p>
            <a:pPr>
              <a:spcAft>
                <a:spcPts val="1100"/>
              </a:spcAft>
              <a:defRPr sz="1900">
                <a:solidFill>
                  <a:srgbClr val="F2F5F8"/>
                </a:solidFill>
              </a:defRPr>
            </a:pPr>
            <a:r>
              <a:t>• Review 2.</a:t>
            </a:r>
          </a:p>
          <a:p>
            <a:pPr>
              <a:spcAft>
                <a:spcPts val="1100"/>
              </a:spcAft>
              <a:defRPr sz="1900">
                <a:solidFill>
                  <a:srgbClr val="F2F5F8"/>
                </a:solidFill>
              </a:defRPr>
            </a:pPr>
            <a:r>
              <a:t>• Why does a shared pointer not remove the need for a mutex around mutable shared data?</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9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dynamic memory.</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9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Memory Allocators.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9     |     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