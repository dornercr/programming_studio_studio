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38 — Program Execution</a:t>
            </a:r>
          </a:p>
          <a:p/>
          <a:p>
            <a:r>
              <a:t>LECTURE NARRATION</a:t>
            </a:r>
          </a:p>
          <a:p>
            <a:r>
              <a:t>The exec family replaces the calling process’s program image. It does not create a new process by itself. This distinction makes fork followed by exec useful: the parent retains its program, while the child replaces its own image with the requested executable. [ R16 ]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exec family replaces the calling process’s program image.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The exec family replaces the calling process’s program image. It does not create a new process by itself. This distinction makes fork followed by exec useful: the parent retains its program, while the child replaces its own image with the requested executable. [ R16 ]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exec family replaces the calling process’s program image.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38.1 exec 38.2 execve 38.3 Program replacement 38.4 Arguments ...plus 6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38.1 exec 38.2 execve 38.3 Program replacement 38.4 Arguments ...plus 6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38.1 exec</a:t>
            </a:r>
          </a:p>
          <a:p/>
          <a:p>
            <a:r>
              <a:t>LECTURE NARRATION</a:t>
            </a:r>
          </a:p>
          <a:p>
            <a:r>
              <a:t>The exec family provides interfaces with different argument and environment conventions. Some accept an argument vector; some accept a variable-length argument list. Interfaces with a p variant search according to documented path rules, while execve takes an explicit pathname and environment vector. Choosing an interface is also a security decision. Searching a mutable or attacker-influenced path can execute an unintended program. Supplying an explicit known path and a controlled environment makes the selection easier to reason about, although executable identity and filesystem permissions still matter.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exec family provides interfaces with different argument and environment conventions.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38.1 exec — Deep Dive</a:t>
            </a:r>
          </a:p>
          <a:p/>
          <a:p>
            <a:r>
              <a:t>LECTURE NARRATION</a:t>
            </a:r>
          </a:p>
          <a:p>
            <a:r>
              <a:t>The exec family provides interfaces with different argument and environment conventions. Some accept an argument vector; some accept a variable-length argument list. Interfaces with a p variant search according to documented path rules, while execve takes an explicit pathname and environment vector. Choosing an interface is also a security decision. Searching a mutable or attacker-influenced path can execute an unintended program. Supplying an explicit known path and a controlled environment makes the selection easier to reason about, although executable identity and filesystem permissions still matter.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exec family provides interfaces with different argument and environment conventions.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38.2 execve</a:t>
            </a:r>
          </a:p>
          <a:p/>
          <a:p>
            <a:r>
              <a:t>LECTURE NARRATION</a:t>
            </a:r>
          </a:p>
          <a:p>
            <a:r>
              <a:t>execve(path, argv, envp) requests replacement using a pathname, a null-terminated argument-vector array, and a null-terminated environment-vector array. A successful call does not return to the old program. Failure returns -1 with errno describing the error. The strings and pointer arrays must remain valid until the call completes. The kernel constructs the new program’s initial state; the old address space is not retained as ordinary live C objects after success. Do not place essential parent-only cleanup after exec and expect it to run on success.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execve(path, argv, envp) requests replacement using a pathname, a null-terminated argument-vector array, and a null-terminated environment-vector array.</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38.2 execve — Deep Dive</a:t>
            </a:r>
          </a:p>
          <a:p/>
          <a:p>
            <a:r>
              <a:t>LECTURE NARRATION</a:t>
            </a:r>
          </a:p>
          <a:p>
            <a:r>
              <a:t>execve(path, argv, envp) requests replacement using a pathname, a null-terminated argument-vector array, and a null-terminated environment-vector array. A successful call does not return to the old program. Failure returns -1 with errno describing the error. The strings and pointer arrays must remain valid until the call completes. The kernel constructs the new program’s initial state; the old address space is not retained as ordinary live C objects after success. Do not place essential parent-only cleanup after exec and expect it to run on success.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execve(path, argv, envp) requests replacement using a pathname, a null-terminated argument-vector array, and a null-terminated environment-vector array.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38.3 Program replacement</a:t>
            </a:r>
          </a:p>
          <a:p/>
          <a:p>
            <a:r>
              <a:t>LECTURE NARRATION</a:t>
            </a:r>
          </a:p>
          <a:p>
            <a:r>
              <a:t>Replacement installs new code, data, stack, and related execution state while preserving the process’s identity and selected attributes according to the interface. It is not a normal function call into another executable. Open descriptors generally remain unless marked close-on-exec or affected by a documented rule. This is how a shell arranges standard input and output before executing a command. It is also why accidentally inherited descriptors can leak access into a program that never requested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replacement installs new code, data, stack, and related execution state while preserving the process’s identity and selected attributes according to the interface.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38.3 Program replacement — Deep Dive</a:t>
            </a:r>
          </a:p>
          <a:p/>
          <a:p>
            <a:r>
              <a:t>LECTURE NARRATION</a:t>
            </a:r>
          </a:p>
          <a:p>
            <a:r>
              <a:t>Replacement installs new code, data, stack, and related execution state while preserving the process’s identity and selected attributes according to the interface. It is not a normal function call into another executable. Open descriptors generally remain unless marked close-on-exec or affected by a documented rule. This is how a shell arranges standard input and output before executing a command. It is also why accidentally inherited descriptors can leak access into a program that never requested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replacement installs new code, data, stack, and related execution state while preserving the process’s identity and selected attributes according to the interface.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38.4 Arguments</a:t>
            </a:r>
          </a:p>
          <a:p/>
          <a:p>
            <a:r>
              <a:t>LECTURE NARRATION</a:t>
            </a:r>
          </a:p>
          <a:p>
            <a:r>
              <a:t>argv is an array of pointers to strings ending with a null pointer. Conventionally argv[0] identifies the program name, while later entries contain arguments. An argument containing spaces remains one argument when represented as one array element; no shell parsing is performed by execve itself. Avoid constructing a shell command string when direct argument passing is sufficient. Direct vectors preserve argument boundaries and avoid interpreting metacharacters as shell syntax. Validation is still required for the target program’s own option and input semantics.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argv is an array of pointers to strings ending with a null pointer.</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38.4 Arguments — Deep Dive</a:t>
            </a:r>
          </a:p>
          <a:p/>
          <a:p>
            <a:r>
              <a:t>LECTURE NARRATION</a:t>
            </a:r>
          </a:p>
          <a:p>
            <a:r>
              <a:t>argv is an array of pointers to strings ending with a null pointer. Conventionally argv[0] identifies the program name, while later entries contain arguments. An argument containing spaces remains one argument when represented as one array element; no shell parsing is performed by execve itself. Avoid constructing a shell command string when direct argument passing is sufficient. Direct vectors preserve argument boundaries and avoid interpreting metacharacters as shell syntax. Validation is still required for the target program’s own option and input semantics.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argv is an array of pointers to strings ending with a null pointer.</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38.5 Environment</a:t>
            </a:r>
          </a:p>
          <a:p/>
          <a:p>
            <a:r>
              <a:t>LECTURE NARRATION</a:t>
            </a:r>
          </a:p>
          <a:p>
            <a:r>
              <a:t>The environment is a collection of strings conventionally formatted as NAME=value . Programs and libraries can use it to select paths, locale behavior, configuration, and other settings. Inheriting every variable is convenient but can make behavior depend on the launching context. A controlled launcher should decide which variables to preserve, replace, or omit. Never treat environment variables as automatically trustworthy merely because they came from the parent. Security-sensitive execution requires a deliberate environment and privilege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environment is a collection of strings conventionally formatted as NAME=value .</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38.5 Environment — Deep Dive</a:t>
            </a:r>
          </a:p>
          <a:p/>
          <a:p>
            <a:r>
              <a:t>LECTURE NARRATION</a:t>
            </a:r>
          </a:p>
          <a:p>
            <a:r>
              <a:t>The environment is a collection of strings conventionally formatted as NAME=value . Programs and libraries can use it to select paths, locale behavior, configuration, and other settings. Inheriting every variable is convenient but can make behavior depend on the launching context. A controlled launcher should decide which variables to preserve, replace, or omit. Never treat environment variables as automatically trustworthy merely because they came from the parent. Security-sensitive execution requires a deliberate environment and privilege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environment is a collection of strings conventionally formatted as NAME=value .</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38.6 Process images</a:t>
            </a:r>
          </a:p>
          <a:p/>
          <a:p>
            <a:r>
              <a:t>LECTURE NARRATION</a:t>
            </a:r>
          </a:p>
          <a:p>
            <a:r>
              <a:t>A process image includes the executable mappings and initialized runtime environment needed to begin the new program. The loader and dynamic linker perform work beyond the source-level function call used to request replacement. Some signal-related state changes across exec while other state persists according to the documented rules. For example, caught signal dispositions are reset in the ordinary case, while the signal mask is preserved. A launcher that blocks signals during setup must restore the intended mask before executing a program that expects normal delivery. [ R16 , R21 ]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process image includes the executable mappings and initialized runtime environment needed to begin the new program.</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38.6 Process images — Deep Dive</a:t>
            </a:r>
          </a:p>
          <a:p/>
          <a:p>
            <a:r>
              <a:t>LECTURE NARRATION</a:t>
            </a:r>
          </a:p>
          <a:p>
            <a:r>
              <a:t>A process image includes the executable mappings and initialized runtime environment needed to begin the new program. The loader and dynamic linker perform work beyond the source-level function call used to request replacement. Some signal-related state changes across exec while other state persists according to the documented rules. For example, caught signal dispositions are reset in the ordinary case, while the signal mask is preserved. A launcher that blocks signals during setup must restore the intended mask before executing a program that expects normal delivery. [ R16 , R21 ]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process image includes the executable mappings and initialized runtime environment needed to begin the new program.</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Explicit arguments and environment</a:t>
            </a:r>
          </a:p>
          <a:p/>
          <a:p>
            <a:r>
              <a:t>LECTURE NARRATION</a:t>
            </a:r>
          </a:p>
          <a:p>
            <a:r>
              <a:t>The following single-threaded launcher starts /bin/echo with one argument containing a space. The child uses only a small failure message and _exit if exec fails. The parent returns the child’s ordinary exit code when available. Companion listing: ch38/launch.c The expected output is exec example . The two words arrive as one argument; the program does not ask a shell to parse them. The example assumes the reference system provides /bin/echo . The validation report records whether that executable was available rather than silently treating an absent program as a successful test.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following single-threaded launcher starts /bin/echo with one argument containing a space.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Explicit arguments and environment — Deep Dive</a:t>
            </a:r>
          </a:p>
          <a:p/>
          <a:p>
            <a:r>
              <a:t>LECTURE NARRATION</a:t>
            </a:r>
          </a:p>
          <a:p>
            <a:r>
              <a:t>The following single-threaded launcher starts /bin/echo with one argument containing a space. The child uses only a small failure message and _exit if exec fails. The parent returns the child’s ordinary exit code when available. Companion listing: ch38/launch.c The expected output is exec example . The two words arrive as one argument; the program does not ask a shell to parse them. The example assumes the reference system provides /bin/echo . The validation report records whether that executable was available rather than silently treating an absent program as a successful test.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following single-threaded launcher starts /bin/echo with one argument containing a space.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Exec does not create a second process</a:t>
            </a:r>
          </a:p>
          <a:p/>
          <a:p>
            <a:r>
              <a:t>LECTURE NARRATION</a:t>
            </a:r>
          </a:p>
          <a:p>
            <a:r>
              <a:t>A child created with fork can call execve to replace its program image. The PID remains the same because execve transforms the calling process rather than spawning another one. On success, the old code, stack, and most mappings are gone, and execution begins in the new program’s startup path.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child created with fork can call execve to replace its program image.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Exec does not create a second process — Deep Dive</a:t>
            </a:r>
          </a:p>
          <a:p/>
          <a:p>
            <a:r>
              <a:t>LECTURE NARRATION</a:t>
            </a:r>
          </a:p>
          <a:p>
            <a:r>
              <a:t>A child created with fork can call execve to replace its program image. The PID remains the same because execve transforms the calling process rather than spawning another one. On success, the old code, stack, and most mappings are gone, and execution begins in the new program’s startup path.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child created with fork can call execve to replace its program image.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Building argv correctly</a:t>
            </a:r>
          </a:p>
          <a:p/>
          <a:p>
            <a:r>
              <a:t>LECTURE NARRATION</a:t>
            </a:r>
          </a:p>
          <a:p>
            <a:r>
              <a:t>For a program invocation conceptually equivalent to tool -v input.txt , construct an argument vector containing tool , -v , input.txt , and a terminating null pointer. Each logical argument is a separate string. Passing the whole command as one string does not ask execve to perform shell parsing.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a program invocation conceptually equivalent to tool -v input.txt , construct an argument vector containing tool , -v , input.txt , and a terminating null pointer.</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Building argv correctly — Deep Dive</a:t>
            </a:r>
          </a:p>
          <a:p/>
          <a:p>
            <a:r>
              <a:t>LECTURE NARRATION</a:t>
            </a:r>
          </a:p>
          <a:p>
            <a:r>
              <a:t>For a program invocation conceptually equivalent to tool -v input.txt , construct an argument vector containing tool , -v , input.txt , and a terminating null pointer. Each logical argument is a separate string. Passing the whole command as one string does not ask execve to perform shell parsing.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a program invocation conceptually equivalent to tool -v input.txt , construct an argument vector containing tool , -v , input.txt , and a terminating null pointer.</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Guided lab and review</a:t>
            </a:r>
          </a:p>
          <a:p/>
          <a:p>
            <a:r>
              <a:t>LECTURE NARRATION</a:t>
            </a:r>
          </a:p>
          <a:p>
            <a:r>
              <a:t>Lab 38. Replace the executable path with a deliberately nonexistent path in a temporary copy. Verify a nonzero result and no fallthrough into parent behavior. Then add a second argument and predict how the argument vector changes without constructing a shell command string. Review 1. Does successful exec return? Review 2. Why can a descriptor survive into a program that never called open for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38.</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Guided lab and review — Deep Dive</a:t>
            </a:r>
          </a:p>
          <a:p/>
          <a:p>
            <a:r>
              <a:t>LECTURE NARRATION</a:t>
            </a:r>
          </a:p>
          <a:p>
            <a:r>
              <a:t>Lab 38. Replace the executable path with a deliberately nonexistent path in a temporary copy. Verify a nonzero result and no fallthrough into parent behavior. Then add a second argument and predict how the argument vector changes without constructing a shell command string. Review 1. Does successful exec return? Review 2. Why can a descriptor survive into a program that never called open for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38.</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Chapter Synthesis</a:t>
            </a:r>
          </a:p>
          <a:p/>
          <a:p>
            <a:r>
              <a:t>LECTURE NARRATION</a:t>
            </a:r>
          </a:p>
          <a:p>
            <a:r>
              <a:t>The chapter's central subject is program execution.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program execution.</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Process Termination.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38 — Program Execution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exec family replaces the calling process’s program image.</a:t>
            </a:r>
          </a:p>
          <a:p>
            <a:pPr>
              <a:spcAft>
                <a:spcPts val="1100"/>
              </a:spcAft>
              <a:defRPr sz="1900">
                <a:solidFill>
                  <a:srgbClr val="F2F5F8"/>
                </a:solidFill>
              </a:defRPr>
            </a:pPr>
            <a:r>
              <a:t>• It does not create a new process by itself.</a:t>
            </a:r>
          </a:p>
          <a:p>
            <a:pPr>
              <a:spcAft>
                <a:spcPts val="1100"/>
              </a:spcAft>
              <a:defRPr sz="1700">
                <a:solidFill>
                  <a:srgbClr val="F2F5F8"/>
                </a:solidFill>
              </a:defRPr>
            </a:pPr>
            <a:r>
              <a:t>• This distinction makes fork followed by exec useful: the parent retains its program, while the child replaces its own image with the requested executable. [ R16 ]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Program Execution.</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38.1 exec</a:t>
            </a:r>
          </a:p>
          <a:p>
            <a:pPr>
              <a:spcAft>
                <a:spcPts val="1100"/>
              </a:spcAft>
              <a:defRPr sz="1900">
                <a:solidFill>
                  <a:srgbClr val="F2F5F8"/>
                </a:solidFill>
              </a:defRPr>
            </a:pPr>
            <a:r>
              <a:t>• 38.2 execve</a:t>
            </a:r>
          </a:p>
          <a:p>
            <a:pPr>
              <a:spcAft>
                <a:spcPts val="1100"/>
              </a:spcAft>
              <a:defRPr sz="1900">
                <a:solidFill>
                  <a:srgbClr val="F2F5F8"/>
                </a:solidFill>
              </a:defRPr>
            </a:pPr>
            <a:r>
              <a:t>• 38.3 Program replacement</a:t>
            </a:r>
          </a:p>
          <a:p>
            <a:pPr>
              <a:spcAft>
                <a:spcPts val="1100"/>
              </a:spcAft>
              <a:defRPr sz="1900">
                <a:solidFill>
                  <a:srgbClr val="F2F5F8"/>
                </a:solidFill>
              </a:defRPr>
            </a:pPr>
            <a:r>
              <a:t>• 38.4 Arguments</a:t>
            </a:r>
          </a:p>
          <a:p>
            <a:pPr>
              <a:spcAft>
                <a:spcPts val="1100"/>
              </a:spcAft>
              <a:defRPr sz="1900">
                <a:solidFill>
                  <a:srgbClr val="F2F5F8"/>
                </a:solidFill>
              </a:defRPr>
            </a:pPr>
            <a:r>
              <a:t>• ...plus 6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38.1 exec</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exec family provides interfaces with different argument and environment conventions.</a:t>
            </a:r>
          </a:p>
          <a:p>
            <a:pPr>
              <a:spcAft>
                <a:spcPts val="1100"/>
              </a:spcAft>
              <a:defRPr sz="1900">
                <a:solidFill>
                  <a:srgbClr val="F2F5F8"/>
                </a:solidFill>
              </a:defRPr>
            </a:pPr>
            <a:r>
              <a:t>• Some accept an argument vector; some accept a variable-length argument list.</a:t>
            </a:r>
          </a:p>
          <a:p>
            <a:pPr>
              <a:spcAft>
                <a:spcPts val="1100"/>
              </a:spcAft>
              <a:defRPr sz="1700">
                <a:solidFill>
                  <a:srgbClr val="F2F5F8"/>
                </a:solidFill>
              </a:defRPr>
            </a:pPr>
            <a:r>
              <a:t>• Interfaces with a p variant search according to documented path rules, while execve takes an explicit pathname and environment vector.</a:t>
            </a:r>
          </a:p>
          <a:p>
            <a:pPr>
              <a:spcAft>
                <a:spcPts val="1100"/>
              </a:spcAft>
              <a:defRPr sz="1900">
                <a:solidFill>
                  <a:srgbClr val="F2F5F8"/>
                </a:solidFill>
              </a:defRPr>
            </a:pPr>
            <a:r>
              <a:t>• Choosing an interface is also a security decision.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38.1 exec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Choosing an interface is also a security decision.</a:t>
            </a:r>
          </a:p>
          <a:p>
            <a:pPr>
              <a:spcAft>
                <a:spcPts val="1100"/>
              </a:spcAft>
              <a:defRPr sz="1900">
                <a:solidFill>
                  <a:srgbClr val="F2F5F8"/>
                </a:solidFill>
              </a:defRPr>
            </a:pPr>
            <a:r>
              <a:t>• Searching a mutable or attacker-influenced path can execute an unintended program.</a:t>
            </a:r>
          </a:p>
          <a:p>
            <a:pPr>
              <a:spcAft>
                <a:spcPts val="1100"/>
              </a:spcAft>
              <a:defRPr sz="1700">
                <a:solidFill>
                  <a:srgbClr val="F2F5F8"/>
                </a:solidFill>
              </a:defRPr>
            </a:pPr>
            <a:r>
              <a:t>• Supplying an explicit known path and a controlled environment makes the selection easier to reason about, although executable identity and filesystem permissions still matter.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38.2 execve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execve(path, argv, envp) requests replacement using a pathname, a null-terminated argument-vector array, and a null-terminated environment-vector array.</a:t>
            </a:r>
          </a:p>
          <a:p>
            <a:pPr>
              <a:spcAft>
                <a:spcPts val="1100"/>
              </a:spcAft>
              <a:defRPr sz="1900">
                <a:solidFill>
                  <a:srgbClr val="F2F5F8"/>
                </a:solidFill>
              </a:defRPr>
            </a:pPr>
            <a:r>
              <a:t>• A successful call does not return to the old program.</a:t>
            </a:r>
          </a:p>
          <a:p>
            <a:pPr>
              <a:spcAft>
                <a:spcPts val="1100"/>
              </a:spcAft>
              <a:defRPr sz="1900">
                <a:solidFill>
                  <a:srgbClr val="F2F5F8"/>
                </a:solidFill>
              </a:defRPr>
            </a:pPr>
            <a:r>
              <a:t>• Failure returns -1 with errno describing the error.</a:t>
            </a:r>
          </a:p>
          <a:p>
            <a:pPr>
              <a:spcAft>
                <a:spcPts val="1100"/>
              </a:spcAft>
              <a:defRPr sz="1900">
                <a:solidFill>
                  <a:srgbClr val="F2F5F8"/>
                </a:solidFill>
              </a:defRPr>
            </a:pPr>
            <a:r>
              <a:t>• The strings and pointer arrays must remain valid until the call completes.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38.2 execve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strings and pointer arrays must remain valid until the call completes.</a:t>
            </a:r>
          </a:p>
          <a:p>
            <a:pPr>
              <a:spcAft>
                <a:spcPts val="1100"/>
              </a:spcAft>
              <a:defRPr sz="1700">
                <a:solidFill>
                  <a:srgbClr val="F2F5F8"/>
                </a:solidFill>
              </a:defRPr>
            </a:pPr>
            <a:r>
              <a:t>• The kernel constructs the new program’s initial state; the old address space is not retained as ordinary live C objects after success.</a:t>
            </a:r>
          </a:p>
          <a:p>
            <a:pPr>
              <a:spcAft>
                <a:spcPts val="1100"/>
              </a:spcAft>
              <a:defRPr sz="1900">
                <a:solidFill>
                  <a:srgbClr val="F2F5F8"/>
                </a:solidFill>
              </a:defRPr>
            </a:pPr>
            <a:r>
              <a:t>• Do not place essential parent-only cleanup after exec and expect it to run on success.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38.3 Program replacement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Replacement installs new code, data, stack, and related execution state while preserving the process’s identity and selected attributes according to the interface.</a:t>
            </a:r>
          </a:p>
          <a:p>
            <a:pPr>
              <a:spcAft>
                <a:spcPts val="1100"/>
              </a:spcAft>
              <a:defRPr sz="1900">
                <a:solidFill>
                  <a:srgbClr val="F2F5F8"/>
                </a:solidFill>
              </a:defRPr>
            </a:pPr>
            <a:r>
              <a:t>• It is not a normal function call into another executable.</a:t>
            </a:r>
          </a:p>
          <a:p>
            <a:pPr>
              <a:spcAft>
                <a:spcPts val="1100"/>
              </a:spcAft>
              <a:defRPr sz="1900">
                <a:solidFill>
                  <a:srgbClr val="F2F5F8"/>
                </a:solidFill>
              </a:defRPr>
            </a:pPr>
            <a:r>
              <a:t>• Open descriptors generally remain unless marked close-on-exec or affected by a documented rule.</a:t>
            </a:r>
          </a:p>
          <a:p>
            <a:pPr>
              <a:spcAft>
                <a:spcPts val="1100"/>
              </a:spcAft>
              <a:defRPr sz="1900">
                <a:solidFill>
                  <a:srgbClr val="F2F5F8"/>
                </a:solidFill>
              </a:defRPr>
            </a:pPr>
            <a:r>
              <a:t>• This is how a shell arranges standard input and output before executing a command.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38.3 Program replacement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Open descriptors generally remain unless marked close-on-exec or affected by a documented rule.</a:t>
            </a:r>
          </a:p>
          <a:p>
            <a:pPr>
              <a:spcAft>
                <a:spcPts val="1100"/>
              </a:spcAft>
              <a:defRPr sz="1900">
                <a:solidFill>
                  <a:srgbClr val="F2F5F8"/>
                </a:solidFill>
              </a:defRPr>
            </a:pPr>
            <a:r>
              <a:t>• This is how a shell arranges standard input and output before executing a command.</a:t>
            </a:r>
          </a:p>
          <a:p>
            <a:pPr>
              <a:spcAft>
                <a:spcPts val="1100"/>
              </a:spcAft>
              <a:defRPr sz="1900">
                <a:solidFill>
                  <a:srgbClr val="F2F5F8"/>
                </a:solidFill>
              </a:defRPr>
            </a:pPr>
            <a:r>
              <a:t>• It is also why accidentally inherited descriptors can leak access into a program that never requested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38.4 Arguments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argv is an array of pointers to strings ending with a null pointer.</a:t>
            </a:r>
          </a:p>
          <a:p>
            <a:pPr>
              <a:spcAft>
                <a:spcPts val="1100"/>
              </a:spcAft>
              <a:defRPr sz="1900">
                <a:solidFill>
                  <a:srgbClr val="F2F5F8"/>
                </a:solidFill>
              </a:defRPr>
            </a:pPr>
            <a:r>
              <a:t>• Conventionally argv[0] identifies the program name, while later entries contain arguments.</a:t>
            </a:r>
          </a:p>
          <a:p>
            <a:pPr>
              <a:spcAft>
                <a:spcPts val="1100"/>
              </a:spcAft>
              <a:defRPr sz="1700">
                <a:solidFill>
                  <a:srgbClr val="F2F5F8"/>
                </a:solidFill>
              </a:defRPr>
            </a:pPr>
            <a:r>
              <a:t>• An argument containing spaces remains one argument when represented as one array element; no shell parsing is performed by execve itself.</a:t>
            </a:r>
          </a:p>
          <a:p>
            <a:pPr>
              <a:spcAft>
                <a:spcPts val="1100"/>
              </a:spcAft>
              <a:defRPr sz="1900">
                <a:solidFill>
                  <a:srgbClr val="F2F5F8"/>
                </a:solidFill>
              </a:defRPr>
            </a:pPr>
            <a:r>
              <a:t>• Avoid constructing a shell command string when direct argument passing is sufficient.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38.4 Arguments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Avoid constructing a shell command string when direct argument passing is sufficient.</a:t>
            </a:r>
          </a:p>
          <a:p>
            <a:pPr>
              <a:spcAft>
                <a:spcPts val="1100"/>
              </a:spcAft>
              <a:defRPr sz="1900">
                <a:solidFill>
                  <a:srgbClr val="F2F5F8"/>
                </a:solidFill>
              </a:defRPr>
            </a:pPr>
            <a:r>
              <a:t>• Direct vectors preserve argument boundaries and avoid interpreting metacharacters as shell syntax.</a:t>
            </a:r>
          </a:p>
          <a:p>
            <a:pPr>
              <a:spcAft>
                <a:spcPts val="1100"/>
              </a:spcAft>
              <a:defRPr sz="1900">
                <a:solidFill>
                  <a:srgbClr val="F2F5F8"/>
                </a:solidFill>
              </a:defRPr>
            </a:pPr>
            <a:r>
              <a:t>• Validation is still required for the target program’s own option and input semantics.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38.5 Environment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environment is a collection of strings conventionally formatted as NAME=value .</a:t>
            </a:r>
          </a:p>
          <a:p>
            <a:pPr>
              <a:spcAft>
                <a:spcPts val="1100"/>
              </a:spcAft>
              <a:defRPr sz="1900">
                <a:solidFill>
                  <a:srgbClr val="F2F5F8"/>
                </a:solidFill>
              </a:defRPr>
            </a:pPr>
            <a:r>
              <a:t>• Programs and libraries can use it to select paths, locale behavior, configuration, and other settings.</a:t>
            </a:r>
          </a:p>
          <a:p>
            <a:pPr>
              <a:spcAft>
                <a:spcPts val="1100"/>
              </a:spcAft>
              <a:defRPr sz="1900">
                <a:solidFill>
                  <a:srgbClr val="F2F5F8"/>
                </a:solidFill>
              </a:defRPr>
            </a:pPr>
            <a:r>
              <a:t>• Inheriting every variable is convenient but can make behavior depend on the launching context.</a:t>
            </a:r>
          </a:p>
          <a:p>
            <a:pPr>
              <a:spcAft>
                <a:spcPts val="1100"/>
              </a:spcAft>
              <a:defRPr sz="1900">
                <a:solidFill>
                  <a:srgbClr val="F2F5F8"/>
                </a:solidFill>
              </a:defRPr>
            </a:pPr>
            <a:r>
              <a:t>• A controlled launcher should decide which variables to preserve, replace, or omit.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38.5 Environment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controlled launcher should decide which variables to preserve, replace, or omit.</a:t>
            </a:r>
          </a:p>
          <a:p>
            <a:pPr>
              <a:spcAft>
                <a:spcPts val="1100"/>
              </a:spcAft>
              <a:defRPr sz="1900">
                <a:solidFill>
                  <a:srgbClr val="F2F5F8"/>
                </a:solidFill>
              </a:defRPr>
            </a:pPr>
            <a:r>
              <a:t>• Never treat environment variables as automatically trustworthy merely because they came from the parent.</a:t>
            </a:r>
          </a:p>
          <a:p>
            <a:pPr>
              <a:spcAft>
                <a:spcPts val="1100"/>
              </a:spcAft>
              <a:defRPr sz="1900">
                <a:solidFill>
                  <a:srgbClr val="F2F5F8"/>
                </a:solidFill>
              </a:defRPr>
            </a:pPr>
            <a:r>
              <a:t>• Security-sensitive execution requires a deliberate environment and privilege policy.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38.6 Process images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process image includes the executable mappings and initialized runtime environment needed to begin the new program.</a:t>
            </a:r>
          </a:p>
          <a:p>
            <a:pPr>
              <a:spcAft>
                <a:spcPts val="1100"/>
              </a:spcAft>
              <a:defRPr sz="1900">
                <a:solidFill>
                  <a:srgbClr val="F2F5F8"/>
                </a:solidFill>
              </a:defRPr>
            </a:pPr>
            <a:r>
              <a:t>• The loader and dynamic linker perform work beyond the source-level function call used to request replacement.</a:t>
            </a:r>
          </a:p>
          <a:p>
            <a:pPr>
              <a:spcAft>
                <a:spcPts val="1100"/>
              </a:spcAft>
              <a:defRPr sz="1900">
                <a:solidFill>
                  <a:srgbClr val="F2F5F8"/>
                </a:solidFill>
              </a:defRPr>
            </a:pPr>
            <a:r>
              <a:t>• Some signal-related state changes across exec while other state persists according to the documented rules.</a:t>
            </a:r>
          </a:p>
          <a:p>
            <a:pPr>
              <a:spcAft>
                <a:spcPts val="1100"/>
              </a:spcAft>
              <a:defRPr sz="1900">
                <a:solidFill>
                  <a:srgbClr val="F2F5F8"/>
                </a:solidFill>
              </a:defRPr>
            </a:pPr>
            <a:r>
              <a:t>• For example, caught signal dispositions are reset in the ordinary case, while the signal mask is preserved.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38.6 Process images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Some signal-related state changes across exec while other state persists according to the documented rules.</a:t>
            </a:r>
          </a:p>
          <a:p>
            <a:pPr>
              <a:spcAft>
                <a:spcPts val="1100"/>
              </a:spcAft>
              <a:defRPr sz="1900">
                <a:solidFill>
                  <a:srgbClr val="F2F5F8"/>
                </a:solidFill>
              </a:defRPr>
            </a:pPr>
            <a:r>
              <a:t>• For example, caught signal dispositions are reset in the ordinary case, while the signal mask is preserved.</a:t>
            </a:r>
          </a:p>
          <a:p>
            <a:pPr>
              <a:spcAft>
                <a:spcPts val="1100"/>
              </a:spcAft>
              <a:defRPr sz="1700">
                <a:solidFill>
                  <a:srgbClr val="F2F5F8"/>
                </a:solidFill>
              </a:defRPr>
            </a:pPr>
            <a:r>
              <a:t>• A launcher that blocks signals during setup must restore the intended mask before executing a program that expects normal delivery. [ R16 , R21 ]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Explicit arguments and environment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following single-threaded launcher starts /bin/echo with one argument containing a space.</a:t>
            </a:r>
          </a:p>
          <a:p>
            <a:pPr>
              <a:spcAft>
                <a:spcPts val="1100"/>
              </a:spcAft>
              <a:defRPr sz="1900">
                <a:solidFill>
                  <a:srgbClr val="F2F5F8"/>
                </a:solidFill>
              </a:defRPr>
            </a:pPr>
            <a:r>
              <a:t>• The child uses only a small failure message and _exit if exec fails.</a:t>
            </a:r>
          </a:p>
          <a:p>
            <a:pPr>
              <a:spcAft>
                <a:spcPts val="1100"/>
              </a:spcAft>
              <a:defRPr sz="1900">
                <a:solidFill>
                  <a:srgbClr val="F2F5F8"/>
                </a:solidFill>
              </a:defRPr>
            </a:pPr>
            <a:r>
              <a:t>• The parent returns the child’s ordinary exit code when available.</a:t>
            </a:r>
          </a:p>
          <a:p>
            <a:pPr>
              <a:spcAft>
                <a:spcPts val="1100"/>
              </a:spcAft>
              <a:defRPr sz="1900">
                <a:solidFill>
                  <a:srgbClr val="F2F5F8"/>
                </a:solidFill>
              </a:defRPr>
            </a:pPr>
            <a:r>
              <a:t>• Companion listing: ch38/launch.c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Explicit arguments and environment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ch38/launch.c</a:t>
            </a:r>
          </a:p>
          <a:p>
            <a:pPr>
              <a:spcAft>
                <a:spcPts val="1100"/>
              </a:spcAft>
              <a:defRPr sz="1900">
                <a:solidFill>
                  <a:srgbClr val="F2F5F8"/>
                </a:solidFill>
              </a:defRPr>
            </a:pPr>
            <a:r>
              <a:t>• The expected output is exec example .</a:t>
            </a:r>
          </a:p>
          <a:p>
            <a:pPr>
              <a:spcAft>
                <a:spcPts val="1100"/>
              </a:spcAft>
              <a:defRPr sz="1900">
                <a:solidFill>
                  <a:srgbClr val="F2F5F8"/>
                </a:solidFill>
              </a:defRPr>
            </a:pPr>
            <a:r>
              <a:t>• The two words arrive as one argument; the program does not ask a shell to parse them.</a:t>
            </a:r>
          </a:p>
          <a:p>
            <a:pPr>
              <a:spcAft>
                <a:spcPts val="1100"/>
              </a:spcAft>
              <a:defRPr sz="1900">
                <a:solidFill>
                  <a:srgbClr val="F2F5F8"/>
                </a:solidFill>
              </a:defRPr>
            </a:pPr>
            <a:r>
              <a:t>• The example assumes the reference system provides /bin/echo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Exec does not create a second process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child created with fork can call execve to replace its program image.</a:t>
            </a:r>
          </a:p>
          <a:p>
            <a:pPr>
              <a:spcAft>
                <a:spcPts val="1100"/>
              </a:spcAft>
              <a:defRPr sz="1900">
                <a:solidFill>
                  <a:srgbClr val="F2F5F8"/>
                </a:solidFill>
              </a:defRPr>
            </a:pPr>
            <a:r>
              <a:t>• The PID remains the same because execve transforms the calling process rather than spawning another one.</a:t>
            </a:r>
          </a:p>
          <a:p>
            <a:pPr>
              <a:spcAft>
                <a:spcPts val="1100"/>
              </a:spcAft>
              <a:defRPr sz="1900">
                <a:solidFill>
                  <a:srgbClr val="F2F5F8"/>
                </a:solidFill>
              </a:defRPr>
            </a:pPr>
            <a:r>
              <a:t>• On success, the old code, stack, and most mappings are gone, and execution begins in the new program’s startup path.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Exec does not create a second process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child created with fork can call execve to replace its program image.</a:t>
            </a:r>
          </a:p>
          <a:p>
            <a:pPr>
              <a:spcAft>
                <a:spcPts val="1100"/>
              </a:spcAft>
              <a:defRPr sz="1900">
                <a:solidFill>
                  <a:srgbClr val="F2F5F8"/>
                </a:solidFill>
              </a:defRPr>
            </a:pPr>
            <a:r>
              <a:t>• The PID remains the same because execve transforms the calling process rather than spawning another one.</a:t>
            </a:r>
          </a:p>
          <a:p>
            <a:pPr>
              <a:spcAft>
                <a:spcPts val="1100"/>
              </a:spcAft>
              <a:defRPr sz="1900">
                <a:solidFill>
                  <a:srgbClr val="F2F5F8"/>
                </a:solidFill>
              </a:defRPr>
            </a:pPr>
            <a:r>
              <a:t>• On success, the old code, stack, and most mappings are gone, and execution begins in the new program’s startup path.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Building argv correctly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a program invocation conceptually equivalent to tool -v input.txt , construct an argument vector containing tool , -v , input.txt , and a terminating null pointer.</a:t>
            </a:r>
          </a:p>
          <a:p>
            <a:pPr>
              <a:spcAft>
                <a:spcPts val="1100"/>
              </a:spcAft>
              <a:defRPr sz="1900">
                <a:solidFill>
                  <a:srgbClr val="F2F5F8"/>
                </a:solidFill>
              </a:defRPr>
            </a:pPr>
            <a:r>
              <a:t>• Each logical argument is a separate string.</a:t>
            </a:r>
          </a:p>
          <a:p>
            <a:pPr>
              <a:spcAft>
                <a:spcPts val="1100"/>
              </a:spcAft>
              <a:defRPr sz="1900">
                <a:solidFill>
                  <a:srgbClr val="F2F5F8"/>
                </a:solidFill>
              </a:defRPr>
            </a:pPr>
            <a:r>
              <a:t>• Passing the whole command as one string does not ask execve to perform shell parsing.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Building argv correctly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a program invocation conceptually equivalent to tool -v input.txt , construct an argument vector containing tool , -v , input.txt , and a terminating null pointer.</a:t>
            </a:r>
          </a:p>
          <a:p>
            <a:pPr>
              <a:spcAft>
                <a:spcPts val="1100"/>
              </a:spcAft>
              <a:defRPr sz="1900">
                <a:solidFill>
                  <a:srgbClr val="F2F5F8"/>
                </a:solidFill>
              </a:defRPr>
            </a:pPr>
            <a:r>
              <a:t>• Each logical argument is a separate string.</a:t>
            </a:r>
          </a:p>
          <a:p>
            <a:pPr>
              <a:spcAft>
                <a:spcPts val="1100"/>
              </a:spcAft>
              <a:defRPr sz="1900">
                <a:solidFill>
                  <a:srgbClr val="F2F5F8"/>
                </a:solidFill>
              </a:defRPr>
            </a:pPr>
            <a:r>
              <a:t>• Passing the whole command as one string does not ask execve to perform shell parsing.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38.</a:t>
            </a:r>
          </a:p>
          <a:p>
            <a:pPr>
              <a:spcAft>
                <a:spcPts val="1100"/>
              </a:spcAft>
              <a:defRPr sz="1900">
                <a:solidFill>
                  <a:srgbClr val="F2F5F8"/>
                </a:solidFill>
              </a:defRPr>
            </a:pPr>
            <a:r>
              <a:t>• Replace the executable path with a deliberately nonexistent path in a temporary copy.</a:t>
            </a:r>
          </a:p>
          <a:p>
            <a:pPr>
              <a:spcAft>
                <a:spcPts val="1100"/>
              </a:spcAft>
              <a:defRPr sz="1900">
                <a:solidFill>
                  <a:srgbClr val="F2F5F8"/>
                </a:solidFill>
              </a:defRPr>
            </a:pPr>
            <a:r>
              <a:t>• Verify a nonzero result and no fallthrough into parent behavior.</a:t>
            </a:r>
          </a:p>
          <a:p>
            <a:pPr>
              <a:spcAft>
                <a:spcPts val="1100"/>
              </a:spcAft>
              <a:defRPr sz="1900">
                <a:solidFill>
                  <a:srgbClr val="F2F5F8"/>
                </a:solidFill>
              </a:defRPr>
            </a:pPr>
            <a:r>
              <a:t>• Then add a second argument and predict how the argument vector changes without constructing a shell command string.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Does successful exec return?</a:t>
            </a:r>
          </a:p>
          <a:p>
            <a:pPr>
              <a:spcAft>
                <a:spcPts val="1100"/>
              </a:spcAft>
              <a:defRPr sz="1900">
                <a:solidFill>
                  <a:srgbClr val="F2F5F8"/>
                </a:solidFill>
              </a:defRPr>
            </a:pPr>
            <a:r>
              <a:t>• Review 2.</a:t>
            </a:r>
          </a:p>
          <a:p>
            <a:pPr>
              <a:spcAft>
                <a:spcPts val="1100"/>
              </a:spcAft>
              <a:defRPr sz="1900">
                <a:solidFill>
                  <a:srgbClr val="F2F5F8"/>
                </a:solidFill>
              </a:defRPr>
            </a:pPr>
            <a:r>
              <a:t>• Why can a descriptor survive into a program that never called open for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program execution.</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Process Termination.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38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