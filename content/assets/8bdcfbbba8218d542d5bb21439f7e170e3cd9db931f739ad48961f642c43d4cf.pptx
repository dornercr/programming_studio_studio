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26 — Page Faults</a:t>
            </a:r>
          </a:p>
          <a:p/>
          <a:p>
            <a:r>
              <a:t>LECTURE NARRATION</a:t>
            </a:r>
          </a:p>
          <a:p>
            <a:r>
              <a:t>A page fault is an architectural notification that a memory access could not proceed under the current translation and protection state. The kernel interprets the event in the context of the process’s mappings. Some faults are routine mechanisms for implementing valid memory behavior; others reveal an invalid access. [ R3 , R10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fault is an architectural notification that a memory access could not proceed under the current translation and protection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page fault is an architectural notification that a memory access could not proceed under the current translation and protection state. The kernel interprets the event in the context of the process’s mappings. Some faults are routine mechanisms for implementing valid memory behavior; others reveal an invalid access. [ R3 , R10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fault is an architectural notification that a memory access could not proceed under the current translation and protection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26.1 Missing pages 26.2 Protection faults 26.3 Demand paging 26.4 Fault handling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26.1 Missing pages 26.2 Protection faults 26.3 Demand paging 26.4 Fault handling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26.1 Missing pages</a:t>
            </a:r>
          </a:p>
          <a:p/>
          <a:p>
            <a:r>
              <a:t>LECTURE NARRATION</a:t>
            </a:r>
          </a:p>
          <a:p>
            <a:r>
              <a:t>A missing translation can correspond to a legitimate region whose physical backing has not yet been installed. Anonymous memory can be provided lazily, and file-backed mappings can bring in pages as needed. Deferring work avoids allocating and reading pages that the application never touches. A missing page can also correspond to no valid mapping at all. The handler must consult the mapping policy rather than assume that any requested address deserves storage. Otherwise, invalid pointers would silently create new memory instead of being rejected.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26.1 Missing pages — Deep Dive</a:t>
            </a:r>
          </a:p>
          <a:p/>
          <a:p>
            <a:r>
              <a:t>LECTURE NARRATION</a:t>
            </a:r>
          </a:p>
          <a:p>
            <a:r>
              <a:t>A missing translation can correspond to a legitimate region whose physical backing has not yet been installed. Anonymous memory can be provided lazily, and file-backed mappings can bring in pages as needed. Deferring work avoids allocating and reading pages that the application never touches. A missing page can also correspond to no valid mapping at all. The handler must consult the mapping policy rather than assume that any requested address deserves storage. Otherwise, invalid pointers would silently create new memory instead of being rejected.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26.2 Protection faults</a:t>
            </a:r>
          </a:p>
          <a:p/>
          <a:p>
            <a:r>
              <a:t>LECTURE NARRATION</a:t>
            </a:r>
          </a:p>
          <a:p>
            <a:r>
              <a:t>A protection fault occurs when a mapping exists or is described, but the attempted operation is not permitted by the active protection state. Writing to a read-only mapping and fetching instructions from a non-executable mapping are examples under the relevant hardware configuration. Some protection faults are intentionally recoverable, notably copy-on-write. Others indicate an error. The handler must distinguish the region’s logical policy from its current hardware permission bits. A read-only code page is not made writable simply because a process attempted a store.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protection fault occurs when a mapping exists or is described, but the attempted operation is not permitted by the active protection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26.2 Protection faults — Deep Dive</a:t>
            </a:r>
          </a:p>
          <a:p/>
          <a:p>
            <a:r>
              <a:t>LECTURE NARRATION</a:t>
            </a:r>
          </a:p>
          <a:p>
            <a:r>
              <a:t>A protection fault occurs when a mapping exists or is described, but the attempted operation is not permitted by the active protection state. Writing to a read-only mapping and fetching instructions from a non-executable mapping are examples under the relevant hardware configuration. Some protection faults are intentionally recoverable, notably copy-on-write. Others indicate an error. The handler must distinguish the region’s logical policy from its current hardware permission bits. A read-only code page is not made writable simply because a process attempted a store.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protection fault occurs when a mapping exists or is described, but the attempted operation is not permitted by the active protection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26.3 Demand paging</a:t>
            </a:r>
          </a:p>
          <a:p/>
          <a:p>
            <a:r>
              <a:t>LECTURE NARRATION</a:t>
            </a:r>
          </a:p>
          <a:p>
            <a:r>
              <a:t>Demand paging supplies a page when it is actually needed. For a file mapping, the kernel can obtain the corresponding file data; for anonymous memory, it can provide zero-initialized storage consistent with the mapping’s semantics. Existing cached data can avoid a new storage-device read. The performance consequence depends on the work required. Some faults can be satisfied without reading from storage; others wait for I/O. A fault count without classification and workload context is therefore an incomplete performance metric. The same number of faults can represent very different elapsed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demand paging supplies a page when it is actually needed.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26.3 Demand paging — Deep Dive</a:t>
            </a:r>
          </a:p>
          <a:p/>
          <a:p>
            <a:r>
              <a:t>LECTURE NARRATION</a:t>
            </a:r>
          </a:p>
          <a:p>
            <a:r>
              <a:t>Demand paging supplies a page when it is actually needed. For a file mapping, the kernel can obtain the corresponding file data; for anonymous memory, it can provide zero-initialized storage consistent with the mapping’s semantics. Existing cached data can avoid a new storage-device read. The performance consequence depends on the work required. Some faults can be satisfied without reading from storage; others wait for I/O. A fault count without classification and workload context is therefore an incomplete performance metric. The same number of faults can represent very different elapsed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demand paging supplies a page when it is actually needed.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26.4 Fault handling</a:t>
            </a:r>
          </a:p>
          <a:p/>
          <a:p>
            <a:r>
              <a:t>LECTURE NARRATION</a:t>
            </a:r>
          </a:p>
          <a:p>
            <a:r>
              <a:t>Conceptually, handling involves identifying the faulting address and access, locating the mapping policy, validating the operation, obtaining suitable backing, updating translation structures, and resuming or rejecting the instruction. The kernel must synchronize this work with concurrent mapping changes and other faults. Application error handling usually does not attempt to repair arbitrary invalid pointer faults. Recovering from a corrupted execution state is much harder than catching a normal return-code error. Design programs to prevent invalid access and use operating-system errors for expected resource failures. Signal handling is discussed separately in Chapter 41.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conceptually, handling involves identifying the faulting address and access, locating the mapping policy, validating the operation, obtaining suitable backing, updating translation structures, and resuming or rejecting the instruction.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26.4 Fault handling — Deep Dive</a:t>
            </a:r>
          </a:p>
          <a:p/>
          <a:p>
            <a:r>
              <a:t>LECTURE NARRATION</a:t>
            </a:r>
          </a:p>
          <a:p>
            <a:r>
              <a:t>Conceptually, handling involves identifying the faulting address and access, locating the mapping policy, validating the operation, obtaining suitable backing, updating translation structures, and resuming or rejecting the instruction. The kernel must synchronize this work with concurrent mapping changes and other faults. Application error handling usually does not attempt to repair arbitrary invalid pointer faults. Recovering from a corrupted execution state is much harder than catching a normal return-code error. Design programs to prevent invalid access and use operating-system errors for expected resource failures. Signal handling is discussed separately in Chapter 41.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conceptually, handling involves identifying the faulting address and access, locating the mapping policy, validating the operation, obtaining suitable backing, updating translation structures, and resuming or rejecting the instruction.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26.5 Copy-on-write</a:t>
            </a:r>
          </a:p>
          <a:p/>
          <a:p>
            <a:r>
              <a:t>LECTURE NARRATION</a:t>
            </a:r>
          </a:p>
          <a:p>
            <a:r>
              <a:t>Copy-on-write lets logically independent mappings share backing until a writer requires a private version. After fork , parent and child can initially share many physical pages while observing private-memory semantics. A write fault can cause the kernel to create a private copy for the writer and update its mapping. [ R15 ] A physical copy is not mandatory in every write-fault case. If the kernel determines that the backing is no longer shared in a way requiring separation, it may be able to make the page writable without copying. The semantic guarantee is private modification, not a promise that every store invokes a particular copying algorithm.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copy-on-write lets logically independent mappings share backing until a writer requires a private version.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26.5 Copy-on-write — Deep Dive</a:t>
            </a:r>
          </a:p>
          <a:p/>
          <a:p>
            <a:r>
              <a:t>LECTURE NARRATION</a:t>
            </a:r>
          </a:p>
          <a:p>
            <a:r>
              <a:t>Copy-on-write lets logically independent mappings share backing until a writer requires a private version. After fork , parent and child can initially share many physical pages while observing private-memory semantics. A write fault can cause the kernel to create a private copy for the writer and update its mapping. [ R15 ] A physical copy is not mandatory in every write-fault case. If the kernel determines that the backing is no longer shared in a way requiring separation, it may be able to make the page writable without copying. The semantic guarantee is private modification, not a promise that every store invokes a particular copying algorithm.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copy-on-write lets logically independent mappings share backing until a writer requires a private version.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A model of private modification</a:t>
            </a:r>
          </a:p>
          <a:p/>
          <a:p>
            <a:r>
              <a:t>LECTURE NARRATION</a:t>
            </a:r>
          </a:p>
          <a:p>
            <a:r>
              <a:t>The following model uses immutable Python bytes as initial shared content and returns a new object when a private writer changes a byte. It demonstrates the observable contract of copy-on-write; it does not claim to implement page tables or reproduce the kernel’s physical allocation decisions. Companion listing: ch26/cow_model.py The expected output is ABCD AXCD . The model copies the entire small object for every store, which is deliberately simpler than a page-based implementation. Its value is that the ownership and visibility contract can be checked without relying on process scheduling or privileged inspection. The model also clarifies a boundary: a shared mapping would require a different contract. Making a private copy is correct for private modification but wrong for a communication region whose purpose is to expose one participant’s writes to another.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model uses immutable Python bytes as initial shared content and returns a new object when a private writer changes a byte.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A model of private modification — Deep Dive</a:t>
            </a:r>
          </a:p>
          <a:p/>
          <a:p>
            <a:r>
              <a:t>LECTURE NARRATION</a:t>
            </a:r>
          </a:p>
          <a:p>
            <a:r>
              <a:t>The following model uses immutable Python bytes as initial shared content and returns a new object when a private writer changes a byte. It demonstrates the observable contract of copy-on-write; it does not claim to implement page tables or reproduce the kernel’s physical allocation decisions. Companion listing: ch26/cow_model.py The expected output is ABCD AXCD . The model copies the entire small object for every store, which is deliberately simpler than a page-based implementation. Its value is that the ownership and visibility contract can be checked without relying on process scheduling or privileged inspection. The model also clarifies a boundary: a shared mapping would require a different contract. Making a private copy is correct for private modification but wrong for a communication region whose purpose is to expose one participant’s writes to another.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model uses immutable Python bytes as initial shared content and returns a new object when a private writer changes a byte.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Demand-zero allocation</a:t>
            </a:r>
          </a:p>
          <a:p/>
          <a:p>
            <a:r>
              <a:t>LECTURE NARRATION</a:t>
            </a:r>
          </a:p>
          <a:p>
            <a:r>
              <a:t>A process may reserve a new virtual page without immediately receiving a physical frame. The first write faults because no frame is present. The kernel allocates a zeroed frame, installs a writable mapping, and restarts the instruction. The application experiences ordinary memory semantics while physical allocation is deferred until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may reserve a new virtual page without immediately receiving a physical frame.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Demand-zero allocation — Deep Dive</a:t>
            </a:r>
          </a:p>
          <a:p/>
          <a:p>
            <a:r>
              <a:t>LECTURE NARRATION</a:t>
            </a:r>
          </a:p>
          <a:p>
            <a:r>
              <a:t>A process may reserve a new virtual page without immediately receiving a physical frame. The first write faults because no frame is present. The kernel allocates a zeroed frame, installs a writable mapping, and restarts the instruction. The application experiences ordinary memory semantics while physical allocation is deferred until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may reserve a new virtual page without immediately receiving a physical frame.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Copy-on-write after fork</a:t>
            </a:r>
          </a:p>
          <a:p/>
          <a:p>
            <a:r>
              <a:t>LECTURE NARRATION</a:t>
            </a:r>
          </a:p>
          <a:p>
            <a:r>
              <a:t>After fork , parent and child can initially map the same physical page read-only. If the child writes it, a protection fault lets the kernel allocate a private copy, copy the original contents, and remap the child’s page writable. The parent’s mapping still references the original frame. Copying is paid only for pages actually modified.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fork , parent and child can initially map the same physical page read-only.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Copy-on-write after fork — Deep Dive</a:t>
            </a:r>
          </a:p>
          <a:p/>
          <a:p>
            <a:r>
              <a:t>LECTURE NARRATION</a:t>
            </a:r>
          </a:p>
          <a:p>
            <a:r>
              <a:t>After fork , parent and child can initially map the same physical page read-only. If the child writes it, a protection fault lets the kernel allocate a private copy, copy the original contents, and remap the child’s page writable. The parent’s mapping still references the original frame. Copying is paid only for pages actually modified.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fork , parent and child can initially map the same physical page read-only.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26. Extend the model with a second child and verify that writing in one child changes neither the parent nor the other child. Add boundary tests for index -1 , index equal to the size, and byte value 256 . Review 1. Is every page fault evidence of a bug? Review 2. Does every page fault require a disk read?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26.</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26. Extend the model with a second child and verify that writing in one child changes neither the parent nor the other child. Add boundary tests for index -1 , index equal to the size, and byte value 256 . Review 1. Is every page fault evidence of a bug? Review 2. Does every page fault require a disk read?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26.</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page faults.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page faults.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 Hierarchy.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26 — Page Faults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page fault is an architectural notification that a memory access could not proceed under the current translation and protection state.</a:t>
            </a:r>
          </a:p>
          <a:p>
            <a:pPr>
              <a:spcAft>
                <a:spcPts val="1100"/>
              </a:spcAft>
              <a:defRPr sz="1900">
                <a:solidFill>
                  <a:srgbClr val="F2F5F8"/>
                </a:solidFill>
              </a:defRPr>
            </a:pPr>
            <a:r>
              <a:t>• The kernel interprets the event in the context of the process’s mappings.</a:t>
            </a:r>
          </a:p>
          <a:p>
            <a:pPr>
              <a:spcAft>
                <a:spcPts val="1100"/>
              </a:spcAft>
              <a:defRPr sz="1700">
                <a:solidFill>
                  <a:srgbClr val="F2F5F8"/>
                </a:solidFill>
              </a:defRPr>
            </a:pPr>
            <a:r>
              <a:t>• Some faults are routine mechanisms for implementing valid memory behavior; others reveal an invalid access. [ R3 , R10 , R14 ]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Page Faults.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26.1 Missing pages</a:t>
            </a:r>
          </a:p>
          <a:p>
            <a:pPr>
              <a:spcAft>
                <a:spcPts val="1100"/>
              </a:spcAft>
              <a:defRPr sz="1900">
                <a:solidFill>
                  <a:srgbClr val="F2F5F8"/>
                </a:solidFill>
              </a:defRPr>
            </a:pPr>
            <a:r>
              <a:t>• 26.2 Protection faults</a:t>
            </a:r>
          </a:p>
          <a:p>
            <a:pPr>
              <a:spcAft>
                <a:spcPts val="1100"/>
              </a:spcAft>
              <a:defRPr sz="1900">
                <a:solidFill>
                  <a:srgbClr val="F2F5F8"/>
                </a:solidFill>
              </a:defRPr>
            </a:pPr>
            <a:r>
              <a:t>• 26.3 Demand paging</a:t>
            </a:r>
          </a:p>
          <a:p>
            <a:pPr>
              <a:spcAft>
                <a:spcPts val="1100"/>
              </a:spcAft>
              <a:defRPr sz="1900">
                <a:solidFill>
                  <a:srgbClr val="F2F5F8"/>
                </a:solidFill>
              </a:defRPr>
            </a:pPr>
            <a:r>
              <a:t>• 26.4 Fault handling</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26.1 Missing pages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missing translation can correspond to a legitimate region whose physical backing has not yet been installed.</a:t>
            </a:r>
          </a:p>
          <a:p>
            <a:pPr>
              <a:spcAft>
                <a:spcPts val="1100"/>
              </a:spcAft>
              <a:defRPr sz="1900">
                <a:solidFill>
                  <a:srgbClr val="F2F5F8"/>
                </a:solidFill>
              </a:defRPr>
            </a:pPr>
            <a:r>
              <a:t>• Anonymous memory can be provided lazily, and file-backed mappings can bring in pages as needed.</a:t>
            </a:r>
          </a:p>
          <a:p>
            <a:pPr>
              <a:spcAft>
                <a:spcPts val="1100"/>
              </a:spcAft>
              <a:defRPr sz="1900">
                <a:solidFill>
                  <a:srgbClr val="F2F5F8"/>
                </a:solidFill>
              </a:defRPr>
            </a:pPr>
            <a:r>
              <a:t>• Deferring work avoids allocating and reading pages that the application never touches.</a:t>
            </a:r>
          </a:p>
          <a:p>
            <a:pPr>
              <a:spcAft>
                <a:spcPts val="1100"/>
              </a:spcAft>
              <a:defRPr sz="1900">
                <a:solidFill>
                  <a:srgbClr val="F2F5F8"/>
                </a:solidFill>
              </a:defRPr>
            </a:pPr>
            <a:r>
              <a:t>• A missing page can also correspond to no valid mapping at 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26.1 Missing pages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missing page can also correspond to no valid mapping at all.</a:t>
            </a:r>
          </a:p>
          <a:p>
            <a:pPr>
              <a:spcAft>
                <a:spcPts val="1100"/>
              </a:spcAft>
              <a:defRPr sz="1900">
                <a:solidFill>
                  <a:srgbClr val="F2F5F8"/>
                </a:solidFill>
              </a:defRPr>
            </a:pPr>
            <a:r>
              <a:t>• The handler must consult the mapping policy rather than assume that any requested address deserves storage.</a:t>
            </a:r>
          </a:p>
          <a:p>
            <a:pPr>
              <a:spcAft>
                <a:spcPts val="1100"/>
              </a:spcAft>
              <a:defRPr sz="1900">
                <a:solidFill>
                  <a:srgbClr val="F2F5F8"/>
                </a:solidFill>
              </a:defRPr>
            </a:pPr>
            <a:r>
              <a:t>• Otherwise, invalid pointers would silently create new memory instead of being rejected.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26.2 Protection faults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protection fault occurs when a mapping exists or is described, but the attempted operation is not permitted by the active protection state.</a:t>
            </a:r>
          </a:p>
          <a:p>
            <a:pPr>
              <a:spcAft>
                <a:spcPts val="1100"/>
              </a:spcAft>
              <a:defRPr sz="1700">
                <a:solidFill>
                  <a:srgbClr val="F2F5F8"/>
                </a:solidFill>
              </a:defRPr>
            </a:pPr>
            <a:r>
              <a:t>• Writing to a read-only mapping and fetching instructions from a non-executable mapping are examples under the relevant hardware configuration.</a:t>
            </a:r>
          </a:p>
          <a:p>
            <a:pPr>
              <a:spcAft>
                <a:spcPts val="1100"/>
              </a:spcAft>
              <a:defRPr sz="1900">
                <a:solidFill>
                  <a:srgbClr val="F2F5F8"/>
                </a:solidFill>
              </a:defRPr>
            </a:pPr>
            <a:r>
              <a:t>• Some protection faults are intentionally recoverable, notably copy-on-write.</a:t>
            </a:r>
          </a:p>
          <a:p>
            <a:pPr>
              <a:spcAft>
                <a:spcPts val="1100"/>
              </a:spcAft>
              <a:defRPr sz="1900">
                <a:solidFill>
                  <a:srgbClr val="F2F5F8"/>
                </a:solidFill>
              </a:defRPr>
            </a:pPr>
            <a:r>
              <a:t>• Others indicate an error.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26.2 Protection faults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Some protection faults are intentionally recoverable, notably copy-on-write.</a:t>
            </a:r>
          </a:p>
          <a:p>
            <a:pPr>
              <a:spcAft>
                <a:spcPts val="1100"/>
              </a:spcAft>
              <a:defRPr sz="1900">
                <a:solidFill>
                  <a:srgbClr val="F2F5F8"/>
                </a:solidFill>
              </a:defRPr>
            </a:pPr>
            <a:r>
              <a:t>• Others indicate an error.</a:t>
            </a:r>
          </a:p>
          <a:p>
            <a:pPr>
              <a:spcAft>
                <a:spcPts val="1100"/>
              </a:spcAft>
              <a:defRPr sz="1900">
                <a:solidFill>
                  <a:srgbClr val="F2F5F8"/>
                </a:solidFill>
              </a:defRPr>
            </a:pPr>
            <a:r>
              <a:t>• The handler must distinguish the region’s logical policy from its current hardware permission bits.</a:t>
            </a:r>
          </a:p>
          <a:p>
            <a:pPr>
              <a:spcAft>
                <a:spcPts val="1100"/>
              </a:spcAft>
              <a:defRPr sz="1900">
                <a:solidFill>
                  <a:srgbClr val="F2F5F8"/>
                </a:solidFill>
              </a:defRPr>
            </a:pPr>
            <a:r>
              <a:t>• A read-only code page is not made writable simply because a process attempted a store.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26.3 Demand paging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Demand paging supplies a page when it is actually needed.</a:t>
            </a:r>
          </a:p>
          <a:p>
            <a:pPr>
              <a:spcAft>
                <a:spcPts val="1100"/>
              </a:spcAft>
              <a:defRPr sz="1700">
                <a:solidFill>
                  <a:srgbClr val="F2F5F8"/>
                </a:solidFill>
              </a:defRPr>
            </a:pPr>
            <a:r>
              <a:t>• For a file mapping, the kernel can obtain the corresponding file data; for anonymous memory, it can provide zero-initialized storage consistent with the mapping’s semantics.</a:t>
            </a:r>
          </a:p>
          <a:p>
            <a:pPr>
              <a:spcAft>
                <a:spcPts val="1100"/>
              </a:spcAft>
              <a:defRPr sz="1900">
                <a:solidFill>
                  <a:srgbClr val="F2F5F8"/>
                </a:solidFill>
              </a:defRPr>
            </a:pPr>
            <a:r>
              <a:t>• Existing cached data can avoid a new storage-device read.</a:t>
            </a:r>
          </a:p>
          <a:p>
            <a:pPr>
              <a:spcAft>
                <a:spcPts val="1100"/>
              </a:spcAft>
              <a:defRPr sz="1900">
                <a:solidFill>
                  <a:srgbClr val="F2F5F8"/>
                </a:solidFill>
              </a:defRPr>
            </a:pPr>
            <a:r>
              <a:t>• The performance consequence depends on the work required.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26.3 Demand paging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performance consequence depends on the work required.</a:t>
            </a:r>
          </a:p>
          <a:p>
            <a:pPr>
              <a:spcAft>
                <a:spcPts val="1100"/>
              </a:spcAft>
              <a:defRPr sz="1900">
                <a:solidFill>
                  <a:srgbClr val="F2F5F8"/>
                </a:solidFill>
              </a:defRPr>
            </a:pPr>
            <a:r>
              <a:t>• Some faults can be satisfied without reading from storage; others wait for I/O.</a:t>
            </a:r>
          </a:p>
          <a:p>
            <a:pPr>
              <a:spcAft>
                <a:spcPts val="1100"/>
              </a:spcAft>
              <a:defRPr sz="1900">
                <a:solidFill>
                  <a:srgbClr val="F2F5F8"/>
                </a:solidFill>
              </a:defRPr>
            </a:pPr>
            <a:r>
              <a:t>• A fault count without classification and workload context is therefore an incomplete performance metric.</a:t>
            </a:r>
          </a:p>
          <a:p>
            <a:pPr>
              <a:spcAft>
                <a:spcPts val="1100"/>
              </a:spcAft>
              <a:defRPr sz="1900">
                <a:solidFill>
                  <a:srgbClr val="F2F5F8"/>
                </a:solidFill>
              </a:defRPr>
            </a:pPr>
            <a:r>
              <a:t>• The same number of faults can represent very different elapsed costs.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26.4 Fault handling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Conceptually, handling involves identifying the faulting address and access, locating the mapping policy, validating the operation, obtaining suitable backing, updating...</a:t>
            </a:r>
          </a:p>
          <a:p>
            <a:pPr>
              <a:spcAft>
                <a:spcPts val="1100"/>
              </a:spcAft>
              <a:defRPr sz="1900">
                <a:solidFill>
                  <a:srgbClr val="F2F5F8"/>
                </a:solidFill>
              </a:defRPr>
            </a:pPr>
            <a:r>
              <a:t>• The kernel must synchronize this work with concurrent mapping changes and other faults.</a:t>
            </a:r>
          </a:p>
          <a:p>
            <a:pPr>
              <a:spcAft>
                <a:spcPts val="1100"/>
              </a:spcAft>
              <a:defRPr sz="1900">
                <a:solidFill>
                  <a:srgbClr val="F2F5F8"/>
                </a:solidFill>
              </a:defRPr>
            </a:pPr>
            <a:r>
              <a:t>• Application error handling usually does not attempt to repair arbitrary invalid pointer faults.</a:t>
            </a:r>
          </a:p>
          <a:p>
            <a:pPr>
              <a:spcAft>
                <a:spcPts val="1100"/>
              </a:spcAft>
              <a:defRPr sz="1900">
                <a:solidFill>
                  <a:srgbClr val="F2F5F8"/>
                </a:solidFill>
              </a:defRPr>
            </a:pPr>
            <a:r>
              <a:t>• Recovering from a corrupted execution state is much harder than catching a normal return-code error.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26.4 Fault handling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Application error handling usually does not attempt to repair arbitrary invalid pointer faults.</a:t>
            </a:r>
          </a:p>
          <a:p>
            <a:pPr>
              <a:spcAft>
                <a:spcPts val="1100"/>
              </a:spcAft>
              <a:defRPr sz="1900">
                <a:solidFill>
                  <a:srgbClr val="F2F5F8"/>
                </a:solidFill>
              </a:defRPr>
            </a:pPr>
            <a:r>
              <a:t>• Recovering from a corrupted execution state is much harder than catching a normal return-code error.</a:t>
            </a:r>
          </a:p>
          <a:p>
            <a:pPr>
              <a:spcAft>
                <a:spcPts val="1100"/>
              </a:spcAft>
              <a:defRPr sz="1900">
                <a:solidFill>
                  <a:srgbClr val="F2F5F8"/>
                </a:solidFill>
              </a:defRPr>
            </a:pPr>
            <a:r>
              <a:t>• Design programs to prevent invalid access and use operating-system errors for expected resource failures.</a:t>
            </a:r>
          </a:p>
          <a:p>
            <a:pPr>
              <a:spcAft>
                <a:spcPts val="1100"/>
              </a:spcAft>
              <a:defRPr sz="1900">
                <a:solidFill>
                  <a:srgbClr val="F2F5F8"/>
                </a:solidFill>
              </a:defRPr>
            </a:pPr>
            <a:r>
              <a:t>• Signal handling is discussed separately in Chapter 41.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26.5 Copy-on-write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Copy-on-write lets logically independent mappings share backing until a writer requires a private version.</a:t>
            </a:r>
          </a:p>
          <a:p>
            <a:pPr>
              <a:spcAft>
                <a:spcPts val="1100"/>
              </a:spcAft>
              <a:defRPr sz="1900">
                <a:solidFill>
                  <a:srgbClr val="F2F5F8"/>
                </a:solidFill>
              </a:defRPr>
            </a:pPr>
            <a:r>
              <a:t>• After fork , parent and child can initially share many physical pages while observing private-memory semantics.</a:t>
            </a:r>
          </a:p>
          <a:p>
            <a:pPr>
              <a:spcAft>
                <a:spcPts val="1100"/>
              </a:spcAft>
              <a:defRPr sz="1900">
                <a:solidFill>
                  <a:srgbClr val="F2F5F8"/>
                </a:solidFill>
              </a:defRPr>
            </a:pPr>
            <a:r>
              <a:t>• A write fault can cause the kernel to create a private copy for the writer and update its mapping. [ R15 ]</a:t>
            </a:r>
          </a:p>
          <a:p>
            <a:pPr>
              <a:spcAft>
                <a:spcPts val="1100"/>
              </a:spcAft>
              <a:defRPr sz="1900">
                <a:solidFill>
                  <a:srgbClr val="F2F5F8"/>
                </a:solidFill>
              </a:defRPr>
            </a:pPr>
            <a:r>
              <a:t>• A physical copy is not mandatory in every write-fault case.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26.5 Copy-on-write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physical copy is not mandatory in every write-fault case.</a:t>
            </a:r>
          </a:p>
          <a:p>
            <a:pPr>
              <a:spcAft>
                <a:spcPts val="1100"/>
              </a:spcAft>
              <a:defRPr sz="1700">
                <a:solidFill>
                  <a:srgbClr val="F2F5F8"/>
                </a:solidFill>
              </a:defRPr>
            </a:pPr>
            <a:r>
              <a:t>• If the kernel determines that the backing is no longer shared in a way requiring separation, it may be able to make the page writable without copying.</a:t>
            </a:r>
          </a:p>
          <a:p>
            <a:pPr>
              <a:spcAft>
                <a:spcPts val="1100"/>
              </a:spcAft>
              <a:defRPr sz="1900">
                <a:solidFill>
                  <a:srgbClr val="F2F5F8"/>
                </a:solidFill>
              </a:defRPr>
            </a:pPr>
            <a:r>
              <a:t>• The semantic guarantee is private modification, not a promise that every store invokes a particular copying algorithm.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model of private modification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following model uses immutable Python bytes as initial shared content and returns a new object when a private writer changes a byte.</a:t>
            </a:r>
          </a:p>
          <a:p>
            <a:pPr>
              <a:spcAft>
                <a:spcPts val="1100"/>
              </a:spcAft>
              <a:defRPr sz="1700">
                <a:solidFill>
                  <a:srgbClr val="F2F5F8"/>
                </a:solidFill>
              </a:defRPr>
            </a:pPr>
            <a:r>
              <a:t>• It demonstrates the observable contract of copy-on-write; it does not claim to implement page tables or reproduce the kernel’s physical allocation decisions.</a:t>
            </a:r>
          </a:p>
          <a:p>
            <a:pPr>
              <a:spcAft>
                <a:spcPts val="1100"/>
              </a:spcAft>
              <a:defRPr sz="1900">
                <a:solidFill>
                  <a:srgbClr val="F2F5F8"/>
                </a:solidFill>
              </a:defRPr>
            </a:pPr>
            <a:r>
              <a:t>• Companion listing: ch26/cow_model.py</a:t>
            </a:r>
          </a:p>
          <a:p>
            <a:pPr>
              <a:spcAft>
                <a:spcPts val="1100"/>
              </a:spcAft>
              <a:defRPr sz="1900">
                <a:solidFill>
                  <a:srgbClr val="F2F5F8"/>
                </a:solidFill>
              </a:defRPr>
            </a:pPr>
            <a:r>
              <a:t>• The expected output is ABCD AXCD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model of private modification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ch26/cow_model.py</a:t>
            </a:r>
          </a:p>
          <a:p>
            <a:pPr>
              <a:spcAft>
                <a:spcPts val="1100"/>
              </a:spcAft>
              <a:defRPr sz="1900">
                <a:solidFill>
                  <a:srgbClr val="F2F5F8"/>
                </a:solidFill>
              </a:defRPr>
            </a:pPr>
            <a:r>
              <a:t>• The expected output is ABCD AXCD .</a:t>
            </a:r>
          </a:p>
          <a:p>
            <a:pPr>
              <a:spcAft>
                <a:spcPts val="1100"/>
              </a:spcAft>
              <a:defRPr sz="1700">
                <a:solidFill>
                  <a:srgbClr val="F2F5F8"/>
                </a:solidFill>
              </a:defRPr>
            </a:pPr>
            <a:r>
              <a:t>• The model copies the entire small object for every store, which is deliberately simpler than a page-based implementation.</a:t>
            </a:r>
          </a:p>
          <a:p>
            <a:pPr>
              <a:spcAft>
                <a:spcPts val="1100"/>
              </a:spcAft>
              <a:defRPr sz="1700">
                <a:solidFill>
                  <a:srgbClr val="F2F5F8"/>
                </a:solidFill>
              </a:defRPr>
            </a:pPr>
            <a:r>
              <a:t>• Its value is that the ownership and visibility contract can be checked without relying on process scheduling or privileged inspection.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Demand-zero allocation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may reserve a new virtual page without immediately receiving a physical frame.</a:t>
            </a:r>
          </a:p>
          <a:p>
            <a:pPr>
              <a:spcAft>
                <a:spcPts val="1100"/>
              </a:spcAft>
              <a:defRPr sz="1900">
                <a:solidFill>
                  <a:srgbClr val="F2F5F8"/>
                </a:solidFill>
              </a:defRPr>
            </a:pPr>
            <a:r>
              <a:t>• The first write faults because no frame is present.</a:t>
            </a:r>
          </a:p>
          <a:p>
            <a:pPr>
              <a:spcAft>
                <a:spcPts val="1100"/>
              </a:spcAft>
              <a:defRPr sz="1900">
                <a:solidFill>
                  <a:srgbClr val="F2F5F8"/>
                </a:solidFill>
              </a:defRPr>
            </a:pPr>
            <a:r>
              <a:t>• The kernel allocates a zeroed frame, installs a writable mapping, and restarts the instruction.</a:t>
            </a:r>
          </a:p>
          <a:p>
            <a:pPr>
              <a:spcAft>
                <a:spcPts val="1100"/>
              </a:spcAft>
              <a:defRPr sz="1900">
                <a:solidFill>
                  <a:srgbClr val="F2F5F8"/>
                </a:solidFill>
              </a:defRPr>
            </a:pPr>
            <a:r>
              <a:t>• The application experiences ordinary memory semantics while physical allocation is deferred until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Demand-zero allocation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may reserve a new virtual page without immediately receiving a physical frame.</a:t>
            </a:r>
          </a:p>
          <a:p>
            <a:pPr>
              <a:spcAft>
                <a:spcPts val="1100"/>
              </a:spcAft>
              <a:defRPr sz="1900">
                <a:solidFill>
                  <a:srgbClr val="F2F5F8"/>
                </a:solidFill>
              </a:defRPr>
            </a:pPr>
            <a:r>
              <a:t>• The first write faults because no frame is present.</a:t>
            </a:r>
          </a:p>
          <a:p>
            <a:pPr>
              <a:spcAft>
                <a:spcPts val="1100"/>
              </a:spcAft>
              <a:defRPr sz="1900">
                <a:solidFill>
                  <a:srgbClr val="F2F5F8"/>
                </a:solidFill>
              </a:defRPr>
            </a:pPr>
            <a:r>
              <a:t>• The kernel allocates a zeroed frame, installs a writable mapping, and restarts the instruction.</a:t>
            </a:r>
          </a:p>
          <a:p>
            <a:pPr>
              <a:spcAft>
                <a:spcPts val="1100"/>
              </a:spcAft>
              <a:defRPr sz="1900">
                <a:solidFill>
                  <a:srgbClr val="F2F5F8"/>
                </a:solidFill>
              </a:defRPr>
            </a:pPr>
            <a:r>
              <a:t>• The application experiences ordinary memory semantics while physical allocation is deferred until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Copy-on-write after fork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fork , parent and child can initially map the same physical page read-only.</a:t>
            </a:r>
          </a:p>
          <a:p>
            <a:pPr>
              <a:spcAft>
                <a:spcPts val="1100"/>
              </a:spcAft>
              <a:defRPr sz="1700">
                <a:solidFill>
                  <a:srgbClr val="F2F5F8"/>
                </a:solidFill>
              </a:defRPr>
            </a:pPr>
            <a:r>
              <a:t>• If the child writes it, a protection fault lets the kernel allocate a private copy, copy the original contents, and remap the child’s page writable.</a:t>
            </a:r>
          </a:p>
          <a:p>
            <a:pPr>
              <a:spcAft>
                <a:spcPts val="1100"/>
              </a:spcAft>
              <a:defRPr sz="1900">
                <a:solidFill>
                  <a:srgbClr val="F2F5F8"/>
                </a:solidFill>
              </a:defRPr>
            </a:pPr>
            <a:r>
              <a:t>• The parent’s mapping still references the original frame.</a:t>
            </a:r>
          </a:p>
          <a:p>
            <a:pPr>
              <a:spcAft>
                <a:spcPts val="1100"/>
              </a:spcAft>
              <a:defRPr sz="1900">
                <a:solidFill>
                  <a:srgbClr val="F2F5F8"/>
                </a:solidFill>
              </a:defRPr>
            </a:pPr>
            <a:r>
              <a:t>• Copying is paid only for pages actually modified.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Copy-on-write after fork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fork , parent and child can initially map the same physical page read-only.</a:t>
            </a:r>
          </a:p>
          <a:p>
            <a:pPr>
              <a:spcAft>
                <a:spcPts val="1100"/>
              </a:spcAft>
              <a:defRPr sz="1700">
                <a:solidFill>
                  <a:srgbClr val="F2F5F8"/>
                </a:solidFill>
              </a:defRPr>
            </a:pPr>
            <a:r>
              <a:t>• If the child writes it, a protection fault lets the kernel allocate a private copy, copy the original contents, and remap the child’s page writable.</a:t>
            </a:r>
          </a:p>
          <a:p>
            <a:pPr>
              <a:spcAft>
                <a:spcPts val="1100"/>
              </a:spcAft>
              <a:defRPr sz="1900">
                <a:solidFill>
                  <a:srgbClr val="F2F5F8"/>
                </a:solidFill>
              </a:defRPr>
            </a:pPr>
            <a:r>
              <a:t>• The parent’s mapping still references the original frame.</a:t>
            </a:r>
          </a:p>
          <a:p>
            <a:pPr>
              <a:spcAft>
                <a:spcPts val="1100"/>
              </a:spcAft>
              <a:defRPr sz="1900">
                <a:solidFill>
                  <a:srgbClr val="F2F5F8"/>
                </a:solidFill>
              </a:defRPr>
            </a:pPr>
            <a:r>
              <a:t>• Copying is paid only for pages actually modified.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26.</a:t>
            </a:r>
          </a:p>
          <a:p>
            <a:pPr>
              <a:spcAft>
                <a:spcPts val="1100"/>
              </a:spcAft>
              <a:defRPr sz="1700">
                <a:solidFill>
                  <a:srgbClr val="F2F5F8"/>
                </a:solidFill>
              </a:defRPr>
            </a:pPr>
            <a:r>
              <a:t>• Extend the model with a second child and verify that writing in one child changes neither the parent nor the other child.</a:t>
            </a:r>
          </a:p>
          <a:p>
            <a:pPr>
              <a:spcAft>
                <a:spcPts val="1100"/>
              </a:spcAft>
              <a:defRPr sz="1900">
                <a:solidFill>
                  <a:srgbClr val="F2F5F8"/>
                </a:solidFill>
              </a:defRPr>
            </a:pPr>
            <a:r>
              <a:t>• Add boundary tests for index -1 , index equal to the size, and byte value 256 .</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Is every page fault evidence of a bug?</a:t>
            </a:r>
          </a:p>
          <a:p>
            <a:pPr>
              <a:spcAft>
                <a:spcPts val="1100"/>
              </a:spcAft>
              <a:defRPr sz="1900">
                <a:solidFill>
                  <a:srgbClr val="F2F5F8"/>
                </a:solidFill>
              </a:defRPr>
            </a:pPr>
            <a:r>
              <a:t>• Review 2.</a:t>
            </a:r>
          </a:p>
          <a:p>
            <a:pPr>
              <a:spcAft>
                <a:spcPts val="1100"/>
              </a:spcAft>
              <a:defRPr sz="1900">
                <a:solidFill>
                  <a:srgbClr val="F2F5F8"/>
                </a:solidFill>
              </a:defRPr>
            </a:pPr>
            <a:r>
              <a:t>• Does every page fault require a disk read?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page faults.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 Hierarchy.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26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