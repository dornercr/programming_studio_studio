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 Chapter 18 — Compiler Optimizations</a:t>
            </a:r>
          </a:p>
          <a:p/>
          <a:p>
            <a:r>
              <a:t>LECTURE NARRATION</a:t>
            </a:r>
          </a:p>
          <a:p>
            <a:r>
              <a:t>Optimization changes an implementation while preserving the behavior required by the language and selected compilation model. It is not a promise to preserve every intermediate variable or source-level step. The strongest optimizations often come from proving that work is unnecessary, not from choosing a faster instruction for the same work.</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optimization changes an implementation while preserving the behavior required by the language and selected compilation model.</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What This Chapter Builds</a:t>
            </a:r>
          </a:p>
          <a:p/>
          <a:p>
            <a:r>
              <a:t>LECTURE NARRATION</a:t>
            </a:r>
          </a:p>
          <a:p>
            <a:r>
              <a:t>Optimization changes an implementation while preserving the behavior required by the language and selected compilation model. It is not a promise to preserve every intermediate variable or source-level step. The strongest optimizations often come from proving that work is unnecessary, not from choosing a faster instruction for the same work.</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optimization changes an implementation while preserving the behavior required by the language and selected compilation model.</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Chapter Roadmap</a:t>
            </a:r>
          </a:p>
          <a:p/>
          <a:p>
            <a:r>
              <a:t>LECTURE NARRATION</a:t>
            </a:r>
          </a:p>
          <a:p>
            <a:r>
              <a:t>18.1 Inlining 18.2 Constant folding 18.3 Dead-code elimination 18.4 Common-subexpression elimination ...plus 11 additional source topics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18.1 Inlining 18.2 Constant folding 18.3 Dead-code elimination 18.4 Common-subexpression elimination ...plus 11 additional source topics</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18.1 Inlining</a:t>
            </a:r>
          </a:p>
          <a:p/>
          <a:p>
            <a:r>
              <a:t>LECTURE NARRATION</a:t>
            </a:r>
          </a:p>
          <a:p>
            <a:r>
              <a:t>Inlining replaces a call boundary with the callee’s operations in the caller’s optimization context. It can remove call overhead and expose constants, dead branches, and redundant work. The inline keyword in C++ has important language linkage and definition rules; it is not a command forcing machine-code substitution. Inlining can increase code size and instruction-cache pressure. A small frequently used helper may benefit, while duplicating a large cold path may hurt. Let measurement and compiler diagnostics guide the decision. The best result can be a mixture of inlined hot paths and shared out-of-line slow paths.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inlining replaces a call boundary with the callee’s operations in the caller’s optimization context.</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18.1 Inlining — Deep Dive</a:t>
            </a:r>
          </a:p>
          <a:p/>
          <a:p>
            <a:r>
              <a:t>LECTURE NARRATION</a:t>
            </a:r>
          </a:p>
          <a:p>
            <a:r>
              <a:t>Inlining replaces a call boundary with the callee’s operations in the caller’s optimization context. It can remove call overhead and expose constants, dead branches, and redundant work. The inline keyword in C++ has important language linkage and definition rules; it is not a command forcing machine-code substitution. Inlining can increase code size and instruction-cache pressure. A small frequently used helper may benefit, while duplicating a large cold path may hurt. Let measurement and compiler diagnostics guide the decision. The best result can be a mixture of inlined hot paths and shared out-of-line slow paths.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inlining replaces a call boundary with the callee’s operations in the caller’s optimization context.</a:t>
            </a:r>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18.2 Constant folding</a:t>
            </a:r>
          </a:p>
          <a:p/>
          <a:p>
            <a:r>
              <a:t>LECTURE NARRATION</a:t>
            </a:r>
          </a:p>
          <a:p>
            <a:r>
              <a:t>Constant folding evaluates expressions whose values are known during translation. A fixed arithmetic expression can become a literal, and a condition based on a known constant can select one path before runtime. The expression must still be meaningful under the language’s rules. A compiler is not required to preserve a runtime-looking overflow merely because the programmer wrote it as a sequence of constants. Use appropriately typed constants and checked compile-time expressions when limits matter. Compile-time calculation reduces runtime work but does not remove semantic obligations.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constant folding evaluates expressions whose values are known during translation.</a:t>
            </a:r>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18.2 Constant folding — Deep Dive</a:t>
            </a:r>
          </a:p>
          <a:p/>
          <a:p>
            <a:r>
              <a:t>LECTURE NARRATION</a:t>
            </a:r>
          </a:p>
          <a:p>
            <a:r>
              <a:t>Constant folding evaluates expressions whose values are known during translation. A fixed arithmetic expression can become a literal, and a condition based on a known constant can select one path before runtime. The expression must still be meaningful under the language’s rules. A compiler is not required to preserve a runtime-looking overflow merely because the programmer wrote it as a sequence of constants. Use appropriately typed constants and checked compile-time expressions when limits matter. Compile-time calculation reduces runtime work but does not remove semantic obligations.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constant folding evaluates expressions whose values are known during translation.</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18.3 Dead-code elimination</a:t>
            </a:r>
          </a:p>
          <a:p/>
          <a:p>
            <a:r>
              <a:t>LECTURE NARRATION</a:t>
            </a:r>
          </a:p>
          <a:p>
            <a:r>
              <a:t>Dead-code elimination removes operations whose results cannot affect required observable behavior. An unused local calculation may disappear completely. A benchmark that computes a value and never uses it can therefore measure almost no intended work. Make benchmark results observable through a legitimate output or comparison outside the timed region. Do not indiscriminately mark all data volatile; that changes the workload and can block useful optimization. The goal is to preserve the operation being measured without introducing a different memory-access contract.</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dead-code elimination removes operations whose results cannot affect required observable behavior.</a:t>
            </a:r>
          </a:p>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18.3 Dead-code elimination — Deep Dive</a:t>
            </a:r>
          </a:p>
          <a:p/>
          <a:p>
            <a:r>
              <a:t>LECTURE NARRATION</a:t>
            </a:r>
          </a:p>
          <a:p>
            <a:r>
              <a:t>Dead-code elimination removes operations whose results cannot affect required observable behavior. An unused local calculation may disappear completely. A benchmark that computes a value and never uses it can therefore measure almost no intended work. Make benchmark results observable through a legitimate output or comparison outside the timed region. Do not indiscriminately mark all data volatile; that changes the workload and can block useful optimization. The goal is to preserve the operation being measured without introducing a different memory-access contract.</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dead-code elimination removes operations whose results cannot affect required observable behavior.</a:t>
            </a:r>
          </a:p>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18.4 Common-subexpression elimination</a:t>
            </a:r>
          </a:p>
          <a:p/>
          <a:p>
            <a:r>
              <a:t>LECTURE NARRATION</a:t>
            </a:r>
          </a:p>
          <a:p>
            <a:r>
              <a:t>When the compiler can prove that an expression has the same value at several points, it may compute it once and reuse the result. The proof depends on whether intervening operations can change its inputs, including memory reachable through aliases. Two identical-looking loads are not necessarily redundant if another operation can modify the location. Conversely, two differently written expressions may be equivalent after simplification. Help the compiler with clear ownership, const-correct interfaces, and limited aliasing rather than duplicating manual caches whose validity is difficult to maintain.</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when the compiler can prove that an expression has the same value at several points, it may compute it once and reuse the result.</a:t>
            </a:r>
          </a:p>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18.4 Common-subexpression elimination — Deep Dive</a:t>
            </a:r>
          </a:p>
          <a:p/>
          <a:p>
            <a:r>
              <a:t>LECTURE NARRATION</a:t>
            </a:r>
          </a:p>
          <a:p>
            <a:r>
              <a:t>When the compiler can prove that an expression has the same value at several points, it may compute it once and reuse the result. The proof depends on whether intervening operations can change its inputs, including memory reachable through aliases. Two identical-looking loads are not necessarily redundant if another operation can modify the location. Conversely, two differently written expressions may be equivalent after simplification. Help the compiler with clear ownership, const-correct interfaces, and limited aliasing rather than duplicating manual caches whose validity is difficult to maintain.</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when the compiler can prove that an expression has the same value at several points, it may compute it once and reuse the result.</a:t>
            </a:r>
          </a:p>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18.5 Loop unrolling</a:t>
            </a:r>
          </a:p>
          <a:p/>
          <a:p>
            <a:r>
              <a:t>LECTURE NARRATION</a:t>
            </a:r>
          </a:p>
          <a:p>
            <a:r>
              <a:t>Unrolling repeats the loop body several times per control iteration. It can reduce branch overhead and expose independent work, but it increases code size and requires a remainder path when the element count is not a multiple of the unroll factor. A correct unrolled loop handles zero elements and the final partial group without reading past the range. Performance can worsen if extra code strains instruction storage or register allocation. Unrolling is a transformation to evaluate, not a universal improvement. Vectorization and memory bandwidth may dominate the outcome.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unrolling repeats the loop body several times per control iteration.</a:t>
            </a:r>
          </a:p>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18.5 Loop unrolling — Deep Dive</a:t>
            </a:r>
          </a:p>
          <a:p/>
          <a:p>
            <a:r>
              <a:t>LECTURE NARRATION</a:t>
            </a:r>
          </a:p>
          <a:p>
            <a:r>
              <a:t>Unrolling repeats the loop body several times per control iteration. It can reduce branch overhead and expose independent work, but it increases code size and requires a remainder path when the element count is not a multiple of the unroll factor. A correct unrolled loop handles zero elements and the final partial group without reading past the range. Performance can worsen if extra code strains instruction storage or register allocation. Unrolling is a transformation to evaluate, not a universal improvement. Vectorization and memory bandwidth may dominate the outcome.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unrolling repeats the loop body several times per control iteration.</a:t>
            </a:r>
          </a:p>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14: 18.6 Tail-call optimization</a:t>
            </a:r>
          </a:p>
          <a:p/>
          <a:p>
            <a:r>
              <a:t>LECTURE NARRATION</a:t>
            </a:r>
          </a:p>
          <a:p>
            <a:r>
              <a:t>A call in tail position can sometimes reuse the current function’s frame rather than creating another active frame. This can turn some recursion into constant-stack iteration. Language cleanup requirements, ABI constraints, and compiler choices determine whether the transformation is possible. A local object requiring destruction after the call can prevent a simple tail transfer. Debugging options or calling-convention differences can also matter. Do not use a recursive algorithm with unbounded depth on the assumption that a compiler will always optimize it into a loop. Establish the resource bound independently.</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First make the program correct, then measure where time is really being spent before trying to make it faster.</a:t>
            </a:r>
          </a:p>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15: 18.6 Tail-call optimization — Deep Dive</a:t>
            </a:r>
          </a:p>
          <a:p/>
          <a:p>
            <a:r>
              <a:t>LECTURE NARRATION</a:t>
            </a:r>
          </a:p>
          <a:p>
            <a:r>
              <a:t>A call in tail position can sometimes reuse the current function’s frame rather than creating another active frame. This can turn some recursion into constant-stack iteration. Language cleanup requirements, ABI constraints, and compiler choices determine whether the transformation is possible. A local object requiring destruction after the call can prevent a simple tail transfer. Debugging options or calling-convention differences can also matter. Do not use a recursive algorithm with unbounded depth on the assumption that a compiler will always optimize it into a loop. Establish the resource bound independently.</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First make the program correct, then measure where time is really being spent before trying to make it faster.</a:t>
            </a:r>
          </a:p>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16: 18.7 Strength reduction</a:t>
            </a:r>
          </a:p>
          <a:p/>
          <a:p>
            <a:r>
              <a:t>LECTURE NARRATION</a:t>
            </a:r>
          </a:p>
          <a:p>
            <a:r>
              <a:t>Strength reduction replaces an operation with an equivalent cheaper sequence in the relevant context. Multiplication by a constant might become shifts and adds, or a loop might update a pointer incrementally instead of recomputing an index product. The “cheaper” operation depends on the target. Modern processors can multiply efficiently, while a longer shift-add sequence may create more dependencies. Signed division transformations also need correct rounding for negative values. Prefer clear source and inspect generated code before manually encoding a transformation whose benefit may have disappeared on the target machine.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strength reduction replaces an operation with an equivalent cheaper sequence in the relevant context.</a:t>
            </a:r>
          </a:p>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17: 18.7 Strength reduction — Deep Dive</a:t>
            </a:r>
          </a:p>
          <a:p/>
          <a:p>
            <a:r>
              <a:t>LECTURE NARRATION</a:t>
            </a:r>
          </a:p>
          <a:p>
            <a:r>
              <a:t>Strength reduction replaces an operation with an equivalent cheaper sequence in the relevant context. Multiplication by a constant might become shifts and adds, or a loop might update a pointer incrementally instead of recomputing an index product. The “cheaper” operation depends on the target. Modern processors can multiply efficiently, while a longer shift-add sequence may create more dependencies. Signed division transformations also need correct rounding for negative values. Prefer clear source and inspect generated code before manually encoding a transformation whose benefit may have disappeared on the target machine.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strength reduction replaces an operation with an equivalent cheaper sequence in the relevant context.</a:t>
            </a:r>
          </a:p>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18: 18.8 Arithmetic transformations</a:t>
            </a:r>
          </a:p>
          <a:p/>
          <a:p>
            <a:r>
              <a:t>LECTURE NARRATION</a:t>
            </a:r>
          </a:p>
          <a:p>
            <a:r>
              <a:t>Integer and floating-point transformations obey different algebraic freedoms. Unsigned arithmetic has modular identities. Signed arithmetic can be transformed under the assumption that defined executions do not overflow. Floating-point addition is generally not associative because rounding depends on evaluation order. Options that permit reassociation or disregard special values change the numerical contract. A faster result under such options is not automatically an equivalent result for every input. Document any relaxed arithmetic assumptions, including finite-only inputs, acceptable error, and reproducibility requirements. [ R2 ]</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integer and floating-point transformations obey different algebraic freedoms.</a:t>
            </a:r>
          </a:p>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19: 18.8 Arithmetic transformations — Deep Dive</a:t>
            </a:r>
          </a:p>
          <a:p/>
          <a:p>
            <a:r>
              <a:t>LECTURE NARRATION</a:t>
            </a:r>
          </a:p>
          <a:p>
            <a:r>
              <a:t>Integer and floating-point transformations obey different algebraic freedoms. Unsigned arithmetic has modular identities. Signed arithmetic can be transformed under the assumption that defined executions do not overflow. Floating-point addition is generally not associative because rounding depends on evaluation order. Options that permit reassociation or disregard special values change the numerical contract. A faster result under such options is not automatically an equivalent result for every input. Document any relaxed arithmetic assumptions, including finite-only inputs, acceptable error, and reproducibility requirements. [ R2 ]</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integer and floating-point transformations obey different algebraic freedoms.</a:t>
            </a:r>
          </a:p>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20: 18.9 Aliasing restrictions</a:t>
            </a:r>
          </a:p>
          <a:p/>
          <a:p>
            <a:r>
              <a:t>LECTURE NARRATION</a:t>
            </a:r>
          </a:p>
          <a:p>
            <a:r>
              <a:t>Aliasing limits which memory operations can move past one another or reuse loaded values. C’s restrict qualifier is a promise about access relationships during a particular execution region, not a runtime check. Standard C++20 does not have a directly identical core-language restrict keyword, though compilers provide extensions. An incorrect non-aliasing promise can make an otherwise plausible loop undefined or miscompiled relative to the programmer’s intent. Use it only when the API actually excludes overlapping access patterns. The performance opportunity comes from a true invariant; annotations cannot manufacture that invariant.</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aliasing limits which memory operations can move past one another or reuse loaded values.</a:t>
            </a:r>
          </a:p>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21: 18.9 Aliasing restrictions — Deep Dive</a:t>
            </a:r>
          </a:p>
          <a:p/>
          <a:p>
            <a:r>
              <a:t>LECTURE NARRATION</a:t>
            </a:r>
          </a:p>
          <a:p>
            <a:r>
              <a:t>Aliasing limits which memory operations can move past one another or reuse loaded values. C’s restrict qualifier is a promise about access relationships during a particular execution region, not a runtime check. Standard C++20 does not have a directly identical core-language restrict keyword, though compilers provide extensions. An incorrect non-aliasing promise can make an otherwise plausible loop undefined or miscompiled relative to the programmer’s intent. Use it only when the API actually excludes overlapping access patterns. The performance opportunity comes from a true invariant; annotations cannot manufacture that invariant.</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aliasing limits which memory operations can move past one another or reuse loaded values.</a:t>
            </a:r>
          </a:p>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22: 18.10 Optimization barriers</a:t>
            </a:r>
          </a:p>
          <a:p/>
          <a:p>
            <a:r>
              <a:t>LECTURE NARRATION</a:t>
            </a:r>
          </a:p>
          <a:p>
            <a:r>
              <a:t>A barrier limits particular transformations. Volatile access, compiler-specific assembly constraints, atomic operations, and external calls can impose different restrictions, but they are not interchangeable. A compiler barrier need not be a hardware memory fence, and a hardware fence needs a correct language-level interface. volatile is not a thread-synchronization mechanism. It serves specific observable-access roles, including some device interfaces under implementation rules. For concurrent application state, use atomics and synchronization primitives. For benchmarking, use a narrowly justified technique rather than disabling the optimizer across the entire workload.</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First make the program correct, then measure where time is really being spent before trying to make it faster.</a:t>
            </a:r>
          </a:p>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23: 18.10 Optimization barriers — Deep Dive</a:t>
            </a:r>
          </a:p>
          <a:p/>
          <a:p>
            <a:r>
              <a:t>LECTURE NARRATION</a:t>
            </a:r>
          </a:p>
          <a:p>
            <a:r>
              <a:t>A barrier limits particular transformations. Volatile access, compiler-specific assembly constraints, atomic operations, and external calls can impose different restrictions, but they are not interchangeable. A compiler barrier need not be a hardware memory fence, and a hardware fence needs a correct language-level interface. volatile is not a thread-synchronization mechanism. It serves specific observable-access roles, including some device interfaces under implementation rules. For concurrent application state, use atomics and synchronization primitives. For benchmarking, use a narrowly justified technique rather than disabling the optimizer across the entire workload.</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First make the program correct, then measure where time is really being spent before trying to make it faster.</a:t>
            </a:r>
          </a:p>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24: 18.11 The as-if rule</a:t>
            </a:r>
          </a:p>
          <a:p/>
          <a:p>
            <a:r>
              <a:t>LECTURE NARRATION</a:t>
            </a:r>
          </a:p>
          <a:p>
            <a:r>
              <a:t>The as-if principle allows any implementation that preserves the program’s required observable behavior. A variable can disappear, operations can combine, and a loop can become a constant when the result is known. The preserved behavior is defined by the language and relevant options, not by the programmer’s expectation of a one-to-one translation. Undefined behavior undermines the premise on which source-level reasoning depends. Optimization is therefore a reason to be more precise about validity, not a reason to avoid optimization. A well-defined program should remain correct across optimization levels even when its instructions and timing change substantially.</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the as-if principle allows any implementation that preserves the program’s required observable behavior.</a:t>
            </a:r>
          </a:p>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25: 18.11 The as-if rule — Deep Dive</a:t>
            </a:r>
          </a:p>
          <a:p/>
          <a:p>
            <a:r>
              <a:t>LECTURE NARRATION</a:t>
            </a:r>
          </a:p>
          <a:p>
            <a:r>
              <a:t>The as-if principle allows any implementation that preserves the program’s required observable behavior. A variable can disappear, operations can combine, and a loop can become a constant when the result is known. The preserved behavior is defined by the language and relevant options, not by the programmer’s expectation of a one-to-one translation. Undefined behavior undermines the premise on which source-level reasoning depends. Optimization is therefore a reason to be more precise about validity, not a reason to avoid optimization. A well-defined program should remain correct across optimization levels even when its instructions and timing change substantially.</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the as-if principle allows any implementation that preserves the program’s required observable behavior.</a:t>
            </a:r>
          </a:p>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26: Worked example — Optimizing a known-length calculation</a:t>
            </a:r>
          </a:p>
          <a:p/>
          <a:p>
            <a:r>
              <a:t>LECTURE NARRATION</a:t>
            </a:r>
          </a:p>
          <a:p>
            <a:r>
              <a:t>The requirement is to compute sum(3*x[i] + 1) for a bounded unsigned sequence. The source makes the arithmetic domain explicit and returns the result so it remains observable. Companion listing: ch18/transform.cpp At low optimization, the output may show an explicit loop, repeated address calculations, and a function call. At higher optimization, the compiler may inline the function, unroll or vectorize the loop, or compute the final constant because all inputs are known. Each implementation can be correct because the required result is 64. For a meaningful runtime benchmark, use runtime-supplied data with controlled size and make the final result observable outside the timed loop. Do not conclude that one optimization level has achieved an extraordinary per-element speed if the compiler has removed the per-element work entirely.</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the requirement is to compute sum(3*x[i] + 1) for a bounded unsigned sequence.</a:t>
            </a:r>
          </a:p>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27: Worked example — Optimizing a known-length calculation — Deep Dive</a:t>
            </a:r>
          </a:p>
          <a:p/>
          <a:p>
            <a:r>
              <a:t>LECTURE NARRATION</a:t>
            </a:r>
          </a:p>
          <a:p>
            <a:r>
              <a:t>The requirement is to compute sum(3*x[i] + 1) for a bounded unsigned sequence. The source makes the arithmetic domain explicit and returns the result so it remains observable. Companion listing: ch18/transform.cpp At low optimization, the output may show an explicit loop, repeated address calculations, and a function call. At higher optimization, the compiler may inline the function, unroll or vectorize the loop, or compute the final constant because all inputs are known. Each implementation can be correct because the required result is 64. For a meaningful runtime benchmark, use runtime-supplied data with controlled size and make the final result observable outside the timed loop. Do not conclude that one optimization level has achieved an extraordinary per-element speed if the compiler has removed the per-element work entirely.</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the requirement is to compute sum(3*x[i] + 1) for a bounded unsigned sequence.</a:t>
            </a:r>
          </a:p>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28: Worked example — Constant folding and dead code</a:t>
            </a:r>
          </a:p>
          <a:p/>
          <a:p>
            <a:r>
              <a:t>LECTURE NARRATION</a:t>
            </a:r>
          </a:p>
          <a:p>
            <a:r>
              <a:t>For int x = 4 × 8; if (0) use(x); , an optimizing compiler can replace the multiplication with constant 32 and remove the unreachable branch entirely. These transformations are legal because no permitted observation changes. Debug builds may retain more structure, so source-to-assembly correspondence depends strongly on optimization settings.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for int x = 4 × 8; if (0) use(x); , an optimizing compiler can replace the multiplication with constant 32 and remove the unreachable branch entirely.</a:t>
            </a:r>
          </a:p>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29: Worked example — Constant folding and dead code — Deep Dive</a:t>
            </a:r>
          </a:p>
          <a:p/>
          <a:p>
            <a:r>
              <a:t>LECTURE NARRATION</a:t>
            </a:r>
          </a:p>
          <a:p>
            <a:r>
              <a:t>For int x = 4 × 8; if (0) use(x); , an optimizing compiler can replace the multiplication with constant 32 and remove the unreachable branch entirely. These transformations are legal because no permitted observation changes. Debug builds may retain more structure, so source-to-assembly correspondence depends strongly on optimization settings.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for int x = 4 × 8; if (0) use(x); , an optimizing compiler can replace the multiplication with constant 32 and remove the unreachable branch entirely.</a:t>
            </a:r>
          </a:p>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30: Worked example — Aliasing blocks a load elimination</a:t>
            </a:r>
          </a:p>
          <a:p/>
          <a:p>
            <a:r>
              <a:t>LECTURE NARRATION</a:t>
            </a:r>
          </a:p>
          <a:p>
            <a:r>
              <a:t>Consider *p = 5; x = *q; . If p and q may alias, the store through p can affect the load through q . The compiler cannot generally replace the load with a previously known value of *q . Proving non-aliasing creates optimization freedom, but the proof must follow language and ABI rules.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consider *p = 5; x = *q; .</a:t>
            </a:r>
          </a:p>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31: Worked example — Aliasing blocks a load elimination — Deep Dive</a:t>
            </a:r>
          </a:p>
          <a:p/>
          <a:p>
            <a:r>
              <a:t>LECTURE NARRATION</a:t>
            </a:r>
          </a:p>
          <a:p>
            <a:r>
              <a:t>Consider *p = 5; x = *q; . If p and q may alias, the store through p can affect the load through q . The compiler cannot generally replace the load with a previously known value of *q . Proving non-aliasing creates optimization freedom, but the proof must follow language and ABI rules.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consider *p = 5; x = *q; .</a:t>
            </a:r>
          </a:p>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32: Guided lab and review</a:t>
            </a:r>
          </a:p>
          <a:p/>
          <a:p>
            <a:r>
              <a:t>LECTURE NARRATION</a:t>
            </a:r>
          </a:p>
          <a:p>
            <a:r>
              <a:t>Lab 18. Generate assembly at -O0 , -O2 , and -O3 . Repeat with input values supplied at runtime. Identify which transformations are supported by the actual output and distinguish them from guesses based only on the flag name. Review 1. Why can inlining enable constant folding beyond removing a call? Review 2. Why is volatile not a substitute for a mutex or an atomic variable?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lab 18.</a:t>
            </a:r>
          </a:p>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33: Guided lab and review — Deep Dive</a:t>
            </a:r>
          </a:p>
          <a:p/>
          <a:p>
            <a:r>
              <a:t>LECTURE NARRATION</a:t>
            </a:r>
          </a:p>
          <a:p>
            <a:r>
              <a:t>Lab 18. Generate assembly at -O0 , -O2 , and -O3 . Repeat with input values supplied at runtime. Identify which transformations are supported by the actual output and distinguish them from guesses based only on the flag name. Review 1. Why can inlining enable constant folding beyond removing a call? Review 2. Why is volatile not a substitute for a mutex or an atomic variable?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lab 18.</a:t>
            </a:r>
          </a:p>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34: Chapter Synthesis</a:t>
            </a:r>
          </a:p>
          <a:p/>
          <a:p>
            <a:r>
              <a:t>LECTURE NARRATION</a:t>
            </a:r>
          </a:p>
          <a:p>
            <a:r>
              <a:t>The chapter's central subject is compiler optimizations. Correct reasoning requires explicit assumptions, bounds, ownership, and interface contracts. Observed behavior is evidence about a run; it is not automatically a language or system guarantee. Use the worked examples and lab to test whether the model transfers to new cases.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the chapter's central subject is compiler optimizations.</a:t>
            </a:r>
          </a:p>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35: Review and Transition</a:t>
            </a:r>
          </a:p>
          <a:p/>
          <a:p>
            <a:r>
              <a:t>LECTURE NARRATION</a:t>
            </a:r>
          </a:p>
          <a:p>
            <a:r>
              <a:t>Explain one mechanism from the chapter without relying on vocabulary alone. Identify one failure mode and the violated contract or invariant. State what evidence would support your diagnosis and what it would not prove. Next: Kernel Fundamentals.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explain one mechanism from the chapter without relying on vocabulary alone.</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Chapter 18 — Compiler Optimizations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GRADUATE LECTURE</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Optimization changes an implementation while preserving the behavior required by the language and selected compilation model.</a:t>
            </a:r>
          </a:p>
          <a:p>
            <a:pPr>
              <a:spcAft>
                <a:spcPts val="1100"/>
              </a:spcAft>
              <a:defRPr sz="1900">
                <a:solidFill>
                  <a:srgbClr val="F2F5F8"/>
                </a:solidFill>
              </a:defRPr>
            </a:pPr>
            <a:r>
              <a:t>• It is not a promise to preserve every intermediate variable or source-level step.</a:t>
            </a:r>
          </a:p>
          <a:p>
            <a:pPr>
              <a:spcAft>
                <a:spcPts val="1100"/>
              </a:spcAft>
              <a:defRPr sz="1700">
                <a:solidFill>
                  <a:srgbClr val="F2F5F8"/>
                </a:solidFill>
              </a:defRPr>
            </a:pPr>
            <a:r>
              <a:t>• The strongest optimizations often come from proving that work is unnecessary, not from choosing a faster instruction for the same work.</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18     |     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What This Chapter Builds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LEARNING OBJECTIVES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Explain the mechanisms and contracts in Compiler Optimizations.</a:t>
            </a:r>
          </a:p>
          <a:p>
            <a:pPr>
              <a:spcAft>
                <a:spcPts val="1100"/>
              </a:spcAft>
              <a:defRPr sz="1900">
                <a:solidFill>
                  <a:srgbClr val="F2F5F8"/>
                </a:solidFill>
              </a:defRPr>
            </a:pPr>
            <a:r>
              <a:t>• Trace the chapter's important state, representation, and resource transitions.</a:t>
            </a:r>
          </a:p>
          <a:p>
            <a:pPr>
              <a:spcAft>
                <a:spcPts val="1100"/>
              </a:spcAft>
              <a:defRPr sz="1900">
                <a:solidFill>
                  <a:srgbClr val="F2F5F8"/>
                </a:solidFill>
              </a:defRPr>
            </a:pPr>
            <a:r>
              <a:t>• Identify failure modes, assumptions, and evidence required for correctness.</a:t>
            </a:r>
          </a:p>
          <a:p>
            <a:pPr>
              <a:spcAft>
                <a:spcPts val="1100"/>
              </a:spcAft>
              <a:defRPr sz="1900">
                <a:solidFill>
                  <a:srgbClr val="F2F5F8"/>
                </a:solidFill>
              </a:defRPr>
            </a:pPr>
            <a:r>
              <a:t>• Apply the chapter model to the worked examples and guided lab.</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18     |     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Chapter Roadmap</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SOURCE-ALIGNED COVERAGE</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18.1 Inlining</a:t>
            </a:r>
          </a:p>
          <a:p>
            <a:pPr>
              <a:spcAft>
                <a:spcPts val="1100"/>
              </a:spcAft>
              <a:defRPr sz="1900">
                <a:solidFill>
                  <a:srgbClr val="F2F5F8"/>
                </a:solidFill>
              </a:defRPr>
            </a:pPr>
            <a:r>
              <a:t>• 18.2 Constant folding</a:t>
            </a:r>
          </a:p>
          <a:p>
            <a:pPr>
              <a:spcAft>
                <a:spcPts val="1100"/>
              </a:spcAft>
              <a:defRPr sz="1900">
                <a:solidFill>
                  <a:srgbClr val="F2F5F8"/>
                </a:solidFill>
              </a:defRPr>
            </a:pPr>
            <a:r>
              <a:t>• 18.3 Dead-code elimination</a:t>
            </a:r>
          </a:p>
          <a:p>
            <a:pPr>
              <a:spcAft>
                <a:spcPts val="1100"/>
              </a:spcAft>
              <a:defRPr sz="1900">
                <a:solidFill>
                  <a:srgbClr val="F2F5F8"/>
                </a:solidFill>
              </a:defRPr>
            </a:pPr>
            <a:r>
              <a:t>• 18.4 Common-subexpression elimination</a:t>
            </a:r>
          </a:p>
          <a:p>
            <a:pPr>
              <a:spcAft>
                <a:spcPts val="1100"/>
              </a:spcAft>
              <a:defRPr sz="1900">
                <a:solidFill>
                  <a:srgbClr val="F2F5F8"/>
                </a:solidFill>
              </a:defRPr>
            </a:pPr>
            <a:r>
              <a:t>• ...plus 11 additional source topics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18     |     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18.1 Inlining</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Inlining replaces a call boundary with the callee’s operations in the caller’s optimization context.</a:t>
            </a:r>
          </a:p>
          <a:p>
            <a:pPr>
              <a:spcAft>
                <a:spcPts val="1100"/>
              </a:spcAft>
              <a:defRPr sz="1900">
                <a:solidFill>
                  <a:srgbClr val="F2F5F8"/>
                </a:solidFill>
              </a:defRPr>
            </a:pPr>
            <a:r>
              <a:t>• It can remove call overhead and expose constants, dead branches, and redundant work.</a:t>
            </a:r>
          </a:p>
          <a:p>
            <a:pPr>
              <a:spcAft>
                <a:spcPts val="1100"/>
              </a:spcAft>
              <a:defRPr sz="1700">
                <a:solidFill>
                  <a:srgbClr val="F2F5F8"/>
                </a:solidFill>
              </a:defRPr>
            </a:pPr>
            <a:r>
              <a:t>• The inline keyword in C++ has important language linkage and definition rules; it is not a command forcing machine-code substitution.</a:t>
            </a:r>
          </a:p>
          <a:p>
            <a:pPr>
              <a:spcAft>
                <a:spcPts val="1100"/>
              </a:spcAft>
              <a:defRPr sz="1900">
                <a:solidFill>
                  <a:srgbClr val="F2F5F8"/>
                </a:solidFill>
              </a:defRPr>
            </a:pPr>
            <a:r>
              <a:t>• Inlining can increase code size and instruction-cache pressure.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18     |     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18.1 Inlining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Inlining can increase code size and instruction-cache pressure.</a:t>
            </a:r>
          </a:p>
          <a:p>
            <a:pPr>
              <a:spcAft>
                <a:spcPts val="1100"/>
              </a:spcAft>
              <a:defRPr sz="1900">
                <a:solidFill>
                  <a:srgbClr val="F2F5F8"/>
                </a:solidFill>
              </a:defRPr>
            </a:pPr>
            <a:r>
              <a:t>• A small frequently used helper may benefit, while duplicating a large cold path may hurt.</a:t>
            </a:r>
          </a:p>
          <a:p>
            <a:pPr>
              <a:spcAft>
                <a:spcPts val="1100"/>
              </a:spcAft>
              <a:defRPr sz="1900">
                <a:solidFill>
                  <a:srgbClr val="F2F5F8"/>
                </a:solidFill>
              </a:defRPr>
            </a:pPr>
            <a:r>
              <a:t>• Let measurement and compiler diagnostics guide the decision.</a:t>
            </a:r>
          </a:p>
          <a:p>
            <a:pPr>
              <a:spcAft>
                <a:spcPts val="1100"/>
              </a:spcAft>
              <a:defRPr sz="1900">
                <a:solidFill>
                  <a:srgbClr val="F2F5F8"/>
                </a:solidFill>
              </a:defRPr>
            </a:pPr>
            <a:r>
              <a:t>• The best result can be a mixture of inlined hot paths and shared out-of-line slow paths.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18     |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18.2 Constant folding</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Constant folding evaluates expressions whose values are known during translation.</a:t>
            </a:r>
          </a:p>
          <a:p>
            <a:pPr>
              <a:spcAft>
                <a:spcPts val="1100"/>
              </a:spcAft>
              <a:defRPr sz="1700">
                <a:solidFill>
                  <a:srgbClr val="F2F5F8"/>
                </a:solidFill>
              </a:defRPr>
            </a:pPr>
            <a:r>
              <a:t>• A fixed arithmetic expression can become a literal, and a condition based on a known constant can select one path before runtime.</a:t>
            </a:r>
          </a:p>
          <a:p>
            <a:pPr>
              <a:spcAft>
                <a:spcPts val="1100"/>
              </a:spcAft>
              <a:defRPr sz="1900">
                <a:solidFill>
                  <a:srgbClr val="F2F5F8"/>
                </a:solidFill>
              </a:defRPr>
            </a:pPr>
            <a:r>
              <a:t>• The expression must still be meaningful under the language’s rules.</a:t>
            </a:r>
          </a:p>
          <a:p>
            <a:pPr>
              <a:spcAft>
                <a:spcPts val="1100"/>
              </a:spcAft>
              <a:defRPr sz="1700">
                <a:solidFill>
                  <a:srgbClr val="F2F5F8"/>
                </a:solidFill>
              </a:defRPr>
            </a:pPr>
            <a:r>
              <a:t>• A compiler is not required to preserve a runtime-looking overflow merely because the programmer wrote it as a sequence of constants.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18     |     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18.2 Constant folding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The expression must still be meaningful under the language’s rules.</a:t>
            </a:r>
          </a:p>
          <a:p>
            <a:pPr>
              <a:spcAft>
                <a:spcPts val="1100"/>
              </a:spcAft>
              <a:defRPr sz="1700">
                <a:solidFill>
                  <a:srgbClr val="F2F5F8"/>
                </a:solidFill>
              </a:defRPr>
            </a:pPr>
            <a:r>
              <a:t>• A compiler is not required to preserve a runtime-looking overflow merely because the programmer wrote it as a sequence of constants.</a:t>
            </a:r>
          </a:p>
          <a:p>
            <a:pPr>
              <a:spcAft>
                <a:spcPts val="1100"/>
              </a:spcAft>
              <a:defRPr sz="1900">
                <a:solidFill>
                  <a:srgbClr val="F2F5F8"/>
                </a:solidFill>
              </a:defRPr>
            </a:pPr>
            <a:r>
              <a:t>• Use appropriately typed constants and checked compile-time expressions when limits matter.</a:t>
            </a:r>
          </a:p>
          <a:p>
            <a:pPr>
              <a:spcAft>
                <a:spcPts val="1100"/>
              </a:spcAft>
              <a:defRPr sz="1900">
                <a:solidFill>
                  <a:srgbClr val="F2F5F8"/>
                </a:solidFill>
              </a:defRPr>
            </a:pPr>
            <a:r>
              <a:t>• Compile-time calculation reduces runtime work but does not remove semantic obligations.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18     |     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18.3 Dead-code elimination</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Dead-code elimination removes operations whose results cannot affect required observable behavior.</a:t>
            </a:r>
          </a:p>
          <a:p>
            <a:pPr>
              <a:spcAft>
                <a:spcPts val="1100"/>
              </a:spcAft>
              <a:defRPr sz="1900">
                <a:solidFill>
                  <a:srgbClr val="F2F5F8"/>
                </a:solidFill>
              </a:defRPr>
            </a:pPr>
            <a:r>
              <a:t>• An unused local calculation may disappear completely.</a:t>
            </a:r>
          </a:p>
          <a:p>
            <a:pPr>
              <a:spcAft>
                <a:spcPts val="1100"/>
              </a:spcAft>
              <a:defRPr sz="1900">
                <a:solidFill>
                  <a:srgbClr val="F2F5F8"/>
                </a:solidFill>
              </a:defRPr>
            </a:pPr>
            <a:r>
              <a:t>• A benchmark that computes a value and never uses it can therefore measure almost no intended work.</a:t>
            </a:r>
          </a:p>
          <a:p>
            <a:pPr>
              <a:spcAft>
                <a:spcPts val="1100"/>
              </a:spcAft>
              <a:defRPr sz="1900">
                <a:solidFill>
                  <a:srgbClr val="F2F5F8"/>
                </a:solidFill>
              </a:defRPr>
            </a:pPr>
            <a:r>
              <a:t>• Make benchmark results observable through a legitimate output or comparison outside the timed region.</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18     |     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18.3 Dead-code elimination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Make benchmark results observable through a legitimate output or comparison outside the timed region.</a:t>
            </a:r>
          </a:p>
          <a:p>
            <a:pPr>
              <a:spcAft>
                <a:spcPts val="1100"/>
              </a:spcAft>
              <a:defRPr sz="1900">
                <a:solidFill>
                  <a:srgbClr val="F2F5F8"/>
                </a:solidFill>
              </a:defRPr>
            </a:pPr>
            <a:r>
              <a:t>• Do not indiscriminately mark all data volatile; that changes the workload and can block useful optimization.</a:t>
            </a:r>
          </a:p>
          <a:p>
            <a:pPr>
              <a:spcAft>
                <a:spcPts val="1100"/>
              </a:spcAft>
              <a:defRPr sz="1900">
                <a:solidFill>
                  <a:srgbClr val="F2F5F8"/>
                </a:solidFill>
              </a:defRPr>
            </a:pPr>
            <a:r>
              <a:t>• The goal is to preserve the operation being measured without introducing a different memory-access contract.</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18     |     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18.4 Common-subexpression elimination</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When the compiler can prove that an expression has the same value at several points, it may compute it once and reuse the result.</a:t>
            </a:r>
          </a:p>
          <a:p>
            <a:pPr>
              <a:spcAft>
                <a:spcPts val="1100"/>
              </a:spcAft>
              <a:defRPr sz="1900">
                <a:solidFill>
                  <a:srgbClr val="F2F5F8"/>
                </a:solidFill>
              </a:defRPr>
            </a:pPr>
            <a:r>
              <a:t>• The proof depends on whether intervening operations can change its inputs, including memory reachable through aliases.</a:t>
            </a:r>
          </a:p>
          <a:p>
            <a:pPr>
              <a:spcAft>
                <a:spcPts val="1100"/>
              </a:spcAft>
              <a:defRPr sz="1900">
                <a:solidFill>
                  <a:srgbClr val="F2F5F8"/>
                </a:solidFill>
              </a:defRPr>
            </a:pPr>
            <a:r>
              <a:t>• Two identical-looking loads are not necessarily redundant if another operation can modify the location.</a:t>
            </a:r>
          </a:p>
          <a:p>
            <a:pPr>
              <a:spcAft>
                <a:spcPts val="1100"/>
              </a:spcAft>
              <a:defRPr sz="1900">
                <a:solidFill>
                  <a:srgbClr val="F2F5F8"/>
                </a:solidFill>
              </a:defRPr>
            </a:pPr>
            <a:r>
              <a:t>• Conversely, two differently written expressions may be equivalent after simplification.</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18     |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18.4 Common-subexpression elimination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Two identical-looking loads are not necessarily redundant if another operation can modify the location.</a:t>
            </a:r>
          </a:p>
          <a:p>
            <a:pPr>
              <a:spcAft>
                <a:spcPts val="1100"/>
              </a:spcAft>
              <a:defRPr sz="1900">
                <a:solidFill>
                  <a:srgbClr val="F2F5F8"/>
                </a:solidFill>
              </a:defRPr>
            </a:pPr>
            <a:r>
              <a:t>• Conversely, two differently written expressions may be equivalent after simplification.</a:t>
            </a:r>
          </a:p>
          <a:p>
            <a:pPr>
              <a:spcAft>
                <a:spcPts val="1100"/>
              </a:spcAft>
              <a:defRPr sz="1700">
                <a:solidFill>
                  <a:srgbClr val="F2F5F8"/>
                </a:solidFill>
              </a:defRPr>
            </a:pPr>
            <a:r>
              <a:t>• Help the compiler with clear ownership, const-correct interfaces, and limited aliasing rather than duplicating manual caches whose validity is difficult to maintain.</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18     |     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18.5 Loop unrolling</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Unrolling repeats the loop body several times per control iteration.</a:t>
            </a:r>
          </a:p>
          <a:p>
            <a:pPr>
              <a:spcAft>
                <a:spcPts val="1100"/>
              </a:spcAft>
              <a:defRPr sz="1700">
                <a:solidFill>
                  <a:srgbClr val="F2F5F8"/>
                </a:solidFill>
              </a:defRPr>
            </a:pPr>
            <a:r>
              <a:t>• It can reduce branch overhead and expose independent work, but it increases code size and requires a remainder path when the element count is not a multiple of the unroll factor.</a:t>
            </a:r>
          </a:p>
          <a:p>
            <a:pPr>
              <a:spcAft>
                <a:spcPts val="1100"/>
              </a:spcAft>
              <a:defRPr sz="1900">
                <a:solidFill>
                  <a:srgbClr val="F2F5F8"/>
                </a:solidFill>
              </a:defRPr>
            </a:pPr>
            <a:r>
              <a:t>• A correct unrolled loop handles zero elements and the final partial group without reading past the range.</a:t>
            </a:r>
          </a:p>
          <a:p>
            <a:pPr>
              <a:spcAft>
                <a:spcPts val="1100"/>
              </a:spcAft>
              <a:defRPr sz="1900">
                <a:solidFill>
                  <a:srgbClr val="F2F5F8"/>
                </a:solidFill>
              </a:defRPr>
            </a:pPr>
            <a:r>
              <a:t>• Performance can worsen if extra code strains instruction storage or register allocation.</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18     |     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18.5 Loop unrolling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correct unrolled loop handles zero elements and the final partial group without reading past the range.</a:t>
            </a:r>
          </a:p>
          <a:p>
            <a:pPr>
              <a:spcAft>
                <a:spcPts val="1100"/>
              </a:spcAft>
              <a:defRPr sz="1900">
                <a:solidFill>
                  <a:srgbClr val="F2F5F8"/>
                </a:solidFill>
              </a:defRPr>
            </a:pPr>
            <a:r>
              <a:t>• Performance can worsen if extra code strains instruction storage or register allocation.</a:t>
            </a:r>
          </a:p>
          <a:p>
            <a:pPr>
              <a:spcAft>
                <a:spcPts val="1100"/>
              </a:spcAft>
              <a:defRPr sz="1900">
                <a:solidFill>
                  <a:srgbClr val="F2F5F8"/>
                </a:solidFill>
              </a:defRPr>
            </a:pPr>
            <a:r>
              <a:t>• Unrolling is a transformation to evaluate, not a universal improvement.</a:t>
            </a:r>
          </a:p>
          <a:p>
            <a:pPr>
              <a:spcAft>
                <a:spcPts val="1100"/>
              </a:spcAft>
              <a:defRPr sz="1900">
                <a:solidFill>
                  <a:srgbClr val="F2F5F8"/>
                </a:solidFill>
              </a:defRPr>
            </a:pPr>
            <a:r>
              <a:t>• Vectorization and memory bandwidth may dominate the outcome.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18     |     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18.6 Tail-call optimization</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call in tail position can sometimes reuse the current function’s frame rather than creating another active frame.</a:t>
            </a:r>
          </a:p>
          <a:p>
            <a:pPr>
              <a:spcAft>
                <a:spcPts val="1100"/>
              </a:spcAft>
              <a:defRPr sz="1900">
                <a:solidFill>
                  <a:srgbClr val="F2F5F8"/>
                </a:solidFill>
              </a:defRPr>
            </a:pPr>
            <a:r>
              <a:t>• This can turn some recursion into constant-stack iteration.</a:t>
            </a:r>
          </a:p>
          <a:p>
            <a:pPr>
              <a:spcAft>
                <a:spcPts val="1100"/>
              </a:spcAft>
              <a:defRPr sz="1900">
                <a:solidFill>
                  <a:srgbClr val="F2F5F8"/>
                </a:solidFill>
              </a:defRPr>
            </a:pPr>
            <a:r>
              <a:t>• Language cleanup requirements, ABI constraints, and compiler choices determine whether the transformation is possible.</a:t>
            </a:r>
          </a:p>
          <a:p>
            <a:pPr>
              <a:spcAft>
                <a:spcPts val="1100"/>
              </a:spcAft>
              <a:defRPr sz="1900">
                <a:solidFill>
                  <a:srgbClr val="F2F5F8"/>
                </a:solidFill>
              </a:defRPr>
            </a:pPr>
            <a:r>
              <a:t>• A local object requiring destruction after the call can prevent a simple tail transfer.</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18     |     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18.6 Tail-call optimization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local object requiring destruction after the call can prevent a simple tail transfer.</a:t>
            </a:r>
          </a:p>
          <a:p>
            <a:pPr>
              <a:spcAft>
                <a:spcPts val="1100"/>
              </a:spcAft>
              <a:defRPr sz="1900">
                <a:solidFill>
                  <a:srgbClr val="F2F5F8"/>
                </a:solidFill>
              </a:defRPr>
            </a:pPr>
            <a:r>
              <a:t>• Debugging options or calling-convention differences can also matter.</a:t>
            </a:r>
          </a:p>
          <a:p>
            <a:pPr>
              <a:spcAft>
                <a:spcPts val="1100"/>
              </a:spcAft>
              <a:defRPr sz="1700">
                <a:solidFill>
                  <a:srgbClr val="F2F5F8"/>
                </a:solidFill>
              </a:defRPr>
            </a:pPr>
            <a:r>
              <a:t>• Do not use a recursive algorithm with unbounded depth on the assumption that a compiler will always optimize it into a loop.</a:t>
            </a:r>
          </a:p>
          <a:p>
            <a:pPr>
              <a:spcAft>
                <a:spcPts val="1100"/>
              </a:spcAft>
              <a:defRPr sz="1900">
                <a:solidFill>
                  <a:srgbClr val="F2F5F8"/>
                </a:solidFill>
              </a:defRPr>
            </a:pPr>
            <a:r>
              <a:t>• Establish the resource bound independently.</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18     |     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18.7 Strength reduction</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Strength reduction replaces an operation with an equivalent cheaper sequence in the relevant context.</a:t>
            </a:r>
          </a:p>
          <a:p>
            <a:pPr>
              <a:spcAft>
                <a:spcPts val="1100"/>
              </a:spcAft>
              <a:defRPr sz="1700">
                <a:solidFill>
                  <a:srgbClr val="F2F5F8"/>
                </a:solidFill>
              </a:defRPr>
            </a:pPr>
            <a:r>
              <a:t>• Multiplication by a constant might become shifts and adds, or a loop might update a pointer incrementally instead of recomputing an index product.</a:t>
            </a:r>
          </a:p>
          <a:p>
            <a:pPr>
              <a:spcAft>
                <a:spcPts val="1100"/>
              </a:spcAft>
              <a:defRPr sz="1900">
                <a:solidFill>
                  <a:srgbClr val="F2F5F8"/>
                </a:solidFill>
              </a:defRPr>
            </a:pPr>
            <a:r>
              <a:t>• The “cheaper” operation depends on the target.</a:t>
            </a:r>
          </a:p>
          <a:p>
            <a:pPr>
              <a:spcAft>
                <a:spcPts val="1100"/>
              </a:spcAft>
              <a:defRPr sz="1900">
                <a:solidFill>
                  <a:srgbClr val="F2F5F8"/>
                </a:solidFill>
              </a:defRPr>
            </a:pPr>
            <a:r>
              <a:t>• Modern processors can multiply efficiently, while a longer shift-add sequence may create more dependencies.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18     |     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18.7 Strength reduction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The “cheaper” operation depends on the target.</a:t>
            </a:r>
          </a:p>
          <a:p>
            <a:pPr>
              <a:spcAft>
                <a:spcPts val="1100"/>
              </a:spcAft>
              <a:defRPr sz="1900">
                <a:solidFill>
                  <a:srgbClr val="F2F5F8"/>
                </a:solidFill>
              </a:defRPr>
            </a:pPr>
            <a:r>
              <a:t>• Modern processors can multiply efficiently, while a longer shift-add sequence may create more dependencies.</a:t>
            </a:r>
          </a:p>
          <a:p>
            <a:pPr>
              <a:spcAft>
                <a:spcPts val="1100"/>
              </a:spcAft>
              <a:defRPr sz="1900">
                <a:solidFill>
                  <a:srgbClr val="F2F5F8"/>
                </a:solidFill>
              </a:defRPr>
            </a:pPr>
            <a:r>
              <a:t>• Signed division transformations also need correct rounding for negative values.</a:t>
            </a:r>
          </a:p>
          <a:p>
            <a:pPr>
              <a:spcAft>
                <a:spcPts val="1100"/>
              </a:spcAft>
              <a:defRPr sz="1700">
                <a:solidFill>
                  <a:srgbClr val="F2F5F8"/>
                </a:solidFill>
              </a:defRPr>
            </a:pPr>
            <a:r>
              <a:t>• Prefer clear source and inspect generated code before manually encoding a transformation whose benefit may have disappeared on the target machine.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18     |     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18.8 Arithmetic transformations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Integer and floating-point transformations obey different algebraic freedoms.</a:t>
            </a:r>
          </a:p>
          <a:p>
            <a:pPr>
              <a:spcAft>
                <a:spcPts val="1100"/>
              </a:spcAft>
              <a:defRPr sz="1900">
                <a:solidFill>
                  <a:srgbClr val="F2F5F8"/>
                </a:solidFill>
              </a:defRPr>
            </a:pPr>
            <a:r>
              <a:t>• Unsigned arithmetic has modular identities.</a:t>
            </a:r>
          </a:p>
          <a:p>
            <a:pPr>
              <a:spcAft>
                <a:spcPts val="1100"/>
              </a:spcAft>
              <a:defRPr sz="1900">
                <a:solidFill>
                  <a:srgbClr val="F2F5F8"/>
                </a:solidFill>
              </a:defRPr>
            </a:pPr>
            <a:r>
              <a:t>• Signed arithmetic can be transformed under the assumption that defined executions do not overflow.</a:t>
            </a:r>
          </a:p>
          <a:p>
            <a:pPr>
              <a:spcAft>
                <a:spcPts val="1100"/>
              </a:spcAft>
              <a:defRPr sz="1900">
                <a:solidFill>
                  <a:srgbClr val="F2F5F8"/>
                </a:solidFill>
              </a:defRPr>
            </a:pPr>
            <a:r>
              <a:t>• Floating-point addition is generally not associative because rounding depends on evaluation order.</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18     |     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18.8 Arithmetic transformations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Options that permit reassociation or disregard special values change the numerical contract.</a:t>
            </a:r>
          </a:p>
          <a:p>
            <a:pPr>
              <a:spcAft>
                <a:spcPts val="1100"/>
              </a:spcAft>
              <a:defRPr sz="1900">
                <a:solidFill>
                  <a:srgbClr val="F2F5F8"/>
                </a:solidFill>
              </a:defRPr>
            </a:pPr>
            <a:r>
              <a:t>• A faster result under such options is not automatically an equivalent result for every input.</a:t>
            </a:r>
          </a:p>
          <a:p>
            <a:pPr>
              <a:spcAft>
                <a:spcPts val="1100"/>
              </a:spcAft>
              <a:defRPr sz="1700">
                <a:solidFill>
                  <a:srgbClr val="F2F5F8"/>
                </a:solidFill>
              </a:defRPr>
            </a:pPr>
            <a:r>
              <a:t>• Document any relaxed arithmetic assumptions, including finite-only inputs, acceptable error, and reproducibility requirements. [ R2 ]</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18     |     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18.9 Aliasing restrictions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Aliasing limits which memory operations can move past one another or reuse loaded values.</a:t>
            </a:r>
          </a:p>
          <a:p>
            <a:pPr>
              <a:spcAft>
                <a:spcPts val="1100"/>
              </a:spcAft>
              <a:defRPr sz="1700">
                <a:solidFill>
                  <a:srgbClr val="F2F5F8"/>
                </a:solidFill>
              </a:defRPr>
            </a:pPr>
            <a:r>
              <a:t>• C’s restrict qualifier is a promise about access relationships during a particular execution region, not a runtime check.</a:t>
            </a:r>
          </a:p>
          <a:p>
            <a:pPr>
              <a:spcAft>
                <a:spcPts val="1100"/>
              </a:spcAft>
              <a:defRPr sz="1900">
                <a:solidFill>
                  <a:srgbClr val="F2F5F8"/>
                </a:solidFill>
              </a:defRPr>
            </a:pPr>
            <a:r>
              <a:t>• Standard C++20 does not have a directly identical core-language restrict keyword, though compilers provide extensions.</a:t>
            </a:r>
          </a:p>
          <a:p>
            <a:pPr>
              <a:spcAft>
                <a:spcPts val="1100"/>
              </a:spcAft>
              <a:defRPr sz="1700">
                <a:solidFill>
                  <a:srgbClr val="F2F5F8"/>
                </a:solidFill>
              </a:defRPr>
            </a:pPr>
            <a:r>
              <a:t>• An incorrect non-aliasing promise can make an otherwise plausible loop undefined or miscompiled relative to the programmer’s intent.</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18     |     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18.9 Aliasing restrictions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An incorrect non-aliasing promise can make an otherwise plausible loop undefined or miscompiled relative to the programmer’s intent.</a:t>
            </a:r>
          </a:p>
          <a:p>
            <a:pPr>
              <a:spcAft>
                <a:spcPts val="1100"/>
              </a:spcAft>
              <a:defRPr sz="1900">
                <a:solidFill>
                  <a:srgbClr val="F2F5F8"/>
                </a:solidFill>
              </a:defRPr>
            </a:pPr>
            <a:r>
              <a:t>• Use it only when the API actually excludes overlapping access patterns.</a:t>
            </a:r>
          </a:p>
          <a:p>
            <a:pPr>
              <a:spcAft>
                <a:spcPts val="1100"/>
              </a:spcAft>
              <a:defRPr sz="1900">
                <a:solidFill>
                  <a:srgbClr val="F2F5F8"/>
                </a:solidFill>
              </a:defRPr>
            </a:pPr>
            <a:r>
              <a:t>• The performance opportunity comes from a true invariant; annotations cannot manufacture that invariant.</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18     |     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18.10 Optimization barriers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barrier limits particular transformations.</a:t>
            </a:r>
          </a:p>
          <a:p>
            <a:pPr>
              <a:spcAft>
                <a:spcPts val="1100"/>
              </a:spcAft>
              <a:defRPr sz="1700">
                <a:solidFill>
                  <a:srgbClr val="F2F5F8"/>
                </a:solidFill>
              </a:defRPr>
            </a:pPr>
            <a:r>
              <a:t>• Volatile access, compiler-specific assembly constraints, atomic operations, and external calls can impose different restrictions, but they are not interchangeable.</a:t>
            </a:r>
          </a:p>
          <a:p>
            <a:pPr>
              <a:spcAft>
                <a:spcPts val="1100"/>
              </a:spcAft>
              <a:defRPr sz="1900">
                <a:solidFill>
                  <a:srgbClr val="F2F5F8"/>
                </a:solidFill>
              </a:defRPr>
            </a:pPr>
            <a:r>
              <a:t>• A compiler barrier need not be a hardware memory fence, and a hardware fence needs a correct language-level interface.</a:t>
            </a:r>
          </a:p>
          <a:p>
            <a:pPr>
              <a:spcAft>
                <a:spcPts val="1100"/>
              </a:spcAft>
              <a:defRPr sz="1900">
                <a:solidFill>
                  <a:srgbClr val="F2F5F8"/>
                </a:solidFill>
              </a:defRPr>
            </a:pPr>
            <a:r>
              <a:t>• volatile is not a thread-synchronization mechanism.</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18     |     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18.10 Optimization barriers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volatile is not a thread-synchronization mechanism.</a:t>
            </a:r>
          </a:p>
          <a:p>
            <a:pPr>
              <a:spcAft>
                <a:spcPts val="1100"/>
              </a:spcAft>
              <a:defRPr sz="1900">
                <a:solidFill>
                  <a:srgbClr val="F2F5F8"/>
                </a:solidFill>
              </a:defRPr>
            </a:pPr>
            <a:r>
              <a:t>• It serves specific observable-access roles, including some device interfaces under implementation rules.</a:t>
            </a:r>
          </a:p>
          <a:p>
            <a:pPr>
              <a:spcAft>
                <a:spcPts val="1100"/>
              </a:spcAft>
              <a:defRPr sz="1900">
                <a:solidFill>
                  <a:srgbClr val="F2F5F8"/>
                </a:solidFill>
              </a:defRPr>
            </a:pPr>
            <a:r>
              <a:t>• For concurrent application state, use atomics and synchronization primitives.</a:t>
            </a:r>
          </a:p>
          <a:p>
            <a:pPr>
              <a:spcAft>
                <a:spcPts val="1100"/>
              </a:spcAft>
              <a:defRPr sz="1900">
                <a:solidFill>
                  <a:srgbClr val="F2F5F8"/>
                </a:solidFill>
              </a:defRPr>
            </a:pPr>
            <a:r>
              <a:t>• For benchmarking, use a narrowly justified technique rather than disabling the optimizer across the entire workload.</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18     |     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18.11 The as-if rule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The as-if principle allows any implementation that preserves the program’s required observable behavior.</a:t>
            </a:r>
          </a:p>
          <a:p>
            <a:pPr>
              <a:spcAft>
                <a:spcPts val="1100"/>
              </a:spcAft>
              <a:defRPr sz="1900">
                <a:solidFill>
                  <a:srgbClr val="F2F5F8"/>
                </a:solidFill>
              </a:defRPr>
            </a:pPr>
            <a:r>
              <a:t>• A variable can disappear, operations can combine, and a loop can become a constant when the result is known.</a:t>
            </a:r>
          </a:p>
          <a:p>
            <a:pPr>
              <a:spcAft>
                <a:spcPts val="1100"/>
              </a:spcAft>
              <a:defRPr sz="1700">
                <a:solidFill>
                  <a:srgbClr val="F2F5F8"/>
                </a:solidFill>
              </a:defRPr>
            </a:pPr>
            <a:r>
              <a:t>• The preserved behavior is defined by the language and relevant options, not by the programmer’s expectation of a one-to-one translation.</a:t>
            </a:r>
          </a:p>
          <a:p>
            <a:pPr>
              <a:spcAft>
                <a:spcPts val="1100"/>
              </a:spcAft>
              <a:defRPr sz="1900">
                <a:solidFill>
                  <a:srgbClr val="F2F5F8"/>
                </a:solidFill>
              </a:defRPr>
            </a:pPr>
            <a:r>
              <a:t>• Undefined behavior undermines the premise on which source-level reasoning depends.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18     |     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18.11 The as-if rule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Undefined behavior undermines the premise on which source-level reasoning depends.</a:t>
            </a:r>
          </a:p>
          <a:p>
            <a:pPr>
              <a:spcAft>
                <a:spcPts val="1100"/>
              </a:spcAft>
              <a:defRPr sz="1900">
                <a:solidFill>
                  <a:srgbClr val="F2F5F8"/>
                </a:solidFill>
              </a:defRPr>
            </a:pPr>
            <a:r>
              <a:t>• Optimization is therefore a reason to be more precise about validity, not a reason to avoid optimization.</a:t>
            </a:r>
          </a:p>
          <a:p>
            <a:pPr>
              <a:spcAft>
                <a:spcPts val="1100"/>
              </a:spcAft>
              <a:defRPr sz="1700">
                <a:solidFill>
                  <a:srgbClr val="F2F5F8"/>
                </a:solidFill>
              </a:defRPr>
            </a:pPr>
            <a:r>
              <a:t>• A well-defined program should remain correct across optimization levels even when its instructions and timing change substantially.</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18     |     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Optimizing a known-length calculation</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The requirement is to compute sum(3*x[i] + 1) for a bounded unsigned sequence.</a:t>
            </a:r>
          </a:p>
          <a:p>
            <a:pPr>
              <a:spcAft>
                <a:spcPts val="1100"/>
              </a:spcAft>
              <a:defRPr sz="1900">
                <a:solidFill>
                  <a:srgbClr val="F2F5F8"/>
                </a:solidFill>
              </a:defRPr>
            </a:pPr>
            <a:r>
              <a:t>• The source makes the arithmetic domain explicit and returns the result so it remains observable.</a:t>
            </a:r>
          </a:p>
          <a:p>
            <a:pPr>
              <a:spcAft>
                <a:spcPts val="1100"/>
              </a:spcAft>
              <a:defRPr sz="1900">
                <a:solidFill>
                  <a:srgbClr val="F2F5F8"/>
                </a:solidFill>
              </a:defRPr>
            </a:pPr>
            <a:r>
              <a:t>• Companion listing: ch18/transform.cpp</a:t>
            </a:r>
          </a:p>
          <a:p>
            <a:pPr>
              <a:spcAft>
                <a:spcPts val="1100"/>
              </a:spcAft>
              <a:defRPr sz="1900">
                <a:solidFill>
                  <a:srgbClr val="F2F5F8"/>
                </a:solidFill>
              </a:defRPr>
            </a:pPr>
            <a:r>
              <a:t>• At low optimization, the output may show an explicit loop, repeated address calculations, and a function call.</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18     |     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Optimizing a known-length calculation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WORKED EXAMPLE &amp; INTERPRETATION</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Companion listing: ch18/transform.cpp</a:t>
            </a:r>
          </a:p>
          <a:p>
            <a:pPr>
              <a:spcAft>
                <a:spcPts val="1100"/>
              </a:spcAft>
              <a:defRPr sz="1900">
                <a:solidFill>
                  <a:srgbClr val="F2F5F8"/>
                </a:solidFill>
              </a:defRPr>
            </a:pPr>
            <a:r>
              <a:t>• At low optimization, the output may show an explicit loop, repeated address calculations, and a function call.</a:t>
            </a:r>
          </a:p>
          <a:p>
            <a:pPr>
              <a:spcAft>
                <a:spcPts val="1100"/>
              </a:spcAft>
              <a:defRPr sz="1700">
                <a:solidFill>
                  <a:srgbClr val="F2F5F8"/>
                </a:solidFill>
              </a:defRPr>
            </a:pPr>
            <a:r>
              <a:t>• At higher optimization, the compiler may inline the function, unroll or vectorize the loop, or compute the final constant because all inputs are known.</a:t>
            </a:r>
          </a:p>
          <a:p>
            <a:pPr>
              <a:spcAft>
                <a:spcPts val="1100"/>
              </a:spcAft>
              <a:defRPr sz="1900">
                <a:solidFill>
                  <a:srgbClr val="F2F5F8"/>
                </a:solidFill>
              </a:defRPr>
            </a:pPr>
            <a:r>
              <a:t>• Each implementation can be correct because the required result is 64.</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18     |     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Constant folding and dead code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For int x = 4 × 8; if (0) use(x); , an optimizing compiler can replace the multiplication with constant 32 and remove the unreachable branch entirely.</a:t>
            </a:r>
          </a:p>
          <a:p>
            <a:pPr>
              <a:spcAft>
                <a:spcPts val="1100"/>
              </a:spcAft>
              <a:defRPr sz="1900">
                <a:solidFill>
                  <a:srgbClr val="F2F5F8"/>
                </a:solidFill>
              </a:defRPr>
            </a:pPr>
            <a:r>
              <a:t>• These transformations are legal because no permitted observation changes.</a:t>
            </a:r>
          </a:p>
          <a:p>
            <a:pPr>
              <a:spcAft>
                <a:spcPts val="1100"/>
              </a:spcAft>
              <a:defRPr sz="1900">
                <a:solidFill>
                  <a:srgbClr val="F2F5F8"/>
                </a:solidFill>
              </a:defRPr>
            </a:pPr>
            <a:r>
              <a:t>• Debug builds may retain more structure, so source-to-assembly correspondence depends strongly on optimization settings.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18     |     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Constant folding and dead code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WORKED EXAMPLE &amp; INTERPRETATION</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For int x = 4 × 8; if (0) use(x); , an optimizing compiler can replace the multiplication with constant 32 and remove the unreachable branch entirely.</a:t>
            </a:r>
          </a:p>
          <a:p>
            <a:pPr>
              <a:spcAft>
                <a:spcPts val="1100"/>
              </a:spcAft>
              <a:defRPr sz="1900">
                <a:solidFill>
                  <a:srgbClr val="F2F5F8"/>
                </a:solidFill>
              </a:defRPr>
            </a:pPr>
            <a:r>
              <a:t>• These transformations are legal because no permitted observation changes.</a:t>
            </a:r>
          </a:p>
          <a:p>
            <a:pPr>
              <a:spcAft>
                <a:spcPts val="1100"/>
              </a:spcAft>
              <a:defRPr sz="1900">
                <a:solidFill>
                  <a:srgbClr val="F2F5F8"/>
                </a:solidFill>
              </a:defRPr>
            </a:pPr>
            <a:r>
              <a:t>• Debug builds may retain more structure, so source-to-assembly correspondence depends strongly on optimization settings.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18     |     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Aliasing blocks a load elimination</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Consider *p = 5; x = *q; .</a:t>
            </a:r>
          </a:p>
          <a:p>
            <a:pPr>
              <a:spcAft>
                <a:spcPts val="1100"/>
              </a:spcAft>
              <a:defRPr sz="1900">
                <a:solidFill>
                  <a:srgbClr val="F2F5F8"/>
                </a:solidFill>
              </a:defRPr>
            </a:pPr>
            <a:r>
              <a:t>• If p and q may alias, the store through p can affect the load through q .</a:t>
            </a:r>
          </a:p>
          <a:p>
            <a:pPr>
              <a:spcAft>
                <a:spcPts val="1100"/>
              </a:spcAft>
              <a:defRPr sz="1900">
                <a:solidFill>
                  <a:srgbClr val="F2F5F8"/>
                </a:solidFill>
              </a:defRPr>
            </a:pPr>
            <a:r>
              <a:t>• The compiler cannot generally replace the load with a previously known value of *q .</a:t>
            </a:r>
          </a:p>
          <a:p>
            <a:pPr>
              <a:spcAft>
                <a:spcPts val="1100"/>
              </a:spcAft>
              <a:defRPr sz="1900">
                <a:solidFill>
                  <a:srgbClr val="F2F5F8"/>
                </a:solidFill>
              </a:defRPr>
            </a:pPr>
            <a:r>
              <a:t>• Proving non-aliasing creates optimization freedom, but the proof must follow language and ABI rules.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18     |     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Aliasing blocks a load elimination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WORKED EXAMPLE &amp; INTERPRETATION</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Consider *p = 5; x = *q; .</a:t>
            </a:r>
          </a:p>
          <a:p>
            <a:pPr>
              <a:spcAft>
                <a:spcPts val="1100"/>
              </a:spcAft>
              <a:defRPr sz="1900">
                <a:solidFill>
                  <a:srgbClr val="F2F5F8"/>
                </a:solidFill>
              </a:defRPr>
            </a:pPr>
            <a:r>
              <a:t>• If p and q may alias, the store through p can affect the load through q .</a:t>
            </a:r>
          </a:p>
          <a:p>
            <a:pPr>
              <a:spcAft>
                <a:spcPts val="1100"/>
              </a:spcAft>
              <a:defRPr sz="1900">
                <a:solidFill>
                  <a:srgbClr val="F2F5F8"/>
                </a:solidFill>
              </a:defRPr>
            </a:pPr>
            <a:r>
              <a:t>• The compiler cannot generally replace the load with a previously known value of *q .</a:t>
            </a:r>
          </a:p>
          <a:p>
            <a:pPr>
              <a:spcAft>
                <a:spcPts val="1100"/>
              </a:spcAft>
              <a:defRPr sz="1900">
                <a:solidFill>
                  <a:srgbClr val="F2F5F8"/>
                </a:solidFill>
              </a:defRPr>
            </a:pPr>
            <a:r>
              <a:t>• Proving non-aliasing creates optimization freedom, but the proof must follow language and ABI rules.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18     |     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Guided lab and review</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Lab 18.</a:t>
            </a:r>
          </a:p>
          <a:p>
            <a:pPr>
              <a:spcAft>
                <a:spcPts val="1100"/>
              </a:spcAft>
              <a:defRPr sz="1900">
                <a:solidFill>
                  <a:srgbClr val="F2F5F8"/>
                </a:solidFill>
              </a:defRPr>
            </a:pPr>
            <a:r>
              <a:t>• Generate assembly at -O0 , -O2 , and -O3 .</a:t>
            </a:r>
          </a:p>
          <a:p>
            <a:pPr>
              <a:spcAft>
                <a:spcPts val="1100"/>
              </a:spcAft>
              <a:defRPr sz="1900">
                <a:solidFill>
                  <a:srgbClr val="F2F5F8"/>
                </a:solidFill>
              </a:defRPr>
            </a:pPr>
            <a:r>
              <a:t>• Repeat with input values supplied at runtime.</a:t>
            </a:r>
          </a:p>
          <a:p>
            <a:pPr>
              <a:spcAft>
                <a:spcPts val="1100"/>
              </a:spcAft>
              <a:defRPr sz="1700">
                <a:solidFill>
                  <a:srgbClr val="F2F5F8"/>
                </a:solidFill>
              </a:defRPr>
            </a:pPr>
            <a:r>
              <a:t>• Identify which transformations are supported by the actual output and distinguish them from guesses based only on the flag name.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18     |     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Guided lab and review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LAB, REVIEW &amp; ACCEPTANCE</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Review 1.</a:t>
            </a:r>
          </a:p>
          <a:p>
            <a:pPr>
              <a:spcAft>
                <a:spcPts val="1100"/>
              </a:spcAft>
              <a:defRPr sz="1900">
                <a:solidFill>
                  <a:srgbClr val="F2F5F8"/>
                </a:solidFill>
              </a:defRPr>
            </a:pPr>
            <a:r>
              <a:t>• Why can inlining enable constant folding beyond removing a call?</a:t>
            </a:r>
          </a:p>
          <a:p>
            <a:pPr>
              <a:spcAft>
                <a:spcPts val="1100"/>
              </a:spcAft>
              <a:defRPr sz="1900">
                <a:solidFill>
                  <a:srgbClr val="F2F5F8"/>
                </a:solidFill>
              </a:defRPr>
            </a:pPr>
            <a:r>
              <a:t>• Review 2.</a:t>
            </a:r>
          </a:p>
          <a:p>
            <a:pPr>
              <a:spcAft>
                <a:spcPts val="1100"/>
              </a:spcAft>
              <a:defRPr sz="1900">
                <a:solidFill>
                  <a:srgbClr val="F2F5F8"/>
                </a:solidFill>
              </a:defRPr>
            </a:pPr>
            <a:r>
              <a:t>• Why is volatile not a substitute for a mutex or an atomic variable?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18     |     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Chapter Synthesis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KEY TAKEAWAYS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The chapter's central subject is compiler optimizations.</a:t>
            </a:r>
          </a:p>
          <a:p>
            <a:pPr>
              <a:spcAft>
                <a:spcPts val="1100"/>
              </a:spcAft>
              <a:defRPr sz="1900">
                <a:solidFill>
                  <a:srgbClr val="F2F5F8"/>
                </a:solidFill>
              </a:defRPr>
            </a:pPr>
            <a:r>
              <a:t>• Correct reasoning requires explicit assumptions, bounds, ownership, and interface contracts.</a:t>
            </a:r>
          </a:p>
          <a:p>
            <a:pPr>
              <a:spcAft>
                <a:spcPts val="1100"/>
              </a:spcAft>
              <a:defRPr sz="1900">
                <a:solidFill>
                  <a:srgbClr val="F2F5F8"/>
                </a:solidFill>
              </a:defRPr>
            </a:pPr>
            <a:r>
              <a:t>• Observed behavior is evidence about a run; it is not automatically a language or system guarantee.</a:t>
            </a:r>
          </a:p>
          <a:p>
            <a:pPr>
              <a:spcAft>
                <a:spcPts val="1100"/>
              </a:spcAft>
              <a:defRPr sz="1900">
                <a:solidFill>
                  <a:srgbClr val="F2F5F8"/>
                </a:solidFill>
              </a:defRPr>
            </a:pPr>
            <a:r>
              <a:t>• Use the worked examples and lab to test whether the model transfers to new cases.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18     |     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Review and Transition</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CHECK YOUR MODEL</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Explain one mechanism from the chapter without relying on vocabulary alone.</a:t>
            </a:r>
          </a:p>
          <a:p>
            <a:pPr>
              <a:spcAft>
                <a:spcPts val="1100"/>
              </a:spcAft>
              <a:defRPr sz="1900">
                <a:solidFill>
                  <a:srgbClr val="F2F5F8"/>
                </a:solidFill>
              </a:defRPr>
            </a:pPr>
            <a:r>
              <a:t>• Identify one failure mode and the violated contract or invariant.</a:t>
            </a:r>
          </a:p>
          <a:p>
            <a:pPr>
              <a:spcAft>
                <a:spcPts val="1100"/>
              </a:spcAft>
              <a:defRPr sz="1900">
                <a:solidFill>
                  <a:srgbClr val="F2F5F8"/>
                </a:solidFill>
              </a:defRPr>
            </a:pPr>
            <a:r>
              <a:t>• State what evidence would support your diagnosis and what it would not prove.</a:t>
            </a:r>
          </a:p>
          <a:p>
            <a:pPr>
              <a:spcAft>
                <a:spcPts val="1100"/>
              </a:spcAft>
              <a:defRPr sz="1900">
                <a:solidFill>
                  <a:srgbClr val="F2F5F8"/>
                </a:solidFill>
              </a:defRPr>
            </a:pPr>
            <a:r>
              <a:t>• Next: Kernel Fundamentals.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18     |     35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