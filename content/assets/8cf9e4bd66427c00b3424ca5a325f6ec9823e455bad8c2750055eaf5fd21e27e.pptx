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58 — Exploit Mitigations</a:t>
            </a:r>
          </a:p>
          <a:p/>
          <a:p>
            <a:r>
              <a:t>LECTURE NARRATION</a:t>
            </a:r>
          </a:p>
          <a:p>
            <a:r>
              <a:t>Mitigations reduce the consequences or feasibility of exploiting certain bugs. They are defense in depth, not substitutes for memory safety. A program can contain a serious vulnerability even when it is compiled with hardening flags, uses randomized addresses, and has non-executable data pages. Treat mitigation status as a property to inspect in the actual build and deployment. A flag written in a document is not evidence that the final executable or runtime environment enforces the intended protection. [ R3 , R31 , R45 ]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mitigations reduce the consequences or feasibility of exploiting certain bugs.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Mitigations reduce the consequences or feasibility of exploiting certain bugs. They are defense in depth, not substitutes for memory safety. A program can contain a serious vulnerability even when it is compiled with hardening flags, uses randomized addresses, and has non-executable data pages. Treat mitigation status as a property to inspect in the actual build and deployment. A flag written in a document is not evidence that the final executable or runtime environment enforces the intended protection. [ R3 , R31 , R45 ]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mitigations reduce the consequences or feasibility of exploiting certain bugs.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58.1 Stack canaries 58.2 Non-executable memory 58.3 Address-space randomization 58.4 Memory permissions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58.1 Stack canaries 58.2 Non-executable memory 58.3 Address-space randomization 58.4 Memory permissions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58.1 Stack canaries</a:t>
            </a:r>
          </a:p>
          <a:p/>
          <a:p>
            <a:r>
              <a:t>LECTURE NARRATION</a:t>
            </a:r>
          </a:p>
          <a:p>
            <a:r>
              <a:t>Stack-protector instrumentation places a check value in selected stack frames and verifies it before returning through the protected path. Some overwrites can then be detected before corrupted state is used in a normal return sequence. Coverage depends on compiler options and generated code. A canary does not prevent the original out-of-bounds write, protect every object, or guarantee detection of every corruption pattern. It is a detection barrier for a subset of consequences.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stack-protector instrumentation places a check value in selected stack frames and verifies it before returning through the protected path.</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58.1 Stack canaries — Deep Dive</a:t>
            </a:r>
          </a:p>
          <a:p/>
          <a:p>
            <a:r>
              <a:t>LECTURE NARRATION</a:t>
            </a:r>
          </a:p>
          <a:p>
            <a:r>
              <a:t>Stack-protector instrumentation places a check value in selected stack frames and verifies it before returning through the protected path. Some overwrites can then be detected before corrupted state is used in a normal return sequence. Coverage depends on compiler options and generated code. A canary does not prevent the original out-of-bounds write, protect every object, or guarantee detection of every corruption pattern. It is a detection barrier for a subset of consequences.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stack-protector instrumentation places a check value in selected stack frames and verifies it before returning through the protected path.</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58.2 Non-executable memory</a:t>
            </a:r>
          </a:p>
          <a:p/>
          <a:p>
            <a:r>
              <a:t>LECTURE NARRATION</a:t>
            </a:r>
          </a:p>
          <a:p>
            <a:r>
              <a:t>Non-executable permissions prevent instruction fetches from designated data regions. Separating executable code from writable data reduces one class of attack opportunity. The processor and operating system must support and enforce the mapping policy. Non-executable data does not prevent all control-flow misuse or data-only corruption. An attacker does not necessarily need to introduce new executable bytes to cause harm. The underlying invalid write, stale pointer, or authorization error still requires repair.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non-executable permissions prevent instruction fetches from designated data regions.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58.2 Non-executable memory — Deep Dive</a:t>
            </a:r>
          </a:p>
          <a:p/>
          <a:p>
            <a:r>
              <a:t>LECTURE NARRATION</a:t>
            </a:r>
          </a:p>
          <a:p>
            <a:r>
              <a:t>Non-executable permissions prevent instruction fetches from designated data regions. Separating executable code from writable data reduces one class of attack opportunity. The processor and operating system must support and enforce the mapping policy. Non-executable data does not prevent all control-flow misuse or data-only corruption. An attacker does not necessarily need to introduce new executable bytes to cause harm. The underlying invalid write, stale pointer, or authorization error still requires repair.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non-executable permissions prevent instruction fetches from designated data regions.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58.3 Address-space randomization</a:t>
            </a:r>
          </a:p>
          <a:p/>
          <a:p>
            <a:r>
              <a:t>LECTURE NARRATION</a:t>
            </a:r>
          </a:p>
          <a:p>
            <a:r>
              <a:t>Address-space randomization varies locations of mapped regions to make useful addresses less predictable. Position-independent executables and libraries support relocation under the relevant loader model. Randomization is not confidentiality by itself. Information disclosure can reveal addresses, and entropy varies with architecture and configuration. Do not disable randomization to make an application appear more stable; investigate invalid address assumptions instead.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58.3 Address-space randomization — Deep Dive</a:t>
            </a:r>
          </a:p>
          <a:p/>
          <a:p>
            <a:r>
              <a:t>LECTURE NARRATION</a:t>
            </a:r>
          </a:p>
          <a:p>
            <a:r>
              <a:t>Address-space randomization varies locations of mapped regions to make useful addresses less predictable. Position-independent executables and libraries support relocation under the relevant loader model. Randomization is not confidentiality by itself. Information disclosure can reveal addresses, and entropy varies with architecture and configuration. Do not disable randomization to make an application appear more stable; investigate invalid address assumptions instead.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58.4 Memory permissions</a:t>
            </a:r>
          </a:p>
          <a:p/>
          <a:p>
            <a:r>
              <a:t>LECTURE NARRATION</a:t>
            </a:r>
          </a:p>
          <a:p>
            <a:r>
              <a:t>Memory permissions restrict reading, writing, and execution at mapping granularity. A least-permission design avoids writable executable regions and removes unneeded access. Read-only mappings can protect immutable tables from accidental modification. Changing permissions is a privileged service request and may require translation invalidation. Permissions still do not distinguish two objects inside one writable page. They reinforce region-level boundaries while language and application rules govern object-level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memory permissions restrict reading, writing, and execution at mapping granularity.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58.4 Memory permissions — Deep Dive</a:t>
            </a:r>
          </a:p>
          <a:p/>
          <a:p>
            <a:r>
              <a:t>LECTURE NARRATION</a:t>
            </a:r>
          </a:p>
          <a:p>
            <a:r>
              <a:t>Memory permissions restrict reading, writing, and execution at mapping granularity. A least-permission design avoids writable executable regions and removes unneeded access. Read-only mappings can protect immutable tables from accidental modification. Changing permissions is a privileged service request and may require translation invalidation. Permissions still do not distinguish two objects inside one writable page. They reinforce region-level boundaries while language and application rules govern object-level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memory permissions restrict reading, writing, and execution at mapping granularity.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58.5 Privilege separation</a:t>
            </a:r>
          </a:p>
          <a:p/>
          <a:p>
            <a:r>
              <a:t>LECTURE NARRATION</a:t>
            </a:r>
          </a:p>
          <a:p>
            <a:r>
              <a:t>Privilege separation divides a system so that components handling untrusted input possess only the authority they need. A small privileged component can perform narrow validated operations for a less-privileged parser or worker. The communication interface becomes a security boundary and must validate message type, size, identity, and requested action. Splitting into processes without reducing authority or validating requests merely relocates the same risk. Failure recovery should also specify what happens when one component exits midway through an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privilege separation divides a system so that components handling untrusted input possess only the authority they need.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58.5 Privilege separation — Deep Dive</a:t>
            </a:r>
          </a:p>
          <a:p/>
          <a:p>
            <a:r>
              <a:t>LECTURE NARRATION</a:t>
            </a:r>
          </a:p>
          <a:p>
            <a:r>
              <a:t>Privilege separation divides a system so that components handling untrusted input possess only the authority they need. A small privileged component can perform narrow validated operations for a less-privileged parser or worker. The communication interface becomes a security boundary and must validate message type, size, identity, and requested action. Splitting into processes without reducing authority or validating requests merely relocates the same risk. Failure recovery should also specify what happens when one component exits midway through an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privilege separation divides a system so that components handling untrusted input possess only the authority they need.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Build and inspect a hardened parser</a:t>
            </a:r>
          </a:p>
          <a:p/>
          <a:p>
            <a:r>
              <a:t>LECTURE NARRATION</a:t>
            </a:r>
          </a:p>
          <a:p>
            <a:r>
              <a:t>The following script compiles the safe Chapter 57 parser with a representative GNU/Linux hardening configuration. It uses the installed compiler and standard library; it does not download software, change kernel settings, or disable any protection. Support for individual options depends on the toolchain. Companion listing: ch58/harden.sh Inspection should distinguish evidence from inference. A position-independent executable normally appears as ELF type DYN with executable context; a GNU_STACK program header should not request execute permission; GNU_RELRO and immediate-binding metadata provide evidence for the requested relocation protections. These observations do not prove that every mitigation is effective on every path, nor that the program has no vulnerabilities. [ R37 , R45 ] _FORTIFY_SOURCE=3 requires a supporting compiler and libc environment and useful optimization. A build failure should be reported and the supported configuration selected deliberately, not hidden by silently dropping flags while continuing to label the output hardened. Sanitizer builds serve a different testing purpose and should be documented separately.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script compiles the safe Chapter 57 parser with a representative GNU/Linux hardening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Build and inspect a hardened parser — Deep Dive</a:t>
            </a:r>
          </a:p>
          <a:p/>
          <a:p>
            <a:r>
              <a:t>LECTURE NARRATION</a:t>
            </a:r>
          </a:p>
          <a:p>
            <a:r>
              <a:t>The following script compiles the safe Chapter 57 parser with a representative GNU/Linux hardening configuration. It uses the installed compiler and standard library; it does not download software, change kernel settings, or disable any protection. Support for individual options depends on the toolchain. Companion listing: ch58/harden.sh Inspection should distinguish evidence from inference. A position-independent executable normally appears as ELF type DYN with executable context; a GNU_STACK program header should not request execute permission; GNU_RELRO and immediate-binding metadata provide evidence for the requested relocation protections. These observations do not prove that every mitigation is effective on every path, nor that the program has no vulnerabilities. [ R37 , R45 ] _FORTIFY_SOURCE=3 requires a supporting compiler and libc environment and useful optimization. A build failure should be reported and the supported configuration selected deliberately, not hidden by silently dropping flags while continuing to label the output hardened. Sanitizer builds serve a different testing purpose and should be documented separately.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following script compiles the safe Chapter 57 parser with a representative GNU/Linux hardening configuration.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What a stack canary checks</a:t>
            </a:r>
          </a:p>
          <a:p/>
          <a:p>
            <a:r>
              <a:t>LECTURE NARRATION</a:t>
            </a:r>
          </a:p>
          <a:p>
            <a:r>
              <a:t>A compiler can place a random guard value between vulnerable local data and control-sensitive stack state. Before returning, generated code verifies that the guard is unchanged. A sequential overflow that crosses the canary is likely detected, but the mechanism does not prevent every memory error and is not a substitute for bounds safety.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compiler can place a random guard value between vulnerable local data and control-sensitive stack state.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What a stack canary checks — Deep Dive</a:t>
            </a:r>
          </a:p>
          <a:p/>
          <a:p>
            <a:r>
              <a:t>LECTURE NARRATION</a:t>
            </a:r>
          </a:p>
          <a:p>
            <a:r>
              <a:t>A compiler can place a random guard value between vulnerable local data and control-sensitive stack state. Before returning, generated code verifies that the guard is unchanged. A sequential overflow that crosses the canary is likely detected, but the mechanism does not prevent every memory error and is not a substitute for bounds safety.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compiler can place a random guard value between vulnerable local data and control-sensitive stack state.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ASLR and PIE together</a:t>
            </a:r>
          </a:p>
          <a:p/>
          <a:p>
            <a:r>
              <a:t>LECTURE NARRATION</a:t>
            </a:r>
          </a:p>
          <a:p>
            <a:r>
              <a:t>Address-space randomization can vary where executable code is loaded effectively when the executable is position independent. If code is fixed to one link-time address, some randomization opportunities are reduced. Even with PIE and ASLR, information disclosures or other weaknesses can undermine address uncertainty, so mitigations are layered rather than absolute.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address-space randomization can vary where executable code is loaded effectively when the executable is position independent.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ASLR and PIE together — Deep Dive</a:t>
            </a:r>
          </a:p>
          <a:p/>
          <a:p>
            <a:r>
              <a:t>LECTURE NARRATION</a:t>
            </a:r>
          </a:p>
          <a:p>
            <a:r>
              <a:t>Address-space randomization can vary where executable code is loaded effectively when the executable is position independent. If code is fixed to one link-time address, some randomization opportunities are reduced. Even with PIE and ASLR, information disclosures or other weaknesses can undermine address uncertainty, so mitigations are layered rather than absolute.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address-space randomization can vary where executable code is loaded effectively when the executable is position independent.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58. Run the script in a supported unclassified development environment and inspect the ELF metadata. Record actual compiler and linker versions and which requested properties are visible. Keep the original source checks enabled; do not remove validation to “test the mitigation.” Review 1. Why does a canary not make an overflow safe? Review 2. What must change for process separation to become privilege separation?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58.</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58. Run the script in a supported unclassified development environment and inspect the ELF metadata. Record actual compiler and linker versions and which requested properties are visible. Keep the original source checks enabled; do not remove validation to “test the mitigation.” Review 1. Why does a canary not make an overflow safe? Review 2. What must change for process separation to become privilege separation?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58.</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exploit mitigations.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exploit mitigations.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System Robustness.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58 — Exploit Mitigations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Mitigations reduce the consequences or feasibility of exploiting certain bugs.</a:t>
            </a:r>
          </a:p>
          <a:p>
            <a:pPr>
              <a:spcAft>
                <a:spcPts val="1100"/>
              </a:spcAft>
              <a:defRPr sz="1900">
                <a:solidFill>
                  <a:srgbClr val="F2F5F8"/>
                </a:solidFill>
              </a:defRPr>
            </a:pPr>
            <a:r>
              <a:t>• They are defense in depth, not substitutes for memory safety.</a:t>
            </a:r>
          </a:p>
          <a:p>
            <a:pPr>
              <a:spcAft>
                <a:spcPts val="1100"/>
              </a:spcAft>
              <a:defRPr sz="1700">
                <a:solidFill>
                  <a:srgbClr val="F2F5F8"/>
                </a:solidFill>
              </a:defRPr>
            </a:pPr>
            <a:r>
              <a:t>• A program can contain a serious vulnerability even when it is compiled with hardening flags, uses randomized addresses, and has non-executable data pages.</a:t>
            </a:r>
          </a:p>
          <a:p>
            <a:pPr>
              <a:spcAft>
                <a:spcPts val="1100"/>
              </a:spcAft>
              <a:defRPr sz="1900">
                <a:solidFill>
                  <a:srgbClr val="F2F5F8"/>
                </a:solidFill>
              </a:defRPr>
            </a:pPr>
            <a:r>
              <a:t>• Treat mitigation status as a property to inspect in the actual build and deployment.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Exploit Mitigations.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58.1 Stack canaries</a:t>
            </a:r>
          </a:p>
          <a:p>
            <a:pPr>
              <a:spcAft>
                <a:spcPts val="1100"/>
              </a:spcAft>
              <a:defRPr sz="1900">
                <a:solidFill>
                  <a:srgbClr val="F2F5F8"/>
                </a:solidFill>
              </a:defRPr>
            </a:pPr>
            <a:r>
              <a:t>• 58.2 Non-executable memory</a:t>
            </a:r>
          </a:p>
          <a:p>
            <a:pPr>
              <a:spcAft>
                <a:spcPts val="1100"/>
              </a:spcAft>
              <a:defRPr sz="1900">
                <a:solidFill>
                  <a:srgbClr val="F2F5F8"/>
                </a:solidFill>
              </a:defRPr>
            </a:pPr>
            <a:r>
              <a:t>• 58.3 Address-space randomization</a:t>
            </a:r>
          </a:p>
          <a:p>
            <a:pPr>
              <a:spcAft>
                <a:spcPts val="1100"/>
              </a:spcAft>
              <a:defRPr sz="1900">
                <a:solidFill>
                  <a:srgbClr val="F2F5F8"/>
                </a:solidFill>
              </a:defRPr>
            </a:pPr>
            <a:r>
              <a:t>• 58.4 Memory permissions</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58.1 Stack canaries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Stack-protector instrumentation places a check value in selected stack frames and verifies it before returning through the protected path.</a:t>
            </a:r>
          </a:p>
          <a:p>
            <a:pPr>
              <a:spcAft>
                <a:spcPts val="1100"/>
              </a:spcAft>
              <a:defRPr sz="1900">
                <a:solidFill>
                  <a:srgbClr val="F2F5F8"/>
                </a:solidFill>
              </a:defRPr>
            </a:pPr>
            <a:r>
              <a:t>• Some overwrites can then be detected before corrupted state is used in a normal return sequence.</a:t>
            </a:r>
          </a:p>
          <a:p>
            <a:pPr>
              <a:spcAft>
                <a:spcPts val="1100"/>
              </a:spcAft>
              <a:defRPr sz="1900">
                <a:solidFill>
                  <a:srgbClr val="F2F5F8"/>
                </a:solidFill>
              </a:defRPr>
            </a:pPr>
            <a:r>
              <a:t>• Coverage depends on compiler options and generated code.</a:t>
            </a:r>
          </a:p>
          <a:p>
            <a:pPr>
              <a:spcAft>
                <a:spcPts val="1100"/>
              </a:spcAft>
              <a:defRPr sz="1700">
                <a:solidFill>
                  <a:srgbClr val="F2F5F8"/>
                </a:solidFill>
              </a:defRPr>
            </a:pPr>
            <a:r>
              <a:t>• A canary does not prevent the original out-of-bounds write, protect every object, or guarantee detection of every corruption pattern.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58.1 Stack canaries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Coverage depends on compiler options and generated code.</a:t>
            </a:r>
          </a:p>
          <a:p>
            <a:pPr>
              <a:spcAft>
                <a:spcPts val="1100"/>
              </a:spcAft>
              <a:defRPr sz="1700">
                <a:solidFill>
                  <a:srgbClr val="F2F5F8"/>
                </a:solidFill>
              </a:defRPr>
            </a:pPr>
            <a:r>
              <a:t>• A canary does not prevent the original out-of-bounds write, protect every object, or guarantee detection of every corruption pattern.</a:t>
            </a:r>
          </a:p>
          <a:p>
            <a:pPr>
              <a:spcAft>
                <a:spcPts val="1100"/>
              </a:spcAft>
              <a:defRPr sz="1900">
                <a:solidFill>
                  <a:srgbClr val="F2F5F8"/>
                </a:solidFill>
              </a:defRPr>
            </a:pPr>
            <a:r>
              <a:t>• It is a detection barrier for a subset of consequences.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58.2 Non-executable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Non-executable permissions prevent instruction fetches from designated data regions.</a:t>
            </a:r>
          </a:p>
          <a:p>
            <a:pPr>
              <a:spcAft>
                <a:spcPts val="1100"/>
              </a:spcAft>
              <a:defRPr sz="1900">
                <a:solidFill>
                  <a:srgbClr val="F2F5F8"/>
                </a:solidFill>
              </a:defRPr>
            </a:pPr>
            <a:r>
              <a:t>• Separating executable code from writable data reduces one class of attack opportunity.</a:t>
            </a:r>
          </a:p>
          <a:p>
            <a:pPr>
              <a:spcAft>
                <a:spcPts val="1100"/>
              </a:spcAft>
              <a:defRPr sz="1900">
                <a:solidFill>
                  <a:srgbClr val="F2F5F8"/>
                </a:solidFill>
              </a:defRPr>
            </a:pPr>
            <a:r>
              <a:t>• The processor and operating system must support and enforce the mapping policy.</a:t>
            </a:r>
          </a:p>
          <a:p>
            <a:pPr>
              <a:spcAft>
                <a:spcPts val="1100"/>
              </a:spcAft>
              <a:defRPr sz="1900">
                <a:solidFill>
                  <a:srgbClr val="F2F5F8"/>
                </a:solidFill>
              </a:defRPr>
            </a:pPr>
            <a:r>
              <a:t>• Non-executable data does not prevent all control-flow misuse or data-only corruption.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58.2 Non-executable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Non-executable data does not prevent all control-flow misuse or data-only corruption.</a:t>
            </a:r>
          </a:p>
          <a:p>
            <a:pPr>
              <a:spcAft>
                <a:spcPts val="1100"/>
              </a:spcAft>
              <a:defRPr sz="1900">
                <a:solidFill>
                  <a:srgbClr val="F2F5F8"/>
                </a:solidFill>
              </a:defRPr>
            </a:pPr>
            <a:r>
              <a:t>• An attacker does not necessarily need to introduce new executable bytes to cause harm.</a:t>
            </a:r>
          </a:p>
          <a:p>
            <a:pPr>
              <a:spcAft>
                <a:spcPts val="1100"/>
              </a:spcAft>
              <a:defRPr sz="1900">
                <a:solidFill>
                  <a:srgbClr val="F2F5F8"/>
                </a:solidFill>
              </a:defRPr>
            </a:pPr>
            <a:r>
              <a:t>• The underlying invalid write, stale pointer, or authorization error still requires repair.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58.3 Address-space randomization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Address-space randomization varies locations of mapped regions to make useful addresses less predictable.</a:t>
            </a:r>
          </a:p>
          <a:p>
            <a:pPr>
              <a:spcAft>
                <a:spcPts val="1100"/>
              </a:spcAft>
              <a:defRPr sz="1900">
                <a:solidFill>
                  <a:srgbClr val="F2F5F8"/>
                </a:solidFill>
              </a:defRPr>
            </a:pPr>
            <a:r>
              <a:t>• Position-independent executables and libraries support relocation under the relevant loader model.</a:t>
            </a:r>
          </a:p>
          <a:p>
            <a:pPr>
              <a:spcAft>
                <a:spcPts val="1100"/>
              </a:spcAft>
              <a:defRPr sz="1900">
                <a:solidFill>
                  <a:srgbClr val="F2F5F8"/>
                </a:solidFill>
              </a:defRPr>
            </a:pPr>
            <a:r>
              <a:t>• Randomization is not confidentiality by itself.</a:t>
            </a:r>
          </a:p>
          <a:p>
            <a:pPr>
              <a:spcAft>
                <a:spcPts val="1100"/>
              </a:spcAft>
              <a:defRPr sz="1900">
                <a:solidFill>
                  <a:srgbClr val="F2F5F8"/>
                </a:solidFill>
              </a:defRPr>
            </a:pPr>
            <a:r>
              <a:t>• Information disclosure can reveal addresses, and entropy varies with architecture and configuration.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58.3 Address-space randomization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Randomization is not confidentiality by itself.</a:t>
            </a:r>
          </a:p>
          <a:p>
            <a:pPr>
              <a:spcAft>
                <a:spcPts val="1100"/>
              </a:spcAft>
              <a:defRPr sz="1900">
                <a:solidFill>
                  <a:srgbClr val="F2F5F8"/>
                </a:solidFill>
              </a:defRPr>
            </a:pPr>
            <a:r>
              <a:t>• Information disclosure can reveal addresses, and entropy varies with architecture and configuration.</a:t>
            </a:r>
          </a:p>
          <a:p>
            <a:pPr>
              <a:spcAft>
                <a:spcPts val="1100"/>
              </a:spcAft>
              <a:defRPr sz="1700">
                <a:solidFill>
                  <a:srgbClr val="F2F5F8"/>
                </a:solidFill>
              </a:defRPr>
            </a:pPr>
            <a:r>
              <a:t>• Do not disable randomization to make an application appear more stable; investigate invalid address assumptions instead.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58.4 Memory permissions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Memory permissions restrict reading, writing, and execution at mapping granularity.</a:t>
            </a:r>
          </a:p>
          <a:p>
            <a:pPr>
              <a:spcAft>
                <a:spcPts val="1100"/>
              </a:spcAft>
              <a:defRPr sz="1900">
                <a:solidFill>
                  <a:srgbClr val="F2F5F8"/>
                </a:solidFill>
              </a:defRPr>
            </a:pPr>
            <a:r>
              <a:t>• A least-permission design avoids writable executable regions and removes unneeded access.</a:t>
            </a:r>
          </a:p>
          <a:p>
            <a:pPr>
              <a:spcAft>
                <a:spcPts val="1100"/>
              </a:spcAft>
              <a:defRPr sz="1900">
                <a:solidFill>
                  <a:srgbClr val="F2F5F8"/>
                </a:solidFill>
              </a:defRPr>
            </a:pPr>
            <a:r>
              <a:t>• Read-only mappings can protect immutable tables from accidental modification.</a:t>
            </a:r>
          </a:p>
          <a:p>
            <a:pPr>
              <a:spcAft>
                <a:spcPts val="1100"/>
              </a:spcAft>
              <a:defRPr sz="1900">
                <a:solidFill>
                  <a:srgbClr val="F2F5F8"/>
                </a:solidFill>
              </a:defRPr>
            </a:pPr>
            <a:r>
              <a:t>• Changing permissions is a privileged service request and may require translation invalidation.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58.4 Memory permissions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Changing permissions is a privileged service request and may require translation invalidation.</a:t>
            </a:r>
          </a:p>
          <a:p>
            <a:pPr>
              <a:spcAft>
                <a:spcPts val="1100"/>
              </a:spcAft>
              <a:defRPr sz="1900">
                <a:solidFill>
                  <a:srgbClr val="F2F5F8"/>
                </a:solidFill>
              </a:defRPr>
            </a:pPr>
            <a:r>
              <a:t>• Permissions still do not distinguish two objects inside one writable page.</a:t>
            </a:r>
          </a:p>
          <a:p>
            <a:pPr>
              <a:spcAft>
                <a:spcPts val="1100"/>
              </a:spcAft>
              <a:defRPr sz="1900">
                <a:solidFill>
                  <a:srgbClr val="F2F5F8"/>
                </a:solidFill>
              </a:defRPr>
            </a:pPr>
            <a:r>
              <a:t>• They reinforce region-level boundaries while language and application rules govern object-level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58.5 Privilege separation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Privilege separation divides a system so that components handling untrusted input possess only the authority they need.</a:t>
            </a:r>
          </a:p>
          <a:p>
            <a:pPr>
              <a:spcAft>
                <a:spcPts val="1100"/>
              </a:spcAft>
              <a:defRPr sz="1900">
                <a:solidFill>
                  <a:srgbClr val="F2F5F8"/>
                </a:solidFill>
              </a:defRPr>
            </a:pPr>
            <a:r>
              <a:t>• A small privileged component can perform narrow validated operations for a less-privileged parser or worker.</a:t>
            </a:r>
          </a:p>
          <a:p>
            <a:pPr>
              <a:spcAft>
                <a:spcPts val="1100"/>
              </a:spcAft>
              <a:defRPr sz="1700">
                <a:solidFill>
                  <a:srgbClr val="F2F5F8"/>
                </a:solidFill>
              </a:defRPr>
            </a:pPr>
            <a:r>
              <a:t>• The communication interface becomes a security boundary and must validate message type, size, identity, and requested action.</a:t>
            </a:r>
          </a:p>
          <a:p>
            <a:pPr>
              <a:spcAft>
                <a:spcPts val="1100"/>
              </a:spcAft>
              <a:defRPr sz="1900">
                <a:solidFill>
                  <a:srgbClr val="F2F5F8"/>
                </a:solidFill>
              </a:defRPr>
            </a:pPr>
            <a:r>
              <a:t>• Splitting into processes without reducing authority or validating requests merely relocates the same risk.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58.5 Privilege separation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communication interface becomes a security boundary and must validate message type, size, identity, and requested action.</a:t>
            </a:r>
          </a:p>
          <a:p>
            <a:pPr>
              <a:spcAft>
                <a:spcPts val="1100"/>
              </a:spcAft>
              <a:defRPr sz="1900">
                <a:solidFill>
                  <a:srgbClr val="F2F5F8"/>
                </a:solidFill>
              </a:defRPr>
            </a:pPr>
            <a:r>
              <a:t>• Splitting into processes without reducing authority or validating requests merely relocates the same risk.</a:t>
            </a:r>
          </a:p>
          <a:p>
            <a:pPr>
              <a:spcAft>
                <a:spcPts val="1100"/>
              </a:spcAft>
              <a:defRPr sz="1900">
                <a:solidFill>
                  <a:srgbClr val="F2F5F8"/>
                </a:solidFill>
              </a:defRPr>
            </a:pPr>
            <a:r>
              <a:t>• Failure recovery should also specify what happens when one component exits midway through an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 and inspect a hardened parser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following script compiles the safe Chapter 57 parser with a representative GNU/Linux hardening configuration.</a:t>
            </a:r>
          </a:p>
          <a:p>
            <a:pPr>
              <a:spcAft>
                <a:spcPts val="1100"/>
              </a:spcAft>
              <a:defRPr sz="1700">
                <a:solidFill>
                  <a:srgbClr val="F2F5F8"/>
                </a:solidFill>
              </a:defRPr>
            </a:pPr>
            <a:r>
              <a:t>• It uses the installed compiler and standard library; it does not download software, change kernel settings, or disable any protection.</a:t>
            </a:r>
          </a:p>
          <a:p>
            <a:pPr>
              <a:spcAft>
                <a:spcPts val="1100"/>
              </a:spcAft>
              <a:defRPr sz="1900">
                <a:solidFill>
                  <a:srgbClr val="F2F5F8"/>
                </a:solidFill>
              </a:defRPr>
            </a:pPr>
            <a:r>
              <a:t>• Support for individual options depends on the toolchain.</a:t>
            </a:r>
          </a:p>
          <a:p>
            <a:pPr>
              <a:spcAft>
                <a:spcPts val="1100"/>
              </a:spcAft>
              <a:defRPr sz="1900">
                <a:solidFill>
                  <a:srgbClr val="F2F5F8"/>
                </a:solidFill>
              </a:defRPr>
            </a:pPr>
            <a:r>
              <a:t>• Companion listing: ch58/harden.sh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 and inspect a hardened parser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ch58/harden.sh</a:t>
            </a:r>
          </a:p>
          <a:p>
            <a:pPr>
              <a:spcAft>
                <a:spcPts val="1100"/>
              </a:spcAft>
              <a:defRPr sz="1900">
                <a:solidFill>
                  <a:srgbClr val="F2F5F8"/>
                </a:solidFill>
              </a:defRPr>
            </a:pPr>
            <a:r>
              <a:t>• Inspection should distinguish evidence from inference.</a:t>
            </a:r>
          </a:p>
          <a:p>
            <a:pPr>
              <a:spcAft>
                <a:spcPts val="1100"/>
              </a:spcAft>
              <a:defRPr sz="1700">
                <a:solidFill>
                  <a:srgbClr val="F2F5F8"/>
                </a:solidFill>
              </a:defRPr>
            </a:pPr>
            <a:r>
              <a:t>• A position-independent executable normally appears as ELF type DYN with executable context; a GNU_STACK program header should not request execute permission; GNU_RELRO and...</a:t>
            </a:r>
          </a:p>
          <a:p>
            <a:pPr>
              <a:spcAft>
                <a:spcPts val="1100"/>
              </a:spcAft>
              <a:defRPr sz="1700">
                <a:solidFill>
                  <a:srgbClr val="F2F5F8"/>
                </a:solidFill>
              </a:defRPr>
            </a:pPr>
            <a:r>
              <a:t>• These observations do not prove that every mitigation is effective on every path, nor that the program has no vulnerabilities. [ R37 , R45 ]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What a stack canary checks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compiler can place a random guard value between vulnerable local data and control-sensitive stack state.</a:t>
            </a:r>
          </a:p>
          <a:p>
            <a:pPr>
              <a:spcAft>
                <a:spcPts val="1100"/>
              </a:spcAft>
              <a:defRPr sz="1900">
                <a:solidFill>
                  <a:srgbClr val="F2F5F8"/>
                </a:solidFill>
              </a:defRPr>
            </a:pPr>
            <a:r>
              <a:t>• Before returning, generated code verifies that the guard is unchanged.</a:t>
            </a:r>
          </a:p>
          <a:p>
            <a:pPr>
              <a:spcAft>
                <a:spcPts val="1100"/>
              </a:spcAft>
              <a:defRPr sz="1700">
                <a:solidFill>
                  <a:srgbClr val="F2F5F8"/>
                </a:solidFill>
              </a:defRPr>
            </a:pPr>
            <a:r>
              <a:t>• A sequential overflow that crosses the canary is likely detected, but the mechanism does not prevent every memory error and is not a substitute for bounds safety.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What a stack canary checks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compiler can place a random guard value between vulnerable local data and control-sensitive stack state.</a:t>
            </a:r>
          </a:p>
          <a:p>
            <a:pPr>
              <a:spcAft>
                <a:spcPts val="1100"/>
              </a:spcAft>
              <a:defRPr sz="1900">
                <a:solidFill>
                  <a:srgbClr val="F2F5F8"/>
                </a:solidFill>
              </a:defRPr>
            </a:pPr>
            <a:r>
              <a:t>• Before returning, generated code verifies that the guard is unchanged.</a:t>
            </a:r>
          </a:p>
          <a:p>
            <a:pPr>
              <a:spcAft>
                <a:spcPts val="1100"/>
              </a:spcAft>
              <a:defRPr sz="1700">
                <a:solidFill>
                  <a:srgbClr val="F2F5F8"/>
                </a:solidFill>
              </a:defRPr>
            </a:pPr>
            <a:r>
              <a:t>• A sequential overflow that crosses the canary is likely detected, but the mechanism does not prevent every memory error and is not a substitute for bounds safety.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ASLR and PIE together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Address-space randomization can vary where executable code is loaded effectively when the executable is position independent.</a:t>
            </a:r>
          </a:p>
          <a:p>
            <a:pPr>
              <a:spcAft>
                <a:spcPts val="1100"/>
              </a:spcAft>
              <a:defRPr sz="1900">
                <a:solidFill>
                  <a:srgbClr val="F2F5F8"/>
                </a:solidFill>
              </a:defRPr>
            </a:pPr>
            <a:r>
              <a:t>• If code is fixed to one link-time address, some randomization opportunities are reduced.</a:t>
            </a:r>
          </a:p>
          <a:p>
            <a:pPr>
              <a:spcAft>
                <a:spcPts val="1100"/>
              </a:spcAft>
              <a:defRPr sz="1700">
                <a:solidFill>
                  <a:srgbClr val="F2F5F8"/>
                </a:solidFill>
              </a:defRPr>
            </a:pPr>
            <a:r>
              <a:t>• Even with PIE and ASLR, information disclosures or other weaknesses can undermine address uncertainty, so mitigations are layered rather than absolute.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ASLR and PIE together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Address-space randomization can vary where executable code is loaded effectively when the executable is position independent.</a:t>
            </a:r>
          </a:p>
          <a:p>
            <a:pPr>
              <a:spcAft>
                <a:spcPts val="1100"/>
              </a:spcAft>
              <a:defRPr sz="1900">
                <a:solidFill>
                  <a:srgbClr val="F2F5F8"/>
                </a:solidFill>
              </a:defRPr>
            </a:pPr>
            <a:r>
              <a:t>• If code is fixed to one link-time address, some randomization opportunities are reduced.</a:t>
            </a:r>
          </a:p>
          <a:p>
            <a:pPr>
              <a:spcAft>
                <a:spcPts val="1100"/>
              </a:spcAft>
              <a:defRPr sz="1700">
                <a:solidFill>
                  <a:srgbClr val="F2F5F8"/>
                </a:solidFill>
              </a:defRPr>
            </a:pPr>
            <a:r>
              <a:t>• Even with PIE and ASLR, information disclosures or other weaknesses can undermine address uncertainty, so mitigations are layered rather than absolute.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58.</a:t>
            </a:r>
          </a:p>
          <a:p>
            <a:pPr>
              <a:spcAft>
                <a:spcPts val="1100"/>
              </a:spcAft>
              <a:defRPr sz="1900">
                <a:solidFill>
                  <a:srgbClr val="F2F5F8"/>
                </a:solidFill>
              </a:defRPr>
            </a:pPr>
            <a:r>
              <a:t>• Run the script in a supported unclassified development environment and inspect the ELF metadata.</a:t>
            </a:r>
          </a:p>
          <a:p>
            <a:pPr>
              <a:spcAft>
                <a:spcPts val="1100"/>
              </a:spcAft>
              <a:defRPr sz="1900">
                <a:solidFill>
                  <a:srgbClr val="F2F5F8"/>
                </a:solidFill>
              </a:defRPr>
            </a:pPr>
            <a:r>
              <a:t>• Record actual compiler and linker versions and which requested properties are visible.</a:t>
            </a:r>
          </a:p>
          <a:p>
            <a:pPr>
              <a:spcAft>
                <a:spcPts val="1100"/>
              </a:spcAft>
              <a:defRPr sz="1900">
                <a:solidFill>
                  <a:srgbClr val="F2F5F8"/>
                </a:solidFill>
              </a:defRPr>
            </a:pPr>
            <a:r>
              <a:t>• Keep the original source checks enabled; do not remove validation to “test the mitigation.”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does a canary not make an overflow safe?</a:t>
            </a:r>
          </a:p>
          <a:p>
            <a:pPr>
              <a:spcAft>
                <a:spcPts val="1100"/>
              </a:spcAft>
              <a:defRPr sz="1900">
                <a:solidFill>
                  <a:srgbClr val="F2F5F8"/>
                </a:solidFill>
              </a:defRPr>
            </a:pPr>
            <a:r>
              <a:t>• Review 2.</a:t>
            </a:r>
          </a:p>
          <a:p>
            <a:pPr>
              <a:spcAft>
                <a:spcPts val="1100"/>
              </a:spcAft>
              <a:defRPr sz="1900">
                <a:solidFill>
                  <a:srgbClr val="F2F5F8"/>
                </a:solidFill>
              </a:defRPr>
            </a:pPr>
            <a:r>
              <a:t>• What must change for process separation to become privilege separation?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exploit mitigations.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System Robustness.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58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