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Chapter 33 — Files</a:t>
            </a:r>
          </a:p>
          <a:p/>
          <a:p>
            <a:r>
              <a:t>LECTURE NARRATION</a:t>
            </a:r>
          </a:p>
          <a:p>
            <a:r>
              <a:t>A file interface presents data through a persistent name, an open handle, or a stream-like endpoint. The operating system hides many device details, but the abstraction does not make every endpoint behave like a seekable array of bytes. Correct I/O code begins by identifying which guarantees the particular object provides. The Linux/POSIX examples distinguish a pathname , an underlying filesystem object, an open file description , and a process’s file descriptor . Those are related objects, not four names for the same thing. The distinction explains shared offsets, inherited descriptors, and why removing a pathname need not immediately invalidate an already-open handle. [ R47 , R13 ]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file interface presents data through a persistent name, an open handle, or a stream-like endpoint.</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What This Chapter Builds</a:t>
            </a:r>
          </a:p>
          <a:p/>
          <a:p>
            <a:r>
              <a:t>LECTURE NARRATION</a:t>
            </a:r>
          </a:p>
          <a:p>
            <a:r>
              <a:t>A file interface presents data through a persistent name, an open handle, or a stream-like endpoint. The operating system hides many device details, but the abstraction does not make every endpoint behave like a seekable array of bytes. Correct I/O code begins by identifying which guarantees the particular object provides. The Linux/POSIX examples distinguish a pathname , an underlying filesystem object, an open file description , and a process’s file descriptor . Those are related objects, not four names for the same thing. The distinction explains shared offsets, inherited descriptors, and why removing a pathname need not immediately invalidate an already-open handle. [ R47 , R13 ]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file interface presents data through a persistent name, an open handle, or a stream-like endpoint.</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Chapter Roadmap</a:t>
            </a:r>
          </a:p>
          <a:p/>
          <a:p>
            <a:r>
              <a:t>LECTURE NARRATION</a:t>
            </a:r>
          </a:p>
          <a:p>
            <a:r>
              <a:t>33.1 Regular files 33.2 Streams 33.3 Random-access files 33.4 File position ...plus 5 additional source topics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33.1 Regular files 33.2 Streams 33.3 Random-access files 33.4 File position ...plus 5 additional source topics</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33.1 Regular files</a:t>
            </a:r>
          </a:p>
          <a:p/>
          <a:p>
            <a:r>
              <a:t>LECTURE NARRATION</a:t>
            </a:r>
          </a:p>
          <a:p>
            <a:r>
              <a:t>A regular file provides byte-oriented contents and metadata under filesystem rules. It usually supports seeking to a position and reading or writing there. Its logical size need not equal the amount of physical storage allocated, as sparse regions illustrate. A pathname is a route through a directory namespace, not a permanent guarantee about object identity. Another process can rename or replace an entry between separate pathname operations. When an operation must apply to the object already opened, use the descriptor and descriptor-relative interfaces where appropriate rather than reopening the name and assuming it still denotes the same object.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The program asks the operating system to move bytes to or from a resource, much like using a numbered ticket to ask a clerk for the right item.</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33.1 Regular files — Deep Dive</a:t>
            </a:r>
          </a:p>
          <a:p/>
          <a:p>
            <a:r>
              <a:t>LECTURE NARRATION</a:t>
            </a:r>
          </a:p>
          <a:p>
            <a:r>
              <a:t>A regular file provides byte-oriented contents and metadata under filesystem rules. It usually supports seeking to a position and reading or writing there. Its logical size need not equal the amount of physical storage allocated, as sparse regions illustrate. A pathname is a route through a directory namespace, not a permanent guarantee about object identity. Another process can rename or replace an entry between separate pathname operations. When an operation must apply to the object already opened, use the descriptor and descriptor-relative interfaces where appropriate rather than reopening the name and assuming it still denotes the same object.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The program asks the operating system to move bytes to or from a resource, much like using a numbered ticket to ask a clerk for the right item.</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33.2 Streams</a:t>
            </a:r>
          </a:p>
          <a:p/>
          <a:p>
            <a:r>
              <a:t>LECTURE NARRATION</a:t>
            </a:r>
          </a:p>
          <a:p>
            <a:r>
              <a:t>A stream exposes an ordered flow of bytes or records according to its interface. Pipes and TCP sockets are byte streams that do not support arbitrary seeking. Data may arrive gradually, and a read can return fewer bytes than requested. The C standard-I/O concept of a stream adds buffering and library state through FILE* . That is another layer: a FILE* may wrap a regular file or another supported endpoint. Distinguish the endpoint’s capabilities from the library abstraction used to access it.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stream exposes an ordered flow of bytes or records according to its interface.</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33.2 Streams — Deep Dive</a:t>
            </a:r>
          </a:p>
          <a:p/>
          <a:p>
            <a:r>
              <a:t>LECTURE NARRATION</a:t>
            </a:r>
          </a:p>
          <a:p>
            <a:r>
              <a:t>A stream exposes an ordered flow of bytes or records according to its interface. Pipes and TCP sockets are byte streams that do not support arbitrary seeking. Data may arrive gradually, and a read can return fewer bytes than requested. The C standard-I/O concept of a stream adds buffering and library state through FILE* . That is another layer: a FILE* may wrap a regular file or another supported endpoint. Distinguish the endpoint’s capabilities from the library abstraction used to access it.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stream exposes an ordered flow of bytes or records according to its interface.</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33.3 Random-access files</a:t>
            </a:r>
          </a:p>
          <a:p/>
          <a:p>
            <a:r>
              <a:t>LECTURE NARRATION</a:t>
            </a:r>
          </a:p>
          <a:p>
            <a:r>
              <a:t>Random access means that the program can select positions rather than consume data only in arrival order. A file format can use fixed-size records, an index, or offsets into variable-length data. The format must define byte ordering, field widths, and bounds independently of a compiler’s in-memory structure layout. Seeking past the end does not itself write intervening bytes. Subsequent writes can extend the file according to filesystem semantics. A robust parser checks offsets and lengths against the actual file size before accessing a region, using subtraction-based bounds checks that avoid overflowing offset + length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The program asks the operating system to move bytes to or from a resource, much like using a numbered ticket to ask a clerk for the right item.</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33.3 Random-access files — Deep Dive</a:t>
            </a:r>
          </a:p>
          <a:p/>
          <a:p>
            <a:r>
              <a:t>LECTURE NARRATION</a:t>
            </a:r>
          </a:p>
          <a:p>
            <a:r>
              <a:t>Random access means that the program can select positions rather than consume data only in arrival order. A file format can use fixed-size records, an index, or offsets into variable-length data. The format must define byte ordering, field widths, and bounds independently of a compiler’s in-memory structure layout. Seeking past the end does not itself write intervening bytes. Subsequent writes can extend the file according to filesystem semantics. A robust parser checks offsets and lengths against the actual file size before accessing a region, using subtraction-based bounds checks that avoid overflowing offset + length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The program asks the operating system to move bytes to or from a resource, much like using a numbered ticket to ask a clerk for the right item.</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33.4 File position</a:t>
            </a:r>
          </a:p>
          <a:p/>
          <a:p>
            <a:r>
              <a:t>LECTURE NARRATION</a:t>
            </a:r>
          </a:p>
          <a:p>
            <a:r>
              <a:t>An open file description maintains a current file offset for interfaces such as read , write , and lseek on seekable objects. Descriptors created by dup or inherited through fork can refer to the same open file description and therefore share that offset. Separate open calls generally create separate open file descriptions, even when the pathname identifies the same file. Their current offsets are independent. Positional I/O such as pread and pwrite specifies an offset for an operation without using the shared current position in the same way, making it useful for independent random access.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The program asks the operating system to move bytes to or from a resource, much like using a numbered ticket to ask a clerk for the right item.</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33.4 File position — Deep Dive</a:t>
            </a:r>
          </a:p>
          <a:p/>
          <a:p>
            <a:r>
              <a:t>LECTURE NARRATION</a:t>
            </a:r>
          </a:p>
          <a:p>
            <a:r>
              <a:t>An open file description maintains a current file offset for interfaces such as read , write , and lseek on seekable objects. Descriptors created by dup or inherited through fork can refer to the same open file description and therefore share that offset. Separate open calls generally create separate open file descriptions, even when the pathname identifies the same file. Their current offsets are independent. Positional I/O such as pread and pwrite specifies an offset for an operation without using the shared current position in the same way, making it useful for independent random access.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The program asks the operating system to move bytes to or from a resource, much like using a numbered ticket to ask a clerk for the right item.</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33.5 Metadata</a:t>
            </a:r>
          </a:p>
          <a:p/>
          <a:p>
            <a:r>
              <a:t>LECTURE NARRATION</a:t>
            </a:r>
          </a:p>
          <a:p>
            <a:r>
              <a:t>Metadata describes properties such as type, size, permissions, ownership, and timestamps. Descriptor-based inspection identifies the already-open object. A metadata result is a snapshot, not a lock that prevents later changes by another process. Security-sensitive code should avoid checking a pathname and then assuming the checked property remains true during a later open. This is a time-of-check/time-of-use problem. Use interfaces and ownership rules that bind validation to the actual object being used, and account for concurrent modification when the application permits it.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metadata describes properties such as type, size, permissions, ownership, and timestamps.</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33.5 Metadata — Deep Dive</a:t>
            </a:r>
          </a:p>
          <a:p/>
          <a:p>
            <a:r>
              <a:t>LECTURE NARRATION</a:t>
            </a:r>
          </a:p>
          <a:p>
            <a:r>
              <a:t>Metadata describes properties such as type, size, permissions, ownership, and timestamps. Descriptor-based inspection identifies the already-open object. A metadata result is a snapshot, not a lock that prevents later changes by another process. Security-sensitive code should avoid checking a pathname and then assuming the checked property remains true during a later open. This is a time-of-check/time-of-use problem. Use interfaces and ownership rules that bind validation to the actual object being used, and account for concurrent modification when the application permits it.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metadata describes properties such as type, size, permissions, ownership, and timestamps.</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Worked example — Record boundaries without overflow</a:t>
            </a:r>
          </a:p>
          <a:p/>
          <a:p>
            <a:r>
              <a:t>LECTURE NARRATION</a:t>
            </a:r>
          </a:p>
          <a:p>
            <a:r>
              <a:t>Suppose a file format begins with a 16-byte header followed by fixed 24-byte records. A file of 160 bytes contains (160 - 16) / 24 = 6 complete records, with no trailing bytes. Record 4, using zero-based indexing, begins at 16 + 4 × 24 = 112 and occupies bytes 112 through 135. A safe validation sequence first requires file_size &gt;= header_size . It then computes payload_size = file_size - header_size , verifies that payload_size % record_size == 0 , and derives the record count. Only after checking index &lt; record_count should it form the selected record’s offset. For an arbitrary byte range with offset o and length n , prefer: This avoids computing an unchecked sum that could wrap. The checks establish a valid range in the observed file size; they do not prevent another process from truncating the file afterward. The application needs an immutability or coordination policy when concurrent modification is possible.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suppose a file format begins with a 16-byte header followed by fixed 24-byte records.</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Worked example — Record boundaries without overflow — Deep Dive</a:t>
            </a:r>
          </a:p>
          <a:p/>
          <a:p>
            <a:r>
              <a:t>LECTURE NARRATION</a:t>
            </a:r>
          </a:p>
          <a:p>
            <a:r>
              <a:t>Suppose a file format begins with a 16-byte header followed by fixed 24-byte records. A file of 160 bytes contains (160 - 16) / 24 = 6 complete records, with no trailing bytes. Record 4, using zero-based indexing, begins at 16 + 4 × 24 = 112 and occupies bytes 112 through 135. A safe validation sequence first requires file_size &gt;= header_size . It then computes payload_size = file_size - header_size , verifies that payload_size % record_size == 0 , and derives the record count. Only after checking index &lt; record_count should it form the selected record’s offset. For an arbitrary byte range with offset o and length n , prefer: This avoids computing an unchecked sum that could wrap. The checks establish a valid range in the observed file size; they do not prevent another process from truncating the file afterward. The application needs an immutability or coordination policy when concurrent modification is possible.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suppose a file format begins with a 16-byte header followed by fixed 24-byte records.</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Worked example — Sequential versus random file access</a:t>
            </a:r>
          </a:p>
          <a:p/>
          <a:p>
            <a:r>
              <a:t>LECTURE NARRATION</a:t>
            </a:r>
          </a:p>
          <a:p>
            <a:r>
              <a:t>Reading a 1 MiB file from beginning to end advances the file offset naturally after each read. To revisit byte 100 without rereading earlier bytes, a seekable regular file can use lseek to reposition before reading. Pipes and terminals are streams and generally do not support arbitrary seek semantics.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The program asks the operating system to move bytes to or from a resource, much like using a numbered ticket to ask a clerk for the right item.</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Worked example — Sequential versus random file access — Deep Dive</a:t>
            </a:r>
          </a:p>
          <a:p/>
          <a:p>
            <a:r>
              <a:t>LECTURE NARRATION</a:t>
            </a:r>
          </a:p>
          <a:p>
            <a:r>
              <a:t>Reading a 1 MiB file from beginning to end advances the file offset naturally after each read. To revisit byte 100 without rereading earlier bytes, a seekable regular file can use lseek to reposition before reading. Pipes and terminals are streams and generally do not support arbitrary seek semantics.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The program asks the operating system to move bytes to or from a resource, much like using a numbered ticket to ask a clerk for the right item.</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Worked example — Metadata is not file content</a:t>
            </a:r>
          </a:p>
          <a:p/>
          <a:p>
            <a:r>
              <a:t>LECTURE NARRATION</a:t>
            </a:r>
          </a:p>
          <a:p>
            <a:r>
              <a:t>A file’s permissions, owner, timestamps, and size are metadata. Reading file data does not automatically reveal all metadata, and changing metadata does not necessarily change file bytes. Systems code often uses separate interfaces such as stat to query this information.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The program asks the operating system to move bytes to or from a resource, much like using a numbered ticket to ask a clerk for the right item.</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Worked example — Metadata is not file content — Deep Dive</a:t>
            </a:r>
          </a:p>
          <a:p/>
          <a:p>
            <a:r>
              <a:t>LECTURE NARRATION</a:t>
            </a:r>
          </a:p>
          <a:p>
            <a:r>
              <a:t>A file’s permissions, owner, timestamps, and size are metadata. Reading file data does not automatically reveal all metadata, and changing metadata does not necessarily change file bytes. Systems code often uses separate interfaces such as stat to query this information.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The program asks the operating system to move bytes to or from a resource, much like using a numbered ticket to ask a clerk for the right item.</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Guided lab and review</a:t>
            </a:r>
          </a:p>
          <a:p/>
          <a:p>
            <a:r>
              <a:t>LECTURE NARRATION</a:t>
            </a:r>
          </a:p>
          <a:p>
            <a:r>
              <a:t>Lab 33. Apply the record checks to file sizes 15, 16, 159, and 160. State which files are structurally valid under the stated format and how many records each valid file contains. Review 1. Why can two descriptors share a file position? Review 2. Why does a successful metadata check not freeze the file?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33.</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Guided lab and review — Deep Dive</a:t>
            </a:r>
          </a:p>
          <a:p/>
          <a:p>
            <a:r>
              <a:t>LECTURE NARRATION</a:t>
            </a:r>
          </a:p>
          <a:p>
            <a:r>
              <a:t>Lab 33. Apply the record checks to file sizes 15, 16, 159, and 160. State which files are structurally valid under the stated format and how many records each valid file contains. Review 1. Why can two descriptors share a file position? Review 2. Why does a successful metadata check not freeze the file?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33.</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Chapter Synthesis</a:t>
            </a:r>
          </a:p>
          <a:p/>
          <a:p>
            <a:r>
              <a:t>LECTURE NARRATION</a:t>
            </a:r>
          </a:p>
          <a:p>
            <a:r>
              <a:t>The chapter's central subject is files. Correct reasoning requires explicit assumptions, bounds, ownership, and interface contracts. Observed behavior is evidence about a run; it is not automatically a language or system guarantee. Use the worked examples and lab to test whether the model transfers to new cases.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chapter's central subject is files.</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Review and Transition</a:t>
            </a:r>
          </a:p>
          <a:p/>
          <a:p>
            <a:r>
              <a:t>LECTURE NARRATION</a:t>
            </a:r>
          </a:p>
          <a:p>
            <a:r>
              <a:t>Explain one mechanism from the chapter without relying on vocabulary alone. Identify one failure mode and the violated contract or invariant. State what evidence would support your diagnosis and what it would not prove. Next: File Descriptors.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explain one mechanism from the chapter without relying on vocabulary alone.</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33 — Files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GRADUATE LECTURE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file interface presents data through a persistent name, an open handle, or a stream-like endpoint.</a:t>
            </a:r>
          </a:p>
          <a:p>
            <a:pPr>
              <a:spcAft>
                <a:spcPts val="1100"/>
              </a:spcAft>
              <a:defRPr sz="1700">
                <a:solidFill>
                  <a:srgbClr val="F2F5F8"/>
                </a:solidFill>
              </a:defRPr>
            </a:pPr>
            <a:r>
              <a:t>• The operating system hides many device details, but the abstraction does not make every endpoint behave like a seekable array of bytes.</a:t>
            </a:r>
          </a:p>
          <a:p>
            <a:pPr>
              <a:spcAft>
                <a:spcPts val="1100"/>
              </a:spcAft>
              <a:defRPr sz="1900">
                <a:solidFill>
                  <a:srgbClr val="F2F5F8"/>
                </a:solidFill>
              </a:defRPr>
            </a:pPr>
            <a:r>
              <a:t>• Correct I/O code begins by identifying which guarantees the particular object provides.</a:t>
            </a:r>
          </a:p>
          <a:p>
            <a:pPr>
              <a:spcAft>
                <a:spcPts val="1100"/>
              </a:spcAft>
              <a:defRPr sz="1700">
                <a:solidFill>
                  <a:srgbClr val="F2F5F8"/>
                </a:solidFill>
              </a:defRPr>
            </a:pPr>
            <a:r>
              <a:t>• The Linux/POSIX examples distinguish a pathname , an underlying filesystem object, an open file description , and a process’s file descriptor .</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33     |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What This Chapter Builds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LEARNING OBJECTIVES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the mechanisms and contracts in Files.</a:t>
            </a:r>
          </a:p>
          <a:p>
            <a:pPr>
              <a:spcAft>
                <a:spcPts val="1100"/>
              </a:spcAft>
              <a:defRPr sz="1900">
                <a:solidFill>
                  <a:srgbClr val="F2F5F8"/>
                </a:solidFill>
              </a:defRPr>
            </a:pPr>
            <a:r>
              <a:t>• Trace the chapter's important state, representation, and resource transitions.</a:t>
            </a:r>
          </a:p>
          <a:p>
            <a:pPr>
              <a:spcAft>
                <a:spcPts val="1100"/>
              </a:spcAft>
              <a:defRPr sz="1900">
                <a:solidFill>
                  <a:srgbClr val="F2F5F8"/>
                </a:solidFill>
              </a:defRPr>
            </a:pPr>
            <a:r>
              <a:t>• Identify failure modes, assumptions, and evidence required for correctness.</a:t>
            </a:r>
          </a:p>
          <a:p>
            <a:pPr>
              <a:spcAft>
                <a:spcPts val="1100"/>
              </a:spcAft>
              <a:defRPr sz="1900">
                <a:solidFill>
                  <a:srgbClr val="F2F5F8"/>
                </a:solidFill>
              </a:defRPr>
            </a:pPr>
            <a:r>
              <a:t>• Apply the chapter model to the worked examples and guided lab.</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33     |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Roadmap</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SOURCE-ALIGNED COVERAGE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33.1 Regular files</a:t>
            </a:r>
          </a:p>
          <a:p>
            <a:pPr>
              <a:spcAft>
                <a:spcPts val="1100"/>
              </a:spcAft>
              <a:defRPr sz="1900">
                <a:solidFill>
                  <a:srgbClr val="F2F5F8"/>
                </a:solidFill>
              </a:defRPr>
            </a:pPr>
            <a:r>
              <a:t>• 33.2 Streams</a:t>
            </a:r>
          </a:p>
          <a:p>
            <a:pPr>
              <a:spcAft>
                <a:spcPts val="1100"/>
              </a:spcAft>
              <a:defRPr sz="1900">
                <a:solidFill>
                  <a:srgbClr val="F2F5F8"/>
                </a:solidFill>
              </a:defRPr>
            </a:pPr>
            <a:r>
              <a:t>• 33.3 Random-access files</a:t>
            </a:r>
          </a:p>
          <a:p>
            <a:pPr>
              <a:spcAft>
                <a:spcPts val="1100"/>
              </a:spcAft>
              <a:defRPr sz="1900">
                <a:solidFill>
                  <a:srgbClr val="F2F5F8"/>
                </a:solidFill>
              </a:defRPr>
            </a:pPr>
            <a:r>
              <a:t>• 33.4 File position</a:t>
            </a:r>
          </a:p>
          <a:p>
            <a:pPr>
              <a:spcAft>
                <a:spcPts val="1100"/>
              </a:spcAft>
              <a:defRPr sz="1900">
                <a:solidFill>
                  <a:srgbClr val="F2F5F8"/>
                </a:solidFill>
              </a:defRPr>
            </a:pPr>
            <a:r>
              <a:t>• ...plus 5 additional source topics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33     |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33.1 Regular files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regular file provides byte-oriented contents and metadata under filesystem rules.</a:t>
            </a:r>
          </a:p>
          <a:p>
            <a:pPr>
              <a:spcAft>
                <a:spcPts val="1100"/>
              </a:spcAft>
              <a:defRPr sz="1900">
                <a:solidFill>
                  <a:srgbClr val="F2F5F8"/>
                </a:solidFill>
              </a:defRPr>
            </a:pPr>
            <a:r>
              <a:t>• It usually supports seeking to a position and reading or writing there.</a:t>
            </a:r>
          </a:p>
          <a:p>
            <a:pPr>
              <a:spcAft>
                <a:spcPts val="1100"/>
              </a:spcAft>
              <a:defRPr sz="1900">
                <a:solidFill>
                  <a:srgbClr val="F2F5F8"/>
                </a:solidFill>
              </a:defRPr>
            </a:pPr>
            <a:r>
              <a:t>• Its logical size need not equal the amount of physical storage allocated, as sparse regions illustrate.</a:t>
            </a:r>
          </a:p>
          <a:p>
            <a:pPr>
              <a:spcAft>
                <a:spcPts val="1100"/>
              </a:spcAft>
              <a:defRPr sz="1900">
                <a:solidFill>
                  <a:srgbClr val="F2F5F8"/>
                </a:solidFill>
              </a:defRPr>
            </a:pPr>
            <a:r>
              <a:t>• A pathname is a route through a directory namespace, not a permanent guarantee about object identity.</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33     |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33.1 Regular files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pathname is a route through a directory namespace, not a permanent guarantee about object identity.</a:t>
            </a:r>
          </a:p>
          <a:p>
            <a:pPr>
              <a:spcAft>
                <a:spcPts val="1100"/>
              </a:spcAft>
              <a:defRPr sz="1900">
                <a:solidFill>
                  <a:srgbClr val="F2F5F8"/>
                </a:solidFill>
              </a:defRPr>
            </a:pPr>
            <a:r>
              <a:t>• Another process can rename or replace an entry between separate pathname operations.</a:t>
            </a:r>
          </a:p>
          <a:p>
            <a:pPr>
              <a:spcAft>
                <a:spcPts val="1100"/>
              </a:spcAft>
              <a:defRPr sz="1700">
                <a:solidFill>
                  <a:srgbClr val="F2F5F8"/>
                </a:solidFill>
              </a:defRPr>
            </a:pPr>
            <a:r>
              <a:t>• When an operation must apply to the object already opened, use the descriptor and descriptor-relative interfaces where appropriate rather than reopening the name and...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33     |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33.2 Streams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stream exposes an ordered flow of bytes or records according to its interface.</a:t>
            </a:r>
          </a:p>
          <a:p>
            <a:pPr>
              <a:spcAft>
                <a:spcPts val="1100"/>
              </a:spcAft>
              <a:defRPr sz="1900">
                <a:solidFill>
                  <a:srgbClr val="F2F5F8"/>
                </a:solidFill>
              </a:defRPr>
            </a:pPr>
            <a:r>
              <a:t>• Pipes and TCP sockets are byte streams that do not support arbitrary seeking.</a:t>
            </a:r>
          </a:p>
          <a:p>
            <a:pPr>
              <a:spcAft>
                <a:spcPts val="1100"/>
              </a:spcAft>
              <a:defRPr sz="1900">
                <a:solidFill>
                  <a:srgbClr val="F2F5F8"/>
                </a:solidFill>
              </a:defRPr>
            </a:pPr>
            <a:r>
              <a:t>• Data may arrive gradually, and a read can return fewer bytes than requested.</a:t>
            </a:r>
          </a:p>
          <a:p>
            <a:pPr>
              <a:spcAft>
                <a:spcPts val="1100"/>
              </a:spcAft>
              <a:defRPr sz="1900">
                <a:solidFill>
                  <a:srgbClr val="F2F5F8"/>
                </a:solidFill>
              </a:defRPr>
            </a:pPr>
            <a:r>
              <a:t>• The C standard-I/O concept of a stream adds buffering and library state through FILE* .</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33     |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33.2 Streams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C standard-I/O concept of a stream adds buffering and library state through FILE* .</a:t>
            </a:r>
          </a:p>
          <a:p>
            <a:pPr>
              <a:spcAft>
                <a:spcPts val="1100"/>
              </a:spcAft>
              <a:defRPr sz="1900">
                <a:solidFill>
                  <a:srgbClr val="F2F5F8"/>
                </a:solidFill>
              </a:defRPr>
            </a:pPr>
            <a:r>
              <a:t>• That is another layer: a FILE* may wrap a regular file or another supported endpoint.</a:t>
            </a:r>
          </a:p>
          <a:p>
            <a:pPr>
              <a:spcAft>
                <a:spcPts val="1100"/>
              </a:spcAft>
              <a:defRPr sz="1900">
                <a:solidFill>
                  <a:srgbClr val="F2F5F8"/>
                </a:solidFill>
              </a:defRPr>
            </a:pPr>
            <a:r>
              <a:t>• Distinguish the endpoint’s capabilities from the library abstraction used to access it.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33     |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33.3 Random-access files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Random access means that the program can select positions rather than consume data only in arrival order.</a:t>
            </a:r>
          </a:p>
          <a:p>
            <a:pPr>
              <a:spcAft>
                <a:spcPts val="1100"/>
              </a:spcAft>
              <a:defRPr sz="1900">
                <a:solidFill>
                  <a:srgbClr val="F2F5F8"/>
                </a:solidFill>
              </a:defRPr>
            </a:pPr>
            <a:r>
              <a:t>• A file format can use fixed-size records, an index, or offsets into variable-length data.</a:t>
            </a:r>
          </a:p>
          <a:p>
            <a:pPr>
              <a:spcAft>
                <a:spcPts val="1100"/>
              </a:spcAft>
              <a:defRPr sz="1700">
                <a:solidFill>
                  <a:srgbClr val="F2F5F8"/>
                </a:solidFill>
              </a:defRPr>
            </a:pPr>
            <a:r>
              <a:t>• The format must define byte ordering, field widths, and bounds independently of a compiler’s in-memory structure layout.</a:t>
            </a:r>
          </a:p>
          <a:p>
            <a:pPr>
              <a:spcAft>
                <a:spcPts val="1100"/>
              </a:spcAft>
              <a:defRPr sz="1900">
                <a:solidFill>
                  <a:srgbClr val="F2F5F8"/>
                </a:solidFill>
              </a:defRPr>
            </a:pPr>
            <a:r>
              <a:t>• Seeking past the end does not itself write intervening bytes.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33     |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33.3 Random-access files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Seeking past the end does not itself write intervening bytes.</a:t>
            </a:r>
          </a:p>
          <a:p>
            <a:pPr>
              <a:spcAft>
                <a:spcPts val="1100"/>
              </a:spcAft>
              <a:defRPr sz="1900">
                <a:solidFill>
                  <a:srgbClr val="F2F5F8"/>
                </a:solidFill>
              </a:defRPr>
            </a:pPr>
            <a:r>
              <a:t>• Subsequent writes can extend the file according to filesystem semantics.</a:t>
            </a:r>
          </a:p>
          <a:p>
            <a:pPr>
              <a:spcAft>
                <a:spcPts val="1100"/>
              </a:spcAft>
              <a:defRPr sz="1700">
                <a:solidFill>
                  <a:srgbClr val="F2F5F8"/>
                </a:solidFill>
              </a:defRPr>
            </a:pPr>
            <a:r>
              <a:t>• A robust parser checks offsets and lengths against the actual file size before accessing a region, using subtraction-based bounds checks that avoid overflowing offset +...</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33     |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33.4 File position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An open file description maintains a current file offset for interfaces such as read , write , and lseek on seekable objects.</a:t>
            </a:r>
          </a:p>
          <a:p>
            <a:pPr>
              <a:spcAft>
                <a:spcPts val="1100"/>
              </a:spcAft>
              <a:defRPr sz="1700">
                <a:solidFill>
                  <a:srgbClr val="F2F5F8"/>
                </a:solidFill>
              </a:defRPr>
            </a:pPr>
            <a:r>
              <a:t>• Descriptors created by dup or inherited through fork can refer to the same open file description and therefore share that offset.</a:t>
            </a:r>
          </a:p>
          <a:p>
            <a:pPr>
              <a:spcAft>
                <a:spcPts val="1100"/>
              </a:spcAft>
              <a:defRPr sz="1900">
                <a:solidFill>
                  <a:srgbClr val="F2F5F8"/>
                </a:solidFill>
              </a:defRPr>
            </a:pPr>
            <a:r>
              <a:t>• Separate open calls generally create separate open file descriptions, even when the pathname identifies the same file.</a:t>
            </a:r>
          </a:p>
          <a:p>
            <a:pPr>
              <a:spcAft>
                <a:spcPts val="1100"/>
              </a:spcAft>
              <a:defRPr sz="1900">
                <a:solidFill>
                  <a:srgbClr val="F2F5F8"/>
                </a:solidFill>
              </a:defRPr>
            </a:pPr>
            <a:r>
              <a:t>• Their current offsets are independent.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33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33.4 File position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Separate open calls generally create separate open file descriptions, even when the pathname identifies the same file.</a:t>
            </a:r>
          </a:p>
          <a:p>
            <a:pPr>
              <a:spcAft>
                <a:spcPts val="1100"/>
              </a:spcAft>
              <a:defRPr sz="1900">
                <a:solidFill>
                  <a:srgbClr val="F2F5F8"/>
                </a:solidFill>
              </a:defRPr>
            </a:pPr>
            <a:r>
              <a:t>• Their current offsets are independent.</a:t>
            </a:r>
          </a:p>
          <a:p>
            <a:pPr>
              <a:spcAft>
                <a:spcPts val="1100"/>
              </a:spcAft>
              <a:defRPr sz="1700">
                <a:solidFill>
                  <a:srgbClr val="F2F5F8"/>
                </a:solidFill>
              </a:defRPr>
            </a:pPr>
            <a:r>
              <a:t>• Positional I/O such as pread and pwrite specifies an offset for an operation without using the shared current position in the same way, making it useful for independent...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33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33.5 Metadata</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Metadata describes properties such as type, size, permissions, ownership, and timestamps.</a:t>
            </a:r>
          </a:p>
          <a:p>
            <a:pPr>
              <a:spcAft>
                <a:spcPts val="1100"/>
              </a:spcAft>
              <a:defRPr sz="1900">
                <a:solidFill>
                  <a:srgbClr val="F2F5F8"/>
                </a:solidFill>
              </a:defRPr>
            </a:pPr>
            <a:r>
              <a:t>• Descriptor-based inspection identifies the already-open object.</a:t>
            </a:r>
          </a:p>
          <a:p>
            <a:pPr>
              <a:spcAft>
                <a:spcPts val="1100"/>
              </a:spcAft>
              <a:defRPr sz="1900">
                <a:solidFill>
                  <a:srgbClr val="F2F5F8"/>
                </a:solidFill>
              </a:defRPr>
            </a:pPr>
            <a:r>
              <a:t>• A metadata result is a snapshot, not a lock that prevents later changes by another process.</a:t>
            </a:r>
          </a:p>
          <a:p>
            <a:pPr>
              <a:spcAft>
                <a:spcPts val="1100"/>
              </a:spcAft>
              <a:defRPr sz="1700">
                <a:solidFill>
                  <a:srgbClr val="F2F5F8"/>
                </a:solidFill>
              </a:defRPr>
            </a:pPr>
            <a:r>
              <a:t>• Security-sensitive code should avoid checking a pathname and then assuming the checked property remains true during a later open.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33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33.5 Metadata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Security-sensitive code should avoid checking a pathname and then assuming the checked property remains true during a later open.</a:t>
            </a:r>
          </a:p>
          <a:p>
            <a:pPr>
              <a:spcAft>
                <a:spcPts val="1100"/>
              </a:spcAft>
              <a:defRPr sz="1900">
                <a:solidFill>
                  <a:srgbClr val="F2F5F8"/>
                </a:solidFill>
              </a:defRPr>
            </a:pPr>
            <a:r>
              <a:t>• This is a time-of-check/time-of-use problem.</a:t>
            </a:r>
          </a:p>
          <a:p>
            <a:pPr>
              <a:spcAft>
                <a:spcPts val="1100"/>
              </a:spcAft>
              <a:defRPr sz="1700">
                <a:solidFill>
                  <a:srgbClr val="F2F5F8"/>
                </a:solidFill>
              </a:defRPr>
            </a:pPr>
            <a:r>
              <a:t>• Use interfaces and ownership rules that bind validation to the actual object being used, and account for concurrent modification when the application permits it.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33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Record boundaries without overflow</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Suppose a file format begins with a 16-byte header followed by fixed 24-byte records.</a:t>
            </a:r>
          </a:p>
          <a:p>
            <a:pPr>
              <a:spcAft>
                <a:spcPts val="1100"/>
              </a:spcAft>
              <a:defRPr sz="1900">
                <a:solidFill>
                  <a:srgbClr val="F2F5F8"/>
                </a:solidFill>
              </a:defRPr>
            </a:pPr>
            <a:r>
              <a:t>• A file of 160 bytes contains (160 - 16) / 24 = 6 complete records, with no trailing bytes.</a:t>
            </a:r>
          </a:p>
          <a:p>
            <a:pPr>
              <a:spcAft>
                <a:spcPts val="1100"/>
              </a:spcAft>
              <a:defRPr sz="1900">
                <a:solidFill>
                  <a:srgbClr val="F2F5F8"/>
                </a:solidFill>
              </a:defRPr>
            </a:pPr>
            <a:r>
              <a:t>• Record 4, using zero-based indexing, begins at 16 + 4 × 24 = 112 and occupies bytes 112 through 135.</a:t>
            </a:r>
          </a:p>
          <a:p>
            <a:pPr>
              <a:spcAft>
                <a:spcPts val="1100"/>
              </a:spcAft>
              <a:defRPr sz="1900">
                <a:solidFill>
                  <a:srgbClr val="F2F5F8"/>
                </a:solidFill>
              </a:defRPr>
            </a:pPr>
            <a:r>
              <a:t>• A safe validation sequence first requires file_size &gt;= header_size .</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33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Record boundaries without overflow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safe validation sequence first requires file_size &gt;= header_size .</a:t>
            </a:r>
          </a:p>
          <a:p>
            <a:pPr>
              <a:spcAft>
                <a:spcPts val="1100"/>
              </a:spcAft>
              <a:defRPr sz="1700">
                <a:solidFill>
                  <a:srgbClr val="F2F5F8"/>
                </a:solidFill>
              </a:defRPr>
            </a:pPr>
            <a:r>
              <a:t>• It then computes payload_size = file_size - header_size , verifies that payload_size % record_size == 0 , and derives the record count.</a:t>
            </a:r>
          </a:p>
          <a:p>
            <a:pPr>
              <a:spcAft>
                <a:spcPts val="1100"/>
              </a:spcAft>
              <a:defRPr sz="1900">
                <a:solidFill>
                  <a:srgbClr val="F2F5F8"/>
                </a:solidFill>
              </a:defRPr>
            </a:pPr>
            <a:r>
              <a:t>• Only after checking index &lt; record_count should it form the selected record’s offset.</a:t>
            </a:r>
          </a:p>
          <a:p>
            <a:pPr>
              <a:spcAft>
                <a:spcPts val="1100"/>
              </a:spcAft>
              <a:defRPr sz="1900">
                <a:solidFill>
                  <a:srgbClr val="F2F5F8"/>
                </a:solidFill>
              </a:defRPr>
            </a:pPr>
            <a:r>
              <a:t>• For an arbitrary byte range with offset o and length n , prefer:</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33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Sequential versus random file access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Reading a 1 MiB file from beginning to end advances the file offset naturally after each read.</a:t>
            </a:r>
          </a:p>
          <a:p>
            <a:pPr>
              <a:spcAft>
                <a:spcPts val="1100"/>
              </a:spcAft>
              <a:defRPr sz="1700">
                <a:solidFill>
                  <a:srgbClr val="F2F5F8"/>
                </a:solidFill>
              </a:defRPr>
            </a:pPr>
            <a:r>
              <a:t>• To revisit byte 100 without rereading earlier bytes, a seekable regular file can use lseek to reposition before reading.</a:t>
            </a:r>
          </a:p>
          <a:p>
            <a:pPr>
              <a:spcAft>
                <a:spcPts val="1100"/>
              </a:spcAft>
              <a:defRPr sz="1900">
                <a:solidFill>
                  <a:srgbClr val="F2F5F8"/>
                </a:solidFill>
              </a:defRPr>
            </a:pPr>
            <a:r>
              <a:t>• Pipes and terminals are streams and generally do not support arbitrary seek semantics.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33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Sequential versus random file access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Reading a 1 MiB file from beginning to end advances the file offset naturally after each read.</a:t>
            </a:r>
          </a:p>
          <a:p>
            <a:pPr>
              <a:spcAft>
                <a:spcPts val="1100"/>
              </a:spcAft>
              <a:defRPr sz="1700">
                <a:solidFill>
                  <a:srgbClr val="F2F5F8"/>
                </a:solidFill>
              </a:defRPr>
            </a:pPr>
            <a:r>
              <a:t>• To revisit byte 100 without rereading earlier bytes, a seekable regular file can use lseek to reposition before reading.</a:t>
            </a:r>
          </a:p>
          <a:p>
            <a:pPr>
              <a:spcAft>
                <a:spcPts val="1100"/>
              </a:spcAft>
              <a:defRPr sz="1900">
                <a:solidFill>
                  <a:srgbClr val="F2F5F8"/>
                </a:solidFill>
              </a:defRPr>
            </a:pPr>
            <a:r>
              <a:t>• Pipes and terminals are streams and generally do not support arbitrary seek semantics.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33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Metadata is not file content</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file’s permissions, owner, timestamps, and size are metadata.</a:t>
            </a:r>
          </a:p>
          <a:p>
            <a:pPr>
              <a:spcAft>
                <a:spcPts val="1100"/>
              </a:spcAft>
              <a:defRPr sz="1700">
                <a:solidFill>
                  <a:srgbClr val="F2F5F8"/>
                </a:solidFill>
              </a:defRPr>
            </a:pPr>
            <a:r>
              <a:t>• Reading file data does not automatically reveal all metadata, and changing metadata does not necessarily change file bytes.</a:t>
            </a:r>
          </a:p>
          <a:p>
            <a:pPr>
              <a:spcAft>
                <a:spcPts val="1100"/>
              </a:spcAft>
              <a:defRPr sz="1900">
                <a:solidFill>
                  <a:srgbClr val="F2F5F8"/>
                </a:solidFill>
              </a:defRPr>
            </a:pPr>
            <a:r>
              <a:t>• Systems code often uses separate interfaces such as stat to query this information.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33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Metadata is not file content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file’s permissions, owner, timestamps, and size are metadata.</a:t>
            </a:r>
          </a:p>
          <a:p>
            <a:pPr>
              <a:spcAft>
                <a:spcPts val="1100"/>
              </a:spcAft>
              <a:defRPr sz="1700">
                <a:solidFill>
                  <a:srgbClr val="F2F5F8"/>
                </a:solidFill>
              </a:defRPr>
            </a:pPr>
            <a:r>
              <a:t>• Reading file data does not automatically reveal all metadata, and changing metadata does not necessarily change file bytes.</a:t>
            </a:r>
          </a:p>
          <a:p>
            <a:pPr>
              <a:spcAft>
                <a:spcPts val="1100"/>
              </a:spcAft>
              <a:defRPr sz="1900">
                <a:solidFill>
                  <a:srgbClr val="F2F5F8"/>
                </a:solidFill>
              </a:defRPr>
            </a:pPr>
            <a:r>
              <a:t>• Systems code often uses separate interfaces such as stat to query this information.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33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Lab 33.</a:t>
            </a:r>
          </a:p>
          <a:p>
            <a:pPr>
              <a:spcAft>
                <a:spcPts val="1100"/>
              </a:spcAft>
              <a:defRPr sz="1900">
                <a:solidFill>
                  <a:srgbClr val="F2F5F8"/>
                </a:solidFill>
              </a:defRPr>
            </a:pPr>
            <a:r>
              <a:t>• Apply the record checks to file sizes 15, 16, 159, and 160.</a:t>
            </a:r>
          </a:p>
          <a:p>
            <a:pPr>
              <a:spcAft>
                <a:spcPts val="1100"/>
              </a:spcAft>
              <a:defRPr sz="1900">
                <a:solidFill>
                  <a:srgbClr val="F2F5F8"/>
                </a:solidFill>
              </a:defRPr>
            </a:pPr>
            <a:r>
              <a:t>• State which files are structurally valid under the stated format and how many records each valid file contains.</a:t>
            </a:r>
          </a:p>
          <a:p>
            <a:pPr>
              <a:spcAft>
                <a:spcPts val="1100"/>
              </a:spcAft>
              <a:defRPr sz="1900">
                <a:solidFill>
                  <a:srgbClr val="F2F5F8"/>
                </a:solidFill>
              </a:defRPr>
            </a:pPr>
            <a:r>
              <a:t>• Review 1.</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33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LAB, REVIEW &amp; ACCEPTANCE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Review 1.</a:t>
            </a:r>
          </a:p>
          <a:p>
            <a:pPr>
              <a:spcAft>
                <a:spcPts val="1100"/>
              </a:spcAft>
              <a:defRPr sz="1900">
                <a:solidFill>
                  <a:srgbClr val="F2F5F8"/>
                </a:solidFill>
              </a:defRPr>
            </a:pPr>
            <a:r>
              <a:t>• Why can two descriptors share a file position?</a:t>
            </a:r>
          </a:p>
          <a:p>
            <a:pPr>
              <a:spcAft>
                <a:spcPts val="1100"/>
              </a:spcAft>
              <a:defRPr sz="1900">
                <a:solidFill>
                  <a:srgbClr val="F2F5F8"/>
                </a:solidFill>
              </a:defRPr>
            </a:pPr>
            <a:r>
              <a:t>• Review 2.</a:t>
            </a:r>
          </a:p>
          <a:p>
            <a:pPr>
              <a:spcAft>
                <a:spcPts val="1100"/>
              </a:spcAft>
              <a:defRPr sz="1900">
                <a:solidFill>
                  <a:srgbClr val="F2F5F8"/>
                </a:solidFill>
              </a:defRPr>
            </a:pPr>
            <a:r>
              <a:t>• Why does a successful metadata check not freeze the file?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33     |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Synthesis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KEY TAKEAWAYS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chapter's central subject is files.</a:t>
            </a:r>
          </a:p>
          <a:p>
            <a:pPr>
              <a:spcAft>
                <a:spcPts val="1100"/>
              </a:spcAft>
              <a:defRPr sz="1900">
                <a:solidFill>
                  <a:srgbClr val="F2F5F8"/>
                </a:solidFill>
              </a:defRPr>
            </a:pPr>
            <a:r>
              <a:t>• Correct reasoning requires explicit assumptions, bounds, ownership, and interface contracts.</a:t>
            </a:r>
          </a:p>
          <a:p>
            <a:pPr>
              <a:spcAft>
                <a:spcPts val="1100"/>
              </a:spcAft>
              <a:defRPr sz="1900">
                <a:solidFill>
                  <a:srgbClr val="F2F5F8"/>
                </a:solidFill>
              </a:defRPr>
            </a:pPr>
            <a:r>
              <a:t>• Observed behavior is evidence about a run; it is not automatically a language or system guarantee.</a:t>
            </a:r>
          </a:p>
          <a:p>
            <a:pPr>
              <a:spcAft>
                <a:spcPts val="1100"/>
              </a:spcAft>
              <a:defRPr sz="1900">
                <a:solidFill>
                  <a:srgbClr val="F2F5F8"/>
                </a:solidFill>
              </a:defRPr>
            </a:pPr>
            <a:r>
              <a:t>• Use the worked examples and lab to test whether the model transfers to new cases.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33     |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Review and Transition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CHECK YOUR MODEL</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one mechanism from the chapter without relying on vocabulary alone.</a:t>
            </a:r>
          </a:p>
          <a:p>
            <a:pPr>
              <a:spcAft>
                <a:spcPts val="1100"/>
              </a:spcAft>
              <a:defRPr sz="1900">
                <a:solidFill>
                  <a:srgbClr val="F2F5F8"/>
                </a:solidFill>
              </a:defRPr>
            </a:pPr>
            <a:r>
              <a:t>• Identify one failure mode and the violated contract or invariant.</a:t>
            </a:r>
          </a:p>
          <a:p>
            <a:pPr>
              <a:spcAft>
                <a:spcPts val="1100"/>
              </a:spcAft>
              <a:defRPr sz="1900">
                <a:solidFill>
                  <a:srgbClr val="F2F5F8"/>
                </a:solidFill>
              </a:defRPr>
            </a:pPr>
            <a:r>
              <a:t>• State what evidence would support your diagnosis and what it would not prove.</a:t>
            </a:r>
          </a:p>
          <a:p>
            <a:pPr>
              <a:spcAft>
                <a:spcPts val="1100"/>
              </a:spcAft>
              <a:defRPr sz="1900">
                <a:solidFill>
                  <a:srgbClr val="F2F5F8"/>
                </a:solidFill>
              </a:defRPr>
            </a:pPr>
            <a:r>
              <a:t>• Next: File Descriptors.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33     |     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